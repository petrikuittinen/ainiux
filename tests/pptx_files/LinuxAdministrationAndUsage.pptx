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4" r:id="rId8"/>
    <p:sldId id="263" r:id="rId9"/>
    <p:sldId id="265" r:id="rId10"/>
    <p:sldId id="266" r:id="rId11"/>
    <p:sldId id="267" r:id="rId12"/>
    <p:sldId id="295" r:id="rId13"/>
    <p:sldId id="294" r:id="rId14"/>
    <p:sldId id="296" r:id="rId15"/>
    <p:sldId id="269" r:id="rId16"/>
    <p:sldId id="301" r:id="rId17"/>
    <p:sldId id="270" r:id="rId18"/>
    <p:sldId id="258" r:id="rId19"/>
    <p:sldId id="268" r:id="rId20"/>
    <p:sldId id="298" r:id="rId21"/>
    <p:sldId id="299" r:id="rId22"/>
    <p:sldId id="300" r:id="rId23"/>
    <p:sldId id="297" r:id="rId24"/>
    <p:sldId id="310" r:id="rId25"/>
    <p:sldId id="302" r:id="rId26"/>
    <p:sldId id="272" r:id="rId27"/>
    <p:sldId id="303" r:id="rId28"/>
    <p:sldId id="304" r:id="rId29"/>
    <p:sldId id="305" r:id="rId30"/>
    <p:sldId id="306" r:id="rId31"/>
    <p:sldId id="307" r:id="rId32"/>
    <p:sldId id="308" r:id="rId33"/>
    <p:sldId id="309" r:id="rId34"/>
    <p:sldId id="312" r:id="rId35"/>
    <p:sldId id="313" r:id="rId36"/>
    <p:sldId id="316" r:id="rId37"/>
    <p:sldId id="317" r:id="rId38"/>
    <p:sldId id="315" r:id="rId39"/>
    <p:sldId id="271" r:id="rId40"/>
    <p:sldId id="314" r:id="rId41"/>
    <p:sldId id="311" r:id="rId42"/>
    <p:sldId id="278" r:id="rId43"/>
    <p:sldId id="276" r:id="rId44"/>
    <p:sldId id="274" r:id="rId45"/>
    <p:sldId id="277" r:id="rId46"/>
    <p:sldId id="273" r:id="rId47"/>
    <p:sldId id="279" r:id="rId48"/>
    <p:sldId id="275" r:id="rId49"/>
    <p:sldId id="280" r:id="rId50"/>
    <p:sldId id="281" r:id="rId51"/>
    <p:sldId id="282" r:id="rId52"/>
    <p:sldId id="348" r:id="rId53"/>
    <p:sldId id="283" r:id="rId54"/>
    <p:sldId id="346" r:id="rId55"/>
    <p:sldId id="284" r:id="rId56"/>
    <p:sldId id="347" r:id="rId57"/>
    <p:sldId id="355" r:id="rId58"/>
    <p:sldId id="356" r:id="rId59"/>
    <p:sldId id="357" r:id="rId60"/>
    <p:sldId id="349" r:id="rId61"/>
    <p:sldId id="350" r:id="rId62"/>
    <p:sldId id="351" r:id="rId63"/>
    <p:sldId id="352" r:id="rId64"/>
    <p:sldId id="353" r:id="rId65"/>
    <p:sldId id="354" r:id="rId66"/>
    <p:sldId id="293" r:id="rId67"/>
    <p:sldId id="380" r:id="rId68"/>
    <p:sldId id="382" r:id="rId69"/>
    <p:sldId id="285" r:id="rId70"/>
    <p:sldId id="287" r:id="rId71"/>
    <p:sldId id="286" r:id="rId72"/>
    <p:sldId id="288" r:id="rId73"/>
    <p:sldId id="289" r:id="rId74"/>
    <p:sldId id="381" r:id="rId75"/>
    <p:sldId id="290" r:id="rId76"/>
    <p:sldId id="291" r:id="rId77"/>
    <p:sldId id="292" r:id="rId78"/>
    <p:sldId id="318" r:id="rId79"/>
    <p:sldId id="327" r:id="rId80"/>
    <p:sldId id="319" r:id="rId81"/>
    <p:sldId id="322" r:id="rId82"/>
    <p:sldId id="324" r:id="rId83"/>
    <p:sldId id="326" r:id="rId84"/>
    <p:sldId id="323" r:id="rId85"/>
    <p:sldId id="325" r:id="rId86"/>
    <p:sldId id="320" r:id="rId87"/>
    <p:sldId id="328" r:id="rId88"/>
    <p:sldId id="345" r:id="rId89"/>
    <p:sldId id="329" r:id="rId90"/>
    <p:sldId id="330" r:id="rId91"/>
    <p:sldId id="333" r:id="rId92"/>
    <p:sldId id="334" r:id="rId93"/>
    <p:sldId id="338" r:id="rId94"/>
    <p:sldId id="335" r:id="rId95"/>
    <p:sldId id="337" r:id="rId96"/>
    <p:sldId id="336" r:id="rId97"/>
    <p:sldId id="331" r:id="rId98"/>
    <p:sldId id="332" r:id="rId99"/>
    <p:sldId id="340" r:id="rId100"/>
    <p:sldId id="339" r:id="rId101"/>
    <p:sldId id="344" r:id="rId102"/>
    <p:sldId id="343" r:id="rId103"/>
    <p:sldId id="363" r:id="rId104"/>
    <p:sldId id="364" r:id="rId105"/>
    <p:sldId id="358" r:id="rId106"/>
    <p:sldId id="362" r:id="rId107"/>
    <p:sldId id="360" r:id="rId108"/>
    <p:sldId id="361" r:id="rId109"/>
    <p:sldId id="365" r:id="rId110"/>
    <p:sldId id="359" r:id="rId111"/>
    <p:sldId id="366" r:id="rId112"/>
    <p:sldId id="368" r:id="rId113"/>
    <p:sldId id="369" r:id="rId114"/>
    <p:sldId id="371" r:id="rId115"/>
    <p:sldId id="367" r:id="rId116"/>
    <p:sldId id="370" r:id="rId117"/>
    <p:sldId id="379" r:id="rId118"/>
    <p:sldId id="372" r:id="rId119"/>
    <p:sldId id="373" r:id="rId120"/>
    <p:sldId id="374" r:id="rId121"/>
    <p:sldId id="375" r:id="rId122"/>
    <p:sldId id="376" r:id="rId123"/>
    <p:sldId id="377" r:id="rId124"/>
    <p:sldId id="378" r:id="rId125"/>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letusosa" id="{15C670A4-27BE-4DBF-82C4-2562D26B9497}">
          <p14:sldIdLst>
            <p14:sldId id="256"/>
            <p14:sldId id="257"/>
            <p14:sldId id="259"/>
            <p14:sldId id="260"/>
            <p14:sldId id="261"/>
            <p14:sldId id="262"/>
            <p14:sldId id="264"/>
            <p14:sldId id="263"/>
            <p14:sldId id="265"/>
            <p14:sldId id="266"/>
            <p14:sldId id="267"/>
            <p14:sldId id="295"/>
            <p14:sldId id="294"/>
            <p14:sldId id="296"/>
            <p14:sldId id="269"/>
            <p14:sldId id="301"/>
            <p14:sldId id="270"/>
            <p14:sldId id="258"/>
            <p14:sldId id="268"/>
            <p14:sldId id="298"/>
            <p14:sldId id="299"/>
            <p14:sldId id="300"/>
            <p14:sldId id="297"/>
            <p14:sldId id="310"/>
            <p14:sldId id="302"/>
            <p14:sldId id="272"/>
            <p14:sldId id="303"/>
            <p14:sldId id="304"/>
            <p14:sldId id="305"/>
            <p14:sldId id="306"/>
            <p14:sldId id="307"/>
            <p14:sldId id="308"/>
            <p14:sldId id="309"/>
            <p14:sldId id="312"/>
            <p14:sldId id="313"/>
            <p14:sldId id="316"/>
            <p14:sldId id="317"/>
            <p14:sldId id="315"/>
            <p14:sldId id="271"/>
            <p14:sldId id="314"/>
            <p14:sldId id="311"/>
            <p14:sldId id="278"/>
            <p14:sldId id="276"/>
            <p14:sldId id="274"/>
            <p14:sldId id="277"/>
            <p14:sldId id="273"/>
            <p14:sldId id="279"/>
            <p14:sldId id="275"/>
            <p14:sldId id="280"/>
            <p14:sldId id="281"/>
            <p14:sldId id="282"/>
            <p14:sldId id="348"/>
            <p14:sldId id="283"/>
            <p14:sldId id="346"/>
            <p14:sldId id="284"/>
            <p14:sldId id="347"/>
            <p14:sldId id="355"/>
            <p14:sldId id="356"/>
            <p14:sldId id="357"/>
            <p14:sldId id="349"/>
            <p14:sldId id="350"/>
            <p14:sldId id="351"/>
            <p14:sldId id="352"/>
            <p14:sldId id="353"/>
            <p14:sldId id="354"/>
            <p14:sldId id="293"/>
            <p14:sldId id="380"/>
            <p14:sldId id="382"/>
            <p14:sldId id="285"/>
            <p14:sldId id="287"/>
            <p14:sldId id="286"/>
            <p14:sldId id="288"/>
            <p14:sldId id="289"/>
            <p14:sldId id="381"/>
            <p14:sldId id="290"/>
            <p14:sldId id="291"/>
            <p14:sldId id="292"/>
            <p14:sldId id="318"/>
            <p14:sldId id="327"/>
            <p14:sldId id="319"/>
            <p14:sldId id="322"/>
            <p14:sldId id="324"/>
            <p14:sldId id="326"/>
            <p14:sldId id="323"/>
            <p14:sldId id="325"/>
            <p14:sldId id="320"/>
            <p14:sldId id="328"/>
            <p14:sldId id="345"/>
            <p14:sldId id="329"/>
            <p14:sldId id="330"/>
            <p14:sldId id="333"/>
            <p14:sldId id="334"/>
            <p14:sldId id="338"/>
            <p14:sldId id="335"/>
            <p14:sldId id="337"/>
            <p14:sldId id="336"/>
            <p14:sldId id="331"/>
            <p14:sldId id="332"/>
            <p14:sldId id="340"/>
            <p14:sldId id="339"/>
            <p14:sldId id="344"/>
            <p14:sldId id="343"/>
            <p14:sldId id="363"/>
          </p14:sldIdLst>
        </p14:section>
        <p14:section name="Nimetön osa" id="{5DD4E75C-513B-4ADE-9707-CD32285EF17D}">
          <p14:sldIdLst>
            <p14:sldId id="364"/>
            <p14:sldId id="358"/>
            <p14:sldId id="362"/>
            <p14:sldId id="360"/>
            <p14:sldId id="361"/>
            <p14:sldId id="365"/>
            <p14:sldId id="359"/>
            <p14:sldId id="366"/>
            <p14:sldId id="368"/>
            <p14:sldId id="369"/>
            <p14:sldId id="371"/>
            <p14:sldId id="367"/>
            <p14:sldId id="370"/>
            <p14:sldId id="379"/>
            <p14:sldId id="372"/>
            <p14:sldId id="373"/>
            <p14:sldId id="374"/>
            <p14:sldId id="375"/>
            <p14:sldId id="376"/>
            <p14:sldId id="377"/>
            <p14:sldId id="3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Normaali tyyli 2 - Korostu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7" d="100"/>
          <a:sy n="97" d="100"/>
        </p:scale>
        <p:origin x="102" y="1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rts/_rels/chart1.xml.rels><?xml version="1.0" encoding="UTF-8" standalone="yes"?>
<Relationships xmlns="http://schemas.openxmlformats.org/package/2006/relationships"><Relationship Id="rId3" Type="http://schemas.openxmlformats.org/officeDocument/2006/relationships/oleObject" Target="file:///E:\Opetus\CompressionComparis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Opetus\CompressionComparis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i-FI"/>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Compressed</a:t>
            </a:r>
            <a:r>
              <a:rPr lang="en-US" baseline="0"/>
              <a:t> Sizes in Bytes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i-FI"/>
        </a:p>
      </c:txPr>
    </c:title>
    <c:autoTitleDeleted val="0"/>
    <c:plotArea>
      <c:layout/>
      <c:barChart>
        <c:barDir val="col"/>
        <c:grouping val="stacked"/>
        <c:varyColors val="0"/>
        <c:ser>
          <c:idx val="0"/>
          <c:order val="0"/>
          <c:tx>
            <c:strRef>
              <c:f>Sheet1!$A$2</c:f>
              <c:strCache>
                <c:ptCount val="1"/>
                <c:pt idx="0">
                  <c:v>Finnish_language.html</c:v>
                </c:pt>
              </c:strCache>
            </c:strRef>
          </c:tx>
          <c:spPr>
            <a:solidFill>
              <a:schemeClr val="accent1"/>
            </a:solidFill>
            <a:ln>
              <a:noFill/>
            </a:ln>
            <a:effectLst/>
          </c:spPr>
          <c:invertIfNegative val="0"/>
          <c:cat>
            <c:strRef>
              <c:f>Sheet1!$B$1:$G$1</c:f>
              <c:strCache>
                <c:ptCount val="6"/>
                <c:pt idx="0">
                  <c:v>gzip</c:v>
                </c:pt>
                <c:pt idx="1">
                  <c:v>gzip -9 </c:v>
                </c:pt>
                <c:pt idx="2">
                  <c:v>zip</c:v>
                </c:pt>
                <c:pt idx="3">
                  <c:v>bzip2</c:v>
                </c:pt>
                <c:pt idx="4">
                  <c:v>xz</c:v>
                </c:pt>
                <c:pt idx="5">
                  <c:v>xz -e</c:v>
                </c:pt>
              </c:strCache>
            </c:strRef>
          </c:cat>
          <c:val>
            <c:numRef>
              <c:f>Sheet1!$B$2:$G$2</c:f>
              <c:numCache>
                <c:formatCode>General</c:formatCode>
                <c:ptCount val="6"/>
                <c:pt idx="0">
                  <c:v>73936</c:v>
                </c:pt>
                <c:pt idx="1">
                  <c:v>73558</c:v>
                </c:pt>
                <c:pt idx="2">
                  <c:v>73896</c:v>
                </c:pt>
                <c:pt idx="3">
                  <c:v>63558</c:v>
                </c:pt>
                <c:pt idx="4">
                  <c:v>61360</c:v>
                </c:pt>
                <c:pt idx="5">
                  <c:v>61044</c:v>
                </c:pt>
              </c:numCache>
            </c:numRef>
          </c:val>
          <c:extLst>
            <c:ext xmlns:c16="http://schemas.microsoft.com/office/drawing/2014/chart" uri="{C3380CC4-5D6E-409C-BE32-E72D297353CC}">
              <c16:uniqueId val="{00000000-ECEC-4F62-AAEE-20A2D38DEFE8}"/>
            </c:ext>
          </c:extLst>
        </c:ser>
        <c:ser>
          <c:idx val="1"/>
          <c:order val="1"/>
          <c:tx>
            <c:strRef>
              <c:f>Sheet1!$A$3</c:f>
              <c:strCache>
                <c:ptCount val="1"/>
                <c:pt idx="0">
                  <c:v>KJV-bible.txt</c:v>
                </c:pt>
              </c:strCache>
            </c:strRef>
          </c:tx>
          <c:spPr>
            <a:solidFill>
              <a:schemeClr val="accent2"/>
            </a:solidFill>
            <a:ln>
              <a:noFill/>
            </a:ln>
            <a:effectLst/>
          </c:spPr>
          <c:invertIfNegative val="0"/>
          <c:cat>
            <c:strRef>
              <c:f>Sheet1!$B$1:$G$1</c:f>
              <c:strCache>
                <c:ptCount val="6"/>
                <c:pt idx="0">
                  <c:v>gzip</c:v>
                </c:pt>
                <c:pt idx="1">
                  <c:v>gzip -9 </c:v>
                </c:pt>
                <c:pt idx="2">
                  <c:v>zip</c:v>
                </c:pt>
                <c:pt idx="3">
                  <c:v>bzip2</c:v>
                </c:pt>
                <c:pt idx="4">
                  <c:v>xz</c:v>
                </c:pt>
                <c:pt idx="5">
                  <c:v>xz -e</c:v>
                </c:pt>
              </c:strCache>
            </c:strRef>
          </c:cat>
          <c:val>
            <c:numRef>
              <c:f>Sheet1!$B$3:$G$3</c:f>
              <c:numCache>
                <c:formatCode>General</c:formatCode>
                <c:ptCount val="6"/>
                <c:pt idx="0">
                  <c:v>1405056</c:v>
                </c:pt>
                <c:pt idx="1">
                  <c:v>1393002</c:v>
                </c:pt>
                <c:pt idx="2">
                  <c:v>1405024</c:v>
                </c:pt>
                <c:pt idx="3">
                  <c:v>1000963</c:v>
                </c:pt>
                <c:pt idx="4">
                  <c:v>1054848</c:v>
                </c:pt>
                <c:pt idx="5">
                  <c:v>1054016</c:v>
                </c:pt>
              </c:numCache>
            </c:numRef>
          </c:val>
          <c:extLst>
            <c:ext xmlns:c16="http://schemas.microsoft.com/office/drawing/2014/chart" uri="{C3380CC4-5D6E-409C-BE32-E72D297353CC}">
              <c16:uniqueId val="{00000001-ECEC-4F62-AAEE-20A2D38DEFE8}"/>
            </c:ext>
          </c:extLst>
        </c:ser>
        <c:ser>
          <c:idx val="2"/>
          <c:order val="2"/>
          <c:tx>
            <c:strRef>
              <c:f>Sheet1!$A$4</c:f>
              <c:strCache>
                <c:ptCount val="1"/>
                <c:pt idx="0">
                  <c:v>Suomenlinna.jpg</c:v>
                </c:pt>
              </c:strCache>
            </c:strRef>
          </c:tx>
          <c:spPr>
            <a:solidFill>
              <a:schemeClr val="accent3"/>
            </a:solidFill>
            <a:ln>
              <a:noFill/>
            </a:ln>
            <a:effectLst/>
          </c:spPr>
          <c:invertIfNegative val="0"/>
          <c:cat>
            <c:strRef>
              <c:f>Sheet1!$B$1:$G$1</c:f>
              <c:strCache>
                <c:ptCount val="6"/>
                <c:pt idx="0">
                  <c:v>gzip</c:v>
                </c:pt>
                <c:pt idx="1">
                  <c:v>gzip -9 </c:v>
                </c:pt>
                <c:pt idx="2">
                  <c:v>zip</c:v>
                </c:pt>
                <c:pt idx="3">
                  <c:v>bzip2</c:v>
                </c:pt>
                <c:pt idx="4">
                  <c:v>xz</c:v>
                </c:pt>
                <c:pt idx="5">
                  <c:v>xz -e</c:v>
                </c:pt>
              </c:strCache>
            </c:strRef>
          </c:cat>
          <c:val>
            <c:numRef>
              <c:f>Sheet1!$B$4:$G$4</c:f>
              <c:numCache>
                <c:formatCode>General</c:formatCode>
                <c:ptCount val="6"/>
                <c:pt idx="0">
                  <c:v>499272</c:v>
                </c:pt>
                <c:pt idx="1">
                  <c:v>499272</c:v>
                </c:pt>
                <c:pt idx="2">
                  <c:v>499238</c:v>
                </c:pt>
                <c:pt idx="3">
                  <c:v>499337</c:v>
                </c:pt>
                <c:pt idx="4">
                  <c:v>499484</c:v>
                </c:pt>
                <c:pt idx="5">
                  <c:v>499484</c:v>
                </c:pt>
              </c:numCache>
            </c:numRef>
          </c:val>
          <c:extLst>
            <c:ext xmlns:c16="http://schemas.microsoft.com/office/drawing/2014/chart" uri="{C3380CC4-5D6E-409C-BE32-E72D297353CC}">
              <c16:uniqueId val="{00000002-ECEC-4F62-AAEE-20A2D38DEFE8}"/>
            </c:ext>
          </c:extLst>
        </c:ser>
        <c:ser>
          <c:idx val="3"/>
          <c:order val="3"/>
          <c:tx>
            <c:strRef>
              <c:f>Sheet1!$A$5</c:f>
              <c:strCache>
                <c:ptCount val="1"/>
                <c:pt idx="0">
                  <c:v>jquery.js</c:v>
                </c:pt>
              </c:strCache>
            </c:strRef>
          </c:tx>
          <c:spPr>
            <a:solidFill>
              <a:schemeClr val="accent4"/>
            </a:solidFill>
            <a:ln>
              <a:noFill/>
            </a:ln>
            <a:effectLst/>
          </c:spPr>
          <c:invertIfNegative val="0"/>
          <c:cat>
            <c:strRef>
              <c:f>Sheet1!$B$1:$G$1</c:f>
              <c:strCache>
                <c:ptCount val="6"/>
                <c:pt idx="0">
                  <c:v>gzip</c:v>
                </c:pt>
                <c:pt idx="1">
                  <c:v>gzip -9 </c:v>
                </c:pt>
                <c:pt idx="2">
                  <c:v>zip</c:v>
                </c:pt>
                <c:pt idx="3">
                  <c:v>bzip2</c:v>
                </c:pt>
                <c:pt idx="4">
                  <c:v>xz</c:v>
                </c:pt>
                <c:pt idx="5">
                  <c:v>xz -e</c:v>
                </c:pt>
              </c:strCache>
            </c:strRef>
          </c:cat>
          <c:val>
            <c:numRef>
              <c:f>Sheet1!$B$5:$G$5</c:f>
              <c:numCache>
                <c:formatCode>General</c:formatCode>
                <c:ptCount val="6"/>
                <c:pt idx="0">
                  <c:v>85005</c:v>
                </c:pt>
                <c:pt idx="1">
                  <c:v>84562</c:v>
                </c:pt>
                <c:pt idx="2">
                  <c:v>84997</c:v>
                </c:pt>
                <c:pt idx="3">
                  <c:v>68825</c:v>
                </c:pt>
                <c:pt idx="4">
                  <c:v>73276</c:v>
                </c:pt>
                <c:pt idx="5">
                  <c:v>73312</c:v>
                </c:pt>
              </c:numCache>
            </c:numRef>
          </c:val>
          <c:extLst>
            <c:ext xmlns:c16="http://schemas.microsoft.com/office/drawing/2014/chart" uri="{C3380CC4-5D6E-409C-BE32-E72D297353CC}">
              <c16:uniqueId val="{00000003-ECEC-4F62-AAEE-20A2D38DEFE8}"/>
            </c:ext>
          </c:extLst>
        </c:ser>
        <c:ser>
          <c:idx val="4"/>
          <c:order val="4"/>
          <c:tx>
            <c:strRef>
              <c:f>Sheet1!$A$6</c:f>
              <c:strCache>
                <c:ptCount val="1"/>
                <c:pt idx="0">
                  <c:v>vim.basic</c:v>
                </c:pt>
              </c:strCache>
            </c:strRef>
          </c:tx>
          <c:spPr>
            <a:solidFill>
              <a:schemeClr val="accent5"/>
            </a:solidFill>
            <a:ln>
              <a:noFill/>
            </a:ln>
            <a:effectLst/>
          </c:spPr>
          <c:invertIfNegative val="0"/>
          <c:cat>
            <c:strRef>
              <c:f>Sheet1!$B$1:$G$1</c:f>
              <c:strCache>
                <c:ptCount val="6"/>
                <c:pt idx="0">
                  <c:v>gzip</c:v>
                </c:pt>
                <c:pt idx="1">
                  <c:v>gzip -9 </c:v>
                </c:pt>
                <c:pt idx="2">
                  <c:v>zip</c:v>
                </c:pt>
                <c:pt idx="3">
                  <c:v>bzip2</c:v>
                </c:pt>
                <c:pt idx="4">
                  <c:v>xz</c:v>
                </c:pt>
                <c:pt idx="5">
                  <c:v>xz -e</c:v>
                </c:pt>
              </c:strCache>
            </c:strRef>
          </c:cat>
          <c:val>
            <c:numRef>
              <c:f>Sheet1!$B$6:$G$6</c:f>
              <c:numCache>
                <c:formatCode>General</c:formatCode>
                <c:ptCount val="6"/>
                <c:pt idx="0">
                  <c:v>1465643</c:v>
                </c:pt>
                <c:pt idx="1">
                  <c:v>1461638</c:v>
                </c:pt>
                <c:pt idx="2">
                  <c:v>1466615</c:v>
                </c:pt>
                <c:pt idx="3">
                  <c:v>1383308</c:v>
                </c:pt>
                <c:pt idx="4">
                  <c:v>1222744</c:v>
                </c:pt>
                <c:pt idx="5">
                  <c:v>1224020</c:v>
                </c:pt>
              </c:numCache>
            </c:numRef>
          </c:val>
          <c:extLst>
            <c:ext xmlns:c16="http://schemas.microsoft.com/office/drawing/2014/chart" uri="{C3380CC4-5D6E-409C-BE32-E72D297353CC}">
              <c16:uniqueId val="{00000004-ECEC-4F62-AAEE-20A2D38DEFE8}"/>
            </c:ext>
          </c:extLst>
        </c:ser>
        <c:dLbls>
          <c:showLegendKey val="0"/>
          <c:showVal val="0"/>
          <c:showCatName val="0"/>
          <c:showSerName val="0"/>
          <c:showPercent val="0"/>
          <c:showBubbleSize val="0"/>
        </c:dLbls>
        <c:gapWidth val="150"/>
        <c:overlap val="100"/>
        <c:axId val="367968879"/>
        <c:axId val="367975535"/>
      </c:barChart>
      <c:catAx>
        <c:axId val="3679688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crossAx val="367975535"/>
        <c:crosses val="autoZero"/>
        <c:auto val="1"/>
        <c:lblAlgn val="ctr"/>
        <c:lblOffset val="100"/>
        <c:noMultiLvlLbl val="0"/>
      </c:catAx>
      <c:valAx>
        <c:axId val="3679755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crossAx val="3679688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legend>
    <c:plotVisOnly val="1"/>
    <c:dispBlanksAs val="gap"/>
    <c:showDLblsOverMax val="0"/>
  </c:chart>
  <c:spPr>
    <a:noFill/>
    <a:ln>
      <a:noFill/>
    </a:ln>
    <a:effectLst/>
  </c:spPr>
  <c:txPr>
    <a:bodyPr/>
    <a:lstStyle/>
    <a:p>
      <a:pPr>
        <a:defRPr/>
      </a:pPr>
      <a:endParaRPr lang="fi-FI"/>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i-FI"/>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i-FI"/>
              <a:t>Compression</a:t>
            </a:r>
            <a:r>
              <a:rPr lang="fi-FI" baseline="0"/>
              <a:t> Percentage</a:t>
            </a:r>
            <a:endParaRPr lang="fi-FI"/>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i-FI"/>
        </a:p>
      </c:txPr>
    </c:title>
    <c:autoTitleDeleted val="0"/>
    <c:plotArea>
      <c:layout/>
      <c:barChart>
        <c:barDir val="bar"/>
        <c:grouping val="clustered"/>
        <c:varyColors val="0"/>
        <c:ser>
          <c:idx val="0"/>
          <c:order val="0"/>
          <c:tx>
            <c:strRef>
              <c:f>Sheet1!$B$8</c:f>
              <c:strCache>
                <c:ptCount val="1"/>
                <c:pt idx="0">
                  <c:v>gzip</c:v>
                </c:pt>
              </c:strCache>
            </c:strRef>
          </c:tx>
          <c:spPr>
            <a:solidFill>
              <a:schemeClr val="accent1"/>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Sheet1!$B$9:$B$13</c:f>
              <c:numCache>
                <c:formatCode>0.00%</c:formatCode>
                <c:ptCount val="5"/>
                <c:pt idx="0">
                  <c:v>0.22812219421363933</c:v>
                </c:pt>
                <c:pt idx="1">
                  <c:v>0.31530468326606725</c:v>
                </c:pt>
                <c:pt idx="2">
                  <c:v>0.99828444604402855</c:v>
                </c:pt>
                <c:pt idx="3">
                  <c:v>0.29456303278120449</c:v>
                </c:pt>
                <c:pt idx="4">
                  <c:v>0.50420768508860525</c:v>
                </c:pt>
              </c:numCache>
            </c:numRef>
          </c:val>
          <c:extLst>
            <c:ext xmlns:c16="http://schemas.microsoft.com/office/drawing/2014/chart" uri="{C3380CC4-5D6E-409C-BE32-E72D297353CC}">
              <c16:uniqueId val="{00000000-015C-4332-8A0A-2C4DC50738EF}"/>
            </c:ext>
          </c:extLst>
        </c:ser>
        <c:ser>
          <c:idx val="1"/>
          <c:order val="1"/>
          <c:tx>
            <c:strRef>
              <c:f>Sheet1!$C$8</c:f>
              <c:strCache>
                <c:ptCount val="1"/>
                <c:pt idx="0">
                  <c:v>gzip -9 </c:v>
                </c:pt>
              </c:strCache>
            </c:strRef>
          </c:tx>
          <c:spPr>
            <a:solidFill>
              <a:schemeClr val="accent2"/>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Sheet1!$C$9:$C$13</c:f>
              <c:numCache>
                <c:formatCode>0.00%</c:formatCode>
                <c:ptCount val="5"/>
                <c:pt idx="0">
                  <c:v>0.22695591270784032</c:v>
                </c:pt>
                <c:pt idx="1">
                  <c:v>0.31259967887329632</c:v>
                </c:pt>
                <c:pt idx="2">
                  <c:v>0.99828444604402855</c:v>
                </c:pt>
                <c:pt idx="3">
                  <c:v>0.29302792986346943</c:v>
                </c:pt>
                <c:pt idx="4">
                  <c:v>0.50282989269388167</c:v>
                </c:pt>
              </c:numCache>
            </c:numRef>
          </c:val>
          <c:extLst>
            <c:ext xmlns:c16="http://schemas.microsoft.com/office/drawing/2014/chart" uri="{C3380CC4-5D6E-409C-BE32-E72D297353CC}">
              <c16:uniqueId val="{00000001-015C-4332-8A0A-2C4DC50738EF}"/>
            </c:ext>
          </c:extLst>
        </c:ser>
        <c:ser>
          <c:idx val="2"/>
          <c:order val="2"/>
          <c:tx>
            <c:strRef>
              <c:f>Sheet1!$D$8</c:f>
              <c:strCache>
                <c:ptCount val="1"/>
                <c:pt idx="0">
                  <c:v>zip</c:v>
                </c:pt>
              </c:strCache>
            </c:strRef>
          </c:tx>
          <c:spPr>
            <a:solidFill>
              <a:schemeClr val="accent3"/>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Sheet1!$D$9:$D$13</c:f>
              <c:numCache>
                <c:formatCode>0.00%</c:formatCode>
                <c:ptCount val="5"/>
                <c:pt idx="0">
                  <c:v>0.22799877818127964</c:v>
                </c:pt>
                <c:pt idx="1">
                  <c:v>0.31529750223565672</c:v>
                </c:pt>
                <c:pt idx="2">
                  <c:v>0.99821646371943296</c:v>
                </c:pt>
                <c:pt idx="3">
                  <c:v>0.29453531083235152</c:v>
                </c:pt>
                <c:pt idx="4">
                  <c:v>0.50454207065856072</c:v>
                </c:pt>
              </c:numCache>
            </c:numRef>
          </c:val>
          <c:extLst>
            <c:ext xmlns:c16="http://schemas.microsoft.com/office/drawing/2014/chart" uri="{C3380CC4-5D6E-409C-BE32-E72D297353CC}">
              <c16:uniqueId val="{00000002-015C-4332-8A0A-2C4DC50738EF}"/>
            </c:ext>
          </c:extLst>
        </c:ser>
        <c:ser>
          <c:idx val="3"/>
          <c:order val="3"/>
          <c:tx>
            <c:strRef>
              <c:f>Sheet1!$E$8</c:f>
              <c:strCache>
                <c:ptCount val="1"/>
                <c:pt idx="0">
                  <c:v>bzip2</c:v>
                </c:pt>
              </c:strCache>
            </c:strRef>
          </c:tx>
          <c:spPr>
            <a:solidFill>
              <a:schemeClr val="accent4"/>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Sheet1!$E$9:$E$13</c:f>
              <c:numCache>
                <c:formatCode>0.00%</c:formatCode>
                <c:ptCount val="5"/>
                <c:pt idx="0">
                  <c:v>0.1961019046179194</c:v>
                </c:pt>
                <c:pt idx="1">
                  <c:v>0.22462330446334702</c:v>
                </c:pt>
                <c:pt idx="2">
                  <c:v>0.99841441225281424</c:v>
                </c:pt>
                <c:pt idx="3">
                  <c:v>0.23849539122600319</c:v>
                </c:pt>
                <c:pt idx="4">
                  <c:v>0.47588295679408177</c:v>
                </c:pt>
              </c:numCache>
            </c:numRef>
          </c:val>
          <c:extLst>
            <c:ext xmlns:c16="http://schemas.microsoft.com/office/drawing/2014/chart" uri="{C3380CC4-5D6E-409C-BE32-E72D297353CC}">
              <c16:uniqueId val="{00000003-015C-4332-8A0A-2C4DC50738EF}"/>
            </c:ext>
          </c:extLst>
        </c:ser>
        <c:ser>
          <c:idx val="4"/>
          <c:order val="4"/>
          <c:tx>
            <c:strRef>
              <c:f>Sheet1!$F$8</c:f>
              <c:strCache>
                <c:ptCount val="1"/>
                <c:pt idx="0">
                  <c:v>xz</c:v>
                </c:pt>
              </c:strCache>
            </c:strRef>
          </c:tx>
          <c:spPr>
            <a:solidFill>
              <a:schemeClr val="accent5"/>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Sheet1!$F$9:$F$13</c:f>
              <c:numCache>
                <c:formatCode>0.00%</c:formatCode>
                <c:ptCount val="5"/>
                <c:pt idx="0">
                  <c:v>0.18932019363975477</c:v>
                </c:pt>
                <c:pt idx="1">
                  <c:v>0.23671548645309834</c:v>
                </c:pt>
                <c:pt idx="2">
                  <c:v>0.99870833583268348</c:v>
                </c:pt>
                <c:pt idx="3">
                  <c:v>0.25391919051909351</c:v>
                </c:pt>
                <c:pt idx="4">
                  <c:v>0.42064603842544301</c:v>
                </c:pt>
              </c:numCache>
            </c:numRef>
          </c:val>
          <c:extLst>
            <c:ext xmlns:c16="http://schemas.microsoft.com/office/drawing/2014/chart" uri="{C3380CC4-5D6E-409C-BE32-E72D297353CC}">
              <c16:uniqueId val="{00000004-015C-4332-8A0A-2C4DC50738EF}"/>
            </c:ext>
          </c:extLst>
        </c:ser>
        <c:ser>
          <c:idx val="5"/>
          <c:order val="5"/>
          <c:tx>
            <c:strRef>
              <c:f>Sheet1!$G$8</c:f>
              <c:strCache>
                <c:ptCount val="1"/>
                <c:pt idx="0">
                  <c:v>xz -e</c:v>
                </c:pt>
              </c:strCache>
            </c:strRef>
          </c:tx>
          <c:spPr>
            <a:solidFill>
              <a:schemeClr val="accent6"/>
            </a:solidFill>
            <a:ln>
              <a:noFill/>
            </a:ln>
            <a:effectLst/>
          </c:spPr>
          <c:invertIfNegative val="0"/>
          <c:cat>
            <c:strRef>
              <c:f>Sheet1!$A$9:$A$13</c:f>
              <c:strCache>
                <c:ptCount val="5"/>
                <c:pt idx="0">
                  <c:v>Finnish_language.html</c:v>
                </c:pt>
                <c:pt idx="1">
                  <c:v>KJV-bible.txt</c:v>
                </c:pt>
                <c:pt idx="2">
                  <c:v>Suomenlinna.jpg</c:v>
                </c:pt>
                <c:pt idx="3">
                  <c:v>jquery.js</c:v>
                </c:pt>
                <c:pt idx="4">
                  <c:v>vim.basic</c:v>
                </c:pt>
              </c:strCache>
            </c:strRef>
          </c:cat>
          <c:val>
            <c:numRef>
              <c:f>Sheet1!$G$9:$G$13</c:f>
              <c:numCache>
                <c:formatCode>0.00%</c:formatCode>
                <c:ptCount val="5"/>
                <c:pt idx="0">
                  <c:v>0.18834520698411328</c:v>
                </c:pt>
                <c:pt idx="1">
                  <c:v>0.23652877966242425</c:v>
                </c:pt>
                <c:pt idx="2">
                  <c:v>0.99870833583268348</c:v>
                </c:pt>
                <c:pt idx="3">
                  <c:v>0.25404393928893199</c:v>
                </c:pt>
                <c:pt idx="4">
                  <c:v>0.42108500549052852</c:v>
                </c:pt>
              </c:numCache>
            </c:numRef>
          </c:val>
          <c:extLst>
            <c:ext xmlns:c16="http://schemas.microsoft.com/office/drawing/2014/chart" uri="{C3380CC4-5D6E-409C-BE32-E72D297353CC}">
              <c16:uniqueId val="{00000005-015C-4332-8A0A-2C4DC50738EF}"/>
            </c:ext>
          </c:extLst>
        </c:ser>
        <c:dLbls>
          <c:showLegendKey val="0"/>
          <c:showVal val="0"/>
          <c:showCatName val="0"/>
          <c:showSerName val="0"/>
          <c:showPercent val="0"/>
          <c:showBubbleSize val="0"/>
        </c:dLbls>
        <c:gapWidth val="182"/>
        <c:axId val="287601759"/>
        <c:axId val="287603007"/>
      </c:barChart>
      <c:catAx>
        <c:axId val="2876017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crossAx val="287603007"/>
        <c:crosses val="autoZero"/>
        <c:auto val="1"/>
        <c:lblAlgn val="ctr"/>
        <c:lblOffset val="100"/>
        <c:noMultiLvlLbl val="0"/>
      </c:catAx>
      <c:valAx>
        <c:axId val="287603007"/>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crossAx val="287601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i-FI"/>
        </a:p>
      </c:txPr>
    </c:legend>
    <c:plotVisOnly val="1"/>
    <c:dispBlanksAs val="gap"/>
    <c:showDLblsOverMax val="0"/>
  </c:chart>
  <c:spPr>
    <a:noFill/>
    <a:ln>
      <a:noFill/>
    </a:ln>
    <a:effectLst/>
  </c:spPr>
  <c:txPr>
    <a:bodyPr/>
    <a:lstStyle/>
    <a:p>
      <a:pPr>
        <a:defRPr/>
      </a:pPr>
      <a:endParaRPr lang="fi-FI"/>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086992-B58A-4910-BB34-CA2254CFC7E1}"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2434D4D9-8A5E-42CA-8CEC-DC29F4AB6CB3}">
      <dgm:prSet phldrT="[Teksti]"/>
      <dgm:spPr/>
      <dgm:t>
        <a:bodyPr/>
        <a:lstStyle/>
        <a:p>
          <a:r>
            <a:rPr lang="en-US" dirty="0"/>
            <a:t>Source Code (.c, .h)</a:t>
          </a:r>
        </a:p>
      </dgm:t>
    </dgm:pt>
    <dgm:pt modelId="{F9F7A9B7-FA33-41FD-B93E-7F3ABCB615B0}" type="parTrans" cxnId="{8C0F0402-2FA5-4CD2-B219-B75891665070}">
      <dgm:prSet/>
      <dgm:spPr/>
      <dgm:t>
        <a:bodyPr/>
        <a:lstStyle/>
        <a:p>
          <a:endParaRPr lang="en-US"/>
        </a:p>
      </dgm:t>
    </dgm:pt>
    <dgm:pt modelId="{56C00328-EE62-4EAA-9A88-D17704554D2C}" type="sibTrans" cxnId="{8C0F0402-2FA5-4CD2-B219-B75891665070}">
      <dgm:prSet/>
      <dgm:spPr/>
      <dgm:t>
        <a:bodyPr/>
        <a:lstStyle/>
        <a:p>
          <a:endParaRPr lang="en-US"/>
        </a:p>
      </dgm:t>
    </dgm:pt>
    <dgm:pt modelId="{14E6C644-2A33-4D73-9A49-4346BF13B217}">
      <dgm:prSet phldrT="[Teksti]"/>
      <dgm:spPr/>
      <dgm:t>
        <a:bodyPr/>
        <a:lstStyle/>
        <a:p>
          <a:r>
            <a:rPr lang="en-US" dirty="0"/>
            <a:t>Preprocessor (# → expanded code)</a:t>
          </a:r>
        </a:p>
      </dgm:t>
    </dgm:pt>
    <dgm:pt modelId="{8D1EA75B-DD1F-4700-97F4-887EF48022DD}" type="parTrans" cxnId="{D488503B-3C6F-4683-B8C3-40209D41F198}">
      <dgm:prSet/>
      <dgm:spPr/>
      <dgm:t>
        <a:bodyPr/>
        <a:lstStyle/>
        <a:p>
          <a:endParaRPr lang="en-US"/>
        </a:p>
      </dgm:t>
    </dgm:pt>
    <dgm:pt modelId="{F945AFA6-919F-4260-B95E-49B567FA2483}" type="sibTrans" cxnId="{D488503B-3C6F-4683-B8C3-40209D41F198}">
      <dgm:prSet/>
      <dgm:spPr/>
      <dgm:t>
        <a:bodyPr/>
        <a:lstStyle/>
        <a:p>
          <a:endParaRPr lang="en-US"/>
        </a:p>
      </dgm:t>
    </dgm:pt>
    <dgm:pt modelId="{7D795D29-75FB-4676-A1CC-7B504C322A35}">
      <dgm:prSet phldrT="[Teksti]"/>
      <dgm:spPr/>
      <dgm:t>
        <a:bodyPr/>
        <a:lstStyle/>
        <a:p>
          <a:r>
            <a:rPr lang="en-US" dirty="0"/>
            <a:t>Compiler (C code → assembly code .s)</a:t>
          </a:r>
        </a:p>
      </dgm:t>
    </dgm:pt>
    <dgm:pt modelId="{7899AA2B-2B16-4DDC-A21C-BE397F6D083C}" type="parTrans" cxnId="{AFA22ED2-707F-4BFB-A72B-C13DD0F96879}">
      <dgm:prSet/>
      <dgm:spPr/>
      <dgm:t>
        <a:bodyPr/>
        <a:lstStyle/>
        <a:p>
          <a:endParaRPr lang="en-US"/>
        </a:p>
      </dgm:t>
    </dgm:pt>
    <dgm:pt modelId="{231D3B29-23B0-4997-A7EC-115645FC1AC6}" type="sibTrans" cxnId="{AFA22ED2-707F-4BFB-A72B-C13DD0F96879}">
      <dgm:prSet/>
      <dgm:spPr/>
      <dgm:t>
        <a:bodyPr/>
        <a:lstStyle/>
        <a:p>
          <a:endParaRPr lang="en-US"/>
        </a:p>
      </dgm:t>
    </dgm:pt>
    <dgm:pt modelId="{2FA3C1CF-0AAC-4925-9748-496F7EDFFBE3}">
      <dgm:prSet/>
      <dgm:spPr/>
      <dgm:t>
        <a:bodyPr/>
        <a:lstStyle/>
        <a:p>
          <a:r>
            <a:rPr lang="en-US" dirty="0"/>
            <a:t>Assembler (assembly code → object code)</a:t>
          </a:r>
        </a:p>
      </dgm:t>
    </dgm:pt>
    <dgm:pt modelId="{EC549B13-FCBA-4217-B4D5-09E4E6BD5E79}" type="parTrans" cxnId="{D1484ABD-DED2-4BD5-B357-E8CE1E7A296C}">
      <dgm:prSet/>
      <dgm:spPr/>
      <dgm:t>
        <a:bodyPr/>
        <a:lstStyle/>
        <a:p>
          <a:endParaRPr lang="en-US"/>
        </a:p>
      </dgm:t>
    </dgm:pt>
    <dgm:pt modelId="{C58FFF16-9C3B-483F-A4D2-8FF897375DA6}" type="sibTrans" cxnId="{D1484ABD-DED2-4BD5-B357-E8CE1E7A296C}">
      <dgm:prSet/>
      <dgm:spPr/>
      <dgm:t>
        <a:bodyPr/>
        <a:lstStyle/>
        <a:p>
          <a:endParaRPr lang="en-US"/>
        </a:p>
      </dgm:t>
    </dgm:pt>
    <dgm:pt modelId="{5225A571-4389-4933-90EA-BE26ADDE73C0}">
      <dgm:prSet/>
      <dgm:spPr/>
      <dgm:t>
        <a:bodyPr/>
        <a:lstStyle/>
        <a:p>
          <a:r>
            <a:rPr lang="en-US" dirty="0"/>
            <a:t>Linker (object code + libraries → executable)</a:t>
          </a:r>
        </a:p>
      </dgm:t>
    </dgm:pt>
    <dgm:pt modelId="{F5996279-CE2C-4A54-B1FA-290286AD56E6}" type="parTrans" cxnId="{1B63F691-B7EA-4610-99FE-F3E60F0D3B22}">
      <dgm:prSet/>
      <dgm:spPr/>
      <dgm:t>
        <a:bodyPr/>
        <a:lstStyle/>
        <a:p>
          <a:endParaRPr lang="en-US"/>
        </a:p>
      </dgm:t>
    </dgm:pt>
    <dgm:pt modelId="{6C44A562-D001-43A0-BA5A-BC7B896CD87B}" type="sibTrans" cxnId="{1B63F691-B7EA-4610-99FE-F3E60F0D3B22}">
      <dgm:prSet/>
      <dgm:spPr/>
      <dgm:t>
        <a:bodyPr/>
        <a:lstStyle/>
        <a:p>
          <a:endParaRPr lang="en-US"/>
        </a:p>
      </dgm:t>
    </dgm:pt>
    <dgm:pt modelId="{CCC31667-3054-4A8F-A7F4-72203CF345C4}" type="pres">
      <dgm:prSet presAssocID="{97086992-B58A-4910-BB34-CA2254CFC7E1}" presName="outerComposite" presStyleCnt="0">
        <dgm:presLayoutVars>
          <dgm:chMax val="5"/>
          <dgm:dir/>
          <dgm:resizeHandles val="exact"/>
        </dgm:presLayoutVars>
      </dgm:prSet>
      <dgm:spPr/>
    </dgm:pt>
    <dgm:pt modelId="{3EFDAD93-6E2C-442B-81C8-9EF8479A0036}" type="pres">
      <dgm:prSet presAssocID="{97086992-B58A-4910-BB34-CA2254CFC7E1}" presName="dummyMaxCanvas" presStyleCnt="0">
        <dgm:presLayoutVars/>
      </dgm:prSet>
      <dgm:spPr/>
    </dgm:pt>
    <dgm:pt modelId="{C62CC1C9-A7E1-4648-9F58-5C11BE9F8C74}" type="pres">
      <dgm:prSet presAssocID="{97086992-B58A-4910-BB34-CA2254CFC7E1}" presName="FiveNodes_1" presStyleLbl="node1" presStyleIdx="0" presStyleCnt="5">
        <dgm:presLayoutVars>
          <dgm:bulletEnabled val="1"/>
        </dgm:presLayoutVars>
      </dgm:prSet>
      <dgm:spPr/>
    </dgm:pt>
    <dgm:pt modelId="{B27C2B40-F0C0-49A7-8A41-9BFB29BBA9CE}" type="pres">
      <dgm:prSet presAssocID="{97086992-B58A-4910-BB34-CA2254CFC7E1}" presName="FiveNodes_2" presStyleLbl="node1" presStyleIdx="1" presStyleCnt="5">
        <dgm:presLayoutVars>
          <dgm:bulletEnabled val="1"/>
        </dgm:presLayoutVars>
      </dgm:prSet>
      <dgm:spPr/>
    </dgm:pt>
    <dgm:pt modelId="{36855DDD-6023-4148-AD12-901AC9B06FF5}" type="pres">
      <dgm:prSet presAssocID="{97086992-B58A-4910-BB34-CA2254CFC7E1}" presName="FiveNodes_3" presStyleLbl="node1" presStyleIdx="2" presStyleCnt="5">
        <dgm:presLayoutVars>
          <dgm:bulletEnabled val="1"/>
        </dgm:presLayoutVars>
      </dgm:prSet>
      <dgm:spPr/>
    </dgm:pt>
    <dgm:pt modelId="{11CC3E5A-8DCD-4708-ACB7-0B11BE1215CF}" type="pres">
      <dgm:prSet presAssocID="{97086992-B58A-4910-BB34-CA2254CFC7E1}" presName="FiveNodes_4" presStyleLbl="node1" presStyleIdx="3" presStyleCnt="5">
        <dgm:presLayoutVars>
          <dgm:bulletEnabled val="1"/>
        </dgm:presLayoutVars>
      </dgm:prSet>
      <dgm:spPr/>
    </dgm:pt>
    <dgm:pt modelId="{30538A32-6181-4F4F-B23E-CB83EE76F695}" type="pres">
      <dgm:prSet presAssocID="{97086992-B58A-4910-BB34-CA2254CFC7E1}" presName="FiveNodes_5" presStyleLbl="node1" presStyleIdx="4" presStyleCnt="5">
        <dgm:presLayoutVars>
          <dgm:bulletEnabled val="1"/>
        </dgm:presLayoutVars>
      </dgm:prSet>
      <dgm:spPr/>
    </dgm:pt>
    <dgm:pt modelId="{B63E1EFD-1C6D-4E5B-A0A8-D8D15B7223AC}" type="pres">
      <dgm:prSet presAssocID="{97086992-B58A-4910-BB34-CA2254CFC7E1}" presName="FiveConn_1-2" presStyleLbl="fgAccFollowNode1" presStyleIdx="0" presStyleCnt="4">
        <dgm:presLayoutVars>
          <dgm:bulletEnabled val="1"/>
        </dgm:presLayoutVars>
      </dgm:prSet>
      <dgm:spPr/>
    </dgm:pt>
    <dgm:pt modelId="{F23F61A7-A5B2-4AFB-A52E-88A3CC9AEC26}" type="pres">
      <dgm:prSet presAssocID="{97086992-B58A-4910-BB34-CA2254CFC7E1}" presName="FiveConn_2-3" presStyleLbl="fgAccFollowNode1" presStyleIdx="1" presStyleCnt="4">
        <dgm:presLayoutVars>
          <dgm:bulletEnabled val="1"/>
        </dgm:presLayoutVars>
      </dgm:prSet>
      <dgm:spPr/>
    </dgm:pt>
    <dgm:pt modelId="{56BF65BF-9E84-44AB-B63A-4673562382FA}" type="pres">
      <dgm:prSet presAssocID="{97086992-B58A-4910-BB34-CA2254CFC7E1}" presName="FiveConn_3-4" presStyleLbl="fgAccFollowNode1" presStyleIdx="2" presStyleCnt="4">
        <dgm:presLayoutVars>
          <dgm:bulletEnabled val="1"/>
        </dgm:presLayoutVars>
      </dgm:prSet>
      <dgm:spPr/>
    </dgm:pt>
    <dgm:pt modelId="{224B16C2-6252-4ABB-8402-750AB62C4032}" type="pres">
      <dgm:prSet presAssocID="{97086992-B58A-4910-BB34-CA2254CFC7E1}" presName="FiveConn_4-5" presStyleLbl="fgAccFollowNode1" presStyleIdx="3" presStyleCnt="4">
        <dgm:presLayoutVars>
          <dgm:bulletEnabled val="1"/>
        </dgm:presLayoutVars>
      </dgm:prSet>
      <dgm:spPr/>
    </dgm:pt>
    <dgm:pt modelId="{B2DDF502-B33E-496B-B459-35E9DEE4247A}" type="pres">
      <dgm:prSet presAssocID="{97086992-B58A-4910-BB34-CA2254CFC7E1}" presName="FiveNodes_1_text" presStyleLbl="node1" presStyleIdx="4" presStyleCnt="5">
        <dgm:presLayoutVars>
          <dgm:bulletEnabled val="1"/>
        </dgm:presLayoutVars>
      </dgm:prSet>
      <dgm:spPr/>
    </dgm:pt>
    <dgm:pt modelId="{85E4A96D-94E7-4039-9E25-723DDE76D469}" type="pres">
      <dgm:prSet presAssocID="{97086992-B58A-4910-BB34-CA2254CFC7E1}" presName="FiveNodes_2_text" presStyleLbl="node1" presStyleIdx="4" presStyleCnt="5">
        <dgm:presLayoutVars>
          <dgm:bulletEnabled val="1"/>
        </dgm:presLayoutVars>
      </dgm:prSet>
      <dgm:spPr/>
    </dgm:pt>
    <dgm:pt modelId="{4FD71EEF-1A26-4AEC-BD0A-FA9256828AFF}" type="pres">
      <dgm:prSet presAssocID="{97086992-B58A-4910-BB34-CA2254CFC7E1}" presName="FiveNodes_3_text" presStyleLbl="node1" presStyleIdx="4" presStyleCnt="5">
        <dgm:presLayoutVars>
          <dgm:bulletEnabled val="1"/>
        </dgm:presLayoutVars>
      </dgm:prSet>
      <dgm:spPr/>
    </dgm:pt>
    <dgm:pt modelId="{637E96C7-0760-4F3E-BFEE-B22270B79E2B}" type="pres">
      <dgm:prSet presAssocID="{97086992-B58A-4910-BB34-CA2254CFC7E1}" presName="FiveNodes_4_text" presStyleLbl="node1" presStyleIdx="4" presStyleCnt="5">
        <dgm:presLayoutVars>
          <dgm:bulletEnabled val="1"/>
        </dgm:presLayoutVars>
      </dgm:prSet>
      <dgm:spPr/>
    </dgm:pt>
    <dgm:pt modelId="{31FDF22B-4EF7-4918-AA9B-42DDC1707F31}" type="pres">
      <dgm:prSet presAssocID="{97086992-B58A-4910-BB34-CA2254CFC7E1}" presName="FiveNodes_5_text" presStyleLbl="node1" presStyleIdx="4" presStyleCnt="5">
        <dgm:presLayoutVars>
          <dgm:bulletEnabled val="1"/>
        </dgm:presLayoutVars>
      </dgm:prSet>
      <dgm:spPr/>
    </dgm:pt>
  </dgm:ptLst>
  <dgm:cxnLst>
    <dgm:cxn modelId="{8C0F0402-2FA5-4CD2-B219-B75891665070}" srcId="{97086992-B58A-4910-BB34-CA2254CFC7E1}" destId="{2434D4D9-8A5E-42CA-8CEC-DC29F4AB6CB3}" srcOrd="0" destOrd="0" parTransId="{F9F7A9B7-FA33-41FD-B93E-7F3ABCB615B0}" sibTransId="{56C00328-EE62-4EAA-9A88-D17704554D2C}"/>
    <dgm:cxn modelId="{49B45B0E-1A00-481C-9C97-E0ED19E31912}" type="presOf" srcId="{2434D4D9-8A5E-42CA-8CEC-DC29F4AB6CB3}" destId="{C62CC1C9-A7E1-4648-9F58-5C11BE9F8C74}" srcOrd="0" destOrd="0" presId="urn:microsoft.com/office/officeart/2005/8/layout/vProcess5"/>
    <dgm:cxn modelId="{55323719-2F0C-48A0-999A-74FD7B5EA4D1}" type="presOf" srcId="{2FA3C1CF-0AAC-4925-9748-496F7EDFFBE3}" destId="{11CC3E5A-8DCD-4708-ACB7-0B11BE1215CF}" srcOrd="0" destOrd="0" presId="urn:microsoft.com/office/officeart/2005/8/layout/vProcess5"/>
    <dgm:cxn modelId="{320CEE30-8481-4F5F-A939-B40FBDC17E1F}" type="presOf" srcId="{14E6C644-2A33-4D73-9A49-4346BF13B217}" destId="{85E4A96D-94E7-4039-9E25-723DDE76D469}" srcOrd="1" destOrd="0" presId="urn:microsoft.com/office/officeart/2005/8/layout/vProcess5"/>
    <dgm:cxn modelId="{C01D5E32-2ACD-47DB-A83D-B3EEC31A5A1B}" type="presOf" srcId="{7D795D29-75FB-4676-A1CC-7B504C322A35}" destId="{4FD71EEF-1A26-4AEC-BD0A-FA9256828AFF}" srcOrd="1" destOrd="0" presId="urn:microsoft.com/office/officeart/2005/8/layout/vProcess5"/>
    <dgm:cxn modelId="{D488503B-3C6F-4683-B8C3-40209D41F198}" srcId="{97086992-B58A-4910-BB34-CA2254CFC7E1}" destId="{14E6C644-2A33-4D73-9A49-4346BF13B217}" srcOrd="1" destOrd="0" parTransId="{8D1EA75B-DD1F-4700-97F4-887EF48022DD}" sibTransId="{F945AFA6-919F-4260-B95E-49B567FA2483}"/>
    <dgm:cxn modelId="{2177D273-94C9-464E-9FB6-45CAF3718F93}" type="presOf" srcId="{56C00328-EE62-4EAA-9A88-D17704554D2C}" destId="{B63E1EFD-1C6D-4E5B-A0A8-D8D15B7223AC}" srcOrd="0" destOrd="0" presId="urn:microsoft.com/office/officeart/2005/8/layout/vProcess5"/>
    <dgm:cxn modelId="{27469854-14BE-42DC-AB30-2FF4B67A4C85}" type="presOf" srcId="{F945AFA6-919F-4260-B95E-49B567FA2483}" destId="{F23F61A7-A5B2-4AFB-A52E-88A3CC9AEC26}" srcOrd="0" destOrd="0" presId="urn:microsoft.com/office/officeart/2005/8/layout/vProcess5"/>
    <dgm:cxn modelId="{EEB8AD54-1B10-4FC0-B6BA-A2908349FDAF}" type="presOf" srcId="{5225A571-4389-4933-90EA-BE26ADDE73C0}" destId="{30538A32-6181-4F4F-B23E-CB83EE76F695}" srcOrd="0" destOrd="0" presId="urn:microsoft.com/office/officeart/2005/8/layout/vProcess5"/>
    <dgm:cxn modelId="{90CCCC88-285C-42A7-9773-522518C5EB01}" type="presOf" srcId="{C58FFF16-9C3B-483F-A4D2-8FF897375DA6}" destId="{224B16C2-6252-4ABB-8402-750AB62C4032}" srcOrd="0" destOrd="0" presId="urn:microsoft.com/office/officeart/2005/8/layout/vProcess5"/>
    <dgm:cxn modelId="{1B63F691-B7EA-4610-99FE-F3E60F0D3B22}" srcId="{97086992-B58A-4910-BB34-CA2254CFC7E1}" destId="{5225A571-4389-4933-90EA-BE26ADDE73C0}" srcOrd="4" destOrd="0" parTransId="{F5996279-CE2C-4A54-B1FA-290286AD56E6}" sibTransId="{6C44A562-D001-43A0-BA5A-BC7B896CD87B}"/>
    <dgm:cxn modelId="{B6B91C93-EBE8-445F-824C-706E9155F9A0}" type="presOf" srcId="{2434D4D9-8A5E-42CA-8CEC-DC29F4AB6CB3}" destId="{B2DDF502-B33E-496B-B459-35E9DEE4247A}" srcOrd="1" destOrd="0" presId="urn:microsoft.com/office/officeart/2005/8/layout/vProcess5"/>
    <dgm:cxn modelId="{CE44399F-84DF-478C-BCE9-3E88156CB314}" type="presOf" srcId="{2FA3C1CF-0AAC-4925-9748-496F7EDFFBE3}" destId="{637E96C7-0760-4F3E-BFEE-B22270B79E2B}" srcOrd="1" destOrd="0" presId="urn:microsoft.com/office/officeart/2005/8/layout/vProcess5"/>
    <dgm:cxn modelId="{FD24A4A1-03BB-4E69-9AE6-1F1BA4220693}" type="presOf" srcId="{14E6C644-2A33-4D73-9A49-4346BF13B217}" destId="{B27C2B40-F0C0-49A7-8A41-9BFB29BBA9CE}" srcOrd="0" destOrd="0" presId="urn:microsoft.com/office/officeart/2005/8/layout/vProcess5"/>
    <dgm:cxn modelId="{C1C432A4-074F-4058-8256-7A22917BA907}" type="presOf" srcId="{5225A571-4389-4933-90EA-BE26ADDE73C0}" destId="{31FDF22B-4EF7-4918-AA9B-42DDC1707F31}" srcOrd="1" destOrd="0" presId="urn:microsoft.com/office/officeart/2005/8/layout/vProcess5"/>
    <dgm:cxn modelId="{D1484ABD-DED2-4BD5-B357-E8CE1E7A296C}" srcId="{97086992-B58A-4910-BB34-CA2254CFC7E1}" destId="{2FA3C1CF-0AAC-4925-9748-496F7EDFFBE3}" srcOrd="3" destOrd="0" parTransId="{EC549B13-FCBA-4217-B4D5-09E4E6BD5E79}" sibTransId="{C58FFF16-9C3B-483F-A4D2-8FF897375DA6}"/>
    <dgm:cxn modelId="{184034C6-6945-4764-8C67-A4B9ED3F34A4}" type="presOf" srcId="{97086992-B58A-4910-BB34-CA2254CFC7E1}" destId="{CCC31667-3054-4A8F-A7F4-72203CF345C4}" srcOrd="0" destOrd="0" presId="urn:microsoft.com/office/officeart/2005/8/layout/vProcess5"/>
    <dgm:cxn modelId="{AFA22ED2-707F-4BFB-A72B-C13DD0F96879}" srcId="{97086992-B58A-4910-BB34-CA2254CFC7E1}" destId="{7D795D29-75FB-4676-A1CC-7B504C322A35}" srcOrd="2" destOrd="0" parTransId="{7899AA2B-2B16-4DDC-A21C-BE397F6D083C}" sibTransId="{231D3B29-23B0-4997-A7EC-115645FC1AC6}"/>
    <dgm:cxn modelId="{04CF8FD6-A2D7-4491-B4FD-CE3C725F7124}" type="presOf" srcId="{231D3B29-23B0-4997-A7EC-115645FC1AC6}" destId="{56BF65BF-9E84-44AB-B63A-4673562382FA}" srcOrd="0" destOrd="0" presId="urn:microsoft.com/office/officeart/2005/8/layout/vProcess5"/>
    <dgm:cxn modelId="{DACB64F0-395D-424D-B70B-EA690432AB71}" type="presOf" srcId="{7D795D29-75FB-4676-A1CC-7B504C322A35}" destId="{36855DDD-6023-4148-AD12-901AC9B06FF5}" srcOrd="0" destOrd="0" presId="urn:microsoft.com/office/officeart/2005/8/layout/vProcess5"/>
    <dgm:cxn modelId="{92570A2D-F952-44C7-BE36-2A50953CF3A7}" type="presParOf" srcId="{CCC31667-3054-4A8F-A7F4-72203CF345C4}" destId="{3EFDAD93-6E2C-442B-81C8-9EF8479A0036}" srcOrd="0" destOrd="0" presId="urn:microsoft.com/office/officeart/2005/8/layout/vProcess5"/>
    <dgm:cxn modelId="{24DCB132-0603-4C21-8523-E70C49621FDF}" type="presParOf" srcId="{CCC31667-3054-4A8F-A7F4-72203CF345C4}" destId="{C62CC1C9-A7E1-4648-9F58-5C11BE9F8C74}" srcOrd="1" destOrd="0" presId="urn:microsoft.com/office/officeart/2005/8/layout/vProcess5"/>
    <dgm:cxn modelId="{EC04A756-ECC6-40B0-A18E-968D1A678BDB}" type="presParOf" srcId="{CCC31667-3054-4A8F-A7F4-72203CF345C4}" destId="{B27C2B40-F0C0-49A7-8A41-9BFB29BBA9CE}" srcOrd="2" destOrd="0" presId="urn:microsoft.com/office/officeart/2005/8/layout/vProcess5"/>
    <dgm:cxn modelId="{67FCCC53-543A-48E7-9AA2-F5AA1E2E9F50}" type="presParOf" srcId="{CCC31667-3054-4A8F-A7F4-72203CF345C4}" destId="{36855DDD-6023-4148-AD12-901AC9B06FF5}" srcOrd="3" destOrd="0" presId="urn:microsoft.com/office/officeart/2005/8/layout/vProcess5"/>
    <dgm:cxn modelId="{AAF4C81B-19BB-429C-9584-759003DE09F4}" type="presParOf" srcId="{CCC31667-3054-4A8F-A7F4-72203CF345C4}" destId="{11CC3E5A-8DCD-4708-ACB7-0B11BE1215CF}" srcOrd="4" destOrd="0" presId="urn:microsoft.com/office/officeart/2005/8/layout/vProcess5"/>
    <dgm:cxn modelId="{D6B154CF-FDEA-4C18-B637-6FC16820C565}" type="presParOf" srcId="{CCC31667-3054-4A8F-A7F4-72203CF345C4}" destId="{30538A32-6181-4F4F-B23E-CB83EE76F695}" srcOrd="5" destOrd="0" presId="urn:microsoft.com/office/officeart/2005/8/layout/vProcess5"/>
    <dgm:cxn modelId="{4B7B921F-16F9-41F6-A83D-C4DFBE47EE55}" type="presParOf" srcId="{CCC31667-3054-4A8F-A7F4-72203CF345C4}" destId="{B63E1EFD-1C6D-4E5B-A0A8-D8D15B7223AC}" srcOrd="6" destOrd="0" presId="urn:microsoft.com/office/officeart/2005/8/layout/vProcess5"/>
    <dgm:cxn modelId="{90D61FBF-5BC4-4748-92AE-D6DE8A4D7666}" type="presParOf" srcId="{CCC31667-3054-4A8F-A7F4-72203CF345C4}" destId="{F23F61A7-A5B2-4AFB-A52E-88A3CC9AEC26}" srcOrd="7" destOrd="0" presId="urn:microsoft.com/office/officeart/2005/8/layout/vProcess5"/>
    <dgm:cxn modelId="{1D365C6D-454C-4084-931C-F0C831E65FE2}" type="presParOf" srcId="{CCC31667-3054-4A8F-A7F4-72203CF345C4}" destId="{56BF65BF-9E84-44AB-B63A-4673562382FA}" srcOrd="8" destOrd="0" presId="urn:microsoft.com/office/officeart/2005/8/layout/vProcess5"/>
    <dgm:cxn modelId="{551ADA05-312A-42A1-8E18-9156A77668D2}" type="presParOf" srcId="{CCC31667-3054-4A8F-A7F4-72203CF345C4}" destId="{224B16C2-6252-4ABB-8402-750AB62C4032}" srcOrd="9" destOrd="0" presId="urn:microsoft.com/office/officeart/2005/8/layout/vProcess5"/>
    <dgm:cxn modelId="{A172BCCB-8C0E-4A64-A9ED-CC26BCB16C14}" type="presParOf" srcId="{CCC31667-3054-4A8F-A7F4-72203CF345C4}" destId="{B2DDF502-B33E-496B-B459-35E9DEE4247A}" srcOrd="10" destOrd="0" presId="urn:microsoft.com/office/officeart/2005/8/layout/vProcess5"/>
    <dgm:cxn modelId="{47F83C69-D619-4C96-B9B2-C46FF4046C17}" type="presParOf" srcId="{CCC31667-3054-4A8F-A7F4-72203CF345C4}" destId="{85E4A96D-94E7-4039-9E25-723DDE76D469}" srcOrd="11" destOrd="0" presId="urn:microsoft.com/office/officeart/2005/8/layout/vProcess5"/>
    <dgm:cxn modelId="{03A90FC5-CB34-4E0D-8A0A-89F48635E32D}" type="presParOf" srcId="{CCC31667-3054-4A8F-A7F4-72203CF345C4}" destId="{4FD71EEF-1A26-4AEC-BD0A-FA9256828AFF}" srcOrd="12" destOrd="0" presId="urn:microsoft.com/office/officeart/2005/8/layout/vProcess5"/>
    <dgm:cxn modelId="{1AEC90C1-3EBC-4BC2-8597-AFB2271CFAA4}" type="presParOf" srcId="{CCC31667-3054-4A8F-A7F4-72203CF345C4}" destId="{637E96C7-0760-4F3E-BFEE-B22270B79E2B}" srcOrd="13" destOrd="0" presId="urn:microsoft.com/office/officeart/2005/8/layout/vProcess5"/>
    <dgm:cxn modelId="{EC1E3B11-E46A-482A-AAAD-134F63CE1E64}" type="presParOf" srcId="{CCC31667-3054-4A8F-A7F4-72203CF345C4}" destId="{31FDF22B-4EF7-4918-AA9B-42DDC1707F31}"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CC1C9-A7E1-4648-9F58-5C11BE9F8C74}">
      <dsp:nvSpPr>
        <dsp:cNvPr id="0" name=""/>
        <dsp:cNvSpPr/>
      </dsp:nvSpPr>
      <dsp:spPr>
        <a:xfrm>
          <a:off x="0" y="0"/>
          <a:ext cx="8097012" cy="78324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Source Code (.c, .h)</a:t>
          </a:r>
        </a:p>
      </dsp:txBody>
      <dsp:txXfrm>
        <a:off x="22940" y="22940"/>
        <a:ext cx="7160195" cy="737360"/>
      </dsp:txXfrm>
    </dsp:sp>
    <dsp:sp modelId="{B27C2B40-F0C0-49A7-8A41-9BFB29BBA9CE}">
      <dsp:nvSpPr>
        <dsp:cNvPr id="0" name=""/>
        <dsp:cNvSpPr/>
      </dsp:nvSpPr>
      <dsp:spPr>
        <a:xfrm>
          <a:off x="604647" y="892024"/>
          <a:ext cx="8097012" cy="78324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Preprocessor (# → expanded code)</a:t>
          </a:r>
        </a:p>
      </dsp:txBody>
      <dsp:txXfrm>
        <a:off x="627587" y="914964"/>
        <a:ext cx="6937378" cy="737360"/>
      </dsp:txXfrm>
    </dsp:sp>
    <dsp:sp modelId="{36855DDD-6023-4148-AD12-901AC9B06FF5}">
      <dsp:nvSpPr>
        <dsp:cNvPr id="0" name=""/>
        <dsp:cNvSpPr/>
      </dsp:nvSpPr>
      <dsp:spPr>
        <a:xfrm>
          <a:off x="1209293" y="1784048"/>
          <a:ext cx="8097012" cy="78324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Compiler (C code → assembly code .s)</a:t>
          </a:r>
        </a:p>
      </dsp:txBody>
      <dsp:txXfrm>
        <a:off x="1232233" y="1806988"/>
        <a:ext cx="6937378" cy="737360"/>
      </dsp:txXfrm>
    </dsp:sp>
    <dsp:sp modelId="{11CC3E5A-8DCD-4708-ACB7-0B11BE1215CF}">
      <dsp:nvSpPr>
        <dsp:cNvPr id="0" name=""/>
        <dsp:cNvSpPr/>
      </dsp:nvSpPr>
      <dsp:spPr>
        <a:xfrm>
          <a:off x="1813940" y="2676072"/>
          <a:ext cx="8097012" cy="78324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Assembler (assembly code → object code)</a:t>
          </a:r>
        </a:p>
      </dsp:txBody>
      <dsp:txXfrm>
        <a:off x="1836880" y="2699012"/>
        <a:ext cx="6937378" cy="737360"/>
      </dsp:txXfrm>
    </dsp:sp>
    <dsp:sp modelId="{30538A32-6181-4F4F-B23E-CB83EE76F695}">
      <dsp:nvSpPr>
        <dsp:cNvPr id="0" name=""/>
        <dsp:cNvSpPr/>
      </dsp:nvSpPr>
      <dsp:spPr>
        <a:xfrm>
          <a:off x="2418587" y="3568097"/>
          <a:ext cx="8097012" cy="78324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Linker (object code + libraries → executable)</a:t>
          </a:r>
        </a:p>
      </dsp:txBody>
      <dsp:txXfrm>
        <a:off x="2441527" y="3591037"/>
        <a:ext cx="6937378" cy="737360"/>
      </dsp:txXfrm>
    </dsp:sp>
    <dsp:sp modelId="{B63E1EFD-1C6D-4E5B-A0A8-D8D15B7223AC}">
      <dsp:nvSpPr>
        <dsp:cNvPr id="0" name=""/>
        <dsp:cNvSpPr/>
      </dsp:nvSpPr>
      <dsp:spPr>
        <a:xfrm>
          <a:off x="7587905" y="572200"/>
          <a:ext cx="509106" cy="50910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F23F61A7-A5B2-4AFB-A52E-88A3CC9AEC26}">
      <dsp:nvSpPr>
        <dsp:cNvPr id="0" name=""/>
        <dsp:cNvSpPr/>
      </dsp:nvSpPr>
      <dsp:spPr>
        <a:xfrm>
          <a:off x="8192552" y="1464225"/>
          <a:ext cx="509106" cy="50910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56BF65BF-9E84-44AB-B63A-4673562382FA}">
      <dsp:nvSpPr>
        <dsp:cNvPr id="0" name=""/>
        <dsp:cNvSpPr/>
      </dsp:nvSpPr>
      <dsp:spPr>
        <a:xfrm>
          <a:off x="8797199" y="2343195"/>
          <a:ext cx="509106" cy="50910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224B16C2-6252-4ABB-8402-750AB62C4032}">
      <dsp:nvSpPr>
        <dsp:cNvPr id="0" name=""/>
        <dsp:cNvSpPr/>
      </dsp:nvSpPr>
      <dsp:spPr>
        <a:xfrm>
          <a:off x="9401846" y="3243922"/>
          <a:ext cx="509106" cy="50910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E0331EA-5A27-4AF6-80D3-7AC83584A073}"/>
              </a:ext>
            </a:extLst>
          </p:cNvPr>
          <p:cNvSpPr>
            <a:spLocks noGrp="1"/>
          </p:cNvSpPr>
          <p:nvPr>
            <p:ph type="ctrTitle"/>
          </p:nvPr>
        </p:nvSpPr>
        <p:spPr>
          <a:xfrm>
            <a:off x="1524000" y="1122363"/>
            <a:ext cx="9144000" cy="2387600"/>
          </a:xfrm>
        </p:spPr>
        <p:txBody>
          <a:bodyPr anchor="b"/>
          <a:lstStyle>
            <a:lvl1pPr algn="ctr">
              <a:defRPr sz="6000"/>
            </a:lvl1pPr>
          </a:lstStyle>
          <a:p>
            <a:r>
              <a:rPr lang="fi-FI"/>
              <a:t>Muokkaa ots. perustyyl. napsautt.</a:t>
            </a:r>
            <a:endParaRPr lang="en-US"/>
          </a:p>
        </p:txBody>
      </p:sp>
      <p:sp>
        <p:nvSpPr>
          <p:cNvPr id="3" name="Alaotsikko 2">
            <a:extLst>
              <a:ext uri="{FF2B5EF4-FFF2-40B4-BE49-F238E27FC236}">
                <a16:creationId xmlns:a16="http://schemas.microsoft.com/office/drawing/2014/main" id="{511ED452-B3AB-4074-AA75-C23CE1AF8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i-FI"/>
              <a:t>Muokkaa alaotsikon perustyyliä napsautt.</a:t>
            </a:r>
            <a:endParaRPr lang="en-US"/>
          </a:p>
        </p:txBody>
      </p:sp>
      <p:sp>
        <p:nvSpPr>
          <p:cNvPr id="4" name="Päivämäärän paikkamerkki 3">
            <a:extLst>
              <a:ext uri="{FF2B5EF4-FFF2-40B4-BE49-F238E27FC236}">
                <a16:creationId xmlns:a16="http://schemas.microsoft.com/office/drawing/2014/main" id="{33C557A3-73A9-4D5A-B176-DCA090923D12}"/>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85D89F3F-6C4D-450D-BE95-9D0C65F870F0}"/>
              </a:ext>
            </a:extLst>
          </p:cNvPr>
          <p:cNvSpPr>
            <a:spLocks noGrp="1"/>
          </p:cNvSpPr>
          <p:nvPr>
            <p:ph type="ftr" sz="quarter" idx="11"/>
          </p:nvPr>
        </p:nvSpPr>
        <p:spPr/>
        <p:txBody>
          <a:bodyPr/>
          <a:lstStyle/>
          <a:p>
            <a:endParaRPr lang="en-US" dirty="0"/>
          </a:p>
        </p:txBody>
      </p:sp>
      <p:sp>
        <p:nvSpPr>
          <p:cNvPr id="6" name="Dian numeron paikkamerkki 5">
            <a:extLst>
              <a:ext uri="{FF2B5EF4-FFF2-40B4-BE49-F238E27FC236}">
                <a16:creationId xmlns:a16="http://schemas.microsoft.com/office/drawing/2014/main" id="{0CD7737C-8B31-4D1C-8E61-F8331178D3F2}"/>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2171177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9A42F5E-A4A0-47F1-B304-11FAD3B7E4F1}"/>
              </a:ext>
            </a:extLst>
          </p:cNvPr>
          <p:cNvSpPr>
            <a:spLocks noGrp="1"/>
          </p:cNvSpPr>
          <p:nvPr>
            <p:ph type="title"/>
          </p:nvPr>
        </p:nvSpPr>
        <p:spPr/>
        <p:txBody>
          <a:bodyPr/>
          <a:lstStyle/>
          <a:p>
            <a:r>
              <a:rPr lang="fi-FI"/>
              <a:t>Muokkaa ots. perustyyl. napsautt.</a:t>
            </a:r>
            <a:endParaRPr lang="en-US"/>
          </a:p>
        </p:txBody>
      </p:sp>
      <p:sp>
        <p:nvSpPr>
          <p:cNvPr id="3" name="Sisällön paikkamerkki 2">
            <a:extLst>
              <a:ext uri="{FF2B5EF4-FFF2-40B4-BE49-F238E27FC236}">
                <a16:creationId xmlns:a16="http://schemas.microsoft.com/office/drawing/2014/main" id="{0D13A752-67F6-42E9-A07A-5976274D1E9E}"/>
              </a:ext>
            </a:extLst>
          </p:cNvPr>
          <p:cNvSpPr>
            <a:spLocks noGrp="1"/>
          </p:cNvSpPr>
          <p:nvPr>
            <p:ph idx="1"/>
          </p:nvPr>
        </p:nvSpPr>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5732CEEF-B9CC-4533-B183-3DC148E810D4}"/>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AFEE6C3A-3E4F-4695-896B-9EF0EC3C4149}"/>
              </a:ext>
            </a:extLst>
          </p:cNvPr>
          <p:cNvSpPr>
            <a:spLocks noGrp="1"/>
          </p:cNvSpPr>
          <p:nvPr>
            <p:ph type="ftr" sz="quarter" idx="11"/>
          </p:nvPr>
        </p:nvSpPr>
        <p:spPr/>
        <p:txBody>
          <a:bodyPr/>
          <a:lstStyle/>
          <a:p>
            <a:endParaRPr lang="en-US" dirty="0"/>
          </a:p>
        </p:txBody>
      </p:sp>
      <p:sp>
        <p:nvSpPr>
          <p:cNvPr id="6" name="Dian numeron paikkamerkki 5">
            <a:extLst>
              <a:ext uri="{FF2B5EF4-FFF2-40B4-BE49-F238E27FC236}">
                <a16:creationId xmlns:a16="http://schemas.microsoft.com/office/drawing/2014/main" id="{37369397-5059-4E26-8888-2C6FDE693929}"/>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19205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D4BEDDE-2EEB-4B90-B055-2622A66C2A80}"/>
              </a:ext>
            </a:extLst>
          </p:cNvPr>
          <p:cNvSpPr>
            <a:spLocks noGrp="1"/>
          </p:cNvSpPr>
          <p:nvPr>
            <p:ph type="title"/>
          </p:nvPr>
        </p:nvSpPr>
        <p:spPr>
          <a:xfrm>
            <a:off x="831850" y="1709738"/>
            <a:ext cx="10515600" cy="2852737"/>
          </a:xfrm>
        </p:spPr>
        <p:txBody>
          <a:bodyPr anchor="b"/>
          <a:lstStyle>
            <a:lvl1pPr>
              <a:defRPr sz="6000"/>
            </a:lvl1pPr>
          </a:lstStyle>
          <a:p>
            <a:r>
              <a:rPr lang="fi-FI"/>
              <a:t>Muokkaa ots. perustyyl. napsautt.</a:t>
            </a:r>
            <a:endParaRPr lang="en-US"/>
          </a:p>
        </p:txBody>
      </p:sp>
      <p:sp>
        <p:nvSpPr>
          <p:cNvPr id="3" name="Tekstin paikkamerkki 2">
            <a:extLst>
              <a:ext uri="{FF2B5EF4-FFF2-40B4-BE49-F238E27FC236}">
                <a16:creationId xmlns:a16="http://schemas.microsoft.com/office/drawing/2014/main" id="{9E3075A0-CCD9-46DE-A704-A043B719C6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i-FI"/>
              <a:t>Muokkaa tekstin perustyylejä napsauttamalla</a:t>
            </a:r>
          </a:p>
        </p:txBody>
      </p:sp>
      <p:sp>
        <p:nvSpPr>
          <p:cNvPr id="4" name="Päivämäärän paikkamerkki 3">
            <a:extLst>
              <a:ext uri="{FF2B5EF4-FFF2-40B4-BE49-F238E27FC236}">
                <a16:creationId xmlns:a16="http://schemas.microsoft.com/office/drawing/2014/main" id="{50BEAC49-9F05-4C1D-A31B-494F8FA017A5}"/>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8D6A61F5-E3BF-41BD-85A6-C79D37C5E4B3}"/>
              </a:ext>
            </a:extLst>
          </p:cNvPr>
          <p:cNvSpPr>
            <a:spLocks noGrp="1"/>
          </p:cNvSpPr>
          <p:nvPr>
            <p:ph type="ftr" sz="quarter" idx="11"/>
          </p:nvPr>
        </p:nvSpPr>
        <p:spPr/>
        <p:txBody>
          <a:bodyPr/>
          <a:lstStyle/>
          <a:p>
            <a:endParaRPr lang="en-US" dirty="0"/>
          </a:p>
        </p:txBody>
      </p:sp>
      <p:sp>
        <p:nvSpPr>
          <p:cNvPr id="6" name="Dian numeron paikkamerkki 5">
            <a:extLst>
              <a:ext uri="{FF2B5EF4-FFF2-40B4-BE49-F238E27FC236}">
                <a16:creationId xmlns:a16="http://schemas.microsoft.com/office/drawing/2014/main" id="{E763E416-23DB-4119-B9E5-4C53BA853AB7}"/>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3990807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E077BC5-9CF0-47DA-B594-3CF2A29E7ECF}"/>
              </a:ext>
            </a:extLst>
          </p:cNvPr>
          <p:cNvSpPr>
            <a:spLocks noGrp="1"/>
          </p:cNvSpPr>
          <p:nvPr>
            <p:ph type="title"/>
          </p:nvPr>
        </p:nvSpPr>
        <p:spPr/>
        <p:txBody>
          <a:bodyPr/>
          <a:lstStyle/>
          <a:p>
            <a:r>
              <a:rPr lang="fi-FI"/>
              <a:t>Muokkaa ots. perustyyl. napsautt.</a:t>
            </a:r>
            <a:endParaRPr lang="en-US"/>
          </a:p>
        </p:txBody>
      </p:sp>
      <p:sp>
        <p:nvSpPr>
          <p:cNvPr id="3" name="Sisällön paikkamerkki 2">
            <a:extLst>
              <a:ext uri="{FF2B5EF4-FFF2-40B4-BE49-F238E27FC236}">
                <a16:creationId xmlns:a16="http://schemas.microsoft.com/office/drawing/2014/main" id="{E2C656D4-384E-4766-9394-BC958128B4AD}"/>
              </a:ext>
            </a:extLst>
          </p:cNvPr>
          <p:cNvSpPr>
            <a:spLocks noGrp="1"/>
          </p:cNvSpPr>
          <p:nvPr>
            <p:ph sz="half" idx="1"/>
          </p:nvPr>
        </p:nvSpPr>
        <p:spPr>
          <a:xfrm>
            <a:off x="838200" y="1825625"/>
            <a:ext cx="5181600" cy="435133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Sisällön paikkamerkki 3">
            <a:extLst>
              <a:ext uri="{FF2B5EF4-FFF2-40B4-BE49-F238E27FC236}">
                <a16:creationId xmlns:a16="http://schemas.microsoft.com/office/drawing/2014/main" id="{4F1F45C4-687E-4C6C-A303-A38EE5830FB0}"/>
              </a:ext>
            </a:extLst>
          </p:cNvPr>
          <p:cNvSpPr>
            <a:spLocks noGrp="1"/>
          </p:cNvSpPr>
          <p:nvPr>
            <p:ph sz="half" idx="2"/>
          </p:nvPr>
        </p:nvSpPr>
        <p:spPr>
          <a:xfrm>
            <a:off x="6172200" y="1825625"/>
            <a:ext cx="5181600" cy="435133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Päivämäärän paikkamerkki 4">
            <a:extLst>
              <a:ext uri="{FF2B5EF4-FFF2-40B4-BE49-F238E27FC236}">
                <a16:creationId xmlns:a16="http://schemas.microsoft.com/office/drawing/2014/main" id="{6FEDF93A-8017-4940-85BA-7800E4B2EFA8}"/>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6" name="Alatunnisteen paikkamerkki 5">
            <a:extLst>
              <a:ext uri="{FF2B5EF4-FFF2-40B4-BE49-F238E27FC236}">
                <a16:creationId xmlns:a16="http://schemas.microsoft.com/office/drawing/2014/main" id="{E0094801-4634-4E87-99CE-20A0186353BE}"/>
              </a:ext>
            </a:extLst>
          </p:cNvPr>
          <p:cNvSpPr>
            <a:spLocks noGrp="1"/>
          </p:cNvSpPr>
          <p:nvPr>
            <p:ph type="ftr" sz="quarter" idx="11"/>
          </p:nvPr>
        </p:nvSpPr>
        <p:spPr/>
        <p:txBody>
          <a:bodyPr/>
          <a:lstStyle/>
          <a:p>
            <a:endParaRPr lang="en-US" dirty="0"/>
          </a:p>
        </p:txBody>
      </p:sp>
      <p:sp>
        <p:nvSpPr>
          <p:cNvPr id="7" name="Dian numeron paikkamerkki 6">
            <a:extLst>
              <a:ext uri="{FF2B5EF4-FFF2-40B4-BE49-F238E27FC236}">
                <a16:creationId xmlns:a16="http://schemas.microsoft.com/office/drawing/2014/main" id="{F430F5A4-C0D6-4541-955F-D00E2223F793}"/>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81037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7AEEF7D-ACE8-43AA-B300-5C2B870139E4}"/>
              </a:ext>
            </a:extLst>
          </p:cNvPr>
          <p:cNvSpPr>
            <a:spLocks noGrp="1"/>
          </p:cNvSpPr>
          <p:nvPr>
            <p:ph type="title"/>
          </p:nvPr>
        </p:nvSpPr>
        <p:spPr>
          <a:xfrm>
            <a:off x="839788" y="365125"/>
            <a:ext cx="10515600" cy="1325563"/>
          </a:xfrm>
        </p:spPr>
        <p:txBody>
          <a:bodyPr/>
          <a:lstStyle/>
          <a:p>
            <a:r>
              <a:rPr lang="fi-FI"/>
              <a:t>Muokkaa ots. perustyyl. napsautt.</a:t>
            </a:r>
            <a:endParaRPr lang="en-US"/>
          </a:p>
        </p:txBody>
      </p:sp>
      <p:sp>
        <p:nvSpPr>
          <p:cNvPr id="3" name="Tekstin paikkamerkki 2">
            <a:extLst>
              <a:ext uri="{FF2B5EF4-FFF2-40B4-BE49-F238E27FC236}">
                <a16:creationId xmlns:a16="http://schemas.microsoft.com/office/drawing/2014/main" id="{E33FAB9C-FF5C-4E16-838E-859CF373D9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4" name="Sisällön paikkamerkki 3">
            <a:extLst>
              <a:ext uri="{FF2B5EF4-FFF2-40B4-BE49-F238E27FC236}">
                <a16:creationId xmlns:a16="http://schemas.microsoft.com/office/drawing/2014/main" id="{05B1EBCC-BD71-40EF-8EBD-0C4A194B5ECE}"/>
              </a:ext>
            </a:extLst>
          </p:cNvPr>
          <p:cNvSpPr>
            <a:spLocks noGrp="1"/>
          </p:cNvSpPr>
          <p:nvPr>
            <p:ph sz="half" idx="2"/>
          </p:nvPr>
        </p:nvSpPr>
        <p:spPr>
          <a:xfrm>
            <a:off x="839788" y="2505075"/>
            <a:ext cx="5157787" cy="368458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kstin paikkamerkki 4">
            <a:extLst>
              <a:ext uri="{FF2B5EF4-FFF2-40B4-BE49-F238E27FC236}">
                <a16:creationId xmlns:a16="http://schemas.microsoft.com/office/drawing/2014/main" id="{D55C788F-9F5C-4A91-8005-01171585D3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6" name="Sisällön paikkamerkki 5">
            <a:extLst>
              <a:ext uri="{FF2B5EF4-FFF2-40B4-BE49-F238E27FC236}">
                <a16:creationId xmlns:a16="http://schemas.microsoft.com/office/drawing/2014/main" id="{B862BBBF-33B2-4232-8898-C836C430AA00}"/>
              </a:ext>
            </a:extLst>
          </p:cNvPr>
          <p:cNvSpPr>
            <a:spLocks noGrp="1"/>
          </p:cNvSpPr>
          <p:nvPr>
            <p:ph sz="quarter" idx="4"/>
          </p:nvPr>
        </p:nvSpPr>
        <p:spPr>
          <a:xfrm>
            <a:off x="6172200" y="2505075"/>
            <a:ext cx="5183188" cy="368458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7" name="Päivämäärän paikkamerkki 6">
            <a:extLst>
              <a:ext uri="{FF2B5EF4-FFF2-40B4-BE49-F238E27FC236}">
                <a16:creationId xmlns:a16="http://schemas.microsoft.com/office/drawing/2014/main" id="{EFC44FCF-382A-41E4-8367-90492CEB80DA}"/>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8" name="Alatunnisteen paikkamerkki 7">
            <a:extLst>
              <a:ext uri="{FF2B5EF4-FFF2-40B4-BE49-F238E27FC236}">
                <a16:creationId xmlns:a16="http://schemas.microsoft.com/office/drawing/2014/main" id="{06DF9775-A4E6-46BC-9007-CDF21F895FF1}"/>
              </a:ext>
            </a:extLst>
          </p:cNvPr>
          <p:cNvSpPr>
            <a:spLocks noGrp="1"/>
          </p:cNvSpPr>
          <p:nvPr>
            <p:ph type="ftr" sz="quarter" idx="11"/>
          </p:nvPr>
        </p:nvSpPr>
        <p:spPr/>
        <p:txBody>
          <a:bodyPr/>
          <a:lstStyle/>
          <a:p>
            <a:endParaRPr lang="en-US" dirty="0"/>
          </a:p>
        </p:txBody>
      </p:sp>
      <p:sp>
        <p:nvSpPr>
          <p:cNvPr id="9" name="Dian numeron paikkamerkki 8">
            <a:extLst>
              <a:ext uri="{FF2B5EF4-FFF2-40B4-BE49-F238E27FC236}">
                <a16:creationId xmlns:a16="http://schemas.microsoft.com/office/drawing/2014/main" id="{03303EBD-5C07-4CD6-9895-4FA9FFD66E58}"/>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155431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9BD3997-50F4-4B43-9638-F67B9FA126DA}"/>
              </a:ext>
            </a:extLst>
          </p:cNvPr>
          <p:cNvSpPr>
            <a:spLocks noGrp="1"/>
          </p:cNvSpPr>
          <p:nvPr>
            <p:ph type="title"/>
          </p:nvPr>
        </p:nvSpPr>
        <p:spPr/>
        <p:txBody>
          <a:bodyPr/>
          <a:lstStyle/>
          <a:p>
            <a:r>
              <a:rPr lang="fi-FI"/>
              <a:t>Muokkaa ots. perustyyl. napsautt.</a:t>
            </a:r>
            <a:endParaRPr lang="en-US"/>
          </a:p>
        </p:txBody>
      </p:sp>
      <p:sp>
        <p:nvSpPr>
          <p:cNvPr id="3" name="Päivämäärän paikkamerkki 2">
            <a:extLst>
              <a:ext uri="{FF2B5EF4-FFF2-40B4-BE49-F238E27FC236}">
                <a16:creationId xmlns:a16="http://schemas.microsoft.com/office/drawing/2014/main" id="{C7FE412D-167C-45A9-B7B1-B72473562A1E}"/>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4" name="Alatunnisteen paikkamerkki 3">
            <a:extLst>
              <a:ext uri="{FF2B5EF4-FFF2-40B4-BE49-F238E27FC236}">
                <a16:creationId xmlns:a16="http://schemas.microsoft.com/office/drawing/2014/main" id="{484D2A0A-A488-4990-9CD4-066495294CAF}"/>
              </a:ext>
            </a:extLst>
          </p:cNvPr>
          <p:cNvSpPr>
            <a:spLocks noGrp="1"/>
          </p:cNvSpPr>
          <p:nvPr>
            <p:ph type="ftr" sz="quarter" idx="11"/>
          </p:nvPr>
        </p:nvSpPr>
        <p:spPr/>
        <p:txBody>
          <a:bodyPr/>
          <a:lstStyle/>
          <a:p>
            <a:endParaRPr lang="en-US" dirty="0"/>
          </a:p>
        </p:txBody>
      </p:sp>
      <p:sp>
        <p:nvSpPr>
          <p:cNvPr id="5" name="Dian numeron paikkamerkki 4">
            <a:extLst>
              <a:ext uri="{FF2B5EF4-FFF2-40B4-BE49-F238E27FC236}">
                <a16:creationId xmlns:a16="http://schemas.microsoft.com/office/drawing/2014/main" id="{60A418EA-96AB-437D-8385-A945B370C53D}"/>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1456740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a:extLst>
              <a:ext uri="{FF2B5EF4-FFF2-40B4-BE49-F238E27FC236}">
                <a16:creationId xmlns:a16="http://schemas.microsoft.com/office/drawing/2014/main" id="{547D08B2-2101-40D8-A3B3-A14130DDFD0A}"/>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3" name="Alatunnisteen paikkamerkki 2">
            <a:extLst>
              <a:ext uri="{FF2B5EF4-FFF2-40B4-BE49-F238E27FC236}">
                <a16:creationId xmlns:a16="http://schemas.microsoft.com/office/drawing/2014/main" id="{16064912-426A-423C-9509-18033C1B7A0D}"/>
              </a:ext>
            </a:extLst>
          </p:cNvPr>
          <p:cNvSpPr>
            <a:spLocks noGrp="1"/>
          </p:cNvSpPr>
          <p:nvPr>
            <p:ph type="ftr" sz="quarter" idx="11"/>
          </p:nvPr>
        </p:nvSpPr>
        <p:spPr/>
        <p:txBody>
          <a:bodyPr/>
          <a:lstStyle/>
          <a:p>
            <a:endParaRPr lang="en-US" dirty="0"/>
          </a:p>
        </p:txBody>
      </p:sp>
      <p:sp>
        <p:nvSpPr>
          <p:cNvPr id="4" name="Dian numeron paikkamerkki 3">
            <a:extLst>
              <a:ext uri="{FF2B5EF4-FFF2-40B4-BE49-F238E27FC236}">
                <a16:creationId xmlns:a16="http://schemas.microsoft.com/office/drawing/2014/main" id="{C29AF0E7-20FE-4EA0-A696-E95E2612DB4D}"/>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564814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uvatekstillinen sisältö">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31C80E6-10F3-4054-B456-2BDA1BC7D13B}"/>
              </a:ext>
            </a:extLst>
          </p:cNvPr>
          <p:cNvSpPr>
            <a:spLocks noGrp="1"/>
          </p:cNvSpPr>
          <p:nvPr>
            <p:ph type="title"/>
          </p:nvPr>
        </p:nvSpPr>
        <p:spPr>
          <a:xfrm>
            <a:off x="839788" y="457200"/>
            <a:ext cx="3932237" cy="1600200"/>
          </a:xfrm>
        </p:spPr>
        <p:txBody>
          <a:bodyPr anchor="b"/>
          <a:lstStyle>
            <a:lvl1pPr>
              <a:defRPr sz="3200"/>
            </a:lvl1pPr>
          </a:lstStyle>
          <a:p>
            <a:r>
              <a:rPr lang="fi-FI"/>
              <a:t>Muokkaa ots. perustyyl. napsautt.</a:t>
            </a:r>
            <a:endParaRPr lang="en-US"/>
          </a:p>
        </p:txBody>
      </p:sp>
      <p:sp>
        <p:nvSpPr>
          <p:cNvPr id="3" name="Sisällön paikkamerkki 2">
            <a:extLst>
              <a:ext uri="{FF2B5EF4-FFF2-40B4-BE49-F238E27FC236}">
                <a16:creationId xmlns:a16="http://schemas.microsoft.com/office/drawing/2014/main" id="{FF399D2A-F2FE-4DA7-8718-C9238C577B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Tekstin paikkamerkki 3">
            <a:extLst>
              <a:ext uri="{FF2B5EF4-FFF2-40B4-BE49-F238E27FC236}">
                <a16:creationId xmlns:a16="http://schemas.microsoft.com/office/drawing/2014/main" id="{82A2CEEE-69BE-4E52-80D6-2A800EBEE1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 napsauttamalla</a:t>
            </a:r>
          </a:p>
        </p:txBody>
      </p:sp>
      <p:sp>
        <p:nvSpPr>
          <p:cNvPr id="5" name="Päivämäärän paikkamerkki 4">
            <a:extLst>
              <a:ext uri="{FF2B5EF4-FFF2-40B4-BE49-F238E27FC236}">
                <a16:creationId xmlns:a16="http://schemas.microsoft.com/office/drawing/2014/main" id="{FC9BCAAC-BCAF-4117-9A1C-7916FD1582F0}"/>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6" name="Alatunnisteen paikkamerkki 5">
            <a:extLst>
              <a:ext uri="{FF2B5EF4-FFF2-40B4-BE49-F238E27FC236}">
                <a16:creationId xmlns:a16="http://schemas.microsoft.com/office/drawing/2014/main" id="{DA48CAEF-FECB-4EE5-9787-782D19168EB9}"/>
              </a:ext>
            </a:extLst>
          </p:cNvPr>
          <p:cNvSpPr>
            <a:spLocks noGrp="1"/>
          </p:cNvSpPr>
          <p:nvPr>
            <p:ph type="ftr" sz="quarter" idx="11"/>
          </p:nvPr>
        </p:nvSpPr>
        <p:spPr/>
        <p:txBody>
          <a:bodyPr/>
          <a:lstStyle/>
          <a:p>
            <a:endParaRPr lang="en-US" dirty="0"/>
          </a:p>
        </p:txBody>
      </p:sp>
      <p:sp>
        <p:nvSpPr>
          <p:cNvPr id="7" name="Dian numeron paikkamerkki 6">
            <a:extLst>
              <a:ext uri="{FF2B5EF4-FFF2-40B4-BE49-F238E27FC236}">
                <a16:creationId xmlns:a16="http://schemas.microsoft.com/office/drawing/2014/main" id="{BDDA532D-3100-4CD1-A570-84851736F30A}"/>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2924348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uvatekstillinen kuv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8619F09-DA79-493C-9147-024574E1AC02}"/>
              </a:ext>
            </a:extLst>
          </p:cNvPr>
          <p:cNvSpPr>
            <a:spLocks noGrp="1"/>
          </p:cNvSpPr>
          <p:nvPr>
            <p:ph type="title"/>
          </p:nvPr>
        </p:nvSpPr>
        <p:spPr>
          <a:xfrm>
            <a:off x="839788" y="457200"/>
            <a:ext cx="3932237" cy="1600200"/>
          </a:xfrm>
        </p:spPr>
        <p:txBody>
          <a:bodyPr anchor="b"/>
          <a:lstStyle>
            <a:lvl1pPr>
              <a:defRPr sz="3200"/>
            </a:lvl1pPr>
          </a:lstStyle>
          <a:p>
            <a:r>
              <a:rPr lang="fi-FI"/>
              <a:t>Muokkaa ots. perustyyl. napsautt.</a:t>
            </a:r>
            <a:endParaRPr lang="en-US"/>
          </a:p>
        </p:txBody>
      </p:sp>
      <p:sp>
        <p:nvSpPr>
          <p:cNvPr id="3" name="Kuvan paikkamerkki 2">
            <a:extLst>
              <a:ext uri="{FF2B5EF4-FFF2-40B4-BE49-F238E27FC236}">
                <a16:creationId xmlns:a16="http://schemas.microsoft.com/office/drawing/2014/main" id="{3890FCAE-D9BB-42DA-A0C4-814C932D6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kstin paikkamerkki 3">
            <a:extLst>
              <a:ext uri="{FF2B5EF4-FFF2-40B4-BE49-F238E27FC236}">
                <a16:creationId xmlns:a16="http://schemas.microsoft.com/office/drawing/2014/main" id="{829DF1A5-5ABB-43AA-973F-2DEB8A7DB5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 napsauttamalla</a:t>
            </a:r>
          </a:p>
        </p:txBody>
      </p:sp>
      <p:sp>
        <p:nvSpPr>
          <p:cNvPr id="5" name="Päivämäärän paikkamerkki 4">
            <a:extLst>
              <a:ext uri="{FF2B5EF4-FFF2-40B4-BE49-F238E27FC236}">
                <a16:creationId xmlns:a16="http://schemas.microsoft.com/office/drawing/2014/main" id="{3D56CE5C-1F27-47E3-951A-8AF86CD674C8}"/>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6" name="Alatunnisteen paikkamerkki 5">
            <a:extLst>
              <a:ext uri="{FF2B5EF4-FFF2-40B4-BE49-F238E27FC236}">
                <a16:creationId xmlns:a16="http://schemas.microsoft.com/office/drawing/2014/main" id="{073B7872-F477-42E4-9D69-106F7CDF37AA}"/>
              </a:ext>
            </a:extLst>
          </p:cNvPr>
          <p:cNvSpPr>
            <a:spLocks noGrp="1"/>
          </p:cNvSpPr>
          <p:nvPr>
            <p:ph type="ftr" sz="quarter" idx="11"/>
          </p:nvPr>
        </p:nvSpPr>
        <p:spPr/>
        <p:txBody>
          <a:bodyPr/>
          <a:lstStyle/>
          <a:p>
            <a:endParaRPr lang="en-US" dirty="0"/>
          </a:p>
        </p:txBody>
      </p:sp>
      <p:sp>
        <p:nvSpPr>
          <p:cNvPr id="7" name="Dian numeron paikkamerkki 6">
            <a:extLst>
              <a:ext uri="{FF2B5EF4-FFF2-40B4-BE49-F238E27FC236}">
                <a16:creationId xmlns:a16="http://schemas.microsoft.com/office/drawing/2014/main" id="{83A84FBC-4C48-4095-88F8-FE5C68862434}"/>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1175972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B402BEA-309C-475E-ADB6-909DE215AF14}"/>
              </a:ext>
            </a:extLst>
          </p:cNvPr>
          <p:cNvSpPr>
            <a:spLocks noGrp="1"/>
          </p:cNvSpPr>
          <p:nvPr>
            <p:ph type="title"/>
          </p:nvPr>
        </p:nvSpPr>
        <p:spPr/>
        <p:txBody>
          <a:bodyPr/>
          <a:lstStyle/>
          <a:p>
            <a:r>
              <a:rPr lang="fi-FI"/>
              <a:t>Muokkaa ots. perustyyl. napsautt.</a:t>
            </a:r>
            <a:endParaRPr lang="en-US"/>
          </a:p>
        </p:txBody>
      </p:sp>
      <p:sp>
        <p:nvSpPr>
          <p:cNvPr id="3" name="Pystysuoran tekstin paikkamerkki 2">
            <a:extLst>
              <a:ext uri="{FF2B5EF4-FFF2-40B4-BE49-F238E27FC236}">
                <a16:creationId xmlns:a16="http://schemas.microsoft.com/office/drawing/2014/main" id="{E2C62898-9A37-450B-884D-4B794E094A73}"/>
              </a:ext>
            </a:extLst>
          </p:cNvPr>
          <p:cNvSpPr>
            <a:spLocks noGrp="1"/>
          </p:cNvSpPr>
          <p:nvPr>
            <p:ph type="body" orient="vert" idx="1"/>
          </p:nvPr>
        </p:nvSpPr>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EA9364B5-045D-403A-831C-BF51AFAAFFDE}"/>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AE298416-ABF5-42DD-AB58-D438BD05BEC9}"/>
              </a:ext>
            </a:extLst>
          </p:cNvPr>
          <p:cNvSpPr>
            <a:spLocks noGrp="1"/>
          </p:cNvSpPr>
          <p:nvPr>
            <p:ph type="ftr" sz="quarter" idx="11"/>
          </p:nvPr>
        </p:nvSpPr>
        <p:spPr/>
        <p:txBody>
          <a:bodyPr/>
          <a:lstStyle/>
          <a:p>
            <a:endParaRPr lang="en-US" dirty="0"/>
          </a:p>
        </p:txBody>
      </p:sp>
      <p:sp>
        <p:nvSpPr>
          <p:cNvPr id="6" name="Dian numeron paikkamerkki 5">
            <a:extLst>
              <a:ext uri="{FF2B5EF4-FFF2-40B4-BE49-F238E27FC236}">
                <a16:creationId xmlns:a16="http://schemas.microsoft.com/office/drawing/2014/main" id="{4A9F5958-3415-4501-9A31-9D9825F89027}"/>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3059301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a:extLst>
              <a:ext uri="{FF2B5EF4-FFF2-40B4-BE49-F238E27FC236}">
                <a16:creationId xmlns:a16="http://schemas.microsoft.com/office/drawing/2014/main" id="{FE4679EA-E7A9-48DB-B8FE-575B91E65C84}"/>
              </a:ext>
            </a:extLst>
          </p:cNvPr>
          <p:cNvSpPr>
            <a:spLocks noGrp="1"/>
          </p:cNvSpPr>
          <p:nvPr>
            <p:ph type="title" orient="vert"/>
          </p:nvPr>
        </p:nvSpPr>
        <p:spPr>
          <a:xfrm>
            <a:off x="8724900" y="365125"/>
            <a:ext cx="2628900" cy="5811838"/>
          </a:xfrm>
        </p:spPr>
        <p:txBody>
          <a:bodyPr vert="eaVert"/>
          <a:lstStyle/>
          <a:p>
            <a:r>
              <a:rPr lang="fi-FI"/>
              <a:t>Muokkaa ots. perustyyl. napsautt.</a:t>
            </a:r>
            <a:endParaRPr lang="en-US"/>
          </a:p>
        </p:txBody>
      </p:sp>
      <p:sp>
        <p:nvSpPr>
          <p:cNvPr id="3" name="Pystysuoran tekstin paikkamerkki 2">
            <a:extLst>
              <a:ext uri="{FF2B5EF4-FFF2-40B4-BE49-F238E27FC236}">
                <a16:creationId xmlns:a16="http://schemas.microsoft.com/office/drawing/2014/main" id="{DC053C38-5CDF-46F0-B860-CE63E85BAD14}"/>
              </a:ext>
            </a:extLst>
          </p:cNvPr>
          <p:cNvSpPr>
            <a:spLocks noGrp="1"/>
          </p:cNvSpPr>
          <p:nvPr>
            <p:ph type="body" orient="vert" idx="1"/>
          </p:nvPr>
        </p:nvSpPr>
        <p:spPr>
          <a:xfrm>
            <a:off x="838200" y="365125"/>
            <a:ext cx="7734300" cy="5811838"/>
          </a:xfrm>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7F884303-C9BC-4189-9D8A-FE7338804D9A}"/>
              </a:ext>
            </a:extLst>
          </p:cNvPr>
          <p:cNvSpPr>
            <a:spLocks noGrp="1"/>
          </p:cNvSpPr>
          <p:nvPr>
            <p:ph type="dt" sz="half" idx="10"/>
          </p:nvPr>
        </p:nvSpPr>
        <p:spPr/>
        <p:txBody>
          <a:body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B8E75CA3-9079-4D3D-BE99-EAC58581EED3}"/>
              </a:ext>
            </a:extLst>
          </p:cNvPr>
          <p:cNvSpPr>
            <a:spLocks noGrp="1"/>
          </p:cNvSpPr>
          <p:nvPr>
            <p:ph type="ftr" sz="quarter" idx="11"/>
          </p:nvPr>
        </p:nvSpPr>
        <p:spPr/>
        <p:txBody>
          <a:bodyPr/>
          <a:lstStyle/>
          <a:p>
            <a:endParaRPr lang="en-US" dirty="0"/>
          </a:p>
        </p:txBody>
      </p:sp>
      <p:sp>
        <p:nvSpPr>
          <p:cNvPr id="6" name="Dian numeron paikkamerkki 5">
            <a:extLst>
              <a:ext uri="{FF2B5EF4-FFF2-40B4-BE49-F238E27FC236}">
                <a16:creationId xmlns:a16="http://schemas.microsoft.com/office/drawing/2014/main" id="{2E469C42-68F2-4DCC-9042-E1D78E818F5B}"/>
              </a:ext>
            </a:extLst>
          </p:cNvPr>
          <p:cNvSpPr>
            <a:spLocks noGrp="1"/>
          </p:cNvSpPr>
          <p:nvPr>
            <p:ph type="sldNum" sz="quarter" idx="12"/>
          </p:nvPr>
        </p:nvSpPr>
        <p:spPr/>
        <p:txBody>
          <a:bodyPr/>
          <a:lstStyle/>
          <a:p>
            <a:fld id="{1989D4EE-3FFD-45F0-B57B-CFC8DD4C53F0}" type="slidenum">
              <a:rPr lang="en-US" smtClean="0"/>
              <a:t>‹#›</a:t>
            </a:fld>
            <a:endParaRPr lang="en-US" dirty="0"/>
          </a:p>
        </p:txBody>
      </p:sp>
    </p:spTree>
    <p:extLst>
      <p:ext uri="{BB962C8B-B14F-4D97-AF65-F5344CB8AC3E}">
        <p14:creationId xmlns:p14="http://schemas.microsoft.com/office/powerpoint/2010/main" val="359929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tsikon paikkamerkki 1">
            <a:extLst>
              <a:ext uri="{FF2B5EF4-FFF2-40B4-BE49-F238E27FC236}">
                <a16:creationId xmlns:a16="http://schemas.microsoft.com/office/drawing/2014/main" id="{A89D6DE6-AD0B-4A85-9525-FD979CFA2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i-FI"/>
              <a:t>Muokkaa ots. perustyyl. napsautt.</a:t>
            </a:r>
            <a:endParaRPr lang="en-US"/>
          </a:p>
        </p:txBody>
      </p:sp>
      <p:sp>
        <p:nvSpPr>
          <p:cNvPr id="3" name="Tekstin paikkamerkki 2">
            <a:extLst>
              <a:ext uri="{FF2B5EF4-FFF2-40B4-BE49-F238E27FC236}">
                <a16:creationId xmlns:a16="http://schemas.microsoft.com/office/drawing/2014/main" id="{6DE07842-80FD-479C-BDA9-D722F83BF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7B399A88-802A-4106-95D3-950EC9FD4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442142-C7AA-407A-AA7A-66F6A16F66C7}" type="datetimeFigureOut">
              <a:rPr lang="en-US" smtClean="0"/>
              <a:t>3/23/2021</a:t>
            </a:fld>
            <a:endParaRPr lang="en-US" dirty="0"/>
          </a:p>
        </p:txBody>
      </p:sp>
      <p:sp>
        <p:nvSpPr>
          <p:cNvPr id="5" name="Alatunnisteen paikkamerkki 4">
            <a:extLst>
              <a:ext uri="{FF2B5EF4-FFF2-40B4-BE49-F238E27FC236}">
                <a16:creationId xmlns:a16="http://schemas.microsoft.com/office/drawing/2014/main" id="{EA1FC46C-A194-47B9-AE13-BE4E2C276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Dian numeron paikkamerkki 5">
            <a:extLst>
              <a:ext uri="{FF2B5EF4-FFF2-40B4-BE49-F238E27FC236}">
                <a16:creationId xmlns:a16="http://schemas.microsoft.com/office/drawing/2014/main" id="{C4F21DC2-6252-4198-B570-AFBBC8F17D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89D4EE-3FFD-45F0-B57B-CFC8DD4C53F0}" type="slidenum">
              <a:rPr lang="en-US" smtClean="0"/>
              <a:t>‹#›</a:t>
            </a:fld>
            <a:endParaRPr lang="en-US" dirty="0"/>
          </a:p>
        </p:txBody>
      </p:sp>
    </p:spTree>
    <p:extLst>
      <p:ext uri="{BB962C8B-B14F-4D97-AF65-F5344CB8AC3E}">
        <p14:creationId xmlns:p14="http://schemas.microsoft.com/office/powerpoint/2010/main" val="2637119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lexAkulov/putty-color-themes" TargetMode="External"/><Relationship Id="rId7" Type="http://schemas.openxmlformats.org/officeDocument/2006/relationships/hyperlink" Target="https://lab.github.com/githubtraining/paths/first-day-on-github" TargetMode="External"/><Relationship Id="rId2" Type="http://schemas.openxmlformats.org/officeDocument/2006/relationships/hyperlink" Target="https://www.putty.org/" TargetMode="External"/><Relationship Id="rId1" Type="http://schemas.openxmlformats.org/officeDocument/2006/relationships/slideLayout" Target="../slideLayouts/slideLayout2.xml"/><Relationship Id="rId6" Type="http://schemas.openxmlformats.org/officeDocument/2006/relationships/hyperlink" Target="https://github.github.com/training-kit/downloads/github-git-cheat-sheet/" TargetMode="External"/><Relationship Id="rId5" Type="http://schemas.openxmlformats.org/officeDocument/2006/relationships/hyperlink" Target="https://itsfoss.com/apt-command-guide/" TargetMode="External"/><Relationship Id="rId4" Type="http://schemas.openxmlformats.org/officeDocument/2006/relationships/hyperlink" Target="https://maker.pro/linux/tutorial/basic-linux-commands-for-beginner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www.hypexr.org/bash_tutorial.php" TargetMode="External"/><Relationship Id="rId3" Type="http://schemas.openxmlformats.org/officeDocument/2006/relationships/hyperlink" Target="https://www.digitalocean.com/community/tutorials/how-to-use-sftp-to-securely-transfer-files-with-a-remote-server" TargetMode="External"/><Relationship Id="rId7" Type="http://schemas.openxmlformats.org/officeDocument/2006/relationships/hyperlink" Target="http://ezprompt.net/" TargetMode="External"/><Relationship Id="rId2" Type="http://schemas.openxmlformats.org/officeDocument/2006/relationships/hyperlink" Target="https://www.howtogeek.com/412055/37-important-linux-commands-you-should-know/" TargetMode="External"/><Relationship Id="rId1" Type="http://schemas.openxmlformats.org/officeDocument/2006/relationships/slideLayout" Target="../slideLayouts/slideLayout2.xml"/><Relationship Id="rId6" Type="http://schemas.openxmlformats.org/officeDocument/2006/relationships/hyperlink" Target="https://mijingo.com/blog/creating-bash-aliases" TargetMode="External"/><Relationship Id="rId5" Type="http://schemas.openxmlformats.org/officeDocument/2006/relationships/hyperlink" Target="https://winscp.net/eng/index.php" TargetMode="External"/><Relationship Id="rId4" Type="http://schemas.openxmlformats.org/officeDocument/2006/relationships/hyperlink" Target="https://linuxize.com/post/how-to-use-scp-command-to-securely-transfer-files/" TargetMode="External"/><Relationship Id="rId9" Type="http://schemas.openxmlformats.org/officeDocument/2006/relationships/hyperlink" Target="https://ryanstutorials.net/linuxtutorial/piping.php"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www.tecmint.com/tr-command-examples-in-linux/" TargetMode="External"/><Relationship Id="rId3" Type="http://schemas.openxmlformats.org/officeDocument/2006/relationships/hyperlink" Target="https://ryanstutorials.net/linuxtutorial/vi.php" TargetMode="External"/><Relationship Id="rId7" Type="http://schemas.openxmlformats.org/officeDocument/2006/relationships/hyperlink" Target="https://www.digitalocean.com/community/tutorials/the-basics-of-using-the-sed-stream-editor-to-manipulate-text-in-linux" TargetMode="External"/><Relationship Id="rId2" Type="http://schemas.openxmlformats.org/officeDocument/2006/relationships/hyperlink" Target="http://ergoemacs.org/emacs/emacs.html" TargetMode="External"/><Relationship Id="rId1" Type="http://schemas.openxmlformats.org/officeDocument/2006/relationships/slideLayout" Target="../slideLayouts/slideLayout2.xml"/><Relationship Id="rId6" Type="http://schemas.openxmlformats.org/officeDocument/2006/relationships/hyperlink" Target="https://www.gnu.org/software/emacs/manual/html_node/emacs/Init-File.html" TargetMode="External"/><Relationship Id="rId5" Type="http://schemas.openxmlformats.org/officeDocument/2006/relationships/hyperlink" Target="http://web-mode.org/" TargetMode="External"/><Relationship Id="rId4" Type="http://schemas.openxmlformats.org/officeDocument/2006/relationships/hyperlink" Target="https://micro-editor.github.io/about.html" TargetMode="External"/><Relationship Id="rId9" Type="http://schemas.openxmlformats.org/officeDocument/2006/relationships/hyperlink" Target="https://www.geeksforgeeks.org/uniq-command-in-linux-with-examples/"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tecmint.com/unzip-extract-zip-files-to-specific-directory-in-linux/" TargetMode="External"/><Relationship Id="rId3" Type="http://schemas.openxmlformats.org/officeDocument/2006/relationships/hyperlink" Target="https://www.guru99.com/file-permissions.html" TargetMode="External"/><Relationship Id="rId7" Type="http://schemas.openxmlformats.org/officeDocument/2006/relationships/hyperlink" Target="https://www.tutorialspoint.com/unix_commands/gzip.htm" TargetMode="External"/><Relationship Id="rId2" Type="http://schemas.openxmlformats.org/officeDocument/2006/relationships/hyperlink" Target="https://vitux.com/a-beginners-guide-to-user-management-on-ubuntu/" TargetMode="External"/><Relationship Id="rId1" Type="http://schemas.openxmlformats.org/officeDocument/2006/relationships/slideLayout" Target="../slideLayouts/slideLayout2.xml"/><Relationship Id="rId6" Type="http://schemas.openxmlformats.org/officeDocument/2006/relationships/hyperlink" Target="https://www.interserver.net/tips/kb/use-tar-command-linux-examples/" TargetMode="External"/><Relationship Id="rId5" Type="http://schemas.openxmlformats.org/officeDocument/2006/relationships/hyperlink" Target="https://www.hostingadvice.com/blog/linux-process-management-commands-know/" TargetMode="External"/><Relationship Id="rId4" Type="http://schemas.openxmlformats.org/officeDocument/2006/relationships/hyperlink" Target="https://en.wikipedia.org/wiki/Symbolic_link" TargetMode="External"/><Relationship Id="rId9" Type="http://schemas.openxmlformats.org/officeDocument/2006/relationships/hyperlink" Target="https://www.geeksforgeeks.org/bzip2-command-in-linux-with-example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codeburst.io/building-beautiful-command-line-interfaces-with-python-26c7e1bb54df" TargetMode="External"/><Relationship Id="rId2" Type="http://schemas.openxmlformats.org/officeDocument/2006/relationships/hyperlink" Target="https://www.shellscript.sh/index.html" TargetMode="External"/><Relationship Id="rId1" Type="http://schemas.openxmlformats.org/officeDocument/2006/relationships/slideLayout" Target="../slideLayouts/slideLayout2.xml"/><Relationship Id="rId5" Type="http://schemas.openxmlformats.org/officeDocument/2006/relationships/hyperlink" Target="https://www3.ntu.edu.sg/home/ehchua/programming/cpp/gcc_make.html#zz-2." TargetMode="External"/><Relationship Id="rId4" Type="http://schemas.openxmlformats.org/officeDocument/2006/relationships/hyperlink" Target="https://www3.ntu.edu.sg/home/ehchua/programming/cpp/gcc_make.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ocs.microsoft.com/en-us/azure/virtual-machines/linux/tutorial-lemp-stack" TargetMode="External"/><Relationship Id="rId2" Type="http://schemas.openxmlformats.org/officeDocument/2006/relationships/hyperlink" Target="https://docs.microsoft.com/en-us/azure/virtual-machines/linux/tutorial-lamp-stack" TargetMode="External"/><Relationship Id="rId1" Type="http://schemas.openxmlformats.org/officeDocument/2006/relationships/slideLayout" Target="../slideLayouts/slideLayout2.xml"/><Relationship Id="rId5" Type="http://schemas.openxmlformats.org/officeDocument/2006/relationships/hyperlink" Target="https://wordpress.org/" TargetMode="External"/><Relationship Id="rId4" Type="http://schemas.openxmlformats.org/officeDocument/2006/relationships/hyperlink" Target="https://docs.microsoft.com/en-us/azure/virtual-machines/linux/tutorial-mean-stac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fewire.com/harden-ubuntu-server-security-4178243" TargetMode="External"/><Relationship Id="rId2" Type="http://schemas.openxmlformats.org/officeDocument/2006/relationships/hyperlink" Target="https://docs.microsoft.com/en-us/azure/virtual-machines/linux/tutorial-secure-web-server" TargetMode="External"/><Relationship Id="rId1" Type="http://schemas.openxmlformats.org/officeDocument/2006/relationships/slideLayout" Target="../slideLayouts/slideLayout2.xml"/><Relationship Id="rId4" Type="http://schemas.openxmlformats.org/officeDocument/2006/relationships/hyperlink" Target="https://imagemagick.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ftp://ftp.funet.fi/"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Package_manager" TargetMode="External"/><Relationship Id="rId2" Type="http://schemas.openxmlformats.org/officeDocument/2006/relationships/hyperlink" Target="https://distrowatch.com/dwres.php?resource=popularit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APT_(softwar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Unix_shel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hoenixnap.com/kb/change-bash-prompt-linux" TargetMode="External"/><Relationship Id="rId2" Type="http://schemas.openxmlformats.org/officeDocument/2006/relationships/hyperlink" Target="https://www.gnu.org/software/bash/manual/html_node/Bash-Startup-Files.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en.wikipedia.org/wiki/Leet"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computerhope.com/unix/upasswor.ht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cyberciti.biz/faq/understanding-etcpasswd-file-format/"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cyberciti.biz/faq/understanding-etcgroup-file/"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digitalocean.com/community/tutorials/how-to-edit-the-sudoers-file"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hyperlink" Target="https://en.wikipedia.org/wiki/Setuid" TargetMode="External"/><Relationship Id="rId2" Type="http://schemas.openxmlformats.org/officeDocument/2006/relationships/hyperlink" Target="https://en.wikipedia.org/wiki/Sticky_bi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neovim.io/" TargetMode="External"/><Relationship Id="rId2" Type="http://schemas.openxmlformats.org/officeDocument/2006/relationships/hyperlink" Target="https://spacevim.org/"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s://www.shortcutfoo.com/blog/top-50-vim-configuration-options/"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s://web-mode.org/"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hyperlink" Target="https://github.com/emacs-helm/helm" TargetMode="External"/><Relationship Id="rId2" Type="http://schemas.openxmlformats.org/officeDocument/2006/relationships/hyperlink" Target="https://company-mode.github.io/"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hyperlink" Target="https://www.gnu.org/software/tramp/#Quick-Start-Guide"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hyperlink" Target="https://opensource.com/article/20/3/lightweight-emacs" TargetMode="External"/><Relationship Id="rId3" Type="http://schemas.openxmlformats.org/officeDocument/2006/relationships/hyperlink" Target="https://www.gnu.org/software/emacs/tour/" TargetMode="External"/><Relationship Id="rId7" Type="http://schemas.openxmlformats.org/officeDocument/2006/relationships/hyperlink" Target="https://github.com/purcell/emacs.d" TargetMode="External"/><Relationship Id="rId2" Type="http://schemas.openxmlformats.org/officeDocument/2006/relationships/hyperlink" Target="http://ergoemacs.org/emacs/emacs.html" TargetMode="External"/><Relationship Id="rId1" Type="http://schemas.openxmlformats.org/officeDocument/2006/relationships/slideLayout" Target="../slideLayouts/slideLayout2.xml"/><Relationship Id="rId6" Type="http://schemas.openxmlformats.org/officeDocument/2006/relationships/hyperlink" Target="https://github.com/hlissner/doom-emacs" TargetMode="External"/><Relationship Id="rId5" Type="http://schemas.openxmlformats.org/officeDocument/2006/relationships/hyperlink" Target="https://www.spacemacs.org/" TargetMode="External"/><Relationship Id="rId4" Type="http://schemas.openxmlformats.org/officeDocument/2006/relationships/hyperlink" Target="https://github.com/emacs-tw/awesome-emacs"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www.pypy.org/" TargetMode="External"/><Relationship Id="rId2" Type="http://schemas.openxmlformats.org/officeDocument/2006/relationships/hyperlink" Target="https://pypi.org/" TargetMode="External"/><Relationship Id="rId1" Type="http://schemas.openxmlformats.org/officeDocument/2006/relationships/slideLayout" Target="../slideLayouts/slideLayout2.xml"/><Relationship Id="rId4" Type="http://schemas.openxmlformats.org/officeDocument/2006/relationships/hyperlink" Target="https://en.wikipedia.org/wiki/Just-in-time_compilation"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725A2D9-45CF-474E-8A92-AC84F2AFAE59}"/>
              </a:ext>
            </a:extLst>
          </p:cNvPr>
          <p:cNvSpPr>
            <a:spLocks noGrp="1"/>
          </p:cNvSpPr>
          <p:nvPr>
            <p:ph type="ctrTitle"/>
          </p:nvPr>
        </p:nvSpPr>
        <p:spPr/>
        <p:txBody>
          <a:bodyPr/>
          <a:lstStyle/>
          <a:p>
            <a:r>
              <a:rPr lang="en-US" dirty="0"/>
              <a:t>Linux / Unix Administration and Usage</a:t>
            </a:r>
          </a:p>
        </p:txBody>
      </p:sp>
      <p:sp>
        <p:nvSpPr>
          <p:cNvPr id="3" name="Alaotsikko 2">
            <a:extLst>
              <a:ext uri="{FF2B5EF4-FFF2-40B4-BE49-F238E27FC236}">
                <a16:creationId xmlns:a16="http://schemas.microsoft.com/office/drawing/2014/main" id="{A0AEDAD8-73C4-4431-AA29-D07CF63FD8DD}"/>
              </a:ext>
            </a:extLst>
          </p:cNvPr>
          <p:cNvSpPr>
            <a:spLocks noGrp="1"/>
          </p:cNvSpPr>
          <p:nvPr>
            <p:ph type="subTitle" idx="1"/>
          </p:nvPr>
        </p:nvSpPr>
        <p:spPr/>
        <p:txBody>
          <a:bodyPr/>
          <a:lstStyle/>
          <a:p>
            <a:r>
              <a:rPr lang="en-US" dirty="0"/>
              <a:t>Petri Kuittinen</a:t>
            </a:r>
          </a:p>
        </p:txBody>
      </p:sp>
    </p:spTree>
    <p:extLst>
      <p:ext uri="{BB962C8B-B14F-4D97-AF65-F5344CB8AC3E}">
        <p14:creationId xmlns:p14="http://schemas.microsoft.com/office/powerpoint/2010/main" val="3827519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1845F31-D7A7-4E3A-AEFC-DF0843493D18}"/>
              </a:ext>
            </a:extLst>
          </p:cNvPr>
          <p:cNvSpPr>
            <a:spLocks noGrp="1"/>
          </p:cNvSpPr>
          <p:nvPr>
            <p:ph type="title"/>
          </p:nvPr>
        </p:nvSpPr>
        <p:spPr/>
        <p:txBody>
          <a:bodyPr/>
          <a:lstStyle/>
          <a:p>
            <a:r>
              <a:rPr lang="en-US" dirty="0"/>
              <a:t>Contents</a:t>
            </a:r>
          </a:p>
        </p:txBody>
      </p:sp>
      <p:sp>
        <p:nvSpPr>
          <p:cNvPr id="3" name="Sisällön paikkamerkki 2">
            <a:extLst>
              <a:ext uri="{FF2B5EF4-FFF2-40B4-BE49-F238E27FC236}">
                <a16:creationId xmlns:a16="http://schemas.microsoft.com/office/drawing/2014/main" id="{1B58E54A-539E-4A7F-8053-C093E3390988}"/>
              </a:ext>
            </a:extLst>
          </p:cNvPr>
          <p:cNvSpPr>
            <a:spLocks noGrp="1"/>
          </p:cNvSpPr>
          <p:nvPr>
            <p:ph idx="1"/>
          </p:nvPr>
        </p:nvSpPr>
        <p:spPr/>
        <p:txBody>
          <a:bodyPr>
            <a:normAutofit fontScale="40000" lnSpcReduction="20000"/>
          </a:bodyPr>
          <a:lstStyle/>
          <a:p>
            <a:r>
              <a:rPr lang="en-US" dirty="0"/>
              <a:t>What is Linux? What is an Operating System? What is a Virtual Machine?</a:t>
            </a:r>
          </a:p>
          <a:p>
            <a:r>
              <a:rPr lang="en-US" dirty="0"/>
              <a:t>Using Ubuntu Linux virtual machine (VM) with Microsoft Azure Cloud</a:t>
            </a:r>
          </a:p>
          <a:p>
            <a:r>
              <a:rPr lang="en-US" dirty="0"/>
              <a:t>Remote connection using SSH with open ssh and Putty and configuring it</a:t>
            </a:r>
          </a:p>
          <a:p>
            <a:r>
              <a:rPr lang="en-US" dirty="0"/>
              <a:t>Using sftp, scp and winscp to copy files from one host to another</a:t>
            </a:r>
          </a:p>
          <a:p>
            <a:r>
              <a:rPr lang="en-US" dirty="0"/>
              <a:t>Package management using APT</a:t>
            </a:r>
          </a:p>
          <a:p>
            <a:r>
              <a:rPr lang="en-US" dirty="0"/>
              <a:t>Using command line shell</a:t>
            </a:r>
          </a:p>
          <a:p>
            <a:r>
              <a:rPr lang="en-US" dirty="0"/>
              <a:t>Using file system from command line</a:t>
            </a:r>
          </a:p>
          <a:p>
            <a:r>
              <a:rPr lang="en-US" dirty="0"/>
              <a:t>Piping and redirection</a:t>
            </a:r>
          </a:p>
          <a:p>
            <a:r>
              <a:rPr lang="en-US" dirty="0"/>
              <a:t>Using Editors: Gnu Emacs, vim, micro</a:t>
            </a:r>
          </a:p>
          <a:p>
            <a:r>
              <a:rPr lang="en-US" dirty="0"/>
              <a:t>Version control/backup with git and GitHub</a:t>
            </a:r>
          </a:p>
          <a:p>
            <a:r>
              <a:rPr lang="en-US" dirty="0"/>
              <a:t>Using Gnu C/C++ compiler and make files</a:t>
            </a:r>
          </a:p>
          <a:p>
            <a:r>
              <a:rPr lang="en-US" dirty="0"/>
              <a:t>Shell scripting and Python scripting</a:t>
            </a:r>
          </a:p>
          <a:p>
            <a:r>
              <a:rPr lang="en-US" dirty="0"/>
              <a:t>Managing users and groups</a:t>
            </a:r>
          </a:p>
          <a:p>
            <a:r>
              <a:rPr lang="en-US" dirty="0"/>
              <a:t>Managing processes and jobs</a:t>
            </a:r>
          </a:p>
          <a:p>
            <a:r>
              <a:rPr lang="en-US" dirty="0"/>
              <a:t>Using Screen</a:t>
            </a:r>
          </a:p>
          <a:p>
            <a:r>
              <a:rPr lang="en-US" dirty="0"/>
              <a:t>(Installing LAMP/LEMP stack and WordPress)</a:t>
            </a:r>
          </a:p>
          <a:p>
            <a:r>
              <a:rPr lang="en-US" dirty="0"/>
              <a:t>(Using </a:t>
            </a:r>
            <a:r>
              <a:rPr lang="en-US" dirty="0" err="1"/>
              <a:t>ImageMagick</a:t>
            </a:r>
            <a:r>
              <a:rPr lang="en-US" dirty="0"/>
              <a:t>)</a:t>
            </a:r>
          </a:p>
        </p:txBody>
      </p:sp>
    </p:spTree>
    <p:extLst>
      <p:ext uri="{BB962C8B-B14F-4D97-AF65-F5344CB8AC3E}">
        <p14:creationId xmlns:p14="http://schemas.microsoft.com/office/powerpoint/2010/main" val="760574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F1B36EF-1AF6-4532-AD62-A51A4CB9DC4D}"/>
              </a:ext>
            </a:extLst>
          </p:cNvPr>
          <p:cNvSpPr>
            <a:spLocks noGrp="1"/>
          </p:cNvSpPr>
          <p:nvPr>
            <p:ph type="title"/>
          </p:nvPr>
        </p:nvSpPr>
        <p:spPr/>
        <p:txBody>
          <a:bodyPr/>
          <a:lstStyle/>
          <a:p>
            <a:r>
              <a:rPr lang="en-US" dirty="0"/>
              <a:t>Week #1 - Installing Linux on Azure and Basics</a:t>
            </a:r>
          </a:p>
        </p:txBody>
      </p:sp>
      <p:sp>
        <p:nvSpPr>
          <p:cNvPr id="3" name="Sisällön paikkamerkki 2">
            <a:extLst>
              <a:ext uri="{FF2B5EF4-FFF2-40B4-BE49-F238E27FC236}">
                <a16:creationId xmlns:a16="http://schemas.microsoft.com/office/drawing/2014/main" id="{43F838D2-B8C9-49DE-A2CA-33D84283B9B3}"/>
              </a:ext>
            </a:extLst>
          </p:cNvPr>
          <p:cNvSpPr>
            <a:spLocks noGrp="1"/>
          </p:cNvSpPr>
          <p:nvPr>
            <p:ph idx="1"/>
          </p:nvPr>
        </p:nvSpPr>
        <p:spPr/>
        <p:txBody>
          <a:bodyPr/>
          <a:lstStyle/>
          <a:p>
            <a:r>
              <a:rPr lang="en-US" dirty="0"/>
              <a:t>Making Microsoft Azure student account</a:t>
            </a:r>
          </a:p>
          <a:p>
            <a:pPr lvl="1"/>
            <a:r>
              <a:rPr lang="en-US" dirty="0"/>
              <a:t>remember to add student credits before 30 day test period expires</a:t>
            </a:r>
          </a:p>
          <a:p>
            <a:pPr lvl="1"/>
            <a:r>
              <a:rPr lang="en-US" dirty="0"/>
              <a:t>use B1S virtual machine</a:t>
            </a:r>
          </a:p>
          <a:p>
            <a:r>
              <a:rPr lang="en-US" dirty="0"/>
              <a:t>Installing Ubuntu 20.04 LTS to Azure B1S virtual machine</a:t>
            </a:r>
          </a:p>
          <a:p>
            <a:r>
              <a:rPr lang="en-US" dirty="0"/>
              <a:t>Using SSH and </a:t>
            </a:r>
            <a:r>
              <a:rPr lang="en-US" dirty="0">
                <a:hlinkClick r:id="rId2"/>
              </a:rPr>
              <a:t>Putty</a:t>
            </a:r>
            <a:r>
              <a:rPr lang="en-US" dirty="0"/>
              <a:t> and </a:t>
            </a:r>
            <a:r>
              <a:rPr lang="en-US" dirty="0">
                <a:hlinkClick r:id="rId3"/>
              </a:rPr>
              <a:t>configuring it</a:t>
            </a:r>
            <a:endParaRPr lang="en-US" dirty="0"/>
          </a:p>
          <a:p>
            <a:r>
              <a:rPr lang="en-US" dirty="0">
                <a:hlinkClick r:id="rId4"/>
              </a:rPr>
              <a:t>Basics of command line</a:t>
            </a:r>
            <a:endParaRPr lang="en-US" dirty="0"/>
          </a:p>
          <a:p>
            <a:r>
              <a:rPr lang="en-US" dirty="0">
                <a:hlinkClick r:id="rId5"/>
              </a:rPr>
              <a:t>Basics of apt</a:t>
            </a:r>
            <a:endParaRPr lang="en-US" dirty="0"/>
          </a:p>
          <a:p>
            <a:r>
              <a:rPr lang="en-US" dirty="0">
                <a:hlinkClick r:id="rId6"/>
              </a:rPr>
              <a:t>Basics of Git</a:t>
            </a:r>
            <a:endParaRPr lang="en-US" dirty="0"/>
          </a:p>
          <a:p>
            <a:r>
              <a:rPr lang="en-US" dirty="0"/>
              <a:t>Basics of </a:t>
            </a:r>
            <a:r>
              <a:rPr lang="en-US" dirty="0">
                <a:hlinkClick r:id="rId7"/>
              </a:rPr>
              <a:t>GitHub</a:t>
            </a:r>
            <a:endParaRPr lang="en-US" dirty="0"/>
          </a:p>
        </p:txBody>
      </p:sp>
    </p:spTree>
    <p:extLst>
      <p:ext uri="{BB962C8B-B14F-4D97-AF65-F5344CB8AC3E}">
        <p14:creationId xmlns:p14="http://schemas.microsoft.com/office/powerpoint/2010/main" val="400819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DBFB8E4-A704-4BBE-A47E-E80C63BEF336}"/>
              </a:ext>
            </a:extLst>
          </p:cNvPr>
          <p:cNvSpPr>
            <a:spLocks noGrp="1"/>
          </p:cNvSpPr>
          <p:nvPr>
            <p:ph type="title"/>
          </p:nvPr>
        </p:nvSpPr>
        <p:spPr/>
        <p:txBody>
          <a:bodyPr/>
          <a:lstStyle/>
          <a:p>
            <a:r>
              <a:rPr lang="en-US" dirty="0"/>
              <a:t>Week #2 - More Commands and files</a:t>
            </a:r>
          </a:p>
        </p:txBody>
      </p:sp>
      <p:sp>
        <p:nvSpPr>
          <p:cNvPr id="3" name="Sisällön paikkamerkki 2">
            <a:extLst>
              <a:ext uri="{FF2B5EF4-FFF2-40B4-BE49-F238E27FC236}">
                <a16:creationId xmlns:a16="http://schemas.microsoft.com/office/drawing/2014/main" id="{304E6B55-9702-47D2-B9B4-AB442DDF8D16}"/>
              </a:ext>
            </a:extLst>
          </p:cNvPr>
          <p:cNvSpPr>
            <a:spLocks noGrp="1"/>
          </p:cNvSpPr>
          <p:nvPr>
            <p:ph idx="1"/>
          </p:nvPr>
        </p:nvSpPr>
        <p:spPr/>
        <p:txBody>
          <a:bodyPr/>
          <a:lstStyle/>
          <a:p>
            <a:r>
              <a:rPr lang="en-US" dirty="0"/>
              <a:t>Where to find commands, files and help</a:t>
            </a:r>
          </a:p>
          <a:p>
            <a:r>
              <a:rPr lang="en-US" dirty="0"/>
              <a:t>More </a:t>
            </a:r>
            <a:r>
              <a:rPr lang="en-US" dirty="0">
                <a:hlinkClick r:id="rId2"/>
              </a:rPr>
              <a:t>basics commands</a:t>
            </a:r>
            <a:endParaRPr lang="en-US" dirty="0"/>
          </a:p>
          <a:p>
            <a:r>
              <a:rPr lang="en-US" dirty="0"/>
              <a:t>using file system </a:t>
            </a:r>
          </a:p>
          <a:p>
            <a:r>
              <a:rPr lang="en-US" dirty="0"/>
              <a:t>using </a:t>
            </a:r>
            <a:r>
              <a:rPr lang="en-US" dirty="0">
                <a:hlinkClick r:id="rId3"/>
              </a:rPr>
              <a:t>sftp</a:t>
            </a:r>
            <a:r>
              <a:rPr lang="en-US" dirty="0"/>
              <a:t>, </a:t>
            </a:r>
            <a:r>
              <a:rPr lang="en-US" dirty="0">
                <a:hlinkClick r:id="rId4"/>
              </a:rPr>
              <a:t>scp</a:t>
            </a:r>
            <a:r>
              <a:rPr lang="en-US" dirty="0"/>
              <a:t> and </a:t>
            </a:r>
            <a:r>
              <a:rPr lang="en-US" dirty="0">
                <a:hlinkClick r:id="rId5"/>
              </a:rPr>
              <a:t>winscp</a:t>
            </a:r>
            <a:endParaRPr lang="en-US" dirty="0"/>
          </a:p>
          <a:p>
            <a:r>
              <a:rPr lang="en-US" dirty="0">
                <a:hlinkClick r:id="rId6"/>
              </a:rPr>
              <a:t>aliases</a:t>
            </a:r>
            <a:endParaRPr lang="en-US" dirty="0"/>
          </a:p>
          <a:p>
            <a:r>
              <a:rPr lang="en-US" dirty="0"/>
              <a:t>command history</a:t>
            </a:r>
          </a:p>
          <a:p>
            <a:r>
              <a:rPr lang="en-US" dirty="0"/>
              <a:t>customizing bash </a:t>
            </a:r>
            <a:r>
              <a:rPr lang="en-US" dirty="0">
                <a:hlinkClick r:id="rId7"/>
              </a:rPr>
              <a:t>shell prompt</a:t>
            </a:r>
            <a:r>
              <a:rPr lang="en-US" dirty="0"/>
              <a:t> and </a:t>
            </a:r>
            <a:r>
              <a:rPr lang="en-US" dirty="0">
                <a:hlinkClick r:id="rId8"/>
              </a:rPr>
              <a:t>.bashrc</a:t>
            </a:r>
            <a:endParaRPr lang="en-US" dirty="0"/>
          </a:p>
          <a:p>
            <a:r>
              <a:rPr lang="en-US" dirty="0">
                <a:hlinkClick r:id="rId9"/>
              </a:rPr>
              <a:t>pipes and redirecting</a:t>
            </a:r>
            <a:endParaRPr lang="en-US" dirty="0"/>
          </a:p>
        </p:txBody>
      </p:sp>
    </p:spTree>
    <p:extLst>
      <p:ext uri="{BB962C8B-B14F-4D97-AF65-F5344CB8AC3E}">
        <p14:creationId xmlns:p14="http://schemas.microsoft.com/office/powerpoint/2010/main" val="979025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4A7977-F5A8-4DDD-9FE0-80B3C9204F8A}"/>
              </a:ext>
            </a:extLst>
          </p:cNvPr>
          <p:cNvSpPr>
            <a:spLocks noGrp="1"/>
          </p:cNvSpPr>
          <p:nvPr>
            <p:ph type="title"/>
          </p:nvPr>
        </p:nvSpPr>
        <p:spPr/>
        <p:txBody>
          <a:bodyPr/>
          <a:lstStyle/>
          <a:p>
            <a:r>
              <a:rPr lang="en-US" dirty="0"/>
              <a:t>Week #3 - Text editing</a:t>
            </a:r>
          </a:p>
        </p:txBody>
      </p:sp>
      <p:sp>
        <p:nvSpPr>
          <p:cNvPr id="3" name="Sisällön paikkamerkki 2">
            <a:extLst>
              <a:ext uri="{FF2B5EF4-FFF2-40B4-BE49-F238E27FC236}">
                <a16:creationId xmlns:a16="http://schemas.microsoft.com/office/drawing/2014/main" id="{D1C09E94-C01B-40BC-8242-68308A2FC2A0}"/>
              </a:ext>
            </a:extLst>
          </p:cNvPr>
          <p:cNvSpPr>
            <a:spLocks noGrp="1"/>
          </p:cNvSpPr>
          <p:nvPr>
            <p:ph idx="1"/>
          </p:nvPr>
        </p:nvSpPr>
        <p:spPr/>
        <p:txBody>
          <a:bodyPr/>
          <a:lstStyle/>
          <a:p>
            <a:r>
              <a:rPr lang="en-US" dirty="0"/>
              <a:t>using </a:t>
            </a:r>
            <a:r>
              <a:rPr lang="en-US" dirty="0">
                <a:hlinkClick r:id="rId2"/>
              </a:rPr>
              <a:t>Emacs</a:t>
            </a:r>
            <a:endParaRPr lang="en-US" dirty="0"/>
          </a:p>
          <a:p>
            <a:r>
              <a:rPr lang="en-US" dirty="0"/>
              <a:t>using </a:t>
            </a:r>
            <a:r>
              <a:rPr lang="en-US" dirty="0">
                <a:hlinkClick r:id="rId3"/>
              </a:rPr>
              <a:t>vi</a:t>
            </a:r>
            <a:endParaRPr lang="en-US" dirty="0"/>
          </a:p>
          <a:p>
            <a:r>
              <a:rPr lang="en-US" dirty="0"/>
              <a:t>using </a:t>
            </a:r>
            <a:r>
              <a:rPr lang="en-US" dirty="0">
                <a:hlinkClick r:id="rId4"/>
              </a:rPr>
              <a:t>micro</a:t>
            </a:r>
            <a:endParaRPr lang="en-US" dirty="0"/>
          </a:p>
          <a:p>
            <a:r>
              <a:rPr lang="en-US" dirty="0"/>
              <a:t>Using above mentioned editors to create and edit static web pages (HTML and CSS). Comparison between the three.</a:t>
            </a:r>
          </a:p>
          <a:p>
            <a:r>
              <a:rPr lang="en-US" dirty="0"/>
              <a:t>configuring emacs with </a:t>
            </a:r>
            <a:r>
              <a:rPr lang="en-US" dirty="0">
                <a:hlinkClick r:id="rId5"/>
              </a:rPr>
              <a:t>web-mode</a:t>
            </a:r>
            <a:r>
              <a:rPr lang="en-US" dirty="0"/>
              <a:t> and </a:t>
            </a:r>
            <a:r>
              <a:rPr lang="en-US" dirty="0">
                <a:hlinkClick r:id="rId6"/>
              </a:rPr>
              <a:t>~/.emacs.d/init.el</a:t>
            </a:r>
            <a:endParaRPr lang="en-US" dirty="0"/>
          </a:p>
          <a:p>
            <a:r>
              <a:rPr lang="en-US" dirty="0"/>
              <a:t>other text editing tools: </a:t>
            </a:r>
            <a:r>
              <a:rPr lang="en-US" dirty="0">
                <a:hlinkClick r:id="rId7"/>
              </a:rPr>
              <a:t>sed</a:t>
            </a:r>
            <a:r>
              <a:rPr lang="en-US" dirty="0"/>
              <a:t>, </a:t>
            </a:r>
            <a:r>
              <a:rPr lang="en-US" dirty="0">
                <a:hlinkClick r:id="rId8"/>
              </a:rPr>
              <a:t>tr</a:t>
            </a:r>
            <a:r>
              <a:rPr lang="en-US" dirty="0"/>
              <a:t>, </a:t>
            </a:r>
            <a:r>
              <a:rPr lang="en-US" dirty="0">
                <a:hlinkClick r:id="rId9"/>
              </a:rPr>
              <a:t>uniq</a:t>
            </a:r>
            <a:endParaRPr lang="en-US" dirty="0"/>
          </a:p>
        </p:txBody>
      </p:sp>
    </p:spTree>
    <p:extLst>
      <p:ext uri="{BB962C8B-B14F-4D97-AF65-F5344CB8AC3E}">
        <p14:creationId xmlns:p14="http://schemas.microsoft.com/office/powerpoint/2010/main" val="3788610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429A849-B16B-449B-87DA-85700D6060BB}"/>
              </a:ext>
            </a:extLst>
          </p:cNvPr>
          <p:cNvSpPr>
            <a:spLocks noGrp="1"/>
          </p:cNvSpPr>
          <p:nvPr>
            <p:ph type="title"/>
          </p:nvPr>
        </p:nvSpPr>
        <p:spPr>
          <a:xfrm>
            <a:off x="838200" y="365125"/>
            <a:ext cx="10869118" cy="1325563"/>
          </a:xfrm>
        </p:spPr>
        <p:txBody>
          <a:bodyPr/>
          <a:lstStyle/>
          <a:p>
            <a:r>
              <a:rPr lang="en-US" dirty="0"/>
              <a:t>Week #4 - Users, Permissions, File Compression</a:t>
            </a:r>
          </a:p>
        </p:txBody>
      </p:sp>
      <p:sp>
        <p:nvSpPr>
          <p:cNvPr id="3" name="Sisällön paikkamerkki 2">
            <a:extLst>
              <a:ext uri="{FF2B5EF4-FFF2-40B4-BE49-F238E27FC236}">
                <a16:creationId xmlns:a16="http://schemas.microsoft.com/office/drawing/2014/main" id="{007000F6-8391-4DEB-A92A-3851CF36E54F}"/>
              </a:ext>
            </a:extLst>
          </p:cNvPr>
          <p:cNvSpPr>
            <a:spLocks noGrp="1"/>
          </p:cNvSpPr>
          <p:nvPr>
            <p:ph idx="1"/>
          </p:nvPr>
        </p:nvSpPr>
        <p:spPr>
          <a:xfrm>
            <a:off x="838200" y="1825624"/>
            <a:ext cx="10515600" cy="4698743"/>
          </a:xfrm>
        </p:spPr>
        <p:txBody>
          <a:bodyPr>
            <a:normAutofit lnSpcReduction="10000"/>
          </a:bodyPr>
          <a:lstStyle/>
          <a:p>
            <a:r>
              <a:rPr lang="en-US" dirty="0">
                <a:hlinkClick r:id="rId2"/>
              </a:rPr>
              <a:t>managing users</a:t>
            </a:r>
            <a:endParaRPr lang="en-US" dirty="0"/>
          </a:p>
          <a:p>
            <a:r>
              <a:rPr lang="en-US" dirty="0">
                <a:hlinkClick r:id="rId3"/>
              </a:rPr>
              <a:t>file permissions</a:t>
            </a:r>
            <a:endParaRPr lang="en-US" dirty="0"/>
          </a:p>
          <a:p>
            <a:r>
              <a:rPr lang="en-US" dirty="0">
                <a:hlinkClick r:id="rId4"/>
              </a:rPr>
              <a:t>symbolic links</a:t>
            </a:r>
            <a:endParaRPr lang="en-US" dirty="0"/>
          </a:p>
          <a:p>
            <a:r>
              <a:rPr lang="en-US" dirty="0">
                <a:hlinkClick r:id="rId5"/>
              </a:rPr>
              <a:t>process management</a:t>
            </a:r>
            <a:endParaRPr lang="en-US" dirty="0"/>
          </a:p>
          <a:p>
            <a:r>
              <a:rPr lang="en-US" dirty="0"/>
              <a:t>How to compress and decompress files to save space and make transferring data easy</a:t>
            </a:r>
          </a:p>
          <a:p>
            <a:pPr lvl="1"/>
            <a:r>
              <a:rPr lang="en-US" dirty="0">
                <a:hlinkClick r:id="rId6"/>
              </a:rPr>
              <a:t>tar</a:t>
            </a:r>
            <a:endParaRPr lang="en-US" dirty="0"/>
          </a:p>
          <a:p>
            <a:pPr lvl="1"/>
            <a:r>
              <a:rPr lang="en-US" dirty="0">
                <a:hlinkClick r:id="rId7"/>
              </a:rPr>
              <a:t>gzip</a:t>
            </a:r>
            <a:endParaRPr lang="en-US" dirty="0"/>
          </a:p>
          <a:p>
            <a:pPr lvl="1"/>
            <a:r>
              <a:rPr lang="en-US" dirty="0">
                <a:hlinkClick r:id="rId8"/>
              </a:rPr>
              <a:t>zip</a:t>
            </a:r>
            <a:endParaRPr lang="en-US" dirty="0"/>
          </a:p>
          <a:p>
            <a:pPr lvl="1"/>
            <a:r>
              <a:rPr lang="en-US" dirty="0">
                <a:hlinkClick r:id="rId9"/>
              </a:rPr>
              <a:t>Bzip2</a:t>
            </a:r>
            <a:endParaRPr lang="en-US" dirty="0"/>
          </a:p>
          <a:p>
            <a:pPr lvl="1"/>
            <a:r>
              <a:rPr lang="en-US" dirty="0"/>
              <a:t>lzma / xz</a:t>
            </a:r>
          </a:p>
          <a:p>
            <a:pPr lvl="1"/>
            <a:endParaRPr lang="en-US" dirty="0"/>
          </a:p>
          <a:p>
            <a:pPr marL="0" indent="0">
              <a:buNone/>
            </a:pPr>
            <a:endParaRPr lang="en-US" dirty="0"/>
          </a:p>
        </p:txBody>
      </p:sp>
    </p:spTree>
    <p:extLst>
      <p:ext uri="{BB962C8B-B14F-4D97-AF65-F5344CB8AC3E}">
        <p14:creationId xmlns:p14="http://schemas.microsoft.com/office/powerpoint/2010/main" val="3976612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6A35D50-C931-4301-B2A1-C75845EA4A58}"/>
              </a:ext>
            </a:extLst>
          </p:cNvPr>
          <p:cNvSpPr>
            <a:spLocks noGrp="1"/>
          </p:cNvSpPr>
          <p:nvPr>
            <p:ph type="title"/>
          </p:nvPr>
        </p:nvSpPr>
        <p:spPr/>
        <p:txBody>
          <a:bodyPr/>
          <a:lstStyle/>
          <a:p>
            <a:r>
              <a:rPr lang="en-US" dirty="0"/>
              <a:t>Week #5 - Scripting and Programming</a:t>
            </a:r>
          </a:p>
        </p:txBody>
      </p:sp>
      <p:sp>
        <p:nvSpPr>
          <p:cNvPr id="3" name="Sisällön paikkamerkki 2">
            <a:extLst>
              <a:ext uri="{FF2B5EF4-FFF2-40B4-BE49-F238E27FC236}">
                <a16:creationId xmlns:a16="http://schemas.microsoft.com/office/drawing/2014/main" id="{1B3C9602-E440-43F2-9301-97B7AC25206B}"/>
              </a:ext>
            </a:extLst>
          </p:cNvPr>
          <p:cNvSpPr>
            <a:spLocks noGrp="1"/>
          </p:cNvSpPr>
          <p:nvPr>
            <p:ph idx="1"/>
          </p:nvPr>
        </p:nvSpPr>
        <p:spPr/>
        <p:txBody>
          <a:bodyPr/>
          <a:lstStyle/>
          <a:p>
            <a:r>
              <a:rPr lang="en-US" dirty="0">
                <a:hlinkClick r:id="rId2"/>
              </a:rPr>
              <a:t>Shell scripting</a:t>
            </a:r>
            <a:endParaRPr lang="en-US" dirty="0"/>
          </a:p>
          <a:p>
            <a:r>
              <a:rPr lang="en-US" dirty="0">
                <a:hlinkClick r:id="rId3"/>
              </a:rPr>
              <a:t>Python Scripting</a:t>
            </a:r>
            <a:endParaRPr lang="en-US" dirty="0"/>
          </a:p>
          <a:p>
            <a:r>
              <a:rPr lang="en-US" dirty="0">
                <a:hlinkClick r:id="rId4"/>
              </a:rPr>
              <a:t>Using GCC</a:t>
            </a:r>
            <a:r>
              <a:rPr lang="en-US" dirty="0"/>
              <a:t> with C programming language</a:t>
            </a:r>
          </a:p>
          <a:p>
            <a:r>
              <a:rPr lang="en-US" dirty="0"/>
              <a:t>How to make and use </a:t>
            </a:r>
            <a:r>
              <a:rPr lang="en-US" dirty="0" err="1">
                <a:hlinkClick r:id="rId5"/>
              </a:rPr>
              <a:t>Makefiles</a:t>
            </a:r>
            <a:endParaRPr lang="en-US" dirty="0"/>
          </a:p>
          <a:p>
            <a:pPr marL="0" indent="0">
              <a:buNone/>
            </a:pPr>
            <a:endParaRPr lang="en-US" dirty="0"/>
          </a:p>
        </p:txBody>
      </p:sp>
    </p:spTree>
    <p:extLst>
      <p:ext uri="{BB962C8B-B14F-4D97-AF65-F5344CB8AC3E}">
        <p14:creationId xmlns:p14="http://schemas.microsoft.com/office/powerpoint/2010/main" val="145371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DC5B73A-BF88-4695-96D3-3675E54A1A0F}"/>
              </a:ext>
            </a:extLst>
          </p:cNvPr>
          <p:cNvSpPr>
            <a:spLocks noGrp="1"/>
          </p:cNvSpPr>
          <p:nvPr>
            <p:ph type="title"/>
          </p:nvPr>
        </p:nvSpPr>
        <p:spPr/>
        <p:txBody>
          <a:bodyPr/>
          <a:lstStyle/>
          <a:p>
            <a:r>
              <a:rPr lang="en-US" dirty="0"/>
              <a:t>Week #6 - Web Servers and WordPress</a:t>
            </a:r>
          </a:p>
        </p:txBody>
      </p:sp>
      <p:sp>
        <p:nvSpPr>
          <p:cNvPr id="3" name="Sisällön paikkamerkki 2">
            <a:extLst>
              <a:ext uri="{FF2B5EF4-FFF2-40B4-BE49-F238E27FC236}">
                <a16:creationId xmlns:a16="http://schemas.microsoft.com/office/drawing/2014/main" id="{091E817C-F394-418A-9749-55259A697433}"/>
              </a:ext>
            </a:extLst>
          </p:cNvPr>
          <p:cNvSpPr>
            <a:spLocks noGrp="1"/>
          </p:cNvSpPr>
          <p:nvPr>
            <p:ph idx="1"/>
          </p:nvPr>
        </p:nvSpPr>
        <p:spPr/>
        <p:txBody>
          <a:bodyPr/>
          <a:lstStyle/>
          <a:p>
            <a:r>
              <a:rPr lang="en-US" dirty="0">
                <a:hlinkClick r:id="rId2"/>
              </a:rPr>
              <a:t>install LAMP stack</a:t>
            </a:r>
            <a:endParaRPr lang="en-US" dirty="0"/>
          </a:p>
          <a:p>
            <a:r>
              <a:rPr lang="en-US" dirty="0">
                <a:hlinkClick r:id="rId3"/>
              </a:rPr>
              <a:t>install LEMP stack</a:t>
            </a:r>
            <a:endParaRPr lang="en-US" dirty="0"/>
          </a:p>
          <a:p>
            <a:r>
              <a:rPr lang="en-US" dirty="0">
                <a:hlinkClick r:id="rId4"/>
              </a:rPr>
              <a:t>install MEAN stack</a:t>
            </a:r>
            <a:endParaRPr lang="en-US" dirty="0"/>
          </a:p>
          <a:p>
            <a:r>
              <a:rPr lang="en-US" dirty="0"/>
              <a:t>make a simple </a:t>
            </a:r>
            <a:r>
              <a:rPr lang="en-US" dirty="0">
                <a:hlinkClick r:id="rId5"/>
              </a:rPr>
              <a:t>WordPress</a:t>
            </a:r>
            <a:r>
              <a:rPr lang="en-US" dirty="0"/>
              <a:t> site</a:t>
            </a:r>
          </a:p>
        </p:txBody>
      </p:sp>
    </p:spTree>
    <p:extLst>
      <p:ext uri="{BB962C8B-B14F-4D97-AF65-F5344CB8AC3E}">
        <p14:creationId xmlns:p14="http://schemas.microsoft.com/office/powerpoint/2010/main" val="2861559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648D460-9B5E-4A23-A9D7-2532CA1E777A}"/>
              </a:ext>
            </a:extLst>
          </p:cNvPr>
          <p:cNvSpPr>
            <a:spLocks noGrp="1"/>
          </p:cNvSpPr>
          <p:nvPr>
            <p:ph type="title"/>
          </p:nvPr>
        </p:nvSpPr>
        <p:spPr>
          <a:xfrm>
            <a:off x="838200" y="365125"/>
            <a:ext cx="10515600" cy="1325563"/>
          </a:xfrm>
        </p:spPr>
        <p:txBody>
          <a:bodyPr/>
          <a:lstStyle/>
          <a:p>
            <a:r>
              <a:rPr lang="en-US" dirty="0"/>
              <a:t>Week #7 - Group Presentations</a:t>
            </a:r>
          </a:p>
        </p:txBody>
      </p:sp>
      <p:sp>
        <p:nvSpPr>
          <p:cNvPr id="3" name="Sisällön paikkamerkki 2">
            <a:extLst>
              <a:ext uri="{FF2B5EF4-FFF2-40B4-BE49-F238E27FC236}">
                <a16:creationId xmlns:a16="http://schemas.microsoft.com/office/drawing/2014/main" id="{20800BE4-BD1D-44DA-8EAB-EEF0244B9458}"/>
              </a:ext>
            </a:extLst>
          </p:cNvPr>
          <p:cNvSpPr>
            <a:spLocks noGrp="1"/>
          </p:cNvSpPr>
          <p:nvPr>
            <p:ph idx="1"/>
          </p:nvPr>
        </p:nvSpPr>
        <p:spPr>
          <a:xfrm>
            <a:off x="838200" y="1825625"/>
            <a:ext cx="10515600" cy="4844998"/>
          </a:xfrm>
        </p:spPr>
        <p:txBody>
          <a:bodyPr>
            <a:normAutofit fontScale="70000" lnSpcReduction="20000"/>
          </a:bodyPr>
          <a:lstStyle/>
          <a:p>
            <a:pPr marL="514350" indent="-514350">
              <a:buFont typeface="+mj-lt"/>
              <a:buAutoNum type="arabicPeriod"/>
            </a:pPr>
            <a:r>
              <a:rPr lang="en-US" dirty="0"/>
              <a:t>How the boot process and run levels works on Linux servers and what you can do to control it​ - </a:t>
            </a:r>
          </a:p>
          <a:p>
            <a:pPr marL="514350" indent="-514350">
              <a:buFont typeface="+mj-lt"/>
              <a:buAutoNum type="arabicPeriod"/>
            </a:pPr>
            <a:r>
              <a:rPr lang="en-US" dirty="0"/>
              <a:t>file system structure. Where to find all the essentials stuff: programs, devices etc.</a:t>
            </a:r>
          </a:p>
          <a:p>
            <a:pPr marL="514350" indent="-514350">
              <a:buFont typeface="+mj-lt"/>
              <a:buAutoNum type="arabicPeriod"/>
            </a:pPr>
            <a:r>
              <a:rPr lang="en-US" dirty="0"/>
              <a:t>Log files and how to manage them without making file system full​</a:t>
            </a:r>
          </a:p>
          <a:p>
            <a:pPr marL="514350" indent="-514350">
              <a:buFont typeface="+mj-lt"/>
              <a:buAutoNum type="arabicPeriod"/>
            </a:pPr>
            <a:r>
              <a:rPr lang="en-US" dirty="0"/>
              <a:t>Disk management, partitioning, and file system creation </a:t>
            </a:r>
          </a:p>
          <a:p>
            <a:pPr marL="514350" indent="-514350">
              <a:buFont typeface="+mj-lt"/>
              <a:buAutoNum type="arabicPeriod"/>
            </a:pPr>
            <a:r>
              <a:rPr lang="en-US" dirty="0"/>
              <a:t>How Linux stores Shadow passwords and how password encryption and salt work and why they are important</a:t>
            </a:r>
          </a:p>
          <a:p>
            <a:pPr marL="514350" indent="-514350">
              <a:buFont typeface="+mj-lt"/>
              <a:buAutoNum type="arabicPeriod"/>
            </a:pPr>
            <a:r>
              <a:rPr lang="en-US" dirty="0"/>
              <a:t>How to schedule and automate jobs using cron</a:t>
            </a:r>
          </a:p>
          <a:p>
            <a:pPr marL="514350" indent="-514350">
              <a:buFont typeface="+mj-lt"/>
              <a:buAutoNum type="arabicPeriod"/>
            </a:pPr>
            <a:r>
              <a:rPr lang="en-US" dirty="0"/>
              <a:t>Google Compute Engine - Real Life Usage Example and Comparison</a:t>
            </a:r>
          </a:p>
          <a:p>
            <a:pPr marL="514350" indent="-514350">
              <a:buFont typeface="+mj-lt"/>
              <a:buAutoNum type="arabicPeriod"/>
            </a:pPr>
            <a:r>
              <a:rPr lang="en-US" dirty="0"/>
              <a:t>Amazon AWS with Cloud9 - Real life Usage Example and Comparison </a:t>
            </a:r>
          </a:p>
          <a:p>
            <a:pPr marL="514350" indent="-514350">
              <a:buFont typeface="+mj-lt"/>
              <a:buAutoNum type="arabicPeriod"/>
            </a:pPr>
            <a:r>
              <a:rPr lang="en-US" dirty="0"/>
              <a:t>IBM Cloud with Kubernetes - Real life Usage Example and Comparison Azure Cloud</a:t>
            </a:r>
          </a:p>
          <a:p>
            <a:pPr marL="514350" indent="-514350">
              <a:buFont typeface="+mj-lt"/>
              <a:buAutoNum type="arabicPeriod"/>
            </a:pPr>
            <a:r>
              <a:rPr lang="en-US" dirty="0"/>
              <a:t>How to use azure shell, example of different VM (not B1s) and comparison</a:t>
            </a:r>
            <a:br>
              <a:rPr lang="en-US" dirty="0"/>
            </a:br>
            <a:br>
              <a:rPr lang="en-US" dirty="0"/>
            </a:br>
            <a:br>
              <a:rPr lang="en-US" dirty="0"/>
            </a:br>
            <a:r>
              <a:rPr lang="en-US" dirty="0"/>
              <a:t>15-20 minute presentation in front of the class room</a:t>
            </a:r>
            <a:br>
              <a:rPr lang="en-US" dirty="0"/>
            </a:br>
            <a:r>
              <a:rPr lang="en-US" dirty="0"/>
              <a:t>Each presentation must include real life examples done by the student group</a:t>
            </a:r>
          </a:p>
        </p:txBody>
      </p:sp>
    </p:spTree>
    <p:extLst>
      <p:ext uri="{BB962C8B-B14F-4D97-AF65-F5344CB8AC3E}">
        <p14:creationId xmlns:p14="http://schemas.microsoft.com/office/powerpoint/2010/main" val="84062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DAF506F-AB66-417B-9FBC-31DEC4D9CCC6}"/>
              </a:ext>
            </a:extLst>
          </p:cNvPr>
          <p:cNvSpPr>
            <a:spLocks noGrp="1"/>
          </p:cNvSpPr>
          <p:nvPr>
            <p:ph type="title"/>
          </p:nvPr>
        </p:nvSpPr>
        <p:spPr/>
        <p:txBody>
          <a:bodyPr/>
          <a:lstStyle/>
          <a:p>
            <a:r>
              <a:rPr lang="en-US" dirty="0"/>
              <a:t>Week #8 - Security and Miscellaneous topics</a:t>
            </a:r>
          </a:p>
        </p:txBody>
      </p:sp>
      <p:sp>
        <p:nvSpPr>
          <p:cNvPr id="3" name="Sisällön paikkamerkki 2">
            <a:extLst>
              <a:ext uri="{FF2B5EF4-FFF2-40B4-BE49-F238E27FC236}">
                <a16:creationId xmlns:a16="http://schemas.microsoft.com/office/drawing/2014/main" id="{672CBB70-C7E4-49E3-A989-AB6F5EC4A2AB}"/>
              </a:ext>
            </a:extLst>
          </p:cNvPr>
          <p:cNvSpPr>
            <a:spLocks noGrp="1"/>
          </p:cNvSpPr>
          <p:nvPr>
            <p:ph idx="1"/>
          </p:nvPr>
        </p:nvSpPr>
        <p:spPr/>
        <p:txBody>
          <a:bodyPr/>
          <a:lstStyle/>
          <a:p>
            <a:r>
              <a:rPr lang="en-US" dirty="0">
                <a:hlinkClick r:id="rId2"/>
              </a:rPr>
              <a:t>Securing a web server with SSL</a:t>
            </a:r>
            <a:endParaRPr lang="en-US" dirty="0"/>
          </a:p>
          <a:p>
            <a:r>
              <a:rPr lang="en-US" dirty="0">
                <a:hlinkClick r:id="rId3"/>
              </a:rPr>
              <a:t>Securing an Ubuntu Linux server</a:t>
            </a:r>
            <a:endParaRPr lang="en-US" dirty="0"/>
          </a:p>
          <a:p>
            <a:r>
              <a:rPr lang="en-US" dirty="0"/>
              <a:t>Data security</a:t>
            </a:r>
          </a:p>
          <a:p>
            <a:r>
              <a:rPr lang="en-US" dirty="0"/>
              <a:t>Using </a:t>
            </a:r>
            <a:r>
              <a:rPr lang="en-US" dirty="0" err="1">
                <a:hlinkClick r:id="rId4"/>
              </a:rPr>
              <a:t>ImageMagick</a:t>
            </a:r>
            <a:endParaRPr lang="en-US" dirty="0"/>
          </a:p>
          <a:p>
            <a:r>
              <a:rPr lang="en-US" dirty="0"/>
              <a:t>This topics will only be covered, if there is enough time.</a:t>
            </a:r>
          </a:p>
        </p:txBody>
      </p:sp>
    </p:spTree>
    <p:extLst>
      <p:ext uri="{BB962C8B-B14F-4D97-AF65-F5344CB8AC3E}">
        <p14:creationId xmlns:p14="http://schemas.microsoft.com/office/powerpoint/2010/main" val="4183737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487BB9B-413B-4609-BCEC-92D53A09711A}"/>
              </a:ext>
            </a:extLst>
          </p:cNvPr>
          <p:cNvSpPr>
            <a:spLocks noGrp="1"/>
          </p:cNvSpPr>
          <p:nvPr>
            <p:ph type="title"/>
          </p:nvPr>
        </p:nvSpPr>
        <p:spPr/>
        <p:txBody>
          <a:bodyPr/>
          <a:lstStyle/>
          <a:p>
            <a:r>
              <a:rPr lang="en-US" dirty="0"/>
              <a:t>Passing the Course and Grading</a:t>
            </a:r>
          </a:p>
        </p:txBody>
      </p:sp>
      <p:sp>
        <p:nvSpPr>
          <p:cNvPr id="3" name="Sisällön paikkamerkki 2">
            <a:extLst>
              <a:ext uri="{FF2B5EF4-FFF2-40B4-BE49-F238E27FC236}">
                <a16:creationId xmlns:a16="http://schemas.microsoft.com/office/drawing/2014/main" id="{98DC2558-33A4-4C56-B40E-516DA26E65B3}"/>
              </a:ext>
            </a:extLst>
          </p:cNvPr>
          <p:cNvSpPr>
            <a:spLocks noGrp="1"/>
          </p:cNvSpPr>
          <p:nvPr>
            <p:ph idx="1"/>
          </p:nvPr>
        </p:nvSpPr>
        <p:spPr/>
        <p:txBody>
          <a:bodyPr/>
          <a:lstStyle/>
          <a:p>
            <a:r>
              <a:rPr lang="en-US" dirty="0"/>
              <a:t>No exam</a:t>
            </a:r>
          </a:p>
          <a:p>
            <a:r>
              <a:rPr lang="en-US" dirty="0"/>
              <a:t>Watch the videos, practice a bit and do the related quiz</a:t>
            </a:r>
          </a:p>
          <a:p>
            <a:r>
              <a:rPr lang="en-US" dirty="0"/>
              <a:t>Group presentation is graded by other students</a:t>
            </a:r>
          </a:p>
          <a:p>
            <a:r>
              <a:rPr lang="en-US" dirty="0"/>
              <a:t>grade = 50 % quiz + 25 % GitHub assignments + 25 % group presentation</a:t>
            </a:r>
          </a:p>
          <a:p>
            <a:endParaRPr lang="en-US" dirty="0"/>
          </a:p>
        </p:txBody>
      </p:sp>
    </p:spTree>
    <p:extLst>
      <p:ext uri="{BB962C8B-B14F-4D97-AF65-F5344CB8AC3E}">
        <p14:creationId xmlns:p14="http://schemas.microsoft.com/office/powerpoint/2010/main" val="2650176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30FF5CB-979B-4102-97E0-E6EB28160573}"/>
              </a:ext>
            </a:extLst>
          </p:cNvPr>
          <p:cNvSpPr>
            <a:spLocks noGrp="1"/>
          </p:cNvSpPr>
          <p:nvPr>
            <p:ph type="title"/>
          </p:nvPr>
        </p:nvSpPr>
        <p:spPr/>
        <p:txBody>
          <a:bodyPr/>
          <a:lstStyle/>
          <a:p>
            <a:r>
              <a:rPr lang="en-US" dirty="0"/>
              <a:t>Operating System</a:t>
            </a:r>
          </a:p>
        </p:txBody>
      </p:sp>
      <p:sp>
        <p:nvSpPr>
          <p:cNvPr id="3" name="Sisällön paikkamerkki 2">
            <a:extLst>
              <a:ext uri="{FF2B5EF4-FFF2-40B4-BE49-F238E27FC236}">
                <a16:creationId xmlns:a16="http://schemas.microsoft.com/office/drawing/2014/main" id="{21E80533-6E52-42AB-8EFF-3530738EC0E5}"/>
              </a:ext>
            </a:extLst>
          </p:cNvPr>
          <p:cNvSpPr>
            <a:spLocks noGrp="1"/>
          </p:cNvSpPr>
          <p:nvPr>
            <p:ph idx="1"/>
          </p:nvPr>
        </p:nvSpPr>
        <p:spPr>
          <a:xfrm>
            <a:off x="838200" y="1825624"/>
            <a:ext cx="10515600" cy="4717415"/>
          </a:xfrm>
        </p:spPr>
        <p:txBody>
          <a:bodyPr>
            <a:normAutofit fontScale="92500" lnSpcReduction="20000"/>
          </a:bodyPr>
          <a:lstStyle/>
          <a:p>
            <a:r>
              <a:rPr lang="en-US" dirty="0"/>
              <a:t>An operating system (OS) is system software that manages computer hardware, software resources, and provides common services for computer programs.</a:t>
            </a:r>
          </a:p>
          <a:p>
            <a:r>
              <a:rPr lang="en-US" dirty="0"/>
              <a:t>Most modern operating systems offer these basic components:</a:t>
            </a:r>
          </a:p>
          <a:p>
            <a:pPr lvl="1"/>
            <a:r>
              <a:rPr lang="en-US" dirty="0"/>
              <a:t>Kernel (core of computer's operating system)</a:t>
            </a:r>
          </a:p>
          <a:p>
            <a:pPr lvl="1"/>
            <a:r>
              <a:rPr lang="en-US" dirty="0"/>
              <a:t>Interrupts (timers or based on input/output devices)</a:t>
            </a:r>
          </a:p>
          <a:p>
            <a:pPr lvl="1"/>
            <a:r>
              <a:rPr lang="en-US" dirty="0"/>
              <a:t>modes (superuser and user) and security</a:t>
            </a:r>
          </a:p>
          <a:p>
            <a:pPr lvl="1"/>
            <a:r>
              <a:rPr lang="en-US" dirty="0"/>
              <a:t>memory management (e.g. restrict access)</a:t>
            </a:r>
          </a:p>
          <a:p>
            <a:pPr lvl="1"/>
            <a:r>
              <a:rPr lang="en-US" dirty="0"/>
              <a:t>virtual memory (pretend to have more memory than physical RAM)</a:t>
            </a:r>
          </a:p>
          <a:p>
            <a:pPr lvl="1"/>
            <a:r>
              <a:rPr lang="en-US" dirty="0"/>
              <a:t>disc access and file systems</a:t>
            </a:r>
          </a:p>
          <a:p>
            <a:pPr lvl="1"/>
            <a:r>
              <a:rPr lang="en-US" dirty="0"/>
              <a:t>multi-user (vs single-user)</a:t>
            </a:r>
          </a:p>
          <a:p>
            <a:pPr lvl="1"/>
            <a:r>
              <a:rPr lang="en-US" dirty="0"/>
              <a:t>multi-tasking (vs single-tasking)</a:t>
            </a:r>
          </a:p>
          <a:p>
            <a:pPr lvl="1"/>
            <a:r>
              <a:rPr lang="en-US" dirty="0"/>
              <a:t>networking</a:t>
            </a:r>
          </a:p>
          <a:p>
            <a:pPr lvl="1"/>
            <a:r>
              <a:rPr lang="en-US" dirty="0"/>
              <a:t>device drivers</a:t>
            </a:r>
          </a:p>
          <a:p>
            <a:pPr lvl="1"/>
            <a:r>
              <a:rPr lang="en-US" dirty="0"/>
              <a:t>user-interface (graphics user interface under many Linux distributions is optional)</a:t>
            </a:r>
          </a:p>
        </p:txBody>
      </p:sp>
    </p:spTree>
    <p:extLst>
      <p:ext uri="{BB962C8B-B14F-4D97-AF65-F5344CB8AC3E}">
        <p14:creationId xmlns:p14="http://schemas.microsoft.com/office/powerpoint/2010/main" val="423153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ADF2EED-A6F8-4734-B3D8-9396D4A911F4}"/>
              </a:ext>
            </a:extLst>
          </p:cNvPr>
          <p:cNvSpPr>
            <a:spLocks noGrp="1"/>
          </p:cNvSpPr>
          <p:nvPr>
            <p:ph type="title"/>
          </p:nvPr>
        </p:nvSpPr>
        <p:spPr/>
        <p:txBody>
          <a:bodyPr/>
          <a:lstStyle/>
          <a:p>
            <a:r>
              <a:rPr lang="en-US" dirty="0"/>
              <a:t>Linux</a:t>
            </a:r>
          </a:p>
        </p:txBody>
      </p:sp>
      <p:sp>
        <p:nvSpPr>
          <p:cNvPr id="3" name="Sisällön paikkamerkki 2">
            <a:extLst>
              <a:ext uri="{FF2B5EF4-FFF2-40B4-BE49-F238E27FC236}">
                <a16:creationId xmlns:a16="http://schemas.microsoft.com/office/drawing/2014/main" id="{065C63F3-583A-48F9-ADAE-D2F4932FF891}"/>
              </a:ext>
            </a:extLst>
          </p:cNvPr>
          <p:cNvSpPr>
            <a:spLocks noGrp="1"/>
          </p:cNvSpPr>
          <p:nvPr>
            <p:ph idx="1"/>
          </p:nvPr>
        </p:nvSpPr>
        <p:spPr/>
        <p:txBody>
          <a:bodyPr>
            <a:normAutofit lnSpcReduction="10000"/>
          </a:bodyPr>
          <a:lstStyle/>
          <a:p>
            <a:r>
              <a:rPr lang="en-US" sz="2400" dirty="0"/>
              <a:t>Linux is the most popular operating system in the world.</a:t>
            </a:r>
          </a:p>
          <a:p>
            <a:r>
              <a:rPr lang="en-US" sz="2400" dirty="0"/>
              <a:t>Linux belongs to the family tree of Unix-alike operating system. </a:t>
            </a:r>
          </a:p>
          <a:p>
            <a:r>
              <a:rPr lang="en-US" sz="2400" dirty="0"/>
              <a:t>Other Unix operating systems include: </a:t>
            </a:r>
            <a:r>
              <a:rPr lang="en-US" sz="2400" dirty="0" err="1"/>
              <a:t>Minix</a:t>
            </a:r>
            <a:r>
              <a:rPr lang="en-US" sz="2400" dirty="0"/>
              <a:t>, FreeBSD, </a:t>
            </a:r>
            <a:r>
              <a:rPr lang="en-US" sz="2400" dirty="0" err="1"/>
              <a:t>DragonFlyBSD</a:t>
            </a:r>
            <a:r>
              <a:rPr lang="en-US" sz="2400" dirty="0"/>
              <a:t>, NetBSD, OpenBSD, Darwin (Mac OS X), AIX, </a:t>
            </a:r>
            <a:r>
              <a:rPr lang="en-US" sz="2400" dirty="0" err="1"/>
              <a:t>OpenServer</a:t>
            </a:r>
            <a:r>
              <a:rPr lang="en-US" sz="2400" dirty="0"/>
              <a:t>, Solaris, </a:t>
            </a:r>
            <a:r>
              <a:rPr lang="en-US" sz="2400" dirty="0" err="1"/>
              <a:t>OpenSolaris</a:t>
            </a:r>
            <a:r>
              <a:rPr lang="en-US" sz="2400" dirty="0"/>
              <a:t> and HP-UX.</a:t>
            </a:r>
          </a:p>
          <a:p>
            <a:r>
              <a:rPr lang="en-US" sz="2400" dirty="0"/>
              <a:t>Linux kernel's original principal author is Linus Torvalds from Finland.</a:t>
            </a:r>
          </a:p>
          <a:p>
            <a:r>
              <a:rPr lang="en-US" sz="2400" dirty="0"/>
              <a:t>Linux kernel was first released in 1991.</a:t>
            </a:r>
          </a:p>
          <a:p>
            <a:r>
              <a:rPr lang="en-US" sz="2400" dirty="0">
                <a:hlinkClick r:id="rId2"/>
              </a:rPr>
              <a:t>ftp.funet.fi</a:t>
            </a:r>
            <a:r>
              <a:rPr lang="en-US" sz="2400" dirty="0"/>
              <a:t> administrator Ari </a:t>
            </a:r>
            <a:r>
              <a:rPr lang="en-US" sz="2400" dirty="0" err="1"/>
              <a:t>Lemmke</a:t>
            </a:r>
            <a:r>
              <a:rPr lang="en-US" sz="2400" dirty="0"/>
              <a:t> changed the name to Linux.</a:t>
            </a:r>
          </a:p>
          <a:p>
            <a:r>
              <a:rPr lang="en-US" sz="2400" dirty="0"/>
              <a:t>Android is using Linux kernel and lots of Linux services and it runs on billions of devices.</a:t>
            </a:r>
          </a:p>
          <a:p>
            <a:r>
              <a:rPr lang="en-US" sz="2400" dirty="0"/>
              <a:t>Most servers run on Linux operating system.</a:t>
            </a:r>
          </a:p>
          <a:p>
            <a:r>
              <a:rPr lang="en-US" sz="2400" dirty="0"/>
              <a:t>Linux runs on huge variety of hardware e.g. Intel x86, ARM, RISC V etc.</a:t>
            </a:r>
          </a:p>
        </p:txBody>
      </p:sp>
    </p:spTree>
    <p:extLst>
      <p:ext uri="{BB962C8B-B14F-4D97-AF65-F5344CB8AC3E}">
        <p14:creationId xmlns:p14="http://schemas.microsoft.com/office/powerpoint/2010/main" val="299081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1AACCC1-DA04-4F47-A0E5-C6C4DA0B4EFE}"/>
              </a:ext>
            </a:extLst>
          </p:cNvPr>
          <p:cNvSpPr>
            <a:spLocks noGrp="1"/>
          </p:cNvSpPr>
          <p:nvPr>
            <p:ph type="title"/>
          </p:nvPr>
        </p:nvSpPr>
        <p:spPr/>
        <p:txBody>
          <a:bodyPr/>
          <a:lstStyle/>
          <a:p>
            <a:r>
              <a:rPr lang="en-US" dirty="0">
                <a:hlinkClick r:id="rId2"/>
              </a:rPr>
              <a:t>Linux Distributions</a:t>
            </a:r>
            <a:endParaRPr lang="en-US" dirty="0"/>
          </a:p>
        </p:txBody>
      </p:sp>
      <p:sp>
        <p:nvSpPr>
          <p:cNvPr id="3" name="Sisällön paikkamerkki 2">
            <a:extLst>
              <a:ext uri="{FF2B5EF4-FFF2-40B4-BE49-F238E27FC236}">
                <a16:creationId xmlns:a16="http://schemas.microsoft.com/office/drawing/2014/main" id="{C3E0142A-C3E8-45E1-8E3E-8B5FDE10CADD}"/>
              </a:ext>
            </a:extLst>
          </p:cNvPr>
          <p:cNvSpPr>
            <a:spLocks noGrp="1"/>
          </p:cNvSpPr>
          <p:nvPr>
            <p:ph idx="1"/>
          </p:nvPr>
        </p:nvSpPr>
        <p:spPr/>
        <p:txBody>
          <a:bodyPr>
            <a:normAutofit/>
          </a:bodyPr>
          <a:lstStyle/>
          <a:p>
            <a:r>
              <a:rPr lang="en-US" dirty="0"/>
              <a:t>Linux distribution come with different set of tools, programs and </a:t>
            </a:r>
            <a:r>
              <a:rPr lang="en-US" dirty="0">
                <a:hlinkClick r:id="rId3"/>
              </a:rPr>
              <a:t>package managers</a:t>
            </a:r>
            <a:r>
              <a:rPr lang="en-US" dirty="0"/>
              <a:t> and user interface.</a:t>
            </a:r>
          </a:p>
          <a:p>
            <a:r>
              <a:rPr lang="en-US" dirty="0"/>
              <a:t>Popular Linux distributions include: Ubuntu, MX Linux, </a:t>
            </a:r>
            <a:r>
              <a:rPr lang="en-US" dirty="0" err="1"/>
              <a:t>Manjaro</a:t>
            </a:r>
            <a:r>
              <a:rPr lang="en-US" dirty="0"/>
              <a:t>, Mint, Debian, Elementary, Fedora, Arch Linux, CentOS, Kali, Puppy, </a:t>
            </a:r>
            <a:r>
              <a:rPr lang="en-US" dirty="0" err="1"/>
              <a:t>Zorin</a:t>
            </a:r>
            <a:r>
              <a:rPr lang="en-US" dirty="0"/>
              <a:t>, </a:t>
            </a:r>
            <a:r>
              <a:rPr lang="en-US" dirty="0" err="1"/>
              <a:t>Pop!_OS</a:t>
            </a:r>
            <a:r>
              <a:rPr lang="en-US" dirty="0"/>
              <a:t> and Red Hat</a:t>
            </a:r>
          </a:p>
          <a:p>
            <a:r>
              <a:rPr lang="en-US" dirty="0"/>
              <a:t>Most Linux distributions only have 1- to 3-year support</a:t>
            </a:r>
          </a:p>
          <a:p>
            <a:r>
              <a:rPr lang="en-US" dirty="0"/>
              <a:t>LTS = Long Term Support, usually 5 years support</a:t>
            </a:r>
          </a:p>
          <a:p>
            <a:r>
              <a:rPr lang="en-US" dirty="0"/>
              <a:t>Paid Linux distributions, like Red Hat and Ubuntu Pro will offers 10+ years support.</a:t>
            </a:r>
          </a:p>
          <a:p>
            <a:endParaRPr lang="en-US" dirty="0"/>
          </a:p>
          <a:p>
            <a:endParaRPr lang="en-US" dirty="0"/>
          </a:p>
        </p:txBody>
      </p:sp>
    </p:spTree>
    <p:extLst>
      <p:ext uri="{BB962C8B-B14F-4D97-AF65-F5344CB8AC3E}">
        <p14:creationId xmlns:p14="http://schemas.microsoft.com/office/powerpoint/2010/main" val="887866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01A466A-F9BB-48B1-9CB9-3EE5C2FBF95C}"/>
              </a:ext>
            </a:extLst>
          </p:cNvPr>
          <p:cNvSpPr>
            <a:spLocks noGrp="1"/>
          </p:cNvSpPr>
          <p:nvPr>
            <p:ph type="title"/>
          </p:nvPr>
        </p:nvSpPr>
        <p:spPr/>
        <p:txBody>
          <a:bodyPr/>
          <a:lstStyle/>
          <a:p>
            <a:r>
              <a:rPr lang="en-US" b="1" dirty="0">
                <a:hlinkClick r:id="rId2"/>
              </a:rPr>
              <a:t>apt</a:t>
            </a:r>
            <a:r>
              <a:rPr lang="en-US" dirty="0"/>
              <a:t> - Advanced Package Tool</a:t>
            </a:r>
          </a:p>
        </p:txBody>
      </p:sp>
      <p:sp>
        <p:nvSpPr>
          <p:cNvPr id="3" name="Sisällön paikkamerkki 2">
            <a:extLst>
              <a:ext uri="{FF2B5EF4-FFF2-40B4-BE49-F238E27FC236}">
                <a16:creationId xmlns:a16="http://schemas.microsoft.com/office/drawing/2014/main" id="{AA41DAA8-CB9F-4182-A66E-98C6F0F027EE}"/>
              </a:ext>
            </a:extLst>
          </p:cNvPr>
          <p:cNvSpPr>
            <a:spLocks noGrp="1"/>
          </p:cNvSpPr>
          <p:nvPr>
            <p:ph idx="1"/>
          </p:nvPr>
        </p:nvSpPr>
        <p:spPr>
          <a:xfrm>
            <a:off x="345348" y="1514339"/>
            <a:ext cx="11572406" cy="4742491"/>
          </a:xfrm>
        </p:spPr>
        <p:txBody>
          <a:bodyPr>
            <a:normAutofit fontScale="85000" lnSpcReduction="20000"/>
          </a:bodyPr>
          <a:lstStyle/>
          <a:p>
            <a:r>
              <a:rPr lang="en-US" sz="2000" dirty="0">
                <a:latin typeface="Courier New" panose="02070309020205020404" pitchFamily="49" charset="0"/>
                <a:cs typeface="Courier New" panose="02070309020205020404" pitchFamily="49" charset="0"/>
              </a:rPr>
              <a:t>sudo apt install package		# install </a:t>
            </a:r>
            <a:r>
              <a:rPr lang="en-US" sz="2000" dirty="0" err="1">
                <a:latin typeface="Courier New" panose="02070309020205020404" pitchFamily="49" charset="0"/>
                <a:cs typeface="Courier New" panose="02070309020205020404" pitchFamily="49" charset="0"/>
              </a:rPr>
              <a:t>packagename</a:t>
            </a:r>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sudo apt -y install packages	# install multiple packages without prompts </a:t>
            </a:r>
          </a:p>
          <a:p>
            <a:r>
              <a:rPr lang="en-US" sz="2000" dirty="0">
                <a:latin typeface="Courier New" panose="02070309020205020404" pitchFamily="49" charset="0"/>
                <a:cs typeface="Courier New" panose="02070309020205020404" pitchFamily="49" charset="0"/>
              </a:rPr>
              <a:t>sudo apt install package --only-upgrade	# only upgrade if already installed</a:t>
            </a:r>
          </a:p>
          <a:p>
            <a:r>
              <a:rPr lang="en-US" sz="2000" dirty="0">
                <a:latin typeface="Courier New" panose="02070309020205020404" pitchFamily="49" charset="0"/>
                <a:cs typeface="Courier New" panose="02070309020205020404" pitchFamily="49" charset="0"/>
              </a:rPr>
              <a:t>Sudo apt reinstall package		# reinstall package</a:t>
            </a:r>
          </a:p>
          <a:p>
            <a:r>
              <a:rPr lang="en-US" sz="2000" dirty="0">
                <a:latin typeface="Courier New" panose="02070309020205020404" pitchFamily="49" charset="0"/>
                <a:cs typeface="Courier New" panose="02070309020205020404" pitchFamily="49" charset="0"/>
              </a:rPr>
              <a:t>sudo apt update 			# refresh source</a:t>
            </a:r>
          </a:p>
          <a:p>
            <a:r>
              <a:rPr lang="en-US" sz="2000" dirty="0">
                <a:latin typeface="Courier New" panose="02070309020205020404" pitchFamily="49" charset="0"/>
                <a:cs typeface="Courier New" panose="02070309020205020404" pitchFamily="49" charset="0"/>
              </a:rPr>
              <a:t>sudo apt upgrade		     	# upgrade all installed packages</a:t>
            </a:r>
          </a:p>
          <a:p>
            <a:r>
              <a:rPr lang="en-US" sz="2000" dirty="0">
                <a:latin typeface="Courier New" panose="02070309020205020404" pitchFamily="49" charset="0"/>
                <a:cs typeface="Courier New" panose="02070309020205020404" pitchFamily="49" charset="0"/>
              </a:rPr>
              <a:t>sudo apt </a:t>
            </a:r>
            <a:r>
              <a:rPr lang="en-US" sz="2000" dirty="0" err="1">
                <a:latin typeface="Courier New" panose="02070309020205020404" pitchFamily="49" charset="0"/>
                <a:cs typeface="Courier New" panose="02070309020205020404" pitchFamily="49" charset="0"/>
              </a:rPr>
              <a:t>dist</a:t>
            </a:r>
            <a:r>
              <a:rPr lang="en-US" sz="2000" dirty="0">
                <a:latin typeface="Courier New" panose="02070309020205020404" pitchFamily="49" charset="0"/>
                <a:cs typeface="Courier New" panose="02070309020205020404" pitchFamily="49" charset="0"/>
              </a:rPr>
              <a:t>-upgrade		# upgrade distribution (slow)</a:t>
            </a:r>
          </a:p>
          <a:p>
            <a:r>
              <a:rPr lang="en-US" sz="2000" dirty="0">
                <a:latin typeface="Courier New" panose="02070309020205020404" pitchFamily="49" charset="0"/>
                <a:cs typeface="Courier New" panose="02070309020205020404" pitchFamily="49" charset="0"/>
              </a:rPr>
              <a:t>sudo apt purge package		# removes everything related package</a:t>
            </a:r>
          </a:p>
          <a:p>
            <a:r>
              <a:rPr lang="en-US" sz="2000" dirty="0">
                <a:latin typeface="Courier New" panose="02070309020205020404" pitchFamily="49" charset="0"/>
                <a:cs typeface="Courier New" panose="02070309020205020404" pitchFamily="49" charset="0"/>
              </a:rPr>
              <a:t>sudo apt remove package		# removes installed package, but keeps configuration</a:t>
            </a:r>
          </a:p>
          <a:p>
            <a:r>
              <a:rPr lang="en-US" sz="2000" dirty="0">
                <a:latin typeface="Courier New" panose="02070309020205020404" pitchFamily="49" charset="0"/>
                <a:cs typeface="Courier New" panose="02070309020205020404" pitchFamily="49" charset="0"/>
              </a:rPr>
              <a:t>apt search </a:t>
            </a:r>
            <a:r>
              <a:rPr lang="en-US" sz="2000" dirty="0" err="1">
                <a:latin typeface="Courier New" panose="02070309020205020404" pitchFamily="49" charset="0"/>
                <a:cs typeface="Courier New" panose="02070309020205020404" pitchFamily="49" charset="0"/>
              </a:rPr>
              <a:t>searchterm</a:t>
            </a:r>
            <a:r>
              <a:rPr lang="en-US" sz="2000" dirty="0">
                <a:latin typeface="Courier New" panose="02070309020205020404" pitchFamily="49" charset="0"/>
                <a:cs typeface="Courier New" panose="02070309020205020404" pitchFamily="49" charset="0"/>
              </a:rPr>
              <a:t>		# search package list with </a:t>
            </a:r>
            <a:r>
              <a:rPr lang="en-US" sz="2000" dirty="0" err="1">
                <a:latin typeface="Courier New" panose="02070309020205020404" pitchFamily="49" charset="0"/>
                <a:cs typeface="Courier New" panose="02070309020205020404" pitchFamily="49" charset="0"/>
              </a:rPr>
              <a:t>searchterm</a:t>
            </a:r>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apt show package			# display information about package</a:t>
            </a:r>
          </a:p>
          <a:p>
            <a:r>
              <a:rPr lang="en-US" sz="2000" dirty="0">
                <a:latin typeface="Courier New" panose="02070309020205020404" pitchFamily="49" charset="0"/>
                <a:cs typeface="Courier New" panose="02070309020205020404" pitchFamily="49" charset="0"/>
              </a:rPr>
              <a:t>apt list --installed		# list installed packages</a:t>
            </a:r>
          </a:p>
          <a:p>
            <a:r>
              <a:rPr lang="en-US" sz="2000" dirty="0">
                <a:latin typeface="Courier New" panose="02070309020205020404" pitchFamily="49" charset="0"/>
                <a:cs typeface="Courier New" panose="02070309020205020404" pitchFamily="49" charset="0"/>
              </a:rPr>
              <a:t>apt list --upgradeable		# list packages which can be upgraded</a:t>
            </a:r>
          </a:p>
          <a:p>
            <a:r>
              <a:rPr lang="en-US" sz="2000" dirty="0">
                <a:latin typeface="Courier New" panose="02070309020205020404" pitchFamily="49" charset="0"/>
                <a:cs typeface="Courier New" panose="02070309020205020404" pitchFamily="49" charset="0"/>
              </a:rPr>
              <a:t>sudo apt </a:t>
            </a:r>
            <a:r>
              <a:rPr lang="en-US" sz="2000" dirty="0" err="1">
                <a:latin typeface="Courier New" panose="02070309020205020404" pitchFamily="49" charset="0"/>
                <a:cs typeface="Courier New" panose="02070309020205020404" pitchFamily="49" charset="0"/>
              </a:rPr>
              <a:t>autoremove</a:t>
            </a:r>
            <a:r>
              <a:rPr lang="en-US" sz="2000" dirty="0">
                <a:latin typeface="Courier New" panose="02070309020205020404" pitchFamily="49" charset="0"/>
                <a:cs typeface="Courier New" panose="02070309020205020404" pitchFamily="49" charset="0"/>
              </a:rPr>
              <a:t>			# free up unused installation packages</a:t>
            </a:r>
          </a:p>
          <a:p>
            <a:r>
              <a:rPr lang="en-US" sz="2000" dirty="0">
                <a:latin typeface="Courier New" panose="02070309020205020404" pitchFamily="49" charset="0"/>
                <a:cs typeface="Courier New" panose="02070309020205020404" pitchFamily="49" charset="0"/>
              </a:rPr>
              <a:t>sudo apt full-upgrade		# upgrade all apps and kernel to latest version</a:t>
            </a:r>
          </a:p>
        </p:txBody>
      </p:sp>
    </p:spTree>
    <p:extLst>
      <p:ext uri="{BB962C8B-B14F-4D97-AF65-F5344CB8AC3E}">
        <p14:creationId xmlns:p14="http://schemas.microsoft.com/office/powerpoint/2010/main" val="2056551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BF035F1-5A79-462D-86AD-FE9746CA51E9}"/>
              </a:ext>
            </a:extLst>
          </p:cNvPr>
          <p:cNvSpPr>
            <a:spLocks noGrp="1"/>
          </p:cNvSpPr>
          <p:nvPr>
            <p:ph type="title"/>
          </p:nvPr>
        </p:nvSpPr>
        <p:spPr/>
        <p:txBody>
          <a:bodyPr/>
          <a:lstStyle/>
          <a:p>
            <a:r>
              <a:rPr lang="en-US" dirty="0">
                <a:hlinkClick r:id="rId2"/>
              </a:rPr>
              <a:t>Unix / Linux shells</a:t>
            </a:r>
            <a:endParaRPr lang="en-US" dirty="0"/>
          </a:p>
        </p:txBody>
      </p:sp>
      <p:sp>
        <p:nvSpPr>
          <p:cNvPr id="3" name="Sisällön paikkamerkki 2">
            <a:extLst>
              <a:ext uri="{FF2B5EF4-FFF2-40B4-BE49-F238E27FC236}">
                <a16:creationId xmlns:a16="http://schemas.microsoft.com/office/drawing/2014/main" id="{87AF6188-1312-4E7B-9A17-1A53818EDF52}"/>
              </a:ext>
            </a:extLst>
          </p:cNvPr>
          <p:cNvSpPr>
            <a:spLocks noGrp="1"/>
          </p:cNvSpPr>
          <p:nvPr>
            <p:ph idx="1"/>
          </p:nvPr>
        </p:nvSpPr>
        <p:spPr/>
        <p:txBody>
          <a:bodyPr>
            <a:normAutofit/>
          </a:bodyPr>
          <a:lstStyle/>
          <a:p>
            <a:r>
              <a:rPr lang="en-US" dirty="0"/>
              <a:t>Shell is the command-line interpreter, providing text-mode user interface</a:t>
            </a:r>
          </a:p>
          <a:p>
            <a:r>
              <a:rPr lang="en-US" dirty="0"/>
              <a:t>Shell usually includes a simple programming language to write shell scripts</a:t>
            </a:r>
          </a:p>
          <a:p>
            <a:r>
              <a:rPr lang="en-US" dirty="0"/>
              <a:t>Common Unix / Linux shells:</a:t>
            </a:r>
          </a:p>
          <a:p>
            <a:pPr lvl="1"/>
            <a:r>
              <a:rPr lang="en-US" dirty="0" err="1"/>
              <a:t>Bourne</a:t>
            </a:r>
            <a:r>
              <a:rPr lang="en-US" dirty="0"/>
              <a:t> Again Shell (bash) and </a:t>
            </a:r>
            <a:r>
              <a:rPr lang="en-US" dirty="0" err="1"/>
              <a:t>Bourne</a:t>
            </a:r>
            <a:r>
              <a:rPr lang="en-US" dirty="0"/>
              <a:t> Shell (</a:t>
            </a:r>
            <a:r>
              <a:rPr lang="en-US" dirty="0" err="1"/>
              <a:t>sh</a:t>
            </a:r>
            <a:r>
              <a:rPr lang="en-US" dirty="0"/>
              <a:t>)</a:t>
            </a:r>
          </a:p>
          <a:p>
            <a:pPr lvl="1"/>
            <a:r>
              <a:rPr lang="en-US" dirty="0"/>
              <a:t>C shell (</a:t>
            </a:r>
            <a:r>
              <a:rPr lang="en-US" dirty="0" err="1"/>
              <a:t>tcsh</a:t>
            </a:r>
            <a:r>
              <a:rPr lang="en-US" dirty="0"/>
              <a:t> / </a:t>
            </a:r>
            <a:r>
              <a:rPr lang="en-US" dirty="0" err="1"/>
              <a:t>csh</a:t>
            </a:r>
            <a:r>
              <a:rPr lang="en-US" dirty="0"/>
              <a:t>)</a:t>
            </a:r>
          </a:p>
          <a:p>
            <a:pPr lvl="1"/>
            <a:r>
              <a:rPr lang="en-US" dirty="0"/>
              <a:t>Korn Shell (</a:t>
            </a:r>
            <a:r>
              <a:rPr lang="en-US" dirty="0" err="1"/>
              <a:t>ksh</a:t>
            </a:r>
            <a:r>
              <a:rPr lang="en-US" dirty="0"/>
              <a:t>)</a:t>
            </a:r>
          </a:p>
          <a:p>
            <a:pPr lvl="1"/>
            <a:r>
              <a:rPr lang="en-US" dirty="0" err="1"/>
              <a:t>Zshell</a:t>
            </a:r>
            <a:r>
              <a:rPr lang="en-US" dirty="0"/>
              <a:t> (</a:t>
            </a:r>
            <a:r>
              <a:rPr lang="en-US" dirty="0" err="1"/>
              <a:t>zsh</a:t>
            </a:r>
            <a:r>
              <a:rPr lang="en-US" dirty="0"/>
              <a:t>)</a:t>
            </a:r>
          </a:p>
          <a:p>
            <a:pPr lvl="1"/>
            <a:r>
              <a:rPr lang="en-US" dirty="0"/>
              <a:t>Friendly Interactive Shell (fish)</a:t>
            </a:r>
          </a:p>
        </p:txBody>
      </p:sp>
    </p:spTree>
    <p:extLst>
      <p:ext uri="{BB962C8B-B14F-4D97-AF65-F5344CB8AC3E}">
        <p14:creationId xmlns:p14="http://schemas.microsoft.com/office/powerpoint/2010/main" val="409785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E90F019-B0B4-4E56-B992-E86EDB460756}"/>
              </a:ext>
            </a:extLst>
          </p:cNvPr>
          <p:cNvSpPr>
            <a:spLocks noGrp="1"/>
          </p:cNvSpPr>
          <p:nvPr>
            <p:ph type="title"/>
          </p:nvPr>
        </p:nvSpPr>
        <p:spPr/>
        <p:txBody>
          <a:bodyPr/>
          <a:lstStyle/>
          <a:p>
            <a:r>
              <a:rPr lang="en-US" dirty="0"/>
              <a:t>Bash Command Line Basics</a:t>
            </a:r>
          </a:p>
        </p:txBody>
      </p:sp>
      <p:sp>
        <p:nvSpPr>
          <p:cNvPr id="3" name="Sisällön paikkamerkki 2">
            <a:extLst>
              <a:ext uri="{FF2B5EF4-FFF2-40B4-BE49-F238E27FC236}">
                <a16:creationId xmlns:a16="http://schemas.microsoft.com/office/drawing/2014/main" id="{1D60E317-0A43-41DE-B043-4C6A885B02DF}"/>
              </a:ext>
            </a:extLst>
          </p:cNvPr>
          <p:cNvSpPr>
            <a:spLocks noGrp="1"/>
          </p:cNvSpPr>
          <p:nvPr>
            <p:ph idx="1"/>
          </p:nvPr>
        </p:nvSpPr>
        <p:spPr>
          <a:xfrm>
            <a:off x="838200" y="1825625"/>
            <a:ext cx="10515600" cy="4602268"/>
          </a:xfrm>
        </p:spPr>
        <p:txBody>
          <a:bodyPr>
            <a:normAutofit lnSpcReduction="10000"/>
          </a:bodyPr>
          <a:lstStyle/>
          <a:p>
            <a:r>
              <a:rPr lang="en-US" dirty="0"/>
              <a:t>You can use arrow up and down to go through command history e.g. arrow up is previous command</a:t>
            </a:r>
          </a:p>
          <a:p>
            <a:r>
              <a:rPr lang="en-US" dirty="0"/>
              <a:t>Arrow left, right, backspace and delete work as expected</a:t>
            </a:r>
          </a:p>
          <a:p>
            <a:r>
              <a:rPr lang="en-US" dirty="0"/>
              <a:t>You can use tabulation key (tab) to complete commands, file and folder names. For example if your folder has a text file called test.txt and no other files starting with </a:t>
            </a:r>
            <a:r>
              <a:rPr lang="en-US" dirty="0" err="1"/>
              <a:t>te</a:t>
            </a:r>
            <a:r>
              <a:rPr lang="en-US" dirty="0"/>
              <a:t>. You can just press</a:t>
            </a:r>
            <a:br>
              <a:rPr lang="en-US" dirty="0"/>
            </a:br>
            <a:r>
              <a:rPr lang="en-US" dirty="0" err="1"/>
              <a:t>emTAB</a:t>
            </a:r>
            <a:r>
              <a:rPr lang="en-US" dirty="0"/>
              <a:t> </a:t>
            </a:r>
            <a:r>
              <a:rPr lang="en-US" dirty="0" err="1"/>
              <a:t>teTAB</a:t>
            </a:r>
            <a:r>
              <a:rPr lang="en-US" dirty="0"/>
              <a:t> to edit it (same as emacs test.txt). If you don't have emacs, install it (sudo apt -y install emacs-</a:t>
            </a:r>
            <a:r>
              <a:rPr lang="en-US" dirty="0" err="1"/>
              <a:t>nox</a:t>
            </a:r>
            <a:r>
              <a:rPr lang="en-US" dirty="0"/>
              <a:t>)</a:t>
            </a:r>
          </a:p>
          <a:p>
            <a:r>
              <a:rPr lang="en-US" dirty="0"/>
              <a:t>Make sure that ÄÖ also work properly. If not, your Putty terminal emulation is probably not set to UTF-8. Some fonts might also now show all characters correctly.</a:t>
            </a:r>
          </a:p>
          <a:p>
            <a:endParaRPr lang="en-US" dirty="0"/>
          </a:p>
          <a:p>
            <a:endParaRPr lang="en-US" dirty="0"/>
          </a:p>
        </p:txBody>
      </p:sp>
    </p:spTree>
    <p:extLst>
      <p:ext uri="{BB962C8B-B14F-4D97-AF65-F5344CB8AC3E}">
        <p14:creationId xmlns:p14="http://schemas.microsoft.com/office/powerpoint/2010/main" val="118430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4D11C56-5FB3-4F76-894B-D153E2035CCF}"/>
              </a:ext>
            </a:extLst>
          </p:cNvPr>
          <p:cNvSpPr>
            <a:spLocks noGrp="1"/>
          </p:cNvSpPr>
          <p:nvPr>
            <p:ph type="title"/>
          </p:nvPr>
        </p:nvSpPr>
        <p:spPr/>
        <p:txBody>
          <a:bodyPr/>
          <a:lstStyle/>
          <a:p>
            <a:r>
              <a:rPr lang="en-US" dirty="0"/>
              <a:t>Bash Shortcuts</a:t>
            </a:r>
          </a:p>
        </p:txBody>
      </p:sp>
      <p:graphicFrame>
        <p:nvGraphicFramePr>
          <p:cNvPr id="5" name="Sisällön paikkamerkki 4">
            <a:extLst>
              <a:ext uri="{FF2B5EF4-FFF2-40B4-BE49-F238E27FC236}">
                <a16:creationId xmlns:a16="http://schemas.microsoft.com/office/drawing/2014/main" id="{1A26C483-E209-4A0F-9B6F-E3689AA3182C}"/>
              </a:ext>
            </a:extLst>
          </p:cNvPr>
          <p:cNvGraphicFramePr>
            <a:graphicFrameLocks noGrp="1"/>
          </p:cNvGraphicFramePr>
          <p:nvPr>
            <p:ph idx="1"/>
            <p:extLst>
              <p:ext uri="{D42A27DB-BD31-4B8C-83A1-F6EECF244321}">
                <p14:modId xmlns:p14="http://schemas.microsoft.com/office/powerpoint/2010/main" val="1589319612"/>
              </p:ext>
            </p:extLst>
          </p:nvPr>
        </p:nvGraphicFramePr>
        <p:xfrm>
          <a:off x="838200" y="1449534"/>
          <a:ext cx="10515600" cy="5176950"/>
        </p:xfrm>
        <a:graphic>
          <a:graphicData uri="http://schemas.openxmlformats.org/drawingml/2006/table">
            <a:tbl>
              <a:tblPr firstRow="1" bandRow="1">
                <a:tableStyleId>{5C22544A-7EE6-4342-B048-85BDC9FD1C3A}</a:tableStyleId>
              </a:tblPr>
              <a:tblGrid>
                <a:gridCol w="1590207">
                  <a:extLst>
                    <a:ext uri="{9D8B030D-6E8A-4147-A177-3AD203B41FA5}">
                      <a16:colId xmlns:a16="http://schemas.microsoft.com/office/drawing/2014/main" val="2369844659"/>
                    </a:ext>
                  </a:extLst>
                </a:gridCol>
                <a:gridCol w="8925393">
                  <a:extLst>
                    <a:ext uri="{9D8B030D-6E8A-4147-A177-3AD203B41FA5}">
                      <a16:colId xmlns:a16="http://schemas.microsoft.com/office/drawing/2014/main" val="3161740906"/>
                    </a:ext>
                  </a:extLst>
                </a:gridCol>
              </a:tblGrid>
              <a:tr h="345130">
                <a:tc>
                  <a:txBody>
                    <a:bodyPr/>
                    <a:lstStyle/>
                    <a:p>
                      <a:r>
                        <a:rPr lang="en-US" sz="1600" dirty="0"/>
                        <a:t>Shortcut</a:t>
                      </a:r>
                    </a:p>
                  </a:txBody>
                  <a:tcPr/>
                </a:tc>
                <a:tc>
                  <a:txBody>
                    <a:bodyPr/>
                    <a:lstStyle/>
                    <a:p>
                      <a:r>
                        <a:rPr lang="en-US" sz="1600" dirty="0"/>
                        <a:t>Explanation</a:t>
                      </a:r>
                    </a:p>
                  </a:txBody>
                  <a:tcPr/>
                </a:tc>
                <a:extLst>
                  <a:ext uri="{0D108BD9-81ED-4DB2-BD59-A6C34878D82A}">
                    <a16:rowId xmlns:a16="http://schemas.microsoft.com/office/drawing/2014/main" val="2250183810"/>
                  </a:ext>
                </a:extLst>
              </a:tr>
              <a:tr h="345130">
                <a:tc>
                  <a:txBody>
                    <a:bodyPr/>
                    <a:lstStyle/>
                    <a:p>
                      <a:r>
                        <a:rPr lang="en-US" sz="1600" dirty="0"/>
                        <a:t>Ctrl-C</a:t>
                      </a:r>
                    </a:p>
                  </a:txBody>
                  <a:tcPr/>
                </a:tc>
                <a:tc>
                  <a:txBody>
                    <a:bodyPr/>
                    <a:lstStyle/>
                    <a:p>
                      <a:r>
                        <a:rPr lang="en-US" sz="1600" dirty="0"/>
                        <a:t>Stop current command</a:t>
                      </a:r>
                    </a:p>
                  </a:txBody>
                  <a:tcPr/>
                </a:tc>
                <a:extLst>
                  <a:ext uri="{0D108BD9-81ED-4DB2-BD59-A6C34878D82A}">
                    <a16:rowId xmlns:a16="http://schemas.microsoft.com/office/drawing/2014/main" val="406134076"/>
                  </a:ext>
                </a:extLst>
              </a:tr>
              <a:tr h="345130">
                <a:tc>
                  <a:txBody>
                    <a:bodyPr/>
                    <a:lstStyle/>
                    <a:p>
                      <a:r>
                        <a:rPr lang="en-US" sz="1600" dirty="0"/>
                        <a:t>Ctrl-D</a:t>
                      </a:r>
                    </a:p>
                  </a:txBody>
                  <a:tcPr/>
                </a:tc>
                <a:tc>
                  <a:txBody>
                    <a:bodyPr/>
                    <a:lstStyle/>
                    <a:p>
                      <a:r>
                        <a:rPr lang="en-US" sz="1600" dirty="0"/>
                        <a:t>End of file (will stop</a:t>
                      </a:r>
                      <a:r>
                        <a:rPr lang="en-US" sz="1600" baseline="0" dirty="0"/>
                        <a:t> certain commands expecting input from standard input)</a:t>
                      </a:r>
                      <a:endParaRPr lang="en-US" sz="1600" dirty="0"/>
                    </a:p>
                  </a:txBody>
                  <a:tcPr/>
                </a:tc>
                <a:extLst>
                  <a:ext uri="{0D108BD9-81ED-4DB2-BD59-A6C34878D82A}">
                    <a16:rowId xmlns:a16="http://schemas.microsoft.com/office/drawing/2014/main" val="10002"/>
                  </a:ext>
                </a:extLst>
              </a:tr>
              <a:tr h="345130">
                <a:tc>
                  <a:txBody>
                    <a:bodyPr/>
                    <a:lstStyle/>
                    <a:p>
                      <a:r>
                        <a:rPr lang="en-US" sz="1600" dirty="0"/>
                        <a:t>Ctrl-Z</a:t>
                      </a:r>
                    </a:p>
                  </a:txBody>
                  <a:tcPr/>
                </a:tc>
                <a:tc>
                  <a:txBody>
                    <a:bodyPr/>
                    <a:lstStyle/>
                    <a:p>
                      <a:r>
                        <a:rPr lang="en-US" sz="1600" dirty="0"/>
                        <a:t>Suspend current command</a:t>
                      </a:r>
                    </a:p>
                  </a:txBody>
                  <a:tcPr/>
                </a:tc>
                <a:extLst>
                  <a:ext uri="{0D108BD9-81ED-4DB2-BD59-A6C34878D82A}">
                    <a16:rowId xmlns:a16="http://schemas.microsoft.com/office/drawing/2014/main" val="2897106599"/>
                  </a:ext>
                </a:extLst>
              </a:tr>
              <a:tr h="345130">
                <a:tc>
                  <a:txBody>
                    <a:bodyPr/>
                    <a:lstStyle/>
                    <a:p>
                      <a:r>
                        <a:rPr lang="en-US" sz="1600" dirty="0" err="1"/>
                        <a:t>fg</a:t>
                      </a:r>
                      <a:endParaRPr lang="en-US" sz="1600" dirty="0"/>
                    </a:p>
                  </a:txBody>
                  <a:tcPr/>
                </a:tc>
                <a:tc>
                  <a:txBody>
                    <a:bodyPr/>
                    <a:lstStyle/>
                    <a:p>
                      <a:r>
                        <a:rPr lang="en-US" sz="1600" dirty="0"/>
                        <a:t>Resume suspended command</a:t>
                      </a:r>
                    </a:p>
                  </a:txBody>
                  <a:tcPr/>
                </a:tc>
                <a:extLst>
                  <a:ext uri="{0D108BD9-81ED-4DB2-BD59-A6C34878D82A}">
                    <a16:rowId xmlns:a16="http://schemas.microsoft.com/office/drawing/2014/main" val="2906736553"/>
                  </a:ext>
                </a:extLst>
              </a:tr>
              <a:tr h="345130">
                <a:tc>
                  <a:txBody>
                    <a:bodyPr/>
                    <a:lstStyle/>
                    <a:p>
                      <a:r>
                        <a:rPr lang="en-US" sz="1600" dirty="0"/>
                        <a:t>Ctrl-A</a:t>
                      </a:r>
                    </a:p>
                  </a:txBody>
                  <a:tcPr/>
                </a:tc>
                <a:tc>
                  <a:txBody>
                    <a:bodyPr/>
                    <a:lstStyle/>
                    <a:p>
                      <a:r>
                        <a:rPr lang="en-US" sz="1600" dirty="0"/>
                        <a:t>Go to start of line</a:t>
                      </a:r>
                    </a:p>
                  </a:txBody>
                  <a:tcPr/>
                </a:tc>
                <a:extLst>
                  <a:ext uri="{0D108BD9-81ED-4DB2-BD59-A6C34878D82A}">
                    <a16:rowId xmlns:a16="http://schemas.microsoft.com/office/drawing/2014/main" val="3091429363"/>
                  </a:ext>
                </a:extLst>
              </a:tr>
              <a:tr h="345130">
                <a:tc>
                  <a:txBody>
                    <a:bodyPr/>
                    <a:lstStyle/>
                    <a:p>
                      <a:r>
                        <a:rPr lang="en-US" sz="1600" dirty="0"/>
                        <a:t>Ctrl-E</a:t>
                      </a:r>
                    </a:p>
                  </a:txBody>
                  <a:tcPr/>
                </a:tc>
                <a:tc>
                  <a:txBody>
                    <a:bodyPr/>
                    <a:lstStyle/>
                    <a:p>
                      <a:r>
                        <a:rPr lang="en-US" sz="1600" dirty="0"/>
                        <a:t>Go to end of line</a:t>
                      </a:r>
                    </a:p>
                  </a:txBody>
                  <a:tcPr/>
                </a:tc>
                <a:extLst>
                  <a:ext uri="{0D108BD9-81ED-4DB2-BD59-A6C34878D82A}">
                    <a16:rowId xmlns:a16="http://schemas.microsoft.com/office/drawing/2014/main" val="150907058"/>
                  </a:ext>
                </a:extLst>
              </a:tr>
              <a:tr h="345130">
                <a:tc>
                  <a:txBody>
                    <a:bodyPr/>
                    <a:lstStyle/>
                    <a:p>
                      <a:r>
                        <a:rPr lang="en-US" sz="1600" dirty="0"/>
                        <a:t>Ctrl-U</a:t>
                      </a:r>
                    </a:p>
                  </a:txBody>
                  <a:tcPr/>
                </a:tc>
                <a:tc>
                  <a:txBody>
                    <a:bodyPr/>
                    <a:lstStyle/>
                    <a:p>
                      <a:r>
                        <a:rPr lang="en-US" sz="1600" dirty="0"/>
                        <a:t>Cut from start of line</a:t>
                      </a:r>
                    </a:p>
                  </a:txBody>
                  <a:tcPr/>
                </a:tc>
                <a:extLst>
                  <a:ext uri="{0D108BD9-81ED-4DB2-BD59-A6C34878D82A}">
                    <a16:rowId xmlns:a16="http://schemas.microsoft.com/office/drawing/2014/main" val="2266756051"/>
                  </a:ext>
                </a:extLst>
              </a:tr>
              <a:tr h="345130">
                <a:tc>
                  <a:txBody>
                    <a:bodyPr/>
                    <a:lstStyle/>
                    <a:p>
                      <a:r>
                        <a:rPr lang="en-US" sz="1600" dirty="0"/>
                        <a:t>Ctrl-K</a:t>
                      </a:r>
                    </a:p>
                  </a:txBody>
                  <a:tcPr/>
                </a:tc>
                <a:tc>
                  <a:txBody>
                    <a:bodyPr/>
                    <a:lstStyle/>
                    <a:p>
                      <a:r>
                        <a:rPr lang="en-US" sz="1600" dirty="0"/>
                        <a:t>Cut to end of line</a:t>
                      </a:r>
                    </a:p>
                  </a:txBody>
                  <a:tcPr/>
                </a:tc>
                <a:extLst>
                  <a:ext uri="{0D108BD9-81ED-4DB2-BD59-A6C34878D82A}">
                    <a16:rowId xmlns:a16="http://schemas.microsoft.com/office/drawing/2014/main" val="2969557329"/>
                  </a:ext>
                </a:extLst>
              </a:tr>
              <a:tr h="345130">
                <a:tc>
                  <a:txBody>
                    <a:bodyPr/>
                    <a:lstStyle/>
                    <a:p>
                      <a:r>
                        <a:rPr lang="en-US" sz="1600" dirty="0"/>
                        <a:t>Ctrl-L</a:t>
                      </a:r>
                    </a:p>
                  </a:txBody>
                  <a:tcPr/>
                </a:tc>
                <a:tc>
                  <a:txBody>
                    <a:bodyPr/>
                    <a:lstStyle/>
                    <a:p>
                      <a:r>
                        <a:rPr lang="en-US" sz="1600" dirty="0"/>
                        <a:t>Clear screen</a:t>
                      </a:r>
                    </a:p>
                  </a:txBody>
                  <a:tcPr/>
                </a:tc>
                <a:extLst>
                  <a:ext uri="{0D108BD9-81ED-4DB2-BD59-A6C34878D82A}">
                    <a16:rowId xmlns:a16="http://schemas.microsoft.com/office/drawing/2014/main" val="195599912"/>
                  </a:ext>
                </a:extLst>
              </a:tr>
              <a:tr h="345130">
                <a:tc>
                  <a:txBody>
                    <a:bodyPr/>
                    <a:lstStyle/>
                    <a:p>
                      <a:r>
                        <a:rPr lang="en-US" sz="1600" dirty="0"/>
                        <a:t>Ctrl-R</a:t>
                      </a:r>
                    </a:p>
                  </a:txBody>
                  <a:tcPr/>
                </a:tc>
                <a:tc>
                  <a:txBody>
                    <a:bodyPr/>
                    <a:lstStyle/>
                    <a:p>
                      <a:r>
                        <a:rPr lang="en-US" sz="1600" dirty="0"/>
                        <a:t>Search history</a:t>
                      </a:r>
                    </a:p>
                  </a:txBody>
                  <a:tcPr/>
                </a:tc>
                <a:extLst>
                  <a:ext uri="{0D108BD9-81ED-4DB2-BD59-A6C34878D82A}">
                    <a16:rowId xmlns:a16="http://schemas.microsoft.com/office/drawing/2014/main" val="4009277450"/>
                  </a:ext>
                </a:extLst>
              </a:tr>
              <a:tr h="345130">
                <a:tc>
                  <a:txBody>
                    <a:bodyPr/>
                    <a:lstStyle/>
                    <a:p>
                      <a:r>
                        <a:rPr lang="en-US" sz="1600" dirty="0"/>
                        <a:t>history</a:t>
                      </a:r>
                    </a:p>
                  </a:txBody>
                  <a:tcPr/>
                </a:tc>
                <a:tc>
                  <a:txBody>
                    <a:bodyPr/>
                    <a:lstStyle/>
                    <a:p>
                      <a:r>
                        <a:rPr lang="en-US" sz="1600" dirty="0"/>
                        <a:t>display command history</a:t>
                      </a:r>
                    </a:p>
                  </a:txBody>
                  <a:tcPr/>
                </a:tc>
                <a:extLst>
                  <a:ext uri="{0D108BD9-81ED-4DB2-BD59-A6C34878D82A}">
                    <a16:rowId xmlns:a16="http://schemas.microsoft.com/office/drawing/2014/main" val="3022434573"/>
                  </a:ext>
                </a:extLst>
              </a:tr>
              <a:tr h="345130">
                <a:tc>
                  <a:txBody>
                    <a:bodyPr/>
                    <a:lstStyle/>
                    <a:p>
                      <a:r>
                        <a:rPr lang="en-US" sz="1600" dirty="0"/>
                        <a:t>!!</a:t>
                      </a:r>
                    </a:p>
                  </a:txBody>
                  <a:tcPr/>
                </a:tc>
                <a:tc>
                  <a:txBody>
                    <a:bodyPr/>
                    <a:lstStyle/>
                    <a:p>
                      <a:r>
                        <a:rPr lang="en-US" sz="1600" dirty="0"/>
                        <a:t>Repeat last command</a:t>
                      </a:r>
                    </a:p>
                  </a:txBody>
                  <a:tcPr/>
                </a:tc>
                <a:extLst>
                  <a:ext uri="{0D108BD9-81ED-4DB2-BD59-A6C34878D82A}">
                    <a16:rowId xmlns:a16="http://schemas.microsoft.com/office/drawing/2014/main" val="2162363665"/>
                  </a:ext>
                </a:extLst>
              </a:tr>
              <a:tr h="345130">
                <a:tc>
                  <a:txBody>
                    <a:bodyPr/>
                    <a:lstStyle/>
                    <a:p>
                      <a:r>
                        <a:rPr lang="en-US" sz="1600" dirty="0"/>
                        <a:t>!</a:t>
                      </a:r>
                      <a:r>
                        <a:rPr lang="en-US" sz="1600" i="1" dirty="0" err="1"/>
                        <a:t>abc</a:t>
                      </a:r>
                      <a:endParaRPr lang="en-US" sz="1600" i="1" dirty="0"/>
                    </a:p>
                  </a:txBody>
                  <a:tcPr/>
                </a:tc>
                <a:tc>
                  <a:txBody>
                    <a:bodyPr/>
                    <a:lstStyle/>
                    <a:p>
                      <a:r>
                        <a:rPr lang="en-US" sz="1600" dirty="0"/>
                        <a:t>Run last command, which begins with </a:t>
                      </a:r>
                      <a:r>
                        <a:rPr lang="en-US" sz="1600" i="1" dirty="0" err="1"/>
                        <a:t>abc</a:t>
                      </a:r>
                      <a:endParaRPr lang="en-US" sz="1600" dirty="0"/>
                    </a:p>
                  </a:txBody>
                  <a:tcPr/>
                </a:tc>
                <a:extLst>
                  <a:ext uri="{0D108BD9-81ED-4DB2-BD59-A6C34878D82A}">
                    <a16:rowId xmlns:a16="http://schemas.microsoft.com/office/drawing/2014/main" val="857941424"/>
                  </a:ext>
                </a:extLst>
              </a:tr>
              <a:tr h="345130">
                <a:tc>
                  <a:txBody>
                    <a:bodyPr/>
                    <a:lstStyle/>
                    <a:p>
                      <a:r>
                        <a:rPr lang="en-US" sz="1600" dirty="0"/>
                        <a:t>!</a:t>
                      </a:r>
                      <a:r>
                        <a:rPr lang="en-US" sz="1600" dirty="0" err="1"/>
                        <a:t>abc:p</a:t>
                      </a:r>
                      <a:endParaRPr lang="en-US" sz="1600" dirty="0"/>
                    </a:p>
                  </a:txBody>
                  <a:tcPr/>
                </a:tc>
                <a:tc>
                  <a:txBody>
                    <a:bodyPr/>
                    <a:lstStyle/>
                    <a:p>
                      <a:r>
                        <a:rPr lang="en-US" sz="1600" dirty="0"/>
                        <a:t>Print last command, which begins with </a:t>
                      </a:r>
                      <a:r>
                        <a:rPr lang="en-US" sz="1600" i="1" dirty="0" err="1"/>
                        <a:t>abc</a:t>
                      </a:r>
                      <a:endParaRPr lang="en-US" sz="1600" dirty="0"/>
                    </a:p>
                  </a:txBody>
                  <a:tcPr/>
                </a:tc>
                <a:extLst>
                  <a:ext uri="{0D108BD9-81ED-4DB2-BD59-A6C34878D82A}">
                    <a16:rowId xmlns:a16="http://schemas.microsoft.com/office/drawing/2014/main" val="983501161"/>
                  </a:ext>
                </a:extLst>
              </a:tr>
            </a:tbl>
          </a:graphicData>
        </a:graphic>
      </p:graphicFrame>
    </p:spTree>
    <p:extLst>
      <p:ext uri="{BB962C8B-B14F-4D97-AF65-F5344CB8AC3E}">
        <p14:creationId xmlns:p14="http://schemas.microsoft.com/office/powerpoint/2010/main" val="579365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FC9EDFB-39E4-4403-9AED-E3553BCB4AF6}"/>
              </a:ext>
            </a:extLst>
          </p:cNvPr>
          <p:cNvSpPr>
            <a:spLocks noGrp="1"/>
          </p:cNvSpPr>
          <p:nvPr>
            <p:ph type="title"/>
          </p:nvPr>
        </p:nvSpPr>
        <p:spPr/>
        <p:txBody>
          <a:bodyPr/>
          <a:lstStyle/>
          <a:p>
            <a:r>
              <a:rPr lang="en-US" b="1" dirty="0"/>
              <a:t>man</a:t>
            </a:r>
            <a:r>
              <a:rPr lang="en-US" dirty="0"/>
              <a:t> - interface to online manuals</a:t>
            </a:r>
          </a:p>
        </p:txBody>
      </p:sp>
      <p:sp>
        <p:nvSpPr>
          <p:cNvPr id="3" name="Sisällön paikkamerkki 2">
            <a:extLst>
              <a:ext uri="{FF2B5EF4-FFF2-40B4-BE49-F238E27FC236}">
                <a16:creationId xmlns:a16="http://schemas.microsoft.com/office/drawing/2014/main" id="{DD13FF2A-F7C6-4C2A-B93E-17720C8CBC42}"/>
              </a:ext>
            </a:extLst>
          </p:cNvPr>
          <p:cNvSpPr>
            <a:spLocks noGrp="1"/>
          </p:cNvSpPr>
          <p:nvPr>
            <p:ph idx="1"/>
          </p:nvPr>
        </p:nvSpPr>
        <p:spPr>
          <a:xfrm>
            <a:off x="838200" y="1825625"/>
            <a:ext cx="10515600" cy="4667250"/>
          </a:xfrm>
        </p:spPr>
        <p:txBody>
          <a:bodyPr>
            <a:normAutofit fontScale="85000" lnSpcReduction="20000"/>
          </a:bodyPr>
          <a:lstStyle/>
          <a:p>
            <a:r>
              <a:rPr lang="en-US" b="1" dirty="0"/>
              <a:t>man</a:t>
            </a:r>
            <a:r>
              <a:rPr lang="en-US" dirty="0"/>
              <a:t> </a:t>
            </a:r>
            <a:r>
              <a:rPr lang="en-US" i="1" dirty="0"/>
              <a:t>[options] </a:t>
            </a:r>
            <a:r>
              <a:rPr lang="en-US" i="1" dirty="0" err="1"/>
              <a:t>manpage</a:t>
            </a:r>
            <a:endParaRPr lang="en-US" i="1" dirty="0"/>
          </a:p>
          <a:p>
            <a:r>
              <a:rPr lang="en-US" dirty="0"/>
              <a:t>man -k </a:t>
            </a:r>
            <a:r>
              <a:rPr lang="en-US" i="1" dirty="0"/>
              <a:t>keyword	</a:t>
            </a:r>
            <a:r>
              <a:rPr lang="en-US" dirty="0"/>
              <a:t>equivalent to apropos command</a:t>
            </a:r>
          </a:p>
          <a:p>
            <a:r>
              <a:rPr lang="en-US" dirty="0"/>
              <a:t>man -f </a:t>
            </a:r>
            <a:r>
              <a:rPr lang="en-US" i="1" dirty="0"/>
              <a:t>what		</a:t>
            </a:r>
            <a:r>
              <a:rPr lang="en-US" dirty="0"/>
              <a:t>equivalent to </a:t>
            </a:r>
            <a:r>
              <a:rPr lang="en-US" dirty="0" err="1"/>
              <a:t>whatis</a:t>
            </a:r>
            <a:r>
              <a:rPr lang="en-US" dirty="0"/>
              <a:t> command</a:t>
            </a:r>
          </a:p>
          <a:p>
            <a:r>
              <a:rPr lang="en-US" dirty="0"/>
              <a:t>keyboard shortcuts while running man</a:t>
            </a:r>
          </a:p>
          <a:p>
            <a:pPr lvl="1"/>
            <a:r>
              <a:rPr lang="en-US" dirty="0"/>
              <a:t>q	quit</a:t>
            </a:r>
          </a:p>
          <a:p>
            <a:pPr lvl="1"/>
            <a:r>
              <a:rPr lang="en-US" dirty="0"/>
              <a:t>space next page</a:t>
            </a:r>
          </a:p>
          <a:p>
            <a:pPr lvl="1"/>
            <a:r>
              <a:rPr lang="en-US" dirty="0"/>
              <a:t>b previous page</a:t>
            </a:r>
          </a:p>
          <a:p>
            <a:pPr lvl="1"/>
            <a:r>
              <a:rPr lang="en-US" dirty="0"/>
              <a:t>/ search</a:t>
            </a:r>
          </a:p>
          <a:p>
            <a:pPr lvl="1"/>
            <a:r>
              <a:rPr lang="en-US" dirty="0"/>
              <a:t>n find next</a:t>
            </a:r>
          </a:p>
          <a:p>
            <a:r>
              <a:rPr lang="en-US" dirty="0"/>
              <a:t>Examples:</a:t>
            </a:r>
          </a:p>
          <a:p>
            <a:pPr lvl="1"/>
            <a:r>
              <a:rPr lang="en-US" dirty="0"/>
              <a:t>man ls</a:t>
            </a:r>
          </a:p>
          <a:p>
            <a:pPr lvl="1"/>
            <a:r>
              <a:rPr lang="en-US" dirty="0"/>
              <a:t>man </a:t>
            </a:r>
            <a:r>
              <a:rPr lang="en-US" dirty="0" err="1"/>
              <a:t>man</a:t>
            </a:r>
            <a:endParaRPr lang="en-US" dirty="0"/>
          </a:p>
          <a:p>
            <a:pPr lvl="1"/>
            <a:r>
              <a:rPr lang="en-US" dirty="0"/>
              <a:t>man -k python</a:t>
            </a:r>
          </a:p>
          <a:p>
            <a:pPr lvl="1"/>
            <a:r>
              <a:rPr lang="en-US" dirty="0"/>
              <a:t>man -f vi</a:t>
            </a:r>
          </a:p>
          <a:p>
            <a:pPr marL="457200" lvl="1" indent="0">
              <a:buNone/>
            </a:pPr>
            <a:endParaRPr lang="en-US" dirty="0"/>
          </a:p>
          <a:p>
            <a:pPr lvl="1"/>
            <a:endParaRPr lang="en-US" dirty="0"/>
          </a:p>
        </p:txBody>
      </p:sp>
    </p:spTree>
    <p:extLst>
      <p:ext uri="{BB962C8B-B14F-4D97-AF65-F5344CB8AC3E}">
        <p14:creationId xmlns:p14="http://schemas.microsoft.com/office/powerpoint/2010/main" val="1755544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47C4669-6FAB-48FF-85D5-AF07F591AE58}"/>
              </a:ext>
            </a:extLst>
          </p:cNvPr>
          <p:cNvSpPr>
            <a:spLocks noGrp="1"/>
          </p:cNvSpPr>
          <p:nvPr>
            <p:ph type="title"/>
          </p:nvPr>
        </p:nvSpPr>
        <p:spPr/>
        <p:txBody>
          <a:bodyPr/>
          <a:lstStyle/>
          <a:p>
            <a:r>
              <a:rPr lang="en-US" b="1" dirty="0"/>
              <a:t>Alias</a:t>
            </a:r>
            <a:r>
              <a:rPr lang="en-US" dirty="0"/>
              <a:t> - Give an Alias Name to Command</a:t>
            </a:r>
          </a:p>
        </p:txBody>
      </p:sp>
      <p:sp>
        <p:nvSpPr>
          <p:cNvPr id="3" name="Sisällön paikkamerkki 2">
            <a:extLst>
              <a:ext uri="{FF2B5EF4-FFF2-40B4-BE49-F238E27FC236}">
                <a16:creationId xmlns:a16="http://schemas.microsoft.com/office/drawing/2014/main" id="{3847101F-26E1-4A83-A9A9-2DD3F8A4CB24}"/>
              </a:ext>
            </a:extLst>
          </p:cNvPr>
          <p:cNvSpPr>
            <a:spLocks noGrp="1"/>
          </p:cNvSpPr>
          <p:nvPr>
            <p:ph idx="1"/>
          </p:nvPr>
        </p:nvSpPr>
        <p:spPr>
          <a:xfrm>
            <a:off x="838200" y="1635972"/>
            <a:ext cx="10515600" cy="4667250"/>
          </a:xfrm>
        </p:spPr>
        <p:txBody>
          <a:bodyPr>
            <a:normAutofit fontScale="62500" lnSpcReduction="20000"/>
          </a:bodyPr>
          <a:lstStyle/>
          <a:p>
            <a:r>
              <a:rPr lang="en-US" dirty="0">
                <a:latin typeface="Courier New" panose="02070309020205020404" pitchFamily="49" charset="0"/>
                <a:cs typeface="Courier New" panose="02070309020205020404" pitchFamily="49" charset="0"/>
              </a:rPr>
              <a:t>alias </a:t>
            </a:r>
            <a:r>
              <a:rPr lang="en-US" dirty="0" err="1">
                <a:latin typeface="Courier New" panose="02070309020205020404" pitchFamily="49" charset="0"/>
                <a:cs typeface="Courier New" panose="02070309020205020404" pitchFamily="49" charset="0"/>
              </a:rPr>
              <a:t>alias_name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command_to_run</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alias # list all </a:t>
            </a:r>
            <a:r>
              <a:rPr lang="en-US" dirty="0" err="1">
                <a:latin typeface="Courier New" panose="02070309020205020404" pitchFamily="49" charset="0"/>
                <a:cs typeface="Courier New" panose="02070309020205020404" pitchFamily="49" charset="0"/>
              </a:rPr>
              <a:t>currenct</a:t>
            </a:r>
            <a:r>
              <a:rPr lang="en-US" dirty="0">
                <a:latin typeface="Courier New" panose="02070309020205020404" pitchFamily="49" charset="0"/>
                <a:cs typeface="Courier New" panose="02070309020205020404" pitchFamily="49" charset="0"/>
              </a:rPr>
              <a:t> alias</a:t>
            </a:r>
          </a:p>
          <a:p>
            <a:r>
              <a:rPr lang="en-US" dirty="0">
                <a:latin typeface="Courier New" panose="02070309020205020404" pitchFamily="49" charset="0"/>
                <a:cs typeface="Courier New" panose="02070309020205020404" pitchFamily="49" charset="0"/>
              </a:rPr>
              <a:t>unalias </a:t>
            </a:r>
            <a:r>
              <a:rPr lang="en-US" dirty="0" err="1">
                <a:latin typeface="Courier New" panose="02070309020205020404" pitchFamily="49" charset="0"/>
                <a:cs typeface="Courier New" panose="02070309020205020404" pitchFamily="49" charset="0"/>
              </a:rPr>
              <a:t>alias_name</a:t>
            </a:r>
            <a:r>
              <a:rPr lang="en-US" dirty="0">
                <a:latin typeface="Courier New" panose="02070309020205020404" pitchFamily="49" charset="0"/>
                <a:cs typeface="Courier New" panose="02070309020205020404" pitchFamily="49" charset="0"/>
              </a:rPr>
              <a:t> # remove alias name</a:t>
            </a:r>
          </a:p>
          <a:p>
            <a:r>
              <a:rPr lang="en-US" dirty="0">
                <a:latin typeface="Courier New" panose="02070309020205020404" pitchFamily="49" charset="0"/>
                <a:cs typeface="Courier New" panose="02070309020205020404" pitchFamily="49" charset="0"/>
              </a:rPr>
              <a:t>alias l='ls -CF'</a:t>
            </a:r>
          </a:p>
          <a:p>
            <a:r>
              <a:rPr lang="en-US" dirty="0">
                <a:latin typeface="Courier New" panose="02070309020205020404" pitchFamily="49" charset="0"/>
                <a:cs typeface="Courier New" panose="02070309020205020404" pitchFamily="49" charset="0"/>
              </a:rPr>
              <a:t>alias la='ls -A'</a:t>
            </a:r>
          </a:p>
          <a:p>
            <a:r>
              <a:rPr lang="en-US" dirty="0">
                <a:latin typeface="Courier New" panose="02070309020205020404" pitchFamily="49" charset="0"/>
                <a:cs typeface="Courier New" panose="02070309020205020404" pitchFamily="49" charset="0"/>
              </a:rPr>
              <a:t>alias </a:t>
            </a:r>
            <a:r>
              <a:rPr lang="en-US" dirty="0" err="1">
                <a:latin typeface="Courier New" panose="02070309020205020404" pitchFamily="49" charset="0"/>
                <a:cs typeface="Courier New" panose="02070309020205020404" pitchFamily="49" charset="0"/>
              </a:rPr>
              <a:t>ll</a:t>
            </a:r>
            <a:r>
              <a:rPr lang="en-US" dirty="0">
                <a:latin typeface="Courier New" panose="02070309020205020404" pitchFamily="49" charset="0"/>
                <a:cs typeface="Courier New" panose="02070309020205020404" pitchFamily="49" charset="0"/>
              </a:rPr>
              <a:t>='ls -</a:t>
            </a:r>
            <a:r>
              <a:rPr lang="en-US" dirty="0" err="1">
                <a:latin typeface="Courier New" panose="02070309020205020404" pitchFamily="49" charset="0"/>
                <a:cs typeface="Courier New" panose="02070309020205020404" pitchFamily="49" charset="0"/>
              </a:rPr>
              <a:t>alF</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alias ls='ls --color=auto'</a:t>
            </a:r>
          </a:p>
          <a:p>
            <a:r>
              <a:rPr lang="en-US" dirty="0">
                <a:latin typeface="Courier New" panose="02070309020205020404" pitchFamily="49" charset="0"/>
                <a:cs typeface="Courier New" panose="02070309020205020404" pitchFamily="49" charset="0"/>
              </a:rPr>
              <a:t>alias </a:t>
            </a:r>
            <a:r>
              <a:rPr lang="en-US" dirty="0" err="1">
                <a:latin typeface="Courier New" panose="02070309020205020404" pitchFamily="49" charset="0"/>
                <a:cs typeface="Courier New" panose="02070309020205020404" pitchFamily="49" charset="0"/>
              </a:rPr>
              <a:t>lt</a:t>
            </a:r>
            <a:r>
              <a:rPr lang="en-US" dirty="0">
                <a:latin typeface="Courier New" panose="02070309020205020404" pitchFamily="49" charset="0"/>
                <a:cs typeface="Courier New" panose="02070309020205020404" pitchFamily="49" charset="0"/>
              </a:rPr>
              <a:t>='ls --human-readable --size -1 -S --classify'</a:t>
            </a:r>
          </a:p>
          <a:p>
            <a:r>
              <a:rPr lang="en-US" dirty="0">
                <a:latin typeface="Courier New" panose="02070309020205020404" pitchFamily="49" charset="0"/>
                <a:cs typeface="Courier New" panose="02070309020205020404" pitchFamily="49" charset="0"/>
              </a:rPr>
              <a:t>alias left='ls -</a:t>
            </a:r>
            <a:r>
              <a:rPr lang="en-US" dirty="0" err="1">
                <a:latin typeface="Courier New" panose="02070309020205020404" pitchFamily="49" charset="0"/>
                <a:cs typeface="Courier New" panose="02070309020205020404" pitchFamily="49" charset="0"/>
              </a:rPr>
              <a:t>lt</a:t>
            </a:r>
            <a:r>
              <a:rPr lang="en-US" dirty="0">
                <a:latin typeface="Courier New" panose="02070309020205020404" pitchFamily="49" charset="0"/>
                <a:cs typeface="Courier New" panose="02070309020205020404" pitchFamily="49" charset="0"/>
              </a:rPr>
              <a:t> -1'</a:t>
            </a:r>
          </a:p>
          <a:p>
            <a:r>
              <a:rPr lang="en-US" dirty="0">
                <a:latin typeface="Courier New" panose="02070309020205020404" pitchFamily="49" charset="0"/>
                <a:cs typeface="Courier New" panose="02070309020205020404" pitchFamily="49" charset="0"/>
              </a:rPr>
              <a:t>alias </a:t>
            </a:r>
            <a:r>
              <a:rPr lang="en-US" dirty="0" err="1">
                <a:latin typeface="Courier New" panose="02070309020205020404" pitchFamily="49" charset="0"/>
                <a:cs typeface="Courier New" panose="02070309020205020404" pitchFamily="49" charset="0"/>
              </a:rPr>
              <a:t>gh</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history|grep</a:t>
            </a:r>
            <a:r>
              <a:rPr lang="en-US" dirty="0">
                <a:latin typeface="Courier New" panose="02070309020205020404" pitchFamily="49" charset="0"/>
                <a:cs typeface="Courier New" panose="02070309020205020404" pitchFamily="49" charset="0"/>
              </a:rPr>
              <a:t>'</a:t>
            </a:r>
            <a:endParaRPr lang="es-ES" dirty="0">
              <a:latin typeface="Courier New" panose="02070309020205020404" pitchFamily="49" charset="0"/>
              <a:cs typeface="Courier New" panose="02070309020205020404" pitchFamily="49" charset="0"/>
            </a:endParaRPr>
          </a:p>
          <a:p>
            <a:r>
              <a:rPr lang="es-ES" dirty="0">
                <a:latin typeface="Courier New" panose="02070309020205020404" pitchFamily="49" charset="0"/>
                <a:cs typeface="Courier New" panose="02070309020205020404" pitchFamily="49" charset="0"/>
              </a:rPr>
              <a:t>alias ve='python3 -m venv ./venv'</a:t>
            </a:r>
          </a:p>
          <a:p>
            <a:r>
              <a:rPr lang="es-ES" dirty="0">
                <a:latin typeface="Courier New" panose="02070309020205020404" pitchFamily="49" charset="0"/>
                <a:cs typeface="Courier New" panose="02070309020205020404" pitchFamily="49" charset="0"/>
              </a:rPr>
              <a:t>alias va='source ./venv/bin/activate'</a:t>
            </a:r>
          </a:p>
          <a:p>
            <a:r>
              <a:rPr lang="es-ES" dirty="0">
                <a:latin typeface="Courier New" panose="02070309020205020404" pitchFamily="49" charset="0"/>
                <a:cs typeface="Courier New" panose="02070309020205020404" pitchFamily="49" charset="0"/>
              </a:rPr>
              <a:t>alias install='sudo apt install -y'</a:t>
            </a:r>
          </a:p>
          <a:p>
            <a:r>
              <a:rPr lang="en-US" dirty="0">
                <a:latin typeface="Courier New" panose="02070309020205020404" pitchFamily="49" charset="0"/>
                <a:cs typeface="Courier New" panose="02070309020205020404" pitchFamily="49" charset="0"/>
              </a:rPr>
              <a:t>alias count='find . -type f | </a:t>
            </a:r>
            <a:r>
              <a:rPr lang="en-US" dirty="0" err="1">
                <a:latin typeface="Courier New" panose="02070309020205020404" pitchFamily="49" charset="0"/>
                <a:cs typeface="Courier New" panose="02070309020205020404" pitchFamily="49" charset="0"/>
              </a:rPr>
              <a:t>wc</a:t>
            </a:r>
            <a:r>
              <a:rPr lang="en-US" dirty="0">
                <a:latin typeface="Courier New" panose="02070309020205020404" pitchFamily="49" charset="0"/>
                <a:cs typeface="Courier New" panose="02070309020205020404" pitchFamily="49" charset="0"/>
              </a:rPr>
              <a:t> -l'</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94585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AFFA244-C8D4-4341-8726-0369FD71A65C}"/>
              </a:ext>
            </a:extLst>
          </p:cNvPr>
          <p:cNvSpPr>
            <a:spLocks noGrp="1"/>
          </p:cNvSpPr>
          <p:nvPr>
            <p:ph type="title"/>
          </p:nvPr>
        </p:nvSpPr>
        <p:spPr/>
        <p:txBody>
          <a:bodyPr/>
          <a:lstStyle/>
          <a:p>
            <a:r>
              <a:rPr lang="en-US" dirty="0"/>
              <a:t>Customize Bash</a:t>
            </a:r>
          </a:p>
        </p:txBody>
      </p:sp>
      <p:sp>
        <p:nvSpPr>
          <p:cNvPr id="3" name="Sisällön paikkamerkki 2">
            <a:extLst>
              <a:ext uri="{FF2B5EF4-FFF2-40B4-BE49-F238E27FC236}">
                <a16:creationId xmlns:a16="http://schemas.microsoft.com/office/drawing/2014/main" id="{5D583AF6-9EB4-4BB6-892F-486DDF3B5999}"/>
              </a:ext>
            </a:extLst>
          </p:cNvPr>
          <p:cNvSpPr>
            <a:spLocks noGrp="1"/>
          </p:cNvSpPr>
          <p:nvPr>
            <p:ph idx="1"/>
          </p:nvPr>
        </p:nvSpPr>
        <p:spPr/>
        <p:txBody>
          <a:bodyPr>
            <a:normAutofit lnSpcReduction="10000"/>
          </a:bodyPr>
          <a:lstStyle/>
          <a:p>
            <a:r>
              <a:rPr lang="en-US" dirty="0"/>
              <a:t>Bash has many </a:t>
            </a:r>
            <a:r>
              <a:rPr lang="en-US" dirty="0">
                <a:hlinkClick r:id="rId2"/>
              </a:rPr>
              <a:t>startup files</a:t>
            </a:r>
            <a:r>
              <a:rPr lang="en-US" dirty="0"/>
              <a:t>:</a:t>
            </a:r>
          </a:p>
          <a:p>
            <a:pPr lvl="1"/>
            <a:r>
              <a:rPr lang="en-US" dirty="0"/>
              <a:t>/</a:t>
            </a:r>
            <a:r>
              <a:rPr lang="en-US" dirty="0" err="1"/>
              <a:t>etc</a:t>
            </a:r>
            <a:r>
              <a:rPr lang="en-US" dirty="0"/>
              <a:t>/profile # run first when invoked as interactive login shell</a:t>
            </a:r>
          </a:p>
          <a:p>
            <a:pPr lvl="1"/>
            <a:r>
              <a:rPr lang="en-US" dirty="0"/>
              <a:t>~/.</a:t>
            </a:r>
            <a:r>
              <a:rPr lang="en-US" dirty="0" err="1"/>
              <a:t>bash_profile</a:t>
            </a:r>
            <a:r>
              <a:rPr lang="en-US" dirty="0"/>
              <a:t> ~/.</a:t>
            </a:r>
            <a:r>
              <a:rPr lang="en-US" dirty="0" err="1"/>
              <a:t>bash_login</a:t>
            </a:r>
            <a:r>
              <a:rPr lang="en-US" dirty="0"/>
              <a:t> and ~/.profile # run next</a:t>
            </a:r>
          </a:p>
          <a:p>
            <a:pPr lvl="1"/>
            <a:r>
              <a:rPr lang="en-US" dirty="0"/>
              <a:t>~/.</a:t>
            </a:r>
            <a:r>
              <a:rPr lang="en-US" dirty="0" err="1"/>
              <a:t>bash_logout</a:t>
            </a:r>
            <a:r>
              <a:rPr lang="en-US" dirty="0"/>
              <a:t> # run when logging out</a:t>
            </a:r>
          </a:p>
          <a:p>
            <a:pPr lvl="1"/>
            <a:r>
              <a:rPr lang="en-US" dirty="0"/>
              <a:t>~/.</a:t>
            </a:r>
            <a:r>
              <a:rPr lang="en-US" dirty="0" err="1"/>
              <a:t>bashrc</a:t>
            </a:r>
            <a:r>
              <a:rPr lang="en-US" dirty="0"/>
              <a:t> # for any shell, put your own aliases, custom prompt etc.</a:t>
            </a:r>
          </a:p>
          <a:p>
            <a:r>
              <a:rPr lang="en-US" dirty="0">
                <a:hlinkClick r:id="rId3"/>
              </a:rPr>
              <a:t>Customize prompt</a:t>
            </a:r>
            <a:r>
              <a:rPr lang="en-US" dirty="0"/>
              <a:t>:</a:t>
            </a:r>
          </a:p>
          <a:p>
            <a:pPr lvl="1"/>
            <a:r>
              <a:rPr lang="en-US" dirty="0">
                <a:latin typeface="Courier New" panose="02070309020205020404" pitchFamily="49" charset="0"/>
                <a:cs typeface="Courier New" panose="02070309020205020404" pitchFamily="49" charset="0"/>
              </a:rPr>
              <a:t>export PS1="My Prompt &gt;"</a:t>
            </a:r>
          </a:p>
          <a:p>
            <a:pPr lvl="1"/>
            <a:r>
              <a:rPr lang="en-US" dirty="0">
                <a:latin typeface="Courier New" panose="02070309020205020404" pitchFamily="49" charset="0"/>
                <a:cs typeface="Courier New" panose="02070309020205020404" pitchFamily="49" charset="0"/>
              </a:rPr>
              <a:t>export PS1="\u@\H&gt;\d % "</a:t>
            </a:r>
          </a:p>
          <a:p>
            <a:pPr lvl="1"/>
            <a:r>
              <a:rPr lang="en-US" dirty="0">
                <a:latin typeface="Courier New" panose="02070309020205020404" pitchFamily="49" charset="0"/>
                <a:cs typeface="Courier New" panose="02070309020205020404" pitchFamily="49" charset="0"/>
              </a:rPr>
              <a:t>export PS1="\u@\h&gt;\t $ "</a:t>
            </a:r>
          </a:p>
          <a:p>
            <a:pPr lvl="1"/>
            <a:r>
              <a:rPr lang="en-US" dirty="0">
                <a:latin typeface="Courier New" panose="02070309020205020404" pitchFamily="49" charset="0"/>
                <a:cs typeface="Courier New" panose="02070309020205020404" pitchFamily="49" charset="0"/>
              </a:rPr>
              <a:t>export PS1="\u@\h&gt;\T &gt; "</a:t>
            </a:r>
          </a:p>
          <a:p>
            <a:pPr lvl="1"/>
            <a:r>
              <a:rPr lang="en-US" dirty="0">
                <a:latin typeface="Courier New" panose="02070309020205020404" pitchFamily="49" charset="0"/>
                <a:cs typeface="Courier New" panose="02070309020205020404" pitchFamily="49" charset="0"/>
              </a:rPr>
              <a:t>export PS1="\u : \w % "</a:t>
            </a:r>
          </a:p>
          <a:p>
            <a:pPr lvl="1"/>
            <a:endParaRPr lang="en-US" dirty="0"/>
          </a:p>
        </p:txBody>
      </p:sp>
    </p:spTree>
    <p:extLst>
      <p:ext uri="{BB962C8B-B14F-4D97-AF65-F5344CB8AC3E}">
        <p14:creationId xmlns:p14="http://schemas.microsoft.com/office/powerpoint/2010/main" val="3449105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E588B65-9FAE-4636-98A3-7EBA1A359BF3}"/>
              </a:ext>
            </a:extLst>
          </p:cNvPr>
          <p:cNvSpPr>
            <a:spLocks noGrp="1"/>
          </p:cNvSpPr>
          <p:nvPr>
            <p:ph type="title"/>
          </p:nvPr>
        </p:nvSpPr>
        <p:spPr/>
        <p:txBody>
          <a:bodyPr/>
          <a:lstStyle/>
          <a:p>
            <a:r>
              <a:rPr lang="en-US" dirty="0"/>
              <a:t>Adding Auto Complete to Bash</a:t>
            </a:r>
          </a:p>
        </p:txBody>
      </p:sp>
      <p:sp>
        <p:nvSpPr>
          <p:cNvPr id="3" name="Sisällön paikkamerkki 2">
            <a:extLst>
              <a:ext uri="{FF2B5EF4-FFF2-40B4-BE49-F238E27FC236}">
                <a16:creationId xmlns:a16="http://schemas.microsoft.com/office/drawing/2014/main" id="{8B7E2C0A-FBDB-4BB7-9C4C-BEA32E43FE57}"/>
              </a:ext>
            </a:extLst>
          </p:cNvPr>
          <p:cNvSpPr>
            <a:spLocks noGrp="1"/>
          </p:cNvSpPr>
          <p:nvPr>
            <p:ph idx="1"/>
          </p:nvPr>
        </p:nvSpPr>
        <p:spPr/>
        <p:txBody>
          <a:bodyPr>
            <a:normAutofit/>
          </a:bodyPr>
          <a:lstStyle/>
          <a:p>
            <a:r>
              <a:rPr lang="en-US" dirty="0"/>
              <a:t>Bash already comes with auto complete (TAB), but it cannot autocomplete command options, Git branches etc.</a:t>
            </a:r>
          </a:p>
          <a:p>
            <a:pPr marL="514350" indent="-514350">
              <a:buFont typeface="+mj-lt"/>
              <a:buAutoNum type="arabicPeriod"/>
            </a:pPr>
            <a:r>
              <a:rPr lang="en-US" dirty="0">
                <a:latin typeface="Courier New" panose="02070309020205020404" pitchFamily="49" charset="0"/>
                <a:cs typeface="Courier New" panose="02070309020205020404" pitchFamily="49" charset="0"/>
              </a:rPr>
              <a:t>sudo apt install -y bash-completion</a:t>
            </a:r>
          </a:p>
          <a:p>
            <a:pPr marL="514350" indent="-514350">
              <a:buFont typeface="+mj-lt"/>
              <a:buAutoNum type="arabicPeriod"/>
            </a:pPr>
            <a:r>
              <a:rPr lang="en-US" dirty="0"/>
              <a:t>add this to your ~/.</a:t>
            </a:r>
            <a:r>
              <a:rPr lang="en-US" dirty="0" err="1"/>
              <a:t>bashrc</a:t>
            </a:r>
            <a:endParaRPr lang="en-US" dirty="0"/>
          </a:p>
          <a:p>
            <a:pPr marL="457200" lvl="1" indent="0">
              <a:buNone/>
            </a:pPr>
            <a:r>
              <a:rPr lang="en-US" dirty="0">
                <a:latin typeface="Courier New" panose="02070309020205020404" pitchFamily="49" charset="0"/>
                <a:cs typeface="Courier New" panose="02070309020205020404" pitchFamily="49" charset="0"/>
              </a:rPr>
              <a:t>if [ -f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bash_completion</a:t>
            </a:r>
            <a:r>
              <a:rPr lang="en-US" dirty="0">
                <a:latin typeface="Courier New" panose="02070309020205020404" pitchFamily="49" charset="0"/>
                <a:cs typeface="Courier New" panose="02070309020205020404" pitchFamily="49" charset="0"/>
              </a:rPr>
              <a:t> ]; then</a:t>
            </a:r>
          </a:p>
          <a:p>
            <a:pPr marL="457200" lvl="1" indent="0">
              <a:buNone/>
            </a:pPr>
            <a:r>
              <a:rPr lang="en-US" dirty="0">
                <a:latin typeface="Courier New" panose="02070309020205020404" pitchFamily="49" charset="0"/>
                <a:cs typeface="Courier New" panose="02070309020205020404" pitchFamily="49" charset="0"/>
              </a:rPr>
              <a:t>    source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bash_completion</a:t>
            </a: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fi</a:t>
            </a:r>
          </a:p>
          <a:p>
            <a:pPr marL="514350" indent="-514350">
              <a:buFont typeface="+mj-lt"/>
              <a:buAutoNum type="arabicPeriod"/>
            </a:pPr>
            <a:r>
              <a:rPr lang="en-US" dirty="0"/>
              <a:t>restart bash shell</a:t>
            </a:r>
          </a:p>
        </p:txBody>
      </p:sp>
    </p:spTree>
    <p:extLst>
      <p:ext uri="{BB962C8B-B14F-4D97-AF65-F5344CB8AC3E}">
        <p14:creationId xmlns:p14="http://schemas.microsoft.com/office/powerpoint/2010/main" val="2064209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2EC09D5-2E1F-4378-ADA6-03D818224B26}"/>
              </a:ext>
            </a:extLst>
          </p:cNvPr>
          <p:cNvSpPr>
            <a:spLocks noGrp="1"/>
          </p:cNvSpPr>
          <p:nvPr>
            <p:ph type="title"/>
          </p:nvPr>
        </p:nvSpPr>
        <p:spPr/>
        <p:txBody>
          <a:bodyPr/>
          <a:lstStyle/>
          <a:p>
            <a:r>
              <a:rPr lang="en-US" dirty="0"/>
              <a:t>System Maintenance</a:t>
            </a:r>
          </a:p>
        </p:txBody>
      </p:sp>
      <p:sp>
        <p:nvSpPr>
          <p:cNvPr id="3" name="Sisällön paikkamerkki 2">
            <a:extLst>
              <a:ext uri="{FF2B5EF4-FFF2-40B4-BE49-F238E27FC236}">
                <a16:creationId xmlns:a16="http://schemas.microsoft.com/office/drawing/2014/main" id="{304C1C46-AB7E-4159-8B02-82E4992E920E}"/>
              </a:ext>
            </a:extLst>
          </p:cNvPr>
          <p:cNvSpPr>
            <a:spLocks noGrp="1"/>
          </p:cNvSpPr>
          <p:nvPr>
            <p:ph idx="1"/>
          </p:nvPr>
        </p:nvSpPr>
        <p:spPr/>
        <p:txBody>
          <a:bodyPr>
            <a:normAutofit fontScale="92500" lnSpcReduction="10000"/>
          </a:bodyPr>
          <a:lstStyle/>
          <a:p>
            <a:r>
              <a:rPr lang="en-US" sz="2400" dirty="0">
                <a:latin typeface="Courier New" panose="02070309020205020404" pitchFamily="49" charset="0"/>
                <a:cs typeface="Courier New" panose="02070309020205020404" pitchFamily="49" charset="0"/>
              </a:rPr>
              <a:t>sudo reboot				# restart system</a:t>
            </a:r>
          </a:p>
          <a:p>
            <a:r>
              <a:rPr lang="en-US" sz="2400" dirty="0">
                <a:latin typeface="Courier New" panose="02070309020205020404" pitchFamily="49" charset="0"/>
                <a:cs typeface="Courier New" panose="02070309020205020404" pitchFamily="49" charset="0"/>
              </a:rPr>
              <a:t>sudo service name start		# start named service</a:t>
            </a:r>
          </a:p>
          <a:p>
            <a:r>
              <a:rPr lang="en-US" sz="2400" dirty="0">
                <a:latin typeface="Courier New" panose="02070309020205020404" pitchFamily="49" charset="0"/>
                <a:cs typeface="Courier New" panose="02070309020205020404" pitchFamily="49" charset="0"/>
              </a:rPr>
              <a:t>sudo service name restart		# start named service</a:t>
            </a:r>
          </a:p>
          <a:p>
            <a:r>
              <a:rPr lang="en-US" sz="2400" dirty="0">
                <a:latin typeface="Courier New" panose="02070309020205020404" pitchFamily="49" charset="0"/>
                <a:cs typeface="Courier New" panose="02070309020205020404" pitchFamily="49" charset="0"/>
              </a:rPr>
              <a:t>sudo service name status		# check if service running</a:t>
            </a:r>
          </a:p>
          <a:p>
            <a:r>
              <a:rPr lang="en-US" sz="2400" dirty="0">
                <a:latin typeface="Courier New" panose="02070309020205020404" pitchFamily="49" charset="0"/>
                <a:cs typeface="Courier New" panose="02070309020205020404" pitchFamily="49" charset="0"/>
              </a:rPr>
              <a:t>sudo service name stop		# stop named service</a:t>
            </a:r>
          </a:p>
          <a:p>
            <a:r>
              <a:rPr lang="en-US" sz="2400" dirty="0">
                <a:latin typeface="Courier New" panose="02070309020205020404" pitchFamily="49" charset="0"/>
                <a:cs typeface="Courier New" panose="02070309020205020404" pitchFamily="49" charset="0"/>
              </a:rPr>
              <a:t>sudo </a:t>
            </a:r>
            <a:r>
              <a:rPr lang="en-US" sz="2400" dirty="0" err="1">
                <a:latin typeface="Courier New" panose="02070309020205020404" pitchFamily="49" charset="0"/>
                <a:cs typeface="Courier New" panose="02070309020205020404" pitchFamily="49" charset="0"/>
              </a:rPr>
              <a:t>systemctl</a:t>
            </a:r>
            <a:r>
              <a:rPr lang="en-US" sz="2400" dirty="0">
                <a:latin typeface="Courier New" panose="02070309020205020404" pitchFamily="49" charset="0"/>
                <a:cs typeface="Courier New" panose="02070309020205020404" pitchFamily="49" charset="0"/>
              </a:rPr>
              <a:t> start name		# start named service</a:t>
            </a:r>
          </a:p>
          <a:p>
            <a:r>
              <a:rPr lang="en-US" sz="2400" dirty="0">
                <a:latin typeface="Courier New" panose="02070309020205020404" pitchFamily="49" charset="0"/>
                <a:cs typeface="Courier New" panose="02070309020205020404" pitchFamily="49" charset="0"/>
              </a:rPr>
              <a:t>sudo </a:t>
            </a:r>
            <a:r>
              <a:rPr lang="en-US" sz="2400" dirty="0" err="1">
                <a:latin typeface="Courier New" panose="02070309020205020404" pitchFamily="49" charset="0"/>
                <a:cs typeface="Courier New" panose="02070309020205020404" pitchFamily="49" charset="0"/>
              </a:rPr>
              <a:t>systemctl</a:t>
            </a:r>
            <a:r>
              <a:rPr lang="en-US" sz="2400" dirty="0">
                <a:latin typeface="Courier New" panose="02070309020205020404" pitchFamily="49" charset="0"/>
                <a:cs typeface="Courier New" panose="02070309020205020404" pitchFamily="49" charset="0"/>
              </a:rPr>
              <a:t> stop name		# stop named service</a:t>
            </a:r>
          </a:p>
          <a:p>
            <a:r>
              <a:rPr lang="en-US" sz="2400" dirty="0">
                <a:latin typeface="Courier New" panose="02070309020205020404" pitchFamily="49" charset="0"/>
                <a:cs typeface="Courier New" panose="02070309020205020404" pitchFamily="49" charset="0"/>
              </a:rPr>
              <a:t>sudo </a:t>
            </a:r>
            <a:r>
              <a:rPr lang="en-US" sz="2400" dirty="0" err="1">
                <a:latin typeface="Courier New" panose="02070309020205020404" pitchFamily="49" charset="0"/>
                <a:cs typeface="Courier New" panose="02070309020205020404" pitchFamily="49" charset="0"/>
              </a:rPr>
              <a:t>systemctl</a:t>
            </a:r>
            <a:r>
              <a:rPr lang="en-US" sz="2400" dirty="0">
                <a:latin typeface="Courier New" panose="02070309020205020404" pitchFamily="49" charset="0"/>
                <a:cs typeface="Courier New" panose="02070309020205020404" pitchFamily="49" charset="0"/>
              </a:rPr>
              <a:t> status name 	# check if service running</a:t>
            </a:r>
          </a:p>
          <a:p>
            <a:r>
              <a:rPr lang="en-US" sz="2400" dirty="0">
                <a:latin typeface="Courier New" panose="02070309020205020404" pitchFamily="49" charset="0"/>
                <a:cs typeface="Courier New" panose="02070309020205020404" pitchFamily="49" charset="0"/>
              </a:rPr>
              <a:t>sudo </a:t>
            </a:r>
            <a:r>
              <a:rPr lang="en-US" sz="2400" dirty="0" err="1">
                <a:latin typeface="Courier New" panose="02070309020205020404" pitchFamily="49" charset="0"/>
                <a:cs typeface="Courier New" panose="02070309020205020404" pitchFamily="49" charset="0"/>
              </a:rPr>
              <a:t>apachectl</a:t>
            </a:r>
            <a:r>
              <a:rPr lang="en-US" sz="2400" dirty="0">
                <a:latin typeface="Courier New" panose="02070309020205020404" pitchFamily="49" charset="0"/>
                <a:cs typeface="Courier New" panose="02070309020205020404" pitchFamily="49" charset="0"/>
              </a:rPr>
              <a:t> -k restart		# restart apache</a:t>
            </a:r>
          </a:p>
          <a:p>
            <a:r>
              <a:rPr lang="en-US" sz="2400" dirty="0">
                <a:latin typeface="Courier New" panose="02070309020205020404" pitchFamily="49" charset="0"/>
                <a:cs typeface="Courier New" panose="02070309020205020404" pitchFamily="49" charset="0"/>
              </a:rPr>
              <a:t>sudo </a:t>
            </a:r>
            <a:r>
              <a:rPr lang="en-US" sz="2400" dirty="0" err="1">
                <a:latin typeface="Courier New" panose="02070309020205020404" pitchFamily="49" charset="0"/>
                <a:cs typeface="Courier New" panose="02070309020205020404" pitchFamily="49" charset="0"/>
              </a:rPr>
              <a:t>apachectl</a:t>
            </a:r>
            <a:r>
              <a:rPr lang="en-US" sz="2400" dirty="0">
                <a:latin typeface="Courier New" panose="02070309020205020404" pitchFamily="49" charset="0"/>
                <a:cs typeface="Courier New" panose="02070309020205020404" pitchFamily="49" charset="0"/>
              </a:rPr>
              <a:t> -k stop		# stop apache2</a:t>
            </a:r>
          </a:p>
          <a:p>
            <a:r>
              <a:rPr lang="fr-FR" sz="2400" dirty="0">
                <a:latin typeface="Courier New" panose="02070309020205020404" pitchFamily="49" charset="0"/>
                <a:cs typeface="Courier New" panose="02070309020205020404" pitchFamily="49" charset="0"/>
              </a:rPr>
              <a:t>sudo /etc/init.d/apache2 restart	# restart apache2</a:t>
            </a:r>
            <a:endParaRPr lang="en-US" sz="2400" dirty="0">
              <a:latin typeface="Courier New" panose="02070309020205020404" pitchFamily="49" charset="0"/>
              <a:cs typeface="Courier New" panose="02070309020205020404" pitchFamily="49" charset="0"/>
            </a:endParaRPr>
          </a:p>
          <a:p>
            <a:endParaRPr lang="en-US" sz="2400" dirty="0">
              <a:latin typeface="Courier New" panose="02070309020205020404" pitchFamily="49" charset="0"/>
              <a:cs typeface="Courier New" panose="02070309020205020404" pitchFamily="49" charset="0"/>
            </a:endParaRPr>
          </a:p>
          <a:p>
            <a:endParaRPr lang="en-US" sz="2400" dirty="0">
              <a:latin typeface="Courier New" panose="02070309020205020404" pitchFamily="49" charset="0"/>
              <a:cs typeface="Courier New" panose="02070309020205020404" pitchFamily="49" charset="0"/>
            </a:endParaRPr>
          </a:p>
          <a:p>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1955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2DD57B6-7DE3-4810-AC84-96907DBD23E0}"/>
              </a:ext>
            </a:extLst>
          </p:cNvPr>
          <p:cNvSpPr>
            <a:spLocks noGrp="1"/>
          </p:cNvSpPr>
          <p:nvPr>
            <p:ph type="title"/>
          </p:nvPr>
        </p:nvSpPr>
        <p:spPr/>
        <p:txBody>
          <a:bodyPr/>
          <a:lstStyle/>
          <a:p>
            <a:r>
              <a:rPr lang="en-US" dirty="0"/>
              <a:t>Shell Special Characters and file Paths</a:t>
            </a:r>
          </a:p>
        </p:txBody>
      </p:sp>
      <p:sp>
        <p:nvSpPr>
          <p:cNvPr id="3" name="Sisällön paikkamerkki 2">
            <a:extLst>
              <a:ext uri="{FF2B5EF4-FFF2-40B4-BE49-F238E27FC236}">
                <a16:creationId xmlns:a16="http://schemas.microsoft.com/office/drawing/2014/main" id="{69F1C443-034D-4C39-87AB-DFE666165A90}"/>
              </a:ext>
            </a:extLst>
          </p:cNvPr>
          <p:cNvSpPr>
            <a:spLocks noGrp="1"/>
          </p:cNvSpPr>
          <p:nvPr>
            <p:ph idx="1"/>
          </p:nvPr>
        </p:nvSpPr>
        <p:spPr>
          <a:xfrm>
            <a:off x="838200" y="1825624"/>
            <a:ext cx="10515600" cy="4557505"/>
          </a:xfrm>
        </p:spPr>
        <p:txBody>
          <a:bodyPr>
            <a:normAutofit fontScale="62500" lnSpcReduction="20000"/>
          </a:bodyPr>
          <a:lstStyle/>
          <a:p>
            <a:r>
              <a:rPr lang="en-US" dirty="0">
                <a:latin typeface="Courier New" panose="02070309020205020404" pitchFamily="49" charset="0"/>
                <a:cs typeface="Courier New" panose="02070309020205020404" pitchFamily="49" charset="0"/>
              </a:rPr>
              <a:t>.			current folder</a:t>
            </a:r>
          </a:p>
          <a:p>
            <a:r>
              <a:rPr lang="en-US" dirty="0">
                <a:latin typeface="Courier New" panose="02070309020205020404" pitchFamily="49" charset="0"/>
                <a:cs typeface="Courier New" panose="02070309020205020404" pitchFamily="49" charset="0"/>
              </a:rPr>
              <a:t>/			root directory</a:t>
            </a:r>
          </a:p>
          <a:p>
            <a:r>
              <a:rPr lang="en-US" dirty="0">
                <a:latin typeface="Courier New" panose="02070309020205020404" pitchFamily="49" charset="0"/>
                <a:cs typeface="Courier New" panose="02070309020205020404" pitchFamily="49" charset="0"/>
              </a:rPr>
              <a:t>folder/file		/ folder separator  </a:t>
            </a:r>
          </a:p>
          <a:p>
            <a:r>
              <a:rPr lang="en-US" dirty="0">
                <a:latin typeface="Courier New" panose="02070309020205020404" pitchFamily="49" charset="0"/>
                <a:cs typeface="Courier New" panose="02070309020205020404" pitchFamily="49" charset="0"/>
              </a:rPr>
              <a:t>./file		file in current folder</a:t>
            </a:r>
          </a:p>
          <a:p>
            <a:r>
              <a:rPr lang="en-US" dirty="0">
                <a:latin typeface="Courier New" panose="02070309020205020404" pitchFamily="49" charset="0"/>
                <a:cs typeface="Courier New" panose="02070309020205020404" pitchFamily="49" charset="0"/>
              </a:rPr>
              <a:t>..			parent folder</a:t>
            </a:r>
          </a:p>
          <a:p>
            <a:r>
              <a:rPr lang="en-US" dirty="0">
                <a:latin typeface="Courier New" panose="02070309020205020404" pitchFamily="49" charset="0"/>
                <a:cs typeface="Courier New" panose="02070309020205020404" pitchFamily="49" charset="0"/>
              </a:rPr>
              <a:t>../file		file in parent folder</a:t>
            </a:r>
          </a:p>
          <a:p>
            <a:r>
              <a:rPr lang="en-US" dirty="0">
                <a:latin typeface="Courier New" panose="02070309020205020404" pitchFamily="49" charset="0"/>
                <a:cs typeface="Courier New" panose="02070309020205020404" pitchFamily="49" charset="0"/>
              </a:rPr>
              <a:t>~			home directory ($HOME)</a:t>
            </a:r>
          </a:p>
          <a:p>
            <a:r>
              <a:rPr lang="en-US" dirty="0">
                <a:latin typeface="Courier New" panose="02070309020205020404" pitchFamily="49" charset="0"/>
                <a:cs typeface="Courier New" panose="02070309020205020404" pitchFamily="49" charset="0"/>
              </a:rPr>
              <a:t>&amp;			execute in background</a:t>
            </a:r>
          </a:p>
          <a:p>
            <a:r>
              <a:rPr lang="en-US" dirty="0">
                <a:latin typeface="Courier New" panose="02070309020205020404" pitchFamily="49" charset="0"/>
                <a:cs typeface="Courier New" panose="02070309020205020404" pitchFamily="49" charset="0"/>
              </a:rPr>
              <a:t>*			any string (even empty) e.g. *.txt</a:t>
            </a:r>
          </a:p>
          <a:p>
            <a:r>
              <a:rPr lang="en-US" dirty="0">
                <a:latin typeface="Courier New" panose="02070309020205020404" pitchFamily="49" charset="0"/>
                <a:cs typeface="Courier New" panose="02070309020205020404" pitchFamily="49" charset="0"/>
              </a:rPr>
              <a:t>?			Any character e.g. </a:t>
            </a:r>
            <a:r>
              <a:rPr lang="en-US" dirty="0" err="1">
                <a:latin typeface="Courier New" panose="02070309020205020404" pitchFamily="49" charset="0"/>
                <a:cs typeface="Courier New" panose="02070309020205020404" pitchFamily="49" charset="0"/>
              </a:rPr>
              <a:t>pic?.jpg</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character range e.g. pic[0-9].jpg</a:t>
            </a:r>
          </a:p>
          <a:p>
            <a:r>
              <a:rPr lang="en-US" dirty="0">
                <a:latin typeface="Courier New" panose="02070309020205020404" pitchFamily="49" charset="0"/>
                <a:cs typeface="Courier New" panose="02070309020205020404" pitchFamily="49" charset="0"/>
              </a:rPr>
              <a:t>;			separate commands</a:t>
            </a:r>
          </a:p>
          <a:p>
            <a:r>
              <a:rPr lang="en-US" dirty="0">
                <a:latin typeface="Courier New" panose="02070309020205020404" pitchFamily="49" charset="0"/>
                <a:cs typeface="Courier New" panose="02070309020205020404" pitchFamily="49" charset="0"/>
              </a:rPr>
              <a:t># comment		comment</a:t>
            </a:r>
          </a:p>
          <a:p>
            <a:r>
              <a:rPr lang="en-US" dirty="0">
                <a:latin typeface="Courier New" panose="02070309020205020404" pitchFamily="49" charset="0"/>
                <a:cs typeface="Courier New" panose="02070309020205020404" pitchFamily="49" charset="0"/>
              </a:rPr>
              <a:t>&gt; file		redirect standard output to file</a:t>
            </a:r>
          </a:p>
        </p:txBody>
      </p:sp>
    </p:spTree>
    <p:extLst>
      <p:ext uri="{BB962C8B-B14F-4D97-AF65-F5344CB8AC3E}">
        <p14:creationId xmlns:p14="http://schemas.microsoft.com/office/powerpoint/2010/main" val="1477291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BC0F652-E76E-44FB-90C7-A1F643424707}"/>
              </a:ext>
            </a:extLst>
          </p:cNvPr>
          <p:cNvSpPr>
            <a:spLocks noGrp="1"/>
          </p:cNvSpPr>
          <p:nvPr>
            <p:ph type="title"/>
          </p:nvPr>
        </p:nvSpPr>
        <p:spPr/>
        <p:txBody>
          <a:bodyPr/>
          <a:lstStyle/>
          <a:p>
            <a:r>
              <a:rPr lang="en-US" b="1" dirty="0"/>
              <a:t>cd</a:t>
            </a:r>
            <a:r>
              <a:rPr lang="en-US" dirty="0"/>
              <a:t> - Change Directory</a:t>
            </a:r>
          </a:p>
        </p:txBody>
      </p:sp>
      <p:sp>
        <p:nvSpPr>
          <p:cNvPr id="3" name="Sisällön paikkamerkki 2">
            <a:extLst>
              <a:ext uri="{FF2B5EF4-FFF2-40B4-BE49-F238E27FC236}">
                <a16:creationId xmlns:a16="http://schemas.microsoft.com/office/drawing/2014/main" id="{E5D05A5A-A512-4F35-974B-0DBEF4AE2631}"/>
              </a:ext>
            </a:extLst>
          </p:cNvPr>
          <p:cNvSpPr>
            <a:spLocks noGrp="1"/>
          </p:cNvSpPr>
          <p:nvPr>
            <p:ph idx="1"/>
          </p:nvPr>
        </p:nvSpPr>
        <p:spPr>
          <a:xfrm>
            <a:off x="838200" y="1825624"/>
            <a:ext cx="10515600" cy="4778375"/>
          </a:xfrm>
        </p:spPr>
        <p:txBody>
          <a:bodyPr>
            <a:normAutofit fontScale="92500" lnSpcReduction="10000"/>
          </a:bodyPr>
          <a:lstStyle/>
          <a:p>
            <a:r>
              <a:rPr lang="en-US" dirty="0">
                <a:latin typeface="Courier New" panose="02070309020205020404" pitchFamily="49" charset="0"/>
                <a:cs typeface="Courier New" panose="02070309020205020404" pitchFamily="49" charset="0"/>
              </a:rPr>
              <a:t>cd path			go to path</a:t>
            </a:r>
          </a:p>
          <a:p>
            <a:r>
              <a:rPr lang="en-US" dirty="0">
                <a:latin typeface="Courier New" panose="02070309020205020404" pitchFamily="49" charset="0"/>
                <a:cs typeface="Courier New" panose="02070309020205020404" pitchFamily="49" charset="0"/>
              </a:rPr>
              <a:t>cd ..			go to parent directory</a:t>
            </a:r>
          </a:p>
          <a:p>
            <a:r>
              <a:rPr lang="en-US" dirty="0">
                <a:latin typeface="Courier New" panose="02070309020205020404" pitchFamily="49" charset="0"/>
                <a:cs typeface="Courier New" panose="02070309020205020404" pitchFamily="49" charset="0"/>
              </a:rPr>
              <a:t>cd ../..			go to grand parent directory</a:t>
            </a:r>
          </a:p>
          <a:p>
            <a:r>
              <a:rPr lang="en-US" dirty="0">
                <a:latin typeface="Courier New" panose="02070309020205020404" pitchFamily="49" charset="0"/>
                <a:cs typeface="Courier New" panose="02070309020205020404" pitchFamily="49" charset="0"/>
              </a:rPr>
              <a:t>cd				go to home directory</a:t>
            </a:r>
          </a:p>
          <a:p>
            <a:r>
              <a:rPr lang="en-US" dirty="0">
                <a:latin typeface="Courier New" panose="02070309020205020404" pitchFamily="49" charset="0"/>
                <a:cs typeface="Courier New" panose="02070309020205020404" pitchFamily="49" charset="0"/>
              </a:rPr>
              <a:t>cd ~			go to home directory</a:t>
            </a:r>
          </a:p>
          <a:p>
            <a:r>
              <a:rPr lang="en-US" dirty="0">
                <a:latin typeface="Courier New" panose="02070309020205020404" pitchFamily="49" charset="0"/>
                <a:cs typeface="Courier New" panose="02070309020205020404" pitchFamily="49" charset="0"/>
              </a:rPr>
              <a:t>cd $HOME			go to home directory</a:t>
            </a:r>
          </a:p>
          <a:p>
            <a:r>
              <a:rPr lang="en-US" dirty="0">
                <a:latin typeface="Courier New" panose="02070309020205020404" pitchFamily="49" charset="0"/>
                <a:cs typeface="Courier New" panose="02070309020205020404" pitchFamily="49" charset="0"/>
              </a:rPr>
              <a:t>cd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			go to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cd - 			go to previously chosen directory</a:t>
            </a:r>
          </a:p>
          <a:p>
            <a:r>
              <a:rPr lang="en-US" dirty="0">
                <a:latin typeface="Courier New" panose="02070309020205020404" pitchFamily="49" charset="0"/>
                <a:cs typeface="Courier New" panose="02070309020205020404" pitchFamily="49" charset="0"/>
              </a:rPr>
              <a:t>cd "My Folder"	go to directory My Folder</a:t>
            </a:r>
          </a:p>
          <a:p>
            <a:r>
              <a:rPr lang="en-US" dirty="0">
                <a:latin typeface="Courier New" panose="02070309020205020404" pitchFamily="49" charset="0"/>
                <a:cs typeface="Courier New" panose="02070309020205020404" pitchFamily="49" charset="0"/>
              </a:rPr>
              <a:t>cd My\ Folder/	go to directory My Folder</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52280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F6137B8-4B91-406C-8BC5-C820F9C72057}"/>
              </a:ext>
            </a:extLst>
          </p:cNvPr>
          <p:cNvSpPr>
            <a:spLocks noGrp="1"/>
          </p:cNvSpPr>
          <p:nvPr>
            <p:ph type="title"/>
          </p:nvPr>
        </p:nvSpPr>
        <p:spPr/>
        <p:txBody>
          <a:bodyPr/>
          <a:lstStyle/>
          <a:p>
            <a:r>
              <a:rPr lang="en-US" b="1" dirty="0"/>
              <a:t>ls</a:t>
            </a:r>
            <a:r>
              <a:rPr lang="en-US" dirty="0"/>
              <a:t> - list files</a:t>
            </a:r>
          </a:p>
        </p:txBody>
      </p:sp>
      <p:sp>
        <p:nvSpPr>
          <p:cNvPr id="3" name="Sisällön paikkamerkki 2">
            <a:extLst>
              <a:ext uri="{FF2B5EF4-FFF2-40B4-BE49-F238E27FC236}">
                <a16:creationId xmlns:a16="http://schemas.microsoft.com/office/drawing/2014/main" id="{1DDCB6B0-492F-4F36-AEA7-203C419583D2}"/>
              </a:ext>
            </a:extLst>
          </p:cNvPr>
          <p:cNvSpPr>
            <a:spLocks noGrp="1"/>
          </p:cNvSpPr>
          <p:nvPr>
            <p:ph idx="1"/>
          </p:nvPr>
        </p:nvSpPr>
        <p:spPr>
          <a:xfrm>
            <a:off x="838200" y="1825625"/>
            <a:ext cx="10515600" cy="4667250"/>
          </a:xfrm>
        </p:spPr>
        <p:txBody>
          <a:bodyPr>
            <a:normAutofit fontScale="62500" lnSpcReduction="20000"/>
          </a:bodyPr>
          <a:lstStyle/>
          <a:p>
            <a:r>
              <a:rPr lang="en-US" dirty="0"/>
              <a:t>ls [options] [files]</a:t>
            </a:r>
          </a:p>
          <a:p>
            <a:r>
              <a:rPr lang="en-US" dirty="0"/>
              <a:t>-a		all files</a:t>
            </a:r>
          </a:p>
          <a:p>
            <a:r>
              <a:rPr lang="en-US" dirty="0"/>
              <a:t>-l		show file/directory, modified time, owner, group, rights, size</a:t>
            </a:r>
          </a:p>
          <a:p>
            <a:r>
              <a:rPr lang="en-US" dirty="0"/>
              <a:t>-h		human readable format for file sizes</a:t>
            </a:r>
          </a:p>
          <a:p>
            <a:r>
              <a:rPr lang="en-US" dirty="0"/>
              <a:t>-F		put / at the end of folder names</a:t>
            </a:r>
          </a:p>
          <a:p>
            <a:r>
              <a:rPr lang="en-US" dirty="0"/>
              <a:t>-r		list in reverse order</a:t>
            </a:r>
          </a:p>
          <a:p>
            <a:r>
              <a:rPr lang="en-US" dirty="0"/>
              <a:t>-R 		recursive all subdirectories</a:t>
            </a:r>
          </a:p>
          <a:p>
            <a:r>
              <a:rPr lang="en-US" dirty="0"/>
              <a:t>-S		sort by file size</a:t>
            </a:r>
          </a:p>
          <a:p>
            <a:r>
              <a:rPr lang="en-US" dirty="0">
                <a:latin typeface="Courier New" panose="02070309020205020404" pitchFamily="49" charset="0"/>
                <a:cs typeface="Courier New" panose="02070309020205020404" pitchFamily="49" charset="0"/>
              </a:rPr>
              <a:t>ls -</a:t>
            </a:r>
            <a:r>
              <a:rPr lang="en-US" dirty="0" err="1">
                <a:latin typeface="Courier New" panose="02070309020205020404" pitchFamily="49" charset="0"/>
                <a:cs typeface="Courier New" panose="02070309020205020404" pitchFamily="49" charset="0"/>
              </a:rPr>
              <a:t>laF</a:t>
            </a:r>
            <a:r>
              <a:rPr lang="en-US" dirty="0">
                <a:latin typeface="Courier New" panose="02070309020205020404" pitchFamily="49" charset="0"/>
                <a:cs typeface="Courier New" panose="02070309020205020404" pitchFamily="49" charset="0"/>
              </a:rPr>
              <a:t>		# list all files with information and / for directories</a:t>
            </a:r>
          </a:p>
          <a:p>
            <a:r>
              <a:rPr lang="en-US" dirty="0">
                <a:latin typeface="Courier New" panose="02070309020205020404" pitchFamily="49" charset="0"/>
                <a:cs typeface="Courier New" panose="02070309020205020404" pitchFamily="49" charset="0"/>
              </a:rPr>
              <a:t>ls -</a:t>
            </a:r>
            <a:r>
              <a:rPr lang="en-US" dirty="0" err="1">
                <a:latin typeface="Courier New" panose="02070309020205020404" pitchFamily="49" charset="0"/>
                <a:cs typeface="Courier New" panose="02070309020205020404" pitchFamily="49" charset="0"/>
              </a:rPr>
              <a:t>lS</a:t>
            </a:r>
            <a:r>
              <a:rPr lang="en-US" dirty="0">
                <a:latin typeface="Courier New" panose="02070309020205020404" pitchFamily="49" charset="0"/>
                <a:cs typeface="Courier New" panose="02070309020205020404" pitchFamily="49" charset="0"/>
              </a:rPr>
              <a:t>		# list sorted by file size, largest file first</a:t>
            </a:r>
          </a:p>
          <a:p>
            <a:r>
              <a:rPr lang="en-US" dirty="0">
                <a:latin typeface="Courier New" panose="02070309020205020404" pitchFamily="49" charset="0"/>
                <a:cs typeface="Courier New" panose="02070309020205020404" pitchFamily="49" charset="0"/>
              </a:rPr>
              <a:t>ls -</a:t>
            </a:r>
            <a:r>
              <a:rPr lang="en-US" dirty="0" err="1">
                <a:latin typeface="Courier New" panose="02070309020205020404" pitchFamily="49" charset="0"/>
                <a:cs typeface="Courier New" panose="02070309020205020404" pitchFamily="49" charset="0"/>
              </a:rPr>
              <a:t>lSr</a:t>
            </a:r>
            <a:r>
              <a:rPr lang="en-US" dirty="0">
                <a:latin typeface="Courier New" panose="02070309020205020404" pitchFamily="49" charset="0"/>
                <a:cs typeface="Courier New" panose="02070309020205020404" pitchFamily="49" charset="0"/>
              </a:rPr>
              <a:t>		# list sorted by file size, smallest file first</a:t>
            </a:r>
          </a:p>
          <a:p>
            <a:r>
              <a:rPr lang="en-US" dirty="0">
                <a:latin typeface="Courier New" panose="02070309020205020404" pitchFamily="49" charset="0"/>
                <a:cs typeface="Courier New" panose="02070309020205020404" pitchFamily="49" charset="0"/>
              </a:rPr>
              <a:t>ls -</a:t>
            </a:r>
            <a:r>
              <a:rPr lang="en-US" dirty="0" err="1">
                <a:latin typeface="Courier New" panose="02070309020205020404" pitchFamily="49" charset="0"/>
                <a:cs typeface="Courier New" panose="02070309020205020404" pitchFamily="49" charset="0"/>
              </a:rPr>
              <a:t>lh</a:t>
            </a: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file		# </a:t>
            </a:r>
            <a:r>
              <a:rPr lang="en-US" dirty="0">
                <a:latin typeface="Courier New" panose="02070309020205020404" pitchFamily="49" charset="0"/>
                <a:cs typeface="Courier New" panose="02070309020205020404" pitchFamily="49" charset="0"/>
              </a:rPr>
              <a:t>display information for </a:t>
            </a:r>
            <a:r>
              <a:rPr lang="en-US" i="1" dirty="0">
                <a:latin typeface="Courier New" panose="02070309020205020404" pitchFamily="49" charset="0"/>
                <a:cs typeface="Courier New" panose="02070309020205020404" pitchFamily="49" charset="0"/>
              </a:rPr>
              <a:t>file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ls -l *.txt		# display information for all text files</a:t>
            </a:r>
          </a:p>
          <a:p>
            <a:r>
              <a:rPr lang="en-US" dirty="0">
                <a:latin typeface="Courier New" panose="02070309020205020404" pitchFamily="49" charset="0"/>
                <a:cs typeface="Courier New" panose="02070309020205020404" pitchFamily="49" charset="0"/>
              </a:rPr>
              <a:t>ls -RF		# list all files and sub directories and their contents	</a:t>
            </a:r>
          </a:p>
        </p:txBody>
      </p:sp>
    </p:spTree>
    <p:extLst>
      <p:ext uri="{BB962C8B-B14F-4D97-AF65-F5344CB8AC3E}">
        <p14:creationId xmlns:p14="http://schemas.microsoft.com/office/powerpoint/2010/main" val="3487925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3BC0B06-5764-4B1A-82AF-1B0F6C359904}"/>
              </a:ext>
            </a:extLst>
          </p:cNvPr>
          <p:cNvSpPr>
            <a:spLocks noGrp="1"/>
          </p:cNvSpPr>
          <p:nvPr>
            <p:ph type="title"/>
          </p:nvPr>
        </p:nvSpPr>
        <p:spPr/>
        <p:txBody>
          <a:bodyPr/>
          <a:lstStyle/>
          <a:p>
            <a:r>
              <a:rPr lang="en-US" b="1" dirty="0"/>
              <a:t>cp</a:t>
            </a:r>
            <a:r>
              <a:rPr lang="en-US" dirty="0"/>
              <a:t> - copy file</a:t>
            </a:r>
          </a:p>
        </p:txBody>
      </p:sp>
      <p:sp>
        <p:nvSpPr>
          <p:cNvPr id="3" name="Sisällön paikkamerkki 2">
            <a:extLst>
              <a:ext uri="{FF2B5EF4-FFF2-40B4-BE49-F238E27FC236}">
                <a16:creationId xmlns:a16="http://schemas.microsoft.com/office/drawing/2014/main" id="{477B6799-0F3D-4BE6-A09B-66A494C84AA6}"/>
              </a:ext>
            </a:extLst>
          </p:cNvPr>
          <p:cNvSpPr>
            <a:spLocks noGrp="1"/>
          </p:cNvSpPr>
          <p:nvPr>
            <p:ph idx="1"/>
          </p:nvPr>
        </p:nvSpPr>
        <p:spPr/>
        <p:txBody>
          <a:bodyPr>
            <a:normAutofit fontScale="85000" lnSpcReduction="20000"/>
          </a:bodyPr>
          <a:lstStyle/>
          <a:p>
            <a:r>
              <a:rPr lang="en-US" dirty="0"/>
              <a:t>cp source destination	copy source to destination</a:t>
            </a:r>
          </a:p>
          <a:p>
            <a:r>
              <a:rPr lang="en-US" dirty="0"/>
              <a:t>-i				prompt before overwrite</a:t>
            </a:r>
          </a:p>
          <a:p>
            <a:r>
              <a:rPr lang="en-US" dirty="0"/>
              <a:t>-p				preserve mode, ownership and timestamps</a:t>
            </a:r>
          </a:p>
          <a:p>
            <a:r>
              <a:rPr lang="en-US" dirty="0"/>
              <a:t> -r -R				copy directories recursively</a:t>
            </a:r>
          </a:p>
          <a:p>
            <a:r>
              <a:rPr lang="en-US" dirty="0"/>
              <a:t>-s				make symbolic links instead of copy</a:t>
            </a:r>
          </a:p>
          <a:p>
            <a:r>
              <a:rPr lang="en-US" dirty="0"/>
              <a:t>-u				copy only when source file is newer than destination file</a:t>
            </a:r>
          </a:p>
          <a:p>
            <a:r>
              <a:rPr lang="en-US" dirty="0">
                <a:latin typeface="Courier New" panose="02070309020205020404" pitchFamily="49" charset="0"/>
                <a:cs typeface="Courier New" panose="02070309020205020404" pitchFamily="49" charset="0"/>
              </a:rPr>
              <a:t>cp -p old new			#copy file preserving timestamps			</a:t>
            </a:r>
          </a:p>
          <a:p>
            <a:r>
              <a:rPr lang="en-US" dirty="0">
                <a:latin typeface="Courier New" panose="02070309020205020404" pitchFamily="49" charset="0"/>
                <a:cs typeface="Courier New" panose="02070309020205020404" pitchFamily="49" charset="0"/>
              </a:rPr>
              <a:t>cp -r /</a:t>
            </a:r>
            <a:r>
              <a:rPr lang="en-US" dirty="0" err="1">
                <a:latin typeface="Courier New" panose="02070309020205020404" pitchFamily="49" charset="0"/>
                <a:cs typeface="Courier New" panose="02070309020205020404" pitchFamily="49" charset="0"/>
              </a:rPr>
              <a:t>tmp</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newdir</a:t>
            </a:r>
            <a:r>
              <a:rPr lang="en-US" dirty="0">
                <a:latin typeface="Courier New" panose="02070309020205020404" pitchFamily="49" charset="0"/>
                <a:cs typeface="Courier New" panose="02070309020205020404" pitchFamily="49" charset="0"/>
              </a:rPr>
              <a:t>/	# copy entire directory</a:t>
            </a:r>
          </a:p>
          <a:p>
            <a:r>
              <a:rPr lang="en-US" dirty="0">
                <a:latin typeface="Courier New" panose="02070309020205020404" pitchFamily="49" charset="0"/>
                <a:cs typeface="Courier New" panose="02070309020205020404" pitchFamily="49" charset="0"/>
              </a:rPr>
              <a:t>cp -i *.txt texts/		# copy all text files to texts and prompt or overwrite</a:t>
            </a:r>
          </a:p>
        </p:txBody>
      </p:sp>
    </p:spTree>
    <p:extLst>
      <p:ext uri="{BB962C8B-B14F-4D97-AF65-F5344CB8AC3E}">
        <p14:creationId xmlns:p14="http://schemas.microsoft.com/office/powerpoint/2010/main" val="4139940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89AF3E7-1365-45B4-9E09-CD1FCF88DE6E}"/>
              </a:ext>
            </a:extLst>
          </p:cNvPr>
          <p:cNvSpPr>
            <a:spLocks noGrp="1"/>
          </p:cNvSpPr>
          <p:nvPr>
            <p:ph type="title"/>
          </p:nvPr>
        </p:nvSpPr>
        <p:spPr/>
        <p:txBody>
          <a:bodyPr/>
          <a:lstStyle/>
          <a:p>
            <a:r>
              <a:rPr lang="en-US" b="1" dirty="0"/>
              <a:t>mv </a:t>
            </a:r>
            <a:r>
              <a:rPr lang="en-US" dirty="0"/>
              <a:t>- Move/Rename file/folder</a:t>
            </a:r>
          </a:p>
        </p:txBody>
      </p:sp>
      <p:sp>
        <p:nvSpPr>
          <p:cNvPr id="3" name="Sisällön paikkamerkki 2">
            <a:extLst>
              <a:ext uri="{FF2B5EF4-FFF2-40B4-BE49-F238E27FC236}">
                <a16:creationId xmlns:a16="http://schemas.microsoft.com/office/drawing/2014/main" id="{A9B7391F-CA59-471F-B426-D2C9DBBC8487}"/>
              </a:ext>
            </a:extLst>
          </p:cNvPr>
          <p:cNvSpPr>
            <a:spLocks noGrp="1"/>
          </p:cNvSpPr>
          <p:nvPr>
            <p:ph idx="1"/>
          </p:nvPr>
        </p:nvSpPr>
        <p:spPr/>
        <p:txBody>
          <a:bodyPr>
            <a:normAutofit fontScale="85000" lnSpcReduction="20000"/>
          </a:bodyPr>
          <a:lstStyle/>
          <a:p>
            <a:r>
              <a:rPr lang="en-US" dirty="0"/>
              <a:t>-f	force, do not prompt before overwriting</a:t>
            </a:r>
          </a:p>
          <a:p>
            <a:r>
              <a:rPr lang="en-US" dirty="0"/>
              <a:t>-i 	prompt before overwrite</a:t>
            </a:r>
          </a:p>
          <a:p>
            <a:r>
              <a:rPr lang="en-US" dirty="0"/>
              <a:t>-n	no clobber, do not overwrite an existing file</a:t>
            </a:r>
          </a:p>
          <a:p>
            <a:r>
              <a:rPr lang="en-US" dirty="0"/>
              <a:t>-t	target directory, move all source arguments to target directory</a:t>
            </a:r>
          </a:p>
          <a:p>
            <a:r>
              <a:rPr lang="en-US" dirty="0"/>
              <a:t>-u	update, move only when the source file is newer than destination</a:t>
            </a:r>
          </a:p>
          <a:p>
            <a:r>
              <a:rPr lang="en-US" dirty="0"/>
              <a:t>-v	verbose, explain what is happening </a:t>
            </a:r>
          </a:p>
          <a:p>
            <a:r>
              <a:rPr lang="en-US" dirty="0">
                <a:latin typeface="Courier New" panose="02070309020205020404" pitchFamily="49" charset="0"/>
                <a:cs typeface="Courier New" panose="02070309020205020404" pitchFamily="49" charset="0"/>
              </a:rPr>
              <a:t>mv -I source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		# ask before overwrite</a:t>
            </a:r>
          </a:p>
          <a:p>
            <a:r>
              <a:rPr lang="en-US" dirty="0">
                <a:latin typeface="Courier New" panose="02070309020205020404" pitchFamily="49" charset="0"/>
                <a:cs typeface="Courier New" panose="02070309020205020404" pitchFamily="49" charset="0"/>
              </a:rPr>
              <a:t>mv -u source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		# overwrite only if source is newer</a:t>
            </a:r>
          </a:p>
          <a:p>
            <a:r>
              <a:rPr lang="en-US" dirty="0">
                <a:latin typeface="Courier New" panose="02070309020205020404" pitchFamily="49" charset="0"/>
                <a:cs typeface="Courier New" panose="02070309020205020404" pitchFamily="49" charset="0"/>
              </a:rPr>
              <a:t>mv -t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 src1 src2 	# move source files to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 directory</a:t>
            </a:r>
          </a:p>
          <a:p>
            <a:r>
              <a:rPr lang="en-US" dirty="0">
                <a:latin typeface="Courier New" panose="02070309020205020404" pitchFamily="49" charset="0"/>
                <a:cs typeface="Courier New" panose="02070309020205020404" pitchFamily="49" charset="0"/>
              </a:rPr>
              <a:t>mv src1 src2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		# move source files to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a:t>
            </a:r>
          </a:p>
          <a:p>
            <a:endParaRPr lang="en-US" dirty="0"/>
          </a:p>
        </p:txBody>
      </p:sp>
    </p:spTree>
    <p:extLst>
      <p:ext uri="{BB962C8B-B14F-4D97-AF65-F5344CB8AC3E}">
        <p14:creationId xmlns:p14="http://schemas.microsoft.com/office/powerpoint/2010/main" val="1615250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313E630-3908-4B7D-B714-4A3F250D645C}"/>
              </a:ext>
            </a:extLst>
          </p:cNvPr>
          <p:cNvSpPr>
            <a:spLocks noGrp="1"/>
          </p:cNvSpPr>
          <p:nvPr>
            <p:ph type="title"/>
          </p:nvPr>
        </p:nvSpPr>
        <p:spPr/>
        <p:txBody>
          <a:bodyPr/>
          <a:lstStyle/>
          <a:p>
            <a:r>
              <a:rPr lang="en-US" b="1" dirty="0"/>
              <a:t>rm</a:t>
            </a:r>
            <a:r>
              <a:rPr lang="en-US" dirty="0"/>
              <a:t> - Remove files and Folders</a:t>
            </a:r>
          </a:p>
        </p:txBody>
      </p:sp>
      <p:sp>
        <p:nvSpPr>
          <p:cNvPr id="3" name="Sisällön paikkamerkki 2">
            <a:extLst>
              <a:ext uri="{FF2B5EF4-FFF2-40B4-BE49-F238E27FC236}">
                <a16:creationId xmlns:a16="http://schemas.microsoft.com/office/drawing/2014/main" id="{8AA862F3-2549-468D-A9C5-06D2D4F3B478}"/>
              </a:ext>
            </a:extLst>
          </p:cNvPr>
          <p:cNvSpPr>
            <a:spLocks noGrp="1"/>
          </p:cNvSpPr>
          <p:nvPr>
            <p:ph idx="1"/>
          </p:nvPr>
        </p:nvSpPr>
        <p:spPr/>
        <p:txBody>
          <a:bodyPr>
            <a:normAutofit fontScale="92500" lnSpcReduction="10000"/>
          </a:bodyPr>
          <a:lstStyle/>
          <a:p>
            <a:r>
              <a:rPr lang="en-US" dirty="0"/>
              <a:t>rm path		remove file or directory at path</a:t>
            </a:r>
          </a:p>
          <a:p>
            <a:r>
              <a:rPr lang="en-US" dirty="0"/>
              <a:t>-f			force, ignore errors, never prompt</a:t>
            </a:r>
          </a:p>
          <a:p>
            <a:r>
              <a:rPr lang="en-US" dirty="0"/>
              <a:t>-i			prompt before removal</a:t>
            </a:r>
          </a:p>
          <a:p>
            <a:r>
              <a:rPr lang="en-US" dirty="0"/>
              <a:t>-r			recursive, remove directories and their contents</a:t>
            </a:r>
          </a:p>
          <a:p>
            <a:r>
              <a:rPr lang="en-US" dirty="0"/>
              <a:t>-d			remove empty directories</a:t>
            </a:r>
          </a:p>
          <a:p>
            <a:r>
              <a:rPr lang="en-US" dirty="0"/>
              <a:t>-v 			verbose, explain what is being done</a:t>
            </a:r>
          </a:p>
          <a:p>
            <a:r>
              <a:rPr lang="en-US" dirty="0">
                <a:latin typeface="Courier New" panose="02070309020205020404" pitchFamily="49" charset="0"/>
                <a:cs typeface="Courier New" panose="02070309020205020404" pitchFamily="49" charset="0"/>
              </a:rPr>
              <a:t>rm -rf </a:t>
            </a:r>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		# recursively remove the folder and all its contents</a:t>
            </a:r>
          </a:p>
          <a:p>
            <a:r>
              <a:rPr lang="en-US" dirty="0">
                <a:latin typeface="Courier New" panose="02070309020205020404" pitchFamily="49" charset="0"/>
                <a:cs typeface="Courier New" panose="02070309020205020404" pitchFamily="49" charset="0"/>
              </a:rPr>
              <a:t>rm -I *~			# remove all backup files, but prompt for removal</a:t>
            </a:r>
          </a:p>
        </p:txBody>
      </p:sp>
    </p:spTree>
    <p:extLst>
      <p:ext uri="{BB962C8B-B14F-4D97-AF65-F5344CB8AC3E}">
        <p14:creationId xmlns:p14="http://schemas.microsoft.com/office/powerpoint/2010/main" val="3605904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B037076-BA03-4EB6-B5EC-9C6D40446E35}"/>
              </a:ext>
            </a:extLst>
          </p:cNvPr>
          <p:cNvSpPr>
            <a:spLocks noGrp="1"/>
          </p:cNvSpPr>
          <p:nvPr>
            <p:ph type="title"/>
          </p:nvPr>
        </p:nvSpPr>
        <p:spPr/>
        <p:txBody>
          <a:bodyPr/>
          <a:lstStyle/>
          <a:p>
            <a:r>
              <a:rPr lang="en-US" b="1" dirty="0" err="1"/>
              <a:t>mkdir</a:t>
            </a:r>
            <a:r>
              <a:rPr lang="en-US" dirty="0"/>
              <a:t> - Make Directory</a:t>
            </a:r>
          </a:p>
        </p:txBody>
      </p:sp>
      <p:sp>
        <p:nvSpPr>
          <p:cNvPr id="3" name="Sisällön paikkamerkki 2">
            <a:extLst>
              <a:ext uri="{FF2B5EF4-FFF2-40B4-BE49-F238E27FC236}">
                <a16:creationId xmlns:a16="http://schemas.microsoft.com/office/drawing/2014/main" id="{CBD3DE6D-F0A6-43FF-8DB0-712E283697FF}"/>
              </a:ext>
            </a:extLst>
          </p:cNvPr>
          <p:cNvSpPr>
            <a:spLocks noGrp="1"/>
          </p:cNvSpPr>
          <p:nvPr>
            <p:ph idx="1"/>
          </p:nvPr>
        </p:nvSpPr>
        <p:spPr/>
        <p:txBody>
          <a:bodyPr/>
          <a:lstStyle/>
          <a:p>
            <a:r>
              <a:rPr lang="en-US" dirty="0" err="1"/>
              <a:t>mkdir</a:t>
            </a:r>
            <a:r>
              <a:rPr lang="en-US" dirty="0"/>
              <a:t> [OPTION ] DIRECTORY… 	Create directories</a:t>
            </a:r>
          </a:p>
          <a:p>
            <a:r>
              <a:rPr lang="en-US" dirty="0"/>
              <a:t>-p		parents, if no errors, make parent directories as well</a:t>
            </a:r>
          </a:p>
          <a:p>
            <a:r>
              <a:rPr lang="en-US" dirty="0"/>
              <a:t>-v 		verbose, print what is happening</a:t>
            </a:r>
          </a:p>
          <a:p>
            <a:pPr marL="0" indent="0">
              <a:buNone/>
            </a:pPr>
            <a:endParaRPr lang="en-US" dirty="0"/>
          </a:p>
          <a:p>
            <a:r>
              <a:rPr lang="en-US" dirty="0" err="1">
                <a:latin typeface="Courier New" panose="02070309020205020404" pitchFamily="49" charset="0"/>
                <a:cs typeface="Courier New" panose="02070309020205020404" pitchFamily="49" charset="0"/>
              </a:rPr>
              <a:t>mkdir</a:t>
            </a:r>
            <a:r>
              <a:rPr lang="en-US" dirty="0">
                <a:latin typeface="Courier New" panose="02070309020205020404" pitchFamily="49" charset="0"/>
                <a:cs typeface="Courier New" panose="02070309020205020404" pitchFamily="49" charset="0"/>
              </a:rPr>
              <a:t> - p one/two/three	# create nested directories</a:t>
            </a:r>
          </a:p>
        </p:txBody>
      </p:sp>
    </p:spTree>
    <p:extLst>
      <p:ext uri="{BB962C8B-B14F-4D97-AF65-F5344CB8AC3E}">
        <p14:creationId xmlns:p14="http://schemas.microsoft.com/office/powerpoint/2010/main" val="1054648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D5C8634-BE64-4E95-8B26-BCF350E33327}"/>
              </a:ext>
            </a:extLst>
          </p:cNvPr>
          <p:cNvSpPr>
            <a:spLocks noGrp="1"/>
          </p:cNvSpPr>
          <p:nvPr>
            <p:ph type="title"/>
          </p:nvPr>
        </p:nvSpPr>
        <p:spPr/>
        <p:txBody>
          <a:bodyPr/>
          <a:lstStyle/>
          <a:p>
            <a:r>
              <a:rPr lang="en-US" b="1" dirty="0" err="1"/>
              <a:t>rmdir</a:t>
            </a:r>
            <a:r>
              <a:rPr lang="en-US" dirty="0"/>
              <a:t> - Remove Empty Directories</a:t>
            </a:r>
          </a:p>
        </p:txBody>
      </p:sp>
      <p:sp>
        <p:nvSpPr>
          <p:cNvPr id="3" name="Sisällön paikkamerkki 2">
            <a:extLst>
              <a:ext uri="{FF2B5EF4-FFF2-40B4-BE49-F238E27FC236}">
                <a16:creationId xmlns:a16="http://schemas.microsoft.com/office/drawing/2014/main" id="{97B84098-9BB6-420B-8FA4-7243962BD344}"/>
              </a:ext>
            </a:extLst>
          </p:cNvPr>
          <p:cNvSpPr>
            <a:spLocks noGrp="1"/>
          </p:cNvSpPr>
          <p:nvPr>
            <p:ph idx="1"/>
          </p:nvPr>
        </p:nvSpPr>
        <p:spPr/>
        <p:txBody>
          <a:bodyPr/>
          <a:lstStyle/>
          <a:p>
            <a:r>
              <a:rPr lang="en-US" dirty="0" err="1"/>
              <a:t>rmdir</a:t>
            </a:r>
            <a:r>
              <a:rPr lang="en-US" dirty="0"/>
              <a:t> [OPTION]... DIRECTORY...</a:t>
            </a:r>
          </a:p>
          <a:p>
            <a:r>
              <a:rPr lang="en-US" dirty="0"/>
              <a:t>-p 		remove DIRECTORY and its </a:t>
            </a:r>
            <a:r>
              <a:rPr lang="en-US" dirty="0" err="1"/>
              <a:t>ancestories</a:t>
            </a:r>
            <a:endParaRPr lang="en-US" dirty="0"/>
          </a:p>
          <a:p>
            <a:r>
              <a:rPr lang="en-US" dirty="0"/>
              <a:t>-v 		verbose</a:t>
            </a:r>
          </a:p>
          <a:p>
            <a:r>
              <a:rPr lang="en-US" dirty="0" err="1">
                <a:latin typeface="Courier New" panose="02070309020205020404" pitchFamily="49" charset="0"/>
                <a:cs typeface="Courier New" panose="02070309020205020404" pitchFamily="49" charset="0"/>
              </a:rPr>
              <a:t>rmdir</a:t>
            </a:r>
            <a:r>
              <a:rPr lang="en-US" dirty="0">
                <a:latin typeface="Courier New" panose="02070309020205020404" pitchFamily="49" charset="0"/>
                <a:cs typeface="Courier New" panose="02070309020205020404" pitchFamily="49" charset="0"/>
              </a:rPr>
              <a:t> first/ second/ 	# remove directories</a:t>
            </a:r>
          </a:p>
          <a:p>
            <a:r>
              <a:rPr lang="en-US" dirty="0" err="1">
                <a:latin typeface="Courier New" panose="02070309020205020404" pitchFamily="49" charset="0"/>
                <a:cs typeface="Courier New" panose="02070309020205020404" pitchFamily="49" charset="0"/>
              </a:rPr>
              <a:t>rmdir</a:t>
            </a:r>
            <a:r>
              <a:rPr lang="en-US" dirty="0">
                <a:latin typeface="Courier New" panose="02070309020205020404" pitchFamily="49" charset="0"/>
                <a:cs typeface="Courier New" panose="02070309020205020404" pitchFamily="49" charset="0"/>
              </a:rPr>
              <a:t> -p one/two/three	# remove nested directories </a:t>
            </a:r>
          </a:p>
        </p:txBody>
      </p:sp>
    </p:spTree>
    <p:extLst>
      <p:ext uri="{BB962C8B-B14F-4D97-AF65-F5344CB8AC3E}">
        <p14:creationId xmlns:p14="http://schemas.microsoft.com/office/powerpoint/2010/main" val="3088186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3BEB693-7E94-45E1-9E55-768A6755A457}"/>
              </a:ext>
            </a:extLst>
          </p:cNvPr>
          <p:cNvSpPr>
            <a:spLocks noGrp="1"/>
          </p:cNvSpPr>
          <p:nvPr>
            <p:ph type="title"/>
          </p:nvPr>
        </p:nvSpPr>
        <p:spPr/>
        <p:txBody>
          <a:bodyPr/>
          <a:lstStyle/>
          <a:p>
            <a:r>
              <a:rPr lang="en-US" b="1" dirty="0"/>
              <a:t>cat</a:t>
            </a:r>
            <a:r>
              <a:rPr lang="en-US" dirty="0"/>
              <a:t> - Concatenate</a:t>
            </a:r>
          </a:p>
        </p:txBody>
      </p:sp>
      <p:sp>
        <p:nvSpPr>
          <p:cNvPr id="3" name="Sisällön paikkamerkki 2">
            <a:extLst>
              <a:ext uri="{FF2B5EF4-FFF2-40B4-BE49-F238E27FC236}">
                <a16:creationId xmlns:a16="http://schemas.microsoft.com/office/drawing/2014/main" id="{4747BF29-7714-4E2E-BD8A-31FAE0259B5A}"/>
              </a:ext>
            </a:extLst>
          </p:cNvPr>
          <p:cNvSpPr>
            <a:spLocks noGrp="1"/>
          </p:cNvSpPr>
          <p:nvPr>
            <p:ph idx="1"/>
          </p:nvPr>
        </p:nvSpPr>
        <p:spPr/>
        <p:txBody>
          <a:bodyPr>
            <a:normAutofit fontScale="70000" lnSpcReduction="20000"/>
          </a:bodyPr>
          <a:lstStyle/>
          <a:p>
            <a:r>
              <a:rPr lang="en-US" dirty="0"/>
              <a:t>Concatenate files and print on the standard output</a:t>
            </a:r>
          </a:p>
          <a:p>
            <a:r>
              <a:rPr lang="en-US" dirty="0"/>
              <a:t>-b	number non-empty output lines, overrides -n</a:t>
            </a:r>
          </a:p>
          <a:p>
            <a:r>
              <a:rPr lang="en-US" dirty="0"/>
              <a:t>-n	number all output lines</a:t>
            </a:r>
          </a:p>
          <a:p>
            <a:r>
              <a:rPr lang="en-US" dirty="0"/>
              <a:t>-s 	suppress repeated empty output lines</a:t>
            </a:r>
          </a:p>
          <a:p>
            <a:r>
              <a:rPr lang="en-US" dirty="0"/>
              <a:t>-t	same as -</a:t>
            </a:r>
            <a:r>
              <a:rPr lang="en-US" dirty="0" err="1"/>
              <a:t>vT</a:t>
            </a:r>
            <a:endParaRPr lang="en-US" dirty="0"/>
          </a:p>
          <a:p>
            <a:r>
              <a:rPr lang="en-US" dirty="0"/>
              <a:t>-v	use ^ (control) and M- notation top show non-printing characters</a:t>
            </a:r>
          </a:p>
          <a:p>
            <a:r>
              <a:rPr lang="en-US" dirty="0"/>
              <a:t>-T 	show tabs as ^I</a:t>
            </a:r>
          </a:p>
          <a:p>
            <a:r>
              <a:rPr lang="en-US" dirty="0">
                <a:latin typeface="Courier New" panose="02070309020205020404" pitchFamily="49" charset="0"/>
                <a:cs typeface="Courier New" panose="02070309020205020404" pitchFamily="49" charset="0"/>
              </a:rPr>
              <a:t>cat -t file		# print the contents of file showing non-printing characters</a:t>
            </a:r>
          </a:p>
          <a:p>
            <a:r>
              <a:rPr lang="en-US" dirty="0">
                <a:latin typeface="Courier New" panose="02070309020205020404" pitchFamily="49" charset="0"/>
                <a:cs typeface="Courier New" panose="02070309020205020404" pitchFamily="49" charset="0"/>
              </a:rPr>
              <a:t>cat first - last		# </a:t>
            </a:r>
            <a:r>
              <a:rPr lang="en-US" dirty="0" err="1">
                <a:latin typeface="Courier New" panose="02070309020205020404" pitchFamily="49" charset="0"/>
                <a:cs typeface="Courier New" panose="02070309020205020404" pitchFamily="49" charset="0"/>
              </a:rPr>
              <a:t>concanate</a:t>
            </a:r>
            <a:r>
              <a:rPr lang="en-US" dirty="0">
                <a:latin typeface="Courier New" panose="02070309020205020404" pitchFamily="49" charset="0"/>
                <a:cs typeface="Courier New" panose="02070309020205020404" pitchFamily="49" charset="0"/>
              </a:rPr>
              <a:t> first's contents, standard input, then last</a:t>
            </a:r>
          </a:p>
          <a:p>
            <a:r>
              <a:rPr lang="en-US" dirty="0">
                <a:latin typeface="Courier New" panose="02070309020205020404" pitchFamily="49" charset="0"/>
                <a:cs typeface="Courier New" panose="02070309020205020404" pitchFamily="49" charset="0"/>
              </a:rPr>
              <a:t>cat -n code.py		# print with line numbers</a:t>
            </a:r>
          </a:p>
          <a:p>
            <a:r>
              <a:rPr lang="en-US" dirty="0">
                <a:latin typeface="Courier New" panose="02070309020205020404" pitchFamily="49" charset="0"/>
                <a:cs typeface="Courier New" panose="02070309020205020404" pitchFamily="49" charset="0"/>
              </a:rPr>
              <a:t>cat -s first second	# print first and second and suppress empty lines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5291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944C9FB-62A1-4CB9-99BA-D261D22A1BAB}"/>
              </a:ext>
            </a:extLst>
          </p:cNvPr>
          <p:cNvSpPr>
            <a:spLocks noGrp="1"/>
          </p:cNvSpPr>
          <p:nvPr>
            <p:ph type="title"/>
          </p:nvPr>
        </p:nvSpPr>
        <p:spPr/>
        <p:txBody>
          <a:bodyPr/>
          <a:lstStyle/>
          <a:p>
            <a:r>
              <a:rPr lang="en-US" b="1" dirty="0"/>
              <a:t>ln</a:t>
            </a:r>
            <a:r>
              <a:rPr lang="en-US" dirty="0"/>
              <a:t> - Make Links</a:t>
            </a:r>
          </a:p>
        </p:txBody>
      </p:sp>
      <p:sp>
        <p:nvSpPr>
          <p:cNvPr id="3" name="Sisällön paikkamerkki 2">
            <a:extLst>
              <a:ext uri="{FF2B5EF4-FFF2-40B4-BE49-F238E27FC236}">
                <a16:creationId xmlns:a16="http://schemas.microsoft.com/office/drawing/2014/main" id="{0A6AA7EB-9296-441A-89B6-132EE2BDEB6F}"/>
              </a:ext>
            </a:extLst>
          </p:cNvPr>
          <p:cNvSpPr>
            <a:spLocks noGrp="1"/>
          </p:cNvSpPr>
          <p:nvPr>
            <p:ph idx="1"/>
          </p:nvPr>
        </p:nvSpPr>
        <p:spPr/>
        <p:txBody>
          <a:bodyPr/>
          <a:lstStyle/>
          <a:p>
            <a:r>
              <a:rPr lang="en-US" dirty="0"/>
              <a:t>ln [OPTIONS] source destination</a:t>
            </a:r>
          </a:p>
          <a:p>
            <a:r>
              <a:rPr lang="en-US" dirty="0"/>
              <a:t>-f 		remove existing destination files</a:t>
            </a:r>
          </a:p>
          <a:p>
            <a:r>
              <a:rPr lang="en-US" dirty="0"/>
              <a:t>-i		prompt for removing destination</a:t>
            </a:r>
          </a:p>
          <a:p>
            <a:r>
              <a:rPr lang="en-US" dirty="0"/>
              <a:t>-s 		make symbolic link instead of hard link</a:t>
            </a:r>
          </a:p>
          <a:p>
            <a:r>
              <a:rPr lang="en-US" dirty="0"/>
              <a:t>-v 		verbose</a:t>
            </a:r>
          </a:p>
          <a:p>
            <a:r>
              <a:rPr lang="en-US" dirty="0">
                <a:latin typeface="Courier New" panose="02070309020205020404" pitchFamily="49" charset="0"/>
                <a:cs typeface="Courier New" panose="02070309020205020404" pitchFamily="49" charset="0"/>
              </a:rPr>
              <a:t>sudo ln -s ~/www/ /var/www/html # create symbolic link</a:t>
            </a:r>
          </a:p>
          <a:p>
            <a:r>
              <a:rPr lang="en-US" dirty="0">
                <a:latin typeface="Courier New" panose="02070309020205020404" pitchFamily="49" charset="0"/>
                <a:cs typeface="Courier New" panose="02070309020205020404" pitchFamily="49" charset="0"/>
              </a:rPr>
              <a:t>rm ~/www/   # remove link</a:t>
            </a:r>
          </a:p>
          <a:p>
            <a:endParaRPr lang="en-US" dirty="0"/>
          </a:p>
        </p:txBody>
      </p:sp>
    </p:spTree>
    <p:extLst>
      <p:ext uri="{BB962C8B-B14F-4D97-AF65-F5344CB8AC3E}">
        <p14:creationId xmlns:p14="http://schemas.microsoft.com/office/powerpoint/2010/main" val="2110405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2C62AD8-4EA7-42E7-9577-2B00D1A2CADB}"/>
              </a:ext>
            </a:extLst>
          </p:cNvPr>
          <p:cNvSpPr>
            <a:spLocks noGrp="1"/>
          </p:cNvSpPr>
          <p:nvPr>
            <p:ph type="title"/>
          </p:nvPr>
        </p:nvSpPr>
        <p:spPr/>
        <p:txBody>
          <a:bodyPr/>
          <a:lstStyle/>
          <a:p>
            <a:r>
              <a:rPr lang="en-US" b="1" dirty="0"/>
              <a:t>touch</a:t>
            </a:r>
            <a:r>
              <a:rPr lang="en-US" dirty="0"/>
              <a:t> - Change file timestamps</a:t>
            </a:r>
          </a:p>
        </p:txBody>
      </p:sp>
      <p:sp>
        <p:nvSpPr>
          <p:cNvPr id="3" name="Sisällön paikkamerkki 2">
            <a:extLst>
              <a:ext uri="{FF2B5EF4-FFF2-40B4-BE49-F238E27FC236}">
                <a16:creationId xmlns:a16="http://schemas.microsoft.com/office/drawing/2014/main" id="{36B7271E-8E25-4A45-81CC-F379ED2F2276}"/>
              </a:ext>
            </a:extLst>
          </p:cNvPr>
          <p:cNvSpPr>
            <a:spLocks noGrp="1"/>
          </p:cNvSpPr>
          <p:nvPr>
            <p:ph idx="1"/>
          </p:nvPr>
        </p:nvSpPr>
        <p:spPr/>
        <p:txBody>
          <a:bodyPr>
            <a:normAutofit fontScale="85000" lnSpcReduction="20000"/>
          </a:bodyPr>
          <a:lstStyle/>
          <a:p>
            <a:r>
              <a:rPr lang="en-US" dirty="0"/>
              <a:t>touch [OPTION]… file…</a:t>
            </a:r>
          </a:p>
          <a:p>
            <a:r>
              <a:rPr lang="en-US" dirty="0"/>
              <a:t>Update the access and modification times of each file to the current time</a:t>
            </a:r>
          </a:p>
          <a:p>
            <a:r>
              <a:rPr lang="en-US" dirty="0"/>
              <a:t>-a 	change only access time</a:t>
            </a:r>
          </a:p>
          <a:p>
            <a:r>
              <a:rPr lang="en-US" dirty="0"/>
              <a:t>-c	do not create any files</a:t>
            </a:r>
          </a:p>
          <a:p>
            <a:r>
              <a:rPr lang="en-US" dirty="0"/>
              <a:t>-m 	change only modification time</a:t>
            </a:r>
          </a:p>
          <a:p>
            <a:r>
              <a:rPr lang="en-US" dirty="0"/>
              <a:t>-r	use this file's times instead of current time</a:t>
            </a:r>
          </a:p>
          <a:p>
            <a:r>
              <a:rPr lang="en-US" dirty="0"/>
              <a:t>-t YYYYMMDDHHMM.SS	change to specific date and time</a:t>
            </a:r>
          </a:p>
          <a:p>
            <a:r>
              <a:rPr lang="en-US" dirty="0">
                <a:latin typeface="Courier New" panose="02070309020205020404" pitchFamily="49" charset="0"/>
                <a:cs typeface="Courier New" panose="02070309020205020404" pitchFamily="49" charset="0"/>
              </a:rPr>
              <a:t>touch filename		# create a new empty file or update timestamp</a:t>
            </a:r>
          </a:p>
          <a:p>
            <a:r>
              <a:rPr lang="en-US" dirty="0">
                <a:latin typeface="Courier New" panose="02070309020205020404" pitchFamily="49" charset="0"/>
                <a:cs typeface="Courier New" panose="02070309020205020404" pitchFamily="49" charset="0"/>
              </a:rPr>
              <a:t>touch -r file1 file2	# set file2's time to file1's</a:t>
            </a:r>
          </a:p>
          <a:p>
            <a:r>
              <a:rPr lang="en-US" dirty="0">
                <a:latin typeface="Courier New" panose="02070309020205020404" pitchFamily="49" charset="0"/>
                <a:cs typeface="Courier New" panose="02070309020205020404" pitchFamily="49" charset="0"/>
              </a:rPr>
              <a:t>touch -c *.c *.h		# only update timestamps</a:t>
            </a:r>
          </a:p>
          <a:p>
            <a:endParaRPr lang="en-US" dirty="0"/>
          </a:p>
        </p:txBody>
      </p:sp>
    </p:spTree>
    <p:extLst>
      <p:ext uri="{BB962C8B-B14F-4D97-AF65-F5344CB8AC3E}">
        <p14:creationId xmlns:p14="http://schemas.microsoft.com/office/powerpoint/2010/main" val="1600318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B86EB25-50AB-4989-BFD5-B851D694C975}"/>
              </a:ext>
            </a:extLst>
          </p:cNvPr>
          <p:cNvSpPr>
            <a:spLocks noGrp="1"/>
          </p:cNvSpPr>
          <p:nvPr>
            <p:ph type="title"/>
          </p:nvPr>
        </p:nvSpPr>
        <p:spPr/>
        <p:txBody>
          <a:bodyPr/>
          <a:lstStyle/>
          <a:p>
            <a:r>
              <a:rPr lang="en-US" b="1" dirty="0" err="1"/>
              <a:t>wget</a:t>
            </a:r>
            <a:r>
              <a:rPr lang="en-US" dirty="0"/>
              <a:t> - non-interactive network downloader</a:t>
            </a:r>
          </a:p>
        </p:txBody>
      </p:sp>
      <p:sp>
        <p:nvSpPr>
          <p:cNvPr id="3" name="Sisällön paikkamerkki 2">
            <a:extLst>
              <a:ext uri="{FF2B5EF4-FFF2-40B4-BE49-F238E27FC236}">
                <a16:creationId xmlns:a16="http://schemas.microsoft.com/office/drawing/2014/main" id="{008FA396-089F-49F7-B785-3A247284E72C}"/>
              </a:ext>
            </a:extLst>
          </p:cNvPr>
          <p:cNvSpPr>
            <a:spLocks noGrp="1"/>
          </p:cNvSpPr>
          <p:nvPr>
            <p:ph idx="1"/>
          </p:nvPr>
        </p:nvSpPr>
        <p:spPr/>
        <p:txBody>
          <a:bodyPr>
            <a:normAutofit fontScale="70000" lnSpcReduction="20000"/>
          </a:bodyPr>
          <a:lstStyle/>
          <a:p>
            <a:r>
              <a:rPr lang="en-US" dirty="0" err="1"/>
              <a:t>wget</a:t>
            </a:r>
            <a:r>
              <a:rPr lang="en-US" dirty="0"/>
              <a:t> [OPTION]… [URL]…</a:t>
            </a:r>
          </a:p>
          <a:p>
            <a:r>
              <a:rPr lang="en-US" dirty="0"/>
              <a:t>It supports HTTP, HTTPS and FTP protocols </a:t>
            </a:r>
          </a:p>
          <a:p>
            <a:r>
              <a:rPr lang="en-US" dirty="0"/>
              <a:t>-c		continue if getting a partially-downloaded file</a:t>
            </a:r>
          </a:p>
          <a:p>
            <a:r>
              <a:rPr lang="en-US" dirty="0"/>
              <a:t>-i		read URLs from a local or external file</a:t>
            </a:r>
          </a:p>
          <a:p>
            <a:r>
              <a:rPr lang="en-US" dirty="0"/>
              <a:t>-k		convert links for local viewing</a:t>
            </a:r>
          </a:p>
          <a:p>
            <a:r>
              <a:rPr lang="en-US" dirty="0"/>
              <a:t>-m		mirror</a:t>
            </a:r>
          </a:p>
          <a:p>
            <a:r>
              <a:rPr lang="en-US" dirty="0"/>
              <a:t>-q 		quiet, no output</a:t>
            </a:r>
          </a:p>
          <a:p>
            <a:r>
              <a:rPr lang="en-US" dirty="0"/>
              <a:t>-r		recursive (maximum depth is 5)</a:t>
            </a:r>
          </a:p>
          <a:p>
            <a:r>
              <a:rPr lang="en-US" dirty="0"/>
              <a:t>--spider	behave like a web spider, don't actually download pages</a:t>
            </a:r>
          </a:p>
          <a:p>
            <a:r>
              <a:rPr lang="en-US" dirty="0"/>
              <a:t>-v		verbose</a:t>
            </a:r>
          </a:p>
          <a:p>
            <a:r>
              <a:rPr lang="en-US" dirty="0" err="1">
                <a:latin typeface="Courier New" panose="02070309020205020404" pitchFamily="49" charset="0"/>
                <a:cs typeface="Courier New" panose="02070309020205020404" pitchFamily="49" charset="0"/>
              </a:rPr>
              <a:t>wget</a:t>
            </a:r>
            <a:r>
              <a:rPr lang="en-US" dirty="0">
                <a:latin typeface="Courier New" panose="02070309020205020404" pitchFamily="49" charset="0"/>
                <a:cs typeface="Courier New" panose="02070309020205020404" pitchFamily="49" charset="0"/>
              </a:rPr>
              <a:t> -qc url		# fetch an ULR </a:t>
            </a:r>
            <a:r>
              <a:rPr lang="en-US" dirty="0" err="1">
                <a:latin typeface="Courier New" panose="02070309020205020404" pitchFamily="49" charset="0"/>
                <a:cs typeface="Courier New" panose="02070309020205020404" pitchFamily="49" charset="0"/>
              </a:rPr>
              <a:t>quitly</a:t>
            </a:r>
            <a:r>
              <a:rPr lang="en-US" dirty="0">
                <a:latin typeface="Courier New" panose="02070309020205020404" pitchFamily="49" charset="0"/>
                <a:cs typeface="Courier New" panose="02070309020205020404" pitchFamily="49" charset="0"/>
              </a:rPr>
              <a:t> in background, resume loading if partial load</a:t>
            </a:r>
          </a:p>
          <a:p>
            <a:r>
              <a:rPr lang="en-US" dirty="0" err="1">
                <a:latin typeface="Courier New" panose="02070309020205020404" pitchFamily="49" charset="0"/>
                <a:cs typeface="Courier New" panose="02070309020205020404" pitchFamily="49" charset="0"/>
              </a:rPr>
              <a:t>wget</a:t>
            </a:r>
            <a:r>
              <a:rPr lang="en-US" dirty="0">
                <a:latin typeface="Courier New" panose="02070309020205020404" pitchFamily="49" charset="0"/>
                <a:cs typeface="Courier New" panose="02070309020205020404" pitchFamily="49" charset="0"/>
              </a:rPr>
              <a:t> -m website	# create a local copy of a web site</a:t>
            </a:r>
          </a:p>
          <a:p>
            <a:endParaRPr lang="en-US" dirty="0"/>
          </a:p>
          <a:p>
            <a:endParaRPr lang="en-US" dirty="0"/>
          </a:p>
          <a:p>
            <a:endParaRPr lang="en-US" dirty="0"/>
          </a:p>
        </p:txBody>
      </p:sp>
    </p:spTree>
    <p:extLst>
      <p:ext uri="{BB962C8B-B14F-4D97-AF65-F5344CB8AC3E}">
        <p14:creationId xmlns:p14="http://schemas.microsoft.com/office/powerpoint/2010/main" val="135305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4B3EC5-2B6E-43AF-9EED-3E8188F2A776}"/>
              </a:ext>
            </a:extLst>
          </p:cNvPr>
          <p:cNvSpPr>
            <a:spLocks noGrp="1"/>
          </p:cNvSpPr>
          <p:nvPr>
            <p:ph type="title"/>
          </p:nvPr>
        </p:nvSpPr>
        <p:spPr/>
        <p:txBody>
          <a:bodyPr/>
          <a:lstStyle/>
          <a:p>
            <a:r>
              <a:rPr lang="en-US" dirty="0"/>
              <a:t>curl - Transfer URL</a:t>
            </a:r>
          </a:p>
        </p:txBody>
      </p:sp>
      <p:sp>
        <p:nvSpPr>
          <p:cNvPr id="3" name="Sisällön paikkamerkki 2">
            <a:extLst>
              <a:ext uri="{FF2B5EF4-FFF2-40B4-BE49-F238E27FC236}">
                <a16:creationId xmlns:a16="http://schemas.microsoft.com/office/drawing/2014/main" id="{32160280-D7DB-4FC4-AC99-35BBF4A0EF5C}"/>
              </a:ext>
            </a:extLst>
          </p:cNvPr>
          <p:cNvSpPr>
            <a:spLocks noGrp="1"/>
          </p:cNvSpPr>
          <p:nvPr>
            <p:ph idx="1"/>
          </p:nvPr>
        </p:nvSpPr>
        <p:spPr/>
        <p:txBody>
          <a:bodyPr>
            <a:normAutofit fontScale="85000" lnSpcReduction="20000"/>
          </a:bodyPr>
          <a:lstStyle/>
          <a:p>
            <a:r>
              <a:rPr lang="en-US" dirty="0"/>
              <a:t>curl  is  a tool to transfer data from or to a server, using one of the supported protocols (DICT, file, FTP, FTPS, GOPHER, HTTP, HTTPS,  IMAP, IMAPS,  LDAP,  LDAPS,  POP3,  POP3S,  RTMP, RTSP, SCP, SFTP, SMB, SMBS, SMTP, SMTPS, TELNET and TFTP). The command is designed to work  without user interaction.</a:t>
            </a:r>
          </a:p>
          <a:p>
            <a:r>
              <a:rPr lang="en-US" dirty="0">
                <a:latin typeface="Courier New" panose="02070309020205020404" pitchFamily="49" charset="0"/>
                <a:cs typeface="Courier New" panose="02070309020205020404" pitchFamily="49" charset="0"/>
              </a:rPr>
              <a:t>curl -O url # fetch URL and write to a local file</a:t>
            </a:r>
          </a:p>
          <a:p>
            <a:r>
              <a:rPr lang="en-US" dirty="0">
                <a:latin typeface="Courier New" panose="02070309020205020404" pitchFamily="49" charset="0"/>
                <a:cs typeface="Courier New" panose="02070309020205020404" pitchFamily="49" charset="0"/>
              </a:rPr>
              <a:t>curl -o </a:t>
            </a:r>
            <a:r>
              <a:rPr lang="en-US" dirty="0" err="1">
                <a:latin typeface="Courier New" panose="02070309020205020404" pitchFamily="49" charset="0"/>
                <a:cs typeface="Courier New" panose="02070309020205020404" pitchFamily="49" charset="0"/>
              </a:rPr>
              <a:t>output_file</a:t>
            </a:r>
            <a:r>
              <a:rPr lang="en-US" dirty="0">
                <a:latin typeface="Courier New" panose="02070309020205020404" pitchFamily="49" charset="0"/>
                <a:cs typeface="Courier New" panose="02070309020205020404" pitchFamily="49" charset="0"/>
              </a:rPr>
              <a:t> url	# fetch URL and write to output file</a:t>
            </a:r>
          </a:p>
          <a:p>
            <a:r>
              <a:rPr lang="en-US" dirty="0">
                <a:latin typeface="Courier New" panose="02070309020205020404" pitchFamily="49" charset="0"/>
                <a:cs typeface="Courier New" panose="02070309020205020404" pitchFamily="49" charset="0"/>
              </a:rPr>
              <a:t>curl -u </a:t>
            </a:r>
            <a:r>
              <a:rPr lang="en-US" dirty="0" err="1">
                <a:latin typeface="Courier New" panose="02070309020205020404" pitchFamily="49" charset="0"/>
                <a:cs typeface="Courier New" panose="02070309020205020404" pitchFamily="49" charset="0"/>
              </a:rPr>
              <a:t>username:password</a:t>
            </a:r>
            <a:r>
              <a:rPr lang="en-US" dirty="0">
                <a:latin typeface="Courier New" panose="02070309020205020404" pitchFamily="49" charset="0"/>
                <a:cs typeface="Courier New" panose="02070309020205020404" pitchFamily="49" charset="0"/>
              </a:rPr>
              <a:t> URL # Download url and pass user + password</a:t>
            </a:r>
          </a:p>
          <a:p>
            <a:r>
              <a:rPr lang="en-US" dirty="0">
                <a:latin typeface="Courier New" panose="02070309020205020404" pitchFamily="49" charset="0"/>
                <a:cs typeface="Courier New" panose="02070309020205020404" pitchFamily="49" charset="0"/>
              </a:rPr>
              <a:t>curl -F "name=user" -F "password=test" http://example.com # POST data to a form</a:t>
            </a:r>
          </a:p>
          <a:p>
            <a:r>
              <a:rPr lang="en-US" dirty="0">
                <a:latin typeface="Courier New" panose="02070309020205020404" pitchFamily="49" charset="0"/>
                <a:cs typeface="Courier New" panose="02070309020205020404" pitchFamily="49" charset="0"/>
              </a:rPr>
              <a:t>curl -H "Content-Type: application/json" -X POST -d '{"user":"bob","pass":"123"}' http://example.com # POST JSON Data.</a:t>
            </a:r>
          </a:p>
          <a:p>
            <a:endParaRPr lang="en-US" dirty="0"/>
          </a:p>
        </p:txBody>
      </p:sp>
    </p:spTree>
    <p:extLst>
      <p:ext uri="{BB962C8B-B14F-4D97-AF65-F5344CB8AC3E}">
        <p14:creationId xmlns:p14="http://schemas.microsoft.com/office/powerpoint/2010/main" val="54099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039B8F9-EED3-4046-AC3C-EEC2AB7D18B1}"/>
              </a:ext>
            </a:extLst>
          </p:cNvPr>
          <p:cNvSpPr>
            <a:spLocks noGrp="1"/>
          </p:cNvSpPr>
          <p:nvPr>
            <p:ph type="title"/>
          </p:nvPr>
        </p:nvSpPr>
        <p:spPr/>
        <p:txBody>
          <a:bodyPr/>
          <a:lstStyle/>
          <a:p>
            <a:r>
              <a:rPr lang="en-US" b="1" dirty="0"/>
              <a:t>less</a:t>
            </a:r>
            <a:r>
              <a:rPr lang="en-US" dirty="0"/>
              <a:t> - less is more, read a file</a:t>
            </a:r>
          </a:p>
        </p:txBody>
      </p:sp>
      <p:sp>
        <p:nvSpPr>
          <p:cNvPr id="3" name="Sisällön paikkamerkki 2">
            <a:extLst>
              <a:ext uri="{FF2B5EF4-FFF2-40B4-BE49-F238E27FC236}">
                <a16:creationId xmlns:a16="http://schemas.microsoft.com/office/drawing/2014/main" id="{FF2FB528-8D6D-4C83-8190-FDA9785F1F64}"/>
              </a:ext>
            </a:extLst>
          </p:cNvPr>
          <p:cNvSpPr>
            <a:spLocks noGrp="1"/>
          </p:cNvSpPr>
          <p:nvPr>
            <p:ph idx="1"/>
          </p:nvPr>
        </p:nvSpPr>
        <p:spPr/>
        <p:txBody>
          <a:bodyPr>
            <a:normAutofit fontScale="85000" lnSpcReduction="20000"/>
          </a:bodyPr>
          <a:lstStyle/>
          <a:p>
            <a:r>
              <a:rPr lang="en-US" dirty="0"/>
              <a:t>Similar to more, but more powerful.</a:t>
            </a:r>
          </a:p>
          <a:p>
            <a:r>
              <a:rPr lang="en-US" dirty="0"/>
              <a:t>less filename</a:t>
            </a:r>
          </a:p>
          <a:p>
            <a:r>
              <a:rPr lang="en-US" dirty="0"/>
              <a:t>space	next page</a:t>
            </a:r>
          </a:p>
          <a:p>
            <a:r>
              <a:rPr lang="en-US" dirty="0"/>
              <a:t>b		previous page</a:t>
            </a:r>
          </a:p>
          <a:p>
            <a:r>
              <a:rPr lang="en-US" dirty="0"/>
              <a:t>g		beginning of file</a:t>
            </a:r>
          </a:p>
          <a:p>
            <a:r>
              <a:rPr lang="en-US" dirty="0"/>
              <a:t>G 		end of file</a:t>
            </a:r>
          </a:p>
          <a:p>
            <a:r>
              <a:rPr lang="en-US" dirty="0"/>
              <a:t>q		quit</a:t>
            </a:r>
          </a:p>
          <a:p>
            <a:r>
              <a:rPr lang="en-US" dirty="0"/>
              <a:t>/pattern	search forward</a:t>
            </a:r>
          </a:p>
          <a:p>
            <a:r>
              <a:rPr lang="en-US" dirty="0"/>
              <a:t>?pattern	search backward</a:t>
            </a:r>
          </a:p>
          <a:p>
            <a:r>
              <a:rPr lang="en-US" dirty="0"/>
              <a:t>n		repeat previous search</a:t>
            </a:r>
          </a:p>
          <a:p>
            <a:r>
              <a:rPr lang="en-US" dirty="0"/>
              <a:t>:e filename	examine a new file</a:t>
            </a:r>
          </a:p>
        </p:txBody>
      </p:sp>
    </p:spTree>
    <p:extLst>
      <p:ext uri="{BB962C8B-B14F-4D97-AF65-F5344CB8AC3E}">
        <p14:creationId xmlns:p14="http://schemas.microsoft.com/office/powerpoint/2010/main" val="2234508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1443D32-CF73-4DAA-9888-F45143380526}"/>
              </a:ext>
            </a:extLst>
          </p:cNvPr>
          <p:cNvSpPr>
            <a:spLocks noGrp="1"/>
          </p:cNvSpPr>
          <p:nvPr>
            <p:ph type="title"/>
          </p:nvPr>
        </p:nvSpPr>
        <p:spPr/>
        <p:txBody>
          <a:bodyPr/>
          <a:lstStyle/>
          <a:p>
            <a:r>
              <a:rPr lang="en-US" b="1" dirty="0" err="1"/>
              <a:t>scp</a:t>
            </a:r>
            <a:r>
              <a:rPr lang="en-US" dirty="0"/>
              <a:t> - OpenSSH secure file copy</a:t>
            </a:r>
          </a:p>
        </p:txBody>
      </p:sp>
      <p:sp>
        <p:nvSpPr>
          <p:cNvPr id="3" name="Sisällön paikkamerkki 2">
            <a:extLst>
              <a:ext uri="{FF2B5EF4-FFF2-40B4-BE49-F238E27FC236}">
                <a16:creationId xmlns:a16="http://schemas.microsoft.com/office/drawing/2014/main" id="{2C6D4E60-D13C-4294-BF8D-B174111E22C6}"/>
              </a:ext>
            </a:extLst>
          </p:cNvPr>
          <p:cNvSpPr>
            <a:spLocks noGrp="1"/>
          </p:cNvSpPr>
          <p:nvPr>
            <p:ph idx="1"/>
          </p:nvPr>
        </p:nvSpPr>
        <p:spPr/>
        <p:txBody>
          <a:bodyPr>
            <a:normAutofit fontScale="92500" lnSpcReduction="20000"/>
          </a:bodyPr>
          <a:lstStyle/>
          <a:p>
            <a:r>
              <a:rPr lang="en-US" dirty="0" err="1"/>
              <a:t>scp</a:t>
            </a:r>
            <a:r>
              <a:rPr lang="en-US" dirty="0"/>
              <a:t> [OPTIONS] source … target</a:t>
            </a:r>
          </a:p>
          <a:p>
            <a:r>
              <a:rPr lang="en-US" dirty="0"/>
              <a:t>copy files between hosts on a network using SSH.</a:t>
            </a:r>
          </a:p>
          <a:p>
            <a:r>
              <a:rPr lang="en-US" dirty="0"/>
              <a:t>-q 	quiet mode</a:t>
            </a:r>
          </a:p>
          <a:p>
            <a:r>
              <a:rPr lang="en-US" dirty="0"/>
              <a:t>-p	preserves modification times, access times and modes</a:t>
            </a:r>
          </a:p>
          <a:p>
            <a:r>
              <a:rPr lang="en-US" dirty="0"/>
              <a:t>-v	verbose mode</a:t>
            </a:r>
          </a:p>
          <a:p>
            <a:r>
              <a:rPr lang="en-US" dirty="0" err="1">
                <a:latin typeface="Courier New" panose="02070309020205020404" pitchFamily="49" charset="0"/>
                <a:cs typeface="Courier New" panose="02070309020205020404" pitchFamily="49" charset="0"/>
              </a:rPr>
              <a:t>scp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sourcefile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user@host:dest</a:t>
            </a:r>
            <a:r>
              <a:rPr lang="en-US" dirty="0">
                <a:latin typeface="Courier New" panose="02070309020205020404" pitchFamily="49" charset="0"/>
                <a:cs typeface="Courier New" panose="02070309020205020404" pitchFamily="49" charset="0"/>
              </a:rPr>
              <a:t>/ # copy file from local to remote</a:t>
            </a:r>
          </a:p>
          <a:p>
            <a:r>
              <a:rPr lang="en-US" dirty="0" err="1">
                <a:latin typeface="Courier New" panose="02070309020205020404" pitchFamily="49" charset="0"/>
                <a:cs typeface="Courier New" panose="02070309020205020404" pitchFamily="49" charset="0"/>
              </a:rPr>
              <a:t>scp</a:t>
            </a:r>
            <a:r>
              <a:rPr lang="en-US" dirty="0">
                <a:latin typeface="Courier New" panose="02070309020205020404" pitchFamily="49" charset="0"/>
                <a:cs typeface="Courier New" panose="02070309020205020404" pitchFamily="49" charset="0"/>
              </a:rPr>
              <a:t> -p * </a:t>
            </a:r>
            <a:r>
              <a:rPr lang="en-US" dirty="0" err="1">
                <a:latin typeface="Courier New" panose="02070309020205020404" pitchFamily="49" charset="0"/>
                <a:cs typeface="Courier New" panose="02070309020205020404" pitchFamily="49" charset="0"/>
              </a:rPr>
              <a:t>user@host:dest</a:t>
            </a:r>
            <a:r>
              <a:rPr lang="en-US" dirty="0">
                <a:latin typeface="Courier New" panose="02070309020205020404" pitchFamily="49" charset="0"/>
                <a:cs typeface="Courier New" panose="02070309020205020404" pitchFamily="49" charset="0"/>
              </a:rPr>
              <a:t>/	# copy multiple files to remote preserving time stamps and file modes</a:t>
            </a:r>
          </a:p>
          <a:p>
            <a:r>
              <a:rPr lang="en-US" dirty="0" err="1">
                <a:latin typeface="Courier New" panose="02070309020205020404" pitchFamily="49" charset="0"/>
                <a:cs typeface="Courier New" panose="02070309020205020404" pitchFamily="49" charset="0"/>
              </a:rPr>
              <a:t>scp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user@host:folder</a:t>
            </a:r>
            <a:r>
              <a:rPr lang="en-US" dirty="0">
                <a:latin typeface="Courier New" panose="02070309020205020404" pitchFamily="49" charset="0"/>
                <a:cs typeface="Courier New" panose="02070309020205020404" pitchFamily="49" charset="0"/>
              </a:rPr>
              <a:t>/file .	# copy file from remote to local</a:t>
            </a:r>
          </a:p>
          <a:p>
            <a:endParaRPr lang="en-US" dirty="0"/>
          </a:p>
        </p:txBody>
      </p:sp>
    </p:spTree>
    <p:extLst>
      <p:ext uri="{BB962C8B-B14F-4D97-AF65-F5344CB8AC3E}">
        <p14:creationId xmlns:p14="http://schemas.microsoft.com/office/powerpoint/2010/main" val="1977657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E88AB25-DBF7-4B27-9A17-C032EE0A0495}"/>
              </a:ext>
            </a:extLst>
          </p:cNvPr>
          <p:cNvSpPr>
            <a:spLocks noGrp="1"/>
          </p:cNvSpPr>
          <p:nvPr>
            <p:ph type="title"/>
          </p:nvPr>
        </p:nvSpPr>
        <p:spPr/>
        <p:txBody>
          <a:bodyPr/>
          <a:lstStyle/>
          <a:p>
            <a:r>
              <a:rPr lang="en-US" b="1" dirty="0"/>
              <a:t>sftp</a:t>
            </a:r>
            <a:r>
              <a:rPr lang="en-US" dirty="0"/>
              <a:t> - Secure file Transfer Protocol</a:t>
            </a:r>
          </a:p>
        </p:txBody>
      </p:sp>
      <p:sp>
        <p:nvSpPr>
          <p:cNvPr id="3" name="Sisällön paikkamerkki 2">
            <a:extLst>
              <a:ext uri="{FF2B5EF4-FFF2-40B4-BE49-F238E27FC236}">
                <a16:creationId xmlns:a16="http://schemas.microsoft.com/office/drawing/2014/main" id="{47A1A5D7-DA74-46DD-A267-5E11068ABC9D}"/>
              </a:ext>
            </a:extLst>
          </p:cNvPr>
          <p:cNvSpPr>
            <a:spLocks noGrp="1"/>
          </p:cNvSpPr>
          <p:nvPr>
            <p:ph idx="1"/>
          </p:nvPr>
        </p:nvSpPr>
        <p:spPr/>
        <p:txBody>
          <a:bodyPr>
            <a:normAutofit fontScale="92500" lnSpcReduction="10000"/>
          </a:bodyPr>
          <a:lstStyle/>
          <a:p>
            <a:r>
              <a:rPr lang="en-US" b="1" dirty="0"/>
              <a:t>sftp</a:t>
            </a:r>
            <a:r>
              <a:rPr lang="en-US" dirty="0"/>
              <a:t> user@ip-address</a:t>
            </a:r>
          </a:p>
          <a:p>
            <a:r>
              <a:rPr lang="en-US" dirty="0"/>
              <a:t>commands:</a:t>
            </a:r>
          </a:p>
          <a:p>
            <a:pPr lvl="1"/>
            <a:r>
              <a:rPr lang="en-US" dirty="0"/>
              <a:t>cd			change remove directory</a:t>
            </a:r>
          </a:p>
          <a:p>
            <a:pPr lvl="1"/>
            <a:r>
              <a:rPr lang="en-US" dirty="0"/>
              <a:t>lcd			change local directory</a:t>
            </a:r>
          </a:p>
          <a:p>
            <a:pPr lvl="1"/>
            <a:r>
              <a:rPr lang="en-US" dirty="0"/>
              <a:t>ls / </a:t>
            </a:r>
            <a:r>
              <a:rPr lang="en-US" dirty="0" err="1"/>
              <a:t>dir</a:t>
            </a:r>
            <a:r>
              <a:rPr lang="en-US" dirty="0"/>
              <a:t>			list contents of remove directory</a:t>
            </a:r>
          </a:p>
          <a:p>
            <a:pPr lvl="1"/>
            <a:r>
              <a:rPr lang="en-US" dirty="0"/>
              <a:t>lls / !</a:t>
            </a:r>
            <a:r>
              <a:rPr lang="en-US" dirty="0" err="1"/>
              <a:t>dir</a:t>
            </a:r>
            <a:r>
              <a:rPr lang="en-US" dirty="0"/>
              <a:t>			list contests of local directory</a:t>
            </a:r>
          </a:p>
          <a:p>
            <a:pPr lvl="1"/>
            <a:r>
              <a:rPr lang="en-US" dirty="0"/>
              <a:t>!command		run a command locally</a:t>
            </a:r>
          </a:p>
          <a:p>
            <a:pPr lvl="1"/>
            <a:r>
              <a:rPr lang="en-US" dirty="0"/>
              <a:t>put			upload a file from local to remote</a:t>
            </a:r>
          </a:p>
          <a:p>
            <a:pPr lvl="1"/>
            <a:r>
              <a:rPr lang="en-US" dirty="0"/>
              <a:t>get			download a file from remote to local</a:t>
            </a:r>
          </a:p>
          <a:p>
            <a:pPr lvl="1"/>
            <a:r>
              <a:rPr lang="en-US" dirty="0"/>
              <a:t>mput			upload files from local to remove</a:t>
            </a:r>
          </a:p>
          <a:p>
            <a:pPr lvl="1"/>
            <a:r>
              <a:rPr lang="en-US" dirty="0"/>
              <a:t>mget			download files from remote to local</a:t>
            </a:r>
          </a:p>
          <a:p>
            <a:pPr lvl="1"/>
            <a:r>
              <a:rPr lang="en-US" dirty="0"/>
              <a:t>bye			quit</a:t>
            </a:r>
          </a:p>
        </p:txBody>
      </p:sp>
    </p:spTree>
    <p:extLst>
      <p:ext uri="{BB962C8B-B14F-4D97-AF65-F5344CB8AC3E}">
        <p14:creationId xmlns:p14="http://schemas.microsoft.com/office/powerpoint/2010/main" val="2243622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F45B2A4-8CDF-4C1A-A243-8CFAFBE0F24D}"/>
              </a:ext>
            </a:extLst>
          </p:cNvPr>
          <p:cNvSpPr>
            <a:spLocks noGrp="1"/>
          </p:cNvSpPr>
          <p:nvPr>
            <p:ph type="title"/>
          </p:nvPr>
        </p:nvSpPr>
        <p:spPr/>
        <p:txBody>
          <a:bodyPr/>
          <a:lstStyle/>
          <a:p>
            <a:r>
              <a:rPr lang="en-US" b="1" dirty="0"/>
              <a:t>du</a:t>
            </a:r>
            <a:r>
              <a:rPr lang="en-US" dirty="0"/>
              <a:t> - summarize file space usage</a:t>
            </a:r>
          </a:p>
        </p:txBody>
      </p:sp>
      <p:sp>
        <p:nvSpPr>
          <p:cNvPr id="3" name="Sisällön paikkamerkki 2">
            <a:extLst>
              <a:ext uri="{FF2B5EF4-FFF2-40B4-BE49-F238E27FC236}">
                <a16:creationId xmlns:a16="http://schemas.microsoft.com/office/drawing/2014/main" id="{12DC0304-E9FF-46AF-BA4B-D56FB64D7CC3}"/>
              </a:ext>
            </a:extLst>
          </p:cNvPr>
          <p:cNvSpPr>
            <a:spLocks noGrp="1"/>
          </p:cNvSpPr>
          <p:nvPr>
            <p:ph idx="1"/>
          </p:nvPr>
        </p:nvSpPr>
        <p:spPr/>
        <p:txBody>
          <a:bodyPr>
            <a:normAutofit lnSpcReduction="10000"/>
          </a:bodyPr>
          <a:lstStyle/>
          <a:p>
            <a:r>
              <a:rPr lang="en-US" dirty="0"/>
              <a:t>du [OPTION]… [file]…</a:t>
            </a:r>
          </a:p>
          <a:p>
            <a:r>
              <a:rPr lang="en-US" dirty="0"/>
              <a:t>-c 	produce grand total</a:t>
            </a:r>
          </a:p>
          <a:p>
            <a:r>
              <a:rPr lang="en-US" dirty="0"/>
              <a:t>-k	block size = 1 kilobyte</a:t>
            </a:r>
          </a:p>
          <a:p>
            <a:r>
              <a:rPr lang="en-US" dirty="0"/>
              <a:t>-s 	summarize</a:t>
            </a:r>
          </a:p>
          <a:p>
            <a:r>
              <a:rPr lang="en-US" dirty="0">
                <a:latin typeface="Courier New" panose="02070309020205020404" pitchFamily="49" charset="0"/>
                <a:cs typeface="Courier New" panose="02070309020205020404" pitchFamily="49" charset="0"/>
              </a:rPr>
              <a:t>du -c .	# list the size usage of all files in subdirectories and grand total</a:t>
            </a:r>
          </a:p>
          <a:p>
            <a:r>
              <a:rPr lang="en-US" dirty="0">
                <a:latin typeface="Courier New" panose="02070309020205020404" pitchFamily="49" charset="0"/>
                <a:cs typeface="Courier New" panose="02070309020205020404" pitchFamily="49" charset="0"/>
              </a:rPr>
              <a:t>du -</a:t>
            </a:r>
            <a:r>
              <a:rPr lang="en-US" dirty="0" err="1">
                <a:latin typeface="Courier New" panose="02070309020205020404" pitchFamily="49" charset="0"/>
                <a:cs typeface="Courier New" panose="02070309020205020404" pitchFamily="49" charset="0"/>
              </a:rPr>
              <a:t>sk</a:t>
            </a:r>
            <a:r>
              <a:rPr lang="en-US" dirty="0">
                <a:latin typeface="Courier New" panose="02070309020205020404" pitchFamily="49" charset="0"/>
                <a:cs typeface="Courier New" panose="02070309020205020404" pitchFamily="49" charset="0"/>
              </a:rPr>
              <a:t> *	# file space usage of all folders and files</a:t>
            </a:r>
          </a:p>
          <a:p>
            <a:r>
              <a:rPr lang="en-US" dirty="0">
                <a:latin typeface="Courier New" panose="02070309020205020404" pitchFamily="49" charset="0"/>
                <a:cs typeface="Courier New" panose="02070309020205020404" pitchFamily="49" charset="0"/>
              </a:rPr>
              <a:t>du -</a:t>
            </a:r>
            <a:r>
              <a:rPr lang="en-US" dirty="0" err="1">
                <a:latin typeface="Courier New" panose="02070309020205020404" pitchFamily="49" charset="0"/>
                <a:cs typeface="Courier New" panose="02070309020205020404" pitchFamily="49" charset="0"/>
              </a:rPr>
              <a:t>sk</a:t>
            </a:r>
            <a:r>
              <a:rPr lang="en-US" dirty="0">
                <a:latin typeface="Courier New" panose="02070309020205020404" pitchFamily="49" charset="0"/>
                <a:cs typeface="Courier New" panose="02070309020205020404" pitchFamily="49" charset="0"/>
              </a:rPr>
              <a:t> * | sort -</a:t>
            </a:r>
            <a:r>
              <a:rPr lang="en-US" dirty="0" err="1">
                <a:latin typeface="Courier New" panose="02070309020205020404" pitchFamily="49" charset="0"/>
                <a:cs typeface="Courier New" panose="02070309020205020404" pitchFamily="49" charset="0"/>
              </a:rPr>
              <a:t>rn</a:t>
            </a:r>
            <a:r>
              <a:rPr lang="en-US" dirty="0">
                <a:latin typeface="Courier New" panose="02070309020205020404" pitchFamily="49" charset="0"/>
                <a:cs typeface="Courier New" panose="02070309020205020404" pitchFamily="49" charset="0"/>
              </a:rPr>
              <a:t>	# file space usage of folders/files sorted</a:t>
            </a:r>
          </a:p>
        </p:txBody>
      </p:sp>
    </p:spTree>
    <p:extLst>
      <p:ext uri="{BB962C8B-B14F-4D97-AF65-F5344CB8AC3E}">
        <p14:creationId xmlns:p14="http://schemas.microsoft.com/office/powerpoint/2010/main" val="718964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3FEB00E-0153-4E32-8FB7-264337DD2DA4}"/>
              </a:ext>
            </a:extLst>
          </p:cNvPr>
          <p:cNvSpPr>
            <a:spLocks noGrp="1"/>
          </p:cNvSpPr>
          <p:nvPr>
            <p:ph type="title"/>
          </p:nvPr>
        </p:nvSpPr>
        <p:spPr/>
        <p:txBody>
          <a:bodyPr/>
          <a:lstStyle/>
          <a:p>
            <a:r>
              <a:rPr lang="en-US" dirty="0"/>
              <a:t>Standard Input, Output, Error, Redirecting and Pipes</a:t>
            </a:r>
          </a:p>
        </p:txBody>
      </p:sp>
      <p:sp>
        <p:nvSpPr>
          <p:cNvPr id="3" name="Sisällön paikkamerkki 2">
            <a:extLst>
              <a:ext uri="{FF2B5EF4-FFF2-40B4-BE49-F238E27FC236}">
                <a16:creationId xmlns:a16="http://schemas.microsoft.com/office/drawing/2014/main" id="{A36DBC2B-7032-4361-A4EB-2C7410E1BFA5}"/>
              </a:ext>
            </a:extLst>
          </p:cNvPr>
          <p:cNvSpPr>
            <a:spLocks noGrp="1"/>
          </p:cNvSpPr>
          <p:nvPr>
            <p:ph idx="1"/>
          </p:nvPr>
        </p:nvSpPr>
        <p:spPr/>
        <p:txBody>
          <a:bodyPr>
            <a:normAutofit fontScale="77500" lnSpcReduction="20000"/>
          </a:bodyPr>
          <a:lstStyle/>
          <a:p>
            <a:r>
              <a:rPr lang="en-US" dirty="0"/>
              <a:t>Each process has: standard input, standard output and standard error</a:t>
            </a:r>
          </a:p>
          <a:p>
            <a:r>
              <a:rPr lang="en-US" dirty="0">
                <a:latin typeface="Courier New" panose="02070309020205020404" pitchFamily="49" charset="0"/>
                <a:cs typeface="Courier New" panose="02070309020205020404" pitchFamily="49" charset="0"/>
              </a:rPr>
              <a:t>&gt; file		redirect standard output to file</a:t>
            </a:r>
          </a:p>
          <a:p>
            <a:r>
              <a:rPr lang="en-US" dirty="0">
                <a:latin typeface="Courier New" panose="02070309020205020404" pitchFamily="49" charset="0"/>
                <a:cs typeface="Courier New" panose="02070309020205020404" pitchFamily="49" charset="0"/>
              </a:rPr>
              <a:t>1&gt; file		redirect standard output to file</a:t>
            </a:r>
          </a:p>
          <a:p>
            <a:r>
              <a:rPr lang="en-US" dirty="0">
                <a:latin typeface="Courier New" panose="02070309020205020404" pitchFamily="49" charset="0"/>
                <a:cs typeface="Courier New" panose="02070309020205020404" pitchFamily="49" charset="0"/>
              </a:rPr>
              <a:t>&lt; file		redirect standard input from file</a:t>
            </a:r>
          </a:p>
          <a:p>
            <a:r>
              <a:rPr lang="en-US" dirty="0">
                <a:latin typeface="Courier New" panose="02070309020205020404" pitchFamily="49" charset="0"/>
                <a:cs typeface="Courier New" panose="02070309020205020404" pitchFamily="49" charset="0"/>
              </a:rPr>
              <a:t>&gt;&gt; file		append standard output to file</a:t>
            </a:r>
          </a:p>
          <a:p>
            <a:r>
              <a:rPr lang="en-US" dirty="0">
                <a:latin typeface="Courier New" panose="02070309020205020404" pitchFamily="49" charset="0"/>
                <a:cs typeface="Courier New" panose="02070309020205020404" pitchFamily="49" charset="0"/>
              </a:rPr>
              <a:t>|			pipe standard output</a:t>
            </a:r>
          </a:p>
          <a:p>
            <a:r>
              <a:rPr lang="en-US" dirty="0">
                <a:latin typeface="Courier New" panose="02070309020205020404" pitchFamily="49" charset="0"/>
                <a:cs typeface="Courier New" panose="02070309020205020404" pitchFamily="49" charset="0"/>
              </a:rPr>
              <a:t>-			standard input or standard output</a:t>
            </a:r>
          </a:p>
          <a:p>
            <a:r>
              <a:rPr lang="en-US" dirty="0">
                <a:latin typeface="Courier New" panose="02070309020205020404" pitchFamily="49" charset="0"/>
                <a:cs typeface="Courier New" panose="02070309020205020404" pitchFamily="49" charset="0"/>
              </a:rPr>
              <a:t>2&gt; 			redirect standard error to file</a:t>
            </a:r>
          </a:p>
          <a:p>
            <a:r>
              <a:rPr lang="en-US" dirty="0">
                <a:latin typeface="Courier New" panose="02070309020205020404" pitchFamily="49" charset="0"/>
                <a:cs typeface="Courier New" panose="02070309020205020404" pitchFamily="49" charset="0"/>
              </a:rPr>
              <a:t>&amp;&gt;			redirect both standard error and standard output to file</a:t>
            </a:r>
          </a:p>
          <a:p>
            <a:r>
              <a:rPr lang="en-US" dirty="0">
                <a:latin typeface="Courier New" panose="02070309020205020404" pitchFamily="49" charset="0"/>
                <a:cs typeface="Courier New" panose="02070309020205020404" pitchFamily="49" charset="0"/>
              </a:rPr>
              <a:t>2&gt;&amp;-			discard / suppress error messages</a:t>
            </a:r>
          </a:p>
          <a:p>
            <a:r>
              <a:rPr lang="en-US" dirty="0">
                <a:latin typeface="Courier New" panose="02070309020205020404" pitchFamily="49" charset="0"/>
                <a:cs typeface="Courier New" panose="02070309020205020404" pitchFamily="49" charset="0"/>
              </a:rPr>
              <a:t>2&gt;&amp;1			redirect standard error to standard </a:t>
            </a:r>
            <a:r>
              <a:rPr lang="en-US" dirty="0" err="1">
                <a:latin typeface="Courier New" panose="02070309020205020404" pitchFamily="49" charset="0"/>
                <a:cs typeface="Courier New" panose="02070309020205020404" pitchFamily="49" charset="0"/>
              </a:rPr>
              <a:t>ouput</a:t>
            </a:r>
            <a:endParaRPr lang="en-US" dirty="0">
              <a:latin typeface="Courier New" panose="02070309020205020404" pitchFamily="49" charset="0"/>
              <a:cs typeface="Courier New" panose="02070309020205020404" pitchFamily="49" charset="0"/>
            </a:endParaRPr>
          </a:p>
          <a:p>
            <a:endParaRPr lang="en-US" dirty="0"/>
          </a:p>
          <a:p>
            <a:endParaRPr lang="en-US" dirty="0"/>
          </a:p>
        </p:txBody>
      </p:sp>
    </p:spTree>
    <p:extLst>
      <p:ext uri="{BB962C8B-B14F-4D97-AF65-F5344CB8AC3E}">
        <p14:creationId xmlns:p14="http://schemas.microsoft.com/office/powerpoint/2010/main" val="2957067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ABC5990-A549-4101-AD93-094D5813E046}"/>
              </a:ext>
            </a:extLst>
          </p:cNvPr>
          <p:cNvSpPr>
            <a:spLocks noGrp="1"/>
          </p:cNvSpPr>
          <p:nvPr>
            <p:ph type="title"/>
          </p:nvPr>
        </p:nvSpPr>
        <p:spPr/>
        <p:txBody>
          <a:bodyPr/>
          <a:lstStyle/>
          <a:p>
            <a:r>
              <a:rPr lang="en-US" b="1" dirty="0"/>
              <a:t>head</a:t>
            </a:r>
            <a:r>
              <a:rPr lang="en-US" dirty="0"/>
              <a:t> - output the first parts of file</a:t>
            </a:r>
          </a:p>
        </p:txBody>
      </p:sp>
      <p:sp>
        <p:nvSpPr>
          <p:cNvPr id="3" name="Sisällön paikkamerkki 2">
            <a:extLst>
              <a:ext uri="{FF2B5EF4-FFF2-40B4-BE49-F238E27FC236}">
                <a16:creationId xmlns:a16="http://schemas.microsoft.com/office/drawing/2014/main" id="{0110791C-743D-44CC-AD77-569856AF46B4}"/>
              </a:ext>
            </a:extLst>
          </p:cNvPr>
          <p:cNvSpPr>
            <a:spLocks noGrp="1"/>
          </p:cNvSpPr>
          <p:nvPr>
            <p:ph idx="1"/>
          </p:nvPr>
        </p:nvSpPr>
        <p:spPr>
          <a:xfrm>
            <a:off x="838200" y="1825625"/>
            <a:ext cx="10515600" cy="4351338"/>
          </a:xfrm>
        </p:spPr>
        <p:txBody>
          <a:bodyPr>
            <a:normAutofit fontScale="85000" lnSpcReduction="10000"/>
          </a:bodyPr>
          <a:lstStyle/>
          <a:p>
            <a:r>
              <a:rPr lang="en-US" b="1" dirty="0"/>
              <a:t>head</a:t>
            </a:r>
            <a:r>
              <a:rPr lang="en-US" dirty="0"/>
              <a:t> </a:t>
            </a:r>
            <a:r>
              <a:rPr lang="en-US" i="1" dirty="0"/>
              <a:t>[OPTION]... [file]...</a:t>
            </a:r>
          </a:p>
          <a:p>
            <a:r>
              <a:rPr lang="en-US" dirty="0"/>
              <a:t>by default output the first 10 lines</a:t>
            </a:r>
          </a:p>
          <a:p>
            <a:r>
              <a:rPr lang="en-US" dirty="0"/>
              <a:t>-c bytes	output the first </a:t>
            </a:r>
            <a:r>
              <a:rPr lang="en-US" i="1" dirty="0"/>
              <a:t>bytes </a:t>
            </a:r>
            <a:r>
              <a:rPr lang="en-US" dirty="0" err="1"/>
              <a:t>bytes</a:t>
            </a:r>
            <a:endParaRPr lang="en-US" dirty="0"/>
          </a:p>
          <a:p>
            <a:r>
              <a:rPr lang="en-US" dirty="0"/>
              <a:t>-</a:t>
            </a:r>
            <a:r>
              <a:rPr lang="en-US" i="1" dirty="0"/>
              <a:t>number</a:t>
            </a:r>
            <a:r>
              <a:rPr lang="en-US" dirty="0"/>
              <a:t>	output </a:t>
            </a:r>
            <a:r>
              <a:rPr lang="en-US" i="1" dirty="0"/>
              <a:t>number</a:t>
            </a:r>
            <a:r>
              <a:rPr lang="en-US" dirty="0"/>
              <a:t> lines</a:t>
            </a:r>
          </a:p>
          <a:p>
            <a:r>
              <a:rPr lang="en-US" dirty="0"/>
              <a:t>-n </a:t>
            </a:r>
            <a:r>
              <a:rPr lang="en-US" i="1" dirty="0"/>
              <a:t>number</a:t>
            </a:r>
            <a:r>
              <a:rPr lang="en-US" dirty="0"/>
              <a:t>	output </a:t>
            </a:r>
            <a:r>
              <a:rPr lang="en-US" i="1" dirty="0"/>
              <a:t>number</a:t>
            </a:r>
            <a:r>
              <a:rPr lang="en-US" dirty="0"/>
              <a:t> lines</a:t>
            </a:r>
          </a:p>
          <a:p>
            <a:r>
              <a:rPr lang="en-US" dirty="0"/>
              <a:t>-q		quiet mode (don't output file names)</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head -5 f.txt		# output the first 5 lines of </a:t>
            </a:r>
            <a:r>
              <a:rPr lang="en-US" i="1" dirty="0">
                <a:latin typeface="Courier New" panose="02070309020205020404" pitchFamily="49" charset="0"/>
                <a:cs typeface="Courier New" panose="02070309020205020404" pitchFamily="49" charset="0"/>
              </a:rPr>
              <a:t>f.txt</a:t>
            </a:r>
            <a:endParaRPr lang="en-US" dirty="0"/>
          </a:p>
          <a:p>
            <a:pPr marL="0" indent="0">
              <a:buNone/>
            </a:pPr>
            <a:r>
              <a:rPr lang="en-US" dirty="0">
                <a:latin typeface="Courier New" panose="02070309020205020404" pitchFamily="49" charset="0"/>
                <a:cs typeface="Courier New" panose="02070309020205020404" pitchFamily="49" charset="0"/>
              </a:rPr>
              <a:t>head -n 1 *.txt		# output the first line of all .txt</a:t>
            </a:r>
          </a:p>
          <a:p>
            <a:pPr marL="0" indent="0">
              <a:buNone/>
            </a:pPr>
            <a:r>
              <a:rPr lang="en-US" dirty="0">
                <a:latin typeface="Courier New" panose="02070309020205020404" pitchFamily="49" charset="0"/>
                <a:cs typeface="Courier New" panose="02070309020205020404" pitchFamily="49" charset="0"/>
              </a:rPr>
              <a:t>head -</a:t>
            </a:r>
            <a:r>
              <a:rPr lang="en-US" dirty="0" err="1">
                <a:latin typeface="Courier New" panose="02070309020205020404" pitchFamily="49" charset="0"/>
                <a:cs typeface="Courier New" panose="02070309020205020404" pitchFamily="49" charset="0"/>
              </a:rPr>
              <a:t>qn</a:t>
            </a:r>
            <a:r>
              <a:rPr lang="en-US" dirty="0">
                <a:latin typeface="Courier New" panose="02070309020205020404" pitchFamily="49" charset="0"/>
                <a:cs typeface="Courier New" panose="02070309020205020404" pitchFamily="49" charset="0"/>
              </a:rPr>
              <a:t> 1 *.txt	# output the first line of quietly</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85923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C679A9D-CA37-48A3-920C-A60C8A2F0F68}"/>
              </a:ext>
            </a:extLst>
          </p:cNvPr>
          <p:cNvSpPr>
            <a:spLocks noGrp="1"/>
          </p:cNvSpPr>
          <p:nvPr>
            <p:ph type="title"/>
          </p:nvPr>
        </p:nvSpPr>
        <p:spPr/>
        <p:txBody>
          <a:bodyPr/>
          <a:lstStyle/>
          <a:p>
            <a:r>
              <a:rPr lang="en-US" b="1" dirty="0"/>
              <a:t>od</a:t>
            </a:r>
            <a:r>
              <a:rPr lang="en-US" dirty="0"/>
              <a:t> - dump files in octal and other formats</a:t>
            </a:r>
          </a:p>
        </p:txBody>
      </p:sp>
      <p:sp>
        <p:nvSpPr>
          <p:cNvPr id="3" name="Sisällön paikkamerkki 2">
            <a:extLst>
              <a:ext uri="{FF2B5EF4-FFF2-40B4-BE49-F238E27FC236}">
                <a16:creationId xmlns:a16="http://schemas.microsoft.com/office/drawing/2014/main" id="{91E5DE18-CD8F-435C-A557-658FC1EC747B}"/>
              </a:ext>
            </a:extLst>
          </p:cNvPr>
          <p:cNvSpPr>
            <a:spLocks noGrp="1"/>
          </p:cNvSpPr>
          <p:nvPr>
            <p:ph idx="1"/>
          </p:nvPr>
        </p:nvSpPr>
        <p:spPr/>
        <p:txBody>
          <a:bodyPr>
            <a:normAutofit fontScale="92500" lnSpcReduction="20000"/>
          </a:bodyPr>
          <a:lstStyle/>
          <a:p>
            <a:r>
              <a:rPr lang="en-US" dirty="0"/>
              <a:t>od [OPTION]... [file]...</a:t>
            </a:r>
          </a:p>
          <a:p>
            <a:r>
              <a:rPr lang="en-US" dirty="0"/>
              <a:t>-a		named ASCII characters (highest bit ignored)</a:t>
            </a:r>
          </a:p>
          <a:p>
            <a:r>
              <a:rPr lang="en-US" dirty="0"/>
              <a:t>-x		hexadecimal 2-byte units</a:t>
            </a:r>
          </a:p>
          <a:p>
            <a:r>
              <a:rPr lang="en-US" dirty="0"/>
              <a:t>--endian=</a:t>
            </a:r>
            <a:r>
              <a:rPr lang="en-US" dirty="0" err="1"/>
              <a:t>big|little</a:t>
            </a:r>
            <a:r>
              <a:rPr lang="en-US" dirty="0"/>
              <a:t>	turn on little or big endian byte ordering</a:t>
            </a:r>
          </a:p>
          <a:p>
            <a:r>
              <a:rPr lang="en-US" dirty="0"/>
              <a:t>-N </a:t>
            </a:r>
            <a:r>
              <a:rPr lang="en-US" i="1" dirty="0"/>
              <a:t>limit	</a:t>
            </a:r>
            <a:r>
              <a:rPr lang="en-US" dirty="0"/>
              <a:t>limit to </a:t>
            </a:r>
            <a:r>
              <a:rPr lang="en-US" i="1" dirty="0"/>
              <a:t>limit </a:t>
            </a:r>
            <a:r>
              <a:rPr lang="en-US" dirty="0"/>
              <a:t>bytes</a:t>
            </a:r>
          </a:p>
          <a:p>
            <a:r>
              <a:rPr lang="en-US" dirty="0"/>
              <a:t>-j </a:t>
            </a:r>
            <a:r>
              <a:rPr lang="en-US" i="1" dirty="0"/>
              <a:t>bytes	</a:t>
            </a:r>
            <a:r>
              <a:rPr lang="en-US" dirty="0"/>
              <a:t>skip </a:t>
            </a:r>
            <a:r>
              <a:rPr lang="en-US" i="1" dirty="0"/>
              <a:t>bytes </a:t>
            </a:r>
            <a:r>
              <a:rPr lang="en-US" dirty="0" err="1"/>
              <a:t>bytes</a:t>
            </a:r>
            <a:endParaRPr lang="en-US" dirty="0"/>
          </a:p>
          <a:p>
            <a:pPr marL="0" indent="0">
              <a:buNone/>
            </a:pPr>
            <a:r>
              <a:rPr lang="en-US" dirty="0">
                <a:latin typeface="Courier New" panose="02070309020205020404" pitchFamily="49" charset="0"/>
                <a:cs typeface="Courier New" panose="02070309020205020404" pitchFamily="49" charset="0"/>
              </a:rPr>
              <a:t>od -</a:t>
            </a:r>
            <a:r>
              <a:rPr lang="en-US" dirty="0" err="1">
                <a:latin typeface="Courier New" panose="02070309020205020404" pitchFamily="49" charset="0"/>
                <a:cs typeface="Courier New" panose="02070309020205020404" pitchFamily="49" charset="0"/>
              </a:rPr>
              <a:t>xN</a:t>
            </a:r>
            <a:r>
              <a:rPr lang="en-US" dirty="0">
                <a:latin typeface="Courier New" panose="02070309020205020404" pitchFamily="49" charset="0"/>
                <a:cs typeface="Courier New" panose="02070309020205020404" pitchFamily="49" charset="0"/>
              </a:rPr>
              <a:t> 100	first 100 bytes in hexadecimal</a:t>
            </a:r>
          </a:p>
          <a:p>
            <a:pPr marL="0" indent="0">
              <a:buNone/>
            </a:pPr>
            <a:r>
              <a:rPr lang="en-US" dirty="0">
                <a:latin typeface="Courier New" panose="02070309020205020404" pitchFamily="49" charset="0"/>
                <a:cs typeface="Courier New" panose="02070309020205020404" pitchFamily="49" charset="0"/>
              </a:rPr>
              <a:t>od –x --endian=big show in hexadecimal big endian</a:t>
            </a:r>
          </a:p>
          <a:p>
            <a:pPr marL="0" indent="0">
              <a:buNone/>
            </a:pPr>
            <a:r>
              <a:rPr lang="en-US" dirty="0">
                <a:latin typeface="Courier New" panose="02070309020205020404" pitchFamily="49" charset="0"/>
                <a:cs typeface="Courier New" panose="02070309020205020404" pitchFamily="49" charset="0"/>
              </a:rPr>
              <a:t>od -j 100	skip first 100 bytes</a:t>
            </a:r>
          </a:p>
          <a:p>
            <a:pPr marL="0" indent="0">
              <a:buNone/>
            </a:pPr>
            <a:r>
              <a:rPr lang="en-US" dirty="0">
                <a:latin typeface="Courier New" panose="02070309020205020404" pitchFamily="49" charset="0"/>
                <a:cs typeface="Courier New" panose="02070309020205020404" pitchFamily="49" charset="0"/>
              </a:rPr>
              <a:t>od -a file	view ASCII characters</a:t>
            </a:r>
          </a:p>
          <a:p>
            <a:pPr marL="0" indent="0">
              <a:buNone/>
            </a:pPr>
            <a:endParaRPr lang="en-US" dirty="0"/>
          </a:p>
          <a:p>
            <a:endParaRPr lang="en-US" dirty="0"/>
          </a:p>
        </p:txBody>
      </p:sp>
    </p:spTree>
    <p:extLst>
      <p:ext uri="{BB962C8B-B14F-4D97-AF65-F5344CB8AC3E}">
        <p14:creationId xmlns:p14="http://schemas.microsoft.com/office/powerpoint/2010/main" val="3393945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63E1A9E-0588-4448-8D35-21D1BEE47AB4}"/>
              </a:ext>
            </a:extLst>
          </p:cNvPr>
          <p:cNvSpPr>
            <a:spLocks noGrp="1"/>
          </p:cNvSpPr>
          <p:nvPr>
            <p:ph type="title"/>
          </p:nvPr>
        </p:nvSpPr>
        <p:spPr/>
        <p:txBody>
          <a:bodyPr/>
          <a:lstStyle/>
          <a:p>
            <a:r>
              <a:rPr lang="en-US" b="1" dirty="0"/>
              <a:t>sed</a:t>
            </a:r>
            <a:r>
              <a:rPr lang="en-US" dirty="0"/>
              <a:t> - stream editor for filtering and transforming text</a:t>
            </a:r>
          </a:p>
        </p:txBody>
      </p:sp>
      <p:sp>
        <p:nvSpPr>
          <p:cNvPr id="3" name="Sisällön paikkamerkki 2">
            <a:extLst>
              <a:ext uri="{FF2B5EF4-FFF2-40B4-BE49-F238E27FC236}">
                <a16:creationId xmlns:a16="http://schemas.microsoft.com/office/drawing/2014/main" id="{07F680E2-AFD9-451B-A16B-BB6AF54CB6F1}"/>
              </a:ext>
            </a:extLst>
          </p:cNvPr>
          <p:cNvSpPr>
            <a:spLocks noGrp="1"/>
          </p:cNvSpPr>
          <p:nvPr>
            <p:ph idx="1"/>
          </p:nvPr>
        </p:nvSpPr>
        <p:spPr>
          <a:xfrm>
            <a:off x="838200" y="1825624"/>
            <a:ext cx="10515600" cy="4843623"/>
          </a:xfrm>
        </p:spPr>
        <p:txBody>
          <a:bodyPr>
            <a:normAutofit fontScale="62500" lnSpcReduction="20000"/>
          </a:bodyPr>
          <a:lstStyle/>
          <a:p>
            <a:r>
              <a:rPr lang="en-US" dirty="0">
                <a:cs typeface="Courier New" panose="02070309020205020404" pitchFamily="49" charset="0"/>
              </a:rPr>
              <a:t>-n 	suppress output of replacements</a:t>
            </a:r>
          </a:p>
          <a:p>
            <a:r>
              <a:rPr lang="en-US" dirty="0">
                <a:cs typeface="Courier New" panose="02070309020205020404" pitchFamily="49" charset="0"/>
              </a:rPr>
              <a:t>-e	add a script to be executed</a:t>
            </a:r>
          </a:p>
          <a:p>
            <a:r>
              <a:rPr lang="en-US" dirty="0">
                <a:cs typeface="Courier New" panose="02070309020205020404" pitchFamily="49" charset="0"/>
              </a:rPr>
              <a:t>-i	</a:t>
            </a:r>
            <a:r>
              <a:rPr lang="en-US" dirty="0" err="1">
                <a:cs typeface="Courier New" panose="02070309020205020404" pitchFamily="49" charset="0"/>
              </a:rPr>
              <a:t>inplace</a:t>
            </a:r>
            <a:r>
              <a:rPr lang="en-US" dirty="0">
                <a:cs typeface="Courier New" panose="02070309020205020404" pitchFamily="49" charset="0"/>
              </a:rPr>
              <a:t> edit, if suffix if provided create a backup file</a:t>
            </a:r>
          </a:p>
          <a:p>
            <a:pPr marL="0" indent="0">
              <a:buNone/>
            </a:pP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sed -i 's/old/new/g' file.txt 	# replace old with new </a:t>
            </a:r>
            <a:r>
              <a:rPr lang="en-US" dirty="0" err="1">
                <a:latin typeface="Courier New" panose="02070309020205020404" pitchFamily="49" charset="0"/>
                <a:cs typeface="Courier New" panose="02070309020205020404" pitchFamily="49" charset="0"/>
              </a:rPr>
              <a:t>inplace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sed '3 s/big/small/g' file.txt	# replace big with small on  line 3</a:t>
            </a:r>
          </a:p>
          <a:p>
            <a:r>
              <a:rPr lang="en-US" dirty="0">
                <a:latin typeface="Courier New" panose="02070309020205020404" pitchFamily="49" charset="0"/>
                <a:cs typeface="Courier New" panose="02070309020205020404" pitchFamily="49" charset="0"/>
              </a:rPr>
              <a:t>sed '10,20s/w/v/g' file.txt	# replace on lines 10-20</a:t>
            </a:r>
          </a:p>
          <a:p>
            <a:r>
              <a:rPr lang="en-US" dirty="0">
                <a:latin typeface="Courier New" panose="02070309020205020404" pitchFamily="49" charset="0"/>
                <a:cs typeface="Courier New" panose="02070309020205020404" pitchFamily="49" charset="0"/>
              </a:rPr>
              <a:t>sed -e 's/one/uno' -e 's/two/duo' file.txt # chain commands</a:t>
            </a:r>
          </a:p>
          <a:p>
            <a:r>
              <a:rPr lang="en-US" dirty="0">
                <a:latin typeface="Courier New" panose="02070309020205020404" pitchFamily="49" charset="0"/>
                <a:cs typeface="Courier New" panose="02070309020205020404" pitchFamily="49" charset="0"/>
              </a:rPr>
              <a:t>sed -</a:t>
            </a:r>
            <a:r>
              <a:rPr lang="en-US" dirty="0" err="1">
                <a:latin typeface="Courier New" panose="02070309020205020404" pitchFamily="49" charset="0"/>
                <a:cs typeface="Courier New" panose="02070309020205020404" pitchFamily="49" charset="0"/>
              </a:rPr>
              <a:t>ni.bak</a:t>
            </a:r>
            <a:r>
              <a:rPr lang="en-US" dirty="0">
                <a:latin typeface="Courier New" panose="02070309020205020404" pitchFamily="49" charset="0"/>
                <a:cs typeface="Courier New" panose="02070309020205020404" pitchFamily="49" charset="0"/>
              </a:rPr>
              <a:t> "s/danger/safety/g" file.txt # create a backup file</a:t>
            </a:r>
          </a:p>
          <a:p>
            <a:r>
              <a:rPr lang="en-US" dirty="0">
                <a:latin typeface="Courier New" panose="02070309020205020404" pitchFamily="49" charset="0"/>
                <a:cs typeface="Courier New" panose="02070309020205020404" pitchFamily="49" charset="0"/>
              </a:rPr>
              <a:t>sed 'G' file # add blank line after every non-blank line</a:t>
            </a:r>
          </a:p>
          <a:p>
            <a:r>
              <a:rPr lang="en-US" dirty="0">
                <a:latin typeface="Courier New" panose="02070309020205020404" pitchFamily="49" charset="0"/>
                <a:cs typeface="Courier New" panose="02070309020205020404" pitchFamily="49" charset="0"/>
              </a:rPr>
              <a:t>sed $'s/$/\r/' file.txt	# convert from Linux to Windows line endings</a:t>
            </a:r>
          </a:p>
          <a:p>
            <a:r>
              <a:rPr lang="pt-BR" dirty="0">
                <a:latin typeface="Courier New" panose="02070309020205020404" pitchFamily="49" charset="0"/>
                <a:cs typeface="Courier New" panose="02070309020205020404" pitchFamily="49" charset="0"/>
              </a:rPr>
              <a:t>sed -n 2,5p test.txt	# print lines 2-5</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sed 2,5d testfile.txt	# delete specified lines 2-5</a:t>
            </a:r>
          </a:p>
          <a:p>
            <a:r>
              <a:rPr lang="en-US" dirty="0">
                <a:latin typeface="Courier New" panose="02070309020205020404" pitchFamily="49" charset="0"/>
                <a:cs typeface="Courier New" panose="02070309020205020404" pitchFamily="49" charset="0"/>
              </a:rPr>
              <a:t>sed '$d' file.txt 		# delete last line</a:t>
            </a:r>
          </a:p>
          <a:p>
            <a:r>
              <a:rPr lang="en-US" dirty="0">
                <a:latin typeface="Courier New" panose="02070309020205020404" pitchFamily="49" charset="0"/>
                <a:cs typeface="Courier New" panose="02070309020205020404" pitchFamily="49" charset="0"/>
              </a:rPr>
              <a:t>sed '1,10!d'    		# delete all lines, except specified</a:t>
            </a:r>
          </a:p>
        </p:txBody>
      </p:sp>
    </p:spTree>
    <p:extLst>
      <p:ext uri="{BB962C8B-B14F-4D97-AF65-F5344CB8AC3E}">
        <p14:creationId xmlns:p14="http://schemas.microsoft.com/office/powerpoint/2010/main" val="714791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8D343ED-566A-4C4D-A0B8-B0D75214C6CA}"/>
              </a:ext>
            </a:extLst>
          </p:cNvPr>
          <p:cNvSpPr>
            <a:spLocks noGrp="1"/>
          </p:cNvSpPr>
          <p:nvPr>
            <p:ph type="title"/>
          </p:nvPr>
        </p:nvSpPr>
        <p:spPr/>
        <p:txBody>
          <a:bodyPr/>
          <a:lstStyle/>
          <a:p>
            <a:r>
              <a:rPr lang="en-US" b="1" dirty="0"/>
              <a:t>sort</a:t>
            </a:r>
            <a:r>
              <a:rPr lang="en-US" dirty="0"/>
              <a:t>	- sort lines of text files</a:t>
            </a:r>
          </a:p>
        </p:txBody>
      </p:sp>
      <p:sp>
        <p:nvSpPr>
          <p:cNvPr id="3" name="Sisällön paikkamerkki 2">
            <a:extLst>
              <a:ext uri="{FF2B5EF4-FFF2-40B4-BE49-F238E27FC236}">
                <a16:creationId xmlns:a16="http://schemas.microsoft.com/office/drawing/2014/main" id="{A9801FA0-799A-4CEC-9D67-160AEF5848AD}"/>
              </a:ext>
            </a:extLst>
          </p:cNvPr>
          <p:cNvSpPr>
            <a:spLocks noGrp="1"/>
          </p:cNvSpPr>
          <p:nvPr>
            <p:ph idx="1"/>
          </p:nvPr>
        </p:nvSpPr>
        <p:spPr/>
        <p:txBody>
          <a:bodyPr>
            <a:normAutofit fontScale="77500" lnSpcReduction="20000"/>
          </a:bodyPr>
          <a:lstStyle/>
          <a:p>
            <a:r>
              <a:rPr lang="en-US" dirty="0"/>
              <a:t> </a:t>
            </a:r>
            <a:r>
              <a:rPr lang="en-US" b="1" dirty="0"/>
              <a:t>sort</a:t>
            </a:r>
            <a:r>
              <a:rPr lang="en-US" dirty="0"/>
              <a:t> </a:t>
            </a:r>
            <a:r>
              <a:rPr lang="en-US" i="1" dirty="0"/>
              <a:t>[OPTION]... [file]...</a:t>
            </a:r>
          </a:p>
          <a:p>
            <a:r>
              <a:rPr lang="en-US" dirty="0"/>
              <a:t>-b		ignore leading blanks</a:t>
            </a:r>
          </a:p>
          <a:p>
            <a:r>
              <a:rPr lang="en-US" dirty="0"/>
              <a:t>-f		ignore case</a:t>
            </a:r>
          </a:p>
          <a:p>
            <a:r>
              <a:rPr lang="en-US" dirty="0"/>
              <a:t>-g		generic numeric sort</a:t>
            </a:r>
          </a:p>
          <a:p>
            <a:r>
              <a:rPr lang="en-US" dirty="0"/>
              <a:t>-R		random sort (shuffle)</a:t>
            </a:r>
          </a:p>
          <a:p>
            <a:r>
              <a:rPr lang="en-US" dirty="0"/>
              <a:t>-r		reverse</a:t>
            </a:r>
          </a:p>
          <a:p>
            <a:r>
              <a:rPr lang="en-US" dirty="0"/>
              <a:t>-o </a:t>
            </a:r>
            <a:r>
              <a:rPr lang="en-US" i="1" dirty="0"/>
              <a:t>file</a:t>
            </a:r>
            <a:r>
              <a:rPr lang="en-US" dirty="0"/>
              <a:t>		output to </a:t>
            </a:r>
            <a:r>
              <a:rPr lang="en-US" i="1" dirty="0"/>
              <a:t>file </a:t>
            </a:r>
            <a:r>
              <a:rPr lang="en-US" dirty="0"/>
              <a:t>instead of standard output</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sort -g file.txt		# sort to numeric order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sort -gr file.txt	# sort to reverse numeric order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sort -R file.txt		# shuffle lines to random order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sort -f file.txt		# sort alphabetically ignoring case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sort -o output.txt file.txt	 # sort is stored in output.txt</a:t>
            </a:r>
          </a:p>
        </p:txBody>
      </p:sp>
    </p:spTree>
    <p:extLst>
      <p:ext uri="{BB962C8B-B14F-4D97-AF65-F5344CB8AC3E}">
        <p14:creationId xmlns:p14="http://schemas.microsoft.com/office/powerpoint/2010/main" val="841131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17556D5-3A03-47C9-A78F-60CF3BE6B717}"/>
              </a:ext>
            </a:extLst>
          </p:cNvPr>
          <p:cNvSpPr>
            <a:spLocks noGrp="1"/>
          </p:cNvSpPr>
          <p:nvPr>
            <p:ph type="title"/>
          </p:nvPr>
        </p:nvSpPr>
        <p:spPr/>
        <p:txBody>
          <a:bodyPr/>
          <a:lstStyle/>
          <a:p>
            <a:r>
              <a:rPr lang="en-US" b="1" dirty="0"/>
              <a:t>tr</a:t>
            </a:r>
            <a:r>
              <a:rPr lang="en-US" dirty="0"/>
              <a:t> - translate</a:t>
            </a:r>
          </a:p>
        </p:txBody>
      </p:sp>
      <p:sp>
        <p:nvSpPr>
          <p:cNvPr id="3" name="Sisällön paikkamerkki 2">
            <a:extLst>
              <a:ext uri="{FF2B5EF4-FFF2-40B4-BE49-F238E27FC236}">
                <a16:creationId xmlns:a16="http://schemas.microsoft.com/office/drawing/2014/main" id="{960A54E6-B5F4-41D6-814E-82024E5EB9AB}"/>
              </a:ext>
            </a:extLst>
          </p:cNvPr>
          <p:cNvSpPr>
            <a:spLocks noGrp="1"/>
          </p:cNvSpPr>
          <p:nvPr>
            <p:ph idx="1"/>
          </p:nvPr>
        </p:nvSpPr>
        <p:spPr>
          <a:xfrm>
            <a:off x="838199" y="1825625"/>
            <a:ext cx="10788941" cy="4667250"/>
          </a:xfrm>
        </p:spPr>
        <p:txBody>
          <a:bodyPr>
            <a:normAutofit fontScale="70000" lnSpcReduction="20000"/>
          </a:bodyPr>
          <a:lstStyle/>
          <a:p>
            <a:r>
              <a:rPr lang="en-US" b="1" dirty="0"/>
              <a:t>tr</a:t>
            </a:r>
            <a:r>
              <a:rPr lang="en-US" dirty="0"/>
              <a:t> </a:t>
            </a:r>
            <a:r>
              <a:rPr lang="en-US" i="1" dirty="0"/>
              <a:t>[OPTION] SET1 [SET2]</a:t>
            </a:r>
          </a:p>
          <a:p>
            <a:r>
              <a:rPr lang="en-US" dirty="0"/>
              <a:t>-c	complement</a:t>
            </a:r>
          </a:p>
          <a:p>
            <a:r>
              <a:rPr lang="en-US" dirty="0"/>
              <a:t>-d	delete</a:t>
            </a:r>
          </a:p>
          <a:p>
            <a:r>
              <a:rPr lang="en-US" dirty="0"/>
              <a:t>-s	squeeze repeat</a:t>
            </a:r>
          </a:p>
          <a:p>
            <a:endParaRPr lang="en-US" i="1" dirty="0"/>
          </a:p>
          <a:p>
            <a:r>
              <a:rPr lang="en-US" i="1" dirty="0" err="1">
                <a:latin typeface="Courier New" panose="02070309020205020404" pitchFamily="49" charset="0"/>
                <a:cs typeface="Courier New" panose="02070309020205020404" pitchFamily="49" charset="0"/>
              </a:rPr>
              <a:t>tr</a:t>
            </a:r>
            <a:r>
              <a:rPr lang="en-US" i="1" dirty="0">
                <a:latin typeface="Courier New" panose="02070309020205020404" pitchFamily="49" charset="0"/>
                <a:cs typeface="Courier New" panose="02070309020205020404" pitchFamily="49" charset="0"/>
              </a:rPr>
              <a:t> [:lower:] [:upper:]	# convert from lower case to uppercase</a:t>
            </a:r>
          </a:p>
          <a:p>
            <a:r>
              <a:rPr lang="en-US" i="1" dirty="0">
                <a:latin typeface="Courier New" panose="02070309020205020404" pitchFamily="49" charset="0"/>
                <a:cs typeface="Courier New" panose="02070309020205020404" pitchFamily="49" charset="0"/>
              </a:rPr>
              <a:t>tr -s [:space:] ' '	# squeeze repeated white space to " "</a:t>
            </a:r>
          </a:p>
          <a:p>
            <a:r>
              <a:rPr lang="en-US" i="1" dirty="0">
                <a:latin typeface="Courier New" panose="02070309020205020404" pitchFamily="49" charset="0"/>
                <a:cs typeface="Courier New" panose="02070309020205020404" pitchFamily="49" charset="0"/>
              </a:rPr>
              <a:t>tr -cd [:digit:] 	# remove all but digit</a:t>
            </a:r>
          </a:p>
          <a:p>
            <a:r>
              <a:rPr lang="en-US" i="1" dirty="0">
                <a:latin typeface="Courier New" panose="02070309020205020404" pitchFamily="49" charset="0"/>
                <a:cs typeface="Courier New" panose="02070309020205020404" pitchFamily="49" charset="0"/>
              </a:rPr>
              <a:t>tr -d [:digit:] 		# delete all digits</a:t>
            </a:r>
          </a:p>
          <a:p>
            <a:r>
              <a:rPr lang="en-US" i="1" dirty="0">
                <a:latin typeface="Courier New" panose="02070309020205020404" pitchFamily="49" charset="0"/>
                <a:cs typeface="Courier New" panose="02070309020205020404" pitchFamily="49" charset="0"/>
              </a:rPr>
              <a:t>tr -d '\r'			# convert from Windows line endings to Linux</a:t>
            </a:r>
          </a:p>
          <a:p>
            <a:r>
              <a:rPr lang="en-US" i="1" dirty="0">
                <a:latin typeface="Courier New" panose="02070309020205020404" pitchFamily="49" charset="0"/>
                <a:cs typeface="Courier New" panose="02070309020205020404" pitchFamily="49" charset="0"/>
              </a:rPr>
              <a:t>tr </a:t>
            </a:r>
            <a:r>
              <a:rPr lang="en-US" i="1" dirty="0" err="1">
                <a:latin typeface="Courier New" panose="02070309020205020404" pitchFamily="49" charset="0"/>
                <a:cs typeface="Courier New" panose="02070309020205020404" pitchFamily="49" charset="0"/>
              </a:rPr>
              <a:t>abegiorstzABEGIORSTZ</a:t>
            </a:r>
            <a:r>
              <a:rPr lang="en-US" i="1" dirty="0">
                <a:latin typeface="Courier New" panose="02070309020205020404" pitchFamily="49" charset="0"/>
                <a:cs typeface="Courier New" panose="02070309020205020404" pitchFamily="49" charset="0"/>
              </a:rPr>
              <a:t> 48391025724839102572 # turn into </a:t>
            </a:r>
            <a:r>
              <a:rPr lang="en-US" i="1" dirty="0" err="1">
                <a:latin typeface="Courier New" panose="02070309020205020404" pitchFamily="49" charset="0"/>
                <a:cs typeface="Courier New" panose="02070309020205020404" pitchFamily="49" charset="0"/>
                <a:hlinkClick r:id="rId2"/>
              </a:rPr>
              <a:t>Leet</a:t>
            </a:r>
            <a:r>
              <a:rPr lang="en-US" i="1" dirty="0">
                <a:latin typeface="Courier New" panose="02070309020205020404" pitchFamily="49" charset="0"/>
                <a:cs typeface="Courier New" panose="02070309020205020404" pitchFamily="49" charset="0"/>
                <a:hlinkClick r:id="rId2"/>
              </a:rPr>
              <a:t> speak</a:t>
            </a:r>
            <a:endParaRPr lang="en-US"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49148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BFE5825-2454-4EF5-9E9E-CA3EA4E715E2}"/>
              </a:ext>
            </a:extLst>
          </p:cNvPr>
          <p:cNvSpPr>
            <a:spLocks noGrp="1"/>
          </p:cNvSpPr>
          <p:nvPr>
            <p:ph type="title"/>
          </p:nvPr>
        </p:nvSpPr>
        <p:spPr/>
        <p:txBody>
          <a:bodyPr/>
          <a:lstStyle/>
          <a:p>
            <a:r>
              <a:rPr lang="en-US" b="1" dirty="0"/>
              <a:t>tail</a:t>
            </a:r>
            <a:r>
              <a:rPr lang="en-US" dirty="0"/>
              <a:t> - output the last parts of file</a:t>
            </a:r>
          </a:p>
        </p:txBody>
      </p:sp>
      <p:sp>
        <p:nvSpPr>
          <p:cNvPr id="3" name="Sisällön paikkamerkki 2">
            <a:extLst>
              <a:ext uri="{FF2B5EF4-FFF2-40B4-BE49-F238E27FC236}">
                <a16:creationId xmlns:a16="http://schemas.microsoft.com/office/drawing/2014/main" id="{765D7955-A97A-4466-AC9F-B8001CA3A4D5}"/>
              </a:ext>
            </a:extLst>
          </p:cNvPr>
          <p:cNvSpPr>
            <a:spLocks noGrp="1"/>
          </p:cNvSpPr>
          <p:nvPr>
            <p:ph idx="1"/>
          </p:nvPr>
        </p:nvSpPr>
        <p:spPr/>
        <p:txBody>
          <a:bodyPr>
            <a:normAutofit fontScale="85000" lnSpcReduction="10000"/>
          </a:bodyPr>
          <a:lstStyle/>
          <a:p>
            <a:r>
              <a:rPr lang="en-US" b="1" dirty="0"/>
              <a:t>tail</a:t>
            </a:r>
            <a:r>
              <a:rPr lang="en-US" dirty="0"/>
              <a:t> </a:t>
            </a:r>
            <a:r>
              <a:rPr lang="en-US" i="1" dirty="0"/>
              <a:t>[OPTION]... [file]...</a:t>
            </a:r>
          </a:p>
          <a:p>
            <a:r>
              <a:rPr lang="en-US" dirty="0"/>
              <a:t>by default output the last 10 lines</a:t>
            </a:r>
          </a:p>
          <a:p>
            <a:r>
              <a:rPr lang="en-US" dirty="0"/>
              <a:t>-c bytes	output the last </a:t>
            </a:r>
            <a:r>
              <a:rPr lang="en-US" i="1" dirty="0"/>
              <a:t>bytes </a:t>
            </a:r>
            <a:r>
              <a:rPr lang="en-US" dirty="0" err="1"/>
              <a:t>bytes</a:t>
            </a:r>
            <a:endParaRPr lang="en-US" dirty="0"/>
          </a:p>
          <a:p>
            <a:r>
              <a:rPr lang="en-US" dirty="0"/>
              <a:t>-</a:t>
            </a:r>
            <a:r>
              <a:rPr lang="en-US" i="1" dirty="0"/>
              <a:t>number</a:t>
            </a:r>
            <a:r>
              <a:rPr lang="en-US" dirty="0"/>
              <a:t>	output </a:t>
            </a:r>
            <a:r>
              <a:rPr lang="en-US" i="1" dirty="0"/>
              <a:t>number</a:t>
            </a:r>
            <a:r>
              <a:rPr lang="en-US" dirty="0"/>
              <a:t> lines</a:t>
            </a:r>
          </a:p>
          <a:p>
            <a:r>
              <a:rPr lang="en-US" dirty="0"/>
              <a:t>-n </a:t>
            </a:r>
            <a:r>
              <a:rPr lang="en-US" i="1" dirty="0"/>
              <a:t>number</a:t>
            </a:r>
            <a:r>
              <a:rPr lang="en-US" dirty="0"/>
              <a:t>	output </a:t>
            </a:r>
            <a:r>
              <a:rPr lang="en-US" i="1" dirty="0"/>
              <a:t>number</a:t>
            </a:r>
            <a:r>
              <a:rPr lang="en-US" dirty="0"/>
              <a:t> lines</a:t>
            </a:r>
          </a:p>
          <a:p>
            <a:r>
              <a:rPr lang="en-US" dirty="0"/>
              <a:t>-q		quiet mode (don't output file names)</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tail -5 </a:t>
            </a:r>
            <a:r>
              <a:rPr lang="en-US" i="1" dirty="0">
                <a:latin typeface="Courier New" panose="02070309020205020404" pitchFamily="49" charset="0"/>
                <a:cs typeface="Courier New" panose="02070309020205020404" pitchFamily="49" charset="0"/>
              </a:rPr>
              <a:t>f.txt</a:t>
            </a:r>
            <a:r>
              <a:rPr lang="en-US" dirty="0">
                <a:latin typeface="Courier New" panose="02070309020205020404" pitchFamily="49" charset="0"/>
                <a:cs typeface="Courier New" panose="02070309020205020404" pitchFamily="49" charset="0"/>
              </a:rPr>
              <a:t>		# output the last 5 lines of </a:t>
            </a:r>
            <a:r>
              <a:rPr lang="en-US" i="1" dirty="0">
                <a:latin typeface="Courier New" panose="02070309020205020404" pitchFamily="49" charset="0"/>
                <a:cs typeface="Courier New" panose="02070309020205020404" pitchFamily="49" charset="0"/>
              </a:rPr>
              <a:t>f.txt</a:t>
            </a:r>
            <a:endParaRPr lang="en-US" dirty="0"/>
          </a:p>
          <a:p>
            <a:pPr marL="0" indent="0">
              <a:buNone/>
            </a:pPr>
            <a:r>
              <a:rPr lang="en-US" dirty="0">
                <a:latin typeface="Courier New" panose="02070309020205020404" pitchFamily="49" charset="0"/>
                <a:cs typeface="Courier New" panose="02070309020205020404" pitchFamily="49" charset="0"/>
              </a:rPr>
              <a:t>tail -n 1 *.txt		# output the last line of all .txt</a:t>
            </a:r>
          </a:p>
          <a:p>
            <a:pPr marL="0" indent="0">
              <a:buNone/>
            </a:pPr>
            <a:r>
              <a:rPr lang="en-US" dirty="0">
                <a:latin typeface="Courier New" panose="02070309020205020404" pitchFamily="49" charset="0"/>
                <a:cs typeface="Courier New" panose="02070309020205020404" pitchFamily="49" charset="0"/>
              </a:rPr>
              <a:t>tail -</a:t>
            </a:r>
            <a:r>
              <a:rPr lang="en-US" dirty="0" err="1">
                <a:latin typeface="Courier New" panose="02070309020205020404" pitchFamily="49" charset="0"/>
                <a:cs typeface="Courier New" panose="02070309020205020404" pitchFamily="49" charset="0"/>
              </a:rPr>
              <a:t>qn</a:t>
            </a:r>
            <a:r>
              <a:rPr lang="en-US" dirty="0">
                <a:latin typeface="Courier New" panose="02070309020205020404" pitchFamily="49" charset="0"/>
                <a:cs typeface="Courier New" panose="02070309020205020404" pitchFamily="49" charset="0"/>
              </a:rPr>
              <a:t> 1 *.txt	# output the last line of quietly</a:t>
            </a:r>
          </a:p>
          <a:p>
            <a:endParaRPr lang="en-US" dirty="0"/>
          </a:p>
        </p:txBody>
      </p:sp>
    </p:spTree>
    <p:extLst>
      <p:ext uri="{BB962C8B-B14F-4D97-AF65-F5344CB8AC3E}">
        <p14:creationId xmlns:p14="http://schemas.microsoft.com/office/powerpoint/2010/main" val="21397215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BFA719E-3601-43D7-ADA8-49275E9CE506}"/>
              </a:ext>
            </a:extLst>
          </p:cNvPr>
          <p:cNvSpPr>
            <a:spLocks noGrp="1"/>
          </p:cNvSpPr>
          <p:nvPr>
            <p:ph type="title"/>
          </p:nvPr>
        </p:nvSpPr>
        <p:spPr/>
        <p:txBody>
          <a:bodyPr/>
          <a:lstStyle/>
          <a:p>
            <a:r>
              <a:rPr lang="en-US" b="1" dirty="0"/>
              <a:t>uniq</a:t>
            </a:r>
            <a:r>
              <a:rPr lang="en-US" dirty="0"/>
              <a:t> - report or omit repeated lines</a:t>
            </a:r>
          </a:p>
        </p:txBody>
      </p:sp>
      <p:sp>
        <p:nvSpPr>
          <p:cNvPr id="3" name="Sisällön paikkamerkki 2">
            <a:extLst>
              <a:ext uri="{FF2B5EF4-FFF2-40B4-BE49-F238E27FC236}">
                <a16:creationId xmlns:a16="http://schemas.microsoft.com/office/drawing/2014/main" id="{322AC7B6-84CC-4F1B-B9D6-B3E2CDBD3D7F}"/>
              </a:ext>
            </a:extLst>
          </p:cNvPr>
          <p:cNvSpPr>
            <a:spLocks noGrp="1"/>
          </p:cNvSpPr>
          <p:nvPr>
            <p:ph idx="1"/>
          </p:nvPr>
        </p:nvSpPr>
        <p:spPr/>
        <p:txBody>
          <a:bodyPr>
            <a:normAutofit fontScale="92500" lnSpcReduction="10000"/>
          </a:bodyPr>
          <a:lstStyle/>
          <a:p>
            <a:pPr marL="0" indent="0">
              <a:buNone/>
            </a:pPr>
            <a:r>
              <a:rPr lang="en-US" b="1" dirty="0"/>
              <a:t>uniq</a:t>
            </a:r>
            <a:r>
              <a:rPr lang="en-US" dirty="0"/>
              <a:t> </a:t>
            </a:r>
            <a:r>
              <a:rPr lang="en-US" i="1" dirty="0"/>
              <a:t>[OPTION]... [INPUT [OUTPUT]]</a:t>
            </a:r>
          </a:p>
          <a:p>
            <a:r>
              <a:rPr lang="en-US" dirty="0"/>
              <a:t>-d	only print duplicated lines</a:t>
            </a:r>
          </a:p>
          <a:p>
            <a:r>
              <a:rPr lang="en-US" dirty="0"/>
              <a:t>-D	only print duplicated lines (grouped)</a:t>
            </a:r>
          </a:p>
          <a:p>
            <a:r>
              <a:rPr lang="en-US" dirty="0"/>
              <a:t>-I	ignore case</a:t>
            </a:r>
          </a:p>
          <a:p>
            <a:r>
              <a:rPr lang="en-US" dirty="0"/>
              <a:t>-u	only print unique lines</a:t>
            </a:r>
          </a:p>
          <a:p>
            <a:endParaRPr lang="en-US" dirty="0"/>
          </a:p>
          <a:p>
            <a:pPr marL="0" indent="0">
              <a:buNone/>
            </a:pPr>
            <a:r>
              <a:rPr lang="en-US" dirty="0">
                <a:latin typeface="Courier New" panose="02070309020205020404" pitchFamily="49" charset="0"/>
                <a:cs typeface="Courier New" panose="02070309020205020404" pitchFamily="49" charset="0"/>
              </a:rPr>
              <a:t>uniq -u file.txt		# print out unique lines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uniq -di file.txt		# print duplicated lines						# ignoring case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uniq -d file.txt		# print duplicated lines</a:t>
            </a:r>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1815297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7881A7E-D523-4DB5-8965-9A97AF0CFC94}"/>
              </a:ext>
            </a:extLst>
          </p:cNvPr>
          <p:cNvSpPr>
            <a:spLocks noGrp="1"/>
          </p:cNvSpPr>
          <p:nvPr>
            <p:ph type="title"/>
          </p:nvPr>
        </p:nvSpPr>
        <p:spPr/>
        <p:txBody>
          <a:bodyPr/>
          <a:lstStyle/>
          <a:p>
            <a:r>
              <a:rPr lang="en-US" b="1" dirty="0"/>
              <a:t>kill</a:t>
            </a:r>
            <a:r>
              <a:rPr lang="en-US" dirty="0"/>
              <a:t> - send a signal to a process</a:t>
            </a:r>
          </a:p>
        </p:txBody>
      </p:sp>
      <p:sp>
        <p:nvSpPr>
          <p:cNvPr id="3" name="Sisällön paikkamerkki 2">
            <a:extLst>
              <a:ext uri="{FF2B5EF4-FFF2-40B4-BE49-F238E27FC236}">
                <a16:creationId xmlns:a16="http://schemas.microsoft.com/office/drawing/2014/main" id="{2FE763B4-3493-4A60-BD37-8F7568A5921C}"/>
              </a:ext>
            </a:extLst>
          </p:cNvPr>
          <p:cNvSpPr>
            <a:spLocks noGrp="1"/>
          </p:cNvSpPr>
          <p:nvPr>
            <p:ph idx="1"/>
          </p:nvPr>
        </p:nvSpPr>
        <p:spPr/>
        <p:txBody>
          <a:bodyPr>
            <a:normAutofit lnSpcReduction="10000"/>
          </a:bodyPr>
          <a:lstStyle/>
          <a:p>
            <a:r>
              <a:rPr lang="en-US" dirty="0"/>
              <a:t>kill [options] &lt;</a:t>
            </a:r>
            <a:r>
              <a:rPr lang="en-US" dirty="0" err="1"/>
              <a:t>pid</a:t>
            </a:r>
            <a:r>
              <a:rPr lang="en-US" dirty="0"/>
              <a:t>&gt; [...]</a:t>
            </a:r>
          </a:p>
          <a:p>
            <a:r>
              <a:rPr lang="en-US" dirty="0"/>
              <a:t>-</a:t>
            </a:r>
            <a:r>
              <a:rPr lang="en-US" i="1" dirty="0"/>
              <a:t>signal</a:t>
            </a:r>
            <a:r>
              <a:rPr lang="en-US" dirty="0"/>
              <a:t>	send </a:t>
            </a:r>
            <a:r>
              <a:rPr lang="en-US" i="1" dirty="0"/>
              <a:t>signal (number)</a:t>
            </a:r>
            <a:r>
              <a:rPr lang="en-US" dirty="0"/>
              <a:t> to process</a:t>
            </a:r>
          </a:p>
          <a:p>
            <a:r>
              <a:rPr lang="en-US" dirty="0"/>
              <a:t>-l		list signal names</a:t>
            </a:r>
          </a:p>
          <a:p>
            <a:pPr marL="0" indent="0">
              <a:buNone/>
            </a:pP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kill 1010		# kill process with PID of 1010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kill 1 2 3 10	# send SIGHUP (signal 1) to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processes 1, 2, 3 and 10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kill -9 1010		# sure kill process 1010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kill -9 -1 		# kill all processes you can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kill -l -1 		# list signal for 1 (SIGHUP)</a:t>
            </a:r>
            <a:br>
              <a:rPr lang="en-US" dirty="0"/>
            </a:br>
            <a:endParaRPr lang="en-US" dirty="0"/>
          </a:p>
        </p:txBody>
      </p:sp>
    </p:spTree>
    <p:extLst>
      <p:ext uri="{BB962C8B-B14F-4D97-AF65-F5344CB8AC3E}">
        <p14:creationId xmlns:p14="http://schemas.microsoft.com/office/powerpoint/2010/main" val="13425337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BD9F58D-0B39-4910-A703-D098DB958419}"/>
              </a:ext>
            </a:extLst>
          </p:cNvPr>
          <p:cNvSpPr>
            <a:spLocks noGrp="1"/>
          </p:cNvSpPr>
          <p:nvPr>
            <p:ph type="title"/>
          </p:nvPr>
        </p:nvSpPr>
        <p:spPr>
          <a:xfrm>
            <a:off x="838199" y="365125"/>
            <a:ext cx="10923165" cy="1325563"/>
          </a:xfrm>
        </p:spPr>
        <p:txBody>
          <a:bodyPr>
            <a:normAutofit/>
          </a:bodyPr>
          <a:lstStyle/>
          <a:p>
            <a:r>
              <a:rPr lang="en-US" b="1" dirty="0" err="1"/>
              <a:t>ps</a:t>
            </a:r>
            <a:r>
              <a:rPr lang="en-US" dirty="0"/>
              <a:t> - report a snapshot of the current processes</a:t>
            </a:r>
          </a:p>
        </p:txBody>
      </p:sp>
      <p:sp>
        <p:nvSpPr>
          <p:cNvPr id="3" name="Sisällön paikkamerkki 2">
            <a:extLst>
              <a:ext uri="{FF2B5EF4-FFF2-40B4-BE49-F238E27FC236}">
                <a16:creationId xmlns:a16="http://schemas.microsoft.com/office/drawing/2014/main" id="{1E516EFC-14EA-4B0B-9028-36554FEFD342}"/>
              </a:ext>
            </a:extLst>
          </p:cNvPr>
          <p:cNvSpPr>
            <a:spLocks noGrp="1"/>
          </p:cNvSpPr>
          <p:nvPr>
            <p:ph idx="1"/>
          </p:nvPr>
        </p:nvSpPr>
        <p:spPr/>
        <p:txBody>
          <a:bodyPr>
            <a:normAutofit fontScale="92500"/>
          </a:bodyPr>
          <a:lstStyle/>
          <a:p>
            <a:r>
              <a:rPr lang="en-US" dirty="0" err="1"/>
              <a:t>ps</a:t>
            </a:r>
            <a:r>
              <a:rPr lang="en-US" dirty="0"/>
              <a:t> [options]</a:t>
            </a:r>
          </a:p>
          <a:p>
            <a:r>
              <a:rPr lang="en-US" dirty="0"/>
              <a:t>provides UNIX, BSD and GNU style option syntax, which can be confusing</a:t>
            </a:r>
          </a:p>
          <a:p>
            <a:r>
              <a:rPr lang="en-US" dirty="0"/>
              <a:t>see manual page for details</a:t>
            </a:r>
          </a:p>
          <a:p>
            <a:r>
              <a:rPr lang="en-US" dirty="0" err="1">
                <a:latin typeface="Courier New" panose="02070309020205020404" pitchFamily="49" charset="0"/>
                <a:cs typeface="Courier New" panose="02070309020205020404" pitchFamily="49" charset="0"/>
              </a:rPr>
              <a:t>ps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eF</a:t>
            </a:r>
            <a:r>
              <a:rPr lang="en-US" dirty="0">
                <a:latin typeface="Courier New" panose="02070309020205020404" pitchFamily="49" charset="0"/>
                <a:cs typeface="Courier New" panose="02070309020205020404" pitchFamily="49" charset="0"/>
              </a:rPr>
              <a:t>	# see every process (with users visible)</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axu</a:t>
            </a:r>
            <a:r>
              <a:rPr lang="en-US" dirty="0">
                <a:latin typeface="Courier New" panose="02070309020205020404" pitchFamily="49" charset="0"/>
                <a:cs typeface="Courier New" panose="02070309020205020404" pitchFamily="49" charset="0"/>
              </a:rPr>
              <a:t>	# see every process (with users visible)</a:t>
            </a:r>
          </a:p>
          <a:p>
            <a:r>
              <a:rPr lang="en-US" dirty="0" err="1">
                <a:latin typeface="Courier New" panose="02070309020205020404" pitchFamily="49" charset="0"/>
                <a:cs typeface="Courier New" panose="02070309020205020404" pitchFamily="49" charset="0"/>
              </a:rPr>
              <a:t>ps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ejH</a:t>
            </a:r>
            <a:r>
              <a:rPr lang="en-US" dirty="0">
                <a:latin typeface="Courier New" panose="02070309020205020404" pitchFamily="49" charset="0"/>
                <a:cs typeface="Courier New" panose="02070309020205020404" pitchFamily="49" charset="0"/>
              </a:rPr>
              <a:t>	# print the process tree</a:t>
            </a:r>
            <a:br>
              <a:rPr lang="en-US" b="1"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axjf</a:t>
            </a:r>
            <a:r>
              <a:rPr lang="en-US" dirty="0">
                <a:latin typeface="Courier New" panose="02070309020205020404" pitchFamily="49" charset="0"/>
                <a:cs typeface="Courier New" panose="02070309020205020404" pitchFamily="49" charset="0"/>
              </a:rPr>
              <a:t>	# print the process tree</a:t>
            </a:r>
          </a:p>
          <a:p>
            <a:r>
              <a:rPr lang="nl-NL" dirty="0">
                <a:latin typeface="Courier New" panose="02070309020205020404" pitchFamily="49" charset="0"/>
                <a:cs typeface="Courier New" panose="02070309020205020404" pitchFamily="49" charset="0"/>
              </a:rPr>
              <a:t>ps -U root -u root u		# show all processes</a:t>
            </a:r>
            <a:br>
              <a:rPr lang="nl-NL" dirty="0">
                <a:latin typeface="Courier New" panose="02070309020205020404" pitchFamily="49" charset="0"/>
                <a:cs typeface="Courier New" panose="02070309020205020404" pitchFamily="49" charset="0"/>
              </a:rPr>
            </a:br>
            <a:r>
              <a:rPr lang="nl-NL" dirty="0">
                <a:latin typeface="Courier New" panose="02070309020205020404" pitchFamily="49" charset="0"/>
                <a:cs typeface="Courier New" panose="02070309020205020404" pitchFamily="49" charset="0"/>
              </a:rPr>
              <a:t>						# belong to user root</a:t>
            </a:r>
            <a:endParaRPr lang="en-US" dirty="0">
              <a:latin typeface="Courier New" panose="02070309020205020404" pitchFamily="49" charset="0"/>
              <a:cs typeface="Courier New" panose="02070309020205020404" pitchFamily="49" charset="0"/>
            </a:endParaRPr>
          </a:p>
          <a:p>
            <a:endParaRPr lang="en-US" dirty="0"/>
          </a:p>
          <a:p>
            <a:endParaRPr lang="en-US" dirty="0"/>
          </a:p>
        </p:txBody>
      </p:sp>
    </p:spTree>
    <p:extLst>
      <p:ext uri="{BB962C8B-B14F-4D97-AF65-F5344CB8AC3E}">
        <p14:creationId xmlns:p14="http://schemas.microsoft.com/office/powerpoint/2010/main" val="2085892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392130C-999B-4B86-9D15-C3A2950EEBFE}"/>
              </a:ext>
            </a:extLst>
          </p:cNvPr>
          <p:cNvSpPr>
            <a:spLocks noGrp="1"/>
          </p:cNvSpPr>
          <p:nvPr>
            <p:ph type="title"/>
          </p:nvPr>
        </p:nvSpPr>
        <p:spPr/>
        <p:txBody>
          <a:bodyPr>
            <a:normAutofit/>
          </a:bodyPr>
          <a:lstStyle/>
          <a:p>
            <a:r>
              <a:rPr lang="en-US" b="1" dirty="0" err="1"/>
              <a:t>adduser</a:t>
            </a:r>
            <a:r>
              <a:rPr lang="en-US" b="1" dirty="0"/>
              <a:t> </a:t>
            </a:r>
            <a:r>
              <a:rPr lang="en-US" dirty="0"/>
              <a:t>- add a user to the system</a:t>
            </a:r>
            <a:br>
              <a:rPr lang="en-US" dirty="0"/>
            </a:br>
            <a:r>
              <a:rPr lang="en-US" b="1" dirty="0" err="1"/>
              <a:t>addgroup</a:t>
            </a:r>
            <a:r>
              <a:rPr lang="en-US" b="1" dirty="0"/>
              <a:t> </a:t>
            </a:r>
            <a:r>
              <a:rPr lang="en-US" dirty="0"/>
              <a:t>- add a new group to the system</a:t>
            </a:r>
          </a:p>
        </p:txBody>
      </p:sp>
      <p:sp>
        <p:nvSpPr>
          <p:cNvPr id="3" name="Sisällön paikkamerkki 2">
            <a:extLst>
              <a:ext uri="{FF2B5EF4-FFF2-40B4-BE49-F238E27FC236}">
                <a16:creationId xmlns:a16="http://schemas.microsoft.com/office/drawing/2014/main" id="{B17D277E-2EA1-4786-B4D7-B6C00BAB2C25}"/>
              </a:ext>
            </a:extLst>
          </p:cNvPr>
          <p:cNvSpPr>
            <a:spLocks noGrp="1"/>
          </p:cNvSpPr>
          <p:nvPr>
            <p:ph idx="1"/>
          </p:nvPr>
        </p:nvSpPr>
        <p:spPr/>
        <p:txBody>
          <a:bodyPr/>
          <a:lstStyle/>
          <a:p>
            <a:r>
              <a:rPr lang="en-US" b="1" dirty="0" err="1"/>
              <a:t>adduser</a:t>
            </a:r>
            <a:r>
              <a:rPr lang="en-US" dirty="0"/>
              <a:t> </a:t>
            </a:r>
            <a:r>
              <a:rPr lang="en-US" i="1" dirty="0"/>
              <a:t>[options] user group</a:t>
            </a:r>
          </a:p>
          <a:p>
            <a:r>
              <a:rPr lang="en-US" dirty="0"/>
              <a:t>Will prompt for password, full name, room number, work phone, home phone and other.</a:t>
            </a:r>
          </a:p>
          <a:p>
            <a:r>
              <a:rPr lang="en-US" b="1" dirty="0" err="1"/>
              <a:t>addgroup</a:t>
            </a:r>
            <a:r>
              <a:rPr lang="en-US" dirty="0"/>
              <a:t> </a:t>
            </a:r>
            <a:r>
              <a:rPr lang="en-US" i="1" dirty="0"/>
              <a:t>[options] [--</a:t>
            </a:r>
            <a:r>
              <a:rPr lang="en-US" i="1" dirty="0" err="1"/>
              <a:t>gid</a:t>
            </a:r>
            <a:r>
              <a:rPr lang="en-US" i="1" dirty="0"/>
              <a:t> ID] group</a:t>
            </a:r>
            <a:endParaRPr lang="en-US" dirty="0"/>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adduser</a:t>
            </a:r>
            <a:r>
              <a:rPr lang="en-US" dirty="0">
                <a:latin typeface="Courier New" panose="02070309020205020404" pitchFamily="49" charset="0"/>
                <a:cs typeface="Courier New" panose="02070309020205020404" pitchFamily="49" charset="0"/>
              </a:rPr>
              <a:t> dude	# create a new user dude</a:t>
            </a:r>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addgroup</a:t>
            </a:r>
            <a:r>
              <a:rPr lang="en-US" dirty="0">
                <a:latin typeface="Courier New" panose="02070309020205020404" pitchFamily="49" charset="0"/>
                <a:cs typeface="Courier New" panose="02070309020205020404" pitchFamily="49" charset="0"/>
              </a:rPr>
              <a:t> project1 # new group project1</a:t>
            </a:r>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adduser</a:t>
            </a:r>
            <a:r>
              <a:rPr lang="en-US" dirty="0">
                <a:latin typeface="Courier New" panose="02070309020205020404" pitchFamily="49" charset="0"/>
                <a:cs typeface="Courier New" panose="02070309020205020404" pitchFamily="49" charset="0"/>
              </a:rPr>
              <a:t> dude project1 # adds dude to 						# group project1</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543025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5CFEB39-0A49-4C76-AFD5-05E8B4192BBB}"/>
              </a:ext>
            </a:extLst>
          </p:cNvPr>
          <p:cNvSpPr>
            <a:spLocks noGrp="1"/>
          </p:cNvSpPr>
          <p:nvPr>
            <p:ph type="title"/>
          </p:nvPr>
        </p:nvSpPr>
        <p:spPr/>
        <p:txBody>
          <a:bodyPr/>
          <a:lstStyle/>
          <a:p>
            <a:r>
              <a:rPr lang="en-US" b="1" dirty="0" err="1"/>
              <a:t>deluser</a:t>
            </a:r>
            <a:r>
              <a:rPr lang="en-US" dirty="0"/>
              <a:t> - Remove user</a:t>
            </a:r>
          </a:p>
        </p:txBody>
      </p:sp>
      <p:sp>
        <p:nvSpPr>
          <p:cNvPr id="3" name="Sisällön paikkamerkki 2">
            <a:extLst>
              <a:ext uri="{FF2B5EF4-FFF2-40B4-BE49-F238E27FC236}">
                <a16:creationId xmlns:a16="http://schemas.microsoft.com/office/drawing/2014/main" id="{57DC1EE0-92B9-4182-BA23-1B2EE1754F72}"/>
              </a:ext>
            </a:extLst>
          </p:cNvPr>
          <p:cNvSpPr>
            <a:spLocks noGrp="1"/>
          </p:cNvSpPr>
          <p:nvPr>
            <p:ph idx="1"/>
          </p:nvPr>
        </p:nvSpPr>
        <p:spPr/>
        <p:txBody>
          <a:bodyPr>
            <a:normAutofit fontScale="55000" lnSpcReduction="20000"/>
          </a:bodyPr>
          <a:lstStyle/>
          <a:p>
            <a:r>
              <a:rPr lang="en-US" dirty="0" err="1"/>
              <a:t>deluser</a:t>
            </a:r>
            <a:r>
              <a:rPr lang="en-US" dirty="0"/>
              <a:t>   [options]   [--force]   [--remove-home]  [--remove-all-files] [--backup] [--backup-to DIR] user</a:t>
            </a:r>
          </a:p>
          <a:p>
            <a:r>
              <a:rPr lang="en-US" dirty="0"/>
              <a:t>--group 		Remove a group, same as </a:t>
            </a:r>
            <a:r>
              <a:rPr lang="en-US" dirty="0" err="1"/>
              <a:t>delgroup</a:t>
            </a:r>
            <a:r>
              <a:rPr lang="en-US" dirty="0"/>
              <a:t> </a:t>
            </a:r>
            <a:r>
              <a:rPr lang="en-US" dirty="0" err="1"/>
              <a:t>groupname</a:t>
            </a:r>
            <a:endParaRPr lang="en-US" dirty="0"/>
          </a:p>
          <a:p>
            <a:r>
              <a:rPr lang="en-US" dirty="0"/>
              <a:t>--force 		Force removal of files, even if not owned by user. Needed to remove root</a:t>
            </a:r>
          </a:p>
          <a:p>
            <a:r>
              <a:rPr lang="en-US" dirty="0"/>
              <a:t>--backup-to		Place the backup files not in / but in the  directory  specified</a:t>
            </a:r>
            <a:br>
              <a:rPr lang="en-US" dirty="0"/>
            </a:br>
            <a:r>
              <a:rPr lang="en-US" dirty="0"/>
              <a:t>			by this parameter. This implicitly sets --backup also.</a:t>
            </a:r>
          </a:p>
          <a:p>
            <a:r>
              <a:rPr lang="en-US" dirty="0"/>
              <a:t>--remove-home	Remove  the  home  directory  of  the user and its </a:t>
            </a:r>
            <a:r>
              <a:rPr lang="en-US" dirty="0" err="1"/>
              <a:t>mailspool</a:t>
            </a:r>
            <a:r>
              <a:rPr lang="en-US" dirty="0"/>
              <a:t>. If --backup is specified, the files are deleted after  having  per‐formed the backup.</a:t>
            </a:r>
          </a:p>
          <a:p>
            <a:r>
              <a:rPr lang="en-US" dirty="0"/>
              <a:t>--remove-all-files	Remove all files from the system owned by this user.</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testuser</a:t>
            </a:r>
            <a:r>
              <a:rPr lang="en-US" dirty="0">
                <a:latin typeface="Courier New" panose="02070309020205020404" pitchFamily="49" charset="0"/>
                <a:cs typeface="Courier New" panose="02070309020205020404" pitchFamily="49" charset="0"/>
              </a:rPr>
              <a:t>				# remove user </a:t>
            </a:r>
            <a:r>
              <a:rPr lang="en-US" dirty="0" err="1">
                <a:latin typeface="Courier New" panose="02070309020205020404" pitchFamily="49" charset="0"/>
                <a:cs typeface="Courier New" panose="02070309020205020404" pitchFamily="49" charset="0"/>
              </a:rPr>
              <a:t>testuser</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testuser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myproject</a:t>
            </a:r>
            <a:r>
              <a:rPr lang="en-US" dirty="0">
                <a:latin typeface="Courier New" panose="02070309020205020404" pitchFamily="49" charset="0"/>
                <a:cs typeface="Courier New" panose="02070309020205020404" pitchFamily="49" charset="0"/>
              </a:rPr>
              <a:t>		# remove user </a:t>
            </a:r>
            <a:r>
              <a:rPr lang="en-US" dirty="0" err="1">
                <a:latin typeface="Courier New" panose="02070309020205020404" pitchFamily="49" charset="0"/>
                <a:cs typeface="Courier New" panose="02070309020205020404" pitchFamily="49" charset="0"/>
              </a:rPr>
              <a:t>testuser</a:t>
            </a:r>
            <a:r>
              <a:rPr lang="en-US" dirty="0">
                <a:latin typeface="Courier New" panose="02070309020205020404" pitchFamily="49" charset="0"/>
                <a:cs typeface="Courier New" panose="02070309020205020404" pitchFamily="49" charset="0"/>
              </a:rPr>
              <a:t> from </a:t>
            </a:r>
            <a:r>
              <a:rPr lang="en-US" dirty="0" err="1">
                <a:latin typeface="Courier New" panose="02070309020205020404" pitchFamily="49" charset="0"/>
                <a:cs typeface="Courier New" panose="02070309020205020404" pitchFamily="49" charset="0"/>
              </a:rPr>
              <a:t>myproject</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--remove-home hacker		# remove hacker's home directory</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--backup-to /</a:t>
            </a:r>
            <a:r>
              <a:rPr lang="en-US" dirty="0" err="1">
                <a:latin typeface="Courier New" panose="02070309020205020404" pitchFamily="49" charset="0"/>
                <a:cs typeface="Courier New" panose="02070309020205020404" pitchFamily="49" charset="0"/>
              </a:rPr>
              <a:t>backup_directory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testuser</a:t>
            </a:r>
            <a:r>
              <a:rPr lang="en-US" dirty="0">
                <a:latin typeface="Courier New" panose="02070309020205020404" pitchFamily="49" charset="0"/>
                <a:cs typeface="Courier New" panose="02070309020205020404" pitchFamily="49" charset="0"/>
              </a:rPr>
              <a:t> # backup </a:t>
            </a:r>
            <a:r>
              <a:rPr lang="en-US" dirty="0" err="1">
                <a:latin typeface="Courier New" panose="02070309020205020404" pitchFamily="49" charset="0"/>
                <a:cs typeface="Courier New" panose="02070309020205020404" pitchFamily="49" charset="0"/>
              </a:rPr>
              <a:t>testuser</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--group </a:t>
            </a:r>
            <a:r>
              <a:rPr lang="en-US" dirty="0" err="1">
                <a:latin typeface="Courier New" panose="02070309020205020404" pitchFamily="49" charset="0"/>
                <a:cs typeface="Courier New" panose="02070309020205020404" pitchFamily="49" charset="0"/>
              </a:rPr>
              <a:t>myproject</a:t>
            </a:r>
            <a:r>
              <a:rPr lang="en-US" dirty="0">
                <a:latin typeface="Courier New" panose="02070309020205020404" pitchFamily="49" charset="0"/>
                <a:cs typeface="Courier New" panose="02070309020205020404" pitchFamily="49" charset="0"/>
              </a:rPr>
              <a:t>		# remove group </a:t>
            </a:r>
            <a:r>
              <a:rPr lang="en-US" dirty="0" err="1">
                <a:latin typeface="Courier New" panose="02070309020205020404" pitchFamily="49" charset="0"/>
                <a:cs typeface="Courier New" panose="02070309020205020404" pitchFamily="49" charset="0"/>
              </a:rPr>
              <a:t>myproject</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delgroup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myproject</a:t>
            </a:r>
            <a:r>
              <a:rPr lang="en-US" dirty="0">
                <a:latin typeface="Courier New" panose="02070309020205020404" pitchFamily="49" charset="0"/>
                <a:cs typeface="Courier New" panose="02070309020205020404" pitchFamily="49" charset="0"/>
              </a:rPr>
              <a:t>			# remove group </a:t>
            </a:r>
            <a:r>
              <a:rPr lang="en-US" dirty="0" err="1">
                <a:latin typeface="Courier New" panose="02070309020205020404" pitchFamily="49" charset="0"/>
                <a:cs typeface="Courier New" panose="02070309020205020404" pitchFamily="49" charset="0"/>
              </a:rPr>
              <a:t>myproject</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deluser</a:t>
            </a:r>
            <a:r>
              <a:rPr lang="en-US" dirty="0">
                <a:latin typeface="Courier New" panose="02070309020205020404" pitchFamily="49" charset="0"/>
                <a:cs typeface="Courier New" panose="02070309020205020404" pitchFamily="49" charset="0"/>
              </a:rPr>
              <a:t> --force root			# remove root user</a:t>
            </a:r>
          </a:p>
        </p:txBody>
      </p:sp>
    </p:spTree>
    <p:extLst>
      <p:ext uri="{BB962C8B-B14F-4D97-AF65-F5344CB8AC3E}">
        <p14:creationId xmlns:p14="http://schemas.microsoft.com/office/powerpoint/2010/main" val="22979649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A7948A4-F25E-4705-8C07-FE6D03CAEAFE}"/>
              </a:ext>
            </a:extLst>
          </p:cNvPr>
          <p:cNvSpPr>
            <a:spLocks noGrp="1"/>
          </p:cNvSpPr>
          <p:nvPr>
            <p:ph type="title"/>
          </p:nvPr>
        </p:nvSpPr>
        <p:spPr/>
        <p:txBody>
          <a:bodyPr/>
          <a:lstStyle/>
          <a:p>
            <a:r>
              <a:rPr lang="en-US" b="1" dirty="0" err="1"/>
              <a:t>su</a:t>
            </a:r>
            <a:r>
              <a:rPr lang="en-US" b="1" dirty="0"/>
              <a:t> </a:t>
            </a:r>
            <a:r>
              <a:rPr lang="en-US" dirty="0"/>
              <a:t>- change user ID or become superuser</a:t>
            </a:r>
            <a:br>
              <a:rPr lang="en-US" dirty="0"/>
            </a:br>
            <a:endParaRPr lang="en-US" dirty="0"/>
          </a:p>
        </p:txBody>
      </p:sp>
      <p:sp>
        <p:nvSpPr>
          <p:cNvPr id="3" name="Sisällön paikkamerkki 2">
            <a:extLst>
              <a:ext uri="{FF2B5EF4-FFF2-40B4-BE49-F238E27FC236}">
                <a16:creationId xmlns:a16="http://schemas.microsoft.com/office/drawing/2014/main" id="{719A99B0-759B-42B8-ABCE-F13B6D0DCDF8}"/>
              </a:ext>
            </a:extLst>
          </p:cNvPr>
          <p:cNvSpPr>
            <a:spLocks noGrp="1"/>
          </p:cNvSpPr>
          <p:nvPr>
            <p:ph idx="1"/>
          </p:nvPr>
        </p:nvSpPr>
        <p:spPr/>
        <p:txBody>
          <a:bodyPr>
            <a:normAutofit lnSpcReduction="10000"/>
          </a:bodyPr>
          <a:lstStyle/>
          <a:p>
            <a:r>
              <a:rPr lang="en-US" b="1" dirty="0" err="1"/>
              <a:t>su</a:t>
            </a:r>
            <a:r>
              <a:rPr lang="en-US" dirty="0"/>
              <a:t> </a:t>
            </a:r>
            <a:r>
              <a:rPr lang="en-US" i="1" dirty="0"/>
              <a:t>[options] [username] </a:t>
            </a:r>
            <a:r>
              <a:rPr lang="en-US" dirty="0"/>
              <a:t>	become a different user</a:t>
            </a:r>
          </a:p>
          <a:p>
            <a:r>
              <a:rPr lang="en-US" dirty="0"/>
              <a:t>-l or --login or - 			emulating login</a:t>
            </a:r>
          </a:p>
          <a:p>
            <a:r>
              <a:rPr lang="en-US" b="1" dirty="0"/>
              <a:t>sudo</a:t>
            </a:r>
            <a:r>
              <a:rPr lang="en-US" dirty="0"/>
              <a:t> </a:t>
            </a:r>
            <a:r>
              <a:rPr lang="en-US" i="1" dirty="0"/>
              <a:t>command [options] </a:t>
            </a:r>
            <a:r>
              <a:rPr lang="en-US" dirty="0"/>
              <a:t>	run a command as root</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sudo head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/shadow # run head command as root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newuser</a:t>
            </a:r>
            <a:r>
              <a:rPr lang="en-US" dirty="0">
                <a:latin typeface="Courier New" panose="02070309020205020404" pitchFamily="49" charset="0"/>
                <a:cs typeface="Courier New" panose="02070309020205020404" pitchFamily="49" charset="0"/>
              </a:rPr>
              <a:t>		# become </a:t>
            </a:r>
            <a:r>
              <a:rPr lang="en-US" dirty="0" err="1">
                <a:latin typeface="Courier New" panose="02070309020205020404" pitchFamily="49" charset="0"/>
                <a:cs typeface="Courier New" panose="02070309020205020404" pitchFamily="49" charset="0"/>
              </a:rPr>
              <a:t>newuser</a:t>
            </a:r>
            <a:r>
              <a:rPr lang="en-US" dirty="0">
                <a:latin typeface="Courier New" panose="02070309020205020404" pitchFamily="49" charset="0"/>
                <a:cs typeface="Courier New" panose="02070309020205020404" pitchFamily="49" charset="0"/>
              </a:rPr>
              <a:t> (retaining 					# environment)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newuser</a:t>
            </a:r>
            <a:r>
              <a:rPr lang="en-US" dirty="0">
                <a:latin typeface="Courier New" panose="02070309020205020404" pitchFamily="49" charset="0"/>
                <a:cs typeface="Courier New" panose="02070309020205020404" pitchFamily="49" charset="0"/>
              </a:rPr>
              <a:t>		# login as new user (prompting 				# for password)</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944367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F64662C-317F-4EB8-9AD1-CD61BA2E53E3}"/>
              </a:ext>
            </a:extLst>
          </p:cNvPr>
          <p:cNvSpPr>
            <a:spLocks noGrp="1"/>
          </p:cNvSpPr>
          <p:nvPr>
            <p:ph type="title"/>
          </p:nvPr>
        </p:nvSpPr>
        <p:spPr/>
        <p:txBody>
          <a:bodyPr/>
          <a:lstStyle/>
          <a:p>
            <a:r>
              <a:rPr lang="en-US" b="1" dirty="0">
                <a:hlinkClick r:id="rId2"/>
              </a:rPr>
              <a:t>passwd</a:t>
            </a:r>
            <a:r>
              <a:rPr lang="en-US" dirty="0"/>
              <a:t> - change user password</a:t>
            </a:r>
          </a:p>
        </p:txBody>
      </p:sp>
      <p:sp>
        <p:nvSpPr>
          <p:cNvPr id="3" name="Sisällön paikkamerkki 2">
            <a:extLst>
              <a:ext uri="{FF2B5EF4-FFF2-40B4-BE49-F238E27FC236}">
                <a16:creationId xmlns:a16="http://schemas.microsoft.com/office/drawing/2014/main" id="{939AE214-89FB-403C-A5F7-A987C270E2FE}"/>
              </a:ext>
            </a:extLst>
          </p:cNvPr>
          <p:cNvSpPr>
            <a:spLocks noGrp="1"/>
          </p:cNvSpPr>
          <p:nvPr>
            <p:ph idx="1"/>
          </p:nvPr>
        </p:nvSpPr>
        <p:spPr/>
        <p:txBody>
          <a:bodyPr>
            <a:normAutofit fontScale="47500" lnSpcReduction="20000"/>
          </a:bodyPr>
          <a:lstStyle/>
          <a:p>
            <a:r>
              <a:rPr lang="en-US" dirty="0"/>
              <a:t>passwd [OPTIONS] [LOGINNAME]</a:t>
            </a:r>
          </a:p>
          <a:p>
            <a:r>
              <a:rPr lang="en-US" dirty="0"/>
              <a:t>-a 	all</a:t>
            </a:r>
          </a:p>
          <a:p>
            <a:r>
              <a:rPr lang="en-US" dirty="0"/>
              <a:t>-d	delete password (make it empty)</a:t>
            </a:r>
          </a:p>
          <a:p>
            <a:r>
              <a:rPr lang="en-US" dirty="0"/>
              <a:t>-e	immediately expire accounts password</a:t>
            </a:r>
          </a:p>
          <a:p>
            <a:r>
              <a:rPr lang="en-US" dirty="0"/>
              <a:t>-l	lock the password of named account (account still not disabled and can login using </a:t>
            </a:r>
            <a:r>
              <a:rPr lang="en-US" dirty="0" err="1"/>
              <a:t>ssh</a:t>
            </a:r>
            <a:r>
              <a:rPr lang="en-US" dirty="0"/>
              <a:t> keys)</a:t>
            </a:r>
          </a:p>
          <a:p>
            <a:r>
              <a:rPr lang="en-US" dirty="0"/>
              <a:t>-u	unlock password of named account</a:t>
            </a:r>
          </a:p>
          <a:p>
            <a:r>
              <a:rPr lang="en-US" dirty="0"/>
              <a:t>-x	set maximum days password is valid</a:t>
            </a:r>
          </a:p>
          <a:p>
            <a:r>
              <a:rPr lang="en-US" dirty="0"/>
              <a:t>-S	display status information:</a:t>
            </a:r>
          </a:p>
          <a:p>
            <a:pPr lvl="1"/>
            <a:r>
              <a:rPr lang="en-US" dirty="0"/>
              <a:t>User's login name</a:t>
            </a:r>
          </a:p>
          <a:p>
            <a:pPr lvl="1"/>
            <a:r>
              <a:rPr lang="en-US" dirty="0"/>
              <a:t>status (NP = empty, L/LK = locked, P/PS = password set)</a:t>
            </a:r>
          </a:p>
          <a:p>
            <a:pPr lvl="1"/>
            <a:r>
              <a:rPr lang="en-US" dirty="0"/>
              <a:t>date when password was changed (month/day/year)</a:t>
            </a:r>
          </a:p>
          <a:p>
            <a:pPr lvl="1"/>
            <a:r>
              <a:rPr lang="en-US" dirty="0"/>
              <a:t>minimum password lifetime in days before it may be changed</a:t>
            </a:r>
          </a:p>
          <a:p>
            <a:pPr lvl="1"/>
            <a:r>
              <a:rPr lang="en-US" dirty="0"/>
              <a:t>maximum password lifetime in days before it must be changed</a:t>
            </a:r>
          </a:p>
          <a:p>
            <a:pPr lvl="1"/>
            <a:r>
              <a:rPr lang="en-US" dirty="0"/>
              <a:t>number of days before password lifetime expires the user will get warnings</a:t>
            </a:r>
          </a:p>
          <a:p>
            <a:pPr lvl="1"/>
            <a:r>
              <a:rPr lang="en-US" dirty="0"/>
              <a:t>number of days after the password lifetime expires when the user is disabled (-1 to disable)</a:t>
            </a:r>
          </a:p>
          <a:p>
            <a:r>
              <a:rPr lang="en-US" dirty="0">
                <a:latin typeface="Courier New" panose="02070309020205020404" pitchFamily="49" charset="0"/>
                <a:cs typeface="Courier New" panose="02070309020205020404" pitchFamily="49" charset="0"/>
              </a:rPr>
              <a:t>passwd			# change password of current user</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passwd username	# change password for username</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passwd -S username	# display status of username </a:t>
            </a:r>
          </a:p>
          <a:p>
            <a:endParaRPr lang="en-US" dirty="0"/>
          </a:p>
        </p:txBody>
      </p:sp>
    </p:spTree>
    <p:extLst>
      <p:ext uri="{BB962C8B-B14F-4D97-AF65-F5344CB8AC3E}">
        <p14:creationId xmlns:p14="http://schemas.microsoft.com/office/powerpoint/2010/main" val="608114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5122FAE-4AC2-4845-8D08-6458754C37B5}"/>
              </a:ext>
            </a:extLst>
          </p:cNvPr>
          <p:cNvSpPr>
            <a:spLocks noGrp="1"/>
          </p:cNvSpPr>
          <p:nvPr>
            <p:ph type="title"/>
          </p:nvPr>
        </p:nvSpPr>
        <p:spPr/>
        <p:txBody>
          <a:bodyPr/>
          <a:lstStyle/>
          <a:p>
            <a:r>
              <a:rPr lang="en-US" b="1" dirty="0" err="1"/>
              <a:t>chage</a:t>
            </a:r>
            <a:r>
              <a:rPr lang="en-US" dirty="0"/>
              <a:t> - change user password expiry information</a:t>
            </a:r>
          </a:p>
        </p:txBody>
      </p:sp>
      <p:sp>
        <p:nvSpPr>
          <p:cNvPr id="3" name="Sisällön paikkamerkki 2">
            <a:extLst>
              <a:ext uri="{FF2B5EF4-FFF2-40B4-BE49-F238E27FC236}">
                <a16:creationId xmlns:a16="http://schemas.microsoft.com/office/drawing/2014/main" id="{6505185F-33AB-44F4-BA0D-01350896347D}"/>
              </a:ext>
            </a:extLst>
          </p:cNvPr>
          <p:cNvSpPr>
            <a:spLocks noGrp="1"/>
          </p:cNvSpPr>
          <p:nvPr>
            <p:ph idx="1"/>
          </p:nvPr>
        </p:nvSpPr>
        <p:spPr>
          <a:xfrm>
            <a:off x="838200" y="1825624"/>
            <a:ext cx="10515600" cy="4942376"/>
          </a:xfrm>
        </p:spPr>
        <p:txBody>
          <a:bodyPr>
            <a:normAutofit fontScale="62500" lnSpcReduction="20000"/>
          </a:bodyPr>
          <a:lstStyle/>
          <a:p>
            <a:r>
              <a:rPr lang="en-US" dirty="0" err="1"/>
              <a:t>chage</a:t>
            </a:r>
            <a:r>
              <a:rPr lang="en-US" dirty="0"/>
              <a:t> [options] LOGIN</a:t>
            </a:r>
          </a:p>
          <a:p>
            <a:r>
              <a:rPr lang="en-US" dirty="0"/>
              <a:t>-d		Set the number of days since January 1st, 1970 when the password was last changed.</a:t>
            </a:r>
            <a:br>
              <a:rPr lang="en-US" dirty="0"/>
            </a:br>
            <a:r>
              <a:rPr lang="en-US" dirty="0"/>
              <a:t>		The date may also be expressed in the format YYYY-MM-DD</a:t>
            </a:r>
          </a:p>
          <a:p>
            <a:r>
              <a:rPr lang="en-US" dirty="0"/>
              <a:t>-l 		Show password expiry information</a:t>
            </a:r>
          </a:p>
          <a:p>
            <a:r>
              <a:rPr lang="en-US" dirty="0"/>
              <a:t>-E EXPIRE_DAYS	Set the date or number of days since January 1, 1970 on which the user's account</a:t>
            </a:r>
            <a:br>
              <a:rPr lang="en-US" dirty="0"/>
            </a:br>
            <a:r>
              <a:rPr lang="en-US" dirty="0"/>
              <a:t>		will no longer be accessible.</a:t>
            </a:r>
          </a:p>
          <a:p>
            <a:r>
              <a:rPr lang="en-US" dirty="0"/>
              <a:t>-M MAX_DAYS	Set the maximum number of days during which a password is valid (-1= disable expiration)</a:t>
            </a: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–l </a:t>
            </a:r>
            <a:r>
              <a:rPr lang="fi-FI" dirty="0" err="1">
                <a:latin typeface="Courier New" panose="02070309020205020404" pitchFamily="49" charset="0"/>
                <a:cs typeface="Courier New" panose="02070309020205020404" pitchFamily="49" charset="0"/>
              </a:rPr>
              <a:t>testuser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list</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password</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expiration</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information</a:t>
            </a:r>
            <a:endParaRPr lang="fi-FI" dirty="0">
              <a:latin typeface="Courier New" panose="02070309020205020404" pitchFamily="49" charset="0"/>
              <a:cs typeface="Courier New" panose="02070309020205020404" pitchFamily="49" charset="0"/>
            </a:endParaRP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-M 90 </a:t>
            </a:r>
            <a:r>
              <a:rPr lang="fi-FI" dirty="0" err="1">
                <a:latin typeface="Courier New" panose="02070309020205020404" pitchFamily="49" charset="0"/>
                <a:cs typeface="Courier New" panose="02070309020205020404" pitchFamily="49" charset="0"/>
              </a:rPr>
              <a:t>testuser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make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password</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expire</a:t>
            </a:r>
            <a:r>
              <a:rPr lang="fi-FI" dirty="0">
                <a:latin typeface="Courier New" panose="02070309020205020404" pitchFamily="49" charset="0"/>
                <a:cs typeface="Courier New" panose="02070309020205020404" pitchFamily="49" charset="0"/>
              </a:rPr>
              <a:t> in 90 </a:t>
            </a:r>
            <a:r>
              <a:rPr lang="fi-FI" dirty="0" err="1">
                <a:latin typeface="Courier New" panose="02070309020205020404" pitchFamily="49" charset="0"/>
                <a:cs typeface="Courier New" panose="02070309020205020404" pitchFamily="49" charset="0"/>
              </a:rPr>
              <a:t>days</a:t>
            </a:r>
            <a:endParaRPr lang="fi-FI" dirty="0">
              <a:latin typeface="Courier New" panose="02070309020205020404" pitchFamily="49" charset="0"/>
              <a:cs typeface="Courier New" panose="02070309020205020404" pitchFamily="49" charset="0"/>
            </a:endParaRP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-M -1 </a:t>
            </a:r>
            <a:r>
              <a:rPr lang="fi-FI" dirty="0" err="1">
                <a:latin typeface="Courier New" panose="02070309020205020404" pitchFamily="49" charset="0"/>
                <a:cs typeface="Courier New" panose="02070309020205020404" pitchFamily="49" charset="0"/>
              </a:rPr>
              <a:t>testuser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disable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password</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expiration</a:t>
            </a:r>
            <a:endParaRPr lang="fi-FI" dirty="0">
              <a:latin typeface="Courier New" panose="02070309020205020404" pitchFamily="49" charset="0"/>
              <a:cs typeface="Courier New" panose="02070309020205020404" pitchFamily="49" charset="0"/>
            </a:endParaRP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–E "2025-05-29" </a:t>
            </a:r>
            <a:r>
              <a:rPr lang="fi-FI" dirty="0" err="1">
                <a:latin typeface="Courier New" panose="02070309020205020404" pitchFamily="49" charset="0"/>
                <a:cs typeface="Courier New" panose="02070309020205020404" pitchFamily="49" charset="0"/>
              </a:rPr>
              <a:t>testdude</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change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expiry</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date</a:t>
            </a:r>
            <a:r>
              <a:rPr lang="fi-FI" dirty="0">
                <a:latin typeface="Courier New" panose="02070309020205020404" pitchFamily="49" charset="0"/>
                <a:cs typeface="Courier New" panose="02070309020205020404" pitchFamily="49" charset="0"/>
              </a:rPr>
              <a:t> for </a:t>
            </a:r>
            <a:r>
              <a:rPr lang="fi-FI" dirty="0" err="1">
                <a:latin typeface="Courier New" panose="02070309020205020404" pitchFamily="49" charset="0"/>
                <a:cs typeface="Courier New" panose="02070309020205020404" pitchFamily="49" charset="0"/>
              </a:rPr>
              <a:t>testdude</a:t>
            </a:r>
            <a:endParaRPr lang="fi-FI" dirty="0">
              <a:latin typeface="Courier New" panose="02070309020205020404" pitchFamily="49" charset="0"/>
              <a:cs typeface="Courier New" panose="02070309020205020404" pitchFamily="49" charset="0"/>
            </a:endParaRP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-d 0 </a:t>
            </a:r>
            <a:r>
              <a:rPr lang="fi-FI" dirty="0" err="1">
                <a:latin typeface="Courier New" panose="02070309020205020404" pitchFamily="49" charset="0"/>
                <a:cs typeface="Courier New" panose="02070309020205020404" pitchFamily="49" charset="0"/>
              </a:rPr>
              <a:t>testuser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force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user</a:t>
            </a:r>
            <a:r>
              <a:rPr lang="fi-FI" dirty="0">
                <a:latin typeface="Courier New" panose="02070309020205020404" pitchFamily="49" charset="0"/>
                <a:cs typeface="Courier New" panose="02070309020205020404" pitchFamily="49" charset="0"/>
              </a:rPr>
              <a:t> to </a:t>
            </a:r>
            <a:r>
              <a:rPr lang="fi-FI" dirty="0" err="1">
                <a:latin typeface="Courier New" panose="02070309020205020404" pitchFamily="49" charset="0"/>
                <a:cs typeface="Courier New" panose="02070309020205020404" pitchFamily="49" charset="0"/>
              </a:rPr>
              <a:t>change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password</a:t>
            </a:r>
            <a:r>
              <a:rPr lang="fi-FI" dirty="0">
                <a:latin typeface="Courier New" panose="02070309020205020404" pitchFamily="49" charset="0"/>
                <a:cs typeface="Courier New" panose="02070309020205020404" pitchFamily="49" charset="0"/>
              </a:rPr>
              <a:t> on </a:t>
            </a:r>
            <a:r>
              <a:rPr lang="fi-FI" dirty="0" err="1">
                <a:latin typeface="Courier New" panose="02070309020205020404" pitchFamily="49" charset="0"/>
                <a:cs typeface="Courier New" panose="02070309020205020404" pitchFamily="49" charset="0"/>
              </a:rPr>
              <a:t>next</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login</a:t>
            </a:r>
            <a:endParaRPr lang="fi-FI" dirty="0">
              <a:latin typeface="Courier New" panose="02070309020205020404" pitchFamily="49" charset="0"/>
              <a:cs typeface="Courier New" panose="02070309020205020404" pitchFamily="49" charset="0"/>
            </a:endParaRPr>
          </a:p>
          <a:p>
            <a:r>
              <a:rPr lang="fi-FI" dirty="0" err="1">
                <a:latin typeface="Courier New" panose="02070309020205020404" pitchFamily="49" charset="0"/>
                <a:cs typeface="Courier New" panose="02070309020205020404" pitchFamily="49" charset="0"/>
              </a:rPr>
              <a:t>sudo</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chage</a:t>
            </a:r>
            <a:r>
              <a:rPr lang="fi-FI" dirty="0">
                <a:latin typeface="Courier New" panose="02070309020205020404" pitchFamily="49" charset="0"/>
                <a:cs typeface="Courier New" panose="02070309020205020404" pitchFamily="49" charset="0"/>
              </a:rPr>
              <a:t> -E -1 -M -1 </a:t>
            </a:r>
            <a:r>
              <a:rPr lang="fi-FI" dirty="0" err="1">
                <a:latin typeface="Courier New" panose="02070309020205020404" pitchFamily="49" charset="0"/>
                <a:cs typeface="Courier New" panose="02070309020205020404" pitchFamily="49" charset="0"/>
              </a:rPr>
              <a:t>user</a:t>
            </a:r>
            <a:r>
              <a:rPr lang="fi-FI">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maximize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password</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expiration</a:t>
            </a:r>
            <a:r>
              <a:rPr lang="fi-FI" dirty="0">
                <a:latin typeface="Courier New" panose="02070309020205020404" pitchFamily="49" charset="0"/>
                <a:cs typeface="Courier New" panose="02070309020205020404" pitchFamily="49" charset="0"/>
              </a:rPr>
              <a:t> and </a:t>
            </a:r>
            <a:r>
              <a:rPr lang="fi-FI" dirty="0" err="1">
                <a:latin typeface="Courier New" panose="02070309020205020404" pitchFamily="49" charset="0"/>
                <a:cs typeface="Courier New" panose="02070309020205020404" pitchFamily="49" charset="0"/>
              </a:rPr>
              <a:t>disable</a:t>
            </a:r>
            <a:r>
              <a:rPr lang="fi-FI" dirty="0">
                <a:latin typeface="Courier New" panose="02070309020205020404" pitchFamily="49" charset="0"/>
                <a:cs typeface="Courier New" panose="02070309020205020404" pitchFamily="49" charset="0"/>
              </a:rPr>
              <a:t> it</a:t>
            </a:r>
          </a:p>
          <a:p>
            <a:pPr marL="0" indent="0">
              <a:buNone/>
            </a:pPr>
            <a:br>
              <a:rPr lang="fi-FI" dirty="0"/>
            </a:br>
            <a:endParaRPr lang="en-US" dirty="0"/>
          </a:p>
        </p:txBody>
      </p:sp>
    </p:spTree>
    <p:extLst>
      <p:ext uri="{BB962C8B-B14F-4D97-AF65-F5344CB8AC3E}">
        <p14:creationId xmlns:p14="http://schemas.microsoft.com/office/powerpoint/2010/main" val="13278837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40817A3-00B4-4E13-B87F-B9CAF7D2D757}"/>
              </a:ext>
            </a:extLst>
          </p:cNvPr>
          <p:cNvSpPr>
            <a:spLocks noGrp="1"/>
          </p:cNvSpPr>
          <p:nvPr>
            <p:ph type="title"/>
          </p:nvPr>
        </p:nvSpPr>
        <p:spPr/>
        <p:txBody>
          <a:bodyPr/>
          <a:lstStyle/>
          <a:p>
            <a:r>
              <a:rPr lang="en-US" b="1" dirty="0" err="1"/>
              <a:t>usermod</a:t>
            </a:r>
            <a:r>
              <a:rPr lang="en-US" dirty="0"/>
              <a:t> -modify a user account</a:t>
            </a:r>
          </a:p>
        </p:txBody>
      </p:sp>
      <p:sp>
        <p:nvSpPr>
          <p:cNvPr id="3" name="Sisällön paikkamerkki 2">
            <a:extLst>
              <a:ext uri="{FF2B5EF4-FFF2-40B4-BE49-F238E27FC236}">
                <a16:creationId xmlns:a16="http://schemas.microsoft.com/office/drawing/2014/main" id="{0AA522DB-FF3C-418F-B6F9-EAC1FBD3BA11}"/>
              </a:ext>
            </a:extLst>
          </p:cNvPr>
          <p:cNvSpPr>
            <a:spLocks noGrp="1"/>
          </p:cNvSpPr>
          <p:nvPr>
            <p:ph idx="1"/>
          </p:nvPr>
        </p:nvSpPr>
        <p:spPr>
          <a:xfrm>
            <a:off x="838199" y="1825625"/>
            <a:ext cx="10671567" cy="4351338"/>
          </a:xfrm>
        </p:spPr>
        <p:txBody>
          <a:bodyPr>
            <a:normAutofit fontScale="47500" lnSpcReduction="20000"/>
          </a:bodyPr>
          <a:lstStyle/>
          <a:p>
            <a:r>
              <a:rPr lang="en-US" dirty="0" err="1"/>
              <a:t>usermod</a:t>
            </a:r>
            <a:r>
              <a:rPr lang="en-US" dirty="0"/>
              <a:t> [options] LOGIN</a:t>
            </a:r>
          </a:p>
          <a:p>
            <a:r>
              <a:rPr lang="en-US" dirty="0"/>
              <a:t>-a		Add the user to the supplementary group(s). Use only with the -G option.</a:t>
            </a:r>
          </a:p>
          <a:p>
            <a:r>
              <a:rPr lang="en-US" dirty="0"/>
              <a:t>-d		The user's new login directory. If the -m option is given, the contents of the current home directory</a:t>
            </a:r>
            <a:br>
              <a:rPr lang="en-US" dirty="0"/>
            </a:br>
            <a:r>
              <a:rPr lang="en-US" dirty="0"/>
              <a:t>		will be moved to the new home directory, which is create if it does not already exist.</a:t>
            </a:r>
          </a:p>
          <a:p>
            <a:r>
              <a:rPr lang="en-US" dirty="0"/>
              <a:t>-e EXPIRE_DATE 	The date ('YYYY-MM-DD') on which the user account will be disabled.</a:t>
            </a:r>
            <a:br>
              <a:rPr lang="en-US" dirty="0"/>
            </a:br>
            <a:r>
              <a:rPr lang="en-US" dirty="0"/>
              <a:t>		An empty EXPIRE_DATE argument will disable the expiration of the  account.</a:t>
            </a:r>
          </a:p>
          <a:p>
            <a:r>
              <a:rPr lang="en-US" dirty="0"/>
              <a:t>-G GROUP1[,GROUP2,...[,GROUPN]]] A list of supplementary groups which the user is also a member of.</a:t>
            </a:r>
          </a:p>
          <a:p>
            <a:r>
              <a:rPr lang="en-US" dirty="0"/>
              <a:t>-l NEW_LOGIN	The name of the user will be changed from LOGIN to NEW_LOGIN. Nothing else is changed.</a:t>
            </a:r>
            <a:br>
              <a:rPr lang="en-US" dirty="0"/>
            </a:br>
            <a:r>
              <a:rPr lang="en-US" dirty="0"/>
              <a:t>		The user's home directory or mail spool should be renamed manually.</a:t>
            </a:r>
          </a:p>
          <a:p>
            <a:r>
              <a:rPr lang="en-US" dirty="0"/>
              <a:t>-s		The name of the user's new login shell.</a:t>
            </a:r>
          </a:p>
          <a:p>
            <a:r>
              <a:rPr lang="en-US" dirty="0"/>
              <a:t>-L		Lock a user's password. Will not disable account.</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-l newname user		# change user's login name</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-m -d /path/to/home user 	# Create a new home directory and move files to it</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-a -G group1,group2 user 	# Add user to groups (don't put white space between groups)</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-L </a:t>
            </a:r>
            <a:r>
              <a:rPr lang="en-US" dirty="0" err="1">
                <a:latin typeface="Courier New" panose="02070309020205020404" pitchFamily="49" charset="0"/>
                <a:cs typeface="Courier New" panose="02070309020205020404" pitchFamily="49" charset="0"/>
              </a:rPr>
              <a:t>testuser</a:t>
            </a:r>
            <a:r>
              <a:rPr lang="en-US" dirty="0">
                <a:latin typeface="Courier New" panose="02070309020205020404" pitchFamily="49" charset="0"/>
                <a:cs typeface="Courier New" panose="02070309020205020404" pitchFamily="49" charset="0"/>
              </a:rPr>
              <a:t>			# lock </a:t>
            </a:r>
            <a:r>
              <a:rPr lang="en-US" dirty="0" err="1">
                <a:latin typeface="Courier New" panose="02070309020205020404" pitchFamily="49" charset="0"/>
                <a:cs typeface="Courier New" panose="02070309020205020404" pitchFamily="49" charset="0"/>
              </a:rPr>
              <a:t>testuser's</a:t>
            </a:r>
            <a:r>
              <a:rPr lang="en-US" dirty="0">
                <a:latin typeface="Courier New" panose="02070309020205020404" pitchFamily="49" charset="0"/>
                <a:cs typeface="Courier New" panose="02070309020205020404" pitchFamily="49" charset="0"/>
              </a:rPr>
              <a:t> password. Same as passwd -l </a:t>
            </a:r>
            <a:r>
              <a:rPr lang="en-US" dirty="0" err="1">
                <a:latin typeface="Courier New" panose="02070309020205020404" pitchFamily="49" charset="0"/>
                <a:cs typeface="Courier New" panose="02070309020205020404" pitchFamily="49" charset="0"/>
              </a:rPr>
              <a:t>testuser</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-s /bin/</a:t>
            </a:r>
            <a:r>
              <a:rPr lang="en-US" dirty="0" err="1">
                <a:latin typeface="Courier New" panose="02070309020205020404" pitchFamily="49" charset="0"/>
                <a:cs typeface="Courier New" panose="02070309020205020404" pitchFamily="49" charset="0"/>
              </a:rPr>
              <a:t>newshell</a:t>
            </a:r>
            <a:r>
              <a:rPr lang="en-US" dirty="0">
                <a:latin typeface="Courier New" panose="02070309020205020404" pitchFamily="49" charset="0"/>
                <a:cs typeface="Courier New" panose="02070309020205020404" pitchFamily="49" charset="0"/>
              </a:rPr>
              <a:t> user		# change default shell of user</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usermod</a:t>
            </a:r>
            <a:r>
              <a:rPr lang="en-US" dirty="0">
                <a:latin typeface="Courier New" panose="02070309020205020404" pitchFamily="49" charset="0"/>
                <a:cs typeface="Courier New" panose="02070309020205020404" pitchFamily="49" charset="0"/>
              </a:rPr>
              <a:t> -e '' user			# disable password expiration for user</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70001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0EFE5E8-F6D7-4816-8BD8-0D36888EB95E}"/>
              </a:ext>
            </a:extLst>
          </p:cNvPr>
          <p:cNvSpPr>
            <a:spLocks noGrp="1"/>
          </p:cNvSpPr>
          <p:nvPr>
            <p:ph type="title"/>
          </p:nvPr>
        </p:nvSpPr>
        <p:spPr/>
        <p:txBody>
          <a:bodyPr/>
          <a:lstStyle/>
          <a:p>
            <a:r>
              <a:rPr lang="en-US" dirty="0">
                <a:hlinkClick r:id="rId2"/>
              </a:rPr>
              <a:t>/</a:t>
            </a:r>
            <a:r>
              <a:rPr lang="en-US" dirty="0" err="1">
                <a:hlinkClick r:id="rId2"/>
              </a:rPr>
              <a:t>etc</a:t>
            </a:r>
            <a:r>
              <a:rPr lang="en-US" dirty="0">
                <a:hlinkClick r:id="rId2"/>
              </a:rPr>
              <a:t>/passwd format</a:t>
            </a:r>
            <a:endParaRPr lang="en-US" dirty="0"/>
          </a:p>
        </p:txBody>
      </p:sp>
      <p:sp>
        <p:nvSpPr>
          <p:cNvPr id="3" name="Sisällön paikkamerkki 2">
            <a:extLst>
              <a:ext uri="{FF2B5EF4-FFF2-40B4-BE49-F238E27FC236}">
                <a16:creationId xmlns:a16="http://schemas.microsoft.com/office/drawing/2014/main" id="{0144F50D-D46A-4C62-9AA1-B114E59EC9EB}"/>
              </a:ext>
            </a:extLst>
          </p:cNvPr>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john:x:1024:361:John Smith:/home/john:/bin/bash</a:t>
            </a:r>
          </a:p>
          <a:p>
            <a:pPr marL="514350" indent="-514350">
              <a:buFont typeface="+mj-lt"/>
              <a:buAutoNum type="arabicPeriod"/>
            </a:pPr>
            <a:r>
              <a:rPr lang="en-US" dirty="0"/>
              <a:t>Username used for login, 1-32 characters, A-Z and numbers</a:t>
            </a:r>
          </a:p>
          <a:p>
            <a:pPr marL="514350" indent="-514350">
              <a:buFont typeface="+mj-lt"/>
              <a:buAutoNum type="arabicPeriod"/>
            </a:pPr>
            <a:r>
              <a:rPr lang="en-US" dirty="0"/>
              <a:t>Encrypted and hashed password. "x" indicates it is stored in /</a:t>
            </a:r>
            <a:r>
              <a:rPr lang="en-US" dirty="0" err="1"/>
              <a:t>etc</a:t>
            </a:r>
            <a:r>
              <a:rPr lang="en-US" dirty="0"/>
              <a:t>/shadow</a:t>
            </a:r>
          </a:p>
          <a:p>
            <a:pPr marL="514350" indent="-514350">
              <a:buFont typeface="+mj-lt"/>
              <a:buAutoNum type="arabicPeriod"/>
            </a:pPr>
            <a:r>
              <a:rPr lang="en-US" dirty="0"/>
              <a:t>User id. 0 = root, 1-99 = predefined accounts: 100-999 reserved for administrative work 1000- = normal accounts</a:t>
            </a:r>
          </a:p>
          <a:p>
            <a:pPr marL="514350" indent="-514350">
              <a:buFont typeface="+mj-lt"/>
              <a:buAutoNum type="arabicPeriod"/>
            </a:pPr>
            <a:r>
              <a:rPr lang="en-US" dirty="0"/>
              <a:t>Default group id, stored in /</a:t>
            </a:r>
            <a:r>
              <a:rPr lang="en-US" dirty="0" err="1"/>
              <a:t>etc</a:t>
            </a:r>
            <a:r>
              <a:rPr lang="en-US" dirty="0"/>
              <a:t>/group file</a:t>
            </a:r>
          </a:p>
          <a:p>
            <a:pPr marL="514350" indent="-514350">
              <a:buFont typeface="+mj-lt"/>
              <a:buAutoNum type="arabicPeriod"/>
            </a:pPr>
            <a:r>
              <a:rPr lang="en-US" dirty="0"/>
              <a:t>Used ID info. The comment field. You can put here full name, phone number etc.</a:t>
            </a:r>
          </a:p>
          <a:p>
            <a:pPr marL="514350" indent="-514350">
              <a:buFont typeface="+mj-lt"/>
              <a:buAutoNum type="arabicPeriod"/>
            </a:pPr>
            <a:r>
              <a:rPr lang="en-US" dirty="0"/>
              <a:t>Absolute path to home directory.</a:t>
            </a:r>
          </a:p>
          <a:p>
            <a:pPr marL="514350" indent="-514350">
              <a:buFont typeface="+mj-lt"/>
              <a:buAutoNum type="arabicPeriod"/>
            </a:pPr>
            <a:r>
              <a:rPr lang="en-US" dirty="0"/>
              <a:t>Absolute path to shell.</a:t>
            </a:r>
          </a:p>
          <a:p>
            <a:pPr marL="0" indent="0">
              <a:buNone/>
            </a:pPr>
            <a:endParaRPr lang="en-US" dirty="0"/>
          </a:p>
        </p:txBody>
      </p:sp>
    </p:spTree>
    <p:extLst>
      <p:ext uri="{BB962C8B-B14F-4D97-AF65-F5344CB8AC3E}">
        <p14:creationId xmlns:p14="http://schemas.microsoft.com/office/powerpoint/2010/main" val="4011293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DB01162-9494-4A55-8C86-CA09DF63B24E}"/>
              </a:ext>
            </a:extLst>
          </p:cNvPr>
          <p:cNvSpPr>
            <a:spLocks noGrp="1"/>
          </p:cNvSpPr>
          <p:nvPr>
            <p:ph type="title"/>
          </p:nvPr>
        </p:nvSpPr>
        <p:spPr/>
        <p:txBody>
          <a:bodyPr/>
          <a:lstStyle/>
          <a:p>
            <a:r>
              <a:rPr lang="en-US" dirty="0">
                <a:hlinkClick r:id="rId2"/>
              </a:rPr>
              <a:t>/</a:t>
            </a:r>
            <a:r>
              <a:rPr lang="en-US" dirty="0" err="1">
                <a:hlinkClick r:id="rId2"/>
              </a:rPr>
              <a:t>etc</a:t>
            </a:r>
            <a:r>
              <a:rPr lang="en-US" dirty="0">
                <a:hlinkClick r:id="rId2"/>
              </a:rPr>
              <a:t>/group format</a:t>
            </a:r>
            <a:endParaRPr lang="en-US" dirty="0"/>
          </a:p>
        </p:txBody>
      </p:sp>
      <p:sp>
        <p:nvSpPr>
          <p:cNvPr id="3" name="Sisällön paikkamerkki 2">
            <a:extLst>
              <a:ext uri="{FF2B5EF4-FFF2-40B4-BE49-F238E27FC236}">
                <a16:creationId xmlns:a16="http://schemas.microsoft.com/office/drawing/2014/main" id="{91A0EA34-1398-4976-9658-3A7B8D84C222}"/>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projectx:x:24:xavier,logan,scott,kitty,jean</a:t>
            </a:r>
          </a:p>
          <a:p>
            <a:pPr marL="514350" indent="-514350">
              <a:buFont typeface="+mj-lt"/>
              <a:buAutoNum type="arabicPeriod"/>
            </a:pPr>
            <a:r>
              <a:rPr lang="en-US" dirty="0"/>
              <a:t>Group name, use A-Z and numbers</a:t>
            </a:r>
          </a:p>
          <a:p>
            <a:pPr marL="514350" indent="-514350">
              <a:buFont typeface="+mj-lt"/>
              <a:buAutoNum type="arabicPeriod"/>
            </a:pPr>
            <a:r>
              <a:rPr lang="en-US" dirty="0"/>
              <a:t>Encrypted password, which is generally not used and left empty.</a:t>
            </a:r>
          </a:p>
          <a:p>
            <a:pPr marL="514350" indent="-514350">
              <a:buFont typeface="+mj-lt"/>
              <a:buAutoNum type="arabicPeriod"/>
            </a:pPr>
            <a:r>
              <a:rPr lang="en-US" dirty="0"/>
              <a:t>Unique Group id. Same as in /</a:t>
            </a:r>
            <a:r>
              <a:rPr lang="en-US" dirty="0" err="1"/>
              <a:t>etc</a:t>
            </a:r>
            <a:r>
              <a:rPr lang="en-US" dirty="0"/>
              <a:t>/passwd</a:t>
            </a:r>
          </a:p>
          <a:p>
            <a:pPr marL="514350" indent="-514350">
              <a:buFont typeface="+mj-lt"/>
              <a:buAutoNum type="arabicPeriod"/>
            </a:pPr>
            <a:r>
              <a:rPr lang="en-US" dirty="0"/>
              <a:t>Group list. Each member is separated by a comma (no whitespace)</a:t>
            </a:r>
          </a:p>
          <a:p>
            <a:r>
              <a:rPr lang="en-US" dirty="0"/>
              <a:t>Each user has one default group and as many supplementary groups as it needs.</a:t>
            </a:r>
          </a:p>
          <a:p>
            <a:r>
              <a:rPr lang="en-US" dirty="0"/>
              <a:t>System has already set up many groups, for example </a:t>
            </a:r>
            <a:r>
              <a:rPr lang="en-US" dirty="0" err="1"/>
              <a:t>sudo</a:t>
            </a:r>
            <a:r>
              <a:rPr lang="en-US" dirty="0"/>
              <a:t>, www-data</a:t>
            </a:r>
          </a:p>
          <a:p>
            <a:pPr marL="0" indent="0">
              <a:buNone/>
            </a:pPr>
            <a:endParaRPr lang="en-US" dirty="0"/>
          </a:p>
          <a:p>
            <a:endParaRPr lang="en-US" dirty="0"/>
          </a:p>
        </p:txBody>
      </p:sp>
    </p:spTree>
    <p:extLst>
      <p:ext uri="{BB962C8B-B14F-4D97-AF65-F5344CB8AC3E}">
        <p14:creationId xmlns:p14="http://schemas.microsoft.com/office/powerpoint/2010/main" val="492828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6346EEC-1774-421A-A7D8-0D142E15DB25}"/>
              </a:ext>
            </a:extLst>
          </p:cNvPr>
          <p:cNvSpPr>
            <a:spLocks noGrp="1"/>
          </p:cNvSpPr>
          <p:nvPr>
            <p:ph type="title"/>
          </p:nvPr>
        </p:nvSpPr>
        <p:spPr/>
        <p:txBody>
          <a:bodyPr/>
          <a:lstStyle/>
          <a:p>
            <a:r>
              <a:rPr lang="en-US" dirty="0">
                <a:hlinkClick r:id="rId2"/>
              </a:rPr>
              <a:t>/</a:t>
            </a:r>
            <a:r>
              <a:rPr lang="en-US" dirty="0" err="1">
                <a:hlinkClick r:id="rId2"/>
              </a:rPr>
              <a:t>etc</a:t>
            </a:r>
            <a:r>
              <a:rPr lang="en-US" dirty="0">
                <a:hlinkClick r:id="rId2"/>
              </a:rPr>
              <a:t>/</a:t>
            </a:r>
            <a:r>
              <a:rPr lang="en-US" dirty="0" err="1">
                <a:hlinkClick r:id="rId2"/>
              </a:rPr>
              <a:t>sudoers</a:t>
            </a:r>
            <a:r>
              <a:rPr lang="en-US" dirty="0">
                <a:hlinkClick r:id="rId2"/>
              </a:rPr>
              <a:t> file</a:t>
            </a:r>
            <a:endParaRPr lang="en-US" dirty="0"/>
          </a:p>
        </p:txBody>
      </p:sp>
      <p:sp>
        <p:nvSpPr>
          <p:cNvPr id="3" name="Sisällön paikkamerkki 2">
            <a:extLst>
              <a:ext uri="{FF2B5EF4-FFF2-40B4-BE49-F238E27FC236}">
                <a16:creationId xmlns:a16="http://schemas.microsoft.com/office/drawing/2014/main" id="{40CAC18E-ABC1-43A5-B37D-A4417A0FA29F}"/>
              </a:ext>
            </a:extLst>
          </p:cNvPr>
          <p:cNvSpPr>
            <a:spLocks noGrp="1"/>
          </p:cNvSpPr>
          <p:nvPr>
            <p:ph idx="1"/>
          </p:nvPr>
        </p:nvSpPr>
        <p:spPr>
          <a:xfrm>
            <a:off x="838200" y="1825625"/>
            <a:ext cx="10515600" cy="4667250"/>
          </a:xfrm>
        </p:spPr>
        <p:txBody>
          <a:bodyPr>
            <a:normAutofit fontScale="92500" lnSpcReduction="20000"/>
          </a:bodyPr>
          <a:lstStyle/>
          <a:p>
            <a:r>
              <a:rPr lang="en-US" dirty="0" err="1"/>
              <a:t>sudo</a:t>
            </a:r>
            <a:r>
              <a:rPr lang="en-US" dirty="0"/>
              <a:t> command allows you to execute one-off commands with root privileges, without the need to spawn a new shell. These rights are defined in /</a:t>
            </a:r>
            <a:r>
              <a:rPr lang="en-US" dirty="0" err="1"/>
              <a:t>etc</a:t>
            </a:r>
            <a:r>
              <a:rPr lang="en-US" dirty="0"/>
              <a:t>/</a:t>
            </a:r>
            <a:r>
              <a:rPr lang="en-US" dirty="0" err="1"/>
              <a:t>sudoers</a:t>
            </a:r>
            <a:r>
              <a:rPr lang="en-US" dirty="0"/>
              <a:t> file</a:t>
            </a:r>
          </a:p>
          <a:p>
            <a:r>
              <a:rPr lang="en-US" dirty="0">
                <a:latin typeface="Courier New" panose="02070309020205020404" pitchFamily="49" charset="0"/>
                <a:cs typeface="Courier New" panose="02070309020205020404" pitchFamily="49" charset="0"/>
              </a:rPr>
              <a:t>root    ALL=(ALL:ALL) ALL</a:t>
            </a:r>
          </a:p>
          <a:p>
            <a:r>
              <a:rPr lang="en-US" dirty="0">
                <a:latin typeface="Courier New" panose="02070309020205020404" pitchFamily="49" charset="0"/>
                <a:cs typeface="Courier New" panose="02070309020205020404" pitchFamily="49" charset="0"/>
              </a:rPr>
              <a:t>%admin ALL=(ALL) ALL</a:t>
            </a:r>
          </a:p>
          <a:p>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ALL=(ALL:ALL) ALL</a:t>
            </a:r>
          </a:p>
          <a:p>
            <a:r>
              <a:rPr lang="en-US" dirty="0"/>
              <a:t>The correct way to edit /</a:t>
            </a:r>
            <a:r>
              <a:rPr lang="en-US" dirty="0" err="1"/>
              <a:t>etc</a:t>
            </a:r>
            <a:r>
              <a:rPr lang="en-US" dirty="0"/>
              <a:t>/</a:t>
            </a:r>
            <a:r>
              <a:rPr lang="en-US" dirty="0" err="1"/>
              <a:t>sudoers</a:t>
            </a:r>
            <a:r>
              <a:rPr lang="en-US" dirty="0"/>
              <a:t> is:</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visudo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sudoers</a:t>
            </a:r>
            <a:endParaRPr lang="en-US" dirty="0">
              <a:latin typeface="Courier New" panose="02070309020205020404" pitchFamily="49" charset="0"/>
              <a:cs typeface="Courier New" panose="02070309020205020404" pitchFamily="49" charset="0"/>
            </a:endParaRPr>
          </a:p>
          <a:p>
            <a:r>
              <a:rPr lang="en-US" dirty="0"/>
              <a:t>It will use your default editor (vi on most systems) and check that the syntax is correct before actually saving changes. Otherwise if /</a:t>
            </a:r>
            <a:r>
              <a:rPr lang="en-US" dirty="0" err="1"/>
              <a:t>etc</a:t>
            </a:r>
            <a:r>
              <a:rPr lang="en-US" dirty="0"/>
              <a:t>/</a:t>
            </a:r>
            <a:r>
              <a:rPr lang="en-US" dirty="0" err="1"/>
              <a:t>sudoers</a:t>
            </a:r>
            <a:r>
              <a:rPr lang="en-US" dirty="0"/>
              <a:t> becomes corrupted, it might be difficult to do root login at all!</a:t>
            </a:r>
          </a:p>
          <a:p>
            <a:r>
              <a:rPr lang="en-US" dirty="0"/>
              <a:t>If you want to give root access to a new user, just add to </a:t>
            </a:r>
            <a:r>
              <a:rPr lang="en-US" dirty="0" err="1"/>
              <a:t>sudo</a:t>
            </a:r>
            <a:r>
              <a:rPr lang="en-US" dirty="0"/>
              <a:t> group instead.</a:t>
            </a:r>
          </a:p>
        </p:txBody>
      </p:sp>
    </p:spTree>
    <p:extLst>
      <p:ext uri="{BB962C8B-B14F-4D97-AF65-F5344CB8AC3E}">
        <p14:creationId xmlns:p14="http://schemas.microsoft.com/office/powerpoint/2010/main" val="25602395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4276813-3586-4021-AC47-34516FB4DA67}"/>
              </a:ext>
            </a:extLst>
          </p:cNvPr>
          <p:cNvSpPr>
            <a:spLocks noGrp="1"/>
          </p:cNvSpPr>
          <p:nvPr>
            <p:ph type="title"/>
          </p:nvPr>
        </p:nvSpPr>
        <p:spPr/>
        <p:txBody>
          <a:bodyPr/>
          <a:lstStyle/>
          <a:p>
            <a:r>
              <a:rPr lang="en-US" dirty="0"/>
              <a:t>File and Folder Permissions</a:t>
            </a:r>
          </a:p>
        </p:txBody>
      </p:sp>
      <p:sp>
        <p:nvSpPr>
          <p:cNvPr id="3" name="Sisällön paikkamerkki 2">
            <a:extLst>
              <a:ext uri="{FF2B5EF4-FFF2-40B4-BE49-F238E27FC236}">
                <a16:creationId xmlns:a16="http://schemas.microsoft.com/office/drawing/2014/main" id="{563EA84C-CC7C-4CD6-9558-1F29BA4F1FC4}"/>
              </a:ext>
            </a:extLst>
          </p:cNvPr>
          <p:cNvSpPr>
            <a:spLocks noGrp="1"/>
          </p:cNvSpPr>
          <p:nvPr>
            <p:ph sz="half" idx="1"/>
          </p:nvPr>
        </p:nvSpPr>
        <p:spPr/>
        <p:txBody>
          <a:bodyPr>
            <a:normAutofit fontScale="62500" lnSpcReduction="20000"/>
          </a:bodyPr>
          <a:lstStyle/>
          <a:p>
            <a:r>
              <a:rPr lang="en-US" dirty="0"/>
              <a:t>r = read (a file or list directory's contents)</a:t>
            </a:r>
          </a:p>
          <a:p>
            <a:r>
              <a:rPr lang="en-US" dirty="0"/>
              <a:t>w = write (a file or directory)</a:t>
            </a:r>
          </a:p>
          <a:p>
            <a:r>
              <a:rPr lang="en-US" dirty="0"/>
              <a:t>x = execute (a file or recurse a directory tree)</a:t>
            </a:r>
          </a:p>
          <a:p>
            <a:r>
              <a:rPr lang="en-US" dirty="0"/>
              <a:t>user(owner)-group-others</a:t>
            </a:r>
          </a:p>
          <a:p>
            <a:r>
              <a:rPr lang="en-US" dirty="0"/>
              <a:t>s = </a:t>
            </a:r>
            <a:r>
              <a:rPr lang="en-US" dirty="0" err="1"/>
              <a:t>setuid</a:t>
            </a:r>
            <a:r>
              <a:rPr lang="en-US" dirty="0"/>
              <a:t> (4)</a:t>
            </a:r>
          </a:p>
          <a:p>
            <a:r>
              <a:rPr lang="en-US" dirty="0"/>
              <a:t>s = </a:t>
            </a:r>
            <a:r>
              <a:rPr lang="en-US" dirty="0" err="1"/>
              <a:t>setgid</a:t>
            </a:r>
            <a:r>
              <a:rPr lang="en-US" dirty="0"/>
              <a:t> (2)</a:t>
            </a:r>
          </a:p>
          <a:p>
            <a:r>
              <a:rPr lang="en-US" dirty="0"/>
              <a:t>t = sticky (1)</a:t>
            </a:r>
          </a:p>
          <a:p>
            <a:r>
              <a:rPr lang="en-US" dirty="0"/>
              <a:t>- = file, d = directory, l = link</a:t>
            </a:r>
          </a:p>
          <a:p>
            <a:r>
              <a:rPr lang="en-US" dirty="0">
                <a:latin typeface="Courier New" panose="02070309020205020404" pitchFamily="49" charset="0"/>
                <a:cs typeface="Courier New" panose="02070309020205020404" pitchFamily="49" charset="0"/>
              </a:rPr>
              <a:t>file 600	= -</a:t>
            </a:r>
            <a:r>
              <a:rPr lang="en-US" dirty="0" err="1">
                <a:latin typeface="Courier New" panose="02070309020205020404" pitchFamily="49" charset="0"/>
                <a:cs typeface="Courier New" panose="02070309020205020404" pitchFamily="49" charset="0"/>
              </a:rPr>
              <a:t>rw</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folder 770 	= </a:t>
            </a:r>
            <a:r>
              <a:rPr lang="en-US" dirty="0" err="1">
                <a:latin typeface="Courier New" panose="02070309020205020404" pitchFamily="49" charset="0"/>
                <a:cs typeface="Courier New" panose="02070309020205020404" pitchFamily="49" charset="0"/>
              </a:rPr>
              <a:t>drwxrwx</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link 644 	= </a:t>
            </a:r>
            <a:r>
              <a:rPr lang="en-US" dirty="0" err="1">
                <a:latin typeface="Courier New" panose="02070309020205020404" pitchFamily="49" charset="0"/>
                <a:cs typeface="Courier New" panose="02070309020205020404" pitchFamily="49" charset="0"/>
              </a:rPr>
              <a:t>lrw</a:t>
            </a:r>
            <a:r>
              <a:rPr lang="en-US" dirty="0">
                <a:latin typeface="Courier New" panose="02070309020205020404" pitchFamily="49" charset="0"/>
                <a:cs typeface="Courier New" panose="02070309020205020404" pitchFamily="49" charset="0"/>
              </a:rPr>
              <a:t>-r--r--</a:t>
            </a:r>
          </a:p>
          <a:p>
            <a:r>
              <a:rPr lang="en-US" dirty="0">
                <a:latin typeface="Courier New" panose="02070309020205020404" pitchFamily="49" charset="0"/>
                <a:cs typeface="Courier New" panose="02070309020205020404" pitchFamily="49" charset="0"/>
              </a:rPr>
              <a:t>file 755	= -</a:t>
            </a:r>
            <a:r>
              <a:rPr lang="en-US" dirty="0" err="1">
                <a:latin typeface="Courier New" panose="02070309020205020404" pitchFamily="49" charset="0"/>
                <a:cs typeface="Courier New" panose="02070309020205020404" pitchFamily="49" charset="0"/>
              </a:rPr>
              <a:t>rwxr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xr</a:t>
            </a:r>
            <a:r>
              <a:rPr lang="en-US" dirty="0">
                <a:latin typeface="Courier New" panose="02070309020205020404" pitchFamily="49" charset="0"/>
                <a:cs typeface="Courier New" panose="02070309020205020404" pitchFamily="49" charset="0"/>
              </a:rPr>
              <a:t>-x</a:t>
            </a:r>
          </a:p>
          <a:p>
            <a:r>
              <a:rPr lang="en-US" dirty="0">
                <a:latin typeface="Courier New" panose="02070309020205020404" pitchFamily="49" charset="0"/>
                <a:cs typeface="Courier New" panose="02070309020205020404" pitchFamily="49" charset="0"/>
              </a:rPr>
              <a:t>file 4755	= -</a:t>
            </a:r>
            <a:r>
              <a:rPr lang="en-US" dirty="0" err="1">
                <a:latin typeface="Courier New" panose="02070309020205020404" pitchFamily="49" charset="0"/>
                <a:cs typeface="Courier New" panose="02070309020205020404" pitchFamily="49" charset="0"/>
              </a:rPr>
              <a:t>rwsr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xr</a:t>
            </a:r>
            <a:r>
              <a:rPr lang="en-US" dirty="0">
                <a:latin typeface="Courier New" panose="02070309020205020404" pitchFamily="49" charset="0"/>
                <a:cs typeface="Courier New" panose="02070309020205020404" pitchFamily="49" charset="0"/>
              </a:rPr>
              <a:t>-x</a:t>
            </a:r>
          </a:p>
          <a:p>
            <a:endParaRPr lang="en-US" dirty="0"/>
          </a:p>
          <a:p>
            <a:endParaRPr lang="en-US" dirty="0"/>
          </a:p>
          <a:p>
            <a:endParaRPr lang="en-US" dirty="0"/>
          </a:p>
        </p:txBody>
      </p:sp>
      <p:graphicFrame>
        <p:nvGraphicFramePr>
          <p:cNvPr id="6" name="Taulukko 6">
            <a:extLst>
              <a:ext uri="{FF2B5EF4-FFF2-40B4-BE49-F238E27FC236}">
                <a16:creationId xmlns:a16="http://schemas.microsoft.com/office/drawing/2014/main" id="{CD79131F-41F2-4E34-9A1F-8A9EA2BD8CA3}"/>
              </a:ext>
            </a:extLst>
          </p:cNvPr>
          <p:cNvGraphicFramePr>
            <a:graphicFrameLocks noGrp="1"/>
          </p:cNvGraphicFramePr>
          <p:nvPr>
            <p:ph sz="half" idx="2"/>
            <p:extLst>
              <p:ext uri="{D42A27DB-BD31-4B8C-83A1-F6EECF244321}">
                <p14:modId xmlns:p14="http://schemas.microsoft.com/office/powerpoint/2010/main" val="1929922289"/>
              </p:ext>
            </p:extLst>
          </p:nvPr>
        </p:nvGraphicFramePr>
        <p:xfrm>
          <a:off x="6172200" y="1825625"/>
          <a:ext cx="5181600" cy="3337560"/>
        </p:xfrm>
        <a:graphic>
          <a:graphicData uri="http://schemas.openxmlformats.org/drawingml/2006/table">
            <a:tbl>
              <a:tblPr firstRow="1" bandRow="1">
                <a:tableStyleId>{5C22544A-7EE6-4342-B048-85BDC9FD1C3A}</a:tableStyleId>
              </a:tblPr>
              <a:tblGrid>
                <a:gridCol w="732600">
                  <a:extLst>
                    <a:ext uri="{9D8B030D-6E8A-4147-A177-3AD203B41FA5}">
                      <a16:colId xmlns:a16="http://schemas.microsoft.com/office/drawing/2014/main" val="3148236651"/>
                    </a:ext>
                  </a:extLst>
                </a:gridCol>
                <a:gridCol w="914400">
                  <a:extLst>
                    <a:ext uri="{9D8B030D-6E8A-4147-A177-3AD203B41FA5}">
                      <a16:colId xmlns:a16="http://schemas.microsoft.com/office/drawing/2014/main" val="2071913562"/>
                    </a:ext>
                  </a:extLst>
                </a:gridCol>
                <a:gridCol w="1022400">
                  <a:extLst>
                    <a:ext uri="{9D8B030D-6E8A-4147-A177-3AD203B41FA5}">
                      <a16:colId xmlns:a16="http://schemas.microsoft.com/office/drawing/2014/main" val="3148952549"/>
                    </a:ext>
                  </a:extLst>
                </a:gridCol>
                <a:gridCol w="2512200">
                  <a:extLst>
                    <a:ext uri="{9D8B030D-6E8A-4147-A177-3AD203B41FA5}">
                      <a16:colId xmlns:a16="http://schemas.microsoft.com/office/drawing/2014/main" val="1192680405"/>
                    </a:ext>
                  </a:extLst>
                </a:gridCol>
              </a:tblGrid>
              <a:tr h="370840">
                <a:tc>
                  <a:txBody>
                    <a:bodyPr/>
                    <a:lstStyle/>
                    <a:p>
                      <a:r>
                        <a:rPr lang="en-US" dirty="0"/>
                        <a:t>octal</a:t>
                      </a:r>
                    </a:p>
                  </a:txBody>
                  <a:tcPr/>
                </a:tc>
                <a:tc>
                  <a:txBody>
                    <a:bodyPr/>
                    <a:lstStyle/>
                    <a:p>
                      <a:r>
                        <a:rPr lang="en-US" dirty="0"/>
                        <a:t>binary</a:t>
                      </a:r>
                    </a:p>
                  </a:txBody>
                  <a:tcPr/>
                </a:tc>
                <a:tc>
                  <a:txBody>
                    <a:bodyPr/>
                    <a:lstStyle/>
                    <a:p>
                      <a:r>
                        <a:rPr lang="en-US" dirty="0" err="1"/>
                        <a:t>rwx</a:t>
                      </a:r>
                      <a:endParaRPr lang="en-US" dirty="0"/>
                    </a:p>
                  </a:txBody>
                  <a:tcPr/>
                </a:tc>
                <a:tc>
                  <a:txBody>
                    <a:bodyPr/>
                    <a:lstStyle/>
                    <a:p>
                      <a:r>
                        <a:rPr lang="en-US" dirty="0"/>
                        <a:t>Permission</a:t>
                      </a:r>
                    </a:p>
                  </a:txBody>
                  <a:tcPr/>
                </a:tc>
                <a:extLst>
                  <a:ext uri="{0D108BD9-81ED-4DB2-BD59-A6C34878D82A}">
                    <a16:rowId xmlns:a16="http://schemas.microsoft.com/office/drawing/2014/main" val="2928457402"/>
                  </a:ext>
                </a:extLst>
              </a:tr>
              <a:tr h="370840">
                <a:tc>
                  <a:txBody>
                    <a:bodyPr/>
                    <a:lstStyle/>
                    <a:p>
                      <a:r>
                        <a:rPr lang="en-US" dirty="0"/>
                        <a:t>0</a:t>
                      </a:r>
                    </a:p>
                  </a:txBody>
                  <a:tcPr/>
                </a:tc>
                <a:tc>
                  <a:txBody>
                    <a:bodyPr/>
                    <a:lstStyle/>
                    <a:p>
                      <a:r>
                        <a:rPr lang="en-US" dirty="0"/>
                        <a:t>000</a:t>
                      </a:r>
                    </a:p>
                  </a:txBody>
                  <a:tcPr/>
                </a:tc>
                <a:tc>
                  <a:txBody>
                    <a:bodyPr/>
                    <a:lstStyle/>
                    <a:p>
                      <a:r>
                        <a:rPr lang="en-US" dirty="0"/>
                        <a:t>---</a:t>
                      </a:r>
                    </a:p>
                  </a:txBody>
                  <a:tcPr/>
                </a:tc>
                <a:tc>
                  <a:txBody>
                    <a:bodyPr/>
                    <a:lstStyle/>
                    <a:p>
                      <a:r>
                        <a:rPr lang="en-US" dirty="0"/>
                        <a:t>none</a:t>
                      </a:r>
                    </a:p>
                  </a:txBody>
                  <a:tcPr/>
                </a:tc>
                <a:extLst>
                  <a:ext uri="{0D108BD9-81ED-4DB2-BD59-A6C34878D82A}">
                    <a16:rowId xmlns:a16="http://schemas.microsoft.com/office/drawing/2014/main" val="2245269227"/>
                  </a:ext>
                </a:extLst>
              </a:tr>
              <a:tr h="370840">
                <a:tc>
                  <a:txBody>
                    <a:bodyPr/>
                    <a:lstStyle/>
                    <a:p>
                      <a:r>
                        <a:rPr lang="en-US" dirty="0"/>
                        <a:t>1</a:t>
                      </a:r>
                    </a:p>
                  </a:txBody>
                  <a:tcPr/>
                </a:tc>
                <a:tc>
                  <a:txBody>
                    <a:bodyPr/>
                    <a:lstStyle/>
                    <a:p>
                      <a:r>
                        <a:rPr lang="en-US" dirty="0"/>
                        <a:t>001</a:t>
                      </a:r>
                    </a:p>
                  </a:txBody>
                  <a:tcPr/>
                </a:tc>
                <a:tc>
                  <a:txBody>
                    <a:bodyPr/>
                    <a:lstStyle/>
                    <a:p>
                      <a:r>
                        <a:rPr lang="en-US" dirty="0"/>
                        <a:t>--x</a:t>
                      </a:r>
                    </a:p>
                  </a:txBody>
                  <a:tcPr/>
                </a:tc>
                <a:tc>
                  <a:txBody>
                    <a:bodyPr/>
                    <a:lstStyle/>
                    <a:p>
                      <a:r>
                        <a:rPr lang="en-US" dirty="0"/>
                        <a:t>execute only</a:t>
                      </a:r>
                    </a:p>
                  </a:txBody>
                  <a:tcPr/>
                </a:tc>
                <a:extLst>
                  <a:ext uri="{0D108BD9-81ED-4DB2-BD59-A6C34878D82A}">
                    <a16:rowId xmlns:a16="http://schemas.microsoft.com/office/drawing/2014/main" val="2895400588"/>
                  </a:ext>
                </a:extLst>
              </a:tr>
              <a:tr h="370840">
                <a:tc>
                  <a:txBody>
                    <a:bodyPr/>
                    <a:lstStyle/>
                    <a:p>
                      <a:r>
                        <a:rPr lang="en-US" dirty="0"/>
                        <a:t>2</a:t>
                      </a:r>
                    </a:p>
                  </a:txBody>
                  <a:tcPr/>
                </a:tc>
                <a:tc>
                  <a:txBody>
                    <a:bodyPr/>
                    <a:lstStyle/>
                    <a:p>
                      <a:r>
                        <a:rPr lang="en-US" dirty="0"/>
                        <a:t>010</a:t>
                      </a:r>
                    </a:p>
                  </a:txBody>
                  <a:tcPr/>
                </a:tc>
                <a:tc>
                  <a:txBody>
                    <a:bodyPr/>
                    <a:lstStyle/>
                    <a:p>
                      <a:r>
                        <a:rPr lang="en-US" dirty="0"/>
                        <a:t>-w-</a:t>
                      </a:r>
                    </a:p>
                  </a:txBody>
                  <a:tcPr/>
                </a:tc>
                <a:tc>
                  <a:txBody>
                    <a:bodyPr/>
                    <a:lstStyle/>
                    <a:p>
                      <a:r>
                        <a:rPr lang="en-US" dirty="0"/>
                        <a:t>write only</a:t>
                      </a:r>
                    </a:p>
                  </a:txBody>
                  <a:tcPr/>
                </a:tc>
                <a:extLst>
                  <a:ext uri="{0D108BD9-81ED-4DB2-BD59-A6C34878D82A}">
                    <a16:rowId xmlns:a16="http://schemas.microsoft.com/office/drawing/2014/main" val="2889603975"/>
                  </a:ext>
                </a:extLst>
              </a:tr>
              <a:tr h="370840">
                <a:tc>
                  <a:txBody>
                    <a:bodyPr/>
                    <a:lstStyle/>
                    <a:p>
                      <a:r>
                        <a:rPr lang="en-US" dirty="0"/>
                        <a:t>3</a:t>
                      </a:r>
                    </a:p>
                  </a:txBody>
                  <a:tcPr/>
                </a:tc>
                <a:tc>
                  <a:txBody>
                    <a:bodyPr/>
                    <a:lstStyle/>
                    <a:p>
                      <a:r>
                        <a:rPr lang="en-US" dirty="0"/>
                        <a:t>011</a:t>
                      </a:r>
                    </a:p>
                  </a:txBody>
                  <a:tcPr/>
                </a:tc>
                <a:tc>
                  <a:txBody>
                    <a:bodyPr/>
                    <a:lstStyle/>
                    <a:p>
                      <a:r>
                        <a:rPr lang="en-US" dirty="0"/>
                        <a:t>-</a:t>
                      </a:r>
                      <a:r>
                        <a:rPr lang="en-US" dirty="0" err="1"/>
                        <a:t>wx</a:t>
                      </a:r>
                      <a:endParaRPr lang="en-US" dirty="0"/>
                    </a:p>
                  </a:txBody>
                  <a:tcPr/>
                </a:tc>
                <a:tc>
                  <a:txBody>
                    <a:bodyPr/>
                    <a:lstStyle/>
                    <a:p>
                      <a:r>
                        <a:rPr lang="en-US" dirty="0"/>
                        <a:t>write and execute</a:t>
                      </a:r>
                    </a:p>
                  </a:txBody>
                  <a:tcPr/>
                </a:tc>
                <a:extLst>
                  <a:ext uri="{0D108BD9-81ED-4DB2-BD59-A6C34878D82A}">
                    <a16:rowId xmlns:a16="http://schemas.microsoft.com/office/drawing/2014/main" val="9233402"/>
                  </a:ext>
                </a:extLst>
              </a:tr>
              <a:tr h="370840">
                <a:tc>
                  <a:txBody>
                    <a:bodyPr/>
                    <a:lstStyle/>
                    <a:p>
                      <a:r>
                        <a:rPr lang="en-US" dirty="0"/>
                        <a:t>4</a:t>
                      </a:r>
                    </a:p>
                  </a:txBody>
                  <a:tcPr/>
                </a:tc>
                <a:tc>
                  <a:txBody>
                    <a:bodyPr/>
                    <a:lstStyle/>
                    <a:p>
                      <a:r>
                        <a:rPr lang="en-US" dirty="0"/>
                        <a:t>100</a:t>
                      </a:r>
                    </a:p>
                  </a:txBody>
                  <a:tcPr/>
                </a:tc>
                <a:tc>
                  <a:txBody>
                    <a:bodyPr/>
                    <a:lstStyle/>
                    <a:p>
                      <a:r>
                        <a:rPr lang="en-US" dirty="0"/>
                        <a:t>r--</a:t>
                      </a:r>
                    </a:p>
                  </a:txBody>
                  <a:tcPr/>
                </a:tc>
                <a:tc>
                  <a:txBody>
                    <a:bodyPr/>
                    <a:lstStyle/>
                    <a:p>
                      <a:r>
                        <a:rPr lang="en-US" dirty="0"/>
                        <a:t>read only</a:t>
                      </a:r>
                    </a:p>
                  </a:txBody>
                  <a:tcPr/>
                </a:tc>
                <a:extLst>
                  <a:ext uri="{0D108BD9-81ED-4DB2-BD59-A6C34878D82A}">
                    <a16:rowId xmlns:a16="http://schemas.microsoft.com/office/drawing/2014/main" val="2366847953"/>
                  </a:ext>
                </a:extLst>
              </a:tr>
              <a:tr h="370840">
                <a:tc>
                  <a:txBody>
                    <a:bodyPr/>
                    <a:lstStyle/>
                    <a:p>
                      <a:r>
                        <a:rPr lang="en-US" dirty="0"/>
                        <a:t>5</a:t>
                      </a:r>
                    </a:p>
                  </a:txBody>
                  <a:tcPr/>
                </a:tc>
                <a:tc>
                  <a:txBody>
                    <a:bodyPr/>
                    <a:lstStyle/>
                    <a:p>
                      <a:r>
                        <a:rPr lang="en-US" dirty="0"/>
                        <a:t>101</a:t>
                      </a:r>
                    </a:p>
                  </a:txBody>
                  <a:tcPr/>
                </a:tc>
                <a:tc>
                  <a:txBody>
                    <a:bodyPr/>
                    <a:lstStyle/>
                    <a:p>
                      <a:r>
                        <a:rPr lang="en-US" dirty="0"/>
                        <a:t>r-x</a:t>
                      </a:r>
                    </a:p>
                  </a:txBody>
                  <a:tcPr/>
                </a:tc>
                <a:tc>
                  <a:txBody>
                    <a:bodyPr/>
                    <a:lstStyle/>
                    <a:p>
                      <a:r>
                        <a:rPr lang="en-US" dirty="0"/>
                        <a:t>read and execute</a:t>
                      </a:r>
                    </a:p>
                  </a:txBody>
                  <a:tcPr/>
                </a:tc>
                <a:extLst>
                  <a:ext uri="{0D108BD9-81ED-4DB2-BD59-A6C34878D82A}">
                    <a16:rowId xmlns:a16="http://schemas.microsoft.com/office/drawing/2014/main" val="3330878179"/>
                  </a:ext>
                </a:extLst>
              </a:tr>
              <a:tr h="370840">
                <a:tc>
                  <a:txBody>
                    <a:bodyPr/>
                    <a:lstStyle/>
                    <a:p>
                      <a:r>
                        <a:rPr lang="en-US" dirty="0"/>
                        <a:t>6</a:t>
                      </a:r>
                    </a:p>
                  </a:txBody>
                  <a:tcPr/>
                </a:tc>
                <a:tc>
                  <a:txBody>
                    <a:bodyPr/>
                    <a:lstStyle/>
                    <a:p>
                      <a:r>
                        <a:rPr lang="en-US" dirty="0"/>
                        <a:t>110</a:t>
                      </a:r>
                    </a:p>
                  </a:txBody>
                  <a:tcPr/>
                </a:tc>
                <a:tc>
                  <a:txBody>
                    <a:bodyPr/>
                    <a:lstStyle/>
                    <a:p>
                      <a:r>
                        <a:rPr lang="en-US" dirty="0" err="1"/>
                        <a:t>rw</a:t>
                      </a:r>
                      <a:r>
                        <a:rPr lang="en-US" dirty="0"/>
                        <a:t>-</a:t>
                      </a:r>
                    </a:p>
                  </a:txBody>
                  <a:tcPr/>
                </a:tc>
                <a:tc>
                  <a:txBody>
                    <a:bodyPr/>
                    <a:lstStyle/>
                    <a:p>
                      <a:r>
                        <a:rPr lang="en-US" dirty="0"/>
                        <a:t>read and write</a:t>
                      </a:r>
                    </a:p>
                  </a:txBody>
                  <a:tcPr/>
                </a:tc>
                <a:extLst>
                  <a:ext uri="{0D108BD9-81ED-4DB2-BD59-A6C34878D82A}">
                    <a16:rowId xmlns:a16="http://schemas.microsoft.com/office/drawing/2014/main" val="2775682691"/>
                  </a:ext>
                </a:extLst>
              </a:tr>
              <a:tr h="370840">
                <a:tc>
                  <a:txBody>
                    <a:bodyPr/>
                    <a:lstStyle/>
                    <a:p>
                      <a:r>
                        <a:rPr lang="en-US" dirty="0"/>
                        <a:t>7</a:t>
                      </a:r>
                    </a:p>
                  </a:txBody>
                  <a:tcPr/>
                </a:tc>
                <a:tc>
                  <a:txBody>
                    <a:bodyPr/>
                    <a:lstStyle/>
                    <a:p>
                      <a:r>
                        <a:rPr lang="en-US" dirty="0"/>
                        <a:t>111</a:t>
                      </a:r>
                    </a:p>
                  </a:txBody>
                  <a:tcPr/>
                </a:tc>
                <a:tc>
                  <a:txBody>
                    <a:bodyPr/>
                    <a:lstStyle/>
                    <a:p>
                      <a:r>
                        <a:rPr lang="en-US" dirty="0" err="1"/>
                        <a:t>rwx</a:t>
                      </a:r>
                      <a:endParaRPr lang="en-US" dirty="0"/>
                    </a:p>
                  </a:txBody>
                  <a:tcPr/>
                </a:tc>
                <a:tc>
                  <a:txBody>
                    <a:bodyPr/>
                    <a:lstStyle/>
                    <a:p>
                      <a:r>
                        <a:rPr lang="en-US" dirty="0"/>
                        <a:t>read, write and execute</a:t>
                      </a:r>
                    </a:p>
                  </a:txBody>
                  <a:tcPr/>
                </a:tc>
                <a:extLst>
                  <a:ext uri="{0D108BD9-81ED-4DB2-BD59-A6C34878D82A}">
                    <a16:rowId xmlns:a16="http://schemas.microsoft.com/office/drawing/2014/main" val="116153431"/>
                  </a:ext>
                </a:extLst>
              </a:tr>
            </a:tbl>
          </a:graphicData>
        </a:graphic>
      </p:graphicFrame>
    </p:spTree>
    <p:extLst>
      <p:ext uri="{BB962C8B-B14F-4D97-AF65-F5344CB8AC3E}">
        <p14:creationId xmlns:p14="http://schemas.microsoft.com/office/powerpoint/2010/main" val="32985773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D9CF0BC-3C1A-4423-9F65-EA9A3B4C8B19}"/>
              </a:ext>
            </a:extLst>
          </p:cNvPr>
          <p:cNvSpPr>
            <a:spLocks noGrp="1"/>
          </p:cNvSpPr>
          <p:nvPr>
            <p:ph type="title"/>
          </p:nvPr>
        </p:nvSpPr>
        <p:spPr/>
        <p:txBody>
          <a:bodyPr/>
          <a:lstStyle/>
          <a:p>
            <a:r>
              <a:rPr lang="en-US" dirty="0"/>
              <a:t>Special Permissions Explained</a:t>
            </a:r>
          </a:p>
        </p:txBody>
      </p:sp>
      <p:sp>
        <p:nvSpPr>
          <p:cNvPr id="3" name="Sisällön paikkamerkki 2">
            <a:extLst>
              <a:ext uri="{FF2B5EF4-FFF2-40B4-BE49-F238E27FC236}">
                <a16:creationId xmlns:a16="http://schemas.microsoft.com/office/drawing/2014/main" id="{F83794D8-EEA5-4F19-9E3A-E93B8EDDE1B6}"/>
              </a:ext>
            </a:extLst>
          </p:cNvPr>
          <p:cNvSpPr>
            <a:spLocks noGrp="1"/>
          </p:cNvSpPr>
          <p:nvPr>
            <p:ph idx="1"/>
          </p:nvPr>
        </p:nvSpPr>
        <p:spPr/>
        <p:txBody>
          <a:bodyPr>
            <a:normAutofit fontScale="77500" lnSpcReduction="20000"/>
          </a:bodyPr>
          <a:lstStyle/>
          <a:p>
            <a:r>
              <a:rPr lang="en-US" dirty="0">
                <a:hlinkClick r:id="rId2"/>
              </a:rPr>
              <a:t>Sticky Bit</a:t>
            </a:r>
            <a:endParaRPr lang="en-US" dirty="0"/>
          </a:p>
          <a:p>
            <a:pPr lvl="1"/>
            <a:r>
              <a:rPr lang="en-US" dirty="0"/>
              <a:t>Linux only supports on directories, not on files.</a:t>
            </a:r>
          </a:p>
          <a:p>
            <a:pPr lvl="1"/>
            <a:r>
              <a:rPr lang="en-US" dirty="0"/>
              <a:t>the file's owner, the directory's owner, or root user can rename or delete the file. Without the sticky bit set, any user with write and execute permissions for the directory can rename or delete contained files, regardless of the file's owner.</a:t>
            </a:r>
          </a:p>
          <a:p>
            <a:pPr lvl="1"/>
            <a:r>
              <a:rPr lang="nl-NL" dirty="0"/>
              <a:t>drwxrwxrwt  /tmp directory</a:t>
            </a:r>
            <a:endParaRPr lang="en-US" dirty="0"/>
          </a:p>
          <a:p>
            <a:r>
              <a:rPr lang="en-US" dirty="0" err="1">
                <a:hlinkClick r:id="rId3"/>
              </a:rPr>
              <a:t>Setuid</a:t>
            </a:r>
            <a:endParaRPr lang="en-US" dirty="0"/>
          </a:p>
          <a:p>
            <a:pPr lvl="1"/>
            <a:r>
              <a:rPr lang="en-US" dirty="0"/>
              <a:t>When set on an executable file, then any users is able to execute the file will automatically execute the file with the privileges of the file's owner (commonly root)</a:t>
            </a:r>
          </a:p>
          <a:p>
            <a:pPr lvl="1"/>
            <a:r>
              <a:rPr lang="en-US" dirty="0"/>
              <a:t>-</a:t>
            </a:r>
            <a:r>
              <a:rPr lang="en-US" dirty="0" err="1"/>
              <a:t>rwsr</a:t>
            </a:r>
            <a:r>
              <a:rPr lang="en-US" dirty="0"/>
              <a:t>-</a:t>
            </a:r>
            <a:r>
              <a:rPr lang="en-US" dirty="0" err="1"/>
              <a:t>xr</a:t>
            </a:r>
            <a:r>
              <a:rPr lang="en-US" dirty="0"/>
              <a:t>-x 1 root </a:t>
            </a:r>
            <a:r>
              <a:rPr lang="en-US" dirty="0" err="1"/>
              <a:t>root</a:t>
            </a:r>
            <a:r>
              <a:rPr lang="en-US" dirty="0"/>
              <a:t> 68208 May 28  2020 /bin/passwd</a:t>
            </a:r>
          </a:p>
          <a:p>
            <a:r>
              <a:rPr lang="en-US" dirty="0" err="1"/>
              <a:t>Setgid</a:t>
            </a:r>
            <a:endParaRPr lang="en-US" dirty="0"/>
          </a:p>
          <a:p>
            <a:pPr lvl="1"/>
            <a:r>
              <a:rPr lang="en-US" dirty="0"/>
              <a:t>When set on an executable file, then any users is able to execute the file will automatically execute the file with the privileges of the file's group</a:t>
            </a:r>
          </a:p>
          <a:p>
            <a:pPr lvl="1"/>
            <a:r>
              <a:rPr lang="en-US" dirty="0"/>
              <a:t>-</a:t>
            </a:r>
            <a:r>
              <a:rPr lang="en-US" dirty="0" err="1"/>
              <a:t>rwxr</a:t>
            </a:r>
            <a:r>
              <a:rPr lang="en-US" dirty="0"/>
              <a:t>-</a:t>
            </a:r>
            <a:r>
              <a:rPr lang="en-US" dirty="0" err="1"/>
              <a:t>sr</a:t>
            </a:r>
            <a:r>
              <a:rPr lang="en-US" dirty="0"/>
              <a:t>-x 1 root shadow 84512 May 28  2020 /bin/</a:t>
            </a:r>
            <a:r>
              <a:rPr lang="en-US" dirty="0" err="1"/>
              <a:t>chage</a:t>
            </a:r>
            <a:endParaRPr lang="en-US" dirty="0"/>
          </a:p>
          <a:p>
            <a:pPr lvl="1"/>
            <a:r>
              <a:rPr lang="en-US" dirty="0"/>
              <a:t>When set on a directory  causes new files and subdirectories created within it to inherit its group ID, rather than the primary group ID of the user who created the file</a:t>
            </a:r>
          </a:p>
          <a:p>
            <a:pPr lvl="1"/>
            <a:endParaRPr lang="en-US" dirty="0"/>
          </a:p>
          <a:p>
            <a:pPr lvl="1"/>
            <a:endParaRPr lang="en-US" dirty="0"/>
          </a:p>
          <a:p>
            <a:endParaRPr lang="en-US" dirty="0"/>
          </a:p>
        </p:txBody>
      </p:sp>
    </p:spTree>
    <p:extLst>
      <p:ext uri="{BB962C8B-B14F-4D97-AF65-F5344CB8AC3E}">
        <p14:creationId xmlns:p14="http://schemas.microsoft.com/office/powerpoint/2010/main" val="2433066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1FA407B-AFFA-4CCA-833F-6DC78077F9D6}"/>
              </a:ext>
            </a:extLst>
          </p:cNvPr>
          <p:cNvSpPr>
            <a:spLocks noGrp="1"/>
          </p:cNvSpPr>
          <p:nvPr>
            <p:ph type="title"/>
          </p:nvPr>
        </p:nvSpPr>
        <p:spPr/>
        <p:txBody>
          <a:bodyPr/>
          <a:lstStyle/>
          <a:p>
            <a:r>
              <a:rPr lang="en-US" b="1" dirty="0" err="1"/>
              <a:t>chmod</a:t>
            </a:r>
            <a:r>
              <a:rPr lang="en-US" dirty="0"/>
              <a:t> - change file mode bits</a:t>
            </a:r>
          </a:p>
        </p:txBody>
      </p:sp>
      <p:sp>
        <p:nvSpPr>
          <p:cNvPr id="3" name="Sisällön paikkamerkki 2">
            <a:extLst>
              <a:ext uri="{FF2B5EF4-FFF2-40B4-BE49-F238E27FC236}">
                <a16:creationId xmlns:a16="http://schemas.microsoft.com/office/drawing/2014/main" id="{6E083086-8FDF-4C9D-8B25-A0534269AA39}"/>
              </a:ext>
            </a:extLst>
          </p:cNvPr>
          <p:cNvSpPr>
            <a:spLocks noGrp="1"/>
          </p:cNvSpPr>
          <p:nvPr>
            <p:ph idx="1"/>
          </p:nvPr>
        </p:nvSpPr>
        <p:spPr/>
        <p:txBody>
          <a:bodyPr>
            <a:normAutofit fontScale="92500" lnSpcReduction="10000"/>
          </a:bodyPr>
          <a:lstStyle/>
          <a:p>
            <a:r>
              <a:rPr lang="fr-FR" dirty="0"/>
              <a:t>chmod [OPTION]... MODE[,MODE]... file...</a:t>
            </a:r>
          </a:p>
          <a:p>
            <a:r>
              <a:rPr lang="fr-FR" dirty="0"/>
              <a:t>chmod [OPTION]... OCTAL-MODE file...</a:t>
            </a:r>
          </a:p>
          <a:p>
            <a:r>
              <a:rPr lang="fr-FR" dirty="0"/>
              <a:t>-R		recursive, </a:t>
            </a:r>
            <a:r>
              <a:rPr lang="en-US" dirty="0"/>
              <a:t>change files and directories recursively</a:t>
            </a:r>
          </a:p>
          <a:p>
            <a:r>
              <a:rPr lang="en-US" dirty="0"/>
              <a:t>u = user, g = group, o = others, a = all</a:t>
            </a:r>
          </a:p>
          <a:p>
            <a:r>
              <a:rPr lang="en-US" dirty="0"/>
              <a:t>+ set permission bits to 1 (enable), - set permission bits to 0 (disable)</a:t>
            </a:r>
          </a:p>
          <a:p>
            <a:r>
              <a:rPr lang="en-US" dirty="0"/>
              <a:t>r = read, w = write, x = </a:t>
            </a:r>
            <a:r>
              <a:rPr lang="en-US" dirty="0" err="1"/>
              <a:t>eXecute</a:t>
            </a:r>
            <a:r>
              <a:rPr lang="en-US" dirty="0"/>
              <a:t> (search for directories), X = execute only if directory or already has execute permission for some user, s  = </a:t>
            </a:r>
            <a:r>
              <a:rPr lang="en-US" dirty="0" err="1"/>
              <a:t>setid</a:t>
            </a:r>
            <a:r>
              <a:rPr lang="en-US" dirty="0"/>
              <a:t>/</a:t>
            </a:r>
            <a:r>
              <a:rPr lang="en-US" dirty="0" err="1"/>
              <a:t>setgid</a:t>
            </a:r>
            <a:r>
              <a:rPr lang="en-US" dirty="0"/>
              <a:t> on execution, t = sticky bit</a:t>
            </a:r>
          </a:p>
          <a:p>
            <a:r>
              <a:rPr lang="en-US" dirty="0"/>
              <a:t>NOTE: if you only give execute rights to a directory, you can still access files inside and even run files, as long as you know the path, but you cannot view the directory listing without read rights.</a:t>
            </a:r>
          </a:p>
        </p:txBody>
      </p:sp>
    </p:spTree>
    <p:extLst>
      <p:ext uri="{BB962C8B-B14F-4D97-AF65-F5344CB8AC3E}">
        <p14:creationId xmlns:p14="http://schemas.microsoft.com/office/powerpoint/2010/main" val="15716088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7E918AE-CDE3-4FA1-A95A-96D15418BB31}"/>
              </a:ext>
            </a:extLst>
          </p:cNvPr>
          <p:cNvSpPr>
            <a:spLocks noGrp="1"/>
          </p:cNvSpPr>
          <p:nvPr>
            <p:ph type="title"/>
          </p:nvPr>
        </p:nvSpPr>
        <p:spPr/>
        <p:txBody>
          <a:bodyPr/>
          <a:lstStyle/>
          <a:p>
            <a:r>
              <a:rPr lang="en-US" b="1" dirty="0" err="1"/>
              <a:t>chmod</a:t>
            </a:r>
            <a:r>
              <a:rPr lang="en-US" dirty="0"/>
              <a:t> examples</a:t>
            </a:r>
          </a:p>
        </p:txBody>
      </p:sp>
      <p:sp>
        <p:nvSpPr>
          <p:cNvPr id="3" name="Sisällön paikkamerkki 2">
            <a:extLst>
              <a:ext uri="{FF2B5EF4-FFF2-40B4-BE49-F238E27FC236}">
                <a16:creationId xmlns:a16="http://schemas.microsoft.com/office/drawing/2014/main" id="{F698278B-281A-42B0-858E-597D3DF43967}"/>
              </a:ext>
            </a:extLst>
          </p:cNvPr>
          <p:cNvSpPr>
            <a:spLocks noGrp="1"/>
          </p:cNvSpPr>
          <p:nvPr>
            <p:ph idx="1"/>
          </p:nvPr>
        </p:nvSpPr>
        <p:spPr/>
        <p:txBody>
          <a:bodyPr>
            <a:normAutofit fontScale="55000" lnSpcReduction="20000"/>
          </a:bodyPr>
          <a:lstStyle/>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640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give all read &amp; write for user, read for group</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give execution rights for everybody</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+x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same as above</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+111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same as above</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-x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remove execution rights from all</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gu+x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mydir</a:t>
            </a:r>
            <a:r>
              <a:rPr lang="en-US" dirty="0">
                <a:latin typeface="Courier New" panose="02070309020205020404" pitchFamily="49" charset="0"/>
                <a:cs typeface="Courier New" panose="02070309020205020404" pitchFamily="49" charset="0"/>
              </a:rPr>
              <a:t>		# give execution rights to user and group</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755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give </a:t>
            </a:r>
            <a:r>
              <a:rPr lang="en-US" dirty="0" err="1">
                <a:latin typeface="Courier New" panose="02070309020205020404" pitchFamily="49" charset="0"/>
                <a:cs typeface="Courier New" panose="02070309020205020404" pitchFamily="49" charset="0"/>
              </a:rPr>
              <a:t>rwx</a:t>
            </a:r>
            <a:r>
              <a:rPr lang="en-US" dirty="0">
                <a:latin typeface="Courier New" panose="02070309020205020404" pitchFamily="49" charset="0"/>
                <a:cs typeface="Courier New" panose="02070309020205020404" pitchFamily="49" charset="0"/>
              </a:rPr>
              <a:t> for user and r-x for others</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o-</a:t>
            </a:r>
            <a:r>
              <a:rPr lang="en-US" dirty="0" err="1">
                <a:latin typeface="Courier New" panose="02070309020205020404" pitchFamily="49" charset="0"/>
                <a:cs typeface="Courier New" panose="02070309020205020404" pitchFamily="49" charset="0"/>
              </a:rPr>
              <a:t>rwx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remove all rights from others</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o=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remove all rights from others</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-007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		# same as above</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mydir</a:t>
            </a:r>
            <a:r>
              <a:rPr lang="en-US" dirty="0">
                <a:latin typeface="Courier New" panose="02070309020205020404" pitchFamily="49" charset="0"/>
                <a:cs typeface="Courier New" panose="02070309020205020404" pitchFamily="49" charset="0"/>
              </a:rPr>
              <a:t>		# give group write rights</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-R -077 .		# remove all rights from group and others recursively</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o=g </a:t>
            </a:r>
            <a:r>
              <a:rPr lang="en-US" dirty="0" err="1">
                <a:latin typeface="Courier New" panose="02070309020205020404" pitchFamily="49" charset="0"/>
                <a:cs typeface="Courier New" panose="02070309020205020404" pitchFamily="49" charset="0"/>
              </a:rPr>
              <a:t>mydir</a:t>
            </a:r>
            <a:r>
              <a:rPr lang="en-US" dirty="0">
                <a:latin typeface="Courier New" panose="02070309020205020404" pitchFamily="49" charset="0"/>
                <a:cs typeface="Courier New" panose="02070309020205020404" pitchFamily="49" charset="0"/>
              </a:rPr>
              <a:t>		# give others same rights as group</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4755 </a:t>
            </a:r>
            <a:r>
              <a:rPr lang="en-US" dirty="0" err="1">
                <a:latin typeface="Courier New" panose="02070309020205020404" pitchFamily="49" charset="0"/>
                <a:cs typeface="Courier New" panose="02070309020205020404" pitchFamily="49" charset="0"/>
              </a:rPr>
              <a:t>myexe</a:t>
            </a:r>
            <a:r>
              <a:rPr lang="en-US" dirty="0">
                <a:latin typeface="Courier New" panose="02070309020205020404" pitchFamily="49" charset="0"/>
                <a:cs typeface="Courier New" panose="02070309020205020404" pitchFamily="49" charset="0"/>
              </a:rPr>
              <a:t>		# set </a:t>
            </a:r>
            <a:r>
              <a:rPr lang="en-US" dirty="0" err="1">
                <a:latin typeface="Courier New" panose="02070309020205020404" pitchFamily="49" charset="0"/>
                <a:cs typeface="Courier New" panose="02070309020205020404" pitchFamily="49" charset="0"/>
              </a:rPr>
              <a:t>rwsr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xr</a:t>
            </a:r>
            <a:r>
              <a:rPr lang="en-US" dirty="0">
                <a:latin typeface="Courier New" panose="02070309020205020404" pitchFamily="49" charset="0"/>
                <a:cs typeface="Courier New" panose="02070309020205020404" pitchFamily="49" charset="0"/>
              </a:rPr>
              <a:t>-x rights and sticky bit</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-t </a:t>
            </a:r>
            <a:r>
              <a:rPr lang="en-US" dirty="0" err="1">
                <a:latin typeface="Courier New" panose="02070309020205020404" pitchFamily="49" charset="0"/>
                <a:cs typeface="Courier New" panose="02070309020205020404" pitchFamily="49" charset="0"/>
              </a:rPr>
              <a:t>myexe</a:t>
            </a:r>
            <a:r>
              <a:rPr lang="en-US" dirty="0">
                <a:latin typeface="Courier New" panose="02070309020205020404" pitchFamily="49" charset="0"/>
                <a:cs typeface="Courier New" panose="02070309020205020404" pitchFamily="49" charset="0"/>
              </a:rPr>
              <a:t>		# turn off sticky bit	</a:t>
            </a:r>
          </a:p>
        </p:txBody>
      </p:sp>
    </p:spTree>
    <p:extLst>
      <p:ext uri="{BB962C8B-B14F-4D97-AF65-F5344CB8AC3E}">
        <p14:creationId xmlns:p14="http://schemas.microsoft.com/office/powerpoint/2010/main" val="10929972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A5578CA-EE8F-46C2-9D8C-3C94F03F8AA2}"/>
              </a:ext>
            </a:extLst>
          </p:cNvPr>
          <p:cNvSpPr>
            <a:spLocks noGrp="1"/>
          </p:cNvSpPr>
          <p:nvPr>
            <p:ph type="title"/>
          </p:nvPr>
        </p:nvSpPr>
        <p:spPr/>
        <p:txBody>
          <a:bodyPr/>
          <a:lstStyle/>
          <a:p>
            <a:r>
              <a:rPr lang="en-US" b="1" dirty="0" err="1"/>
              <a:t>chown</a:t>
            </a:r>
            <a:r>
              <a:rPr lang="en-US" dirty="0"/>
              <a:t> - change file owner and group</a:t>
            </a:r>
          </a:p>
        </p:txBody>
      </p:sp>
      <p:sp>
        <p:nvSpPr>
          <p:cNvPr id="3" name="Sisällön paikkamerkki 2">
            <a:extLst>
              <a:ext uri="{FF2B5EF4-FFF2-40B4-BE49-F238E27FC236}">
                <a16:creationId xmlns:a16="http://schemas.microsoft.com/office/drawing/2014/main" id="{0186B117-B6A5-4A61-873C-EF34CC55F271}"/>
              </a:ext>
            </a:extLst>
          </p:cNvPr>
          <p:cNvSpPr>
            <a:spLocks noGrp="1"/>
          </p:cNvSpPr>
          <p:nvPr>
            <p:ph idx="1"/>
          </p:nvPr>
        </p:nvSpPr>
        <p:spPr/>
        <p:txBody>
          <a:bodyPr>
            <a:normAutofit fontScale="62500" lnSpcReduction="20000"/>
          </a:bodyPr>
          <a:lstStyle/>
          <a:p>
            <a:r>
              <a:rPr lang="en-US" dirty="0" err="1"/>
              <a:t>chown</a:t>
            </a:r>
            <a:r>
              <a:rPr lang="en-US" dirty="0"/>
              <a:t> [OPTION]... [OWNER][:[GROUP]] FILE... </a:t>
            </a:r>
          </a:p>
          <a:p>
            <a:r>
              <a:rPr lang="en-US" dirty="0" err="1"/>
              <a:t>chown</a:t>
            </a:r>
            <a:r>
              <a:rPr lang="en-US" dirty="0"/>
              <a:t> [OPTION]... --reference=RFILE FILE...</a:t>
            </a:r>
          </a:p>
          <a:p>
            <a:r>
              <a:rPr lang="en-US" dirty="0"/>
              <a:t>-R		operate on files and directories recursively</a:t>
            </a:r>
          </a:p>
          <a:p>
            <a:r>
              <a:rPr lang="en-US" dirty="0"/>
              <a:t>-h		no deference (change owner of symbolic link, instead of file)</a:t>
            </a:r>
          </a:p>
          <a:p>
            <a:r>
              <a:rPr lang="en-US" dirty="0"/>
              <a:t> --reference=REFERENCE_FILE 		use  REFERENCE_FILE's  owner and group rather 					than specifying OWNER:GROUP values</a:t>
            </a:r>
          </a:p>
          <a:p>
            <a:r>
              <a:rPr lang="en-US" dirty="0"/>
              <a:t>Note only root change owner of a file to somebody else. Non-root users can however create a copy</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chown</a:t>
            </a:r>
            <a:r>
              <a:rPr lang="en-US" dirty="0">
                <a:latin typeface="Courier New" panose="02070309020205020404" pitchFamily="49" charset="0"/>
                <a:cs typeface="Courier New" panose="02070309020205020404" pitchFamily="49" charset="0"/>
              </a:rPr>
              <a:t> guest </a:t>
            </a:r>
            <a:r>
              <a:rPr lang="en-US" dirty="0" err="1">
                <a:latin typeface="Courier New" panose="02070309020205020404" pitchFamily="49" charset="0"/>
                <a:cs typeface="Courier New" panose="02070309020205020404" pitchFamily="49" charset="0"/>
              </a:rPr>
              <a:t>mydir</a:t>
            </a:r>
            <a:r>
              <a:rPr lang="en-US" dirty="0">
                <a:latin typeface="Courier New" panose="02070309020205020404" pitchFamily="49" charset="0"/>
                <a:cs typeface="Courier New" panose="02070309020205020404" pitchFamily="49" charset="0"/>
              </a:rPr>
              <a:t> 		# change </a:t>
            </a:r>
            <a:r>
              <a:rPr lang="en-US" dirty="0" err="1">
                <a:latin typeface="Courier New" panose="02070309020205020404" pitchFamily="49" charset="0"/>
                <a:cs typeface="Courier New" panose="02070309020205020404" pitchFamily="49" charset="0"/>
              </a:rPr>
              <a:t>mydir's</a:t>
            </a:r>
            <a:r>
              <a:rPr lang="en-US" dirty="0">
                <a:latin typeface="Courier New" panose="02070309020205020404" pitchFamily="49" charset="0"/>
                <a:cs typeface="Courier New" panose="02070309020205020404" pitchFamily="49" charset="0"/>
              </a:rPr>
              <a:t> owner to be guest</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chown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user:group</a:t>
            </a:r>
            <a:r>
              <a:rPr lang="en-US" dirty="0">
                <a:latin typeface="Courier New" panose="02070309020205020404" pitchFamily="49" charset="0"/>
                <a:cs typeface="Courier New" panose="02070309020205020404" pitchFamily="49" charset="0"/>
              </a:rPr>
              <a:t> file 	# change user and group of file</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chown</a:t>
            </a:r>
            <a:r>
              <a:rPr lang="en-US" dirty="0">
                <a:latin typeface="Courier New" panose="02070309020205020404" pitchFamily="49" charset="0"/>
                <a:cs typeface="Courier New" panose="02070309020205020404" pitchFamily="49" charset="0"/>
              </a:rPr>
              <a:t> -R user . 		# change recursively</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chown</a:t>
            </a:r>
            <a:r>
              <a:rPr lang="en-US" dirty="0">
                <a:latin typeface="Courier New" panose="02070309020205020404" pitchFamily="49" charset="0"/>
                <a:cs typeface="Courier New" panose="02070309020205020404" pitchFamily="49" charset="0"/>
              </a:rPr>
              <a:t> --reference=</a:t>
            </a:r>
            <a:r>
              <a:rPr lang="en-US" dirty="0" err="1">
                <a:latin typeface="Courier New" panose="02070309020205020404" pitchFamily="49" charset="0"/>
                <a:cs typeface="Courier New" panose="02070309020205020404" pitchFamily="49" charset="0"/>
              </a:rPr>
              <a:t>copyme</a:t>
            </a:r>
            <a:r>
              <a:rPr lang="en-US" dirty="0">
                <a:latin typeface="Courier New" panose="02070309020205020404" pitchFamily="49" charset="0"/>
                <a:cs typeface="Courier New" panose="02070309020205020404" pitchFamily="49" charset="0"/>
              </a:rPr>
              <a:t> file # copy </a:t>
            </a:r>
            <a:r>
              <a:rPr lang="en-US" dirty="0" err="1">
                <a:latin typeface="Courier New" panose="02070309020205020404" pitchFamily="49" charset="0"/>
                <a:cs typeface="Courier New" panose="02070309020205020404" pitchFamily="49" charset="0"/>
              </a:rPr>
              <a:t>owner:group</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chown</a:t>
            </a:r>
            <a:r>
              <a:rPr lang="en-US" dirty="0">
                <a:latin typeface="Courier New" panose="02070309020205020404" pitchFamily="49" charset="0"/>
                <a:cs typeface="Courier New" panose="02070309020205020404" pitchFamily="49" charset="0"/>
              </a:rPr>
              <a:t> -h user </a:t>
            </a:r>
            <a:r>
              <a:rPr lang="en-US" dirty="0" err="1">
                <a:latin typeface="Courier New" panose="02070309020205020404" pitchFamily="49" charset="0"/>
                <a:cs typeface="Courier New" panose="02070309020205020404" pitchFamily="49" charset="0"/>
              </a:rPr>
              <a:t>symlink</a:t>
            </a:r>
            <a:r>
              <a:rPr lang="en-US" dirty="0">
                <a:latin typeface="Courier New" panose="02070309020205020404" pitchFamily="49" charset="0"/>
                <a:cs typeface="Courier New" panose="02070309020205020404" pitchFamily="49" charset="0"/>
              </a:rPr>
              <a:t>	# change owner of symbolic link</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-R </a:t>
            </a:r>
            <a:r>
              <a:rPr lang="en-US" dirty="0" err="1">
                <a:latin typeface="Courier New" panose="02070309020205020404" pitchFamily="49" charset="0"/>
                <a:cs typeface="Courier New" panose="02070309020205020404" pitchFamily="49" charset="0"/>
              </a:rPr>
              <a:t>www-data:www-data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/share/</a:t>
            </a:r>
            <a:r>
              <a:rPr lang="en-US" dirty="0" err="1">
                <a:latin typeface="Courier New" panose="02070309020205020404" pitchFamily="49" charset="0"/>
                <a:cs typeface="Courier New" panose="02070309020205020404" pitchFamily="49" charset="0"/>
              </a:rPr>
              <a:t>wordpress</a:t>
            </a:r>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6234178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A91F8D2-8B22-4B1C-8693-54EF406CF5B0}"/>
              </a:ext>
            </a:extLst>
          </p:cNvPr>
          <p:cNvSpPr>
            <a:spLocks noGrp="1"/>
          </p:cNvSpPr>
          <p:nvPr>
            <p:ph type="title"/>
          </p:nvPr>
        </p:nvSpPr>
        <p:spPr/>
        <p:txBody>
          <a:bodyPr/>
          <a:lstStyle/>
          <a:p>
            <a:r>
              <a:rPr lang="en-US" b="1" dirty="0" err="1"/>
              <a:t>chgrp</a:t>
            </a:r>
            <a:r>
              <a:rPr lang="en-US" dirty="0"/>
              <a:t> - change group ownership</a:t>
            </a:r>
          </a:p>
        </p:txBody>
      </p:sp>
      <p:sp>
        <p:nvSpPr>
          <p:cNvPr id="3" name="Sisällön paikkamerkki 2">
            <a:extLst>
              <a:ext uri="{FF2B5EF4-FFF2-40B4-BE49-F238E27FC236}">
                <a16:creationId xmlns:a16="http://schemas.microsoft.com/office/drawing/2014/main" id="{7F8CF184-BCD5-47AE-B116-1E0E4E229A40}"/>
              </a:ext>
            </a:extLst>
          </p:cNvPr>
          <p:cNvSpPr>
            <a:spLocks noGrp="1"/>
          </p:cNvSpPr>
          <p:nvPr>
            <p:ph idx="1"/>
          </p:nvPr>
        </p:nvSpPr>
        <p:spPr/>
        <p:txBody>
          <a:bodyPr/>
          <a:lstStyle/>
          <a:p>
            <a:r>
              <a:rPr lang="en-US" dirty="0" err="1"/>
              <a:t>chgrp</a:t>
            </a:r>
            <a:r>
              <a:rPr lang="en-US" dirty="0"/>
              <a:t> [OPTION]... GROUP FILE...</a:t>
            </a:r>
          </a:p>
          <a:p>
            <a:r>
              <a:rPr lang="en-US" dirty="0" err="1"/>
              <a:t>chgrp</a:t>
            </a:r>
            <a:r>
              <a:rPr lang="en-US" dirty="0"/>
              <a:t> [OPTION]... --reference=RFILE FILE...</a:t>
            </a:r>
          </a:p>
          <a:p>
            <a:r>
              <a:rPr lang="en-US" dirty="0"/>
              <a:t>-R		operate on files and directories recursively</a:t>
            </a:r>
          </a:p>
          <a:p>
            <a:r>
              <a:rPr lang="en-US" dirty="0"/>
              <a:t>-h		no deference (change owner of symbolic link, instead of file)</a:t>
            </a: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chgrp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mygroup</a:t>
            </a:r>
            <a:r>
              <a:rPr lang="en-US" dirty="0">
                <a:latin typeface="Courier New" panose="02070309020205020404" pitchFamily="49" charset="0"/>
                <a:cs typeface="Courier New" panose="02070309020205020404" pitchFamily="49" charset="0"/>
              </a:rPr>
              <a:t> file	# group to be </a:t>
            </a:r>
            <a:r>
              <a:rPr lang="en-US" dirty="0" err="1">
                <a:latin typeface="Courier New" panose="02070309020205020404" pitchFamily="49" charset="0"/>
                <a:cs typeface="Courier New" panose="02070309020205020404" pitchFamily="49" charset="0"/>
              </a:rPr>
              <a:t>mygroup</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chgrp</a:t>
            </a:r>
            <a:r>
              <a:rPr lang="en-US" dirty="0">
                <a:latin typeface="Courier New" panose="02070309020205020404" pitchFamily="49" charset="0"/>
                <a:cs typeface="Courier New" panose="02070309020205020404" pitchFamily="49" charset="0"/>
              </a:rPr>
              <a:t> -R www-data /var/www/html # recursively</a:t>
            </a:r>
          </a:p>
        </p:txBody>
      </p:sp>
    </p:spTree>
    <p:extLst>
      <p:ext uri="{BB962C8B-B14F-4D97-AF65-F5344CB8AC3E}">
        <p14:creationId xmlns:p14="http://schemas.microsoft.com/office/powerpoint/2010/main" val="1538438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2E58511-453D-4720-B808-05D17BC4355E}"/>
              </a:ext>
            </a:extLst>
          </p:cNvPr>
          <p:cNvSpPr>
            <a:spLocks noGrp="1"/>
          </p:cNvSpPr>
          <p:nvPr>
            <p:ph type="title"/>
          </p:nvPr>
        </p:nvSpPr>
        <p:spPr/>
        <p:txBody>
          <a:bodyPr/>
          <a:lstStyle/>
          <a:p>
            <a:r>
              <a:rPr lang="en-US" b="1" dirty="0"/>
              <a:t>grep, </a:t>
            </a:r>
            <a:r>
              <a:rPr lang="en-US" b="1" dirty="0" err="1"/>
              <a:t>egrep</a:t>
            </a:r>
            <a:r>
              <a:rPr lang="en-US" b="1" dirty="0"/>
              <a:t>, </a:t>
            </a:r>
            <a:r>
              <a:rPr lang="en-US" b="1" dirty="0" err="1"/>
              <a:t>fgrep</a:t>
            </a:r>
            <a:r>
              <a:rPr lang="en-US" b="1" dirty="0"/>
              <a:t>, </a:t>
            </a:r>
            <a:r>
              <a:rPr lang="en-US" b="1" dirty="0" err="1"/>
              <a:t>rgrep</a:t>
            </a:r>
            <a:r>
              <a:rPr lang="en-US" b="1" dirty="0"/>
              <a:t> </a:t>
            </a:r>
            <a:r>
              <a:rPr lang="en-US" dirty="0"/>
              <a:t>- print lines matching a pattern</a:t>
            </a:r>
          </a:p>
        </p:txBody>
      </p:sp>
      <p:sp>
        <p:nvSpPr>
          <p:cNvPr id="3" name="Sisällön paikkamerkki 2">
            <a:extLst>
              <a:ext uri="{FF2B5EF4-FFF2-40B4-BE49-F238E27FC236}">
                <a16:creationId xmlns:a16="http://schemas.microsoft.com/office/drawing/2014/main" id="{3B73C35E-4451-4EB0-A963-DE0DF998D695}"/>
              </a:ext>
            </a:extLst>
          </p:cNvPr>
          <p:cNvSpPr>
            <a:spLocks noGrp="1"/>
          </p:cNvSpPr>
          <p:nvPr>
            <p:ph idx="1"/>
          </p:nvPr>
        </p:nvSpPr>
        <p:spPr/>
        <p:txBody>
          <a:bodyPr/>
          <a:lstStyle/>
          <a:p>
            <a:r>
              <a:rPr lang="en-US" dirty="0"/>
              <a:t>ls | grep pattern		# print all lines matching pattern</a:t>
            </a:r>
          </a:p>
          <a:p>
            <a:r>
              <a:rPr lang="en-US" dirty="0" err="1"/>
              <a:t>egrep</a:t>
            </a:r>
            <a:r>
              <a:rPr lang="en-US" dirty="0"/>
              <a:t> "</a:t>
            </a:r>
            <a:r>
              <a:rPr lang="en-US" dirty="0" err="1"/>
              <a:t>yes|no|maybe</a:t>
            </a:r>
            <a:r>
              <a:rPr lang="en-US" dirty="0"/>
              <a:t>" myfile.txt # find words yes, no or maybe</a:t>
            </a:r>
          </a:p>
          <a:p>
            <a:r>
              <a:rPr lang="en-US" dirty="0" err="1"/>
              <a:t>egrep</a:t>
            </a:r>
            <a:r>
              <a:rPr lang="en-US" dirty="0"/>
              <a:t> '^[a-</a:t>
            </a:r>
            <a:r>
              <a:rPr lang="en-US" dirty="0" err="1"/>
              <a:t>zA</a:t>
            </a:r>
            <a:r>
              <a:rPr lang="en-US" dirty="0"/>
              <a:t>-Z]+$' myfile.txt # find all words A-Z a-</a:t>
            </a:r>
          </a:p>
          <a:p>
            <a:r>
              <a:rPr lang="en-US" dirty="0" err="1"/>
              <a:t>egrep</a:t>
            </a:r>
            <a:r>
              <a:rPr lang="en-US" dirty="0"/>
              <a:t> '[0-9]+' myfile.txt	# print all integers</a:t>
            </a:r>
          </a:p>
          <a:p>
            <a:r>
              <a:rPr lang="en-US" dirty="0" err="1"/>
              <a:t>egrep</a:t>
            </a:r>
            <a:r>
              <a:rPr lang="en-US" dirty="0"/>
              <a:t> -c '^</a:t>
            </a:r>
            <a:r>
              <a:rPr lang="en-US" dirty="0" err="1"/>
              <a:t>begin|end</a:t>
            </a:r>
            <a:r>
              <a:rPr lang="en-US" dirty="0"/>
              <a:t>$' myfile.txt # print how many lines begin with</a:t>
            </a:r>
            <a:br>
              <a:rPr lang="en-US" dirty="0"/>
            </a:br>
            <a:r>
              <a:rPr lang="en-US" dirty="0"/>
              <a:t>					     # begin and end with end</a:t>
            </a:r>
          </a:p>
          <a:p>
            <a:r>
              <a:rPr lang="en-US" dirty="0"/>
              <a:t>ls -RF | </a:t>
            </a:r>
            <a:r>
              <a:rPr lang="en-US" dirty="0" err="1"/>
              <a:t>egrep</a:t>
            </a:r>
            <a:r>
              <a:rPr lang="en-US" dirty="0"/>
              <a:t> "\.</a:t>
            </a:r>
            <a:r>
              <a:rPr lang="en-US" dirty="0" err="1"/>
              <a:t>py</a:t>
            </a:r>
            <a:r>
              <a:rPr lang="en-US" dirty="0"/>
              <a:t>|\.html|\.</a:t>
            </a:r>
            <a:r>
              <a:rPr lang="en-US" dirty="0" err="1"/>
              <a:t>js</a:t>
            </a:r>
            <a:r>
              <a:rPr lang="en-US" dirty="0"/>
              <a:t>" | </a:t>
            </a:r>
            <a:r>
              <a:rPr lang="en-US" dirty="0" err="1"/>
              <a:t>wc</a:t>
            </a:r>
            <a:r>
              <a:rPr lang="en-US" dirty="0"/>
              <a:t> -l # Find all files with the following endings and count their number </a:t>
            </a:r>
          </a:p>
          <a:p>
            <a:endParaRPr lang="en-US" dirty="0"/>
          </a:p>
        </p:txBody>
      </p:sp>
    </p:spTree>
    <p:extLst>
      <p:ext uri="{BB962C8B-B14F-4D97-AF65-F5344CB8AC3E}">
        <p14:creationId xmlns:p14="http://schemas.microsoft.com/office/powerpoint/2010/main" val="38982714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9BBF91C-E466-444D-AF44-2A5CCB03E7A0}"/>
              </a:ext>
            </a:extLst>
          </p:cNvPr>
          <p:cNvSpPr>
            <a:spLocks noGrp="1"/>
          </p:cNvSpPr>
          <p:nvPr>
            <p:ph type="title"/>
          </p:nvPr>
        </p:nvSpPr>
        <p:spPr/>
        <p:txBody>
          <a:bodyPr/>
          <a:lstStyle/>
          <a:p>
            <a:r>
              <a:rPr lang="en-US" dirty="0"/>
              <a:t>Data Compression</a:t>
            </a:r>
          </a:p>
        </p:txBody>
      </p:sp>
      <p:sp>
        <p:nvSpPr>
          <p:cNvPr id="3" name="Sisällön paikkamerkki 2">
            <a:extLst>
              <a:ext uri="{FF2B5EF4-FFF2-40B4-BE49-F238E27FC236}">
                <a16:creationId xmlns:a16="http://schemas.microsoft.com/office/drawing/2014/main" id="{7C8CCBF1-AF4E-4EF9-81A1-AB571F0135C1}"/>
              </a:ext>
            </a:extLst>
          </p:cNvPr>
          <p:cNvSpPr>
            <a:spLocks noGrp="1"/>
          </p:cNvSpPr>
          <p:nvPr>
            <p:ph idx="1"/>
          </p:nvPr>
        </p:nvSpPr>
        <p:spPr/>
        <p:txBody>
          <a:bodyPr/>
          <a:lstStyle/>
          <a:p>
            <a:r>
              <a:rPr lang="en-US" i="1" dirty="0"/>
              <a:t>Data Compression </a:t>
            </a:r>
            <a:r>
              <a:rPr lang="en-US" dirty="0"/>
              <a:t>is the process of encoding information using fewer bits than the original representation. The opposite is called </a:t>
            </a:r>
            <a:r>
              <a:rPr lang="en-US" i="1" dirty="0"/>
              <a:t>decompression</a:t>
            </a:r>
            <a:r>
              <a:rPr lang="en-US" dirty="0"/>
              <a:t>.</a:t>
            </a:r>
          </a:p>
          <a:p>
            <a:r>
              <a:rPr lang="en-US" i="1" dirty="0"/>
              <a:t>Lossless compression</a:t>
            </a:r>
            <a:r>
              <a:rPr lang="en-US" dirty="0"/>
              <a:t> means that the decompressed file is bit by bit identical to the original file. Example DEFLATE algorithm used by </a:t>
            </a:r>
            <a:r>
              <a:rPr lang="en-US" dirty="0" err="1"/>
              <a:t>gzip</a:t>
            </a:r>
            <a:r>
              <a:rPr lang="en-US" dirty="0"/>
              <a:t>.</a:t>
            </a:r>
          </a:p>
          <a:p>
            <a:r>
              <a:rPr lang="en-US" i="1" dirty="0"/>
              <a:t>Lossy compression </a:t>
            </a:r>
            <a:r>
              <a:rPr lang="en-US" dirty="0"/>
              <a:t>permits reconstruction only of an approximation of the original data, though usually with greatly improved compression rates (and therefore reduced media sizes). Often the user can select the compression ratio to do compromise between quality and size. Examples of JPEG image compression.</a:t>
            </a:r>
          </a:p>
          <a:p>
            <a:endParaRPr lang="en-US" dirty="0"/>
          </a:p>
        </p:txBody>
      </p:sp>
    </p:spTree>
    <p:extLst>
      <p:ext uri="{BB962C8B-B14F-4D97-AF65-F5344CB8AC3E}">
        <p14:creationId xmlns:p14="http://schemas.microsoft.com/office/powerpoint/2010/main" val="29574541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8871565-C8AD-4790-9FBD-46BB481C9189}"/>
              </a:ext>
            </a:extLst>
          </p:cNvPr>
          <p:cNvSpPr>
            <a:spLocks noGrp="1"/>
          </p:cNvSpPr>
          <p:nvPr>
            <p:ph type="title"/>
          </p:nvPr>
        </p:nvSpPr>
        <p:spPr/>
        <p:txBody>
          <a:bodyPr/>
          <a:lstStyle/>
          <a:p>
            <a:r>
              <a:rPr lang="en-US" dirty="0"/>
              <a:t>Archive File</a:t>
            </a:r>
          </a:p>
        </p:txBody>
      </p:sp>
      <p:sp>
        <p:nvSpPr>
          <p:cNvPr id="3" name="Sisällön paikkamerkki 2">
            <a:extLst>
              <a:ext uri="{FF2B5EF4-FFF2-40B4-BE49-F238E27FC236}">
                <a16:creationId xmlns:a16="http://schemas.microsoft.com/office/drawing/2014/main" id="{E5A6E2C7-ABCB-463C-B08A-7A4619019EBC}"/>
              </a:ext>
            </a:extLst>
          </p:cNvPr>
          <p:cNvSpPr>
            <a:spLocks noGrp="1"/>
          </p:cNvSpPr>
          <p:nvPr>
            <p:ph idx="1"/>
          </p:nvPr>
        </p:nvSpPr>
        <p:spPr/>
        <p:txBody>
          <a:bodyPr>
            <a:normAutofit fontScale="92500" lnSpcReduction="20000"/>
          </a:bodyPr>
          <a:lstStyle/>
          <a:p>
            <a:r>
              <a:rPr lang="en-US" dirty="0"/>
              <a:t>Archive file is a computer file that is composed of one or more files along with metadata.</a:t>
            </a:r>
          </a:p>
          <a:p>
            <a:r>
              <a:rPr lang="en-US" dirty="0"/>
              <a:t>Archive files are used to collect multiple data files together into a single file for easier portability, exchange and storage, or simply to compress files to use less storage space. </a:t>
            </a:r>
          </a:p>
          <a:p>
            <a:r>
              <a:rPr lang="en-US" dirty="0"/>
              <a:t>Archive files often store directory structures, error detection and correction information, arbitrary comments, and sometimes use built-in encryption to provide better data security.</a:t>
            </a:r>
          </a:p>
          <a:p>
            <a:r>
              <a:rPr lang="en-US" dirty="0"/>
              <a:t>Many archive software also allow to split large files into several smaller ones and merge them back. This can be needed to overcome some limitations e.g. maximum size of email attachments.</a:t>
            </a:r>
          </a:p>
          <a:p>
            <a:r>
              <a:rPr lang="en-US" dirty="0"/>
              <a:t>Examples: tar and zip</a:t>
            </a:r>
          </a:p>
        </p:txBody>
      </p:sp>
    </p:spTree>
    <p:extLst>
      <p:ext uri="{BB962C8B-B14F-4D97-AF65-F5344CB8AC3E}">
        <p14:creationId xmlns:p14="http://schemas.microsoft.com/office/powerpoint/2010/main" val="15393941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A66585-95E7-4769-9919-C3F173AAC0B3}"/>
              </a:ext>
            </a:extLst>
          </p:cNvPr>
          <p:cNvSpPr>
            <a:spLocks noGrp="1"/>
          </p:cNvSpPr>
          <p:nvPr>
            <p:ph type="title"/>
          </p:nvPr>
        </p:nvSpPr>
        <p:spPr/>
        <p:txBody>
          <a:bodyPr/>
          <a:lstStyle/>
          <a:p>
            <a:r>
              <a:rPr lang="en-US" b="1" dirty="0"/>
              <a:t>tar</a:t>
            </a:r>
            <a:r>
              <a:rPr lang="en-US" dirty="0"/>
              <a:t> - an archiving utility</a:t>
            </a:r>
          </a:p>
        </p:txBody>
      </p:sp>
      <p:sp>
        <p:nvSpPr>
          <p:cNvPr id="3" name="Sisällön paikkamerkki 2">
            <a:extLst>
              <a:ext uri="{FF2B5EF4-FFF2-40B4-BE49-F238E27FC236}">
                <a16:creationId xmlns:a16="http://schemas.microsoft.com/office/drawing/2014/main" id="{A6C509FB-8063-4226-958E-252F30E0FA18}"/>
              </a:ext>
            </a:extLst>
          </p:cNvPr>
          <p:cNvSpPr>
            <a:spLocks noGrp="1"/>
          </p:cNvSpPr>
          <p:nvPr>
            <p:ph idx="1"/>
          </p:nvPr>
        </p:nvSpPr>
        <p:spPr>
          <a:xfrm>
            <a:off x="838199" y="1825625"/>
            <a:ext cx="11114903" cy="4351338"/>
          </a:xfrm>
        </p:spPr>
        <p:txBody>
          <a:bodyPr/>
          <a:lstStyle/>
          <a:p>
            <a:r>
              <a:rPr lang="en-US" dirty="0"/>
              <a:t>tar -</a:t>
            </a:r>
            <a:r>
              <a:rPr lang="en-US" dirty="0" err="1"/>
              <a:t>cvf</a:t>
            </a:r>
            <a:r>
              <a:rPr lang="en-US" dirty="0"/>
              <a:t> code.tar ~/</a:t>
            </a:r>
            <a:r>
              <a:rPr lang="en-US" dirty="0" err="1"/>
              <a:t>src</a:t>
            </a:r>
            <a:r>
              <a:rPr lang="en-US" dirty="0"/>
              <a:t>/		# add ~/</a:t>
            </a:r>
            <a:r>
              <a:rPr lang="en-US" dirty="0" err="1"/>
              <a:t>src</a:t>
            </a:r>
            <a:r>
              <a:rPr lang="en-US" dirty="0"/>
              <a:t> dir. To your code.tar</a:t>
            </a:r>
          </a:p>
          <a:p>
            <a:r>
              <a:rPr lang="en-US" dirty="0"/>
              <a:t>tar -</a:t>
            </a:r>
            <a:r>
              <a:rPr lang="en-US" dirty="0" err="1"/>
              <a:t>cvzf</a:t>
            </a:r>
            <a:r>
              <a:rPr lang="en-US" dirty="0"/>
              <a:t> code.gz ~/</a:t>
            </a:r>
            <a:r>
              <a:rPr lang="en-US" dirty="0" err="1"/>
              <a:t>src</a:t>
            </a:r>
            <a:r>
              <a:rPr lang="en-US" dirty="0"/>
              <a:t>/		# same but using </a:t>
            </a:r>
            <a:r>
              <a:rPr lang="en-US" dirty="0" err="1"/>
              <a:t>gz</a:t>
            </a:r>
            <a:r>
              <a:rPr lang="en-US" dirty="0"/>
              <a:t> compression as well</a:t>
            </a:r>
          </a:p>
          <a:p>
            <a:r>
              <a:rPr lang="en-US" dirty="0"/>
              <a:t>tar -</a:t>
            </a:r>
            <a:r>
              <a:rPr lang="en-US" dirty="0" err="1"/>
              <a:t>cvzj</a:t>
            </a:r>
            <a:r>
              <a:rPr lang="en-US" dirty="0"/>
              <a:t> code.tar.bz2 ~/</a:t>
            </a:r>
            <a:r>
              <a:rPr lang="en-US" dirty="0" err="1"/>
              <a:t>src</a:t>
            </a:r>
            <a:r>
              <a:rPr lang="en-US" dirty="0"/>
              <a:t>/	# same using bzip2 compression</a:t>
            </a:r>
          </a:p>
          <a:p>
            <a:r>
              <a:rPr lang="en-US" dirty="0"/>
              <a:t>tar -</a:t>
            </a:r>
            <a:r>
              <a:rPr lang="en-US" dirty="0" err="1"/>
              <a:t>xvf</a:t>
            </a:r>
            <a:r>
              <a:rPr lang="en-US" dirty="0"/>
              <a:t> code.tar			# extract the tar archive</a:t>
            </a:r>
          </a:p>
          <a:p>
            <a:r>
              <a:rPr lang="en-US" dirty="0"/>
              <a:t>tar -</a:t>
            </a:r>
            <a:r>
              <a:rPr lang="en-US" dirty="0" err="1"/>
              <a:t>xvf</a:t>
            </a:r>
            <a:r>
              <a:rPr lang="en-US" dirty="0"/>
              <a:t> code.tar.gz		# same</a:t>
            </a:r>
          </a:p>
          <a:p>
            <a:r>
              <a:rPr lang="en-US" dirty="0"/>
              <a:t>tar -</a:t>
            </a:r>
            <a:r>
              <a:rPr lang="en-US" dirty="0" err="1"/>
              <a:t>xvf</a:t>
            </a:r>
            <a:r>
              <a:rPr lang="en-US" dirty="0"/>
              <a:t> code.tar.bz2		# same</a:t>
            </a:r>
          </a:p>
          <a:p>
            <a:r>
              <a:rPr lang="en-US" dirty="0"/>
              <a:t>tar </a:t>
            </a:r>
            <a:r>
              <a:rPr lang="en-US" dirty="0" err="1"/>
              <a:t>tvf</a:t>
            </a:r>
            <a:r>
              <a:rPr lang="en-US" dirty="0"/>
              <a:t> code.tar			# view contents of tar</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112747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8EC5AED-28C0-4A55-8C78-0DFBFAB2969E}"/>
              </a:ext>
            </a:extLst>
          </p:cNvPr>
          <p:cNvSpPr>
            <a:spLocks noGrp="1"/>
          </p:cNvSpPr>
          <p:nvPr>
            <p:ph type="title"/>
          </p:nvPr>
        </p:nvSpPr>
        <p:spPr/>
        <p:txBody>
          <a:bodyPr>
            <a:normAutofit/>
          </a:bodyPr>
          <a:lstStyle/>
          <a:p>
            <a:r>
              <a:rPr lang="en-US" b="1" dirty="0"/>
              <a:t>gzip, </a:t>
            </a:r>
            <a:r>
              <a:rPr lang="en-US" b="1" dirty="0" err="1"/>
              <a:t>gunzip</a:t>
            </a:r>
            <a:r>
              <a:rPr lang="en-US" b="1" dirty="0"/>
              <a:t>, </a:t>
            </a:r>
            <a:r>
              <a:rPr lang="en-US" b="1" dirty="0" err="1"/>
              <a:t>zcat</a:t>
            </a:r>
            <a:r>
              <a:rPr lang="en-US" b="1" dirty="0"/>
              <a:t> </a:t>
            </a:r>
            <a:r>
              <a:rPr lang="en-US" dirty="0"/>
              <a:t>- compress or expand files</a:t>
            </a:r>
          </a:p>
        </p:txBody>
      </p:sp>
      <p:sp>
        <p:nvSpPr>
          <p:cNvPr id="3" name="Sisällön paikkamerkki 2">
            <a:extLst>
              <a:ext uri="{FF2B5EF4-FFF2-40B4-BE49-F238E27FC236}">
                <a16:creationId xmlns:a16="http://schemas.microsoft.com/office/drawing/2014/main" id="{5CB7ADA8-6F13-441E-A216-5B4BA6AE30BB}"/>
              </a:ext>
            </a:extLst>
          </p:cNvPr>
          <p:cNvSpPr>
            <a:spLocks noGrp="1"/>
          </p:cNvSpPr>
          <p:nvPr>
            <p:ph idx="1"/>
          </p:nvPr>
        </p:nvSpPr>
        <p:spPr/>
        <p:txBody>
          <a:bodyPr/>
          <a:lstStyle/>
          <a:p>
            <a:r>
              <a:rPr lang="en-US" dirty="0"/>
              <a:t>gzip text.txt 	# compress original and replace with text.txt.gz</a:t>
            </a:r>
          </a:p>
          <a:p>
            <a:r>
              <a:rPr lang="en-US" dirty="0"/>
              <a:t>gzip -k text.txt 	# keep original</a:t>
            </a:r>
          </a:p>
          <a:p>
            <a:r>
              <a:rPr lang="en-US" dirty="0"/>
              <a:t>gzip -r </a:t>
            </a:r>
            <a:r>
              <a:rPr lang="en-US" dirty="0" err="1"/>
              <a:t>myfolder</a:t>
            </a:r>
            <a:r>
              <a:rPr lang="en-US" dirty="0"/>
              <a:t>	# recursively compress all files in folder</a:t>
            </a:r>
          </a:p>
          <a:p>
            <a:r>
              <a:rPr lang="en-US" dirty="0"/>
              <a:t>gzip -9 text.txt	# best compression</a:t>
            </a:r>
          </a:p>
          <a:p>
            <a:r>
              <a:rPr lang="en-US" dirty="0"/>
              <a:t>gzip -d text.txt.gz	# decompress file, replace with text.txt</a:t>
            </a:r>
          </a:p>
          <a:p>
            <a:r>
              <a:rPr lang="en-US" dirty="0" err="1"/>
              <a:t>gunzip</a:t>
            </a:r>
            <a:r>
              <a:rPr lang="en-US" dirty="0"/>
              <a:t> text.txt.gz # same as above</a:t>
            </a:r>
          </a:p>
          <a:p>
            <a:r>
              <a:rPr lang="en-US" dirty="0" err="1"/>
              <a:t>zcat</a:t>
            </a:r>
            <a:r>
              <a:rPr lang="en-US" dirty="0"/>
              <a:t> text.txt.gz	# display contents of compressed file text.txt.gz</a:t>
            </a:r>
          </a:p>
          <a:p>
            <a:pPr marL="0" indent="0">
              <a:buNone/>
            </a:pPr>
            <a:endParaRPr lang="en-US" dirty="0"/>
          </a:p>
          <a:p>
            <a:endParaRPr lang="en-US" dirty="0"/>
          </a:p>
        </p:txBody>
      </p:sp>
    </p:spTree>
    <p:extLst>
      <p:ext uri="{BB962C8B-B14F-4D97-AF65-F5344CB8AC3E}">
        <p14:creationId xmlns:p14="http://schemas.microsoft.com/office/powerpoint/2010/main" val="28793686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4FE0341-BE36-493C-8E6F-8EF98F7888B2}"/>
              </a:ext>
            </a:extLst>
          </p:cNvPr>
          <p:cNvSpPr>
            <a:spLocks noGrp="1"/>
          </p:cNvSpPr>
          <p:nvPr>
            <p:ph type="title"/>
          </p:nvPr>
        </p:nvSpPr>
        <p:spPr/>
        <p:txBody>
          <a:bodyPr>
            <a:normAutofit/>
          </a:bodyPr>
          <a:lstStyle/>
          <a:p>
            <a:r>
              <a:rPr lang="en-US" b="1" dirty="0"/>
              <a:t>zip</a:t>
            </a:r>
            <a:r>
              <a:rPr lang="en-US" dirty="0"/>
              <a:t> - package and compress (archive) files</a:t>
            </a:r>
            <a:br>
              <a:rPr lang="en-US" dirty="0"/>
            </a:br>
            <a:r>
              <a:rPr lang="en-US" b="1" dirty="0"/>
              <a:t>unzip</a:t>
            </a:r>
            <a:r>
              <a:rPr lang="en-US" dirty="0"/>
              <a:t> - </a:t>
            </a:r>
            <a:r>
              <a:rPr lang="en-US" dirty="0" err="1"/>
              <a:t>list¨and</a:t>
            </a:r>
            <a:r>
              <a:rPr lang="en-US" dirty="0"/>
              <a:t> extract files in a ZIP archive</a:t>
            </a:r>
          </a:p>
        </p:txBody>
      </p:sp>
      <p:sp>
        <p:nvSpPr>
          <p:cNvPr id="3" name="Sisällön paikkamerkki 2">
            <a:extLst>
              <a:ext uri="{FF2B5EF4-FFF2-40B4-BE49-F238E27FC236}">
                <a16:creationId xmlns:a16="http://schemas.microsoft.com/office/drawing/2014/main" id="{A0B39AE6-B50A-4FF2-AEE3-85466D43B47A}"/>
              </a:ext>
            </a:extLst>
          </p:cNvPr>
          <p:cNvSpPr>
            <a:spLocks noGrp="1"/>
          </p:cNvSpPr>
          <p:nvPr>
            <p:ph idx="1"/>
          </p:nvPr>
        </p:nvSpPr>
        <p:spPr/>
        <p:txBody>
          <a:bodyPr>
            <a:normAutofit/>
          </a:bodyPr>
          <a:lstStyle/>
          <a:p>
            <a:r>
              <a:rPr lang="en-US" dirty="0"/>
              <a:t>zip archive.zip file1 file2	# add files file1 and file2 archive zip</a:t>
            </a:r>
          </a:p>
          <a:p>
            <a:r>
              <a:rPr lang="en-US" dirty="0"/>
              <a:t>zip -9 archive.zip file1 file2	# same with best compression</a:t>
            </a:r>
          </a:p>
          <a:p>
            <a:r>
              <a:rPr lang="en-US" dirty="0"/>
              <a:t>zip -d archive.zip text.txt	# remove file text.txt from archive</a:t>
            </a:r>
          </a:p>
          <a:p>
            <a:r>
              <a:rPr lang="en-US" dirty="0"/>
              <a:t>zip -u archive.zip text.txt	# update the archive with new version</a:t>
            </a:r>
          </a:p>
          <a:p>
            <a:r>
              <a:rPr lang="en-US" dirty="0"/>
              <a:t>zip -9rv backup.zip ~/		# backup everything from your home</a:t>
            </a:r>
          </a:p>
          <a:p>
            <a:r>
              <a:rPr lang="en-US" dirty="0"/>
              <a:t>unzip -v archive.zip		# list files in archive</a:t>
            </a:r>
          </a:p>
          <a:p>
            <a:r>
              <a:rPr lang="en-US" dirty="0"/>
              <a:t>unzip -t archive.zip		# test archive</a:t>
            </a:r>
          </a:p>
          <a:p>
            <a:r>
              <a:rPr lang="en-US" dirty="0"/>
              <a:t>unzip archive.zip			# decompress archive</a:t>
            </a:r>
          </a:p>
          <a:p>
            <a:endParaRPr lang="en-US" dirty="0"/>
          </a:p>
        </p:txBody>
      </p:sp>
    </p:spTree>
    <p:extLst>
      <p:ext uri="{BB962C8B-B14F-4D97-AF65-F5344CB8AC3E}">
        <p14:creationId xmlns:p14="http://schemas.microsoft.com/office/powerpoint/2010/main" val="8842027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5B31806-8764-45D7-82F6-AD7D4E297F61}"/>
              </a:ext>
            </a:extLst>
          </p:cNvPr>
          <p:cNvSpPr>
            <a:spLocks noGrp="1"/>
          </p:cNvSpPr>
          <p:nvPr>
            <p:ph type="title"/>
          </p:nvPr>
        </p:nvSpPr>
        <p:spPr/>
        <p:txBody>
          <a:bodyPr>
            <a:normAutofit fontScale="90000"/>
          </a:bodyPr>
          <a:lstStyle/>
          <a:p>
            <a:r>
              <a:rPr lang="en-US" b="1" dirty="0"/>
              <a:t>bzip2, bunzip2 </a:t>
            </a:r>
            <a:r>
              <a:rPr lang="en-US" dirty="0"/>
              <a:t>- a block-sorting file compressor</a:t>
            </a:r>
            <a:br>
              <a:rPr lang="en-US" dirty="0"/>
            </a:br>
            <a:r>
              <a:rPr lang="en-US" b="1" dirty="0" err="1"/>
              <a:t>bzcat</a:t>
            </a:r>
            <a:r>
              <a:rPr lang="en-US" b="1" dirty="0"/>
              <a:t> </a:t>
            </a:r>
            <a:r>
              <a:rPr lang="en-US" dirty="0"/>
              <a:t>- decompresses files to </a:t>
            </a:r>
            <a:r>
              <a:rPr lang="en-US" dirty="0" err="1"/>
              <a:t>stdout</a:t>
            </a:r>
            <a:endParaRPr lang="en-US" dirty="0"/>
          </a:p>
        </p:txBody>
      </p:sp>
      <p:sp>
        <p:nvSpPr>
          <p:cNvPr id="3" name="Sisällön paikkamerkki 2">
            <a:extLst>
              <a:ext uri="{FF2B5EF4-FFF2-40B4-BE49-F238E27FC236}">
                <a16:creationId xmlns:a16="http://schemas.microsoft.com/office/drawing/2014/main" id="{7F17472A-E06B-4CD8-BBD0-6BB3804DD944}"/>
              </a:ext>
            </a:extLst>
          </p:cNvPr>
          <p:cNvSpPr>
            <a:spLocks noGrp="1"/>
          </p:cNvSpPr>
          <p:nvPr>
            <p:ph idx="1"/>
          </p:nvPr>
        </p:nvSpPr>
        <p:spPr/>
        <p:txBody>
          <a:bodyPr/>
          <a:lstStyle/>
          <a:p>
            <a:r>
              <a:rPr lang="en-US" dirty="0"/>
              <a:t>bzip2 text.txt 	# compress original and replace with text.txt.bz</a:t>
            </a:r>
          </a:p>
          <a:p>
            <a:r>
              <a:rPr lang="en-US" dirty="0"/>
              <a:t>bzip2 -k text.txt 	# keep original</a:t>
            </a:r>
          </a:p>
          <a:p>
            <a:r>
              <a:rPr lang="en-US" dirty="0"/>
              <a:t>bzip2 -r </a:t>
            </a:r>
            <a:r>
              <a:rPr lang="en-US" dirty="0" err="1"/>
              <a:t>myfolder</a:t>
            </a:r>
            <a:r>
              <a:rPr lang="en-US" dirty="0"/>
              <a:t>	# recursively compress all files in folder</a:t>
            </a:r>
          </a:p>
          <a:p>
            <a:r>
              <a:rPr lang="en-US" dirty="0"/>
              <a:t>bzip2 -9 text.txt	# best compression</a:t>
            </a:r>
          </a:p>
          <a:p>
            <a:r>
              <a:rPr lang="en-US" dirty="0"/>
              <a:t>bzip2 -d text.txt.bz2	# decompress file, replace with text.txt</a:t>
            </a:r>
          </a:p>
          <a:p>
            <a:r>
              <a:rPr lang="en-US" dirty="0"/>
              <a:t>bunzip2 text.txt.bz2 # same as above</a:t>
            </a:r>
          </a:p>
          <a:p>
            <a:r>
              <a:rPr lang="en-US" dirty="0" err="1"/>
              <a:t>bzcat</a:t>
            </a:r>
            <a:r>
              <a:rPr lang="en-US" dirty="0"/>
              <a:t> text.txt.bz2	# display contents of compressed file text.txt.gz</a:t>
            </a:r>
          </a:p>
          <a:p>
            <a:r>
              <a:rPr lang="en-US" dirty="0"/>
              <a:t>bzip2recover damaged.txt.bz2 # recover damaged archive</a:t>
            </a:r>
          </a:p>
          <a:p>
            <a:endParaRPr lang="en-US" dirty="0"/>
          </a:p>
          <a:p>
            <a:endParaRPr lang="en-US" dirty="0"/>
          </a:p>
          <a:p>
            <a:endParaRPr lang="en-US" dirty="0"/>
          </a:p>
        </p:txBody>
      </p:sp>
    </p:spTree>
    <p:extLst>
      <p:ext uri="{BB962C8B-B14F-4D97-AF65-F5344CB8AC3E}">
        <p14:creationId xmlns:p14="http://schemas.microsoft.com/office/powerpoint/2010/main" val="41573828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3CB331F-EABC-4F76-90CD-B413FEF8B0F3}"/>
              </a:ext>
            </a:extLst>
          </p:cNvPr>
          <p:cNvSpPr>
            <a:spLocks noGrp="1"/>
          </p:cNvSpPr>
          <p:nvPr>
            <p:ph type="title"/>
          </p:nvPr>
        </p:nvSpPr>
        <p:spPr/>
        <p:txBody>
          <a:bodyPr>
            <a:normAutofit fontScale="90000"/>
          </a:bodyPr>
          <a:lstStyle/>
          <a:p>
            <a:r>
              <a:rPr lang="en-US" b="1" dirty="0"/>
              <a:t>xz,  </a:t>
            </a:r>
            <a:r>
              <a:rPr lang="en-US" b="1" dirty="0" err="1"/>
              <a:t>unxz</a:t>
            </a:r>
            <a:r>
              <a:rPr lang="en-US" b="1" dirty="0"/>
              <a:t>,  </a:t>
            </a:r>
            <a:r>
              <a:rPr lang="en-US" b="1" dirty="0" err="1"/>
              <a:t>xzcat</a:t>
            </a:r>
            <a:r>
              <a:rPr lang="en-US" b="1" dirty="0"/>
              <a:t>, lzma, </a:t>
            </a:r>
            <a:r>
              <a:rPr lang="en-US" b="1" dirty="0" err="1"/>
              <a:t>unlzma</a:t>
            </a:r>
            <a:r>
              <a:rPr lang="en-US" b="1" dirty="0"/>
              <a:t>, </a:t>
            </a:r>
            <a:r>
              <a:rPr lang="en-US" b="1" dirty="0" err="1"/>
              <a:t>lzcat</a:t>
            </a:r>
            <a:r>
              <a:rPr lang="en-US" b="1" dirty="0"/>
              <a:t> </a:t>
            </a:r>
            <a:r>
              <a:rPr lang="en-US" dirty="0"/>
              <a:t>- Compress or decompress .xz and</a:t>
            </a:r>
            <a:br>
              <a:rPr lang="en-US" dirty="0"/>
            </a:br>
            <a:r>
              <a:rPr lang="en-US" dirty="0"/>
              <a:t>       .</a:t>
            </a:r>
            <a:r>
              <a:rPr lang="en-US" dirty="0" err="1"/>
              <a:t>lzma</a:t>
            </a:r>
            <a:r>
              <a:rPr lang="en-US" dirty="0"/>
              <a:t> files</a:t>
            </a:r>
          </a:p>
        </p:txBody>
      </p:sp>
      <p:sp>
        <p:nvSpPr>
          <p:cNvPr id="3" name="Sisällön paikkamerkki 2">
            <a:extLst>
              <a:ext uri="{FF2B5EF4-FFF2-40B4-BE49-F238E27FC236}">
                <a16:creationId xmlns:a16="http://schemas.microsoft.com/office/drawing/2014/main" id="{24415C86-113A-4CEA-9AFE-77999CF1DA8C}"/>
              </a:ext>
            </a:extLst>
          </p:cNvPr>
          <p:cNvSpPr>
            <a:spLocks noGrp="1"/>
          </p:cNvSpPr>
          <p:nvPr>
            <p:ph idx="1"/>
          </p:nvPr>
        </p:nvSpPr>
        <p:spPr/>
        <p:txBody>
          <a:bodyPr>
            <a:normAutofit/>
          </a:bodyPr>
          <a:lstStyle/>
          <a:p>
            <a:r>
              <a:rPr lang="en-US" dirty="0" err="1"/>
              <a:t>lzma</a:t>
            </a:r>
            <a:r>
              <a:rPr lang="en-US" dirty="0"/>
              <a:t> file.txt		# replace with compressed </a:t>
            </a:r>
            <a:r>
              <a:rPr lang="en-US" dirty="0" err="1"/>
              <a:t>file.txt.lzma</a:t>
            </a:r>
            <a:endParaRPr lang="en-US" dirty="0"/>
          </a:p>
          <a:p>
            <a:r>
              <a:rPr lang="en-US" dirty="0"/>
              <a:t>lzma -k fil.txt		# same as above, but keep original</a:t>
            </a:r>
          </a:p>
          <a:p>
            <a:r>
              <a:rPr lang="en-US" dirty="0"/>
              <a:t>lzma -d </a:t>
            </a:r>
            <a:r>
              <a:rPr lang="en-US" dirty="0" err="1"/>
              <a:t>file.txt.lzma</a:t>
            </a:r>
            <a:r>
              <a:rPr lang="en-US" dirty="0"/>
              <a:t>	# decompress .</a:t>
            </a:r>
            <a:r>
              <a:rPr lang="en-US" dirty="0" err="1"/>
              <a:t>lzma</a:t>
            </a:r>
            <a:r>
              <a:rPr lang="en-US" dirty="0"/>
              <a:t> file</a:t>
            </a:r>
          </a:p>
          <a:p>
            <a:r>
              <a:rPr lang="en-US" dirty="0" err="1"/>
              <a:t>unlzma</a:t>
            </a:r>
            <a:r>
              <a:rPr lang="en-US" dirty="0"/>
              <a:t> </a:t>
            </a:r>
            <a:r>
              <a:rPr lang="en-US" dirty="0" err="1"/>
              <a:t>file.txt.lzma</a:t>
            </a:r>
            <a:r>
              <a:rPr lang="en-US" dirty="0"/>
              <a:t>	# same as above</a:t>
            </a:r>
          </a:p>
          <a:p>
            <a:r>
              <a:rPr lang="en-US" dirty="0" err="1"/>
              <a:t>lzcat</a:t>
            </a:r>
            <a:r>
              <a:rPr lang="en-US" dirty="0"/>
              <a:t> </a:t>
            </a:r>
            <a:r>
              <a:rPr lang="en-US" dirty="0" err="1"/>
              <a:t>file.lzma</a:t>
            </a:r>
            <a:r>
              <a:rPr lang="en-US" dirty="0"/>
              <a:t>		# display contents of </a:t>
            </a:r>
            <a:r>
              <a:rPr lang="en-US" dirty="0" err="1"/>
              <a:t>file.lzma</a:t>
            </a:r>
            <a:endParaRPr lang="en-US" dirty="0"/>
          </a:p>
          <a:p>
            <a:r>
              <a:rPr lang="en-US" dirty="0" err="1"/>
              <a:t>xz</a:t>
            </a:r>
            <a:r>
              <a:rPr lang="en-US" dirty="0"/>
              <a:t> file.txt			# replace with compressed </a:t>
            </a:r>
            <a:r>
              <a:rPr lang="en-US" dirty="0" err="1"/>
              <a:t>file.txt.xz</a:t>
            </a:r>
            <a:endParaRPr lang="en-US" dirty="0"/>
          </a:p>
          <a:p>
            <a:r>
              <a:rPr lang="en-US" dirty="0" err="1"/>
              <a:t>unxz</a:t>
            </a:r>
            <a:r>
              <a:rPr lang="en-US" dirty="0"/>
              <a:t>				# decompress .</a:t>
            </a:r>
            <a:r>
              <a:rPr lang="en-US" dirty="0" err="1"/>
              <a:t>xz</a:t>
            </a:r>
            <a:r>
              <a:rPr lang="en-US" dirty="0"/>
              <a:t> file</a:t>
            </a:r>
          </a:p>
          <a:p>
            <a:r>
              <a:rPr lang="en-US" dirty="0" err="1"/>
              <a:t>zxcat</a:t>
            </a:r>
            <a:r>
              <a:rPr lang="en-US" dirty="0"/>
              <a:t> </a:t>
            </a:r>
            <a:r>
              <a:rPr lang="en-US" dirty="0" err="1"/>
              <a:t>file.xz</a:t>
            </a:r>
            <a:r>
              <a:rPr lang="en-US" dirty="0"/>
              <a:t>		# display contents of </a:t>
            </a:r>
            <a:r>
              <a:rPr lang="en-US" dirty="0" err="1"/>
              <a:t>file.zx</a:t>
            </a:r>
            <a:endParaRPr lang="en-US" dirty="0"/>
          </a:p>
        </p:txBody>
      </p:sp>
    </p:spTree>
    <p:extLst>
      <p:ext uri="{BB962C8B-B14F-4D97-AF65-F5344CB8AC3E}">
        <p14:creationId xmlns:p14="http://schemas.microsoft.com/office/powerpoint/2010/main" val="32983467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E7B06F8-BEE1-42C0-B541-E0E946B46934}"/>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Compression Comparison</a:t>
            </a:r>
          </a:p>
        </p:txBody>
      </p:sp>
      <p:sp>
        <p:nvSpPr>
          <p:cNvPr id="27" name="Rectangle 20">
            <a:extLst>
              <a:ext uri="{FF2B5EF4-FFF2-40B4-BE49-F238E27FC236}">
                <a16:creationId xmlns:a16="http://schemas.microsoft.com/office/drawing/2014/main" id="{0465601C-04B5-4AE0-8300-C95A72ECD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Sisällön paikkamerkki 5">
            <a:extLst>
              <a:ext uri="{FF2B5EF4-FFF2-40B4-BE49-F238E27FC236}">
                <a16:creationId xmlns:a16="http://schemas.microsoft.com/office/drawing/2014/main" id="{CDE40932-8E2C-4981-B5AD-84955E878E77}"/>
              </a:ext>
            </a:extLst>
          </p:cNvPr>
          <p:cNvGraphicFramePr>
            <a:graphicFrameLocks noGrp="1"/>
          </p:cNvGraphicFramePr>
          <p:nvPr>
            <p:ph idx="1"/>
            <p:extLst>
              <p:ext uri="{D42A27DB-BD31-4B8C-83A1-F6EECF244321}">
                <p14:modId xmlns:p14="http://schemas.microsoft.com/office/powerpoint/2010/main" val="2642217823"/>
              </p:ext>
            </p:extLst>
          </p:nvPr>
        </p:nvGraphicFramePr>
        <p:xfrm>
          <a:off x="838199" y="1440727"/>
          <a:ext cx="10515602" cy="2115210"/>
        </p:xfrm>
        <a:graphic>
          <a:graphicData uri="http://schemas.openxmlformats.org/drawingml/2006/table">
            <a:tbl>
              <a:tblPr firstRow="1" bandRow="1">
                <a:tableStyleId>{5C22544A-7EE6-4342-B048-85BDC9FD1C3A}</a:tableStyleId>
              </a:tblPr>
              <a:tblGrid>
                <a:gridCol w="2646272">
                  <a:extLst>
                    <a:ext uri="{9D8B030D-6E8A-4147-A177-3AD203B41FA5}">
                      <a16:colId xmlns:a16="http://schemas.microsoft.com/office/drawing/2014/main" val="1776788581"/>
                    </a:ext>
                  </a:extLst>
                </a:gridCol>
                <a:gridCol w="1124190">
                  <a:extLst>
                    <a:ext uri="{9D8B030D-6E8A-4147-A177-3AD203B41FA5}">
                      <a16:colId xmlns:a16="http://schemas.microsoft.com/office/drawing/2014/main" val="1667424438"/>
                    </a:ext>
                  </a:extLst>
                </a:gridCol>
                <a:gridCol w="1124190">
                  <a:extLst>
                    <a:ext uri="{9D8B030D-6E8A-4147-A177-3AD203B41FA5}">
                      <a16:colId xmlns:a16="http://schemas.microsoft.com/office/drawing/2014/main" val="2053929644"/>
                    </a:ext>
                  </a:extLst>
                </a:gridCol>
                <a:gridCol w="1124190">
                  <a:extLst>
                    <a:ext uri="{9D8B030D-6E8A-4147-A177-3AD203B41FA5}">
                      <a16:colId xmlns:a16="http://schemas.microsoft.com/office/drawing/2014/main" val="2609916163"/>
                    </a:ext>
                  </a:extLst>
                </a:gridCol>
                <a:gridCol w="1124190">
                  <a:extLst>
                    <a:ext uri="{9D8B030D-6E8A-4147-A177-3AD203B41FA5}">
                      <a16:colId xmlns:a16="http://schemas.microsoft.com/office/drawing/2014/main" val="1149244834"/>
                    </a:ext>
                  </a:extLst>
                </a:gridCol>
                <a:gridCol w="1124190">
                  <a:extLst>
                    <a:ext uri="{9D8B030D-6E8A-4147-A177-3AD203B41FA5}">
                      <a16:colId xmlns:a16="http://schemas.microsoft.com/office/drawing/2014/main" val="616927674"/>
                    </a:ext>
                  </a:extLst>
                </a:gridCol>
                <a:gridCol w="1124190">
                  <a:extLst>
                    <a:ext uri="{9D8B030D-6E8A-4147-A177-3AD203B41FA5}">
                      <a16:colId xmlns:a16="http://schemas.microsoft.com/office/drawing/2014/main" val="2643287819"/>
                    </a:ext>
                  </a:extLst>
                </a:gridCol>
                <a:gridCol w="1124190">
                  <a:extLst>
                    <a:ext uri="{9D8B030D-6E8A-4147-A177-3AD203B41FA5}">
                      <a16:colId xmlns:a16="http://schemas.microsoft.com/office/drawing/2014/main" val="3147768793"/>
                    </a:ext>
                  </a:extLst>
                </a:gridCol>
              </a:tblGrid>
              <a:tr h="352535">
                <a:tc>
                  <a:txBody>
                    <a:bodyPr/>
                    <a:lstStyle/>
                    <a:p>
                      <a:pPr algn="l" fontAlgn="b"/>
                      <a:r>
                        <a:rPr lang="fi-FI" sz="1900" u="none" strike="noStrike">
                          <a:effectLst/>
                        </a:rPr>
                        <a:t>File</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Size</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gzip</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gzip -9 </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zip</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bzip2</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xz</a:t>
                      </a:r>
                      <a:endParaRPr lang="fi-FI" sz="1900" b="1" i="0" u="none" strike="noStrike">
                        <a:solidFill>
                          <a:srgbClr val="000000"/>
                        </a:solidFill>
                        <a:effectLst/>
                        <a:latin typeface="Calibri" panose="020F0502020204030204" pitchFamily="34" charset="0"/>
                      </a:endParaRPr>
                    </a:p>
                  </a:txBody>
                  <a:tcPr marL="16854" marR="16854" marT="16854" marB="0" anchor="b"/>
                </a:tc>
                <a:tc>
                  <a:txBody>
                    <a:bodyPr/>
                    <a:lstStyle/>
                    <a:p>
                      <a:pPr algn="l" fontAlgn="b"/>
                      <a:r>
                        <a:rPr lang="fi-FI" sz="1900" u="none" strike="noStrike">
                          <a:effectLst/>
                        </a:rPr>
                        <a:t>xz -e</a:t>
                      </a:r>
                      <a:endParaRPr lang="fi-FI" sz="1900" b="1" i="0" u="none" strike="noStrike">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2914560406"/>
                  </a:ext>
                </a:extLst>
              </a:tr>
              <a:tr h="352535">
                <a:tc>
                  <a:txBody>
                    <a:bodyPr/>
                    <a:lstStyle/>
                    <a:p>
                      <a:pPr algn="l" fontAlgn="b"/>
                      <a:r>
                        <a:rPr lang="fi-FI" sz="1900" u="none" strike="noStrike">
                          <a:effectLst/>
                        </a:rPr>
                        <a:t>Finnish_language.html</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324107</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73936</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73558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73896</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63558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61360</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61044</a:t>
                      </a:r>
                      <a:endParaRPr lang="fi-FI" sz="1900" b="0" i="0" u="none" strike="noStrike">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3101204418"/>
                  </a:ext>
                </a:extLst>
              </a:tr>
              <a:tr h="352535">
                <a:tc>
                  <a:txBody>
                    <a:bodyPr/>
                    <a:lstStyle/>
                    <a:p>
                      <a:pPr algn="l" fontAlgn="b"/>
                      <a:r>
                        <a:rPr lang="fi-FI" sz="1900" u="none" strike="noStrike">
                          <a:effectLst/>
                        </a:rPr>
                        <a:t>KJV-bible.txt</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4456185</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1405056</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1393002</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1405024</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1000963</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1054848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1054016</a:t>
                      </a:r>
                      <a:endParaRPr lang="fi-FI" sz="1900" b="0" i="0" u="none" strike="noStrike">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3219554555"/>
                  </a:ext>
                </a:extLst>
              </a:tr>
              <a:tr h="352535">
                <a:tc>
                  <a:txBody>
                    <a:bodyPr/>
                    <a:lstStyle/>
                    <a:p>
                      <a:pPr algn="l" fontAlgn="b"/>
                      <a:r>
                        <a:rPr lang="fi-FI" sz="1900" u="none" strike="noStrike">
                          <a:effectLst/>
                        </a:rPr>
                        <a:t>Suomenlinna.jpg</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500130</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499272</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499272</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499238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499337</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499484</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499484</a:t>
                      </a:r>
                      <a:endParaRPr lang="fi-FI" sz="1900" b="0" i="0" u="none" strike="noStrike">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573360412"/>
                  </a:ext>
                </a:extLst>
              </a:tr>
              <a:tr h="352535">
                <a:tc>
                  <a:txBody>
                    <a:bodyPr/>
                    <a:lstStyle/>
                    <a:p>
                      <a:pPr algn="l" fontAlgn="b"/>
                      <a:r>
                        <a:rPr lang="fi-FI" sz="1900" u="none" strike="noStrike">
                          <a:effectLst/>
                        </a:rPr>
                        <a:t>jquery.js</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288580</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85005</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84562</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84997</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68825</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73276</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73312</a:t>
                      </a:r>
                      <a:endParaRPr lang="fi-FI" sz="1900" b="0" i="0" u="none" strike="noStrike">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818370747"/>
                  </a:ext>
                </a:extLst>
              </a:tr>
              <a:tr h="352535">
                <a:tc>
                  <a:txBody>
                    <a:bodyPr/>
                    <a:lstStyle/>
                    <a:p>
                      <a:pPr algn="l" fontAlgn="b"/>
                      <a:r>
                        <a:rPr lang="fi-FI" sz="1900" u="none" strike="noStrike">
                          <a:effectLst/>
                        </a:rPr>
                        <a:t>vim.basic</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2906824</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1465643</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1461638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1466615</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1383308</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a:effectLst/>
                        </a:rPr>
                        <a:t>1222744</a:t>
                      </a:r>
                      <a:endParaRPr lang="fi-FI" sz="1900" b="0" i="0" u="none" strike="noStrike">
                        <a:solidFill>
                          <a:srgbClr val="000000"/>
                        </a:solidFill>
                        <a:effectLst/>
                        <a:latin typeface="Calibri" panose="020F0502020204030204" pitchFamily="34" charset="0"/>
                      </a:endParaRPr>
                    </a:p>
                  </a:txBody>
                  <a:tcPr marL="16854" marR="16854" marT="16854" marB="0" anchor="b"/>
                </a:tc>
                <a:tc>
                  <a:txBody>
                    <a:bodyPr/>
                    <a:lstStyle/>
                    <a:p>
                      <a:pPr algn="r" fontAlgn="b"/>
                      <a:r>
                        <a:rPr lang="fi-FI" sz="1900" u="none" strike="noStrike" dirty="0">
                          <a:effectLst/>
                        </a:rPr>
                        <a:t>1224020</a:t>
                      </a:r>
                      <a:endParaRPr lang="fi-FI" sz="1900" b="0" i="0" u="none" strike="noStrike" dirty="0">
                        <a:solidFill>
                          <a:srgbClr val="000000"/>
                        </a:solidFill>
                        <a:effectLst/>
                        <a:latin typeface="Calibri" panose="020F0502020204030204" pitchFamily="34" charset="0"/>
                      </a:endParaRPr>
                    </a:p>
                  </a:txBody>
                  <a:tcPr marL="16854" marR="16854" marT="16854" marB="0" anchor="b"/>
                </a:tc>
                <a:extLst>
                  <a:ext uri="{0D108BD9-81ED-4DB2-BD59-A6C34878D82A}">
                    <a16:rowId xmlns:a16="http://schemas.microsoft.com/office/drawing/2014/main" val="3055092213"/>
                  </a:ext>
                </a:extLst>
              </a:tr>
            </a:tbl>
          </a:graphicData>
        </a:graphic>
      </p:graphicFrame>
      <p:graphicFrame>
        <p:nvGraphicFramePr>
          <p:cNvPr id="20" name="Kaavio 19">
            <a:extLst>
              <a:ext uri="{FF2B5EF4-FFF2-40B4-BE49-F238E27FC236}">
                <a16:creationId xmlns:a16="http://schemas.microsoft.com/office/drawing/2014/main" id="{41C4A21E-095E-4DA0-BF85-05D68DAC9422}"/>
              </a:ext>
            </a:extLst>
          </p:cNvPr>
          <p:cNvGraphicFramePr>
            <a:graphicFrameLocks/>
          </p:cNvGraphicFramePr>
          <p:nvPr>
            <p:extLst>
              <p:ext uri="{D42A27DB-BD31-4B8C-83A1-F6EECF244321}">
                <p14:modId xmlns:p14="http://schemas.microsoft.com/office/powerpoint/2010/main" val="3074958103"/>
              </p:ext>
            </p:extLst>
          </p:nvPr>
        </p:nvGraphicFramePr>
        <p:xfrm>
          <a:off x="838199" y="368741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Kaavio 23">
            <a:extLst>
              <a:ext uri="{FF2B5EF4-FFF2-40B4-BE49-F238E27FC236}">
                <a16:creationId xmlns:a16="http://schemas.microsoft.com/office/drawing/2014/main" id="{78F3DFC2-B2A8-44A9-99D5-3A2CE2F68D98}"/>
              </a:ext>
            </a:extLst>
          </p:cNvPr>
          <p:cNvGraphicFramePr>
            <a:graphicFrameLocks/>
          </p:cNvGraphicFramePr>
          <p:nvPr>
            <p:extLst>
              <p:ext uri="{D42A27DB-BD31-4B8C-83A1-F6EECF244321}">
                <p14:modId xmlns:p14="http://schemas.microsoft.com/office/powerpoint/2010/main" val="859462186"/>
              </p:ext>
            </p:extLst>
          </p:nvPr>
        </p:nvGraphicFramePr>
        <p:xfrm>
          <a:off x="5410199" y="3555937"/>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80145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B7BFB5B-F7AE-4A39-AD98-3BD9A0D0818B}"/>
              </a:ext>
            </a:extLst>
          </p:cNvPr>
          <p:cNvSpPr>
            <a:spLocks noGrp="1"/>
          </p:cNvSpPr>
          <p:nvPr>
            <p:ph type="title"/>
          </p:nvPr>
        </p:nvSpPr>
        <p:spPr/>
        <p:txBody>
          <a:bodyPr/>
          <a:lstStyle/>
          <a:p>
            <a:r>
              <a:rPr lang="en-US" b="1" dirty="0"/>
              <a:t>date</a:t>
            </a:r>
            <a:r>
              <a:rPr lang="en-US" dirty="0"/>
              <a:t> - print or set the system date and time</a:t>
            </a:r>
          </a:p>
        </p:txBody>
      </p:sp>
      <p:sp>
        <p:nvSpPr>
          <p:cNvPr id="3" name="Sisällön paikkamerkki 2">
            <a:extLst>
              <a:ext uri="{FF2B5EF4-FFF2-40B4-BE49-F238E27FC236}">
                <a16:creationId xmlns:a16="http://schemas.microsoft.com/office/drawing/2014/main" id="{F36EBEDE-3F35-43E9-8721-2EECDE4D1D87}"/>
              </a:ext>
            </a:extLst>
          </p:cNvPr>
          <p:cNvSpPr>
            <a:spLocks noGrp="1"/>
          </p:cNvSpPr>
          <p:nvPr>
            <p:ph idx="1"/>
          </p:nvPr>
        </p:nvSpPr>
        <p:spPr/>
        <p:txBody>
          <a:bodyPr>
            <a:normAutofit fontScale="92500" lnSpcReduction="20000"/>
          </a:bodyPr>
          <a:lstStyle/>
          <a:p>
            <a:r>
              <a:rPr lang="en-US" dirty="0"/>
              <a:t>date [OPTION]... [+FORMAT]</a:t>
            </a:r>
          </a:p>
          <a:p>
            <a:r>
              <a:rPr lang="en-US" dirty="0"/>
              <a:t>date [-u|--</a:t>
            </a:r>
            <a:r>
              <a:rPr lang="en-US" dirty="0" err="1"/>
              <a:t>utc</a:t>
            </a:r>
            <a:r>
              <a:rPr lang="en-US" dirty="0"/>
              <a:t>|--universal] [</a:t>
            </a:r>
            <a:r>
              <a:rPr lang="en-US" dirty="0" err="1"/>
              <a:t>MMDDhhmm</a:t>
            </a:r>
            <a:r>
              <a:rPr lang="en-US" dirty="0"/>
              <a:t>[[CC]YY][.ss]]</a:t>
            </a:r>
          </a:p>
          <a:p>
            <a:r>
              <a:rPr lang="en-US" dirty="0"/>
              <a:t>--date="string"		view past/future date</a:t>
            </a:r>
          </a:p>
          <a:p>
            <a:r>
              <a:rPr lang="en-US" dirty="0"/>
              <a:t>--set="string"		set date</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date				# display current date and time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date --date="2 years ago"	# display date 2 years ago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date --date="next </a:t>
            </a:r>
            <a:r>
              <a:rPr lang="en-US" dirty="0" err="1">
                <a:latin typeface="Courier New" panose="02070309020205020404" pitchFamily="49" charset="0"/>
                <a:cs typeface="Courier New" panose="02070309020205020404" pitchFamily="49" charset="0"/>
              </a:rPr>
              <a:t>fri</a:t>
            </a:r>
            <a:r>
              <a:rPr lang="en-US" dirty="0">
                <a:latin typeface="Courier New" panose="02070309020205020404" pitchFamily="49" charset="0"/>
                <a:cs typeface="Courier New" panose="02070309020205020404" pitchFamily="49" charset="0"/>
              </a:rPr>
              <a:t>"	# display date for next Friday</a:t>
            </a:r>
          </a:p>
          <a:p>
            <a:pPr marL="0" indent="0">
              <a:buNone/>
            </a:pPr>
            <a:r>
              <a:rPr lang="en-US" dirty="0">
                <a:latin typeface="Courier New" panose="02070309020205020404" pitchFamily="49" charset="0"/>
                <a:cs typeface="Courier New" panose="02070309020205020404" pitchFamily="49" charset="0"/>
              </a:rPr>
              <a:t>date --date="tomorrow"	# tomorrow's date</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date</a:t>
            </a:r>
            <a:r>
              <a:rPr lang="en-US" dirty="0">
                <a:latin typeface="Courier New" panose="02070309020205020404" pitchFamily="49" charset="0"/>
                <a:cs typeface="Courier New" panose="02070309020205020404" pitchFamily="49" charset="0"/>
              </a:rPr>
              <a:t> --set="Tue Nov 19 10:32:00 EET 2019" # set date</a:t>
            </a:r>
          </a:p>
          <a:p>
            <a:pPr marL="0" indent="0">
              <a:buNone/>
            </a:pPr>
            <a:endParaRPr lang="en-US" dirty="0"/>
          </a:p>
          <a:p>
            <a:endParaRPr lang="en-US" dirty="0"/>
          </a:p>
        </p:txBody>
      </p:sp>
    </p:spTree>
    <p:extLst>
      <p:ext uri="{BB962C8B-B14F-4D97-AF65-F5344CB8AC3E}">
        <p14:creationId xmlns:p14="http://schemas.microsoft.com/office/powerpoint/2010/main" val="30410411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160BA90-F870-4E2D-ABE2-0895A4699027}"/>
              </a:ext>
            </a:extLst>
          </p:cNvPr>
          <p:cNvSpPr>
            <a:spLocks noGrp="1"/>
          </p:cNvSpPr>
          <p:nvPr>
            <p:ph type="title"/>
          </p:nvPr>
        </p:nvSpPr>
        <p:spPr/>
        <p:txBody>
          <a:bodyPr/>
          <a:lstStyle/>
          <a:p>
            <a:r>
              <a:rPr lang="en-US" b="1" dirty="0" err="1"/>
              <a:t>cal</a:t>
            </a:r>
            <a:r>
              <a:rPr lang="en-US" dirty="0"/>
              <a:t> - displays a calendar and the date of Easter</a:t>
            </a:r>
            <a:br>
              <a:rPr lang="en-US" dirty="0"/>
            </a:br>
            <a:r>
              <a:rPr lang="en-US" dirty="0" err="1"/>
              <a:t>ncal</a:t>
            </a:r>
            <a:r>
              <a:rPr lang="en-US" dirty="0"/>
              <a:t> - new format</a:t>
            </a:r>
          </a:p>
        </p:txBody>
      </p:sp>
      <p:sp>
        <p:nvSpPr>
          <p:cNvPr id="3" name="Sisällön paikkamerkki 2">
            <a:extLst>
              <a:ext uri="{FF2B5EF4-FFF2-40B4-BE49-F238E27FC236}">
                <a16:creationId xmlns:a16="http://schemas.microsoft.com/office/drawing/2014/main" id="{D166E4A9-68CD-4067-9FFA-9C82D0990493}"/>
              </a:ext>
            </a:extLst>
          </p:cNvPr>
          <p:cNvSpPr>
            <a:spLocks noGrp="1"/>
          </p:cNvSpPr>
          <p:nvPr>
            <p:ph idx="1"/>
          </p:nvPr>
        </p:nvSpPr>
        <p:spPr/>
        <p:txBody>
          <a:bodyPr/>
          <a:lstStyle/>
          <a:p>
            <a:r>
              <a:rPr lang="en-US" dirty="0" err="1">
                <a:cs typeface="Courier New" panose="02070309020205020404" pitchFamily="49" charset="0"/>
              </a:rPr>
              <a:t>cal</a:t>
            </a:r>
            <a:r>
              <a:rPr lang="en-US" dirty="0">
                <a:cs typeface="Courier New" panose="02070309020205020404" pitchFamily="49" charset="0"/>
              </a:rPr>
              <a:t>			# print current month's calendar</a:t>
            </a:r>
          </a:p>
          <a:p>
            <a:r>
              <a:rPr lang="en-US" dirty="0" err="1">
                <a:cs typeface="Courier New" panose="02070309020205020404" pitchFamily="49" charset="0"/>
              </a:rPr>
              <a:t>cal</a:t>
            </a:r>
            <a:r>
              <a:rPr lang="en-US" dirty="0">
                <a:cs typeface="Courier New" panose="02070309020205020404" pitchFamily="49" charset="0"/>
              </a:rPr>
              <a:t> 1999		# print calendar for year 1999</a:t>
            </a:r>
          </a:p>
          <a:p>
            <a:r>
              <a:rPr lang="en-US" dirty="0" err="1">
                <a:cs typeface="Courier New" panose="02070309020205020404" pitchFamily="49" charset="0"/>
              </a:rPr>
              <a:t>cal</a:t>
            </a:r>
            <a:r>
              <a:rPr lang="en-US" dirty="0">
                <a:cs typeface="Courier New" panose="02070309020205020404" pitchFamily="49" charset="0"/>
              </a:rPr>
              <a:t> -3		# print previous, current and next month</a:t>
            </a:r>
          </a:p>
          <a:p>
            <a:r>
              <a:rPr lang="en-US" dirty="0" err="1">
                <a:cs typeface="Courier New" panose="02070309020205020404" pitchFamily="49" charset="0"/>
              </a:rPr>
              <a:t>ncal</a:t>
            </a:r>
            <a:r>
              <a:rPr lang="en-US" dirty="0">
                <a:cs typeface="Courier New" panose="02070309020205020404" pitchFamily="49" charset="0"/>
              </a:rPr>
              <a:t>			# print current month's calendar in new format</a:t>
            </a:r>
          </a:p>
          <a:p>
            <a:r>
              <a:rPr lang="en-US" dirty="0" err="1">
                <a:cs typeface="Courier New" panose="02070309020205020404" pitchFamily="49" charset="0"/>
              </a:rPr>
              <a:t>ncal</a:t>
            </a:r>
            <a:r>
              <a:rPr lang="en-US" dirty="0">
                <a:cs typeface="Courier New" panose="02070309020205020404" pitchFamily="49" charset="0"/>
              </a:rPr>
              <a:t> -e 2020	# print Easter Sunday of 2020</a:t>
            </a:r>
          </a:p>
          <a:p>
            <a:r>
              <a:rPr lang="en-US" dirty="0" err="1">
                <a:cs typeface="Courier New" panose="02070309020205020404" pitchFamily="49" charset="0"/>
              </a:rPr>
              <a:t>ncal</a:t>
            </a:r>
            <a:r>
              <a:rPr lang="en-US" dirty="0">
                <a:cs typeface="Courier New" panose="02070309020205020404" pitchFamily="49" charset="0"/>
              </a:rPr>
              <a:t> -w 2029	# print week numbers and calendar for 2029</a:t>
            </a:r>
          </a:p>
        </p:txBody>
      </p:sp>
    </p:spTree>
    <p:extLst>
      <p:ext uri="{BB962C8B-B14F-4D97-AF65-F5344CB8AC3E}">
        <p14:creationId xmlns:p14="http://schemas.microsoft.com/office/powerpoint/2010/main" val="24388529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2DB5923-9094-4BAE-923F-DB56C5B45D18}"/>
              </a:ext>
            </a:extLst>
          </p:cNvPr>
          <p:cNvSpPr>
            <a:spLocks noGrp="1"/>
          </p:cNvSpPr>
          <p:nvPr>
            <p:ph type="title"/>
          </p:nvPr>
        </p:nvSpPr>
        <p:spPr/>
        <p:txBody>
          <a:bodyPr/>
          <a:lstStyle/>
          <a:p>
            <a:r>
              <a:rPr lang="en-US" b="1" dirty="0"/>
              <a:t>passwd</a:t>
            </a:r>
            <a:r>
              <a:rPr lang="en-US" dirty="0"/>
              <a:t> - change user password</a:t>
            </a:r>
          </a:p>
        </p:txBody>
      </p:sp>
      <p:sp>
        <p:nvSpPr>
          <p:cNvPr id="3" name="Sisällön paikkamerkki 2">
            <a:extLst>
              <a:ext uri="{FF2B5EF4-FFF2-40B4-BE49-F238E27FC236}">
                <a16:creationId xmlns:a16="http://schemas.microsoft.com/office/drawing/2014/main" id="{DCAF73E5-79CE-4CF1-A680-9CFEAC66F894}"/>
              </a:ext>
            </a:extLst>
          </p:cNvPr>
          <p:cNvSpPr>
            <a:spLocks noGrp="1"/>
          </p:cNvSpPr>
          <p:nvPr>
            <p:ph idx="1"/>
          </p:nvPr>
        </p:nvSpPr>
        <p:spPr>
          <a:xfrm>
            <a:off x="394434" y="1825625"/>
            <a:ext cx="11199302" cy="4351338"/>
          </a:xfrm>
        </p:spPr>
        <p:txBody>
          <a:bodyPr>
            <a:normAutofit/>
          </a:bodyPr>
          <a:lstStyle/>
          <a:p>
            <a:pPr marL="0" indent="0">
              <a:buNone/>
            </a:pPr>
            <a:r>
              <a:rPr lang="en-US" dirty="0">
                <a:latin typeface="Courier New" panose="02070309020205020404" pitchFamily="49" charset="0"/>
                <a:cs typeface="Courier New" panose="02070309020205020404" pitchFamily="49" charset="0"/>
              </a:rPr>
              <a:t>passwd				# change your own password</a:t>
            </a:r>
          </a:p>
          <a:p>
            <a:pPr marL="0" indent="0">
              <a:buNone/>
            </a:pPr>
            <a:r>
              <a:rPr lang="en-US" dirty="0">
                <a:latin typeface="Courier New" panose="02070309020205020404" pitchFamily="49" charset="0"/>
                <a:cs typeface="Courier New" panose="02070309020205020404" pitchFamily="49" charset="0"/>
              </a:rPr>
              <a:t>sudo passwd </a:t>
            </a:r>
            <a:r>
              <a:rPr lang="en-US" dirty="0" err="1">
                <a:latin typeface="Courier New" panose="02070309020205020404" pitchFamily="49" charset="0"/>
                <a:cs typeface="Courier New" panose="02070309020205020404" pitchFamily="49" charset="0"/>
              </a:rPr>
              <a:t>testdude</a:t>
            </a:r>
            <a:r>
              <a:rPr lang="en-US" dirty="0">
                <a:latin typeface="Courier New" panose="02070309020205020404" pitchFamily="49" charset="0"/>
                <a:cs typeface="Courier New" panose="02070309020205020404" pitchFamily="49" charset="0"/>
              </a:rPr>
              <a:t>	# change password for </a:t>
            </a:r>
            <a:r>
              <a:rPr lang="en-US" dirty="0" err="1">
                <a:latin typeface="Courier New" panose="02070309020205020404" pitchFamily="49" charset="0"/>
                <a:cs typeface="Courier New" panose="02070309020205020404" pitchFamily="49" charset="0"/>
              </a:rPr>
              <a:t>testdude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sudo passwd -</a:t>
            </a:r>
            <a:r>
              <a:rPr lang="en-US" dirty="0" err="1">
                <a:latin typeface="Courier New" panose="02070309020205020404" pitchFamily="49" charset="0"/>
                <a:cs typeface="Courier New" panose="02070309020205020404" pitchFamily="49" charset="0"/>
              </a:rPr>
              <a:t>aS</a:t>
            </a:r>
            <a:r>
              <a:rPr lang="en-US" dirty="0">
                <a:latin typeface="Courier New" panose="02070309020205020404" pitchFamily="49" charset="0"/>
                <a:cs typeface="Courier New" panose="02070309020205020404" pitchFamily="49" charset="0"/>
              </a:rPr>
              <a:t>	# show status of all accounts</a:t>
            </a:r>
          </a:p>
          <a:p>
            <a:pPr marL="0" indent="0">
              <a:buNone/>
            </a:pPr>
            <a:r>
              <a:rPr lang="en-US" dirty="0">
                <a:latin typeface="Courier New" panose="02070309020205020404" pitchFamily="49" charset="0"/>
                <a:cs typeface="Courier New" panose="02070309020205020404" pitchFamily="49" charset="0"/>
              </a:rPr>
              <a:t>sudo passwd -d </a:t>
            </a:r>
            <a:r>
              <a:rPr lang="en-US" dirty="0" err="1">
                <a:latin typeface="Courier New" panose="02070309020205020404" pitchFamily="49" charset="0"/>
                <a:cs typeface="Courier New" panose="02070309020205020404" pitchFamily="49" charset="0"/>
              </a:rPr>
              <a:t>testdude</a:t>
            </a:r>
            <a:r>
              <a:rPr lang="en-US" dirty="0">
                <a:latin typeface="Courier New" panose="02070309020205020404" pitchFamily="49" charset="0"/>
                <a:cs typeface="Courier New" panose="02070309020205020404" pitchFamily="49" charset="0"/>
              </a:rPr>
              <a:t>	# delete password for 							# user </a:t>
            </a:r>
            <a:r>
              <a:rPr lang="en-US" dirty="0" err="1">
                <a:latin typeface="Courier New" panose="02070309020205020404" pitchFamily="49" charset="0"/>
                <a:cs typeface="Courier New" panose="02070309020205020404" pitchFamily="49" charset="0"/>
              </a:rPr>
              <a:t>testdude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sudo passwd -e </a:t>
            </a:r>
            <a:r>
              <a:rPr lang="en-US" dirty="0" err="1">
                <a:latin typeface="Courier New" panose="02070309020205020404" pitchFamily="49" charset="0"/>
                <a:cs typeface="Courier New" panose="02070309020205020404" pitchFamily="49" charset="0"/>
              </a:rPr>
              <a:t>testdude</a:t>
            </a:r>
            <a:r>
              <a:rPr lang="en-US" dirty="0">
                <a:latin typeface="Courier New" panose="02070309020205020404" pitchFamily="49" charset="0"/>
                <a:cs typeface="Courier New" panose="02070309020205020404" pitchFamily="49" charset="0"/>
              </a:rPr>
              <a:t>	# expire </a:t>
            </a:r>
            <a:r>
              <a:rPr lang="en-US" dirty="0" err="1">
                <a:latin typeface="Courier New" panose="02070309020205020404" pitchFamily="49" charset="0"/>
                <a:cs typeface="Courier New" panose="02070309020205020404" pitchFamily="49" charset="0"/>
              </a:rPr>
              <a:t>testdude’s</a:t>
            </a:r>
            <a:r>
              <a:rPr lang="en-US" dirty="0">
                <a:latin typeface="Courier New" panose="02070309020205020404" pitchFamily="49" charset="0"/>
                <a:cs typeface="Courier New" panose="02070309020205020404" pitchFamily="49" charset="0"/>
              </a:rPr>
              <a:t> 								# password, must change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on next login</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536295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5B61AB7-6454-421D-8CC3-8368F0ABC1D4}"/>
              </a:ext>
            </a:extLst>
          </p:cNvPr>
          <p:cNvSpPr>
            <a:spLocks noGrp="1"/>
          </p:cNvSpPr>
          <p:nvPr>
            <p:ph type="title"/>
          </p:nvPr>
        </p:nvSpPr>
        <p:spPr/>
        <p:txBody>
          <a:bodyPr/>
          <a:lstStyle/>
          <a:p>
            <a:r>
              <a:rPr lang="en-US" dirty="0"/>
              <a:t>Vim - Vi iMproved - The Default Editor</a:t>
            </a:r>
          </a:p>
        </p:txBody>
      </p:sp>
      <p:sp>
        <p:nvSpPr>
          <p:cNvPr id="3" name="Sisällön paikkamerkki 2">
            <a:extLst>
              <a:ext uri="{FF2B5EF4-FFF2-40B4-BE49-F238E27FC236}">
                <a16:creationId xmlns:a16="http://schemas.microsoft.com/office/drawing/2014/main" id="{7D7F33CE-CADD-4EE6-9581-F0CCF22C7EC7}"/>
              </a:ext>
            </a:extLst>
          </p:cNvPr>
          <p:cNvSpPr>
            <a:spLocks noGrp="1"/>
          </p:cNvSpPr>
          <p:nvPr>
            <p:ph idx="1"/>
          </p:nvPr>
        </p:nvSpPr>
        <p:spPr/>
        <p:txBody>
          <a:bodyPr>
            <a:normAutofit fontScale="92500" lnSpcReduction="10000"/>
          </a:bodyPr>
          <a:lstStyle/>
          <a:p>
            <a:r>
              <a:rPr lang="en-US" dirty="0"/>
              <a:t>Vi/vim is the default text editor of most Unix / Linux distributions.</a:t>
            </a:r>
          </a:p>
          <a:p>
            <a:r>
              <a:rPr lang="en-US" dirty="0"/>
              <a:t>Vim (1991-) has replaced vi, which was created by Bill Joy in 1976.</a:t>
            </a:r>
          </a:p>
          <a:p>
            <a:r>
              <a:rPr lang="en-US" dirty="0"/>
              <a:t>Vi/vim is very fast and capable editor with small memory and file footprint. </a:t>
            </a:r>
          </a:p>
          <a:p>
            <a:r>
              <a:rPr lang="en-US" dirty="0"/>
              <a:t>The keyboard short cuts and logic different from most other applications. </a:t>
            </a:r>
          </a:p>
          <a:p>
            <a:r>
              <a:rPr lang="en-US" dirty="0"/>
              <a:t>Vi has 12 different modes e.g. normal, visual, select, insert, replace, command-line and ex mode.</a:t>
            </a:r>
          </a:p>
          <a:p>
            <a:r>
              <a:rPr lang="en-US" dirty="0"/>
              <a:t>In normal mode each key press is a command e.g. a (APPEND) or i (INSERT) to enter insert mode. Press ESC to back to normal mode.</a:t>
            </a:r>
          </a:p>
          <a:p>
            <a:r>
              <a:rPr lang="en-US" dirty="0"/>
              <a:t>:command e.g. :wq and write changes and quit</a:t>
            </a:r>
          </a:p>
          <a:p>
            <a:r>
              <a:rPr lang="en-US" dirty="0"/>
              <a:t>For those who want more bells and whistles, look at </a:t>
            </a:r>
            <a:r>
              <a:rPr lang="en-US" dirty="0">
                <a:hlinkClick r:id="rId2"/>
              </a:rPr>
              <a:t>SpaceVim</a:t>
            </a:r>
            <a:r>
              <a:rPr lang="en-US" dirty="0"/>
              <a:t> and </a:t>
            </a:r>
            <a:r>
              <a:rPr lang="en-US" dirty="0">
                <a:hlinkClick r:id="rId3"/>
              </a:rPr>
              <a:t>Neovim</a:t>
            </a:r>
            <a:endParaRPr lang="en-US" dirty="0"/>
          </a:p>
        </p:txBody>
      </p:sp>
    </p:spTree>
    <p:extLst>
      <p:ext uri="{BB962C8B-B14F-4D97-AF65-F5344CB8AC3E}">
        <p14:creationId xmlns:p14="http://schemas.microsoft.com/office/powerpoint/2010/main" val="41088590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isällön paikkamerkki 4">
            <a:extLst>
              <a:ext uri="{FF2B5EF4-FFF2-40B4-BE49-F238E27FC236}">
                <a16:creationId xmlns:a16="http://schemas.microsoft.com/office/drawing/2014/main" id="{145F0BA2-59D4-4053-97FE-CCF8203269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5285" y="0"/>
            <a:ext cx="8877744" cy="6858000"/>
          </a:xfrm>
        </p:spPr>
      </p:pic>
    </p:spTree>
    <p:extLst>
      <p:ext uri="{BB962C8B-B14F-4D97-AF65-F5344CB8AC3E}">
        <p14:creationId xmlns:p14="http://schemas.microsoft.com/office/powerpoint/2010/main" val="6573498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D317B0F-92BB-4F30-B566-CC794AB1EF36}"/>
              </a:ext>
            </a:extLst>
          </p:cNvPr>
          <p:cNvSpPr>
            <a:spLocks noGrp="1"/>
          </p:cNvSpPr>
          <p:nvPr>
            <p:ph type="title"/>
          </p:nvPr>
        </p:nvSpPr>
        <p:spPr/>
        <p:txBody>
          <a:bodyPr/>
          <a:lstStyle/>
          <a:p>
            <a:r>
              <a:rPr lang="en-US" dirty="0"/>
              <a:t>Vim Command Line Options</a:t>
            </a:r>
          </a:p>
        </p:txBody>
      </p:sp>
      <p:sp>
        <p:nvSpPr>
          <p:cNvPr id="3" name="Sisällön paikkamerkki 2">
            <a:extLst>
              <a:ext uri="{FF2B5EF4-FFF2-40B4-BE49-F238E27FC236}">
                <a16:creationId xmlns:a16="http://schemas.microsoft.com/office/drawing/2014/main" id="{EBCD773B-B2CD-4DCC-BE7F-4D7C9B05C6CF}"/>
              </a:ext>
            </a:extLst>
          </p:cNvPr>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vi file			open file</a:t>
            </a:r>
          </a:p>
          <a:p>
            <a:r>
              <a:rPr lang="en-US" dirty="0">
                <a:latin typeface="Courier New" panose="02070309020205020404" pitchFamily="49" charset="0"/>
                <a:cs typeface="Courier New" panose="02070309020205020404" pitchFamily="49" charset="0"/>
              </a:rPr>
              <a:t>view file		open in read only mode</a:t>
            </a:r>
          </a:p>
          <a:p>
            <a:r>
              <a:rPr lang="en-US" dirty="0">
                <a:latin typeface="Courier New" panose="02070309020205020404" pitchFamily="49" charset="0"/>
                <a:cs typeface="Courier New" panose="02070309020205020404" pitchFamily="49" charset="0"/>
              </a:rPr>
              <a:t>vi -R file		open in read only mode</a:t>
            </a:r>
          </a:p>
          <a:p>
            <a:r>
              <a:rPr lang="en-US" dirty="0">
                <a:latin typeface="Courier New" panose="02070309020205020404" pitchFamily="49" charset="0"/>
                <a:cs typeface="Courier New" panose="02070309020205020404" pitchFamily="49" charset="0"/>
              </a:rPr>
              <a:t>vi -r file		recover file and recent edits from crash</a:t>
            </a:r>
          </a:p>
          <a:p>
            <a:r>
              <a:rPr lang="en-US" dirty="0">
                <a:latin typeface="Courier New" panose="02070309020205020404" pitchFamily="49" charset="0"/>
                <a:cs typeface="Courier New" panose="02070309020205020404" pitchFamily="49" charset="0"/>
              </a:rPr>
              <a:t>vi + file		open file at last line</a:t>
            </a:r>
          </a:p>
          <a:p>
            <a:r>
              <a:rPr lang="en-US" dirty="0">
                <a:latin typeface="Courier New" panose="02070309020205020404" pitchFamily="49" charset="0"/>
                <a:cs typeface="Courier New" panose="02070309020205020404" pitchFamily="49" charset="0"/>
              </a:rPr>
              <a:t>vi +n file		open file at line number n</a:t>
            </a:r>
          </a:p>
          <a:p>
            <a:r>
              <a:rPr lang="en-US" dirty="0">
                <a:latin typeface="Courier New" panose="02070309020205020404" pitchFamily="49" charset="0"/>
                <a:cs typeface="Courier New" panose="02070309020205020404" pitchFamily="49" charset="0"/>
              </a:rPr>
              <a:t>vi -e file		invoke ex on file</a:t>
            </a:r>
          </a:p>
          <a:p>
            <a:r>
              <a:rPr lang="en-US" dirty="0">
                <a:latin typeface="Courier New" panose="02070309020205020404" pitchFamily="49" charset="0"/>
                <a:cs typeface="Courier New" panose="02070309020205020404" pitchFamily="49" charset="0"/>
              </a:rPr>
              <a:t>ex file			invoke ex on file</a:t>
            </a:r>
          </a:p>
          <a:p>
            <a:r>
              <a:rPr lang="pt-BR" dirty="0">
                <a:latin typeface="Courier New" panose="02070309020205020404" pitchFamily="49" charset="0"/>
                <a:cs typeface="Courier New" panose="02070309020205020404" pitchFamily="49" charset="0"/>
              </a:rPr>
              <a:t>echo "%s/old/new/g | w" | ex file.txt</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88772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2C479E3-339A-454A-A455-83C2D0EA2246}"/>
              </a:ext>
            </a:extLst>
          </p:cNvPr>
          <p:cNvSpPr>
            <a:spLocks noGrp="1"/>
          </p:cNvSpPr>
          <p:nvPr>
            <p:ph type="title"/>
          </p:nvPr>
        </p:nvSpPr>
        <p:spPr/>
        <p:txBody>
          <a:bodyPr/>
          <a:lstStyle/>
          <a:p>
            <a:r>
              <a:rPr lang="en-US" dirty="0"/>
              <a:t>Normal and Insert mode</a:t>
            </a:r>
          </a:p>
        </p:txBody>
      </p:sp>
      <p:graphicFrame>
        <p:nvGraphicFramePr>
          <p:cNvPr id="4" name="Taulukko 4">
            <a:extLst>
              <a:ext uri="{FF2B5EF4-FFF2-40B4-BE49-F238E27FC236}">
                <a16:creationId xmlns:a16="http://schemas.microsoft.com/office/drawing/2014/main" id="{6A5BF2B1-09C7-4EB6-B366-6392F03A3297}"/>
              </a:ext>
            </a:extLst>
          </p:cNvPr>
          <p:cNvGraphicFramePr>
            <a:graphicFrameLocks noGrp="1"/>
          </p:cNvGraphicFramePr>
          <p:nvPr>
            <p:ph idx="1"/>
            <p:extLst>
              <p:ext uri="{D42A27DB-BD31-4B8C-83A1-F6EECF244321}">
                <p14:modId xmlns:p14="http://schemas.microsoft.com/office/powerpoint/2010/main" val="3069633121"/>
              </p:ext>
            </p:extLst>
          </p:nvPr>
        </p:nvGraphicFramePr>
        <p:xfrm>
          <a:off x="838200" y="1520825"/>
          <a:ext cx="10515600" cy="5097915"/>
        </p:xfrm>
        <a:graphic>
          <a:graphicData uri="http://schemas.openxmlformats.org/drawingml/2006/table">
            <a:tbl>
              <a:tblPr firstRow="1" bandRow="1">
                <a:tableStyleId>{5C22544A-7EE6-4342-B048-85BDC9FD1C3A}</a:tableStyleId>
              </a:tblPr>
              <a:tblGrid>
                <a:gridCol w="1816947">
                  <a:extLst>
                    <a:ext uri="{9D8B030D-6E8A-4147-A177-3AD203B41FA5}">
                      <a16:colId xmlns:a16="http://schemas.microsoft.com/office/drawing/2014/main" val="3041602381"/>
                    </a:ext>
                  </a:extLst>
                </a:gridCol>
                <a:gridCol w="8698653">
                  <a:extLst>
                    <a:ext uri="{9D8B030D-6E8A-4147-A177-3AD203B41FA5}">
                      <a16:colId xmlns:a16="http://schemas.microsoft.com/office/drawing/2014/main" val="2172084048"/>
                    </a:ext>
                  </a:extLst>
                </a:gridCol>
              </a:tblGrid>
              <a:tr h="339861">
                <a:tc>
                  <a:txBody>
                    <a:bodyPr/>
                    <a:lstStyle/>
                    <a:p>
                      <a:r>
                        <a:rPr lang="en-US" sz="1600" dirty="0"/>
                        <a:t>Key</a:t>
                      </a:r>
                    </a:p>
                  </a:txBody>
                  <a:tcPr/>
                </a:tc>
                <a:tc>
                  <a:txBody>
                    <a:bodyPr/>
                    <a:lstStyle/>
                    <a:p>
                      <a:r>
                        <a:rPr lang="en-US" sz="1600" dirty="0"/>
                        <a:t>Explanation</a:t>
                      </a:r>
                    </a:p>
                  </a:txBody>
                  <a:tcPr/>
                </a:tc>
                <a:extLst>
                  <a:ext uri="{0D108BD9-81ED-4DB2-BD59-A6C34878D82A}">
                    <a16:rowId xmlns:a16="http://schemas.microsoft.com/office/drawing/2014/main" val="326699531"/>
                  </a:ext>
                </a:extLst>
              </a:tr>
              <a:tr h="339861">
                <a:tc>
                  <a:txBody>
                    <a:bodyPr/>
                    <a:lstStyle/>
                    <a:p>
                      <a:r>
                        <a:rPr lang="en-US" sz="1600" dirty="0"/>
                        <a:t>ESC	</a:t>
                      </a:r>
                    </a:p>
                  </a:txBody>
                  <a:tcPr/>
                </a:tc>
                <a:tc>
                  <a:txBody>
                    <a:bodyPr/>
                    <a:lstStyle/>
                    <a:p>
                      <a:r>
                        <a:rPr lang="en-US" sz="1600" dirty="0"/>
                        <a:t>Gets out of current mode to command/normal mode</a:t>
                      </a:r>
                    </a:p>
                  </a:txBody>
                  <a:tcPr/>
                </a:tc>
                <a:extLst>
                  <a:ext uri="{0D108BD9-81ED-4DB2-BD59-A6C34878D82A}">
                    <a16:rowId xmlns:a16="http://schemas.microsoft.com/office/drawing/2014/main" val="1807427379"/>
                  </a:ext>
                </a:extLst>
              </a:tr>
              <a:tr h="339861">
                <a:tc>
                  <a:txBody>
                    <a:bodyPr/>
                    <a:lstStyle/>
                    <a:p>
                      <a:r>
                        <a:rPr lang="en-US" sz="1600" dirty="0"/>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Insert text before cursor, enter INSERT mode</a:t>
                      </a:r>
                    </a:p>
                  </a:txBody>
                  <a:tcPr/>
                </a:tc>
                <a:extLst>
                  <a:ext uri="{0D108BD9-81ED-4DB2-BD59-A6C34878D82A}">
                    <a16:rowId xmlns:a16="http://schemas.microsoft.com/office/drawing/2014/main" val="1661430657"/>
                  </a:ext>
                </a:extLst>
              </a:tr>
              <a:tr h="339861">
                <a:tc>
                  <a:txBody>
                    <a:bodyPr/>
                    <a:lstStyle/>
                    <a:p>
                      <a:r>
                        <a:rPr lang="en-US" sz="1600" dirty="0"/>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Insert text to start of current line, enter INSERT mode</a:t>
                      </a:r>
                    </a:p>
                  </a:txBody>
                  <a:tcPr/>
                </a:tc>
                <a:extLst>
                  <a:ext uri="{0D108BD9-81ED-4DB2-BD59-A6C34878D82A}">
                    <a16:rowId xmlns:a16="http://schemas.microsoft.com/office/drawing/2014/main" val="525589628"/>
                  </a:ext>
                </a:extLst>
              </a:tr>
              <a:tr h="339861">
                <a:tc>
                  <a:txBody>
                    <a:bodyPr/>
                    <a:lstStyle/>
                    <a:p>
                      <a:r>
                        <a:rPr lang="en-US" sz="1600" dirty="0"/>
                        <a: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Append text after cursor, enter INSERT mode</a:t>
                      </a:r>
                    </a:p>
                  </a:txBody>
                  <a:tcPr/>
                </a:tc>
                <a:extLst>
                  <a:ext uri="{0D108BD9-81ED-4DB2-BD59-A6C34878D82A}">
                    <a16:rowId xmlns:a16="http://schemas.microsoft.com/office/drawing/2014/main" val="1472139733"/>
                  </a:ext>
                </a:extLst>
              </a:tr>
              <a:tr h="339861">
                <a:tc>
                  <a:txBody>
                    <a:bodyPr/>
                    <a:lstStyle/>
                    <a:p>
                      <a:r>
                        <a:rPr lang="en-US" sz="1600" dirty="0"/>
                        <a: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Append text at the end of line, enter INSERT mode</a:t>
                      </a:r>
                    </a:p>
                  </a:txBody>
                  <a:tcPr/>
                </a:tc>
                <a:extLst>
                  <a:ext uri="{0D108BD9-81ED-4DB2-BD59-A6C34878D82A}">
                    <a16:rowId xmlns:a16="http://schemas.microsoft.com/office/drawing/2014/main" val="2761674534"/>
                  </a:ext>
                </a:extLst>
              </a:tr>
              <a:tr h="339861">
                <a:tc>
                  <a:txBody>
                    <a:bodyPr/>
                    <a:lstStyle/>
                    <a:p>
                      <a:r>
                        <a:rPr lang="en-US" sz="1600" dirty="0"/>
                        <a:t>o</a:t>
                      </a:r>
                    </a:p>
                  </a:txBody>
                  <a:tcPr/>
                </a:tc>
                <a:tc>
                  <a:txBody>
                    <a:bodyPr/>
                    <a:lstStyle/>
                    <a:p>
                      <a:r>
                        <a:rPr lang="en-US" sz="1600" dirty="0"/>
                        <a:t>Begin new line below cursor, enter INSERT mode</a:t>
                      </a:r>
                    </a:p>
                  </a:txBody>
                  <a:tcPr/>
                </a:tc>
                <a:extLst>
                  <a:ext uri="{0D108BD9-81ED-4DB2-BD59-A6C34878D82A}">
                    <a16:rowId xmlns:a16="http://schemas.microsoft.com/office/drawing/2014/main" val="3246411679"/>
                  </a:ext>
                </a:extLst>
              </a:tr>
              <a:tr h="339861">
                <a:tc>
                  <a:txBody>
                    <a:bodyPr/>
                    <a:lstStyle/>
                    <a:p>
                      <a:r>
                        <a:rPr lang="en-US" sz="1600" dirty="0"/>
                        <a:t>O</a:t>
                      </a:r>
                    </a:p>
                  </a:txBody>
                  <a:tcPr/>
                </a:tc>
                <a:tc>
                  <a:txBody>
                    <a:bodyPr/>
                    <a:lstStyle/>
                    <a:p>
                      <a:r>
                        <a:rPr lang="en-US" sz="1600" dirty="0"/>
                        <a:t>Begin new line above cursor, enter INSERT mode</a:t>
                      </a:r>
                    </a:p>
                  </a:txBody>
                  <a:tcPr/>
                </a:tc>
                <a:extLst>
                  <a:ext uri="{0D108BD9-81ED-4DB2-BD59-A6C34878D82A}">
                    <a16:rowId xmlns:a16="http://schemas.microsoft.com/office/drawing/2014/main" val="2683081756"/>
                  </a:ext>
                </a:extLst>
              </a:tr>
              <a:tr h="339861">
                <a:tc>
                  <a:txBody>
                    <a:bodyPr/>
                    <a:lstStyle/>
                    <a:p>
                      <a:r>
                        <a:rPr lang="en-US" sz="1600" dirty="0"/>
                        <a:t>dd</a:t>
                      </a:r>
                    </a:p>
                  </a:txBody>
                  <a:tcPr/>
                </a:tc>
                <a:tc>
                  <a:txBody>
                    <a:bodyPr/>
                    <a:lstStyle/>
                    <a:p>
                      <a:r>
                        <a:rPr lang="en-US" sz="1600" dirty="0"/>
                        <a:t>Delete current line</a:t>
                      </a:r>
                    </a:p>
                  </a:txBody>
                  <a:tcPr/>
                </a:tc>
                <a:extLst>
                  <a:ext uri="{0D108BD9-81ED-4DB2-BD59-A6C34878D82A}">
                    <a16:rowId xmlns:a16="http://schemas.microsoft.com/office/drawing/2014/main" val="3454300264"/>
                  </a:ext>
                </a:extLst>
              </a:tr>
              <a:tr h="339861">
                <a:tc>
                  <a:txBody>
                    <a:bodyPr/>
                    <a:lstStyle/>
                    <a:p>
                      <a:r>
                        <a:rPr lang="en-US" sz="1600" dirty="0"/>
                        <a:t>3dd</a:t>
                      </a:r>
                    </a:p>
                  </a:txBody>
                  <a:tcPr/>
                </a:tc>
                <a:tc>
                  <a:txBody>
                    <a:bodyPr/>
                    <a:lstStyle/>
                    <a:p>
                      <a:r>
                        <a:rPr lang="en-US" sz="1600" dirty="0"/>
                        <a:t>Delete 3 lines</a:t>
                      </a:r>
                    </a:p>
                  </a:txBody>
                  <a:tcPr/>
                </a:tc>
                <a:extLst>
                  <a:ext uri="{0D108BD9-81ED-4DB2-BD59-A6C34878D82A}">
                    <a16:rowId xmlns:a16="http://schemas.microsoft.com/office/drawing/2014/main" val="772463035"/>
                  </a:ext>
                </a:extLst>
              </a:tr>
              <a:tr h="339861">
                <a:tc>
                  <a:txBody>
                    <a:bodyPr/>
                    <a:lstStyle/>
                    <a:p>
                      <a:r>
                        <a:rPr lang="en-US" sz="1600" dirty="0"/>
                        <a:t>x</a:t>
                      </a:r>
                    </a:p>
                  </a:txBody>
                  <a:tcPr/>
                </a:tc>
                <a:tc>
                  <a:txBody>
                    <a:bodyPr/>
                    <a:lstStyle/>
                    <a:p>
                      <a:r>
                        <a:rPr lang="en-US" sz="1600" dirty="0"/>
                        <a:t>Delete character under cursor</a:t>
                      </a:r>
                    </a:p>
                  </a:txBody>
                  <a:tcPr/>
                </a:tc>
                <a:extLst>
                  <a:ext uri="{0D108BD9-81ED-4DB2-BD59-A6C34878D82A}">
                    <a16:rowId xmlns:a16="http://schemas.microsoft.com/office/drawing/2014/main" val="3243687216"/>
                  </a:ext>
                </a:extLst>
              </a:tr>
              <a:tr h="339861">
                <a:tc>
                  <a:txBody>
                    <a:bodyPr/>
                    <a:lstStyle/>
                    <a:p>
                      <a:r>
                        <a:rPr lang="en-US" sz="1600" dirty="0"/>
                        <a:t>r</a:t>
                      </a:r>
                    </a:p>
                  </a:txBody>
                  <a:tcPr/>
                </a:tc>
                <a:tc>
                  <a:txBody>
                    <a:bodyPr/>
                    <a:lstStyle/>
                    <a:p>
                      <a:r>
                        <a:rPr lang="en-US" sz="1600" dirty="0"/>
                        <a:t>Replace character under cursor</a:t>
                      </a:r>
                    </a:p>
                  </a:txBody>
                  <a:tcPr/>
                </a:tc>
                <a:extLst>
                  <a:ext uri="{0D108BD9-81ED-4DB2-BD59-A6C34878D82A}">
                    <a16:rowId xmlns:a16="http://schemas.microsoft.com/office/drawing/2014/main" val="4168662590"/>
                  </a:ext>
                </a:extLst>
              </a:tr>
              <a:tr h="339861">
                <a:tc>
                  <a:txBody>
                    <a:bodyPr/>
                    <a:lstStyle/>
                    <a:p>
                      <a:r>
                        <a:rPr lang="en-US" sz="1600" dirty="0"/>
                        <a:t>R</a:t>
                      </a:r>
                    </a:p>
                  </a:txBody>
                  <a:tcPr/>
                </a:tc>
                <a:tc>
                  <a:txBody>
                    <a:bodyPr/>
                    <a:lstStyle/>
                    <a:p>
                      <a:r>
                        <a:rPr lang="en-US" sz="1600" dirty="0"/>
                        <a:t>Enter REPLACE mode</a:t>
                      </a:r>
                    </a:p>
                  </a:txBody>
                  <a:tcPr/>
                </a:tc>
                <a:extLst>
                  <a:ext uri="{0D108BD9-81ED-4DB2-BD59-A6C34878D82A}">
                    <a16:rowId xmlns:a16="http://schemas.microsoft.com/office/drawing/2014/main" val="3322937460"/>
                  </a:ext>
                </a:extLst>
              </a:tr>
              <a:tr h="339861">
                <a:tc>
                  <a:txBody>
                    <a:bodyPr/>
                    <a:lstStyle/>
                    <a:p>
                      <a:r>
                        <a:rPr lang="en-US" sz="1600" dirty="0"/>
                        <a:t>u</a:t>
                      </a:r>
                    </a:p>
                  </a:txBody>
                  <a:tcPr/>
                </a:tc>
                <a:tc>
                  <a:txBody>
                    <a:bodyPr/>
                    <a:lstStyle/>
                    <a:p>
                      <a:r>
                        <a:rPr lang="en-US" sz="1600" dirty="0"/>
                        <a:t>Undo</a:t>
                      </a:r>
                    </a:p>
                  </a:txBody>
                  <a:tcPr/>
                </a:tc>
                <a:extLst>
                  <a:ext uri="{0D108BD9-81ED-4DB2-BD59-A6C34878D82A}">
                    <a16:rowId xmlns:a16="http://schemas.microsoft.com/office/drawing/2014/main" val="3853739682"/>
                  </a:ext>
                </a:extLst>
              </a:tr>
              <a:tr h="339861">
                <a:tc>
                  <a:txBody>
                    <a:bodyPr/>
                    <a:lstStyle/>
                    <a:p>
                      <a:r>
                        <a:rPr lang="en-US" sz="1600" dirty="0"/>
                        <a:t>U</a:t>
                      </a:r>
                    </a:p>
                  </a:txBody>
                  <a:tcPr/>
                </a:tc>
                <a:tc>
                  <a:txBody>
                    <a:bodyPr/>
                    <a:lstStyle/>
                    <a:p>
                      <a:r>
                        <a:rPr lang="en-US" sz="1600" dirty="0"/>
                        <a:t>Line Undo</a:t>
                      </a:r>
                    </a:p>
                  </a:txBody>
                  <a:tcPr/>
                </a:tc>
                <a:extLst>
                  <a:ext uri="{0D108BD9-81ED-4DB2-BD59-A6C34878D82A}">
                    <a16:rowId xmlns:a16="http://schemas.microsoft.com/office/drawing/2014/main" val="3523017218"/>
                  </a:ext>
                </a:extLst>
              </a:tr>
            </a:tbl>
          </a:graphicData>
        </a:graphic>
      </p:graphicFrame>
    </p:spTree>
    <p:extLst>
      <p:ext uri="{BB962C8B-B14F-4D97-AF65-F5344CB8AC3E}">
        <p14:creationId xmlns:p14="http://schemas.microsoft.com/office/powerpoint/2010/main" val="37779563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27E6422-E2AD-468B-9A09-53216580829F}"/>
              </a:ext>
            </a:extLst>
          </p:cNvPr>
          <p:cNvSpPr>
            <a:spLocks noGrp="1"/>
          </p:cNvSpPr>
          <p:nvPr>
            <p:ph type="title"/>
          </p:nvPr>
        </p:nvSpPr>
        <p:spPr/>
        <p:txBody>
          <a:bodyPr/>
          <a:lstStyle/>
          <a:p>
            <a:r>
              <a:rPr lang="en-US" dirty="0"/>
              <a:t>Vim Keyboard Navigation</a:t>
            </a:r>
          </a:p>
        </p:txBody>
      </p:sp>
      <p:graphicFrame>
        <p:nvGraphicFramePr>
          <p:cNvPr id="4" name="Taulukko 4">
            <a:extLst>
              <a:ext uri="{FF2B5EF4-FFF2-40B4-BE49-F238E27FC236}">
                <a16:creationId xmlns:a16="http://schemas.microsoft.com/office/drawing/2014/main" id="{F1981654-580B-483D-BD0C-A64005F2CD48}"/>
              </a:ext>
            </a:extLst>
          </p:cNvPr>
          <p:cNvGraphicFramePr>
            <a:graphicFrameLocks noGrp="1"/>
          </p:cNvGraphicFramePr>
          <p:nvPr>
            <p:ph idx="1"/>
            <p:extLst>
              <p:ext uri="{D42A27DB-BD31-4B8C-83A1-F6EECF244321}">
                <p14:modId xmlns:p14="http://schemas.microsoft.com/office/powerpoint/2010/main" val="1307488878"/>
              </p:ext>
            </p:extLst>
          </p:nvPr>
        </p:nvGraphicFramePr>
        <p:xfrm>
          <a:off x="838200" y="1520825"/>
          <a:ext cx="10515600" cy="5029200"/>
        </p:xfrm>
        <a:graphic>
          <a:graphicData uri="http://schemas.openxmlformats.org/drawingml/2006/table">
            <a:tbl>
              <a:tblPr firstRow="1" bandRow="1">
                <a:tableStyleId>{5C22544A-7EE6-4342-B048-85BDC9FD1C3A}</a:tableStyleId>
              </a:tblPr>
              <a:tblGrid>
                <a:gridCol w="1715347">
                  <a:extLst>
                    <a:ext uri="{9D8B030D-6E8A-4147-A177-3AD203B41FA5}">
                      <a16:colId xmlns:a16="http://schemas.microsoft.com/office/drawing/2014/main" val="2941404896"/>
                    </a:ext>
                  </a:extLst>
                </a:gridCol>
                <a:gridCol w="8800253">
                  <a:extLst>
                    <a:ext uri="{9D8B030D-6E8A-4147-A177-3AD203B41FA5}">
                      <a16:colId xmlns:a16="http://schemas.microsoft.com/office/drawing/2014/main" val="496372383"/>
                    </a:ext>
                  </a:extLst>
                </a:gridCol>
              </a:tblGrid>
              <a:tr h="269790">
                <a:tc>
                  <a:txBody>
                    <a:bodyPr/>
                    <a:lstStyle/>
                    <a:p>
                      <a:r>
                        <a:rPr lang="en-US" sz="1600" dirty="0"/>
                        <a:t>Key</a:t>
                      </a:r>
                    </a:p>
                  </a:txBody>
                  <a:tcPr/>
                </a:tc>
                <a:tc>
                  <a:txBody>
                    <a:bodyPr/>
                    <a:lstStyle/>
                    <a:p>
                      <a:r>
                        <a:rPr lang="en-US" sz="1600" dirty="0"/>
                        <a:t>Description</a:t>
                      </a:r>
                    </a:p>
                  </a:txBody>
                  <a:tcPr/>
                </a:tc>
                <a:extLst>
                  <a:ext uri="{0D108BD9-81ED-4DB2-BD59-A6C34878D82A}">
                    <a16:rowId xmlns:a16="http://schemas.microsoft.com/office/drawing/2014/main" val="3259002552"/>
                  </a:ext>
                </a:extLst>
              </a:tr>
              <a:tr h="269790">
                <a:tc>
                  <a:txBody>
                    <a:bodyPr/>
                    <a:lstStyle/>
                    <a:p>
                      <a:r>
                        <a:rPr lang="en-US" sz="1600" dirty="0"/>
                        <a:t>h</a:t>
                      </a:r>
                    </a:p>
                  </a:txBody>
                  <a:tcPr/>
                </a:tc>
                <a:tc>
                  <a:txBody>
                    <a:bodyPr/>
                    <a:lstStyle/>
                    <a:p>
                      <a:r>
                        <a:rPr lang="en-US" sz="1600" dirty="0"/>
                        <a:t>Left (arrow left will also work)</a:t>
                      </a:r>
                    </a:p>
                  </a:txBody>
                  <a:tcPr/>
                </a:tc>
                <a:extLst>
                  <a:ext uri="{0D108BD9-81ED-4DB2-BD59-A6C34878D82A}">
                    <a16:rowId xmlns:a16="http://schemas.microsoft.com/office/drawing/2014/main" val="879242361"/>
                  </a:ext>
                </a:extLst>
              </a:tr>
              <a:tr h="269790">
                <a:tc>
                  <a:txBody>
                    <a:bodyPr/>
                    <a:lstStyle/>
                    <a:p>
                      <a:r>
                        <a:rPr lang="en-US" sz="1600" dirty="0"/>
                        <a:t>l</a:t>
                      </a:r>
                    </a:p>
                  </a:txBody>
                  <a:tcPr/>
                </a:tc>
                <a:tc>
                  <a:txBody>
                    <a:bodyPr/>
                    <a:lstStyle/>
                    <a:p>
                      <a:r>
                        <a:rPr lang="en-US" sz="1600" dirty="0"/>
                        <a:t>Right (arrow right will also work)</a:t>
                      </a:r>
                    </a:p>
                  </a:txBody>
                  <a:tcPr/>
                </a:tc>
                <a:extLst>
                  <a:ext uri="{0D108BD9-81ED-4DB2-BD59-A6C34878D82A}">
                    <a16:rowId xmlns:a16="http://schemas.microsoft.com/office/drawing/2014/main" val="3975758760"/>
                  </a:ext>
                </a:extLst>
              </a:tr>
              <a:tr h="269790">
                <a:tc>
                  <a:txBody>
                    <a:bodyPr/>
                    <a:lstStyle/>
                    <a:p>
                      <a:r>
                        <a:rPr lang="en-US" sz="1600" dirty="0"/>
                        <a:t>j</a:t>
                      </a:r>
                    </a:p>
                  </a:txBody>
                  <a:tcPr/>
                </a:tc>
                <a:tc>
                  <a:txBody>
                    <a:bodyPr/>
                    <a:lstStyle/>
                    <a:p>
                      <a:r>
                        <a:rPr lang="en-US" sz="1600" dirty="0"/>
                        <a:t>Down (arrow down will also work)</a:t>
                      </a:r>
                    </a:p>
                  </a:txBody>
                  <a:tcPr/>
                </a:tc>
                <a:extLst>
                  <a:ext uri="{0D108BD9-81ED-4DB2-BD59-A6C34878D82A}">
                    <a16:rowId xmlns:a16="http://schemas.microsoft.com/office/drawing/2014/main" val="2422788230"/>
                  </a:ext>
                </a:extLst>
              </a:tr>
              <a:tr h="269790">
                <a:tc>
                  <a:txBody>
                    <a:bodyPr/>
                    <a:lstStyle/>
                    <a:p>
                      <a:r>
                        <a:rPr lang="en-US" sz="1600" dirty="0"/>
                        <a:t>k</a:t>
                      </a:r>
                    </a:p>
                  </a:txBody>
                  <a:tcPr/>
                </a:tc>
                <a:tc>
                  <a:txBody>
                    <a:bodyPr/>
                    <a:lstStyle/>
                    <a:p>
                      <a:r>
                        <a:rPr lang="en-US" sz="1600" dirty="0"/>
                        <a:t>Up (arrow up will also work)</a:t>
                      </a:r>
                    </a:p>
                  </a:txBody>
                  <a:tcPr/>
                </a:tc>
                <a:extLst>
                  <a:ext uri="{0D108BD9-81ED-4DB2-BD59-A6C34878D82A}">
                    <a16:rowId xmlns:a16="http://schemas.microsoft.com/office/drawing/2014/main" val="1851754613"/>
                  </a:ext>
                </a:extLst>
              </a:tr>
              <a:tr h="269790">
                <a:tc>
                  <a:txBody>
                    <a:bodyPr/>
                    <a:lstStyle/>
                    <a:p>
                      <a:r>
                        <a:rPr lang="en-US" sz="1600" dirty="0"/>
                        <a:t>gg</a:t>
                      </a:r>
                    </a:p>
                  </a:txBody>
                  <a:tcPr/>
                </a:tc>
                <a:tc>
                  <a:txBody>
                    <a:bodyPr/>
                    <a:lstStyle/>
                    <a:p>
                      <a:r>
                        <a:rPr lang="en-US" sz="1600" dirty="0"/>
                        <a:t>Go to first non-empty character in the first line</a:t>
                      </a:r>
                    </a:p>
                  </a:txBody>
                  <a:tcPr/>
                </a:tc>
                <a:extLst>
                  <a:ext uri="{0D108BD9-81ED-4DB2-BD59-A6C34878D82A}">
                    <a16:rowId xmlns:a16="http://schemas.microsoft.com/office/drawing/2014/main" val="1611386639"/>
                  </a:ext>
                </a:extLst>
              </a:tr>
              <a:tr h="269790">
                <a:tc>
                  <a:txBody>
                    <a:bodyPr/>
                    <a:lstStyle/>
                    <a:p>
                      <a:r>
                        <a:rPr lang="en-US" sz="1600" dirty="0"/>
                        <a:t>GG</a:t>
                      </a:r>
                    </a:p>
                  </a:txBody>
                  <a:tcPr/>
                </a:tc>
                <a:tc>
                  <a:txBody>
                    <a:bodyPr/>
                    <a:lstStyle/>
                    <a:p>
                      <a:r>
                        <a:rPr lang="en-US" sz="1600" dirty="0"/>
                        <a:t>Go the first non-empty character in the last line</a:t>
                      </a:r>
                    </a:p>
                  </a:txBody>
                  <a:tcPr/>
                </a:tc>
                <a:extLst>
                  <a:ext uri="{0D108BD9-81ED-4DB2-BD59-A6C34878D82A}">
                    <a16:rowId xmlns:a16="http://schemas.microsoft.com/office/drawing/2014/main" val="3167190277"/>
                  </a:ext>
                </a:extLst>
              </a:tr>
              <a:tr h="269790">
                <a:tc>
                  <a:txBody>
                    <a:bodyPr/>
                    <a:lstStyle/>
                    <a:p>
                      <a:r>
                        <a:rPr lang="en-US" sz="1600" dirty="0"/>
                        <a:t>HOME</a:t>
                      </a:r>
                    </a:p>
                  </a:txBody>
                  <a:tcPr/>
                </a:tc>
                <a:tc>
                  <a:txBody>
                    <a:bodyPr/>
                    <a:lstStyle/>
                    <a:p>
                      <a:r>
                        <a:rPr lang="en-US" sz="1600" dirty="0"/>
                        <a:t>Go to the beginning of current line</a:t>
                      </a:r>
                    </a:p>
                  </a:txBody>
                  <a:tcPr/>
                </a:tc>
                <a:extLst>
                  <a:ext uri="{0D108BD9-81ED-4DB2-BD59-A6C34878D82A}">
                    <a16:rowId xmlns:a16="http://schemas.microsoft.com/office/drawing/2014/main" val="2881076049"/>
                  </a:ext>
                </a:extLst>
              </a:tr>
              <a:tr h="269790">
                <a:tc>
                  <a:txBody>
                    <a:bodyPr/>
                    <a:lstStyle/>
                    <a:p>
                      <a:r>
                        <a:rPr lang="en-US" sz="1600" dirty="0"/>
                        <a:t>END</a:t>
                      </a:r>
                    </a:p>
                  </a:txBody>
                  <a:tcPr/>
                </a:tc>
                <a:tc>
                  <a:txBody>
                    <a:bodyPr/>
                    <a:lstStyle/>
                    <a:p>
                      <a:r>
                        <a:rPr lang="en-US" sz="1600" dirty="0"/>
                        <a:t>Go to the end of current line</a:t>
                      </a:r>
                    </a:p>
                  </a:txBody>
                  <a:tcPr/>
                </a:tc>
                <a:extLst>
                  <a:ext uri="{0D108BD9-81ED-4DB2-BD59-A6C34878D82A}">
                    <a16:rowId xmlns:a16="http://schemas.microsoft.com/office/drawing/2014/main" val="3478927331"/>
                  </a:ext>
                </a:extLst>
              </a:tr>
              <a:tr h="269790">
                <a:tc>
                  <a:txBody>
                    <a:bodyPr/>
                    <a:lstStyle/>
                    <a:p>
                      <a:r>
                        <a:rPr lang="en-US" sz="1600" dirty="0" err="1"/>
                        <a:t>Control+HOME</a:t>
                      </a:r>
                      <a:endParaRPr lang="en-US" sz="1600" dirty="0"/>
                    </a:p>
                  </a:txBody>
                  <a:tcPr/>
                </a:tc>
                <a:tc>
                  <a:txBody>
                    <a:bodyPr/>
                    <a:lstStyle/>
                    <a:p>
                      <a:r>
                        <a:rPr lang="en-US" sz="1600" dirty="0"/>
                        <a:t>Go to the beginning of file</a:t>
                      </a:r>
                    </a:p>
                  </a:txBody>
                  <a:tcPr/>
                </a:tc>
                <a:extLst>
                  <a:ext uri="{0D108BD9-81ED-4DB2-BD59-A6C34878D82A}">
                    <a16:rowId xmlns:a16="http://schemas.microsoft.com/office/drawing/2014/main" val="1597812642"/>
                  </a:ext>
                </a:extLst>
              </a:tr>
              <a:tr h="269790">
                <a:tc>
                  <a:txBody>
                    <a:bodyPr/>
                    <a:lstStyle/>
                    <a:p>
                      <a:r>
                        <a:rPr lang="en-US" sz="1600" dirty="0" err="1"/>
                        <a:t>Control+END</a:t>
                      </a:r>
                      <a:endParaRPr lang="en-US" sz="1600" dirty="0"/>
                    </a:p>
                  </a:txBody>
                  <a:tcPr/>
                </a:tc>
                <a:tc>
                  <a:txBody>
                    <a:bodyPr/>
                    <a:lstStyle/>
                    <a:p>
                      <a:r>
                        <a:rPr lang="en-US" sz="1600" dirty="0"/>
                        <a:t>Go the end of file</a:t>
                      </a:r>
                    </a:p>
                  </a:txBody>
                  <a:tcPr/>
                </a:tc>
                <a:extLst>
                  <a:ext uri="{0D108BD9-81ED-4DB2-BD59-A6C34878D82A}">
                    <a16:rowId xmlns:a16="http://schemas.microsoft.com/office/drawing/2014/main" val="3639145695"/>
                  </a:ext>
                </a:extLst>
              </a:tr>
              <a:tr h="269790">
                <a:tc>
                  <a:txBody>
                    <a:bodyPr/>
                    <a:lstStyle/>
                    <a:p>
                      <a:r>
                        <a:rPr lang="en-US" sz="1600" dirty="0"/>
                        <a:t>w</a:t>
                      </a:r>
                    </a:p>
                  </a:txBody>
                  <a:tcPr/>
                </a:tc>
                <a:tc>
                  <a:txBody>
                    <a:bodyPr/>
                    <a:lstStyle/>
                    <a:p>
                      <a:r>
                        <a:rPr lang="en-US" sz="1600" dirty="0"/>
                        <a:t>Go forward one word (delimited by white space)</a:t>
                      </a:r>
                    </a:p>
                  </a:txBody>
                  <a:tcPr/>
                </a:tc>
                <a:extLst>
                  <a:ext uri="{0D108BD9-81ED-4DB2-BD59-A6C34878D82A}">
                    <a16:rowId xmlns:a16="http://schemas.microsoft.com/office/drawing/2014/main" val="1389519903"/>
                  </a:ext>
                </a:extLst>
              </a:tr>
              <a:tr h="269790">
                <a:tc>
                  <a:txBody>
                    <a:bodyPr/>
                    <a:lstStyle/>
                    <a:p>
                      <a:r>
                        <a:rPr lang="en-US" sz="1600" dirty="0"/>
                        <a:t>b</a:t>
                      </a:r>
                    </a:p>
                  </a:txBody>
                  <a:tcPr/>
                </a:tc>
                <a:tc>
                  <a:txBody>
                    <a:bodyPr/>
                    <a:lstStyle/>
                    <a:p>
                      <a:r>
                        <a:rPr lang="en-US" sz="1600" dirty="0"/>
                        <a:t>Go backward one word</a:t>
                      </a:r>
                    </a:p>
                  </a:txBody>
                  <a:tcPr/>
                </a:tc>
                <a:extLst>
                  <a:ext uri="{0D108BD9-81ED-4DB2-BD59-A6C34878D82A}">
                    <a16:rowId xmlns:a16="http://schemas.microsoft.com/office/drawing/2014/main" val="2512757116"/>
                  </a:ext>
                </a:extLst>
              </a:tr>
              <a:tr h="269790">
                <a:tc>
                  <a:txBody>
                    <a:bodyPr/>
                    <a:lstStyle/>
                    <a:p>
                      <a:r>
                        <a:rPr lang="en-US" sz="1600" dirty="0"/>
                        <a:t>3w</a:t>
                      </a:r>
                    </a:p>
                  </a:txBody>
                  <a:tcPr/>
                </a:tc>
                <a:tc>
                  <a:txBody>
                    <a:bodyPr/>
                    <a:lstStyle/>
                    <a:p>
                      <a:r>
                        <a:rPr lang="en-US" sz="1600" dirty="0"/>
                        <a:t>Go forward three words</a:t>
                      </a:r>
                    </a:p>
                  </a:txBody>
                  <a:tcPr/>
                </a:tc>
                <a:extLst>
                  <a:ext uri="{0D108BD9-81ED-4DB2-BD59-A6C34878D82A}">
                    <a16:rowId xmlns:a16="http://schemas.microsoft.com/office/drawing/2014/main" val="2784725306"/>
                  </a:ext>
                </a:extLst>
              </a:tr>
              <a:tr h="269790">
                <a:tc>
                  <a:txBody>
                    <a:bodyPr/>
                    <a:lstStyle/>
                    <a:p>
                      <a:r>
                        <a:rPr lang="en-US" sz="1600" dirty="0"/>
                        <a:t>:n</a:t>
                      </a:r>
                    </a:p>
                  </a:txBody>
                  <a:tcPr/>
                </a:tc>
                <a:tc>
                  <a:txBody>
                    <a:bodyPr/>
                    <a:lstStyle/>
                    <a:p>
                      <a:r>
                        <a:rPr lang="en-US" sz="1600" dirty="0"/>
                        <a:t>Go to line number n</a:t>
                      </a:r>
                    </a:p>
                  </a:txBody>
                  <a:tcPr/>
                </a:tc>
                <a:extLst>
                  <a:ext uri="{0D108BD9-81ED-4DB2-BD59-A6C34878D82A}">
                    <a16:rowId xmlns:a16="http://schemas.microsoft.com/office/drawing/2014/main" val="2224123293"/>
                  </a:ext>
                </a:extLst>
              </a:tr>
            </a:tbl>
          </a:graphicData>
        </a:graphic>
      </p:graphicFrame>
    </p:spTree>
    <p:extLst>
      <p:ext uri="{BB962C8B-B14F-4D97-AF65-F5344CB8AC3E}">
        <p14:creationId xmlns:p14="http://schemas.microsoft.com/office/powerpoint/2010/main" val="12789903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14EBE25-5DC1-4BE9-89DB-64CC8D13DABD}"/>
              </a:ext>
            </a:extLst>
          </p:cNvPr>
          <p:cNvSpPr>
            <a:spLocks noGrp="1"/>
          </p:cNvSpPr>
          <p:nvPr>
            <p:ph type="title"/>
          </p:nvPr>
        </p:nvSpPr>
        <p:spPr/>
        <p:txBody>
          <a:bodyPr/>
          <a:lstStyle/>
          <a:p>
            <a:r>
              <a:rPr lang="en-US" dirty="0"/>
              <a:t>Vim Yank (Copy) and Paste and Search</a:t>
            </a:r>
          </a:p>
        </p:txBody>
      </p:sp>
      <p:graphicFrame>
        <p:nvGraphicFramePr>
          <p:cNvPr id="4" name="Taulukko 4">
            <a:extLst>
              <a:ext uri="{FF2B5EF4-FFF2-40B4-BE49-F238E27FC236}">
                <a16:creationId xmlns:a16="http://schemas.microsoft.com/office/drawing/2014/main" id="{B4AE4027-4C7F-45E3-9E59-D42398B3AF41}"/>
              </a:ext>
            </a:extLst>
          </p:cNvPr>
          <p:cNvGraphicFramePr>
            <a:graphicFrameLocks noGrp="1"/>
          </p:cNvGraphicFramePr>
          <p:nvPr>
            <p:ph idx="1"/>
            <p:extLst>
              <p:ext uri="{D42A27DB-BD31-4B8C-83A1-F6EECF244321}">
                <p14:modId xmlns:p14="http://schemas.microsoft.com/office/powerpoint/2010/main" val="3199374215"/>
              </p:ext>
            </p:extLst>
          </p:nvPr>
        </p:nvGraphicFramePr>
        <p:xfrm>
          <a:off x="838200" y="1520825"/>
          <a:ext cx="10515600" cy="4927118"/>
        </p:xfrm>
        <a:graphic>
          <a:graphicData uri="http://schemas.openxmlformats.org/drawingml/2006/table">
            <a:tbl>
              <a:tblPr firstRow="1" bandRow="1">
                <a:tableStyleId>{5C22544A-7EE6-4342-B048-85BDC9FD1C3A}</a:tableStyleId>
              </a:tblPr>
              <a:tblGrid>
                <a:gridCol w="1532467">
                  <a:extLst>
                    <a:ext uri="{9D8B030D-6E8A-4147-A177-3AD203B41FA5}">
                      <a16:colId xmlns:a16="http://schemas.microsoft.com/office/drawing/2014/main" val="3999789491"/>
                    </a:ext>
                  </a:extLst>
                </a:gridCol>
                <a:gridCol w="8983133">
                  <a:extLst>
                    <a:ext uri="{9D8B030D-6E8A-4147-A177-3AD203B41FA5}">
                      <a16:colId xmlns:a16="http://schemas.microsoft.com/office/drawing/2014/main" val="1180417405"/>
                    </a:ext>
                  </a:extLst>
                </a:gridCol>
              </a:tblGrid>
              <a:tr h="351937">
                <a:tc>
                  <a:txBody>
                    <a:bodyPr/>
                    <a:lstStyle/>
                    <a:p>
                      <a:r>
                        <a:rPr lang="en-US" sz="1600" dirty="0"/>
                        <a:t>Key</a:t>
                      </a:r>
                    </a:p>
                  </a:txBody>
                  <a:tcPr/>
                </a:tc>
                <a:tc>
                  <a:txBody>
                    <a:bodyPr/>
                    <a:lstStyle/>
                    <a:p>
                      <a:r>
                        <a:rPr lang="en-US" sz="1600" dirty="0"/>
                        <a:t>Description</a:t>
                      </a:r>
                    </a:p>
                  </a:txBody>
                  <a:tcPr/>
                </a:tc>
                <a:extLst>
                  <a:ext uri="{0D108BD9-81ED-4DB2-BD59-A6C34878D82A}">
                    <a16:rowId xmlns:a16="http://schemas.microsoft.com/office/drawing/2014/main" val="1218331580"/>
                  </a:ext>
                </a:extLst>
              </a:tr>
              <a:tr h="351937">
                <a:tc>
                  <a:txBody>
                    <a:bodyPr/>
                    <a:lstStyle/>
                    <a:p>
                      <a:r>
                        <a:rPr lang="en-US" sz="1600" dirty="0"/>
                        <a:t>v</a:t>
                      </a:r>
                    </a:p>
                  </a:txBody>
                  <a:tcPr/>
                </a:tc>
                <a:tc>
                  <a:txBody>
                    <a:bodyPr/>
                    <a:lstStyle/>
                    <a:p>
                      <a:r>
                        <a:rPr lang="en-US" sz="1600" dirty="0"/>
                        <a:t>Enter VISUAL mode to select text</a:t>
                      </a:r>
                    </a:p>
                  </a:txBody>
                  <a:tcPr/>
                </a:tc>
                <a:extLst>
                  <a:ext uri="{0D108BD9-81ED-4DB2-BD59-A6C34878D82A}">
                    <a16:rowId xmlns:a16="http://schemas.microsoft.com/office/drawing/2014/main" val="985046018"/>
                  </a:ext>
                </a:extLst>
              </a:tr>
              <a:tr h="351937">
                <a:tc>
                  <a:txBody>
                    <a:bodyPr/>
                    <a:lstStyle/>
                    <a:p>
                      <a:r>
                        <a:rPr lang="en-US" sz="1600" dirty="0"/>
                        <a:t>V</a:t>
                      </a:r>
                    </a:p>
                  </a:txBody>
                  <a:tcPr/>
                </a:tc>
                <a:tc>
                  <a:txBody>
                    <a:bodyPr/>
                    <a:lstStyle/>
                    <a:p>
                      <a:r>
                        <a:rPr lang="en-US" sz="1600" dirty="0"/>
                        <a:t>Enter VISUAL mode to select entire lines</a:t>
                      </a:r>
                    </a:p>
                  </a:txBody>
                  <a:tcPr/>
                </a:tc>
                <a:extLst>
                  <a:ext uri="{0D108BD9-81ED-4DB2-BD59-A6C34878D82A}">
                    <a16:rowId xmlns:a16="http://schemas.microsoft.com/office/drawing/2014/main" val="2392951476"/>
                  </a:ext>
                </a:extLst>
              </a:tr>
              <a:tr h="351937">
                <a:tc>
                  <a:txBody>
                    <a:bodyPr/>
                    <a:lstStyle/>
                    <a:p>
                      <a:r>
                        <a:rPr lang="en-US" sz="1600" dirty="0" err="1"/>
                        <a:t>ctrl+v</a:t>
                      </a:r>
                      <a:endParaRPr lang="en-US" sz="1600" dirty="0"/>
                    </a:p>
                  </a:txBody>
                  <a:tcPr/>
                </a:tc>
                <a:tc>
                  <a:txBody>
                    <a:bodyPr/>
                    <a:lstStyle/>
                    <a:p>
                      <a:r>
                        <a:rPr lang="en-US" sz="1600" dirty="0"/>
                        <a:t>Enter VISUAL mode to select text rectangle / box</a:t>
                      </a:r>
                    </a:p>
                  </a:txBody>
                  <a:tcPr/>
                </a:tc>
                <a:extLst>
                  <a:ext uri="{0D108BD9-81ED-4DB2-BD59-A6C34878D82A}">
                    <a16:rowId xmlns:a16="http://schemas.microsoft.com/office/drawing/2014/main" val="1359040533"/>
                  </a:ext>
                </a:extLst>
              </a:tr>
              <a:tr h="351937">
                <a:tc>
                  <a:txBody>
                    <a:bodyPr/>
                    <a:lstStyle/>
                    <a:p>
                      <a:r>
                        <a:rPr lang="en-US" sz="1600" dirty="0"/>
                        <a:t>d</a:t>
                      </a:r>
                    </a:p>
                  </a:txBody>
                  <a:tcPr/>
                </a:tc>
                <a:tc>
                  <a:txBody>
                    <a:bodyPr/>
                    <a:lstStyle/>
                    <a:p>
                      <a:r>
                        <a:rPr lang="en-US" sz="1600" dirty="0"/>
                        <a:t>Cut / Delete in VISUAL mode</a:t>
                      </a:r>
                    </a:p>
                  </a:txBody>
                  <a:tcPr/>
                </a:tc>
                <a:extLst>
                  <a:ext uri="{0D108BD9-81ED-4DB2-BD59-A6C34878D82A}">
                    <a16:rowId xmlns:a16="http://schemas.microsoft.com/office/drawing/2014/main" val="3451237433"/>
                  </a:ext>
                </a:extLst>
              </a:tr>
              <a:tr h="351937">
                <a:tc>
                  <a:txBody>
                    <a:bodyPr/>
                    <a:lstStyle/>
                    <a:p>
                      <a:r>
                        <a:rPr lang="en-US" sz="1600" dirty="0"/>
                        <a:t>y</a:t>
                      </a:r>
                    </a:p>
                  </a:txBody>
                  <a:tcPr/>
                </a:tc>
                <a:tc>
                  <a:txBody>
                    <a:bodyPr/>
                    <a:lstStyle/>
                    <a:p>
                      <a:r>
                        <a:rPr lang="en-US" sz="1600" dirty="0"/>
                        <a:t>Yank (copy) in VISUAL mode</a:t>
                      </a:r>
                    </a:p>
                  </a:txBody>
                  <a:tcPr/>
                </a:tc>
                <a:extLst>
                  <a:ext uri="{0D108BD9-81ED-4DB2-BD59-A6C34878D82A}">
                    <a16:rowId xmlns:a16="http://schemas.microsoft.com/office/drawing/2014/main" val="1415249968"/>
                  </a:ext>
                </a:extLst>
              </a:tr>
              <a:tr h="351937">
                <a:tc>
                  <a:txBody>
                    <a:bodyPr/>
                    <a:lstStyle/>
                    <a:p>
                      <a:r>
                        <a:rPr lang="en-US" sz="1600" dirty="0"/>
                        <a:t>p</a:t>
                      </a:r>
                    </a:p>
                  </a:txBody>
                  <a:tcPr/>
                </a:tc>
                <a:tc>
                  <a:txBody>
                    <a:bodyPr/>
                    <a:lstStyle/>
                    <a:p>
                      <a:r>
                        <a:rPr lang="en-US" sz="1600" dirty="0"/>
                        <a:t>Paste </a:t>
                      </a:r>
                    </a:p>
                  </a:txBody>
                  <a:tcPr/>
                </a:tc>
                <a:extLst>
                  <a:ext uri="{0D108BD9-81ED-4DB2-BD59-A6C34878D82A}">
                    <a16:rowId xmlns:a16="http://schemas.microsoft.com/office/drawing/2014/main" val="4039978101"/>
                  </a:ext>
                </a:extLst>
              </a:tr>
              <a:tr h="351937">
                <a:tc>
                  <a:txBody>
                    <a:bodyPr/>
                    <a:lstStyle/>
                    <a:p>
                      <a:r>
                        <a:rPr lang="en-US" sz="1600" dirty="0" err="1"/>
                        <a:t>vyp</a:t>
                      </a:r>
                      <a:endParaRPr lang="en-US" sz="1600" dirty="0"/>
                    </a:p>
                  </a:txBody>
                  <a:tcPr/>
                </a:tc>
                <a:tc>
                  <a:txBody>
                    <a:bodyPr/>
                    <a:lstStyle/>
                    <a:p>
                      <a:r>
                        <a:rPr lang="en-US" sz="1600" dirty="0"/>
                        <a:t>Yank (Copy) and paste</a:t>
                      </a:r>
                    </a:p>
                  </a:txBody>
                  <a:tcPr/>
                </a:tc>
                <a:extLst>
                  <a:ext uri="{0D108BD9-81ED-4DB2-BD59-A6C34878D82A}">
                    <a16:rowId xmlns:a16="http://schemas.microsoft.com/office/drawing/2014/main" val="2741470433"/>
                  </a:ext>
                </a:extLst>
              </a:tr>
              <a:tr h="351937">
                <a:tc>
                  <a:txBody>
                    <a:bodyPr/>
                    <a:lstStyle/>
                    <a:p>
                      <a:r>
                        <a:rPr lang="en-US" sz="1600" dirty="0" err="1"/>
                        <a:t>vd</a:t>
                      </a:r>
                      <a:endParaRPr lang="en-US" sz="1600" dirty="0"/>
                    </a:p>
                  </a:txBody>
                  <a:tcPr/>
                </a:tc>
                <a:tc>
                  <a:txBody>
                    <a:bodyPr/>
                    <a:lstStyle/>
                    <a:p>
                      <a:r>
                        <a:rPr lang="en-US" sz="1600" dirty="0"/>
                        <a:t>Select text and delete</a:t>
                      </a:r>
                    </a:p>
                  </a:txBody>
                  <a:tcPr/>
                </a:tc>
                <a:extLst>
                  <a:ext uri="{0D108BD9-81ED-4DB2-BD59-A6C34878D82A}">
                    <a16:rowId xmlns:a16="http://schemas.microsoft.com/office/drawing/2014/main" val="2192414206"/>
                  </a:ext>
                </a:extLst>
              </a:tr>
              <a:tr h="351937">
                <a:tc>
                  <a:txBody>
                    <a:bodyPr/>
                    <a:lstStyle/>
                    <a:p>
                      <a:r>
                        <a:rPr lang="en-US" sz="1600" dirty="0" err="1"/>
                        <a:t>vdp</a:t>
                      </a:r>
                      <a:endParaRPr lang="en-US" sz="1600" dirty="0"/>
                    </a:p>
                  </a:txBody>
                  <a:tcPr/>
                </a:tc>
                <a:tc>
                  <a:txBody>
                    <a:bodyPr/>
                    <a:lstStyle/>
                    <a:p>
                      <a:r>
                        <a:rPr lang="en-US" sz="1600" dirty="0"/>
                        <a:t>Cut and paste</a:t>
                      </a:r>
                    </a:p>
                  </a:txBody>
                  <a:tcPr/>
                </a:tc>
                <a:extLst>
                  <a:ext uri="{0D108BD9-81ED-4DB2-BD59-A6C34878D82A}">
                    <a16:rowId xmlns:a16="http://schemas.microsoft.com/office/drawing/2014/main" val="2964414724"/>
                  </a:ext>
                </a:extLst>
              </a:tr>
              <a:tr h="351937">
                <a:tc>
                  <a:txBody>
                    <a:bodyPr/>
                    <a:lstStyle/>
                    <a:p>
                      <a:r>
                        <a:rPr lang="en-US" sz="1600" dirty="0" err="1"/>
                        <a:t>yy</a:t>
                      </a:r>
                      <a:endParaRPr lang="en-US" sz="1600" dirty="0"/>
                    </a:p>
                  </a:txBody>
                  <a:tcPr/>
                </a:tc>
                <a:tc>
                  <a:txBody>
                    <a:bodyPr/>
                    <a:lstStyle/>
                    <a:p>
                      <a:r>
                        <a:rPr lang="en-US" sz="1600" dirty="0"/>
                        <a:t>Yank current line in NORMAL mode</a:t>
                      </a:r>
                    </a:p>
                  </a:txBody>
                  <a:tcPr/>
                </a:tc>
                <a:extLst>
                  <a:ext uri="{0D108BD9-81ED-4DB2-BD59-A6C34878D82A}">
                    <a16:rowId xmlns:a16="http://schemas.microsoft.com/office/drawing/2014/main" val="113964992"/>
                  </a:ext>
                </a:extLst>
              </a:tr>
              <a:tr h="351937">
                <a:tc>
                  <a:txBody>
                    <a:bodyPr/>
                    <a:lstStyle/>
                    <a:p>
                      <a:r>
                        <a:rPr lang="en-US" sz="1600" dirty="0"/>
                        <a:t>Y</a:t>
                      </a:r>
                    </a:p>
                  </a:txBody>
                  <a:tcPr/>
                </a:tc>
                <a:tc>
                  <a:txBody>
                    <a:bodyPr/>
                    <a:lstStyle/>
                    <a:p>
                      <a:r>
                        <a:rPr lang="en-US" sz="1600" dirty="0"/>
                        <a:t>Yank current line in NORMAL mode</a:t>
                      </a:r>
                    </a:p>
                  </a:txBody>
                  <a:tcPr/>
                </a:tc>
                <a:extLst>
                  <a:ext uri="{0D108BD9-81ED-4DB2-BD59-A6C34878D82A}">
                    <a16:rowId xmlns:a16="http://schemas.microsoft.com/office/drawing/2014/main" val="468718974"/>
                  </a:ext>
                </a:extLst>
              </a:tr>
              <a:tr h="351937">
                <a:tc>
                  <a:txBody>
                    <a:bodyPr/>
                    <a:lstStyle/>
                    <a:p>
                      <a:r>
                        <a:rPr lang="en-US" sz="1600" dirty="0"/>
                        <a:t>/pattern</a:t>
                      </a:r>
                    </a:p>
                  </a:txBody>
                  <a:tcPr/>
                </a:tc>
                <a:tc>
                  <a:txBody>
                    <a:bodyPr/>
                    <a:lstStyle/>
                    <a:p>
                      <a:r>
                        <a:rPr lang="en-US" sz="1600" dirty="0"/>
                        <a:t>Search for pattern</a:t>
                      </a:r>
                    </a:p>
                  </a:txBody>
                  <a:tcPr/>
                </a:tc>
                <a:extLst>
                  <a:ext uri="{0D108BD9-81ED-4DB2-BD59-A6C34878D82A}">
                    <a16:rowId xmlns:a16="http://schemas.microsoft.com/office/drawing/2014/main" val="4144067034"/>
                  </a:ext>
                </a:extLst>
              </a:tr>
              <a:tr h="351937">
                <a:tc>
                  <a:txBody>
                    <a:bodyPr/>
                    <a:lstStyle/>
                    <a:p>
                      <a:r>
                        <a:rPr lang="en-US" sz="1600" dirty="0"/>
                        <a:t>n</a:t>
                      </a:r>
                    </a:p>
                  </a:txBody>
                  <a:tcPr/>
                </a:tc>
                <a:tc>
                  <a:txBody>
                    <a:bodyPr/>
                    <a:lstStyle/>
                    <a:p>
                      <a:r>
                        <a:rPr lang="en-US" sz="1600" dirty="0"/>
                        <a:t>Search for next occurrence of pattern</a:t>
                      </a:r>
                    </a:p>
                  </a:txBody>
                  <a:tcPr/>
                </a:tc>
                <a:extLst>
                  <a:ext uri="{0D108BD9-81ED-4DB2-BD59-A6C34878D82A}">
                    <a16:rowId xmlns:a16="http://schemas.microsoft.com/office/drawing/2014/main" val="1598524844"/>
                  </a:ext>
                </a:extLst>
              </a:tr>
            </a:tbl>
          </a:graphicData>
        </a:graphic>
      </p:graphicFrame>
    </p:spTree>
    <p:extLst>
      <p:ext uri="{BB962C8B-B14F-4D97-AF65-F5344CB8AC3E}">
        <p14:creationId xmlns:p14="http://schemas.microsoft.com/office/powerpoint/2010/main" val="2557413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84DC43D-C29A-45F1-8FD9-7D768FC44424}"/>
              </a:ext>
            </a:extLst>
          </p:cNvPr>
          <p:cNvSpPr>
            <a:spLocks noGrp="1"/>
          </p:cNvSpPr>
          <p:nvPr>
            <p:ph type="title"/>
          </p:nvPr>
        </p:nvSpPr>
        <p:spPr>
          <a:xfrm>
            <a:off x="838200" y="365126"/>
            <a:ext cx="10515600" cy="878138"/>
          </a:xfrm>
        </p:spPr>
        <p:txBody>
          <a:bodyPr/>
          <a:lstStyle/>
          <a:p>
            <a:r>
              <a:rPr lang="en-US" dirty="0"/>
              <a:t>Commands</a:t>
            </a:r>
          </a:p>
        </p:txBody>
      </p:sp>
      <p:graphicFrame>
        <p:nvGraphicFramePr>
          <p:cNvPr id="4" name="Taulukko 4">
            <a:extLst>
              <a:ext uri="{FF2B5EF4-FFF2-40B4-BE49-F238E27FC236}">
                <a16:creationId xmlns:a16="http://schemas.microsoft.com/office/drawing/2014/main" id="{CF5C7490-1A45-4D91-BF22-C02EA79856DB}"/>
              </a:ext>
            </a:extLst>
          </p:cNvPr>
          <p:cNvGraphicFramePr>
            <a:graphicFrameLocks noGrp="1"/>
          </p:cNvGraphicFramePr>
          <p:nvPr>
            <p:ph idx="1"/>
            <p:extLst>
              <p:ext uri="{D42A27DB-BD31-4B8C-83A1-F6EECF244321}">
                <p14:modId xmlns:p14="http://schemas.microsoft.com/office/powerpoint/2010/main" val="995662590"/>
              </p:ext>
            </p:extLst>
          </p:nvPr>
        </p:nvGraphicFramePr>
        <p:xfrm>
          <a:off x="838200" y="1243264"/>
          <a:ext cx="10515600" cy="5364480"/>
        </p:xfrm>
        <a:graphic>
          <a:graphicData uri="http://schemas.openxmlformats.org/drawingml/2006/table">
            <a:tbl>
              <a:tblPr firstRow="1" bandRow="1">
                <a:tableStyleId>{5C22544A-7EE6-4342-B048-85BDC9FD1C3A}</a:tableStyleId>
              </a:tblPr>
              <a:tblGrid>
                <a:gridCol w="1735667">
                  <a:extLst>
                    <a:ext uri="{9D8B030D-6E8A-4147-A177-3AD203B41FA5}">
                      <a16:colId xmlns:a16="http://schemas.microsoft.com/office/drawing/2014/main" val="640501974"/>
                    </a:ext>
                  </a:extLst>
                </a:gridCol>
                <a:gridCol w="8779933">
                  <a:extLst>
                    <a:ext uri="{9D8B030D-6E8A-4147-A177-3AD203B41FA5}">
                      <a16:colId xmlns:a16="http://schemas.microsoft.com/office/drawing/2014/main" val="1838903256"/>
                    </a:ext>
                  </a:extLst>
                </a:gridCol>
              </a:tblGrid>
              <a:tr h="296314">
                <a:tc>
                  <a:txBody>
                    <a:bodyPr/>
                    <a:lstStyle/>
                    <a:p>
                      <a:r>
                        <a:rPr lang="en-US" sz="1600" dirty="0"/>
                        <a:t>Command</a:t>
                      </a:r>
                    </a:p>
                  </a:txBody>
                  <a:tcPr/>
                </a:tc>
                <a:tc>
                  <a:txBody>
                    <a:bodyPr/>
                    <a:lstStyle/>
                    <a:p>
                      <a:r>
                        <a:rPr lang="en-US" sz="1600" dirty="0"/>
                        <a:t>Explanation</a:t>
                      </a:r>
                    </a:p>
                  </a:txBody>
                  <a:tcPr/>
                </a:tc>
                <a:extLst>
                  <a:ext uri="{0D108BD9-81ED-4DB2-BD59-A6C34878D82A}">
                    <a16:rowId xmlns:a16="http://schemas.microsoft.com/office/drawing/2014/main" val="1746190942"/>
                  </a:ext>
                </a:extLst>
              </a:tr>
              <a:tr h="296314">
                <a:tc>
                  <a:txBody>
                    <a:bodyPr/>
                    <a:lstStyle/>
                    <a:p>
                      <a:r>
                        <a:rPr lang="en-US" sz="1600" dirty="0"/>
                        <a:t>:q</a:t>
                      </a:r>
                    </a:p>
                  </a:txBody>
                  <a:tcPr/>
                </a:tc>
                <a:tc>
                  <a:txBody>
                    <a:bodyPr/>
                    <a:lstStyle/>
                    <a:p>
                      <a:r>
                        <a:rPr lang="en-US" sz="1600" dirty="0"/>
                        <a:t>Quit, but fails if file has been changed</a:t>
                      </a:r>
                    </a:p>
                  </a:txBody>
                  <a:tcPr/>
                </a:tc>
                <a:extLst>
                  <a:ext uri="{0D108BD9-81ED-4DB2-BD59-A6C34878D82A}">
                    <a16:rowId xmlns:a16="http://schemas.microsoft.com/office/drawing/2014/main" val="2313240029"/>
                  </a:ext>
                </a:extLst>
              </a:tr>
              <a:tr h="296314">
                <a:tc>
                  <a:txBody>
                    <a:bodyPr/>
                    <a:lstStyle/>
                    <a:p>
                      <a:r>
                        <a:rPr lang="en-US" sz="1600" dirty="0"/>
                        <a:t>:w</a:t>
                      </a:r>
                    </a:p>
                  </a:txBody>
                  <a:tcPr/>
                </a:tc>
                <a:tc>
                  <a:txBody>
                    <a:bodyPr/>
                    <a:lstStyle/>
                    <a:p>
                      <a:r>
                        <a:rPr lang="en-US" sz="1600" dirty="0"/>
                        <a:t>Save file</a:t>
                      </a:r>
                    </a:p>
                  </a:txBody>
                  <a:tcPr/>
                </a:tc>
                <a:extLst>
                  <a:ext uri="{0D108BD9-81ED-4DB2-BD59-A6C34878D82A}">
                    <a16:rowId xmlns:a16="http://schemas.microsoft.com/office/drawing/2014/main" val="3223446065"/>
                  </a:ext>
                </a:extLst>
              </a:tr>
              <a:tr h="296314">
                <a:tc>
                  <a:txBody>
                    <a:bodyPr/>
                    <a:lstStyle/>
                    <a:p>
                      <a:r>
                        <a:rPr lang="en-US" sz="1600" dirty="0"/>
                        <a:t>:</a:t>
                      </a:r>
                      <a:r>
                        <a:rPr lang="en-US" sz="1600" dirty="0" err="1"/>
                        <a:t>wq</a:t>
                      </a:r>
                      <a:endParaRPr lang="en-US" sz="1600" dirty="0"/>
                    </a:p>
                  </a:txBody>
                  <a:tcPr/>
                </a:tc>
                <a:tc>
                  <a:txBody>
                    <a:bodyPr/>
                    <a:lstStyle/>
                    <a:p>
                      <a:r>
                        <a:rPr lang="en-US" sz="1600" dirty="0"/>
                        <a:t>Save the file and exit</a:t>
                      </a:r>
                    </a:p>
                  </a:txBody>
                  <a:tcPr/>
                </a:tc>
                <a:extLst>
                  <a:ext uri="{0D108BD9-81ED-4DB2-BD59-A6C34878D82A}">
                    <a16:rowId xmlns:a16="http://schemas.microsoft.com/office/drawing/2014/main" val="331551019"/>
                  </a:ext>
                </a:extLst>
              </a:tr>
              <a:tr h="296314">
                <a:tc>
                  <a:txBody>
                    <a:bodyPr/>
                    <a:lstStyle/>
                    <a:p>
                      <a:r>
                        <a:rPr lang="en-US" sz="1600" dirty="0"/>
                        <a:t>:q!</a:t>
                      </a:r>
                    </a:p>
                  </a:txBody>
                  <a:tcPr/>
                </a:tc>
                <a:tc>
                  <a:txBody>
                    <a:bodyPr/>
                    <a:lstStyle/>
                    <a:p>
                      <a:r>
                        <a:rPr lang="en-US" sz="1600" dirty="0"/>
                        <a:t>Quit without saving, discarding changes</a:t>
                      </a:r>
                    </a:p>
                  </a:txBody>
                  <a:tcPr/>
                </a:tc>
                <a:extLst>
                  <a:ext uri="{0D108BD9-81ED-4DB2-BD59-A6C34878D82A}">
                    <a16:rowId xmlns:a16="http://schemas.microsoft.com/office/drawing/2014/main" val="2605343822"/>
                  </a:ext>
                </a:extLst>
              </a:tr>
              <a:tr h="296314">
                <a:tc>
                  <a:txBody>
                    <a:bodyPr/>
                    <a:lstStyle/>
                    <a:p>
                      <a:r>
                        <a:rPr lang="en-US" sz="1600" dirty="0"/>
                        <a:t>:save file</a:t>
                      </a:r>
                    </a:p>
                  </a:txBody>
                  <a:tcPr/>
                </a:tc>
                <a:tc>
                  <a:txBody>
                    <a:bodyPr/>
                    <a:lstStyle/>
                    <a:p>
                      <a:r>
                        <a:rPr lang="en-US" sz="1600" dirty="0"/>
                        <a:t>Save file as</a:t>
                      </a:r>
                    </a:p>
                  </a:txBody>
                  <a:tcPr/>
                </a:tc>
                <a:extLst>
                  <a:ext uri="{0D108BD9-81ED-4DB2-BD59-A6C34878D82A}">
                    <a16:rowId xmlns:a16="http://schemas.microsoft.com/office/drawing/2014/main" val="675029465"/>
                  </a:ext>
                </a:extLst>
              </a:tr>
              <a:tr h="296314">
                <a:tc>
                  <a:txBody>
                    <a:bodyPr/>
                    <a:lstStyle/>
                    <a:p>
                      <a:r>
                        <a:rPr lang="en-US" sz="1600" dirty="0"/>
                        <a:t>:close</a:t>
                      </a:r>
                    </a:p>
                  </a:txBody>
                  <a:tcPr/>
                </a:tc>
                <a:tc>
                  <a:txBody>
                    <a:bodyPr/>
                    <a:lstStyle/>
                    <a:p>
                      <a:r>
                        <a:rPr lang="en-US" sz="1600" dirty="0"/>
                        <a:t>Close current pane</a:t>
                      </a:r>
                    </a:p>
                  </a:txBody>
                  <a:tcPr/>
                </a:tc>
                <a:extLst>
                  <a:ext uri="{0D108BD9-81ED-4DB2-BD59-A6C34878D82A}">
                    <a16:rowId xmlns:a16="http://schemas.microsoft.com/office/drawing/2014/main" val="3026748773"/>
                  </a:ext>
                </a:extLst>
              </a:tr>
              <a:tr h="296314">
                <a:tc>
                  <a:txBody>
                    <a:bodyPr/>
                    <a:lstStyle/>
                    <a:p>
                      <a:r>
                        <a:rPr lang="en-US" sz="1600" dirty="0"/>
                        <a:t>:o file</a:t>
                      </a:r>
                    </a:p>
                  </a:txBody>
                  <a:tcPr/>
                </a:tc>
                <a:tc>
                  <a:txBody>
                    <a:bodyPr/>
                    <a:lstStyle/>
                    <a:p>
                      <a:r>
                        <a:rPr lang="en-US" sz="1600" dirty="0"/>
                        <a:t>Open file for editing</a:t>
                      </a:r>
                    </a:p>
                  </a:txBody>
                  <a:tcPr/>
                </a:tc>
                <a:extLst>
                  <a:ext uri="{0D108BD9-81ED-4DB2-BD59-A6C34878D82A}">
                    <a16:rowId xmlns:a16="http://schemas.microsoft.com/office/drawing/2014/main" val="3403731583"/>
                  </a:ext>
                </a:extLst>
              </a:tr>
              <a:tr h="296314">
                <a:tc>
                  <a:txBody>
                    <a:bodyPr/>
                    <a:lstStyle/>
                    <a:p>
                      <a:r>
                        <a:rPr lang="en-US" sz="1600" dirty="0"/>
                        <a:t>:e file</a:t>
                      </a:r>
                    </a:p>
                  </a:txBody>
                  <a:tcPr/>
                </a:tc>
                <a:tc>
                  <a:txBody>
                    <a:bodyPr/>
                    <a:lstStyle/>
                    <a:p>
                      <a:r>
                        <a:rPr lang="en-US" sz="1600" dirty="0"/>
                        <a:t>Open file for editing (autocomplete names, better)</a:t>
                      </a:r>
                    </a:p>
                  </a:txBody>
                  <a:tcPr/>
                </a:tc>
                <a:extLst>
                  <a:ext uri="{0D108BD9-81ED-4DB2-BD59-A6C34878D82A}">
                    <a16:rowId xmlns:a16="http://schemas.microsoft.com/office/drawing/2014/main" val="2958607105"/>
                  </a:ext>
                </a:extLst>
              </a:tr>
              <a:tr h="296314">
                <a:tc>
                  <a:txBody>
                    <a:bodyPr/>
                    <a:lstStyle/>
                    <a:p>
                      <a:r>
                        <a:rPr lang="en-US" sz="1600" dirty="0"/>
                        <a:t>ZZ</a:t>
                      </a:r>
                    </a:p>
                  </a:txBody>
                  <a:tcPr/>
                </a:tc>
                <a:tc>
                  <a:txBody>
                    <a:bodyPr/>
                    <a:lstStyle/>
                    <a:p>
                      <a:r>
                        <a:rPr lang="en-US" sz="1600" dirty="0"/>
                        <a:t>Save file if modified and quit Vim</a:t>
                      </a:r>
                    </a:p>
                  </a:txBody>
                  <a:tcPr/>
                </a:tc>
                <a:extLst>
                  <a:ext uri="{0D108BD9-81ED-4DB2-BD59-A6C34878D82A}">
                    <a16:rowId xmlns:a16="http://schemas.microsoft.com/office/drawing/2014/main" val="3630136484"/>
                  </a:ext>
                </a:extLst>
              </a:tr>
              <a:tr h="296314">
                <a:tc>
                  <a:txBody>
                    <a:bodyPr/>
                    <a:lstStyle/>
                    <a:p>
                      <a:r>
                        <a:rPr lang="en-US" sz="1600" dirty="0"/>
                        <a:t>ZQ</a:t>
                      </a:r>
                    </a:p>
                  </a:txBody>
                  <a:tcPr/>
                </a:tc>
                <a:tc>
                  <a:txBody>
                    <a:bodyPr/>
                    <a:lstStyle/>
                    <a:p>
                      <a:r>
                        <a:rPr lang="en-US" sz="1600" dirty="0"/>
                        <a:t>Same as :q! quit discarding changes</a:t>
                      </a:r>
                    </a:p>
                  </a:txBody>
                  <a:tcPr/>
                </a:tc>
                <a:extLst>
                  <a:ext uri="{0D108BD9-81ED-4DB2-BD59-A6C34878D82A}">
                    <a16:rowId xmlns:a16="http://schemas.microsoft.com/office/drawing/2014/main" val="254885605"/>
                  </a:ext>
                </a:extLst>
              </a:tr>
              <a:tr h="296314">
                <a:tc>
                  <a:txBody>
                    <a:bodyPr/>
                    <a:lstStyle/>
                    <a:p>
                      <a:r>
                        <a:rPr lang="en-US" sz="1600" dirty="0"/>
                        <a:t>:x</a:t>
                      </a:r>
                    </a:p>
                  </a:txBody>
                  <a:tcPr/>
                </a:tc>
                <a:tc>
                  <a:txBody>
                    <a:bodyPr/>
                    <a:lstStyle/>
                    <a:p>
                      <a:r>
                        <a:rPr lang="en-US" sz="1600" dirty="0"/>
                        <a:t>Write changes and save</a:t>
                      </a:r>
                    </a:p>
                  </a:txBody>
                  <a:tcPr/>
                </a:tc>
                <a:extLst>
                  <a:ext uri="{0D108BD9-81ED-4DB2-BD59-A6C34878D82A}">
                    <a16:rowId xmlns:a16="http://schemas.microsoft.com/office/drawing/2014/main" val="4109356309"/>
                  </a:ext>
                </a:extLst>
              </a:tr>
              <a:tr h="296314">
                <a:tc>
                  <a:txBody>
                    <a:bodyPr/>
                    <a:lstStyle/>
                    <a:p>
                      <a:r>
                        <a:rPr lang="en-US" sz="1600" dirty="0"/>
                        <a:t>:s/old/new/g</a:t>
                      </a:r>
                    </a:p>
                  </a:txBody>
                  <a:tcPr/>
                </a:tc>
                <a:tc>
                  <a:txBody>
                    <a:bodyPr/>
                    <a:lstStyle/>
                    <a:p>
                      <a:r>
                        <a:rPr lang="en-US" sz="1600" dirty="0"/>
                        <a:t>Change all occurrences of "old" to "new" in current line</a:t>
                      </a:r>
                    </a:p>
                  </a:txBody>
                  <a:tcPr/>
                </a:tc>
                <a:extLst>
                  <a:ext uri="{0D108BD9-81ED-4DB2-BD59-A6C34878D82A}">
                    <a16:rowId xmlns:a16="http://schemas.microsoft.com/office/drawing/2014/main" val="2224497252"/>
                  </a:ext>
                </a:extLst>
              </a:tr>
              <a:tr h="296314">
                <a:tc>
                  <a:txBody>
                    <a:bodyPr/>
                    <a:lstStyle/>
                    <a:p>
                      <a:r>
                        <a:rPr lang="en-US" sz="1600" dirty="0"/>
                        <a:t>:%s/old/new/g</a:t>
                      </a:r>
                    </a:p>
                  </a:txBody>
                  <a:tcPr/>
                </a:tc>
                <a:tc>
                  <a:txBody>
                    <a:bodyPr/>
                    <a:lstStyle/>
                    <a:p>
                      <a:r>
                        <a:rPr lang="en-US" sz="1600" dirty="0"/>
                        <a:t>Change all occurrences of "old" to "new" in all lines</a:t>
                      </a:r>
                    </a:p>
                  </a:txBody>
                  <a:tcPr/>
                </a:tc>
                <a:extLst>
                  <a:ext uri="{0D108BD9-81ED-4DB2-BD59-A6C34878D82A}">
                    <a16:rowId xmlns:a16="http://schemas.microsoft.com/office/drawing/2014/main" val="1144942668"/>
                  </a:ext>
                </a:extLst>
              </a:tr>
              <a:tr h="296314">
                <a:tc>
                  <a:txBody>
                    <a:bodyPr/>
                    <a:lstStyle/>
                    <a:p>
                      <a:r>
                        <a:rPr lang="en-US" sz="1600" dirty="0"/>
                        <a:t>:%s/old/new/</a:t>
                      </a:r>
                      <a:r>
                        <a:rPr lang="en-US" sz="1600" dirty="0" err="1"/>
                        <a:t>gci</a:t>
                      </a:r>
                      <a:endParaRPr lang="en-US" sz="1600" dirty="0"/>
                    </a:p>
                  </a:txBody>
                  <a:tcPr/>
                </a:tc>
                <a:tc>
                  <a:txBody>
                    <a:bodyPr/>
                    <a:lstStyle/>
                    <a:p>
                      <a:r>
                        <a:rPr lang="en-US" sz="1600" dirty="0"/>
                        <a:t>Search and replace g = global, i = case insensitive, c = confirm</a:t>
                      </a:r>
                    </a:p>
                  </a:txBody>
                  <a:tcPr/>
                </a:tc>
                <a:extLst>
                  <a:ext uri="{0D108BD9-81ED-4DB2-BD59-A6C34878D82A}">
                    <a16:rowId xmlns:a16="http://schemas.microsoft.com/office/drawing/2014/main" val="1091682252"/>
                  </a:ext>
                </a:extLst>
              </a:tr>
              <a:tr h="296314">
                <a:tc>
                  <a:txBody>
                    <a:bodyPr/>
                    <a:lstStyle/>
                    <a:p>
                      <a:r>
                        <a:rPr lang="en-US" sz="1600" dirty="0"/>
                        <a:t>:</a:t>
                      </a:r>
                      <a:r>
                        <a:rPr lang="en-US" sz="1600" dirty="0" err="1"/>
                        <a:t>ter</a:t>
                      </a:r>
                      <a:endParaRPr lang="en-US" sz="1600" dirty="0"/>
                    </a:p>
                  </a:txBody>
                  <a:tcPr/>
                </a:tc>
                <a:tc>
                  <a:txBody>
                    <a:bodyPr/>
                    <a:lstStyle/>
                    <a:p>
                      <a:r>
                        <a:rPr lang="en-US" sz="1600" dirty="0"/>
                        <a:t>Open terminal</a:t>
                      </a:r>
                    </a:p>
                  </a:txBody>
                  <a:tcPr/>
                </a:tc>
                <a:extLst>
                  <a:ext uri="{0D108BD9-81ED-4DB2-BD59-A6C34878D82A}">
                    <a16:rowId xmlns:a16="http://schemas.microsoft.com/office/drawing/2014/main" val="1352261515"/>
                  </a:ext>
                </a:extLst>
              </a:tr>
            </a:tbl>
          </a:graphicData>
        </a:graphic>
      </p:graphicFrame>
    </p:spTree>
    <p:extLst>
      <p:ext uri="{BB962C8B-B14F-4D97-AF65-F5344CB8AC3E}">
        <p14:creationId xmlns:p14="http://schemas.microsoft.com/office/powerpoint/2010/main" val="22410937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A7DDDEC-EA41-4C59-8706-360B97418C71}"/>
              </a:ext>
            </a:extLst>
          </p:cNvPr>
          <p:cNvSpPr>
            <a:spLocks noGrp="1"/>
          </p:cNvSpPr>
          <p:nvPr>
            <p:ph type="title"/>
          </p:nvPr>
        </p:nvSpPr>
        <p:spPr>
          <a:xfrm>
            <a:off x="838200" y="365126"/>
            <a:ext cx="10515600" cy="637327"/>
          </a:xfrm>
        </p:spPr>
        <p:txBody>
          <a:bodyPr>
            <a:normAutofit fontScale="90000"/>
          </a:bodyPr>
          <a:lstStyle/>
          <a:p>
            <a:r>
              <a:rPr lang="en-US" dirty="0"/>
              <a:t>Vim Window Splits, Tabs and Buffers</a:t>
            </a:r>
          </a:p>
        </p:txBody>
      </p:sp>
      <p:graphicFrame>
        <p:nvGraphicFramePr>
          <p:cNvPr id="4" name="Taulukko 4">
            <a:extLst>
              <a:ext uri="{FF2B5EF4-FFF2-40B4-BE49-F238E27FC236}">
                <a16:creationId xmlns:a16="http://schemas.microsoft.com/office/drawing/2014/main" id="{5394E86E-7D15-4BFE-B8B8-8FD570194A82}"/>
              </a:ext>
            </a:extLst>
          </p:cNvPr>
          <p:cNvGraphicFramePr>
            <a:graphicFrameLocks noGrp="1"/>
          </p:cNvGraphicFramePr>
          <p:nvPr>
            <p:ph idx="1"/>
            <p:extLst>
              <p:ext uri="{D42A27DB-BD31-4B8C-83A1-F6EECF244321}">
                <p14:modId xmlns:p14="http://schemas.microsoft.com/office/powerpoint/2010/main" val="991067503"/>
              </p:ext>
            </p:extLst>
          </p:nvPr>
        </p:nvGraphicFramePr>
        <p:xfrm>
          <a:off x="838200" y="1054942"/>
          <a:ext cx="10515600" cy="5364480"/>
        </p:xfrm>
        <a:graphic>
          <a:graphicData uri="http://schemas.openxmlformats.org/drawingml/2006/table">
            <a:tbl>
              <a:tblPr firstRow="1" bandRow="1">
                <a:tableStyleId>{5C22544A-7EE6-4342-B048-85BDC9FD1C3A}</a:tableStyleId>
              </a:tblPr>
              <a:tblGrid>
                <a:gridCol w="2026920">
                  <a:extLst>
                    <a:ext uri="{9D8B030D-6E8A-4147-A177-3AD203B41FA5}">
                      <a16:colId xmlns:a16="http://schemas.microsoft.com/office/drawing/2014/main" val="1898115833"/>
                    </a:ext>
                  </a:extLst>
                </a:gridCol>
                <a:gridCol w="8488680">
                  <a:extLst>
                    <a:ext uri="{9D8B030D-6E8A-4147-A177-3AD203B41FA5}">
                      <a16:colId xmlns:a16="http://schemas.microsoft.com/office/drawing/2014/main" val="685843834"/>
                    </a:ext>
                  </a:extLst>
                </a:gridCol>
              </a:tblGrid>
              <a:tr h="299322">
                <a:tc>
                  <a:txBody>
                    <a:bodyPr/>
                    <a:lstStyle/>
                    <a:p>
                      <a:r>
                        <a:rPr lang="en-US" sz="1600" dirty="0"/>
                        <a:t>Key / Command</a:t>
                      </a:r>
                    </a:p>
                  </a:txBody>
                  <a:tcPr/>
                </a:tc>
                <a:tc>
                  <a:txBody>
                    <a:bodyPr/>
                    <a:lstStyle/>
                    <a:p>
                      <a:r>
                        <a:rPr lang="en-US" sz="1600" dirty="0"/>
                        <a:t>Description</a:t>
                      </a:r>
                    </a:p>
                  </a:txBody>
                  <a:tcPr/>
                </a:tc>
                <a:extLst>
                  <a:ext uri="{0D108BD9-81ED-4DB2-BD59-A6C34878D82A}">
                    <a16:rowId xmlns:a16="http://schemas.microsoft.com/office/drawing/2014/main" val="1480729752"/>
                  </a:ext>
                </a:extLst>
              </a:tr>
              <a:tr h="299322">
                <a:tc>
                  <a:txBody>
                    <a:bodyPr/>
                    <a:lstStyle/>
                    <a:p>
                      <a:r>
                        <a:rPr lang="en-US" sz="1600" dirty="0"/>
                        <a:t>:split file</a:t>
                      </a:r>
                    </a:p>
                  </a:txBody>
                  <a:tcPr/>
                </a:tc>
                <a:tc>
                  <a:txBody>
                    <a:bodyPr/>
                    <a:lstStyle/>
                    <a:p>
                      <a:r>
                        <a:rPr lang="en-US" sz="1600" dirty="0"/>
                        <a:t>Split window horizontally and load another file</a:t>
                      </a:r>
                    </a:p>
                  </a:txBody>
                  <a:tcPr/>
                </a:tc>
                <a:extLst>
                  <a:ext uri="{0D108BD9-81ED-4DB2-BD59-A6C34878D82A}">
                    <a16:rowId xmlns:a16="http://schemas.microsoft.com/office/drawing/2014/main" val="2356463782"/>
                  </a:ext>
                </a:extLst>
              </a:tr>
              <a:tr h="299322">
                <a:tc>
                  <a:txBody>
                    <a:bodyPr/>
                    <a:lstStyle/>
                    <a:p>
                      <a:r>
                        <a:rPr lang="en-US" sz="1600" dirty="0"/>
                        <a:t>:</a:t>
                      </a:r>
                      <a:r>
                        <a:rPr lang="en-US" sz="1600" dirty="0" err="1"/>
                        <a:t>vsplit</a:t>
                      </a:r>
                      <a:r>
                        <a:rPr lang="en-US" sz="1600" dirty="0"/>
                        <a:t> file</a:t>
                      </a:r>
                    </a:p>
                  </a:txBody>
                  <a:tcPr/>
                </a:tc>
                <a:tc>
                  <a:txBody>
                    <a:bodyPr/>
                    <a:lstStyle/>
                    <a:p>
                      <a:r>
                        <a:rPr lang="en-US" sz="1600" dirty="0"/>
                        <a:t>Split window vertically and load another file</a:t>
                      </a:r>
                    </a:p>
                  </a:txBody>
                  <a:tcPr/>
                </a:tc>
                <a:extLst>
                  <a:ext uri="{0D108BD9-81ED-4DB2-BD59-A6C34878D82A}">
                    <a16:rowId xmlns:a16="http://schemas.microsoft.com/office/drawing/2014/main" val="4074003077"/>
                  </a:ext>
                </a:extLst>
              </a:tr>
              <a:tr h="299322">
                <a:tc>
                  <a:txBody>
                    <a:bodyPr/>
                    <a:lstStyle/>
                    <a:p>
                      <a:r>
                        <a:rPr lang="en-US" sz="1600" dirty="0"/>
                        <a:t>:ls</a:t>
                      </a:r>
                    </a:p>
                  </a:txBody>
                  <a:tcPr/>
                </a:tc>
                <a:tc>
                  <a:txBody>
                    <a:bodyPr/>
                    <a:lstStyle/>
                    <a:p>
                      <a:r>
                        <a:rPr lang="en-US" sz="1600" dirty="0"/>
                        <a:t>List open buffers</a:t>
                      </a:r>
                    </a:p>
                  </a:txBody>
                  <a:tcPr/>
                </a:tc>
                <a:extLst>
                  <a:ext uri="{0D108BD9-81ED-4DB2-BD59-A6C34878D82A}">
                    <a16:rowId xmlns:a16="http://schemas.microsoft.com/office/drawing/2014/main" val="136366856"/>
                  </a:ext>
                </a:extLst>
              </a:tr>
              <a:tr h="299322">
                <a:tc>
                  <a:txBody>
                    <a:bodyPr/>
                    <a:lstStyle/>
                    <a:p>
                      <a:r>
                        <a:rPr lang="en-US" sz="1600" dirty="0"/>
                        <a:t>:bn</a:t>
                      </a:r>
                    </a:p>
                  </a:txBody>
                  <a:tcPr/>
                </a:tc>
                <a:tc>
                  <a:txBody>
                    <a:bodyPr/>
                    <a:lstStyle/>
                    <a:p>
                      <a:r>
                        <a:rPr lang="en-US" sz="1600" dirty="0"/>
                        <a:t>Go to next buffer</a:t>
                      </a:r>
                    </a:p>
                  </a:txBody>
                  <a:tcPr/>
                </a:tc>
                <a:extLst>
                  <a:ext uri="{0D108BD9-81ED-4DB2-BD59-A6C34878D82A}">
                    <a16:rowId xmlns:a16="http://schemas.microsoft.com/office/drawing/2014/main" val="2590586422"/>
                  </a:ext>
                </a:extLst>
              </a:tr>
              <a:tr h="299322">
                <a:tc>
                  <a:txBody>
                    <a:bodyPr/>
                    <a:lstStyle/>
                    <a:p>
                      <a:r>
                        <a:rPr lang="en-US" sz="1600" dirty="0" err="1"/>
                        <a:t>ctrl+w</a:t>
                      </a:r>
                      <a:r>
                        <a:rPr lang="en-US" sz="1600" dirty="0"/>
                        <a:t> v</a:t>
                      </a:r>
                    </a:p>
                  </a:txBody>
                  <a:tcPr/>
                </a:tc>
                <a:tc>
                  <a:txBody>
                    <a:bodyPr/>
                    <a:lstStyle/>
                    <a:p>
                      <a:r>
                        <a:rPr lang="en-US" sz="1600" dirty="0"/>
                        <a:t>Split a window vertically (a vertical line splitting window into left and right halves)</a:t>
                      </a:r>
                    </a:p>
                  </a:txBody>
                  <a:tcPr/>
                </a:tc>
                <a:extLst>
                  <a:ext uri="{0D108BD9-81ED-4DB2-BD59-A6C34878D82A}">
                    <a16:rowId xmlns:a16="http://schemas.microsoft.com/office/drawing/2014/main" val="3342881822"/>
                  </a:ext>
                </a:extLst>
              </a:tr>
              <a:tr h="299322">
                <a:tc>
                  <a:txBody>
                    <a:bodyPr/>
                    <a:lstStyle/>
                    <a:p>
                      <a:r>
                        <a:rPr lang="en-US" sz="1600" dirty="0" err="1"/>
                        <a:t>ctrl+w</a:t>
                      </a:r>
                      <a:r>
                        <a:rPr lang="en-US" sz="1600" dirty="0"/>
                        <a:t> s</a:t>
                      </a:r>
                    </a:p>
                  </a:txBody>
                  <a:tcPr/>
                </a:tc>
                <a:tc>
                  <a:txBody>
                    <a:bodyPr/>
                    <a:lstStyle/>
                    <a:p>
                      <a:r>
                        <a:rPr lang="en-US" sz="1600" dirty="0"/>
                        <a:t>Split a window horizontally (horizontal line splitting window to top and bottom)</a:t>
                      </a:r>
                    </a:p>
                  </a:txBody>
                  <a:tcPr/>
                </a:tc>
                <a:extLst>
                  <a:ext uri="{0D108BD9-81ED-4DB2-BD59-A6C34878D82A}">
                    <a16:rowId xmlns:a16="http://schemas.microsoft.com/office/drawing/2014/main" val="2852546245"/>
                  </a:ext>
                </a:extLst>
              </a:tr>
              <a:tr h="299322">
                <a:tc>
                  <a:txBody>
                    <a:bodyPr/>
                    <a:lstStyle/>
                    <a:p>
                      <a:r>
                        <a:rPr lang="en-US" sz="1600" dirty="0" err="1"/>
                        <a:t>ctrl+w</a:t>
                      </a:r>
                      <a:r>
                        <a:rPr lang="en-US" sz="1600" dirty="0"/>
                        <a:t> arrow</a:t>
                      </a:r>
                    </a:p>
                  </a:txBody>
                  <a:tcPr/>
                </a:tc>
                <a:tc>
                  <a:txBody>
                    <a:bodyPr/>
                    <a:lstStyle/>
                    <a:p>
                      <a:r>
                        <a:rPr lang="en-US" sz="1600" dirty="0"/>
                        <a:t>Move to a split window pointed by arrow</a:t>
                      </a:r>
                    </a:p>
                  </a:txBody>
                  <a:tcPr/>
                </a:tc>
                <a:extLst>
                  <a:ext uri="{0D108BD9-81ED-4DB2-BD59-A6C34878D82A}">
                    <a16:rowId xmlns:a16="http://schemas.microsoft.com/office/drawing/2014/main" val="3477197531"/>
                  </a:ext>
                </a:extLst>
              </a:tr>
              <a:tr h="299322">
                <a:tc>
                  <a:txBody>
                    <a:bodyPr/>
                    <a:lstStyle/>
                    <a:p>
                      <a:r>
                        <a:rPr lang="en-US" sz="1600" dirty="0" err="1"/>
                        <a:t>ctlr+w</a:t>
                      </a:r>
                      <a:r>
                        <a:rPr lang="en-US" sz="1600" dirty="0"/>
                        <a:t> w</a:t>
                      </a:r>
                    </a:p>
                  </a:txBody>
                  <a:tcPr/>
                </a:tc>
                <a:tc>
                  <a:txBody>
                    <a:bodyPr/>
                    <a:lstStyle/>
                    <a:p>
                      <a:r>
                        <a:rPr lang="en-US" sz="1600" dirty="0"/>
                        <a:t>Move to another split window</a:t>
                      </a:r>
                    </a:p>
                  </a:txBody>
                  <a:tcPr/>
                </a:tc>
                <a:extLst>
                  <a:ext uri="{0D108BD9-81ED-4DB2-BD59-A6C34878D82A}">
                    <a16:rowId xmlns:a16="http://schemas.microsoft.com/office/drawing/2014/main" val="3065517296"/>
                  </a:ext>
                </a:extLst>
              </a:tr>
              <a:tr h="299322">
                <a:tc>
                  <a:txBody>
                    <a:bodyPr/>
                    <a:lstStyle/>
                    <a:p>
                      <a:r>
                        <a:rPr lang="en-US" sz="1600" dirty="0" err="1"/>
                        <a:t>ctrl+w</a:t>
                      </a:r>
                      <a:r>
                        <a:rPr lang="en-US" sz="1600" dirty="0"/>
                        <a:t> ctrl-r</a:t>
                      </a:r>
                    </a:p>
                  </a:txBody>
                  <a:tcPr/>
                </a:tc>
                <a:tc>
                  <a:txBody>
                    <a:bodyPr/>
                    <a:lstStyle/>
                    <a:p>
                      <a:r>
                        <a:rPr lang="en-US" sz="1600" dirty="0"/>
                        <a:t>Swap the split windows</a:t>
                      </a:r>
                    </a:p>
                  </a:txBody>
                  <a:tcPr/>
                </a:tc>
                <a:extLst>
                  <a:ext uri="{0D108BD9-81ED-4DB2-BD59-A6C34878D82A}">
                    <a16:rowId xmlns:a16="http://schemas.microsoft.com/office/drawing/2014/main" val="2655594832"/>
                  </a:ext>
                </a:extLst>
              </a:tr>
              <a:tr h="299322">
                <a:tc>
                  <a:txBody>
                    <a:bodyPr/>
                    <a:lstStyle/>
                    <a:p>
                      <a:r>
                        <a:rPr lang="en-US" sz="1600" dirty="0"/>
                        <a:t>:only!</a:t>
                      </a:r>
                    </a:p>
                  </a:txBody>
                  <a:tcPr/>
                </a:tc>
                <a:tc>
                  <a:txBody>
                    <a:bodyPr/>
                    <a:lstStyle/>
                    <a:p>
                      <a:r>
                        <a:rPr lang="en-US" sz="1600" dirty="0"/>
                        <a:t>Get rid of all window splits</a:t>
                      </a:r>
                    </a:p>
                  </a:txBody>
                  <a:tcPr/>
                </a:tc>
                <a:extLst>
                  <a:ext uri="{0D108BD9-81ED-4DB2-BD59-A6C34878D82A}">
                    <a16:rowId xmlns:a16="http://schemas.microsoft.com/office/drawing/2014/main" val="2016310185"/>
                  </a:ext>
                </a:extLst>
              </a:tr>
              <a:tr h="299322">
                <a:tc>
                  <a:txBody>
                    <a:bodyPr/>
                    <a:lstStyle/>
                    <a:p>
                      <a:r>
                        <a:rPr lang="en-US" sz="1600" dirty="0"/>
                        <a:t>:hide</a:t>
                      </a:r>
                    </a:p>
                  </a:txBody>
                  <a:tcPr/>
                </a:tc>
                <a:tc>
                  <a:txBody>
                    <a:bodyPr/>
                    <a:lstStyle/>
                    <a:p>
                      <a:r>
                        <a:rPr lang="en-US" sz="1600" dirty="0"/>
                        <a:t>Hide current window split</a:t>
                      </a:r>
                    </a:p>
                  </a:txBody>
                  <a:tcPr/>
                </a:tc>
                <a:extLst>
                  <a:ext uri="{0D108BD9-81ED-4DB2-BD59-A6C34878D82A}">
                    <a16:rowId xmlns:a16="http://schemas.microsoft.com/office/drawing/2014/main" val="2928342329"/>
                  </a:ext>
                </a:extLst>
              </a:tr>
              <a:tr h="299322">
                <a:tc>
                  <a:txBody>
                    <a:bodyPr/>
                    <a:lstStyle/>
                    <a:p>
                      <a:r>
                        <a:rPr lang="en-US" sz="1600" dirty="0"/>
                        <a:t>:</a:t>
                      </a:r>
                      <a:r>
                        <a:rPr lang="en-US" sz="1600" dirty="0" err="1"/>
                        <a:t>tabedit</a:t>
                      </a:r>
                      <a:r>
                        <a:rPr lang="en-US" sz="1600" dirty="0"/>
                        <a:t> file</a:t>
                      </a:r>
                    </a:p>
                  </a:txBody>
                  <a:tcPr/>
                </a:tc>
                <a:tc>
                  <a:txBody>
                    <a:bodyPr/>
                    <a:lstStyle/>
                    <a:p>
                      <a:r>
                        <a:rPr lang="en-US" sz="1600" dirty="0"/>
                        <a:t>Open file into new tab</a:t>
                      </a:r>
                    </a:p>
                  </a:txBody>
                  <a:tcPr/>
                </a:tc>
                <a:extLst>
                  <a:ext uri="{0D108BD9-81ED-4DB2-BD59-A6C34878D82A}">
                    <a16:rowId xmlns:a16="http://schemas.microsoft.com/office/drawing/2014/main" val="3288898710"/>
                  </a:ext>
                </a:extLst>
              </a:tr>
              <a:tr h="299322">
                <a:tc>
                  <a:txBody>
                    <a:bodyPr/>
                    <a:lstStyle/>
                    <a:p>
                      <a:r>
                        <a:rPr lang="en-US" sz="1600" dirty="0"/>
                        <a:t>:tabs</a:t>
                      </a:r>
                    </a:p>
                  </a:txBody>
                  <a:tcPr/>
                </a:tc>
                <a:tc>
                  <a:txBody>
                    <a:bodyPr/>
                    <a:lstStyle/>
                    <a:p>
                      <a:r>
                        <a:rPr lang="en-US" sz="1600" dirty="0"/>
                        <a:t>List all tabs</a:t>
                      </a:r>
                    </a:p>
                  </a:txBody>
                  <a:tcPr/>
                </a:tc>
                <a:extLst>
                  <a:ext uri="{0D108BD9-81ED-4DB2-BD59-A6C34878D82A}">
                    <a16:rowId xmlns:a16="http://schemas.microsoft.com/office/drawing/2014/main" val="1655885924"/>
                  </a:ext>
                </a:extLst>
              </a:tr>
              <a:tr h="299322">
                <a:tc>
                  <a:txBody>
                    <a:bodyPr/>
                    <a:lstStyle/>
                    <a:p>
                      <a:r>
                        <a:rPr lang="en-US" sz="1600" dirty="0" err="1"/>
                        <a:t>gt</a:t>
                      </a:r>
                      <a:endParaRPr lang="en-US" sz="1600" dirty="0"/>
                    </a:p>
                  </a:txBody>
                  <a:tcPr/>
                </a:tc>
                <a:tc>
                  <a:txBody>
                    <a:bodyPr/>
                    <a:lstStyle/>
                    <a:p>
                      <a:r>
                        <a:rPr lang="en-US" sz="1600" dirty="0"/>
                        <a:t>Go to next tab (in normal mode)</a:t>
                      </a:r>
                    </a:p>
                  </a:txBody>
                  <a:tcPr/>
                </a:tc>
                <a:extLst>
                  <a:ext uri="{0D108BD9-81ED-4DB2-BD59-A6C34878D82A}">
                    <a16:rowId xmlns:a16="http://schemas.microsoft.com/office/drawing/2014/main" val="601400434"/>
                  </a:ext>
                </a:extLst>
              </a:tr>
              <a:tr h="299322">
                <a:tc>
                  <a:txBody>
                    <a:bodyPr/>
                    <a:lstStyle/>
                    <a:p>
                      <a:r>
                        <a:rPr lang="en-US" sz="1600" dirty="0" err="1"/>
                        <a:t>gT</a:t>
                      </a:r>
                      <a:endParaRPr lang="en-US" sz="1600" dirty="0"/>
                    </a:p>
                  </a:txBody>
                  <a:tcPr/>
                </a:tc>
                <a:tc>
                  <a:txBody>
                    <a:bodyPr/>
                    <a:lstStyle/>
                    <a:p>
                      <a:r>
                        <a:rPr lang="en-US" sz="1600" dirty="0"/>
                        <a:t>Go to previous tab (in normal mode)</a:t>
                      </a:r>
                    </a:p>
                  </a:txBody>
                  <a:tcPr/>
                </a:tc>
                <a:extLst>
                  <a:ext uri="{0D108BD9-81ED-4DB2-BD59-A6C34878D82A}">
                    <a16:rowId xmlns:a16="http://schemas.microsoft.com/office/drawing/2014/main" val="1187470835"/>
                  </a:ext>
                </a:extLst>
              </a:tr>
            </a:tbl>
          </a:graphicData>
        </a:graphic>
      </p:graphicFrame>
    </p:spTree>
    <p:extLst>
      <p:ext uri="{BB962C8B-B14F-4D97-AF65-F5344CB8AC3E}">
        <p14:creationId xmlns:p14="http://schemas.microsoft.com/office/powerpoint/2010/main" val="11561542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4DE5F52-5DD3-4B66-A958-C39379B47CD5}"/>
              </a:ext>
            </a:extLst>
          </p:cNvPr>
          <p:cNvSpPr>
            <a:spLocks noGrp="1"/>
          </p:cNvSpPr>
          <p:nvPr>
            <p:ph type="title"/>
          </p:nvPr>
        </p:nvSpPr>
        <p:spPr/>
        <p:txBody>
          <a:bodyPr/>
          <a:lstStyle/>
          <a:p>
            <a:r>
              <a:rPr lang="en-US" dirty="0">
                <a:hlinkClick r:id="rId2"/>
              </a:rPr>
              <a:t>Vim Configuration Options</a:t>
            </a:r>
            <a:endParaRPr lang="en-US" dirty="0"/>
          </a:p>
        </p:txBody>
      </p:sp>
      <p:sp>
        <p:nvSpPr>
          <p:cNvPr id="3" name="Sisällön paikkamerkki 2">
            <a:extLst>
              <a:ext uri="{FF2B5EF4-FFF2-40B4-BE49-F238E27FC236}">
                <a16:creationId xmlns:a16="http://schemas.microsoft.com/office/drawing/2014/main" id="{B7CBB52A-DE82-4892-9A33-0B151395D9BD}"/>
              </a:ext>
            </a:extLst>
          </p:cNvPr>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 Use :set ... Or put these to your ~/.</a:t>
            </a:r>
            <a:r>
              <a:rPr lang="en-US" dirty="0" err="1">
                <a:latin typeface="Courier New" panose="02070309020205020404" pitchFamily="49" charset="0"/>
                <a:cs typeface="Courier New" panose="02070309020205020404" pitchFamily="49" charset="0"/>
              </a:rPr>
              <a:t>vimrc</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set encoding=utf-8	# set default encoding to UTF-8</a:t>
            </a:r>
          </a:p>
          <a:p>
            <a:r>
              <a:rPr lang="en-US" dirty="0">
                <a:latin typeface="Courier New" panose="02070309020205020404" pitchFamily="49" charset="0"/>
                <a:cs typeface="Courier New" panose="02070309020205020404" pitchFamily="49" charset="0"/>
              </a:rPr>
              <a:t>set nu			# enable line numbers</a:t>
            </a:r>
          </a:p>
          <a:p>
            <a:r>
              <a:rPr lang="en-US" dirty="0">
                <a:latin typeface="Courier New" panose="02070309020205020404" pitchFamily="49" charset="0"/>
                <a:cs typeface="Courier New" panose="02070309020205020404" pitchFamily="49" charset="0"/>
              </a:rPr>
              <a:t>set </a:t>
            </a:r>
            <a:r>
              <a:rPr lang="en-US" dirty="0" err="1">
                <a:latin typeface="Courier New" panose="02070309020205020404" pitchFamily="49" charset="0"/>
                <a:cs typeface="Courier New" panose="02070309020205020404" pitchFamily="49" charset="0"/>
              </a:rPr>
              <a:t>nonu</a:t>
            </a:r>
            <a:r>
              <a:rPr lang="en-US" dirty="0">
                <a:latin typeface="Courier New" panose="02070309020205020404" pitchFamily="49" charset="0"/>
                <a:cs typeface="Courier New" panose="02070309020205020404" pitchFamily="49" charset="0"/>
              </a:rPr>
              <a:t>			# disable line numbers</a:t>
            </a:r>
          </a:p>
          <a:p>
            <a:r>
              <a:rPr lang="en-US" dirty="0">
                <a:latin typeface="Courier New" panose="02070309020205020404" pitchFamily="49" charset="0"/>
                <a:cs typeface="Courier New" panose="02070309020205020404" pitchFamily="49" charset="0"/>
              </a:rPr>
              <a:t>syntax on		# enable syntax highlighting</a:t>
            </a:r>
          </a:p>
          <a:p>
            <a:r>
              <a:rPr lang="en-US" dirty="0">
                <a:latin typeface="Courier New" panose="02070309020205020404" pitchFamily="49" charset="0"/>
                <a:cs typeface="Courier New" panose="02070309020205020404" pitchFamily="49" charset="0"/>
              </a:rPr>
              <a:t>syntax off		# disable syntax highlighting</a:t>
            </a:r>
          </a:p>
          <a:p>
            <a:r>
              <a:rPr lang="en-US" dirty="0">
                <a:latin typeface="Courier New" panose="02070309020205020404" pitchFamily="49" charset="0"/>
                <a:cs typeface="Courier New" panose="02070309020205020404" pitchFamily="49" charset="0"/>
              </a:rPr>
              <a:t>set spell		# enable spell checking</a:t>
            </a:r>
          </a:p>
          <a:p>
            <a:r>
              <a:rPr lang="en-US" dirty="0">
                <a:latin typeface="Courier New" panose="02070309020205020404" pitchFamily="49" charset="0"/>
                <a:cs typeface="Courier New" panose="02070309020205020404" pitchFamily="49" charset="0"/>
              </a:rPr>
              <a:t>set </a:t>
            </a:r>
            <a:r>
              <a:rPr lang="en-US" dirty="0" err="1">
                <a:latin typeface="Courier New" panose="02070309020205020404" pitchFamily="49" charset="0"/>
                <a:cs typeface="Courier New" panose="02070309020205020404" pitchFamily="49" charset="0"/>
              </a:rPr>
              <a:t>nospell</a:t>
            </a:r>
            <a:r>
              <a:rPr lang="en-US" dirty="0">
                <a:latin typeface="Courier New" panose="02070309020205020404" pitchFamily="49" charset="0"/>
                <a:cs typeface="Courier New" panose="02070309020205020404" pitchFamily="49" charset="0"/>
              </a:rPr>
              <a:t>		# disable spell checking</a:t>
            </a:r>
          </a:p>
          <a:p>
            <a:r>
              <a:rPr lang="en-US" dirty="0">
                <a:latin typeface="Courier New" panose="02070309020205020404" pitchFamily="49" charset="0"/>
                <a:cs typeface="Courier New" panose="02070309020205020404" pitchFamily="49" charset="0"/>
              </a:rPr>
              <a:t>set spell </a:t>
            </a:r>
            <a:r>
              <a:rPr lang="en-US" dirty="0" err="1">
                <a:latin typeface="Courier New" panose="02070309020205020404" pitchFamily="49" charset="0"/>
                <a:cs typeface="Courier New" panose="02070309020205020404" pitchFamily="49" charset="0"/>
              </a:rPr>
              <a:t>spelllang</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en_us</a:t>
            </a:r>
            <a:r>
              <a:rPr lang="en-US" dirty="0">
                <a:latin typeface="Courier New" panose="02070309020205020404" pitchFamily="49" charset="0"/>
                <a:cs typeface="Courier New" panose="02070309020205020404" pitchFamily="49" charset="0"/>
              </a:rPr>
              <a:t>  # set spelling language</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249497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B3D70A6-8436-4AA4-B081-75AE44AD4F0A}"/>
              </a:ext>
            </a:extLst>
          </p:cNvPr>
          <p:cNvSpPr>
            <a:spLocks noGrp="1"/>
          </p:cNvSpPr>
          <p:nvPr>
            <p:ph type="title"/>
          </p:nvPr>
        </p:nvSpPr>
        <p:spPr/>
        <p:txBody>
          <a:bodyPr/>
          <a:lstStyle/>
          <a:p>
            <a:r>
              <a:rPr lang="en-US" dirty="0"/>
              <a:t>Gnu Emacs</a:t>
            </a:r>
          </a:p>
        </p:txBody>
      </p:sp>
      <p:sp>
        <p:nvSpPr>
          <p:cNvPr id="3" name="Sisällön paikkamerkki 2">
            <a:extLst>
              <a:ext uri="{FF2B5EF4-FFF2-40B4-BE49-F238E27FC236}">
                <a16:creationId xmlns:a16="http://schemas.microsoft.com/office/drawing/2014/main" id="{6888D231-3098-44B3-AAA6-A4AB91599489}"/>
              </a:ext>
            </a:extLst>
          </p:cNvPr>
          <p:cNvSpPr>
            <a:spLocks noGrp="1"/>
          </p:cNvSpPr>
          <p:nvPr>
            <p:ph sz="half" idx="1"/>
          </p:nvPr>
        </p:nvSpPr>
        <p:spPr/>
        <p:txBody>
          <a:bodyPr>
            <a:normAutofit fontScale="92500" lnSpcReduction="10000"/>
          </a:bodyPr>
          <a:lstStyle/>
          <a:p>
            <a:r>
              <a:rPr lang="en-US" dirty="0"/>
              <a:t>Gnu Emacs is a very powerful editor / program with almost infinite amount of extensibility and customization options.</a:t>
            </a:r>
          </a:p>
          <a:p>
            <a:r>
              <a:rPr lang="en-US" dirty="0"/>
              <a:t>Emacs is written in C and Emacs Lisp (</a:t>
            </a:r>
            <a:r>
              <a:rPr lang="en-US" dirty="0" err="1"/>
              <a:t>Elisp</a:t>
            </a:r>
            <a:r>
              <a:rPr lang="en-US" dirty="0"/>
              <a:t> .el)</a:t>
            </a:r>
          </a:p>
          <a:p>
            <a:r>
              <a:rPr lang="en-US" dirty="0"/>
              <a:t>Emacs is usually not installed by default, so you need to install it (sudo apt install emacs-</a:t>
            </a:r>
            <a:r>
              <a:rPr lang="en-US" dirty="0" err="1"/>
              <a:t>nox</a:t>
            </a:r>
            <a:r>
              <a:rPr lang="en-US" dirty="0"/>
              <a:t>).</a:t>
            </a:r>
          </a:p>
          <a:p>
            <a:r>
              <a:rPr lang="en-US" dirty="0"/>
              <a:t>Emacs is arguably easier to learn the basics than vi, but it takes forever to master.</a:t>
            </a:r>
          </a:p>
          <a:p>
            <a:endParaRPr lang="en-US" dirty="0"/>
          </a:p>
        </p:txBody>
      </p:sp>
      <p:pic>
        <p:nvPicPr>
          <p:cNvPr id="6" name="Sisällön paikkamerkki 5">
            <a:extLst>
              <a:ext uri="{FF2B5EF4-FFF2-40B4-BE49-F238E27FC236}">
                <a16:creationId xmlns:a16="http://schemas.microsoft.com/office/drawing/2014/main" id="{B16FBBD1-E2AC-4309-82B1-CF94F4DEE2C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33673" y="546894"/>
            <a:ext cx="5181600" cy="3454400"/>
          </a:xfrm>
        </p:spPr>
      </p:pic>
    </p:spTree>
    <p:extLst>
      <p:ext uri="{BB962C8B-B14F-4D97-AF65-F5344CB8AC3E}">
        <p14:creationId xmlns:p14="http://schemas.microsoft.com/office/powerpoint/2010/main" val="15908217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94BA2A9-A9D0-428C-87AA-6ACED1F418BB}"/>
              </a:ext>
            </a:extLst>
          </p:cNvPr>
          <p:cNvSpPr>
            <a:spLocks noGrp="1"/>
          </p:cNvSpPr>
          <p:nvPr>
            <p:ph type="title"/>
          </p:nvPr>
        </p:nvSpPr>
        <p:spPr/>
        <p:txBody>
          <a:bodyPr/>
          <a:lstStyle/>
          <a:p>
            <a:r>
              <a:rPr lang="en-US" dirty="0"/>
              <a:t>Emacs Terminology</a:t>
            </a:r>
          </a:p>
        </p:txBody>
      </p:sp>
      <p:sp>
        <p:nvSpPr>
          <p:cNvPr id="3" name="Sisällön paikkamerkki 2">
            <a:extLst>
              <a:ext uri="{FF2B5EF4-FFF2-40B4-BE49-F238E27FC236}">
                <a16:creationId xmlns:a16="http://schemas.microsoft.com/office/drawing/2014/main" id="{42F1138F-2678-4230-ACF5-4F8B1ABCF81D}"/>
              </a:ext>
            </a:extLst>
          </p:cNvPr>
          <p:cNvSpPr>
            <a:spLocks noGrp="1"/>
          </p:cNvSpPr>
          <p:nvPr>
            <p:ph idx="1"/>
          </p:nvPr>
        </p:nvSpPr>
        <p:spPr/>
        <p:txBody>
          <a:bodyPr>
            <a:normAutofit lnSpcReduction="10000"/>
          </a:bodyPr>
          <a:lstStyle/>
          <a:p>
            <a:r>
              <a:rPr lang="en-US" dirty="0"/>
              <a:t>Buffer is where you do your edits. Buffers can be saved to files.</a:t>
            </a:r>
          </a:p>
          <a:p>
            <a:r>
              <a:rPr lang="en-US" dirty="0"/>
              <a:t>Major-mode e.g. alt-x python-mode or alt-x text-mode</a:t>
            </a:r>
          </a:p>
          <a:p>
            <a:r>
              <a:rPr lang="en-US" dirty="0"/>
              <a:t>Minor modes e.g. auto-fill-mode, follow-mode, </a:t>
            </a:r>
            <a:r>
              <a:rPr lang="en-US" dirty="0" err="1"/>
              <a:t>flyspell</a:t>
            </a:r>
            <a:r>
              <a:rPr lang="en-US" dirty="0"/>
              <a:t>-mode</a:t>
            </a:r>
          </a:p>
          <a:p>
            <a:r>
              <a:rPr lang="en-US" dirty="0"/>
              <a:t>Mini-buffer = the bottom line, used for command input, file paths</a:t>
            </a:r>
          </a:p>
          <a:p>
            <a:r>
              <a:rPr lang="en-US" dirty="0"/>
              <a:t>Status bar = Just above bottom line, showing modes, line number and other information</a:t>
            </a:r>
          </a:p>
          <a:p>
            <a:r>
              <a:rPr lang="en-US" dirty="0"/>
              <a:t>Menu = Enabled by F10</a:t>
            </a:r>
          </a:p>
          <a:p>
            <a:r>
              <a:rPr lang="en-US" dirty="0"/>
              <a:t>Meta key (M) e.g. "M-x" means "ESC x" or "</a:t>
            </a:r>
            <a:r>
              <a:rPr lang="en-US" dirty="0" err="1"/>
              <a:t>alt+x</a:t>
            </a:r>
            <a:r>
              <a:rPr lang="en-US" dirty="0"/>
              <a:t>"</a:t>
            </a:r>
          </a:p>
          <a:p>
            <a:r>
              <a:rPr lang="en-US" dirty="0"/>
              <a:t>Control key (C) e.g. "C-x C-f" means control-x control-f </a:t>
            </a:r>
          </a:p>
          <a:p>
            <a:endParaRPr lang="en-US" dirty="0"/>
          </a:p>
          <a:p>
            <a:endParaRPr lang="en-US" dirty="0"/>
          </a:p>
        </p:txBody>
      </p:sp>
    </p:spTree>
    <p:extLst>
      <p:ext uri="{BB962C8B-B14F-4D97-AF65-F5344CB8AC3E}">
        <p14:creationId xmlns:p14="http://schemas.microsoft.com/office/powerpoint/2010/main" val="30428398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tsikko 6">
            <a:extLst>
              <a:ext uri="{FF2B5EF4-FFF2-40B4-BE49-F238E27FC236}">
                <a16:creationId xmlns:a16="http://schemas.microsoft.com/office/drawing/2014/main" id="{7F7EC819-E5EB-40D2-94C3-A554B20AD933}"/>
              </a:ext>
            </a:extLst>
          </p:cNvPr>
          <p:cNvSpPr>
            <a:spLocks noGrp="1"/>
          </p:cNvSpPr>
          <p:nvPr>
            <p:ph type="title"/>
          </p:nvPr>
        </p:nvSpPr>
        <p:spPr/>
        <p:txBody>
          <a:bodyPr/>
          <a:lstStyle/>
          <a:p>
            <a:r>
              <a:rPr lang="en-US" dirty="0"/>
              <a:t>Emacs Command Line</a:t>
            </a:r>
          </a:p>
        </p:txBody>
      </p:sp>
      <p:sp>
        <p:nvSpPr>
          <p:cNvPr id="8" name="Sisällön paikkamerkki 7">
            <a:extLst>
              <a:ext uri="{FF2B5EF4-FFF2-40B4-BE49-F238E27FC236}">
                <a16:creationId xmlns:a16="http://schemas.microsoft.com/office/drawing/2014/main" id="{0C84400B-7904-49FF-8F90-BDD1F43EE21E}"/>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emacs [</a:t>
            </a:r>
            <a:r>
              <a:rPr lang="en-US" dirty="0" err="1">
                <a:latin typeface="Courier New" panose="02070309020205020404" pitchFamily="49" charset="0"/>
                <a:cs typeface="Courier New" panose="02070309020205020404" pitchFamily="49" charset="0"/>
              </a:rPr>
              <a:t>fileS</a:t>
            </a:r>
            <a:r>
              <a:rPr lang="en-US" dirty="0">
                <a:latin typeface="Courier New" panose="02070309020205020404" pitchFamily="49" charset="0"/>
                <a:cs typeface="Courier New" panose="02070309020205020404" pitchFamily="49" charset="0"/>
              </a:rPr>
              <a:t>]	# open zero to multiple files at once</a:t>
            </a:r>
          </a:p>
          <a:p>
            <a:r>
              <a:rPr lang="en-US" dirty="0">
                <a:latin typeface="Courier New" panose="02070309020205020404" pitchFamily="49" charset="0"/>
                <a:cs typeface="Courier New" panose="02070309020205020404" pitchFamily="49" charset="0"/>
              </a:rPr>
              <a:t>emacs +n file	# open file at line number n</a:t>
            </a:r>
          </a:p>
          <a:p>
            <a:r>
              <a:rPr lang="en-US" dirty="0">
                <a:latin typeface="Courier New" panose="02070309020205020404" pitchFamily="49" charset="0"/>
                <a:cs typeface="Courier New" panose="02070309020205020404" pitchFamily="49" charset="0"/>
              </a:rPr>
              <a:t>emacs -</a:t>
            </a:r>
            <a:r>
              <a:rPr lang="en-US" dirty="0" err="1">
                <a:latin typeface="Courier New" panose="02070309020205020404" pitchFamily="49" charset="0"/>
                <a:cs typeface="Courier New" panose="02070309020205020404" pitchFamily="49" charset="0"/>
              </a:rPr>
              <a:t>nw</a:t>
            </a:r>
            <a:r>
              <a:rPr lang="en-US" dirty="0">
                <a:latin typeface="Courier New" panose="02070309020205020404" pitchFamily="49" charset="0"/>
                <a:cs typeface="Courier New" panose="02070309020205020404" pitchFamily="49" charset="0"/>
              </a:rPr>
              <a:t>		# start emacs without Windows</a:t>
            </a:r>
          </a:p>
          <a:p>
            <a:r>
              <a:rPr lang="en-US" dirty="0">
                <a:latin typeface="Courier New" panose="02070309020205020404" pitchFamily="49" charset="0"/>
                <a:cs typeface="Courier New" panose="02070309020205020404" pitchFamily="49" charset="0"/>
              </a:rPr>
              <a:t>emacs -q		# open emacs with no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 file</a:t>
            </a:r>
          </a:p>
          <a:p>
            <a:r>
              <a:rPr lang="en-US" dirty="0">
                <a:latin typeface="Courier New" panose="02070309020205020404" pitchFamily="49" charset="0"/>
                <a:cs typeface="Courier New" panose="02070309020205020404" pitchFamily="49" charset="0"/>
              </a:rPr>
              <a:t>emacs -Q		# open emacs in Quick mode</a:t>
            </a:r>
          </a:p>
          <a:p>
            <a:r>
              <a:rPr lang="en-US" dirty="0">
                <a:latin typeface="Courier New" panose="02070309020205020404" pitchFamily="49" charset="0"/>
                <a:cs typeface="Courier New" panose="02070309020205020404" pitchFamily="49" charset="0"/>
              </a:rPr>
              <a:t>emacs -batch test.txt --eval '(replace-string "old" "new")' -f save-buffer</a:t>
            </a:r>
          </a:p>
          <a:p>
            <a:endParaRPr lang="en-US" dirty="0"/>
          </a:p>
        </p:txBody>
      </p:sp>
    </p:spTree>
    <p:extLst>
      <p:ext uri="{BB962C8B-B14F-4D97-AF65-F5344CB8AC3E}">
        <p14:creationId xmlns:p14="http://schemas.microsoft.com/office/powerpoint/2010/main" val="34579102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35DD37A-5FF4-4120-B788-FC6C39A48BA1}"/>
              </a:ext>
            </a:extLst>
          </p:cNvPr>
          <p:cNvSpPr>
            <a:spLocks noGrp="1"/>
          </p:cNvSpPr>
          <p:nvPr>
            <p:ph type="title"/>
          </p:nvPr>
        </p:nvSpPr>
        <p:spPr/>
        <p:txBody>
          <a:bodyPr/>
          <a:lstStyle/>
          <a:p>
            <a:r>
              <a:rPr lang="en-US" dirty="0"/>
              <a:t>Emacs Navigation</a:t>
            </a:r>
          </a:p>
        </p:txBody>
      </p:sp>
      <p:graphicFrame>
        <p:nvGraphicFramePr>
          <p:cNvPr id="4" name="Taulukko 4">
            <a:extLst>
              <a:ext uri="{FF2B5EF4-FFF2-40B4-BE49-F238E27FC236}">
                <a16:creationId xmlns:a16="http://schemas.microsoft.com/office/drawing/2014/main" id="{006D40A7-C671-41C1-ADFB-0CBD70E624CE}"/>
              </a:ext>
            </a:extLst>
          </p:cNvPr>
          <p:cNvGraphicFramePr>
            <a:graphicFrameLocks noGrp="1"/>
          </p:cNvGraphicFramePr>
          <p:nvPr>
            <p:ph idx="1"/>
            <p:extLst>
              <p:ext uri="{D42A27DB-BD31-4B8C-83A1-F6EECF244321}">
                <p14:modId xmlns:p14="http://schemas.microsoft.com/office/powerpoint/2010/main" val="4163151568"/>
              </p:ext>
            </p:extLst>
          </p:nvPr>
        </p:nvGraphicFramePr>
        <p:xfrm>
          <a:off x="838200" y="1472699"/>
          <a:ext cx="10515600" cy="5181600"/>
        </p:xfrm>
        <a:graphic>
          <a:graphicData uri="http://schemas.openxmlformats.org/drawingml/2006/table">
            <a:tbl>
              <a:tblPr firstRow="1" bandRow="1">
                <a:tableStyleId>{5C22544A-7EE6-4342-B048-85BDC9FD1C3A}</a:tableStyleId>
              </a:tblPr>
              <a:tblGrid>
                <a:gridCol w="1552787">
                  <a:extLst>
                    <a:ext uri="{9D8B030D-6E8A-4147-A177-3AD203B41FA5}">
                      <a16:colId xmlns:a16="http://schemas.microsoft.com/office/drawing/2014/main" val="3112741343"/>
                    </a:ext>
                  </a:extLst>
                </a:gridCol>
                <a:gridCol w="8962813">
                  <a:extLst>
                    <a:ext uri="{9D8B030D-6E8A-4147-A177-3AD203B41FA5}">
                      <a16:colId xmlns:a16="http://schemas.microsoft.com/office/drawing/2014/main" val="3000483801"/>
                    </a:ext>
                  </a:extLst>
                </a:gridCol>
              </a:tblGrid>
              <a:tr h="282339">
                <a:tc>
                  <a:txBody>
                    <a:bodyPr/>
                    <a:lstStyle/>
                    <a:p>
                      <a:r>
                        <a:rPr lang="en-US" sz="1400" dirty="0"/>
                        <a:t>Key</a:t>
                      </a:r>
                    </a:p>
                  </a:txBody>
                  <a:tcPr/>
                </a:tc>
                <a:tc>
                  <a:txBody>
                    <a:bodyPr/>
                    <a:lstStyle/>
                    <a:p>
                      <a:r>
                        <a:rPr lang="en-US" sz="1400" dirty="0"/>
                        <a:t>Description</a:t>
                      </a:r>
                    </a:p>
                  </a:txBody>
                  <a:tcPr/>
                </a:tc>
                <a:extLst>
                  <a:ext uri="{0D108BD9-81ED-4DB2-BD59-A6C34878D82A}">
                    <a16:rowId xmlns:a16="http://schemas.microsoft.com/office/drawing/2014/main" val="2257039161"/>
                  </a:ext>
                </a:extLst>
              </a:tr>
              <a:tr h="282339">
                <a:tc>
                  <a:txBody>
                    <a:bodyPr/>
                    <a:lstStyle/>
                    <a:p>
                      <a:r>
                        <a:rPr lang="en-US" sz="1400" dirty="0"/>
                        <a:t>ctrl+left</a:t>
                      </a:r>
                    </a:p>
                  </a:txBody>
                  <a:tcPr/>
                </a:tc>
                <a:tc rowSpan="2">
                  <a:txBody>
                    <a:bodyPr/>
                    <a:lstStyle/>
                    <a:p>
                      <a:r>
                        <a:rPr lang="en-US" sz="1400" dirty="0"/>
                        <a:t>move cursor left by word</a:t>
                      </a:r>
                    </a:p>
                  </a:txBody>
                  <a:tcPr/>
                </a:tc>
                <a:extLst>
                  <a:ext uri="{0D108BD9-81ED-4DB2-BD59-A6C34878D82A}">
                    <a16:rowId xmlns:a16="http://schemas.microsoft.com/office/drawing/2014/main" val="130462551"/>
                  </a:ext>
                </a:extLst>
              </a:tr>
              <a:tr h="282339">
                <a:tc>
                  <a:txBody>
                    <a:bodyPr/>
                    <a:lstStyle/>
                    <a:p>
                      <a:r>
                        <a:rPr lang="en-US" sz="1400" dirty="0"/>
                        <a:t>alt+b</a:t>
                      </a:r>
                    </a:p>
                  </a:txBody>
                  <a:tcPr/>
                </a:tc>
                <a:tc vMerge="1">
                  <a:txBody>
                    <a:bodyPr/>
                    <a:lstStyle/>
                    <a:p>
                      <a:endParaRPr lang="en-US" dirty="0"/>
                    </a:p>
                  </a:txBody>
                  <a:tcPr/>
                </a:tc>
                <a:extLst>
                  <a:ext uri="{0D108BD9-81ED-4DB2-BD59-A6C34878D82A}">
                    <a16:rowId xmlns:a16="http://schemas.microsoft.com/office/drawing/2014/main" val="327489621"/>
                  </a:ext>
                </a:extLst>
              </a:tr>
              <a:tr h="282339">
                <a:tc>
                  <a:txBody>
                    <a:bodyPr/>
                    <a:lstStyle/>
                    <a:p>
                      <a:r>
                        <a:rPr lang="en-US" sz="1400" dirty="0"/>
                        <a:t>ctrl+right</a:t>
                      </a:r>
                    </a:p>
                  </a:txBody>
                  <a:tcPr/>
                </a:tc>
                <a:tc rowSpan="2">
                  <a:txBody>
                    <a:bodyPr/>
                    <a:lstStyle/>
                    <a:p>
                      <a:r>
                        <a:rPr lang="en-US" sz="1400" dirty="0"/>
                        <a:t>move cursor right by word</a:t>
                      </a:r>
                    </a:p>
                  </a:txBody>
                  <a:tcPr/>
                </a:tc>
                <a:extLst>
                  <a:ext uri="{0D108BD9-81ED-4DB2-BD59-A6C34878D82A}">
                    <a16:rowId xmlns:a16="http://schemas.microsoft.com/office/drawing/2014/main" val="3884207134"/>
                  </a:ext>
                </a:extLst>
              </a:tr>
              <a:tr h="282339">
                <a:tc>
                  <a:txBody>
                    <a:bodyPr/>
                    <a:lstStyle/>
                    <a:p>
                      <a:r>
                        <a:rPr lang="en-US" sz="1400" dirty="0"/>
                        <a:t>alt+f</a:t>
                      </a:r>
                    </a:p>
                  </a:txBody>
                  <a:tcPr/>
                </a:tc>
                <a:tc vMerge="1">
                  <a:txBody>
                    <a:bodyPr/>
                    <a:lstStyle/>
                    <a:p>
                      <a:endParaRPr lang="en-US" dirty="0"/>
                    </a:p>
                  </a:txBody>
                  <a:tcPr/>
                </a:tc>
                <a:extLst>
                  <a:ext uri="{0D108BD9-81ED-4DB2-BD59-A6C34878D82A}">
                    <a16:rowId xmlns:a16="http://schemas.microsoft.com/office/drawing/2014/main" val="995597862"/>
                  </a:ext>
                </a:extLst>
              </a:tr>
              <a:tr h="282339">
                <a:tc>
                  <a:txBody>
                    <a:bodyPr/>
                    <a:lstStyle/>
                    <a:p>
                      <a:r>
                        <a:rPr lang="en-US" sz="1400" dirty="0"/>
                        <a:t>ctrl+a</a:t>
                      </a:r>
                    </a:p>
                  </a:txBody>
                  <a:tcPr/>
                </a:tc>
                <a:tc rowSpan="2">
                  <a:txBody>
                    <a:bodyPr/>
                    <a:lstStyle/>
                    <a:p>
                      <a:r>
                        <a:rPr lang="en-US" sz="1400" dirty="0"/>
                        <a:t>beginning of line</a:t>
                      </a:r>
                    </a:p>
                  </a:txBody>
                  <a:tcPr/>
                </a:tc>
                <a:extLst>
                  <a:ext uri="{0D108BD9-81ED-4DB2-BD59-A6C34878D82A}">
                    <a16:rowId xmlns:a16="http://schemas.microsoft.com/office/drawing/2014/main" val="278581765"/>
                  </a:ext>
                </a:extLst>
              </a:tr>
              <a:tr h="282339">
                <a:tc>
                  <a:txBody>
                    <a:bodyPr/>
                    <a:lstStyle/>
                    <a:p>
                      <a:r>
                        <a:rPr lang="en-US" sz="1400" dirty="0"/>
                        <a:t>Home</a:t>
                      </a:r>
                    </a:p>
                  </a:txBody>
                  <a:tcPr/>
                </a:tc>
                <a:tc vMerge="1">
                  <a:txBody>
                    <a:bodyPr/>
                    <a:lstStyle/>
                    <a:p>
                      <a:endParaRPr lang="en-US" sz="1600" dirty="0"/>
                    </a:p>
                  </a:txBody>
                  <a:tcPr/>
                </a:tc>
                <a:extLst>
                  <a:ext uri="{0D108BD9-81ED-4DB2-BD59-A6C34878D82A}">
                    <a16:rowId xmlns:a16="http://schemas.microsoft.com/office/drawing/2014/main" val="2489294780"/>
                  </a:ext>
                </a:extLst>
              </a:tr>
              <a:tr h="282339">
                <a:tc>
                  <a:txBody>
                    <a:bodyPr/>
                    <a:lstStyle/>
                    <a:p>
                      <a:r>
                        <a:rPr lang="en-US" sz="1400" dirty="0"/>
                        <a:t>ctrl+e</a:t>
                      </a:r>
                    </a:p>
                  </a:txBody>
                  <a:tcPr/>
                </a:tc>
                <a:tc rowSpan="2">
                  <a:txBody>
                    <a:bodyPr/>
                    <a:lstStyle/>
                    <a:p>
                      <a:r>
                        <a:rPr lang="en-US" sz="1400" dirty="0"/>
                        <a:t>end of line</a:t>
                      </a:r>
                    </a:p>
                  </a:txBody>
                  <a:tcPr/>
                </a:tc>
                <a:extLst>
                  <a:ext uri="{0D108BD9-81ED-4DB2-BD59-A6C34878D82A}">
                    <a16:rowId xmlns:a16="http://schemas.microsoft.com/office/drawing/2014/main" val="3522318674"/>
                  </a:ext>
                </a:extLst>
              </a:tr>
              <a:tr h="282339">
                <a:tc>
                  <a:txBody>
                    <a:bodyPr/>
                    <a:lstStyle/>
                    <a:p>
                      <a:r>
                        <a:rPr lang="en-US" sz="1400" dirty="0"/>
                        <a:t>end</a:t>
                      </a:r>
                    </a:p>
                  </a:txBody>
                  <a:tcPr/>
                </a:tc>
                <a:tc vMerge="1">
                  <a:txBody>
                    <a:bodyPr/>
                    <a:lstStyle/>
                    <a:p>
                      <a:endParaRPr lang="en-US" sz="1600" dirty="0"/>
                    </a:p>
                  </a:txBody>
                  <a:tcPr/>
                </a:tc>
                <a:extLst>
                  <a:ext uri="{0D108BD9-81ED-4DB2-BD59-A6C34878D82A}">
                    <a16:rowId xmlns:a16="http://schemas.microsoft.com/office/drawing/2014/main" val="642550153"/>
                  </a:ext>
                </a:extLst>
              </a:tr>
              <a:tr h="282339">
                <a:tc>
                  <a:txBody>
                    <a:bodyPr/>
                    <a:lstStyle/>
                    <a:p>
                      <a:r>
                        <a:rPr lang="en-US" sz="1400" dirty="0"/>
                        <a:t>ctrl+home</a:t>
                      </a:r>
                    </a:p>
                  </a:txBody>
                  <a:tcPr/>
                </a:tc>
                <a:tc rowSpan="2">
                  <a:txBody>
                    <a:bodyPr/>
                    <a:lstStyle/>
                    <a:p>
                      <a:r>
                        <a:rPr lang="en-US" sz="1400" dirty="0"/>
                        <a:t>beginning of buffer</a:t>
                      </a:r>
                    </a:p>
                  </a:txBody>
                  <a:tcPr/>
                </a:tc>
                <a:extLst>
                  <a:ext uri="{0D108BD9-81ED-4DB2-BD59-A6C34878D82A}">
                    <a16:rowId xmlns:a16="http://schemas.microsoft.com/office/drawing/2014/main" val="4086622191"/>
                  </a:ext>
                </a:extLst>
              </a:tr>
              <a:tr h="282339">
                <a:tc>
                  <a:txBody>
                    <a:bodyPr/>
                    <a:lstStyle/>
                    <a:p>
                      <a:r>
                        <a:rPr lang="en-US" sz="1400" dirty="0"/>
                        <a:t>alt+&lt;</a:t>
                      </a:r>
                    </a:p>
                  </a:txBody>
                  <a:tcPr/>
                </a:tc>
                <a:tc vMerge="1">
                  <a:txBody>
                    <a:bodyPr/>
                    <a:lstStyle/>
                    <a:p>
                      <a:endParaRPr lang="en-US" dirty="0"/>
                    </a:p>
                  </a:txBody>
                  <a:tcPr/>
                </a:tc>
                <a:extLst>
                  <a:ext uri="{0D108BD9-81ED-4DB2-BD59-A6C34878D82A}">
                    <a16:rowId xmlns:a16="http://schemas.microsoft.com/office/drawing/2014/main" val="3325058763"/>
                  </a:ext>
                </a:extLst>
              </a:tr>
              <a:tr h="282339">
                <a:tc>
                  <a:txBody>
                    <a:bodyPr/>
                    <a:lstStyle/>
                    <a:p>
                      <a:r>
                        <a:rPr lang="en-US" sz="1400" dirty="0"/>
                        <a:t>ctrl+end</a:t>
                      </a:r>
                    </a:p>
                  </a:txBody>
                  <a:tcPr/>
                </a:tc>
                <a:tc rowSpan="2">
                  <a:txBody>
                    <a:bodyPr/>
                    <a:lstStyle/>
                    <a:p>
                      <a:r>
                        <a:rPr lang="en-US" sz="1400" dirty="0"/>
                        <a:t>end of buffer</a:t>
                      </a:r>
                    </a:p>
                  </a:txBody>
                  <a:tcPr/>
                </a:tc>
                <a:extLst>
                  <a:ext uri="{0D108BD9-81ED-4DB2-BD59-A6C34878D82A}">
                    <a16:rowId xmlns:a16="http://schemas.microsoft.com/office/drawing/2014/main" val="434299409"/>
                  </a:ext>
                </a:extLst>
              </a:tr>
              <a:tr h="282339">
                <a:tc>
                  <a:txBody>
                    <a:bodyPr/>
                    <a:lstStyle/>
                    <a:p>
                      <a:r>
                        <a:rPr lang="en-US" sz="1400" dirty="0"/>
                        <a:t>alt+&gt;</a:t>
                      </a:r>
                    </a:p>
                  </a:txBody>
                  <a:tcPr/>
                </a:tc>
                <a:tc vMerge="1">
                  <a:txBody>
                    <a:bodyPr/>
                    <a:lstStyle/>
                    <a:p>
                      <a:endParaRPr lang="en-US" dirty="0"/>
                    </a:p>
                  </a:txBody>
                  <a:tcPr/>
                </a:tc>
                <a:extLst>
                  <a:ext uri="{0D108BD9-81ED-4DB2-BD59-A6C34878D82A}">
                    <a16:rowId xmlns:a16="http://schemas.microsoft.com/office/drawing/2014/main" val="608383808"/>
                  </a:ext>
                </a:extLst>
              </a:tr>
              <a:tr h="282339">
                <a:tc>
                  <a:txBody>
                    <a:bodyPr/>
                    <a:lstStyle/>
                    <a:p>
                      <a:r>
                        <a:rPr lang="en-US" sz="1400" dirty="0"/>
                        <a:t>ctrl+v</a:t>
                      </a:r>
                    </a:p>
                  </a:txBody>
                  <a:tcPr/>
                </a:tc>
                <a:tc rowSpan="2">
                  <a:txBody>
                    <a:bodyPr/>
                    <a:lstStyle/>
                    <a:p>
                      <a:r>
                        <a:rPr lang="en-US" sz="1400" dirty="0"/>
                        <a:t>page down</a:t>
                      </a:r>
                    </a:p>
                  </a:txBody>
                  <a:tcPr/>
                </a:tc>
                <a:extLst>
                  <a:ext uri="{0D108BD9-81ED-4DB2-BD59-A6C34878D82A}">
                    <a16:rowId xmlns:a16="http://schemas.microsoft.com/office/drawing/2014/main" val="1851733284"/>
                  </a:ext>
                </a:extLst>
              </a:tr>
              <a:tr h="282339">
                <a:tc>
                  <a:txBody>
                    <a:bodyPr/>
                    <a:lstStyle/>
                    <a:p>
                      <a:r>
                        <a:rPr lang="en-US" sz="1400" dirty="0"/>
                        <a:t>page down </a:t>
                      </a:r>
                    </a:p>
                  </a:txBody>
                  <a:tcPr/>
                </a:tc>
                <a:tc vMerge="1">
                  <a:txBody>
                    <a:bodyPr/>
                    <a:lstStyle/>
                    <a:p>
                      <a:endParaRPr lang="en-US" dirty="0"/>
                    </a:p>
                  </a:txBody>
                  <a:tcPr/>
                </a:tc>
                <a:extLst>
                  <a:ext uri="{0D108BD9-81ED-4DB2-BD59-A6C34878D82A}">
                    <a16:rowId xmlns:a16="http://schemas.microsoft.com/office/drawing/2014/main" val="3952862597"/>
                  </a:ext>
                </a:extLst>
              </a:tr>
              <a:tr h="282339">
                <a:tc>
                  <a:txBody>
                    <a:bodyPr/>
                    <a:lstStyle/>
                    <a:p>
                      <a:r>
                        <a:rPr lang="en-US" sz="1400" dirty="0"/>
                        <a:t>alt+v </a:t>
                      </a:r>
                    </a:p>
                  </a:txBody>
                  <a:tcPr/>
                </a:tc>
                <a:tc rowSpan="2">
                  <a:txBody>
                    <a:bodyPr/>
                    <a:lstStyle/>
                    <a:p>
                      <a:r>
                        <a:rPr lang="en-US" sz="1400" dirty="0"/>
                        <a:t>page up</a:t>
                      </a:r>
                    </a:p>
                  </a:txBody>
                  <a:tcPr/>
                </a:tc>
                <a:extLst>
                  <a:ext uri="{0D108BD9-81ED-4DB2-BD59-A6C34878D82A}">
                    <a16:rowId xmlns:a16="http://schemas.microsoft.com/office/drawing/2014/main" val="1507857987"/>
                  </a:ext>
                </a:extLst>
              </a:tr>
              <a:tr h="282339">
                <a:tc>
                  <a:txBody>
                    <a:bodyPr/>
                    <a:lstStyle/>
                    <a:p>
                      <a:r>
                        <a:rPr lang="en-US" sz="1400" dirty="0"/>
                        <a:t>page up</a:t>
                      </a:r>
                    </a:p>
                  </a:txBody>
                  <a:tcPr/>
                </a:tc>
                <a:tc vMerge="1">
                  <a:txBody>
                    <a:bodyPr/>
                    <a:lstStyle/>
                    <a:p>
                      <a:endParaRPr lang="en-US" dirty="0"/>
                    </a:p>
                  </a:txBody>
                  <a:tcPr/>
                </a:tc>
                <a:extLst>
                  <a:ext uri="{0D108BD9-81ED-4DB2-BD59-A6C34878D82A}">
                    <a16:rowId xmlns:a16="http://schemas.microsoft.com/office/drawing/2014/main" val="2448632203"/>
                  </a:ext>
                </a:extLst>
              </a:tr>
            </a:tbl>
          </a:graphicData>
        </a:graphic>
      </p:graphicFrame>
    </p:spTree>
    <p:extLst>
      <p:ext uri="{BB962C8B-B14F-4D97-AF65-F5344CB8AC3E}">
        <p14:creationId xmlns:p14="http://schemas.microsoft.com/office/powerpoint/2010/main" val="885353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6487656-2840-40A0-B194-5B3F6D6494B2}"/>
              </a:ext>
            </a:extLst>
          </p:cNvPr>
          <p:cNvSpPr>
            <a:spLocks noGrp="1"/>
          </p:cNvSpPr>
          <p:nvPr>
            <p:ph type="title"/>
          </p:nvPr>
        </p:nvSpPr>
        <p:spPr/>
        <p:txBody>
          <a:bodyPr/>
          <a:lstStyle/>
          <a:p>
            <a:r>
              <a:rPr lang="en-US" dirty="0"/>
              <a:t>Emacs Save, Quit, Menu etc.</a:t>
            </a:r>
          </a:p>
        </p:txBody>
      </p:sp>
      <p:graphicFrame>
        <p:nvGraphicFramePr>
          <p:cNvPr id="4" name="Taulukko 4">
            <a:extLst>
              <a:ext uri="{FF2B5EF4-FFF2-40B4-BE49-F238E27FC236}">
                <a16:creationId xmlns:a16="http://schemas.microsoft.com/office/drawing/2014/main" id="{9F28303B-F429-4720-BCAF-285A0F53CF5D}"/>
              </a:ext>
            </a:extLst>
          </p:cNvPr>
          <p:cNvGraphicFramePr>
            <a:graphicFrameLocks noGrp="1"/>
          </p:cNvGraphicFramePr>
          <p:nvPr>
            <p:ph idx="1"/>
            <p:extLst>
              <p:ext uri="{D42A27DB-BD31-4B8C-83A1-F6EECF244321}">
                <p14:modId xmlns:p14="http://schemas.microsoft.com/office/powerpoint/2010/main" val="3417407147"/>
              </p:ext>
            </p:extLst>
          </p:nvPr>
        </p:nvGraphicFramePr>
        <p:xfrm>
          <a:off x="838200" y="1671955"/>
          <a:ext cx="10515600" cy="4820920"/>
        </p:xfrm>
        <a:graphic>
          <a:graphicData uri="http://schemas.openxmlformats.org/drawingml/2006/table">
            <a:tbl>
              <a:tblPr firstRow="1" bandRow="1">
                <a:tableStyleId>{5C22544A-7EE6-4342-B048-85BDC9FD1C3A}</a:tableStyleId>
              </a:tblPr>
              <a:tblGrid>
                <a:gridCol w="2378242">
                  <a:extLst>
                    <a:ext uri="{9D8B030D-6E8A-4147-A177-3AD203B41FA5}">
                      <a16:colId xmlns:a16="http://schemas.microsoft.com/office/drawing/2014/main" val="21143485"/>
                    </a:ext>
                  </a:extLst>
                </a:gridCol>
                <a:gridCol w="8137358">
                  <a:extLst>
                    <a:ext uri="{9D8B030D-6E8A-4147-A177-3AD203B41FA5}">
                      <a16:colId xmlns:a16="http://schemas.microsoft.com/office/drawing/2014/main" val="2986031753"/>
                    </a:ext>
                  </a:extLst>
                </a:gridCol>
              </a:tblGrid>
              <a:tr h="370840">
                <a:tc>
                  <a:txBody>
                    <a:bodyPr/>
                    <a:lstStyle/>
                    <a:p>
                      <a:r>
                        <a:rPr lang="en-US" dirty="0"/>
                        <a:t>Key</a:t>
                      </a:r>
                    </a:p>
                  </a:txBody>
                  <a:tcPr/>
                </a:tc>
                <a:tc>
                  <a:txBody>
                    <a:bodyPr/>
                    <a:lstStyle/>
                    <a:p>
                      <a:r>
                        <a:rPr lang="en-US" dirty="0"/>
                        <a:t>Description</a:t>
                      </a:r>
                    </a:p>
                  </a:txBody>
                  <a:tcPr/>
                </a:tc>
                <a:extLst>
                  <a:ext uri="{0D108BD9-81ED-4DB2-BD59-A6C34878D82A}">
                    <a16:rowId xmlns:a16="http://schemas.microsoft.com/office/drawing/2014/main" val="4294297549"/>
                  </a:ext>
                </a:extLst>
              </a:tr>
              <a:tr h="370840">
                <a:tc>
                  <a:txBody>
                    <a:bodyPr/>
                    <a:lstStyle/>
                    <a:p>
                      <a:r>
                        <a:rPr lang="en-US" dirty="0"/>
                        <a:t>F10</a:t>
                      </a:r>
                    </a:p>
                  </a:txBody>
                  <a:tcPr/>
                </a:tc>
                <a:tc>
                  <a:txBody>
                    <a:bodyPr/>
                    <a:lstStyle/>
                    <a:p>
                      <a:r>
                        <a:rPr lang="da-DK" dirty="0"/>
                        <a:t>toggle menu (alt+x menu-bar-mode to toggle)</a:t>
                      </a:r>
                      <a:endParaRPr lang="en-US" dirty="0"/>
                    </a:p>
                  </a:txBody>
                  <a:tcPr/>
                </a:tc>
                <a:extLst>
                  <a:ext uri="{0D108BD9-81ED-4DB2-BD59-A6C34878D82A}">
                    <a16:rowId xmlns:a16="http://schemas.microsoft.com/office/drawing/2014/main" val="1247531593"/>
                  </a:ext>
                </a:extLst>
              </a:tr>
              <a:tr h="370840">
                <a:tc>
                  <a:txBody>
                    <a:bodyPr/>
                    <a:lstStyle/>
                    <a:p>
                      <a:r>
                        <a:rPr lang="en-US" dirty="0"/>
                        <a:t>ctrl+g</a:t>
                      </a:r>
                    </a:p>
                  </a:txBody>
                  <a:tcPr/>
                </a:tc>
                <a:tc>
                  <a:txBody>
                    <a:bodyPr/>
                    <a:lstStyle/>
                    <a:p>
                      <a:r>
                        <a:rPr lang="en-US" dirty="0"/>
                        <a:t>Cancel (use this if you pressed some key / command by accident)</a:t>
                      </a:r>
                    </a:p>
                  </a:txBody>
                  <a:tcPr/>
                </a:tc>
                <a:extLst>
                  <a:ext uri="{0D108BD9-81ED-4DB2-BD59-A6C34878D82A}">
                    <a16:rowId xmlns:a16="http://schemas.microsoft.com/office/drawing/2014/main" val="3710212086"/>
                  </a:ext>
                </a:extLst>
              </a:tr>
              <a:tr h="370840">
                <a:tc>
                  <a:txBody>
                    <a:bodyPr/>
                    <a:lstStyle/>
                    <a:p>
                      <a:r>
                        <a:rPr lang="en-US" dirty="0"/>
                        <a:t>ctrl+x ctrl+s</a:t>
                      </a:r>
                    </a:p>
                  </a:txBody>
                  <a:tcPr/>
                </a:tc>
                <a:tc>
                  <a:txBody>
                    <a:bodyPr/>
                    <a:lstStyle/>
                    <a:p>
                      <a:r>
                        <a:rPr lang="en-US" dirty="0"/>
                        <a:t>save a buffer</a:t>
                      </a:r>
                    </a:p>
                  </a:txBody>
                  <a:tcPr/>
                </a:tc>
                <a:extLst>
                  <a:ext uri="{0D108BD9-81ED-4DB2-BD59-A6C34878D82A}">
                    <a16:rowId xmlns:a16="http://schemas.microsoft.com/office/drawing/2014/main" val="2556542978"/>
                  </a:ext>
                </a:extLst>
              </a:tr>
              <a:tr h="370840">
                <a:tc>
                  <a:txBody>
                    <a:bodyPr/>
                    <a:lstStyle/>
                    <a:p>
                      <a:r>
                        <a:rPr lang="en-US" dirty="0"/>
                        <a:t>ctrl+x ctrl-c</a:t>
                      </a:r>
                    </a:p>
                  </a:txBody>
                  <a:tcPr/>
                </a:tc>
                <a:tc>
                  <a:txBody>
                    <a:bodyPr/>
                    <a:lstStyle/>
                    <a:p>
                      <a:r>
                        <a:rPr lang="en-US" dirty="0"/>
                        <a:t>quit (asks to save modified buffers)</a:t>
                      </a:r>
                    </a:p>
                  </a:txBody>
                  <a:tcPr/>
                </a:tc>
                <a:extLst>
                  <a:ext uri="{0D108BD9-81ED-4DB2-BD59-A6C34878D82A}">
                    <a16:rowId xmlns:a16="http://schemas.microsoft.com/office/drawing/2014/main" val="416179059"/>
                  </a:ext>
                </a:extLst>
              </a:tr>
              <a:tr h="370840">
                <a:tc>
                  <a:txBody>
                    <a:bodyPr/>
                    <a:lstStyle/>
                    <a:p>
                      <a:r>
                        <a:rPr lang="en-US" dirty="0"/>
                        <a:t>ctrl+x ctrl+f path</a:t>
                      </a:r>
                    </a:p>
                  </a:txBody>
                  <a:tcPr/>
                </a:tc>
                <a:tc>
                  <a:txBody>
                    <a:bodyPr/>
                    <a:lstStyle/>
                    <a:p>
                      <a:r>
                        <a:rPr lang="en-US" dirty="0"/>
                        <a:t>open file into a new buffer, also will create new file if file doesn't exist</a:t>
                      </a:r>
                    </a:p>
                  </a:txBody>
                  <a:tcPr/>
                </a:tc>
                <a:extLst>
                  <a:ext uri="{0D108BD9-81ED-4DB2-BD59-A6C34878D82A}">
                    <a16:rowId xmlns:a16="http://schemas.microsoft.com/office/drawing/2014/main" val="3949047626"/>
                  </a:ext>
                </a:extLst>
              </a:tr>
              <a:tr h="370840">
                <a:tc>
                  <a:txBody>
                    <a:bodyPr/>
                    <a:lstStyle/>
                    <a:p>
                      <a:r>
                        <a:rPr lang="en-US" dirty="0"/>
                        <a:t>ctrl+x </a:t>
                      </a:r>
                      <a:r>
                        <a:rPr lang="en-US" dirty="0" err="1"/>
                        <a:t>ctrl+i</a:t>
                      </a:r>
                      <a:r>
                        <a:rPr lang="en-US" dirty="0"/>
                        <a:t> path</a:t>
                      </a:r>
                    </a:p>
                  </a:txBody>
                  <a:tcPr/>
                </a:tc>
                <a:tc>
                  <a:txBody>
                    <a:bodyPr/>
                    <a:lstStyle/>
                    <a:p>
                      <a:r>
                        <a:rPr lang="en-US" dirty="0"/>
                        <a:t>insert file into current position in current buffer</a:t>
                      </a:r>
                    </a:p>
                  </a:txBody>
                  <a:tcPr/>
                </a:tc>
                <a:extLst>
                  <a:ext uri="{0D108BD9-81ED-4DB2-BD59-A6C34878D82A}">
                    <a16:rowId xmlns:a16="http://schemas.microsoft.com/office/drawing/2014/main" val="2509669865"/>
                  </a:ext>
                </a:extLst>
              </a:tr>
              <a:tr h="370840">
                <a:tc>
                  <a:txBody>
                    <a:bodyPr/>
                    <a:lstStyle/>
                    <a:p>
                      <a:r>
                        <a:rPr lang="en-US" dirty="0"/>
                        <a:t>ctrl+x ctrl+w</a:t>
                      </a:r>
                    </a:p>
                  </a:txBody>
                  <a:tcPr/>
                </a:tc>
                <a:tc>
                  <a:txBody>
                    <a:bodyPr/>
                    <a:lstStyle/>
                    <a:p>
                      <a:r>
                        <a:rPr lang="en-US" dirty="0"/>
                        <a:t>write file (save as)</a:t>
                      </a:r>
                    </a:p>
                  </a:txBody>
                  <a:tcPr/>
                </a:tc>
                <a:extLst>
                  <a:ext uri="{0D108BD9-81ED-4DB2-BD59-A6C34878D82A}">
                    <a16:rowId xmlns:a16="http://schemas.microsoft.com/office/drawing/2014/main" val="1281283154"/>
                  </a:ext>
                </a:extLst>
              </a:tr>
              <a:tr h="370840">
                <a:tc>
                  <a:txBody>
                    <a:bodyPr/>
                    <a:lstStyle/>
                    <a:p>
                      <a:r>
                        <a:rPr lang="en-US" dirty="0"/>
                        <a:t>ctrl+x k</a:t>
                      </a:r>
                    </a:p>
                  </a:txBody>
                  <a:tcPr/>
                </a:tc>
                <a:tc>
                  <a:txBody>
                    <a:bodyPr/>
                    <a:lstStyle/>
                    <a:p>
                      <a:r>
                        <a:rPr lang="en-US" dirty="0"/>
                        <a:t>kill buffer (close the buffer, ask to save changes if modified)</a:t>
                      </a:r>
                    </a:p>
                  </a:txBody>
                  <a:tcPr/>
                </a:tc>
                <a:extLst>
                  <a:ext uri="{0D108BD9-81ED-4DB2-BD59-A6C34878D82A}">
                    <a16:rowId xmlns:a16="http://schemas.microsoft.com/office/drawing/2014/main" val="3745926105"/>
                  </a:ext>
                </a:extLst>
              </a:tr>
              <a:tr h="370840">
                <a:tc>
                  <a:txBody>
                    <a:bodyPr/>
                    <a:lstStyle/>
                    <a:p>
                      <a:r>
                        <a:rPr lang="en-US" dirty="0"/>
                        <a:t>ctrl+_</a:t>
                      </a:r>
                    </a:p>
                  </a:txBody>
                  <a:tcPr/>
                </a:tc>
                <a:tc rowSpan="2">
                  <a:txBody>
                    <a:bodyPr/>
                    <a:lstStyle/>
                    <a:p>
                      <a:r>
                        <a:rPr lang="en-US" dirty="0"/>
                        <a:t>undo</a:t>
                      </a:r>
                    </a:p>
                  </a:txBody>
                  <a:tcPr/>
                </a:tc>
                <a:extLst>
                  <a:ext uri="{0D108BD9-81ED-4DB2-BD59-A6C34878D82A}">
                    <a16:rowId xmlns:a16="http://schemas.microsoft.com/office/drawing/2014/main" val="1983318590"/>
                  </a:ext>
                </a:extLst>
              </a:tr>
              <a:tr h="370840">
                <a:tc>
                  <a:txBody>
                    <a:bodyPr/>
                    <a:lstStyle/>
                    <a:p>
                      <a:r>
                        <a:rPr lang="en-US" dirty="0"/>
                        <a:t>ctrl+x u</a:t>
                      </a:r>
                    </a:p>
                  </a:txBody>
                  <a:tcPr/>
                </a:tc>
                <a:tc vMerge="1">
                  <a:txBody>
                    <a:bodyPr/>
                    <a:lstStyle/>
                    <a:p>
                      <a:endParaRPr lang="en-US" dirty="0"/>
                    </a:p>
                  </a:txBody>
                  <a:tcPr/>
                </a:tc>
                <a:extLst>
                  <a:ext uri="{0D108BD9-81ED-4DB2-BD59-A6C34878D82A}">
                    <a16:rowId xmlns:a16="http://schemas.microsoft.com/office/drawing/2014/main" val="3752452175"/>
                  </a:ext>
                </a:extLst>
              </a:tr>
              <a:tr h="370840">
                <a:tc>
                  <a:txBody>
                    <a:bodyPr/>
                    <a:lstStyle/>
                    <a:p>
                      <a:r>
                        <a:rPr lang="en-US" dirty="0"/>
                        <a:t>ctrl+g ctrl+_</a:t>
                      </a:r>
                    </a:p>
                  </a:txBody>
                  <a:tcPr/>
                </a:tc>
                <a:tc>
                  <a:txBody>
                    <a:bodyPr/>
                    <a:lstStyle/>
                    <a:p>
                      <a:r>
                        <a:rPr lang="en-US" dirty="0"/>
                        <a:t>redo</a:t>
                      </a:r>
                    </a:p>
                  </a:txBody>
                  <a:tcPr/>
                </a:tc>
                <a:extLst>
                  <a:ext uri="{0D108BD9-81ED-4DB2-BD59-A6C34878D82A}">
                    <a16:rowId xmlns:a16="http://schemas.microsoft.com/office/drawing/2014/main" val="3494415878"/>
                  </a:ext>
                </a:extLst>
              </a:tr>
              <a:tr h="370840">
                <a:tc>
                  <a:txBody>
                    <a:bodyPr/>
                    <a:lstStyle/>
                    <a:p>
                      <a:r>
                        <a:rPr lang="en-US" dirty="0"/>
                        <a:t>ctrl+u n command</a:t>
                      </a:r>
                    </a:p>
                  </a:txBody>
                  <a:tcPr/>
                </a:tc>
                <a:tc>
                  <a:txBody>
                    <a:bodyPr/>
                    <a:lstStyle/>
                    <a:p>
                      <a:r>
                        <a:rPr lang="en-US" dirty="0"/>
                        <a:t>do something n times e.g. ctrl+u 60 *</a:t>
                      </a:r>
                    </a:p>
                  </a:txBody>
                  <a:tcPr/>
                </a:tc>
                <a:extLst>
                  <a:ext uri="{0D108BD9-81ED-4DB2-BD59-A6C34878D82A}">
                    <a16:rowId xmlns:a16="http://schemas.microsoft.com/office/drawing/2014/main" val="3381459501"/>
                  </a:ext>
                </a:extLst>
              </a:tr>
            </a:tbl>
          </a:graphicData>
        </a:graphic>
      </p:graphicFrame>
    </p:spTree>
    <p:extLst>
      <p:ext uri="{BB962C8B-B14F-4D97-AF65-F5344CB8AC3E}">
        <p14:creationId xmlns:p14="http://schemas.microsoft.com/office/powerpoint/2010/main" val="2665596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B06FB0C-7527-49F5-AEDE-47C0F4B1ED81}"/>
              </a:ext>
            </a:extLst>
          </p:cNvPr>
          <p:cNvSpPr>
            <a:spLocks noGrp="1"/>
          </p:cNvSpPr>
          <p:nvPr>
            <p:ph type="title"/>
          </p:nvPr>
        </p:nvSpPr>
        <p:spPr/>
        <p:txBody>
          <a:bodyPr/>
          <a:lstStyle/>
          <a:p>
            <a:r>
              <a:rPr lang="en-US" dirty="0"/>
              <a:t>Copy and Paste and Help</a:t>
            </a:r>
          </a:p>
        </p:txBody>
      </p:sp>
      <p:graphicFrame>
        <p:nvGraphicFramePr>
          <p:cNvPr id="4" name="Taulukko 4">
            <a:extLst>
              <a:ext uri="{FF2B5EF4-FFF2-40B4-BE49-F238E27FC236}">
                <a16:creationId xmlns:a16="http://schemas.microsoft.com/office/drawing/2014/main" id="{061A08BD-7BD2-412A-9546-4AE3013AC3D8}"/>
              </a:ext>
            </a:extLst>
          </p:cNvPr>
          <p:cNvGraphicFramePr>
            <a:graphicFrameLocks noGrp="1"/>
          </p:cNvGraphicFramePr>
          <p:nvPr>
            <p:ph idx="1"/>
            <p:extLst>
              <p:ext uri="{D42A27DB-BD31-4B8C-83A1-F6EECF244321}">
                <p14:modId xmlns:p14="http://schemas.microsoft.com/office/powerpoint/2010/main" val="263476031"/>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1856874">
                  <a:extLst>
                    <a:ext uri="{9D8B030D-6E8A-4147-A177-3AD203B41FA5}">
                      <a16:colId xmlns:a16="http://schemas.microsoft.com/office/drawing/2014/main" val="3276239508"/>
                    </a:ext>
                  </a:extLst>
                </a:gridCol>
                <a:gridCol w="8658726">
                  <a:extLst>
                    <a:ext uri="{9D8B030D-6E8A-4147-A177-3AD203B41FA5}">
                      <a16:colId xmlns:a16="http://schemas.microsoft.com/office/drawing/2014/main" val="1308671847"/>
                    </a:ext>
                  </a:extLst>
                </a:gridCol>
              </a:tblGrid>
              <a:tr h="370840">
                <a:tc>
                  <a:txBody>
                    <a:bodyPr/>
                    <a:lstStyle/>
                    <a:p>
                      <a:r>
                        <a:rPr lang="en-US" dirty="0"/>
                        <a:t>Key</a:t>
                      </a:r>
                    </a:p>
                  </a:txBody>
                  <a:tcPr/>
                </a:tc>
                <a:tc>
                  <a:txBody>
                    <a:bodyPr/>
                    <a:lstStyle/>
                    <a:p>
                      <a:r>
                        <a:rPr lang="en-US" dirty="0"/>
                        <a:t>Description</a:t>
                      </a:r>
                    </a:p>
                  </a:txBody>
                  <a:tcPr/>
                </a:tc>
                <a:extLst>
                  <a:ext uri="{0D108BD9-81ED-4DB2-BD59-A6C34878D82A}">
                    <a16:rowId xmlns:a16="http://schemas.microsoft.com/office/drawing/2014/main" val="3222403127"/>
                  </a:ext>
                </a:extLst>
              </a:tr>
              <a:tr h="370840">
                <a:tc>
                  <a:txBody>
                    <a:bodyPr/>
                    <a:lstStyle/>
                    <a:p>
                      <a:r>
                        <a:rPr lang="en-US" dirty="0"/>
                        <a:t>ctrl+space</a:t>
                      </a:r>
                    </a:p>
                  </a:txBody>
                  <a:tcPr/>
                </a:tc>
                <a:tc>
                  <a:txBody>
                    <a:bodyPr/>
                    <a:lstStyle/>
                    <a:p>
                      <a:r>
                        <a:rPr lang="en-US" dirty="0"/>
                        <a:t>mark the starting point for copy/cut</a:t>
                      </a:r>
                    </a:p>
                  </a:txBody>
                  <a:tcPr/>
                </a:tc>
                <a:extLst>
                  <a:ext uri="{0D108BD9-81ED-4DB2-BD59-A6C34878D82A}">
                    <a16:rowId xmlns:a16="http://schemas.microsoft.com/office/drawing/2014/main" val="4013553184"/>
                  </a:ext>
                </a:extLst>
              </a:tr>
              <a:tr h="370840">
                <a:tc>
                  <a:txBody>
                    <a:bodyPr/>
                    <a:lstStyle/>
                    <a:p>
                      <a:r>
                        <a:rPr lang="en-US" dirty="0"/>
                        <a:t>ctrl+x h </a:t>
                      </a:r>
                    </a:p>
                  </a:txBody>
                  <a:tcPr/>
                </a:tc>
                <a:tc>
                  <a:txBody>
                    <a:bodyPr/>
                    <a:lstStyle/>
                    <a:p>
                      <a:r>
                        <a:rPr lang="en-US" dirty="0"/>
                        <a:t>select all</a:t>
                      </a:r>
                    </a:p>
                  </a:txBody>
                  <a:tcPr/>
                </a:tc>
                <a:extLst>
                  <a:ext uri="{0D108BD9-81ED-4DB2-BD59-A6C34878D82A}">
                    <a16:rowId xmlns:a16="http://schemas.microsoft.com/office/drawing/2014/main" val="435785872"/>
                  </a:ext>
                </a:extLst>
              </a:tr>
              <a:tr h="370840">
                <a:tc>
                  <a:txBody>
                    <a:bodyPr/>
                    <a:lstStyle/>
                    <a:p>
                      <a:r>
                        <a:rPr lang="en-US" dirty="0" err="1"/>
                        <a:t>ctrl+k</a:t>
                      </a:r>
                      <a:endParaRPr lang="en-US" dirty="0"/>
                    </a:p>
                  </a:txBody>
                  <a:tcPr/>
                </a:tc>
                <a:tc>
                  <a:txBody>
                    <a:bodyPr/>
                    <a:lstStyle/>
                    <a:p>
                      <a:r>
                        <a:rPr lang="en-US" dirty="0"/>
                        <a:t>kill to end of line</a:t>
                      </a:r>
                    </a:p>
                  </a:txBody>
                  <a:tcPr/>
                </a:tc>
                <a:extLst>
                  <a:ext uri="{0D108BD9-81ED-4DB2-BD59-A6C34878D82A}">
                    <a16:rowId xmlns:a16="http://schemas.microsoft.com/office/drawing/2014/main" val="190868612"/>
                  </a:ext>
                </a:extLst>
              </a:tr>
              <a:tr h="370840">
                <a:tc>
                  <a:txBody>
                    <a:bodyPr/>
                    <a:lstStyle/>
                    <a:p>
                      <a:r>
                        <a:rPr lang="en-US" dirty="0"/>
                        <a:t>alt+w</a:t>
                      </a:r>
                    </a:p>
                  </a:txBody>
                  <a:tcPr/>
                </a:tc>
                <a:tc>
                  <a:txBody>
                    <a:bodyPr/>
                    <a:lstStyle/>
                    <a:p>
                      <a:r>
                        <a:rPr lang="en-US" dirty="0"/>
                        <a:t>copy</a:t>
                      </a:r>
                    </a:p>
                  </a:txBody>
                  <a:tcPr/>
                </a:tc>
                <a:extLst>
                  <a:ext uri="{0D108BD9-81ED-4DB2-BD59-A6C34878D82A}">
                    <a16:rowId xmlns:a16="http://schemas.microsoft.com/office/drawing/2014/main" val="2541168436"/>
                  </a:ext>
                </a:extLst>
              </a:tr>
              <a:tr h="370840">
                <a:tc>
                  <a:txBody>
                    <a:bodyPr/>
                    <a:lstStyle/>
                    <a:p>
                      <a:r>
                        <a:rPr lang="en-US" dirty="0"/>
                        <a:t>ctrl+w</a:t>
                      </a:r>
                    </a:p>
                  </a:txBody>
                  <a:tcPr/>
                </a:tc>
                <a:tc>
                  <a:txBody>
                    <a:bodyPr/>
                    <a:lstStyle/>
                    <a:p>
                      <a:r>
                        <a:rPr lang="en-US" dirty="0"/>
                        <a:t>cut</a:t>
                      </a:r>
                    </a:p>
                  </a:txBody>
                  <a:tcPr/>
                </a:tc>
                <a:extLst>
                  <a:ext uri="{0D108BD9-81ED-4DB2-BD59-A6C34878D82A}">
                    <a16:rowId xmlns:a16="http://schemas.microsoft.com/office/drawing/2014/main" val="2158233339"/>
                  </a:ext>
                </a:extLst>
              </a:tr>
              <a:tr h="370840">
                <a:tc>
                  <a:txBody>
                    <a:bodyPr/>
                    <a:lstStyle/>
                    <a:p>
                      <a:r>
                        <a:rPr lang="en-US" dirty="0"/>
                        <a:t>ctrl+y</a:t>
                      </a:r>
                    </a:p>
                  </a:txBody>
                  <a:tcPr/>
                </a:tc>
                <a:tc>
                  <a:txBody>
                    <a:bodyPr/>
                    <a:lstStyle/>
                    <a:p>
                      <a:r>
                        <a:rPr lang="en-US" dirty="0"/>
                        <a:t>yank (paste)</a:t>
                      </a:r>
                    </a:p>
                  </a:txBody>
                  <a:tcPr/>
                </a:tc>
                <a:extLst>
                  <a:ext uri="{0D108BD9-81ED-4DB2-BD59-A6C34878D82A}">
                    <a16:rowId xmlns:a16="http://schemas.microsoft.com/office/drawing/2014/main" val="4104520595"/>
                  </a:ext>
                </a:extLst>
              </a:tr>
              <a:tr h="370840">
                <a:tc>
                  <a:txBody>
                    <a:bodyPr/>
                    <a:lstStyle/>
                    <a:p>
                      <a:r>
                        <a:rPr lang="en-US" dirty="0"/>
                        <a:t>ctrl+h ctrl+h</a:t>
                      </a:r>
                    </a:p>
                  </a:txBody>
                  <a:tcPr/>
                </a:tc>
                <a:tc>
                  <a:txBody>
                    <a:bodyPr/>
                    <a:lstStyle/>
                    <a:p>
                      <a:r>
                        <a:rPr lang="en-US" dirty="0"/>
                        <a:t>help on help</a:t>
                      </a:r>
                    </a:p>
                  </a:txBody>
                  <a:tcPr/>
                </a:tc>
                <a:extLst>
                  <a:ext uri="{0D108BD9-81ED-4DB2-BD59-A6C34878D82A}">
                    <a16:rowId xmlns:a16="http://schemas.microsoft.com/office/drawing/2014/main" val="3784658378"/>
                  </a:ext>
                </a:extLst>
              </a:tr>
              <a:tr h="370840">
                <a:tc>
                  <a:txBody>
                    <a:bodyPr/>
                    <a:lstStyle/>
                    <a:p>
                      <a:r>
                        <a:rPr lang="en-US" dirty="0"/>
                        <a:t>ctrl+h a</a:t>
                      </a:r>
                    </a:p>
                  </a:txBody>
                  <a:tcPr/>
                </a:tc>
                <a:tc>
                  <a:txBody>
                    <a:bodyPr/>
                    <a:lstStyle/>
                    <a:p>
                      <a:r>
                        <a:rPr lang="en-US" dirty="0"/>
                        <a:t>Search for commands based on topic</a:t>
                      </a:r>
                    </a:p>
                  </a:txBody>
                  <a:tcPr/>
                </a:tc>
                <a:extLst>
                  <a:ext uri="{0D108BD9-81ED-4DB2-BD59-A6C34878D82A}">
                    <a16:rowId xmlns:a16="http://schemas.microsoft.com/office/drawing/2014/main" val="1994319124"/>
                  </a:ext>
                </a:extLst>
              </a:tr>
              <a:tr h="370840">
                <a:tc>
                  <a:txBody>
                    <a:bodyPr/>
                    <a:lstStyle/>
                    <a:p>
                      <a:r>
                        <a:rPr lang="en-US" dirty="0"/>
                        <a:t>ctrl+h ctrl+f</a:t>
                      </a:r>
                    </a:p>
                  </a:txBody>
                  <a:tcPr/>
                </a:tc>
                <a:tc>
                  <a:txBody>
                    <a:bodyPr/>
                    <a:lstStyle/>
                    <a:p>
                      <a:r>
                        <a:rPr lang="en-US" dirty="0"/>
                        <a:t>Emacs FAQ</a:t>
                      </a:r>
                    </a:p>
                  </a:txBody>
                  <a:tcPr/>
                </a:tc>
                <a:extLst>
                  <a:ext uri="{0D108BD9-81ED-4DB2-BD59-A6C34878D82A}">
                    <a16:rowId xmlns:a16="http://schemas.microsoft.com/office/drawing/2014/main" val="3629736196"/>
                  </a:ext>
                </a:extLst>
              </a:tr>
              <a:tr h="370840">
                <a:tc>
                  <a:txBody>
                    <a:bodyPr/>
                    <a:lstStyle/>
                    <a:p>
                      <a:r>
                        <a:rPr lang="en-US" dirty="0"/>
                        <a:t>ctrl+h i</a:t>
                      </a:r>
                    </a:p>
                  </a:txBody>
                  <a:tcPr/>
                </a:tc>
                <a:tc>
                  <a:txBody>
                    <a:bodyPr/>
                    <a:lstStyle/>
                    <a:p>
                      <a:r>
                        <a:rPr lang="en-US" dirty="0"/>
                        <a:t>info (about many core programs)</a:t>
                      </a:r>
                    </a:p>
                  </a:txBody>
                  <a:tcPr/>
                </a:tc>
                <a:extLst>
                  <a:ext uri="{0D108BD9-81ED-4DB2-BD59-A6C34878D82A}">
                    <a16:rowId xmlns:a16="http://schemas.microsoft.com/office/drawing/2014/main" val="3595025532"/>
                  </a:ext>
                </a:extLst>
              </a:tr>
              <a:tr h="370840">
                <a:tc>
                  <a:txBody>
                    <a:bodyPr/>
                    <a:lstStyle/>
                    <a:p>
                      <a:r>
                        <a:rPr lang="en-US" dirty="0"/>
                        <a:t>ctrl+h t</a:t>
                      </a:r>
                    </a:p>
                  </a:txBody>
                  <a:tcPr/>
                </a:tc>
                <a:tc>
                  <a:txBody>
                    <a:bodyPr/>
                    <a:lstStyle/>
                    <a:p>
                      <a:r>
                        <a:rPr lang="en-US" dirty="0"/>
                        <a:t>Start Emacs tutorial</a:t>
                      </a:r>
                    </a:p>
                  </a:txBody>
                  <a:tcPr/>
                </a:tc>
                <a:extLst>
                  <a:ext uri="{0D108BD9-81ED-4DB2-BD59-A6C34878D82A}">
                    <a16:rowId xmlns:a16="http://schemas.microsoft.com/office/drawing/2014/main" val="4005741366"/>
                  </a:ext>
                </a:extLst>
              </a:tr>
            </a:tbl>
          </a:graphicData>
        </a:graphic>
      </p:graphicFrame>
    </p:spTree>
    <p:extLst>
      <p:ext uri="{BB962C8B-B14F-4D97-AF65-F5344CB8AC3E}">
        <p14:creationId xmlns:p14="http://schemas.microsoft.com/office/powerpoint/2010/main" val="9722479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DD1E02C-1506-4937-A5FC-0A400A4B5230}"/>
              </a:ext>
            </a:extLst>
          </p:cNvPr>
          <p:cNvSpPr>
            <a:spLocks noGrp="1"/>
          </p:cNvSpPr>
          <p:nvPr>
            <p:ph type="title"/>
          </p:nvPr>
        </p:nvSpPr>
        <p:spPr/>
        <p:txBody>
          <a:bodyPr/>
          <a:lstStyle/>
          <a:p>
            <a:r>
              <a:rPr lang="en-US" dirty="0"/>
              <a:t>Search and Replace</a:t>
            </a:r>
          </a:p>
        </p:txBody>
      </p:sp>
      <p:graphicFrame>
        <p:nvGraphicFramePr>
          <p:cNvPr id="4" name="Taulukko 4">
            <a:extLst>
              <a:ext uri="{FF2B5EF4-FFF2-40B4-BE49-F238E27FC236}">
                <a16:creationId xmlns:a16="http://schemas.microsoft.com/office/drawing/2014/main" id="{8E07D714-05D9-440C-97C7-14ADBB5E4CB8}"/>
              </a:ext>
            </a:extLst>
          </p:cNvPr>
          <p:cNvGraphicFramePr>
            <a:graphicFrameLocks noGrp="1"/>
          </p:cNvGraphicFramePr>
          <p:nvPr>
            <p:ph idx="1"/>
            <p:extLst>
              <p:ext uri="{D42A27DB-BD31-4B8C-83A1-F6EECF244321}">
                <p14:modId xmlns:p14="http://schemas.microsoft.com/office/powerpoint/2010/main" val="2280976816"/>
              </p:ext>
            </p:extLst>
          </p:nvPr>
        </p:nvGraphicFramePr>
        <p:xfrm>
          <a:off x="838200" y="1646555"/>
          <a:ext cx="10515600" cy="4846320"/>
        </p:xfrm>
        <a:graphic>
          <a:graphicData uri="http://schemas.openxmlformats.org/drawingml/2006/table">
            <a:tbl>
              <a:tblPr firstRow="1" bandRow="1">
                <a:tableStyleId>{5C22544A-7EE6-4342-B048-85BDC9FD1C3A}</a:tableStyleId>
              </a:tblPr>
              <a:tblGrid>
                <a:gridCol w="2811379">
                  <a:extLst>
                    <a:ext uri="{9D8B030D-6E8A-4147-A177-3AD203B41FA5}">
                      <a16:colId xmlns:a16="http://schemas.microsoft.com/office/drawing/2014/main" val="3029612630"/>
                    </a:ext>
                  </a:extLst>
                </a:gridCol>
                <a:gridCol w="7704221">
                  <a:extLst>
                    <a:ext uri="{9D8B030D-6E8A-4147-A177-3AD203B41FA5}">
                      <a16:colId xmlns:a16="http://schemas.microsoft.com/office/drawing/2014/main" val="2306932920"/>
                    </a:ext>
                  </a:extLst>
                </a:gridCol>
              </a:tblGrid>
              <a:tr h="323916">
                <a:tc>
                  <a:txBody>
                    <a:bodyPr/>
                    <a:lstStyle/>
                    <a:p>
                      <a:r>
                        <a:rPr lang="en-US" sz="1600" dirty="0"/>
                        <a:t>Key</a:t>
                      </a:r>
                    </a:p>
                  </a:txBody>
                  <a:tcPr/>
                </a:tc>
                <a:tc>
                  <a:txBody>
                    <a:bodyPr/>
                    <a:lstStyle/>
                    <a:p>
                      <a:r>
                        <a:rPr lang="en-US" sz="1600" dirty="0"/>
                        <a:t>Description</a:t>
                      </a:r>
                    </a:p>
                  </a:txBody>
                  <a:tcPr/>
                </a:tc>
                <a:extLst>
                  <a:ext uri="{0D108BD9-81ED-4DB2-BD59-A6C34878D82A}">
                    <a16:rowId xmlns:a16="http://schemas.microsoft.com/office/drawing/2014/main" val="1592250697"/>
                  </a:ext>
                </a:extLst>
              </a:tr>
              <a:tr h="323916">
                <a:tc>
                  <a:txBody>
                    <a:bodyPr/>
                    <a:lstStyle/>
                    <a:p>
                      <a:r>
                        <a:rPr lang="en-US" sz="1600" dirty="0"/>
                        <a:t>ctrl+s</a:t>
                      </a:r>
                    </a:p>
                  </a:txBody>
                  <a:tcPr/>
                </a:tc>
                <a:tc>
                  <a:txBody>
                    <a:bodyPr/>
                    <a:lstStyle/>
                    <a:p>
                      <a:r>
                        <a:rPr lang="en-US" sz="1600" dirty="0"/>
                        <a:t>interactive search, pressing again ctrl+s will search next occurrence</a:t>
                      </a:r>
                    </a:p>
                  </a:txBody>
                  <a:tcPr/>
                </a:tc>
                <a:extLst>
                  <a:ext uri="{0D108BD9-81ED-4DB2-BD59-A6C34878D82A}">
                    <a16:rowId xmlns:a16="http://schemas.microsoft.com/office/drawing/2014/main" val="3774557292"/>
                  </a:ext>
                </a:extLst>
              </a:tr>
              <a:tr h="323916">
                <a:tc>
                  <a:txBody>
                    <a:bodyPr/>
                    <a:lstStyle/>
                    <a:p>
                      <a:r>
                        <a:rPr lang="en-US" sz="1600" dirty="0"/>
                        <a:t>ctrl+r</a:t>
                      </a:r>
                    </a:p>
                  </a:txBody>
                  <a:tcPr/>
                </a:tc>
                <a:tc>
                  <a:txBody>
                    <a:bodyPr/>
                    <a:lstStyle/>
                    <a:p>
                      <a:r>
                        <a:rPr lang="en-US" sz="1600" dirty="0"/>
                        <a:t>jump to previous occurrence</a:t>
                      </a:r>
                    </a:p>
                  </a:txBody>
                  <a:tcPr/>
                </a:tc>
                <a:extLst>
                  <a:ext uri="{0D108BD9-81ED-4DB2-BD59-A6C34878D82A}">
                    <a16:rowId xmlns:a16="http://schemas.microsoft.com/office/drawing/2014/main" val="41675556"/>
                  </a:ext>
                </a:extLst>
              </a:tr>
              <a:tr h="323916">
                <a:tc>
                  <a:txBody>
                    <a:bodyPr/>
                    <a:lstStyle/>
                    <a:p>
                      <a:r>
                        <a:rPr lang="en-US" sz="1600" dirty="0"/>
                        <a:t>enter</a:t>
                      </a:r>
                    </a:p>
                  </a:txBody>
                  <a:tcPr/>
                </a:tc>
                <a:tc>
                  <a:txBody>
                    <a:bodyPr/>
                    <a:lstStyle/>
                    <a:p>
                      <a:r>
                        <a:rPr lang="en-US" sz="1600" dirty="0"/>
                        <a:t>exit and place cursor to current position (in interactive search)</a:t>
                      </a:r>
                    </a:p>
                  </a:txBody>
                  <a:tcPr/>
                </a:tc>
                <a:extLst>
                  <a:ext uri="{0D108BD9-81ED-4DB2-BD59-A6C34878D82A}">
                    <a16:rowId xmlns:a16="http://schemas.microsoft.com/office/drawing/2014/main" val="2724401851"/>
                  </a:ext>
                </a:extLst>
              </a:tr>
              <a:tr h="323916">
                <a:tc>
                  <a:txBody>
                    <a:bodyPr/>
                    <a:lstStyle/>
                    <a:p>
                      <a:r>
                        <a:rPr lang="en-US" sz="1600" dirty="0"/>
                        <a:t>ctrl+g</a:t>
                      </a:r>
                    </a:p>
                  </a:txBody>
                  <a:tcPr/>
                </a:tc>
                <a:tc>
                  <a:txBody>
                    <a:bodyPr/>
                    <a:lstStyle/>
                    <a:p>
                      <a:r>
                        <a:rPr lang="en-US" sz="1600" dirty="0"/>
                        <a:t>exit and return cursor to original location (in interactive search)</a:t>
                      </a:r>
                    </a:p>
                  </a:txBody>
                  <a:tcPr/>
                </a:tc>
                <a:extLst>
                  <a:ext uri="{0D108BD9-81ED-4DB2-BD59-A6C34878D82A}">
                    <a16:rowId xmlns:a16="http://schemas.microsoft.com/office/drawing/2014/main" val="348327645"/>
                  </a:ext>
                </a:extLst>
              </a:tr>
              <a:tr h="559491">
                <a:tc>
                  <a:txBody>
                    <a:bodyPr/>
                    <a:lstStyle/>
                    <a:p>
                      <a:r>
                        <a:rPr lang="en-US" sz="1600" dirty="0"/>
                        <a:t>alt+%</a:t>
                      </a:r>
                      <a:br>
                        <a:rPr lang="en-US" sz="1600" dirty="0"/>
                      </a:br>
                      <a:r>
                        <a:rPr lang="en-US" sz="1600" dirty="0"/>
                        <a:t>alt+x query-replace</a:t>
                      </a:r>
                    </a:p>
                  </a:txBody>
                  <a:tcPr/>
                </a:tc>
                <a:tc>
                  <a:txBody>
                    <a:bodyPr/>
                    <a:lstStyle/>
                    <a:p>
                      <a:r>
                        <a:rPr lang="en-US" sz="1600" dirty="0"/>
                        <a:t>interactive find and repolace in active region or till end of buffer</a:t>
                      </a:r>
                    </a:p>
                  </a:txBody>
                  <a:tcPr/>
                </a:tc>
                <a:extLst>
                  <a:ext uri="{0D108BD9-81ED-4DB2-BD59-A6C34878D82A}">
                    <a16:rowId xmlns:a16="http://schemas.microsoft.com/office/drawing/2014/main" val="2318415449"/>
                  </a:ext>
                </a:extLst>
              </a:tr>
              <a:tr h="559491">
                <a:tc>
                  <a:txBody>
                    <a:bodyPr/>
                    <a:lstStyle/>
                    <a:p>
                      <a:r>
                        <a:rPr lang="en-US" sz="1600" dirty="0"/>
                        <a:t>ctrl+alt+%</a:t>
                      </a:r>
                      <a:br>
                        <a:rPr lang="en-US" sz="1600" dirty="0"/>
                      </a:br>
                      <a:r>
                        <a:rPr lang="en-US" sz="1600" dirty="0"/>
                        <a:t>alt+x query-replace-regexp</a:t>
                      </a:r>
                    </a:p>
                  </a:txBody>
                  <a:tcPr/>
                </a:tc>
                <a:tc>
                  <a:txBody>
                    <a:bodyPr/>
                    <a:lstStyle/>
                    <a:p>
                      <a:r>
                        <a:rPr lang="en-US" sz="1600" dirty="0"/>
                        <a:t>interactive find and replace with regex</a:t>
                      </a:r>
                    </a:p>
                  </a:txBody>
                  <a:tcPr/>
                </a:tc>
                <a:extLst>
                  <a:ext uri="{0D108BD9-81ED-4DB2-BD59-A6C34878D82A}">
                    <a16:rowId xmlns:a16="http://schemas.microsoft.com/office/drawing/2014/main" val="4290186881"/>
                  </a:ext>
                </a:extLst>
              </a:tr>
              <a:tr h="323916">
                <a:tc>
                  <a:txBody>
                    <a:bodyPr/>
                    <a:lstStyle/>
                    <a:p>
                      <a:r>
                        <a:rPr lang="en-US" sz="1600" dirty="0"/>
                        <a:t>y</a:t>
                      </a:r>
                    </a:p>
                  </a:txBody>
                  <a:tcPr/>
                </a:tc>
                <a:tc>
                  <a:txBody>
                    <a:bodyPr/>
                    <a:lstStyle/>
                    <a:p>
                      <a:r>
                        <a:rPr lang="en-US" sz="1600" dirty="0"/>
                        <a:t>do the replacement</a:t>
                      </a:r>
                    </a:p>
                  </a:txBody>
                  <a:tcPr/>
                </a:tc>
                <a:extLst>
                  <a:ext uri="{0D108BD9-81ED-4DB2-BD59-A6C34878D82A}">
                    <a16:rowId xmlns:a16="http://schemas.microsoft.com/office/drawing/2014/main" val="4068894881"/>
                  </a:ext>
                </a:extLst>
              </a:tr>
              <a:tr h="323916">
                <a:tc>
                  <a:txBody>
                    <a:bodyPr/>
                    <a:lstStyle/>
                    <a:p>
                      <a:r>
                        <a:rPr lang="en-US" sz="1600" dirty="0"/>
                        <a:t>n</a:t>
                      </a:r>
                    </a:p>
                  </a:txBody>
                  <a:tcPr/>
                </a:tc>
                <a:tc>
                  <a:txBody>
                    <a:bodyPr/>
                    <a:lstStyle/>
                    <a:p>
                      <a:r>
                        <a:rPr lang="en-US" sz="1600" dirty="0"/>
                        <a:t>skip</a:t>
                      </a:r>
                    </a:p>
                  </a:txBody>
                  <a:tcPr/>
                </a:tc>
                <a:extLst>
                  <a:ext uri="{0D108BD9-81ED-4DB2-BD59-A6C34878D82A}">
                    <a16:rowId xmlns:a16="http://schemas.microsoft.com/office/drawing/2014/main" val="2210531946"/>
                  </a:ext>
                </a:extLst>
              </a:tr>
              <a:tr h="323916">
                <a:tc>
                  <a:txBody>
                    <a:bodyPr/>
                    <a:lstStyle/>
                    <a:p>
                      <a:r>
                        <a:rPr lang="en-US" sz="1600" dirty="0"/>
                        <a:t>!</a:t>
                      </a:r>
                    </a:p>
                  </a:txBody>
                  <a:tcPr/>
                </a:tc>
                <a:tc>
                  <a:txBody>
                    <a:bodyPr/>
                    <a:lstStyle/>
                    <a:p>
                      <a:r>
                        <a:rPr lang="en-US" sz="1600" dirty="0"/>
                        <a:t>do this and all remaining replacements without asking</a:t>
                      </a:r>
                    </a:p>
                  </a:txBody>
                  <a:tcPr/>
                </a:tc>
                <a:extLst>
                  <a:ext uri="{0D108BD9-81ED-4DB2-BD59-A6C34878D82A}">
                    <a16:rowId xmlns:a16="http://schemas.microsoft.com/office/drawing/2014/main" val="2626192524"/>
                  </a:ext>
                </a:extLst>
              </a:tr>
              <a:tr h="323916">
                <a:tc>
                  <a:txBody>
                    <a:bodyPr/>
                    <a:lstStyle/>
                    <a:p>
                      <a:r>
                        <a:rPr lang="en-US" sz="1600" dirty="0"/>
                        <a:t>ctrl+g</a:t>
                      </a:r>
                    </a:p>
                  </a:txBody>
                  <a:tcPr/>
                </a:tc>
                <a:tc>
                  <a:txBody>
                    <a:bodyPr/>
                    <a:lstStyle/>
                    <a:p>
                      <a:r>
                        <a:rPr lang="en-US" sz="1600" dirty="0"/>
                        <a:t>cancel (undo existing replacements)</a:t>
                      </a:r>
                    </a:p>
                  </a:txBody>
                  <a:tcPr/>
                </a:tc>
                <a:extLst>
                  <a:ext uri="{0D108BD9-81ED-4DB2-BD59-A6C34878D82A}">
                    <a16:rowId xmlns:a16="http://schemas.microsoft.com/office/drawing/2014/main" val="518287006"/>
                  </a:ext>
                </a:extLst>
              </a:tr>
              <a:tr h="323916">
                <a:tc>
                  <a:txBody>
                    <a:bodyPr/>
                    <a:lstStyle/>
                    <a:p>
                      <a:r>
                        <a:rPr lang="en-US" sz="1600" dirty="0"/>
                        <a:t>alt+x replace-string</a:t>
                      </a:r>
                    </a:p>
                  </a:txBody>
                  <a:tcPr/>
                </a:tc>
                <a:tc>
                  <a:txBody>
                    <a:bodyPr/>
                    <a:lstStyle/>
                    <a:p>
                      <a:r>
                        <a:rPr lang="en-US" sz="1600" dirty="0"/>
                        <a:t>find replace without asking</a:t>
                      </a:r>
                    </a:p>
                  </a:txBody>
                  <a:tcPr/>
                </a:tc>
                <a:extLst>
                  <a:ext uri="{0D108BD9-81ED-4DB2-BD59-A6C34878D82A}">
                    <a16:rowId xmlns:a16="http://schemas.microsoft.com/office/drawing/2014/main" val="1184129894"/>
                  </a:ext>
                </a:extLst>
              </a:tr>
              <a:tr h="323916">
                <a:tc>
                  <a:txBody>
                    <a:bodyPr/>
                    <a:lstStyle/>
                    <a:p>
                      <a:r>
                        <a:rPr lang="en-US" sz="1600" dirty="0"/>
                        <a:t>alt-x ispell</a:t>
                      </a:r>
                    </a:p>
                  </a:txBody>
                  <a:tcPr/>
                </a:tc>
                <a:tc>
                  <a:txBody>
                    <a:bodyPr/>
                    <a:lstStyle/>
                    <a:p>
                      <a:r>
                        <a:rPr lang="en-US" sz="1600" dirty="0"/>
                        <a:t>perform spelling check using ispell or compatible program</a:t>
                      </a:r>
                    </a:p>
                  </a:txBody>
                  <a:tcPr/>
                </a:tc>
                <a:extLst>
                  <a:ext uri="{0D108BD9-81ED-4DB2-BD59-A6C34878D82A}">
                    <a16:rowId xmlns:a16="http://schemas.microsoft.com/office/drawing/2014/main" val="2826353790"/>
                  </a:ext>
                </a:extLst>
              </a:tr>
            </a:tbl>
          </a:graphicData>
        </a:graphic>
      </p:graphicFrame>
    </p:spTree>
    <p:extLst>
      <p:ext uri="{BB962C8B-B14F-4D97-AF65-F5344CB8AC3E}">
        <p14:creationId xmlns:p14="http://schemas.microsoft.com/office/powerpoint/2010/main" val="27583809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59E399E-ACDB-4CD0-9688-D190797705FA}"/>
              </a:ext>
            </a:extLst>
          </p:cNvPr>
          <p:cNvSpPr>
            <a:spLocks noGrp="1"/>
          </p:cNvSpPr>
          <p:nvPr>
            <p:ph type="title"/>
          </p:nvPr>
        </p:nvSpPr>
        <p:spPr>
          <a:xfrm>
            <a:off x="838200" y="365125"/>
            <a:ext cx="10515600" cy="597401"/>
          </a:xfrm>
        </p:spPr>
        <p:txBody>
          <a:bodyPr>
            <a:normAutofit fontScale="90000"/>
          </a:bodyPr>
          <a:lstStyle/>
          <a:p>
            <a:r>
              <a:rPr lang="en-US" dirty="0"/>
              <a:t>Dired - Directory and file Operations</a:t>
            </a:r>
          </a:p>
        </p:txBody>
      </p:sp>
      <p:graphicFrame>
        <p:nvGraphicFramePr>
          <p:cNvPr id="4" name="Taulukko 4">
            <a:extLst>
              <a:ext uri="{FF2B5EF4-FFF2-40B4-BE49-F238E27FC236}">
                <a16:creationId xmlns:a16="http://schemas.microsoft.com/office/drawing/2014/main" id="{AA954C24-95F6-43B1-84CD-7C2FED41C410}"/>
              </a:ext>
            </a:extLst>
          </p:cNvPr>
          <p:cNvGraphicFramePr>
            <a:graphicFrameLocks noGrp="1"/>
          </p:cNvGraphicFramePr>
          <p:nvPr>
            <p:ph idx="1"/>
            <p:extLst>
              <p:ext uri="{D42A27DB-BD31-4B8C-83A1-F6EECF244321}">
                <p14:modId xmlns:p14="http://schemas.microsoft.com/office/powerpoint/2010/main" val="1793057053"/>
              </p:ext>
            </p:extLst>
          </p:nvPr>
        </p:nvGraphicFramePr>
        <p:xfrm>
          <a:off x="838200" y="1047583"/>
          <a:ext cx="10551695" cy="5486400"/>
        </p:xfrm>
        <a:graphic>
          <a:graphicData uri="http://schemas.openxmlformats.org/drawingml/2006/table">
            <a:tbl>
              <a:tblPr firstRow="1" bandRow="1">
                <a:tableStyleId>{5C22544A-7EE6-4342-B048-85BDC9FD1C3A}</a:tableStyleId>
              </a:tblPr>
              <a:tblGrid>
                <a:gridCol w="2257628">
                  <a:extLst>
                    <a:ext uri="{9D8B030D-6E8A-4147-A177-3AD203B41FA5}">
                      <a16:colId xmlns:a16="http://schemas.microsoft.com/office/drawing/2014/main" val="3157053406"/>
                    </a:ext>
                  </a:extLst>
                </a:gridCol>
                <a:gridCol w="8294067">
                  <a:extLst>
                    <a:ext uri="{9D8B030D-6E8A-4147-A177-3AD203B41FA5}">
                      <a16:colId xmlns:a16="http://schemas.microsoft.com/office/drawing/2014/main" val="3579992223"/>
                    </a:ext>
                  </a:extLst>
                </a:gridCol>
              </a:tblGrid>
              <a:tr h="273846">
                <a:tc>
                  <a:txBody>
                    <a:bodyPr/>
                    <a:lstStyle/>
                    <a:p>
                      <a:r>
                        <a:rPr lang="en-US" sz="1400" dirty="0"/>
                        <a:t>Key</a:t>
                      </a:r>
                    </a:p>
                  </a:txBody>
                  <a:tcPr/>
                </a:tc>
                <a:tc>
                  <a:txBody>
                    <a:bodyPr/>
                    <a:lstStyle/>
                    <a:p>
                      <a:r>
                        <a:rPr lang="en-US" sz="1400" dirty="0"/>
                        <a:t>Descriptions</a:t>
                      </a:r>
                    </a:p>
                  </a:txBody>
                  <a:tcPr/>
                </a:tc>
                <a:extLst>
                  <a:ext uri="{0D108BD9-81ED-4DB2-BD59-A6C34878D82A}">
                    <a16:rowId xmlns:a16="http://schemas.microsoft.com/office/drawing/2014/main" val="3582824912"/>
                  </a:ext>
                </a:extLst>
              </a:tr>
              <a:tr h="273846">
                <a:tc>
                  <a:txBody>
                    <a:bodyPr/>
                    <a:lstStyle/>
                    <a:p>
                      <a:r>
                        <a:rPr lang="en-US" sz="1400" dirty="0"/>
                        <a:t>ctrl+x d</a:t>
                      </a:r>
                    </a:p>
                  </a:txBody>
                  <a:tcPr/>
                </a:tc>
                <a:tc>
                  <a:txBody>
                    <a:bodyPr/>
                    <a:lstStyle/>
                    <a:p>
                      <a:r>
                        <a:rPr lang="en-US" sz="1400" dirty="0"/>
                        <a:t>Enter dired mode, alternatively alt+x dired</a:t>
                      </a:r>
                    </a:p>
                  </a:txBody>
                  <a:tcPr/>
                </a:tc>
                <a:extLst>
                  <a:ext uri="{0D108BD9-81ED-4DB2-BD59-A6C34878D82A}">
                    <a16:rowId xmlns:a16="http://schemas.microsoft.com/office/drawing/2014/main" val="2219311415"/>
                  </a:ext>
                </a:extLst>
              </a:tr>
              <a:tr h="273846">
                <a:tc>
                  <a:txBody>
                    <a:bodyPr/>
                    <a:lstStyle/>
                    <a:p>
                      <a:r>
                        <a:rPr lang="en-US" sz="1400" dirty="0"/>
                        <a:t>Arrows</a:t>
                      </a:r>
                    </a:p>
                  </a:txBody>
                  <a:tcPr/>
                </a:tc>
                <a:tc>
                  <a:txBody>
                    <a:bodyPr/>
                    <a:lstStyle/>
                    <a:p>
                      <a:r>
                        <a:rPr lang="en-US" sz="1400" dirty="0"/>
                        <a:t>To navigate</a:t>
                      </a:r>
                    </a:p>
                  </a:txBody>
                  <a:tcPr/>
                </a:tc>
                <a:extLst>
                  <a:ext uri="{0D108BD9-81ED-4DB2-BD59-A6C34878D82A}">
                    <a16:rowId xmlns:a16="http://schemas.microsoft.com/office/drawing/2014/main" val="403070340"/>
                  </a:ext>
                </a:extLst>
              </a:tr>
              <a:tr h="273846">
                <a:tc>
                  <a:txBody>
                    <a:bodyPr/>
                    <a:lstStyle/>
                    <a:p>
                      <a:r>
                        <a:rPr lang="en-US" sz="1400" dirty="0"/>
                        <a:t>enter</a:t>
                      </a:r>
                    </a:p>
                  </a:txBody>
                  <a:tcPr/>
                </a:tc>
                <a:tc>
                  <a:txBody>
                    <a:bodyPr/>
                    <a:lstStyle/>
                    <a:p>
                      <a:r>
                        <a:rPr lang="en-US" sz="1400" dirty="0"/>
                        <a:t>open the file or directory</a:t>
                      </a:r>
                    </a:p>
                  </a:txBody>
                  <a:tcPr/>
                </a:tc>
                <a:extLst>
                  <a:ext uri="{0D108BD9-81ED-4DB2-BD59-A6C34878D82A}">
                    <a16:rowId xmlns:a16="http://schemas.microsoft.com/office/drawing/2014/main" val="2249855020"/>
                  </a:ext>
                </a:extLst>
              </a:tr>
              <a:tr h="273846">
                <a:tc>
                  <a:txBody>
                    <a:bodyPr/>
                    <a:lstStyle/>
                    <a:p>
                      <a:r>
                        <a:rPr lang="en-US" sz="1400" dirty="0"/>
                        <a:t>q</a:t>
                      </a:r>
                    </a:p>
                  </a:txBody>
                  <a:tcPr/>
                </a:tc>
                <a:tc>
                  <a:txBody>
                    <a:bodyPr/>
                    <a:lstStyle/>
                    <a:p>
                      <a:r>
                        <a:rPr lang="en-US" sz="1400" dirty="0"/>
                        <a:t>to quit (the dired buffer still exists)</a:t>
                      </a:r>
                    </a:p>
                  </a:txBody>
                  <a:tcPr/>
                </a:tc>
                <a:extLst>
                  <a:ext uri="{0D108BD9-81ED-4DB2-BD59-A6C34878D82A}">
                    <a16:rowId xmlns:a16="http://schemas.microsoft.com/office/drawing/2014/main" val="2057961811"/>
                  </a:ext>
                </a:extLst>
              </a:tr>
              <a:tr h="273846">
                <a:tc>
                  <a:txBody>
                    <a:bodyPr/>
                    <a:lstStyle/>
                    <a:p>
                      <a:r>
                        <a:rPr lang="en-US" sz="1400" dirty="0"/>
                        <a:t>C</a:t>
                      </a:r>
                    </a:p>
                  </a:txBody>
                  <a:tcPr/>
                </a:tc>
                <a:tc>
                  <a:txBody>
                    <a:bodyPr/>
                    <a:lstStyle/>
                    <a:p>
                      <a:r>
                        <a:rPr lang="en-US" sz="1400" dirty="0"/>
                        <a:t>copy file</a:t>
                      </a:r>
                    </a:p>
                  </a:txBody>
                  <a:tcPr/>
                </a:tc>
                <a:extLst>
                  <a:ext uri="{0D108BD9-81ED-4DB2-BD59-A6C34878D82A}">
                    <a16:rowId xmlns:a16="http://schemas.microsoft.com/office/drawing/2014/main" val="1472096834"/>
                  </a:ext>
                </a:extLst>
              </a:tr>
              <a:tr h="273846">
                <a:tc>
                  <a:txBody>
                    <a:bodyPr/>
                    <a:lstStyle/>
                    <a:p>
                      <a:r>
                        <a:rPr lang="en-US" sz="1400" dirty="0"/>
                        <a:t>R</a:t>
                      </a:r>
                    </a:p>
                  </a:txBody>
                  <a:tcPr/>
                </a:tc>
                <a:tc>
                  <a:txBody>
                    <a:bodyPr/>
                    <a:lstStyle/>
                    <a:p>
                      <a:r>
                        <a:rPr lang="en-US" sz="1400" dirty="0"/>
                        <a:t>rename/move file</a:t>
                      </a:r>
                    </a:p>
                  </a:txBody>
                  <a:tcPr/>
                </a:tc>
                <a:extLst>
                  <a:ext uri="{0D108BD9-81ED-4DB2-BD59-A6C34878D82A}">
                    <a16:rowId xmlns:a16="http://schemas.microsoft.com/office/drawing/2014/main" val="1355980006"/>
                  </a:ext>
                </a:extLst>
              </a:tr>
              <a:tr h="273846">
                <a:tc>
                  <a:txBody>
                    <a:bodyPr/>
                    <a:lstStyle/>
                    <a:p>
                      <a:r>
                        <a:rPr lang="en-US" sz="1400" dirty="0"/>
                        <a:t>D</a:t>
                      </a:r>
                    </a:p>
                  </a:txBody>
                  <a:tcPr/>
                </a:tc>
                <a:tc>
                  <a:txBody>
                    <a:bodyPr/>
                    <a:lstStyle/>
                    <a:p>
                      <a:r>
                        <a:rPr lang="en-US" sz="1400" dirty="0"/>
                        <a:t>delete file or directory</a:t>
                      </a:r>
                    </a:p>
                  </a:txBody>
                  <a:tcPr/>
                </a:tc>
                <a:extLst>
                  <a:ext uri="{0D108BD9-81ED-4DB2-BD59-A6C34878D82A}">
                    <a16:rowId xmlns:a16="http://schemas.microsoft.com/office/drawing/2014/main" val="2686412868"/>
                  </a:ext>
                </a:extLst>
              </a:tr>
              <a:tr h="273846">
                <a:tc>
                  <a:txBody>
                    <a:bodyPr/>
                    <a:lstStyle/>
                    <a:p>
                      <a:r>
                        <a:rPr lang="en-US" sz="1400" dirty="0"/>
                        <a:t>M</a:t>
                      </a:r>
                    </a:p>
                  </a:txBody>
                  <a:tcPr/>
                </a:tc>
                <a:tc>
                  <a:txBody>
                    <a:bodyPr/>
                    <a:lstStyle/>
                    <a:p>
                      <a:r>
                        <a:rPr lang="en-US" sz="1400" dirty="0"/>
                        <a:t>change mode</a:t>
                      </a:r>
                    </a:p>
                  </a:txBody>
                  <a:tcPr/>
                </a:tc>
                <a:extLst>
                  <a:ext uri="{0D108BD9-81ED-4DB2-BD59-A6C34878D82A}">
                    <a16:rowId xmlns:a16="http://schemas.microsoft.com/office/drawing/2014/main" val="3455387615"/>
                  </a:ext>
                </a:extLst>
              </a:tr>
              <a:tr h="273846">
                <a:tc>
                  <a:txBody>
                    <a:bodyPr/>
                    <a:lstStyle/>
                    <a:p>
                      <a:r>
                        <a:rPr lang="en-US" sz="1400" dirty="0"/>
                        <a:t>G</a:t>
                      </a:r>
                    </a:p>
                  </a:txBody>
                  <a:tcPr/>
                </a:tc>
                <a:tc>
                  <a:txBody>
                    <a:bodyPr/>
                    <a:lstStyle/>
                    <a:p>
                      <a:r>
                        <a:rPr lang="en-US" sz="1400" dirty="0"/>
                        <a:t>change group</a:t>
                      </a:r>
                    </a:p>
                  </a:txBody>
                  <a:tcPr/>
                </a:tc>
                <a:extLst>
                  <a:ext uri="{0D108BD9-81ED-4DB2-BD59-A6C34878D82A}">
                    <a16:rowId xmlns:a16="http://schemas.microsoft.com/office/drawing/2014/main" val="1033531623"/>
                  </a:ext>
                </a:extLst>
              </a:tr>
              <a:tr h="273846">
                <a:tc>
                  <a:txBody>
                    <a:bodyPr/>
                    <a:lstStyle/>
                    <a:p>
                      <a:r>
                        <a:rPr lang="en-US" sz="1400" dirty="0"/>
                        <a:t>O</a:t>
                      </a:r>
                    </a:p>
                  </a:txBody>
                  <a:tcPr/>
                </a:tc>
                <a:tc>
                  <a:txBody>
                    <a:bodyPr/>
                    <a:lstStyle/>
                    <a:p>
                      <a:r>
                        <a:rPr lang="en-US" sz="1400" dirty="0"/>
                        <a:t>change owner</a:t>
                      </a:r>
                    </a:p>
                  </a:txBody>
                  <a:tcPr/>
                </a:tc>
                <a:extLst>
                  <a:ext uri="{0D108BD9-81ED-4DB2-BD59-A6C34878D82A}">
                    <a16:rowId xmlns:a16="http://schemas.microsoft.com/office/drawing/2014/main" val="1852272657"/>
                  </a:ext>
                </a:extLst>
              </a:tr>
              <a:tr h="273846">
                <a:tc>
                  <a:txBody>
                    <a:bodyPr/>
                    <a:lstStyle/>
                    <a:p>
                      <a:r>
                        <a:rPr lang="en-US" sz="1400" dirty="0"/>
                        <a:t>Q</a:t>
                      </a:r>
                    </a:p>
                  </a:txBody>
                  <a:tcPr/>
                </a:tc>
                <a:tc>
                  <a:txBody>
                    <a:bodyPr/>
                    <a:lstStyle/>
                    <a:p>
                      <a:r>
                        <a:rPr lang="en-US" sz="1400" dirty="0"/>
                        <a:t>query replace marked files/folders</a:t>
                      </a:r>
                    </a:p>
                  </a:txBody>
                  <a:tcPr/>
                </a:tc>
                <a:extLst>
                  <a:ext uri="{0D108BD9-81ED-4DB2-BD59-A6C34878D82A}">
                    <a16:rowId xmlns:a16="http://schemas.microsoft.com/office/drawing/2014/main" val="3391489649"/>
                  </a:ext>
                </a:extLst>
              </a:tr>
              <a:tr h="273846">
                <a:tc>
                  <a:txBody>
                    <a:bodyPr/>
                    <a:lstStyle/>
                    <a:p>
                      <a:r>
                        <a:rPr lang="en-US" sz="1400" dirty="0"/>
                        <a:t>+</a:t>
                      </a:r>
                    </a:p>
                  </a:txBody>
                  <a:tcPr/>
                </a:tc>
                <a:tc>
                  <a:txBody>
                    <a:bodyPr/>
                    <a:lstStyle/>
                    <a:p>
                      <a:r>
                        <a:rPr lang="en-US" sz="1400" dirty="0"/>
                        <a:t>create new directory</a:t>
                      </a:r>
                    </a:p>
                  </a:txBody>
                  <a:tcPr/>
                </a:tc>
                <a:extLst>
                  <a:ext uri="{0D108BD9-81ED-4DB2-BD59-A6C34878D82A}">
                    <a16:rowId xmlns:a16="http://schemas.microsoft.com/office/drawing/2014/main" val="2408461543"/>
                  </a:ext>
                </a:extLst>
              </a:tr>
              <a:tr h="273846">
                <a:tc>
                  <a:txBody>
                    <a:bodyPr/>
                    <a:lstStyle/>
                    <a:p>
                      <a:r>
                        <a:rPr lang="en-US" sz="1400" dirty="0"/>
                        <a:t>z</a:t>
                      </a:r>
                    </a:p>
                  </a:txBody>
                  <a:tcPr/>
                </a:tc>
                <a:tc>
                  <a:txBody>
                    <a:bodyPr/>
                    <a:lstStyle/>
                    <a:p>
                      <a:r>
                        <a:rPr lang="en-US" sz="1400" dirty="0"/>
                        <a:t>compress/decompress the file by gzip</a:t>
                      </a:r>
                    </a:p>
                  </a:txBody>
                  <a:tcPr/>
                </a:tc>
                <a:extLst>
                  <a:ext uri="{0D108BD9-81ED-4DB2-BD59-A6C34878D82A}">
                    <a16:rowId xmlns:a16="http://schemas.microsoft.com/office/drawing/2014/main" val="3076512757"/>
                  </a:ext>
                </a:extLst>
              </a:tr>
              <a:tr h="273846">
                <a:tc>
                  <a:txBody>
                    <a:bodyPr/>
                    <a:lstStyle/>
                    <a:p>
                      <a:r>
                        <a:rPr lang="en-US" sz="1400" dirty="0"/>
                        <a:t>m</a:t>
                      </a:r>
                    </a:p>
                  </a:txBody>
                  <a:tcPr/>
                </a:tc>
                <a:tc>
                  <a:txBody>
                    <a:bodyPr/>
                    <a:lstStyle/>
                    <a:p>
                      <a:r>
                        <a:rPr lang="en-US" sz="1400" dirty="0"/>
                        <a:t>mark file</a:t>
                      </a:r>
                    </a:p>
                  </a:txBody>
                  <a:tcPr/>
                </a:tc>
                <a:extLst>
                  <a:ext uri="{0D108BD9-81ED-4DB2-BD59-A6C34878D82A}">
                    <a16:rowId xmlns:a16="http://schemas.microsoft.com/office/drawing/2014/main" val="1726970121"/>
                  </a:ext>
                </a:extLst>
              </a:tr>
              <a:tr h="273846">
                <a:tc>
                  <a:txBody>
                    <a:bodyPr/>
                    <a:lstStyle/>
                    <a:p>
                      <a:r>
                        <a:rPr lang="en-US" sz="1400" dirty="0"/>
                        <a:t>u</a:t>
                      </a:r>
                    </a:p>
                  </a:txBody>
                  <a:tcPr/>
                </a:tc>
                <a:tc>
                  <a:txBody>
                    <a:bodyPr/>
                    <a:lstStyle/>
                    <a:p>
                      <a:r>
                        <a:rPr lang="en-US" sz="1400" dirty="0"/>
                        <a:t>unmark file</a:t>
                      </a:r>
                    </a:p>
                  </a:txBody>
                  <a:tcPr/>
                </a:tc>
                <a:extLst>
                  <a:ext uri="{0D108BD9-81ED-4DB2-BD59-A6C34878D82A}">
                    <a16:rowId xmlns:a16="http://schemas.microsoft.com/office/drawing/2014/main" val="4123193501"/>
                  </a:ext>
                </a:extLst>
              </a:tr>
              <a:tr h="273846">
                <a:tc>
                  <a:txBody>
                    <a:bodyPr/>
                    <a:lstStyle/>
                    <a:p>
                      <a:r>
                        <a:rPr lang="en-US" sz="1400" dirty="0"/>
                        <a:t>%m</a:t>
                      </a:r>
                    </a:p>
                  </a:txBody>
                  <a:tcPr/>
                </a:tc>
                <a:tc>
                  <a:txBody>
                    <a:bodyPr/>
                    <a:lstStyle/>
                    <a:p>
                      <a:r>
                        <a:rPr lang="en-US" sz="1400" dirty="0"/>
                        <a:t>mark by pattern e.g. %m \.html$</a:t>
                      </a:r>
                    </a:p>
                  </a:txBody>
                  <a:tcPr/>
                </a:tc>
                <a:extLst>
                  <a:ext uri="{0D108BD9-81ED-4DB2-BD59-A6C34878D82A}">
                    <a16:rowId xmlns:a16="http://schemas.microsoft.com/office/drawing/2014/main" val="801612330"/>
                  </a:ext>
                </a:extLst>
              </a:tr>
              <a:tr h="273846">
                <a:tc>
                  <a:txBody>
                    <a:bodyPr/>
                    <a:lstStyle/>
                    <a:p>
                      <a:r>
                        <a:rPr lang="en-US" sz="1400" dirty="0"/>
                        <a:t>g</a:t>
                      </a:r>
                    </a:p>
                  </a:txBody>
                  <a:tcPr/>
                </a:tc>
                <a:tc>
                  <a:txBody>
                    <a:bodyPr/>
                    <a:lstStyle/>
                    <a:p>
                      <a:r>
                        <a:rPr lang="en-US" sz="1400" dirty="0"/>
                        <a:t>refresh directory listing</a:t>
                      </a:r>
                    </a:p>
                  </a:txBody>
                  <a:tcPr/>
                </a:tc>
                <a:extLst>
                  <a:ext uri="{0D108BD9-81ED-4DB2-BD59-A6C34878D82A}">
                    <a16:rowId xmlns:a16="http://schemas.microsoft.com/office/drawing/2014/main" val="2552229784"/>
                  </a:ext>
                </a:extLst>
              </a:tr>
            </a:tbl>
          </a:graphicData>
        </a:graphic>
      </p:graphicFrame>
    </p:spTree>
    <p:extLst>
      <p:ext uri="{BB962C8B-B14F-4D97-AF65-F5344CB8AC3E}">
        <p14:creationId xmlns:p14="http://schemas.microsoft.com/office/powerpoint/2010/main" val="10599720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3F3CF8C-FF8A-42A1-9E93-AF4BEE17B2E8}"/>
              </a:ext>
            </a:extLst>
          </p:cNvPr>
          <p:cNvSpPr>
            <a:spLocks noGrp="1"/>
          </p:cNvSpPr>
          <p:nvPr>
            <p:ph type="title"/>
          </p:nvPr>
        </p:nvSpPr>
        <p:spPr/>
        <p:txBody>
          <a:bodyPr/>
          <a:lstStyle/>
          <a:p>
            <a:r>
              <a:rPr lang="en-US" dirty="0"/>
              <a:t>Emacs and Multiple Windows and Buffers</a:t>
            </a:r>
          </a:p>
        </p:txBody>
      </p:sp>
      <p:graphicFrame>
        <p:nvGraphicFramePr>
          <p:cNvPr id="4" name="Taulukko 4">
            <a:extLst>
              <a:ext uri="{FF2B5EF4-FFF2-40B4-BE49-F238E27FC236}">
                <a16:creationId xmlns:a16="http://schemas.microsoft.com/office/drawing/2014/main" id="{A584F826-6158-4A5F-A9B1-967AC6FD5017}"/>
              </a:ext>
            </a:extLst>
          </p:cNvPr>
          <p:cNvGraphicFramePr>
            <a:graphicFrameLocks noGrp="1"/>
          </p:cNvGraphicFramePr>
          <p:nvPr>
            <p:ph idx="1"/>
            <p:extLst>
              <p:ext uri="{D42A27DB-BD31-4B8C-83A1-F6EECF244321}">
                <p14:modId xmlns:p14="http://schemas.microsoft.com/office/powerpoint/2010/main" val="4231452535"/>
              </p:ext>
            </p:extLst>
          </p:nvPr>
        </p:nvGraphicFramePr>
        <p:xfrm>
          <a:off x="838200" y="1825625"/>
          <a:ext cx="10515600" cy="4079240"/>
        </p:xfrm>
        <a:graphic>
          <a:graphicData uri="http://schemas.openxmlformats.org/drawingml/2006/table">
            <a:tbl>
              <a:tblPr firstRow="1" bandRow="1">
                <a:tableStyleId>{5C22544A-7EE6-4342-B048-85BDC9FD1C3A}</a:tableStyleId>
              </a:tblPr>
              <a:tblGrid>
                <a:gridCol w="2081463">
                  <a:extLst>
                    <a:ext uri="{9D8B030D-6E8A-4147-A177-3AD203B41FA5}">
                      <a16:colId xmlns:a16="http://schemas.microsoft.com/office/drawing/2014/main" val="2178394391"/>
                    </a:ext>
                  </a:extLst>
                </a:gridCol>
                <a:gridCol w="8434137">
                  <a:extLst>
                    <a:ext uri="{9D8B030D-6E8A-4147-A177-3AD203B41FA5}">
                      <a16:colId xmlns:a16="http://schemas.microsoft.com/office/drawing/2014/main" val="3234072744"/>
                    </a:ext>
                  </a:extLst>
                </a:gridCol>
              </a:tblGrid>
              <a:tr h="370840">
                <a:tc>
                  <a:txBody>
                    <a:bodyPr/>
                    <a:lstStyle/>
                    <a:p>
                      <a:r>
                        <a:rPr lang="en-US" dirty="0"/>
                        <a:t>Key</a:t>
                      </a:r>
                    </a:p>
                  </a:txBody>
                  <a:tcPr/>
                </a:tc>
                <a:tc>
                  <a:txBody>
                    <a:bodyPr/>
                    <a:lstStyle/>
                    <a:p>
                      <a:r>
                        <a:rPr lang="en-US" dirty="0"/>
                        <a:t>Description</a:t>
                      </a:r>
                    </a:p>
                  </a:txBody>
                  <a:tcPr/>
                </a:tc>
                <a:extLst>
                  <a:ext uri="{0D108BD9-81ED-4DB2-BD59-A6C34878D82A}">
                    <a16:rowId xmlns:a16="http://schemas.microsoft.com/office/drawing/2014/main" val="829472648"/>
                  </a:ext>
                </a:extLst>
              </a:tr>
              <a:tr h="370840">
                <a:tc>
                  <a:txBody>
                    <a:bodyPr/>
                    <a:lstStyle/>
                    <a:p>
                      <a:r>
                        <a:rPr lang="en-US" dirty="0"/>
                        <a:t>ctrl+x ctrl+b</a:t>
                      </a:r>
                    </a:p>
                  </a:txBody>
                  <a:tcPr/>
                </a:tc>
                <a:tc>
                  <a:txBody>
                    <a:bodyPr/>
                    <a:lstStyle/>
                    <a:p>
                      <a:r>
                        <a:rPr lang="en-US" dirty="0"/>
                        <a:t>list current buffers</a:t>
                      </a:r>
                    </a:p>
                  </a:txBody>
                  <a:tcPr/>
                </a:tc>
                <a:extLst>
                  <a:ext uri="{0D108BD9-81ED-4DB2-BD59-A6C34878D82A}">
                    <a16:rowId xmlns:a16="http://schemas.microsoft.com/office/drawing/2014/main" val="3905961638"/>
                  </a:ext>
                </a:extLst>
              </a:tr>
              <a:tr h="370840">
                <a:tc>
                  <a:txBody>
                    <a:bodyPr/>
                    <a:lstStyle/>
                    <a:p>
                      <a:r>
                        <a:rPr lang="en-US" dirty="0"/>
                        <a:t>ctrl+x b</a:t>
                      </a:r>
                    </a:p>
                  </a:txBody>
                  <a:tcPr/>
                </a:tc>
                <a:tc>
                  <a:txBody>
                    <a:bodyPr/>
                    <a:lstStyle/>
                    <a:p>
                      <a:r>
                        <a:rPr lang="en-US" dirty="0"/>
                        <a:t>switch to different buffer</a:t>
                      </a:r>
                    </a:p>
                  </a:txBody>
                  <a:tcPr/>
                </a:tc>
                <a:extLst>
                  <a:ext uri="{0D108BD9-81ED-4DB2-BD59-A6C34878D82A}">
                    <a16:rowId xmlns:a16="http://schemas.microsoft.com/office/drawing/2014/main" val="1201550154"/>
                  </a:ext>
                </a:extLst>
              </a:tr>
              <a:tr h="370840">
                <a:tc>
                  <a:txBody>
                    <a:bodyPr/>
                    <a:lstStyle/>
                    <a:p>
                      <a:r>
                        <a:rPr lang="en-US" dirty="0"/>
                        <a:t>ctrl+x 1</a:t>
                      </a:r>
                    </a:p>
                  </a:txBody>
                  <a:tcPr/>
                </a:tc>
                <a:tc>
                  <a:txBody>
                    <a:bodyPr/>
                    <a:lstStyle/>
                    <a:p>
                      <a:r>
                        <a:rPr lang="en-US" dirty="0"/>
                        <a:t>single window (remove splits)</a:t>
                      </a:r>
                    </a:p>
                  </a:txBody>
                  <a:tcPr/>
                </a:tc>
                <a:extLst>
                  <a:ext uri="{0D108BD9-81ED-4DB2-BD59-A6C34878D82A}">
                    <a16:rowId xmlns:a16="http://schemas.microsoft.com/office/drawing/2014/main" val="1893575774"/>
                  </a:ext>
                </a:extLst>
              </a:tr>
              <a:tr h="370840">
                <a:tc>
                  <a:txBody>
                    <a:bodyPr/>
                    <a:lstStyle/>
                    <a:p>
                      <a:r>
                        <a:rPr lang="en-US" dirty="0"/>
                        <a:t>ctrl+x 2</a:t>
                      </a:r>
                    </a:p>
                  </a:txBody>
                  <a:tcPr/>
                </a:tc>
                <a:tc>
                  <a:txBody>
                    <a:bodyPr/>
                    <a:lstStyle/>
                    <a:p>
                      <a:r>
                        <a:rPr lang="en-US" dirty="0"/>
                        <a:t>split window vertically (top and bottom part)</a:t>
                      </a:r>
                    </a:p>
                  </a:txBody>
                  <a:tcPr/>
                </a:tc>
                <a:extLst>
                  <a:ext uri="{0D108BD9-81ED-4DB2-BD59-A6C34878D82A}">
                    <a16:rowId xmlns:a16="http://schemas.microsoft.com/office/drawing/2014/main" val="573733377"/>
                  </a:ext>
                </a:extLst>
              </a:tr>
              <a:tr h="370840">
                <a:tc>
                  <a:txBody>
                    <a:bodyPr/>
                    <a:lstStyle/>
                    <a:p>
                      <a:r>
                        <a:rPr lang="en-US" dirty="0"/>
                        <a:t>ctrl+x 3</a:t>
                      </a:r>
                    </a:p>
                  </a:txBody>
                  <a:tcPr/>
                </a:tc>
                <a:tc>
                  <a:txBody>
                    <a:bodyPr/>
                    <a:lstStyle/>
                    <a:p>
                      <a:r>
                        <a:rPr lang="en-US" dirty="0"/>
                        <a:t>split window horizontally (left and right part)</a:t>
                      </a:r>
                    </a:p>
                  </a:txBody>
                  <a:tcPr/>
                </a:tc>
                <a:extLst>
                  <a:ext uri="{0D108BD9-81ED-4DB2-BD59-A6C34878D82A}">
                    <a16:rowId xmlns:a16="http://schemas.microsoft.com/office/drawing/2014/main" val="2466548253"/>
                  </a:ext>
                </a:extLst>
              </a:tr>
              <a:tr h="370840">
                <a:tc>
                  <a:txBody>
                    <a:bodyPr/>
                    <a:lstStyle/>
                    <a:p>
                      <a:r>
                        <a:rPr lang="en-US" dirty="0"/>
                        <a:t>ctrl+x o</a:t>
                      </a:r>
                    </a:p>
                  </a:txBody>
                  <a:tcPr/>
                </a:tc>
                <a:tc>
                  <a:txBody>
                    <a:bodyPr/>
                    <a:lstStyle/>
                    <a:p>
                      <a:r>
                        <a:rPr lang="en-US" dirty="0"/>
                        <a:t>switch to another split window</a:t>
                      </a:r>
                    </a:p>
                  </a:txBody>
                  <a:tcPr/>
                </a:tc>
                <a:extLst>
                  <a:ext uri="{0D108BD9-81ED-4DB2-BD59-A6C34878D82A}">
                    <a16:rowId xmlns:a16="http://schemas.microsoft.com/office/drawing/2014/main" val="13214169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ctrl+x 4 f</a:t>
                      </a:r>
                    </a:p>
                  </a:txBody>
                  <a:tcPr/>
                </a:tc>
                <a:tc>
                  <a:txBody>
                    <a:bodyPr/>
                    <a:lstStyle/>
                    <a:p>
                      <a:r>
                        <a:rPr lang="en-US" dirty="0"/>
                        <a:t>open file in another window</a:t>
                      </a:r>
                    </a:p>
                  </a:txBody>
                  <a:tcPr/>
                </a:tc>
                <a:extLst>
                  <a:ext uri="{0D108BD9-81ED-4DB2-BD59-A6C34878D82A}">
                    <a16:rowId xmlns:a16="http://schemas.microsoft.com/office/drawing/2014/main" val="1364991001"/>
                  </a:ext>
                </a:extLst>
              </a:tr>
              <a:tr h="370840">
                <a:tc>
                  <a:txBody>
                    <a:bodyPr/>
                    <a:lstStyle/>
                    <a:p>
                      <a:r>
                        <a:rPr lang="en-US" dirty="0"/>
                        <a:t>ctrl+x 4 b</a:t>
                      </a:r>
                    </a:p>
                  </a:txBody>
                  <a:tcPr/>
                </a:tc>
                <a:tc>
                  <a:txBody>
                    <a:bodyPr/>
                    <a:lstStyle/>
                    <a:p>
                      <a:r>
                        <a:rPr lang="en-US" dirty="0"/>
                        <a:t>open buffer in another window</a:t>
                      </a:r>
                    </a:p>
                  </a:txBody>
                  <a:tcPr/>
                </a:tc>
                <a:extLst>
                  <a:ext uri="{0D108BD9-81ED-4DB2-BD59-A6C34878D82A}">
                    <a16:rowId xmlns:a16="http://schemas.microsoft.com/office/drawing/2014/main" val="2893910262"/>
                  </a:ext>
                </a:extLst>
              </a:tr>
              <a:tr h="370840">
                <a:tc>
                  <a:txBody>
                    <a:bodyPr/>
                    <a:lstStyle/>
                    <a:p>
                      <a:r>
                        <a:rPr lang="en-US" dirty="0"/>
                        <a:t>ctrl+x 4 d</a:t>
                      </a:r>
                    </a:p>
                  </a:txBody>
                  <a:tcPr/>
                </a:tc>
                <a:tc>
                  <a:txBody>
                    <a:bodyPr/>
                    <a:lstStyle/>
                    <a:p>
                      <a:r>
                        <a:rPr lang="en-US" dirty="0"/>
                        <a:t>open dired in another window</a:t>
                      </a:r>
                    </a:p>
                  </a:txBody>
                  <a:tcPr/>
                </a:tc>
                <a:extLst>
                  <a:ext uri="{0D108BD9-81ED-4DB2-BD59-A6C34878D82A}">
                    <a16:rowId xmlns:a16="http://schemas.microsoft.com/office/drawing/2014/main" val="41002601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alt+x ido-mode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turn on IDO mode</a:t>
                      </a:r>
                    </a:p>
                  </a:txBody>
                  <a:tcPr/>
                </a:tc>
                <a:extLst>
                  <a:ext uri="{0D108BD9-81ED-4DB2-BD59-A6C34878D82A}">
                    <a16:rowId xmlns:a16="http://schemas.microsoft.com/office/drawing/2014/main" val="1540798287"/>
                  </a:ext>
                </a:extLst>
              </a:tr>
            </a:tbl>
          </a:graphicData>
        </a:graphic>
      </p:graphicFrame>
    </p:spTree>
    <p:extLst>
      <p:ext uri="{BB962C8B-B14F-4D97-AF65-F5344CB8AC3E}">
        <p14:creationId xmlns:p14="http://schemas.microsoft.com/office/powerpoint/2010/main" val="1534312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99E4C84-0577-427C-A03F-9EAF9D864C10}"/>
              </a:ext>
            </a:extLst>
          </p:cNvPr>
          <p:cNvSpPr>
            <a:spLocks noGrp="1"/>
          </p:cNvSpPr>
          <p:nvPr>
            <p:ph type="title"/>
          </p:nvPr>
        </p:nvSpPr>
        <p:spPr/>
        <p:txBody>
          <a:bodyPr/>
          <a:lstStyle/>
          <a:p>
            <a:r>
              <a:rPr lang="en-US" dirty="0"/>
              <a:t>Emacs Applications</a:t>
            </a:r>
          </a:p>
        </p:txBody>
      </p:sp>
      <p:graphicFrame>
        <p:nvGraphicFramePr>
          <p:cNvPr id="4" name="Taulukko 4">
            <a:extLst>
              <a:ext uri="{FF2B5EF4-FFF2-40B4-BE49-F238E27FC236}">
                <a16:creationId xmlns:a16="http://schemas.microsoft.com/office/drawing/2014/main" id="{CEBDA878-BBE8-4EB4-A927-B128FCCEB6EE}"/>
              </a:ext>
            </a:extLst>
          </p:cNvPr>
          <p:cNvGraphicFramePr>
            <a:graphicFrameLocks noGrp="1"/>
          </p:cNvGraphicFramePr>
          <p:nvPr>
            <p:ph idx="1"/>
            <p:extLst>
              <p:ext uri="{D42A27DB-BD31-4B8C-83A1-F6EECF244321}">
                <p14:modId xmlns:p14="http://schemas.microsoft.com/office/powerpoint/2010/main" val="3344563995"/>
              </p:ext>
            </p:extLst>
          </p:nvPr>
        </p:nvGraphicFramePr>
        <p:xfrm>
          <a:off x="838200" y="1825625"/>
          <a:ext cx="10515600" cy="4348480"/>
        </p:xfrm>
        <a:graphic>
          <a:graphicData uri="http://schemas.openxmlformats.org/drawingml/2006/table">
            <a:tbl>
              <a:tblPr firstRow="1" bandRow="1">
                <a:tableStyleId>{5C22544A-7EE6-4342-B048-85BDC9FD1C3A}</a:tableStyleId>
              </a:tblPr>
              <a:tblGrid>
                <a:gridCol w="2322095">
                  <a:extLst>
                    <a:ext uri="{9D8B030D-6E8A-4147-A177-3AD203B41FA5}">
                      <a16:colId xmlns:a16="http://schemas.microsoft.com/office/drawing/2014/main" val="1602887157"/>
                    </a:ext>
                  </a:extLst>
                </a:gridCol>
                <a:gridCol w="8193505">
                  <a:extLst>
                    <a:ext uri="{9D8B030D-6E8A-4147-A177-3AD203B41FA5}">
                      <a16:colId xmlns:a16="http://schemas.microsoft.com/office/drawing/2014/main" val="3270719784"/>
                    </a:ext>
                  </a:extLst>
                </a:gridCol>
              </a:tblGrid>
              <a:tr h="370840">
                <a:tc>
                  <a:txBody>
                    <a:bodyPr/>
                    <a:lstStyle/>
                    <a:p>
                      <a:r>
                        <a:rPr lang="en-US" dirty="0"/>
                        <a:t>Key</a:t>
                      </a:r>
                    </a:p>
                  </a:txBody>
                  <a:tcPr/>
                </a:tc>
                <a:tc>
                  <a:txBody>
                    <a:bodyPr/>
                    <a:lstStyle/>
                    <a:p>
                      <a:r>
                        <a:rPr lang="en-US" dirty="0"/>
                        <a:t>Description</a:t>
                      </a:r>
                    </a:p>
                  </a:txBody>
                  <a:tcPr/>
                </a:tc>
                <a:extLst>
                  <a:ext uri="{0D108BD9-81ED-4DB2-BD59-A6C34878D82A}">
                    <a16:rowId xmlns:a16="http://schemas.microsoft.com/office/drawing/2014/main" val="2207023917"/>
                  </a:ext>
                </a:extLst>
              </a:tr>
              <a:tr h="370840">
                <a:tc>
                  <a:txBody>
                    <a:bodyPr/>
                    <a:lstStyle/>
                    <a:p>
                      <a:r>
                        <a:rPr lang="en-US" dirty="0"/>
                        <a:t>alt+x eww </a:t>
                      </a:r>
                    </a:p>
                  </a:txBody>
                  <a:tcPr/>
                </a:tc>
                <a:tc>
                  <a:txBody>
                    <a:bodyPr/>
                    <a:lstStyle/>
                    <a:p>
                      <a:r>
                        <a:rPr lang="en-US" dirty="0"/>
                        <a:t>Emacs Web Wowser (EWW). p previous, r forward. g reload, v view page source, w copy page url</a:t>
                      </a:r>
                    </a:p>
                  </a:txBody>
                  <a:tcPr/>
                </a:tc>
                <a:extLst>
                  <a:ext uri="{0D108BD9-81ED-4DB2-BD59-A6C34878D82A}">
                    <a16:rowId xmlns:a16="http://schemas.microsoft.com/office/drawing/2014/main" val="402546714"/>
                  </a:ext>
                </a:extLst>
              </a:tr>
              <a:tr h="370840">
                <a:tc>
                  <a:txBody>
                    <a:bodyPr/>
                    <a:lstStyle/>
                    <a:p>
                      <a:r>
                        <a:rPr lang="en-US" dirty="0" err="1"/>
                        <a:t>alt+x</a:t>
                      </a:r>
                      <a:r>
                        <a:rPr lang="en-US" dirty="0"/>
                        <a:t> </a:t>
                      </a:r>
                      <a:r>
                        <a:rPr lang="en-US" dirty="0" err="1"/>
                        <a:t>eww</a:t>
                      </a:r>
                      <a:r>
                        <a:rPr lang="en-US" dirty="0"/>
                        <a:t>-open-file</a:t>
                      </a:r>
                    </a:p>
                  </a:txBody>
                  <a:tcPr/>
                </a:tc>
                <a:tc>
                  <a:txBody>
                    <a:bodyPr/>
                    <a:lstStyle/>
                    <a:p>
                      <a:r>
                        <a:rPr lang="en-US" dirty="0"/>
                        <a:t>open local file in eww </a:t>
                      </a:r>
                    </a:p>
                  </a:txBody>
                  <a:tcPr/>
                </a:tc>
                <a:extLst>
                  <a:ext uri="{0D108BD9-81ED-4DB2-BD59-A6C34878D82A}">
                    <a16:rowId xmlns:a16="http://schemas.microsoft.com/office/drawing/2014/main" val="3297592537"/>
                  </a:ext>
                </a:extLst>
              </a:tr>
              <a:tr h="370840">
                <a:tc>
                  <a:txBody>
                    <a:bodyPr/>
                    <a:lstStyle/>
                    <a:p>
                      <a:r>
                        <a:rPr lang="en-US" dirty="0"/>
                        <a:t>alt+x eshell</a:t>
                      </a:r>
                    </a:p>
                  </a:txBody>
                  <a:tcPr/>
                </a:tc>
                <a:tc>
                  <a:txBody>
                    <a:bodyPr/>
                    <a:lstStyle/>
                    <a:p>
                      <a:r>
                        <a:rPr lang="en-US" dirty="0"/>
                        <a:t>Emacs shell. Similar to bash, but works the same in all OS</a:t>
                      </a:r>
                    </a:p>
                  </a:txBody>
                  <a:tcPr/>
                </a:tc>
                <a:extLst>
                  <a:ext uri="{0D108BD9-81ED-4DB2-BD59-A6C34878D82A}">
                    <a16:rowId xmlns:a16="http://schemas.microsoft.com/office/drawing/2014/main" val="838122347"/>
                  </a:ext>
                </a:extLst>
              </a:tr>
              <a:tr h="370840">
                <a:tc>
                  <a:txBody>
                    <a:bodyPr/>
                    <a:lstStyle/>
                    <a:p>
                      <a:r>
                        <a:rPr lang="en-US" dirty="0"/>
                        <a:t>alt+x shell</a:t>
                      </a:r>
                    </a:p>
                  </a:txBody>
                  <a:tcPr/>
                </a:tc>
                <a:tc>
                  <a:txBody>
                    <a:bodyPr/>
                    <a:lstStyle/>
                    <a:p>
                      <a:r>
                        <a:rPr lang="en-US" dirty="0"/>
                        <a:t>run your favorite shell, e.g. bash</a:t>
                      </a:r>
                    </a:p>
                  </a:txBody>
                  <a:tcPr/>
                </a:tc>
                <a:extLst>
                  <a:ext uri="{0D108BD9-81ED-4DB2-BD59-A6C34878D82A}">
                    <a16:rowId xmlns:a16="http://schemas.microsoft.com/office/drawing/2014/main" val="649474136"/>
                  </a:ext>
                </a:extLst>
              </a:tr>
              <a:tr h="370840">
                <a:tc>
                  <a:txBody>
                    <a:bodyPr/>
                    <a:lstStyle/>
                    <a:p>
                      <a:r>
                        <a:rPr lang="en-US" dirty="0"/>
                        <a:t>alt+x term</a:t>
                      </a:r>
                    </a:p>
                  </a:txBody>
                  <a:tcPr/>
                </a:tc>
                <a:tc>
                  <a:txBody>
                    <a:bodyPr/>
                    <a:lstStyle/>
                    <a:p>
                      <a:r>
                        <a:rPr lang="en-US" dirty="0"/>
                        <a:t>terminal emulator (cursor keys work)</a:t>
                      </a:r>
                    </a:p>
                  </a:txBody>
                  <a:tcPr/>
                </a:tc>
                <a:extLst>
                  <a:ext uri="{0D108BD9-81ED-4DB2-BD59-A6C34878D82A}">
                    <a16:rowId xmlns:a16="http://schemas.microsoft.com/office/drawing/2014/main" val="1145243863"/>
                  </a:ext>
                </a:extLst>
              </a:tr>
              <a:tr h="370840">
                <a:tc>
                  <a:txBody>
                    <a:bodyPr/>
                    <a:lstStyle/>
                    <a:p>
                      <a:r>
                        <a:rPr lang="en-US" dirty="0"/>
                        <a:t>alt+x calendar</a:t>
                      </a:r>
                    </a:p>
                  </a:txBody>
                  <a:tcPr/>
                </a:tc>
                <a:tc>
                  <a:txBody>
                    <a:bodyPr/>
                    <a:lstStyle/>
                    <a:p>
                      <a:r>
                        <a:rPr lang="en-US" dirty="0"/>
                        <a:t>display calendar</a:t>
                      </a:r>
                    </a:p>
                  </a:txBody>
                  <a:tcPr/>
                </a:tc>
                <a:extLst>
                  <a:ext uri="{0D108BD9-81ED-4DB2-BD59-A6C34878D82A}">
                    <a16:rowId xmlns:a16="http://schemas.microsoft.com/office/drawing/2014/main" val="215411625"/>
                  </a:ext>
                </a:extLst>
              </a:tr>
              <a:tr h="370840">
                <a:tc>
                  <a:txBody>
                    <a:bodyPr/>
                    <a:lstStyle/>
                    <a:p>
                      <a:r>
                        <a:rPr lang="en-US" dirty="0"/>
                        <a:t>alt+x org-mode</a:t>
                      </a:r>
                    </a:p>
                  </a:txBody>
                  <a:tcPr/>
                </a:tc>
                <a:tc>
                  <a:txBody>
                    <a:bodyPr/>
                    <a:lstStyle/>
                    <a:p>
                      <a:r>
                        <a:rPr lang="en-US" dirty="0"/>
                        <a:t>Organize your life and projects. Use * and TAB</a:t>
                      </a:r>
                    </a:p>
                  </a:txBody>
                  <a:tcPr/>
                </a:tc>
                <a:extLst>
                  <a:ext uri="{0D108BD9-81ED-4DB2-BD59-A6C34878D82A}">
                    <a16:rowId xmlns:a16="http://schemas.microsoft.com/office/drawing/2014/main" val="288124680"/>
                  </a:ext>
                </a:extLst>
              </a:tr>
              <a:tr h="370840">
                <a:tc>
                  <a:txBody>
                    <a:bodyPr/>
                    <a:lstStyle/>
                    <a:p>
                      <a:r>
                        <a:rPr lang="en-US" dirty="0"/>
                        <a:t>alt+x tetris</a:t>
                      </a:r>
                    </a:p>
                  </a:txBody>
                  <a:tcPr/>
                </a:tc>
                <a:tc>
                  <a:txBody>
                    <a:bodyPr/>
                    <a:lstStyle/>
                    <a:p>
                      <a:r>
                        <a:rPr lang="en-US" dirty="0"/>
                        <a:t>Play tetris (kill buffer to exit)</a:t>
                      </a:r>
                    </a:p>
                  </a:txBody>
                  <a:tcPr/>
                </a:tc>
                <a:extLst>
                  <a:ext uri="{0D108BD9-81ED-4DB2-BD59-A6C34878D82A}">
                    <a16:rowId xmlns:a16="http://schemas.microsoft.com/office/drawing/2014/main" val="984238166"/>
                  </a:ext>
                </a:extLst>
              </a:tr>
              <a:tr h="370840">
                <a:tc>
                  <a:txBody>
                    <a:bodyPr/>
                    <a:lstStyle/>
                    <a:p>
                      <a:r>
                        <a:rPr lang="en-US" dirty="0"/>
                        <a:t>alt+x gomoku</a:t>
                      </a:r>
                    </a:p>
                  </a:txBody>
                  <a:tcPr/>
                </a:tc>
                <a:tc>
                  <a:txBody>
                    <a:bodyPr/>
                    <a:lstStyle/>
                    <a:p>
                      <a:r>
                        <a:rPr lang="en-US" dirty="0"/>
                        <a:t>Play 5 in a row</a:t>
                      </a:r>
                    </a:p>
                  </a:txBody>
                  <a:tcPr/>
                </a:tc>
                <a:extLst>
                  <a:ext uri="{0D108BD9-81ED-4DB2-BD59-A6C34878D82A}">
                    <a16:rowId xmlns:a16="http://schemas.microsoft.com/office/drawing/2014/main" val="2795588030"/>
                  </a:ext>
                </a:extLst>
              </a:tr>
              <a:tr h="370840">
                <a:tc>
                  <a:txBody>
                    <a:bodyPr/>
                    <a:lstStyle/>
                    <a:p>
                      <a:r>
                        <a:rPr lang="en-US" dirty="0"/>
                        <a:t>alt+x doctor</a:t>
                      </a:r>
                    </a:p>
                  </a:txBody>
                  <a:tcPr/>
                </a:tc>
                <a:tc>
                  <a:txBody>
                    <a:bodyPr/>
                    <a:lstStyle/>
                    <a:p>
                      <a:r>
                        <a:rPr lang="en-US" dirty="0"/>
                        <a:t>Chat with a psychotherapist</a:t>
                      </a:r>
                    </a:p>
                  </a:txBody>
                  <a:tcPr/>
                </a:tc>
                <a:extLst>
                  <a:ext uri="{0D108BD9-81ED-4DB2-BD59-A6C34878D82A}">
                    <a16:rowId xmlns:a16="http://schemas.microsoft.com/office/drawing/2014/main" val="1083939855"/>
                  </a:ext>
                </a:extLst>
              </a:tr>
            </a:tbl>
          </a:graphicData>
        </a:graphic>
      </p:graphicFrame>
    </p:spTree>
    <p:extLst>
      <p:ext uri="{BB962C8B-B14F-4D97-AF65-F5344CB8AC3E}">
        <p14:creationId xmlns:p14="http://schemas.microsoft.com/office/powerpoint/2010/main" val="22222751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2DD483E-F26A-4BCF-937B-7BF6DB9DE1AA}"/>
              </a:ext>
            </a:extLst>
          </p:cNvPr>
          <p:cNvSpPr>
            <a:spLocks noGrp="1"/>
          </p:cNvSpPr>
          <p:nvPr>
            <p:ph type="title"/>
          </p:nvPr>
        </p:nvSpPr>
        <p:spPr/>
        <p:txBody>
          <a:bodyPr/>
          <a:lstStyle/>
          <a:p>
            <a:r>
              <a:rPr lang="en-US" dirty="0"/>
              <a:t>Installing </a:t>
            </a:r>
            <a:r>
              <a:rPr lang="en-US" dirty="0">
                <a:hlinkClick r:id="rId2"/>
              </a:rPr>
              <a:t>web-mode</a:t>
            </a:r>
            <a:r>
              <a:rPr lang="en-US" dirty="0"/>
              <a:t> to Emacs</a:t>
            </a:r>
          </a:p>
        </p:txBody>
      </p:sp>
      <p:sp>
        <p:nvSpPr>
          <p:cNvPr id="3" name="Sisällön paikkamerkki 2">
            <a:extLst>
              <a:ext uri="{FF2B5EF4-FFF2-40B4-BE49-F238E27FC236}">
                <a16:creationId xmlns:a16="http://schemas.microsoft.com/office/drawing/2014/main" id="{40E9F2FC-F0CA-4CE6-A31E-C143931F306E}"/>
              </a:ext>
            </a:extLst>
          </p:cNvPr>
          <p:cNvSpPr>
            <a:spLocks noGrp="1"/>
          </p:cNvSpPr>
          <p:nvPr>
            <p:ph idx="1"/>
          </p:nvPr>
        </p:nvSpPr>
        <p:spPr>
          <a:xfrm>
            <a:off x="838200" y="1825625"/>
            <a:ext cx="11097126" cy="4351338"/>
          </a:xfrm>
        </p:spPr>
        <p:txBody>
          <a:bodyPr>
            <a:noAutofit/>
          </a:bodyPr>
          <a:lstStyle/>
          <a:p>
            <a:pPr marL="514350" indent="-514350">
              <a:buFont typeface="+mj-lt"/>
              <a:buAutoNum type="arabicPeriod"/>
            </a:pPr>
            <a:r>
              <a:rPr lang="en-US" sz="2000" dirty="0"/>
              <a:t>Make sure you do NOT have (rename/delete if you have): ~/.emacs or ~/.emacs.el</a:t>
            </a:r>
          </a:p>
          <a:p>
            <a:pPr marL="514350" indent="-514350">
              <a:buFont typeface="+mj-lt"/>
              <a:buAutoNum type="arabicPeriod"/>
            </a:pPr>
            <a:r>
              <a:rPr lang="en-US" sz="2000" dirty="0"/>
              <a:t>Add this to your: ~/.emacs.d/init.el</a:t>
            </a:r>
          </a:p>
          <a:p>
            <a:pPr marL="914400" lvl="2" indent="0">
              <a:buNone/>
            </a:pPr>
            <a:r>
              <a:rPr lang="en-US" sz="1600" dirty="0">
                <a:latin typeface="Courier New" panose="02070309020205020404" pitchFamily="49" charset="0"/>
                <a:cs typeface="Courier New" panose="02070309020205020404" pitchFamily="49" charset="0"/>
              </a:rPr>
              <a:t>;; Global Settings</a:t>
            </a:r>
          </a:p>
          <a:p>
            <a:pPr marL="914400" lvl="2" indent="0">
              <a:buNone/>
            </a:pP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setq</a:t>
            </a:r>
            <a:r>
              <a:rPr lang="en-US" sz="1600" dirty="0">
                <a:latin typeface="Courier New" panose="02070309020205020404" pitchFamily="49" charset="0"/>
                <a:cs typeface="Courier New" panose="02070309020205020404" pitchFamily="49" charset="0"/>
              </a:rPr>
              <a:t> inhibit-startup-message t) ;; hide the startup message</a:t>
            </a:r>
          </a:p>
          <a:p>
            <a:pPr marL="914400" lvl="2" indent="0">
              <a:buNone/>
            </a:pPr>
            <a:r>
              <a:rPr lang="en-US" sz="1600" dirty="0">
                <a:latin typeface="Courier New" panose="02070309020205020404" pitchFamily="49" charset="0"/>
                <a:cs typeface="Courier New" panose="02070309020205020404" pitchFamily="49" charset="0"/>
              </a:rPr>
              <a:t>(global-</a:t>
            </a:r>
            <a:r>
              <a:rPr lang="en-US" sz="1600" dirty="0" err="1">
                <a:latin typeface="Courier New" panose="02070309020205020404" pitchFamily="49" charset="0"/>
                <a:cs typeface="Courier New" panose="02070309020205020404" pitchFamily="49" charset="0"/>
              </a:rPr>
              <a:t>linum</a:t>
            </a:r>
            <a:r>
              <a:rPr lang="en-US" sz="1600" dirty="0">
                <a:latin typeface="Courier New" panose="02070309020205020404" pitchFamily="49" charset="0"/>
                <a:cs typeface="Courier New" panose="02070309020205020404" pitchFamily="49" charset="0"/>
              </a:rPr>
              <a:t>-mode t) ;; enable line numbers globally</a:t>
            </a:r>
          </a:p>
          <a:p>
            <a:pPr marL="914400" lvl="2" indent="0">
              <a:buNone/>
            </a:pPr>
            <a:r>
              <a:rPr lang="en-US" sz="1600" dirty="0">
                <a:latin typeface="Courier New" panose="02070309020205020404" pitchFamily="49" charset="0"/>
                <a:cs typeface="Courier New" panose="02070309020205020404" pitchFamily="49" charset="0"/>
              </a:rPr>
              <a:t>;; Add Melpa Stable</a:t>
            </a:r>
          </a:p>
          <a:p>
            <a:pPr marL="914400" lvl="2" indent="0">
              <a:buNone/>
            </a:pPr>
            <a:r>
              <a:rPr lang="en-US" sz="1600" dirty="0">
                <a:latin typeface="Courier New" panose="02070309020205020404" pitchFamily="49" charset="0"/>
                <a:cs typeface="Courier New" panose="02070309020205020404" pitchFamily="49" charset="0"/>
              </a:rPr>
              <a:t>(require 'package)</a:t>
            </a:r>
          </a:p>
          <a:p>
            <a:pPr marL="914400" lvl="2" indent="0">
              <a:buNone/>
            </a:pPr>
            <a:r>
              <a:rPr lang="en-US" sz="1600" dirty="0">
                <a:latin typeface="Courier New" panose="02070309020205020404" pitchFamily="49" charset="0"/>
                <a:cs typeface="Courier New" panose="02070309020205020404" pitchFamily="49" charset="0"/>
              </a:rPr>
              <a:t>(add-to-list 'package-archives</a:t>
            </a:r>
          </a:p>
          <a:p>
            <a:pPr marL="457200" lvl="1" indent="0">
              <a:buNone/>
            </a:pPr>
            <a:r>
              <a:rPr lang="en-US" sz="1600" dirty="0">
                <a:latin typeface="Courier New" panose="02070309020205020404" pitchFamily="49" charset="0"/>
                <a:cs typeface="Courier New" panose="02070309020205020404" pitchFamily="49" charset="0"/>
              </a:rPr>
              <a:t>             '("melpa-stable" . "https://stable.melpa.org/packages/") t)</a:t>
            </a:r>
          </a:p>
          <a:p>
            <a:pPr marL="457200" lvl="1" indent="0">
              <a:buNone/>
            </a:pPr>
            <a:r>
              <a:rPr lang="en-US" sz="1600" dirty="0">
                <a:latin typeface="Courier New" panose="02070309020205020404" pitchFamily="49" charset="0"/>
                <a:cs typeface="Courier New" panose="02070309020205020404" pitchFamily="49" charset="0"/>
              </a:rPr>
              <a:t>    (package-initialize)</a:t>
            </a:r>
          </a:p>
          <a:p>
            <a:pPr marL="457200" indent="-457200">
              <a:buFont typeface="+mj-lt"/>
              <a:buAutoNum type="arabicPeriod"/>
            </a:pPr>
            <a:r>
              <a:rPr lang="en-US" sz="2000" dirty="0">
                <a:cs typeface="Courier New" panose="02070309020205020404" pitchFamily="49" charset="0"/>
              </a:rPr>
              <a:t>Restart Emacs</a:t>
            </a:r>
          </a:p>
          <a:p>
            <a:pPr marL="457200" indent="-457200">
              <a:buFont typeface="+mj-lt"/>
              <a:buAutoNum type="arabicPeriod"/>
            </a:pPr>
            <a:r>
              <a:rPr lang="en-US" sz="2000" dirty="0">
                <a:cs typeface="Courier New" panose="02070309020205020404" pitchFamily="49" charset="0"/>
              </a:rPr>
              <a:t>alt+x package-refresh-contents</a:t>
            </a:r>
          </a:p>
          <a:p>
            <a:pPr marL="457200" indent="-457200">
              <a:buFont typeface="+mj-lt"/>
              <a:buAutoNum type="arabicPeriod"/>
            </a:pPr>
            <a:r>
              <a:rPr lang="en-US" sz="2000" dirty="0">
                <a:cs typeface="Courier New" panose="02070309020205020404" pitchFamily="49" charset="0"/>
              </a:rPr>
              <a:t>alt+x package-install web-mode (enter)</a:t>
            </a:r>
          </a:p>
          <a:p>
            <a:pPr marL="457200" indent="-457200">
              <a:buFont typeface="+mj-lt"/>
              <a:buAutoNum type="arabicPeriod"/>
            </a:pPr>
            <a:r>
              <a:rPr lang="en-US" sz="2000" dirty="0">
                <a:cs typeface="Courier New" panose="02070309020205020404" pitchFamily="49" charset="0"/>
              </a:rPr>
              <a:t>alt+x package-list-packages (to install more packages if you want)</a:t>
            </a:r>
          </a:p>
        </p:txBody>
      </p:sp>
    </p:spTree>
    <p:extLst>
      <p:ext uri="{BB962C8B-B14F-4D97-AF65-F5344CB8AC3E}">
        <p14:creationId xmlns:p14="http://schemas.microsoft.com/office/powerpoint/2010/main" val="24133715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B04D988-7043-48D9-91E2-02D052795D0E}"/>
              </a:ext>
            </a:extLst>
          </p:cNvPr>
          <p:cNvSpPr>
            <a:spLocks noGrp="1"/>
          </p:cNvSpPr>
          <p:nvPr>
            <p:ph type="title"/>
          </p:nvPr>
        </p:nvSpPr>
        <p:spPr/>
        <p:txBody>
          <a:bodyPr/>
          <a:lstStyle/>
          <a:p>
            <a:r>
              <a:rPr lang="en-US" dirty="0"/>
              <a:t>Web-mode Settings to ~/.emacs.d/init.el</a:t>
            </a:r>
          </a:p>
        </p:txBody>
      </p:sp>
      <p:sp>
        <p:nvSpPr>
          <p:cNvPr id="3" name="Sisällön paikkamerkki 2">
            <a:extLst>
              <a:ext uri="{FF2B5EF4-FFF2-40B4-BE49-F238E27FC236}">
                <a16:creationId xmlns:a16="http://schemas.microsoft.com/office/drawing/2014/main" id="{01BFEA1C-1631-41DA-8668-4E827B9A1F39}"/>
              </a:ext>
            </a:extLst>
          </p:cNvPr>
          <p:cNvSpPr>
            <a:spLocks noGrp="1"/>
          </p:cNvSpPr>
          <p:nvPr>
            <p:ph idx="1"/>
          </p:nvPr>
        </p:nvSpPr>
        <p:spPr>
          <a:xfrm>
            <a:off x="838200" y="1825625"/>
            <a:ext cx="10515600" cy="4667250"/>
          </a:xfrm>
        </p:spPr>
        <p:txBody>
          <a:bodyPr>
            <a:normAutofit fontScale="55000" lnSpcReduction="20000"/>
          </a:bodyPr>
          <a:lstStyle/>
          <a:p>
            <a:pPr marL="0" indent="0">
              <a:buNone/>
            </a:pPr>
            <a:r>
              <a:rPr lang="en-US" dirty="0">
                <a:latin typeface="Courier New" panose="02070309020205020404" pitchFamily="49" charset="0"/>
                <a:cs typeface="Courier New" panose="02070309020205020404" pitchFamily="49" charset="0"/>
              </a:rPr>
              <a:t>;; Web-mode</a:t>
            </a:r>
          </a:p>
          <a:p>
            <a:pPr marL="0" indent="0">
              <a:buNone/>
            </a:pPr>
            <a:r>
              <a:rPr lang="en-US" dirty="0">
                <a:latin typeface="Courier New" panose="02070309020205020404" pitchFamily="49" charset="0"/>
                <a:cs typeface="Courier New" panose="02070309020205020404" pitchFamily="49" charset="0"/>
              </a:rPr>
              <a:t>(require 'web-mode)</a:t>
            </a:r>
          </a:p>
          <a:p>
            <a:pPr marL="0" indent="0">
              <a:buNone/>
            </a:pPr>
            <a:r>
              <a:rPr lang="en-US" dirty="0">
                <a:latin typeface="Courier New" panose="02070309020205020404" pitchFamily="49" charset="0"/>
                <a:cs typeface="Courier New" panose="02070309020205020404" pitchFamily="49" charset="0"/>
              </a:rPr>
              <a:t>(add-to-list 'auto-mode-alist '("\\.phtml\\'" . web-mode))</a:t>
            </a:r>
          </a:p>
          <a:p>
            <a:pPr marL="0" indent="0">
              <a:buNone/>
            </a:pPr>
            <a:r>
              <a:rPr lang="en-US" dirty="0">
                <a:latin typeface="Courier New" panose="02070309020205020404" pitchFamily="49" charset="0"/>
                <a:cs typeface="Courier New" panose="02070309020205020404" pitchFamily="49" charset="0"/>
              </a:rPr>
              <a:t>(add-to-list 'auto-mode-alist '("\\.tpl\\.php\\'" . web-mode))</a:t>
            </a:r>
          </a:p>
          <a:p>
            <a:pPr marL="0" indent="0">
              <a:buNone/>
            </a:pPr>
            <a:r>
              <a:rPr lang="en-US" dirty="0">
                <a:latin typeface="Courier New" panose="02070309020205020404" pitchFamily="49" charset="0"/>
                <a:cs typeface="Courier New" panose="02070309020205020404" pitchFamily="49" charset="0"/>
              </a:rPr>
              <a:t>(add-to-list 'auto-mode-alist '("\\.[agj]sp\\'" . web-mode))</a:t>
            </a:r>
          </a:p>
          <a:p>
            <a:pPr marL="0" indent="0">
              <a:buNone/>
            </a:pPr>
            <a:r>
              <a:rPr lang="en-US" dirty="0">
                <a:latin typeface="Courier New" panose="02070309020205020404" pitchFamily="49" charset="0"/>
                <a:cs typeface="Courier New" panose="02070309020205020404" pitchFamily="49" charset="0"/>
              </a:rPr>
              <a:t>(add-to-list 'auto-mode-alist '("\\.as[cp]x\\'" . web-mode))</a:t>
            </a:r>
          </a:p>
          <a:p>
            <a:pPr marL="0" indent="0">
              <a:buNone/>
            </a:pPr>
            <a:r>
              <a:rPr lang="en-US" dirty="0">
                <a:latin typeface="Courier New" panose="02070309020205020404" pitchFamily="49" charset="0"/>
                <a:cs typeface="Courier New" panose="02070309020205020404" pitchFamily="49" charset="0"/>
              </a:rPr>
              <a:t>(add-to-list 'auto-mode-alist '("\\.erb\\'" . web-mode))</a:t>
            </a:r>
          </a:p>
          <a:p>
            <a:pPr marL="0" indent="0">
              <a:buNone/>
            </a:pPr>
            <a:r>
              <a:rPr lang="en-US" dirty="0">
                <a:latin typeface="Courier New" panose="02070309020205020404" pitchFamily="49" charset="0"/>
                <a:cs typeface="Courier New" panose="02070309020205020404" pitchFamily="49" charset="0"/>
              </a:rPr>
              <a:t>(add-to-list 'auto-mode-alist '("\\.mustache\\'" . web-mode))</a:t>
            </a:r>
          </a:p>
          <a:p>
            <a:pPr marL="0" indent="0">
              <a:buNone/>
            </a:pPr>
            <a:r>
              <a:rPr lang="en-US" dirty="0">
                <a:latin typeface="Courier New" panose="02070309020205020404" pitchFamily="49" charset="0"/>
                <a:cs typeface="Courier New" panose="02070309020205020404" pitchFamily="49" charset="0"/>
              </a:rPr>
              <a:t>(add-to-list 'auto-mode-alist '("\\.djhtml\\'" . web-mode))</a:t>
            </a:r>
          </a:p>
          <a:p>
            <a:pPr marL="0" indent="0">
              <a:buNone/>
            </a:pPr>
            <a:r>
              <a:rPr lang="en-US" dirty="0">
                <a:latin typeface="Courier New" panose="02070309020205020404" pitchFamily="49" charset="0"/>
                <a:cs typeface="Courier New" panose="02070309020205020404" pitchFamily="49" charset="0"/>
              </a:rPr>
              <a:t>;; Using web-mode for editing plain HTML files can be done this way</a:t>
            </a:r>
          </a:p>
          <a:p>
            <a:pPr marL="0" indent="0">
              <a:buNone/>
            </a:pPr>
            <a:r>
              <a:rPr lang="en-US" dirty="0">
                <a:latin typeface="Courier New" panose="02070309020205020404" pitchFamily="49" charset="0"/>
                <a:cs typeface="Courier New" panose="02070309020205020404" pitchFamily="49" charset="0"/>
              </a:rPr>
              <a:t>(add-to-list 'auto-mode-alist '("\\.html?\\'" . web-mode))</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Python settings</a:t>
            </a:r>
          </a:p>
          <a:p>
            <a:pPr marL="0" indent="0">
              <a:buNone/>
            </a:pPr>
            <a:r>
              <a:rPr lang="en-US" dirty="0">
                <a:latin typeface="Courier New" panose="02070309020205020404" pitchFamily="49" charset="0"/>
                <a:cs typeface="Courier New" panose="02070309020205020404" pitchFamily="49" charset="0"/>
              </a:rPr>
              <a:t>(setq python-shell-interpreter "python3")</a:t>
            </a:r>
          </a:p>
          <a:p>
            <a:pPr marL="0" indent="0">
              <a:buNone/>
            </a:pPr>
            <a:r>
              <a:rPr lang="en-US" dirty="0">
                <a:latin typeface="Courier New" panose="02070309020205020404" pitchFamily="49" charset="0"/>
                <a:cs typeface="Courier New" panose="02070309020205020404" pitchFamily="49" charset="0"/>
              </a:rPr>
              <a:t>;; (elpy-enable)</a:t>
            </a:r>
          </a:p>
          <a:p>
            <a:pPr marL="0" indent="0">
              <a:buNone/>
            </a:pPr>
            <a:r>
              <a:rPr lang="en-US" dirty="0">
                <a:latin typeface="Courier New" panose="02070309020205020404" pitchFamily="49" charset="0"/>
                <a:cs typeface="Courier New" panose="02070309020205020404" pitchFamily="49" charset="0"/>
              </a:rPr>
              <a:t>;; (setq elpy-rpc-python-command "python3")</a:t>
            </a:r>
          </a:p>
        </p:txBody>
      </p:sp>
    </p:spTree>
    <p:extLst>
      <p:ext uri="{BB962C8B-B14F-4D97-AF65-F5344CB8AC3E}">
        <p14:creationId xmlns:p14="http://schemas.microsoft.com/office/powerpoint/2010/main" val="25258827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A623645-DD0B-475E-A982-F4BCC5CA5C9C}"/>
              </a:ext>
            </a:extLst>
          </p:cNvPr>
          <p:cNvSpPr>
            <a:spLocks noGrp="1"/>
          </p:cNvSpPr>
          <p:nvPr>
            <p:ph type="title"/>
          </p:nvPr>
        </p:nvSpPr>
        <p:spPr/>
        <p:txBody>
          <a:bodyPr/>
          <a:lstStyle/>
          <a:p>
            <a:r>
              <a:rPr lang="en-US" dirty="0"/>
              <a:t>Web Mode Keyboard Shortcuts</a:t>
            </a:r>
          </a:p>
        </p:txBody>
      </p:sp>
      <p:graphicFrame>
        <p:nvGraphicFramePr>
          <p:cNvPr id="4" name="Taulukko 4">
            <a:extLst>
              <a:ext uri="{FF2B5EF4-FFF2-40B4-BE49-F238E27FC236}">
                <a16:creationId xmlns:a16="http://schemas.microsoft.com/office/drawing/2014/main" id="{E25CF3AB-5CD0-46AB-89AE-8BD925081E5E}"/>
              </a:ext>
            </a:extLst>
          </p:cNvPr>
          <p:cNvGraphicFramePr>
            <a:graphicFrameLocks noGrp="1"/>
          </p:cNvGraphicFramePr>
          <p:nvPr>
            <p:ph idx="1"/>
            <p:extLst>
              <p:ext uri="{D42A27DB-BD31-4B8C-83A1-F6EECF244321}">
                <p14:modId xmlns:p14="http://schemas.microsoft.com/office/powerpoint/2010/main" val="493714657"/>
              </p:ext>
            </p:extLst>
          </p:nvPr>
        </p:nvGraphicFramePr>
        <p:xfrm>
          <a:off x="838200" y="1825625"/>
          <a:ext cx="10515600" cy="397764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760417818"/>
                    </a:ext>
                  </a:extLst>
                </a:gridCol>
                <a:gridCol w="8610600">
                  <a:extLst>
                    <a:ext uri="{9D8B030D-6E8A-4147-A177-3AD203B41FA5}">
                      <a16:colId xmlns:a16="http://schemas.microsoft.com/office/drawing/2014/main" val="2154341890"/>
                    </a:ext>
                  </a:extLst>
                </a:gridCol>
              </a:tblGrid>
              <a:tr h="370840">
                <a:tc>
                  <a:txBody>
                    <a:bodyPr/>
                    <a:lstStyle/>
                    <a:p>
                      <a:r>
                        <a:rPr lang="en-US" dirty="0"/>
                        <a:t>Key</a:t>
                      </a:r>
                    </a:p>
                  </a:txBody>
                  <a:tcPr/>
                </a:tc>
                <a:tc>
                  <a:txBody>
                    <a:bodyPr/>
                    <a:lstStyle/>
                    <a:p>
                      <a:r>
                        <a:rPr lang="en-US" dirty="0"/>
                        <a:t>Description</a:t>
                      </a:r>
                    </a:p>
                  </a:txBody>
                  <a:tcPr/>
                </a:tc>
                <a:extLst>
                  <a:ext uri="{0D108BD9-81ED-4DB2-BD59-A6C34878D82A}">
                    <a16:rowId xmlns:a16="http://schemas.microsoft.com/office/drawing/2014/main" val="1344717689"/>
                  </a:ext>
                </a:extLst>
              </a:tr>
              <a:tr h="370840">
                <a:tc>
                  <a:txBody>
                    <a:bodyPr/>
                    <a:lstStyle/>
                    <a:p>
                      <a:r>
                        <a:rPr lang="en-US" dirty="0"/>
                        <a:t>ctrl+c ctrl+s</a:t>
                      </a:r>
                    </a:p>
                  </a:txBody>
                  <a:tcPr/>
                </a:tc>
                <a:tc>
                  <a:txBody>
                    <a:bodyPr/>
                    <a:lstStyle/>
                    <a:p>
                      <a:r>
                        <a:rPr lang="en-US" dirty="0"/>
                        <a:t>insert snippet e.g. html5 or ul</a:t>
                      </a:r>
                    </a:p>
                  </a:txBody>
                  <a:tcPr/>
                </a:tc>
                <a:extLst>
                  <a:ext uri="{0D108BD9-81ED-4DB2-BD59-A6C34878D82A}">
                    <a16:rowId xmlns:a16="http://schemas.microsoft.com/office/drawing/2014/main" val="716707700"/>
                  </a:ext>
                </a:extLst>
              </a:tr>
              <a:tr h="370840">
                <a:tc>
                  <a:txBody>
                    <a:bodyPr/>
                    <a:lstStyle/>
                    <a:p>
                      <a:r>
                        <a:rPr lang="en-US" dirty="0"/>
                        <a:t>alt+;</a:t>
                      </a:r>
                    </a:p>
                  </a:txBody>
                  <a:tcPr/>
                </a:tc>
                <a:tc>
                  <a:txBody>
                    <a:bodyPr/>
                    <a:lstStyle/>
                    <a:p>
                      <a:r>
                        <a:rPr lang="en-US" dirty="0"/>
                        <a:t>comment/uncomment block</a:t>
                      </a:r>
                    </a:p>
                  </a:txBody>
                  <a:tcPr/>
                </a:tc>
                <a:extLst>
                  <a:ext uri="{0D108BD9-81ED-4DB2-BD59-A6C34878D82A}">
                    <a16:rowId xmlns:a16="http://schemas.microsoft.com/office/drawing/2014/main" val="3666033460"/>
                  </a:ext>
                </a:extLst>
              </a:tr>
              <a:tr h="370840">
                <a:tc>
                  <a:txBody>
                    <a:bodyPr/>
                    <a:lstStyle/>
                    <a:p>
                      <a:r>
                        <a:rPr lang="en-US" dirty="0"/>
                        <a:t>ctrl+c ctrl+I</a:t>
                      </a:r>
                      <a:br>
                        <a:rPr lang="en-US" dirty="0"/>
                      </a:br>
                      <a:r>
                        <a:rPr lang="en-US" dirty="0"/>
                        <a:t>ctrl+c TAB</a:t>
                      </a:r>
                    </a:p>
                  </a:txBody>
                  <a:tcPr/>
                </a:tc>
                <a:tc>
                  <a:txBody>
                    <a:bodyPr/>
                    <a:lstStyle/>
                    <a:p>
                      <a:r>
                        <a:rPr lang="en-US" dirty="0"/>
                        <a:t>indent entire buffer</a:t>
                      </a:r>
                    </a:p>
                  </a:txBody>
                  <a:tcPr/>
                </a:tc>
                <a:extLst>
                  <a:ext uri="{0D108BD9-81ED-4DB2-BD59-A6C34878D82A}">
                    <a16:rowId xmlns:a16="http://schemas.microsoft.com/office/drawing/2014/main" val="2396356857"/>
                  </a:ext>
                </a:extLst>
              </a:tr>
              <a:tr h="370840">
                <a:tc>
                  <a:txBody>
                    <a:bodyPr/>
                    <a:lstStyle/>
                    <a:p>
                      <a:r>
                        <a:rPr lang="en-US" dirty="0"/>
                        <a:t>ctrl+c ctrl+w</a:t>
                      </a:r>
                    </a:p>
                  </a:txBody>
                  <a:tcPr/>
                </a:tc>
                <a:tc>
                  <a:txBody>
                    <a:bodyPr/>
                    <a:lstStyle/>
                    <a:p>
                      <a:r>
                        <a:rPr lang="en-US" dirty="0"/>
                        <a:t>toggle display of invalid whitespaces</a:t>
                      </a:r>
                    </a:p>
                  </a:txBody>
                  <a:tcPr/>
                </a:tc>
                <a:extLst>
                  <a:ext uri="{0D108BD9-81ED-4DB2-BD59-A6C34878D82A}">
                    <a16:rowId xmlns:a16="http://schemas.microsoft.com/office/drawing/2014/main" val="1442465526"/>
                  </a:ext>
                </a:extLst>
              </a:tr>
              <a:tr h="370840">
                <a:tc>
                  <a:txBody>
                    <a:bodyPr/>
                    <a:lstStyle/>
                    <a:p>
                      <a:r>
                        <a:rPr lang="pt-BR"/>
                        <a:t>ctrl+c ctrl+e n</a:t>
                      </a:r>
                      <a:endParaRPr lang="en-US" dirty="0"/>
                    </a:p>
                  </a:txBody>
                  <a:tcPr/>
                </a:tc>
                <a:tc>
                  <a:txBody>
                    <a:bodyPr/>
                    <a:lstStyle/>
                    <a:p>
                      <a:r>
                        <a:rPr lang="en-US" dirty="0"/>
                        <a:t>next element</a:t>
                      </a:r>
                    </a:p>
                  </a:txBody>
                  <a:tcPr/>
                </a:tc>
                <a:extLst>
                  <a:ext uri="{0D108BD9-81ED-4DB2-BD59-A6C34878D82A}">
                    <a16:rowId xmlns:a16="http://schemas.microsoft.com/office/drawing/2014/main" val="2133352435"/>
                  </a:ext>
                </a:extLst>
              </a:tr>
              <a:tr h="370840">
                <a:tc>
                  <a:txBody>
                    <a:bodyPr/>
                    <a:lstStyle/>
                    <a:p>
                      <a:r>
                        <a:rPr lang="pt-BR" dirty="0"/>
                        <a:t>ctrl+c ctrl+e p</a:t>
                      </a:r>
                      <a:endParaRPr lang="en-US" dirty="0"/>
                    </a:p>
                  </a:txBody>
                  <a:tcPr/>
                </a:tc>
                <a:tc>
                  <a:txBody>
                    <a:bodyPr/>
                    <a:lstStyle/>
                    <a:p>
                      <a:r>
                        <a:rPr lang="en-US" dirty="0"/>
                        <a:t>previous element</a:t>
                      </a:r>
                    </a:p>
                  </a:txBody>
                  <a:tcPr/>
                </a:tc>
                <a:extLst>
                  <a:ext uri="{0D108BD9-81ED-4DB2-BD59-A6C34878D82A}">
                    <a16:rowId xmlns:a16="http://schemas.microsoft.com/office/drawing/2014/main" val="3881329298"/>
                  </a:ext>
                </a:extLst>
              </a:tr>
              <a:tr h="370840">
                <a:tc>
                  <a:txBody>
                    <a:bodyPr/>
                    <a:lstStyle/>
                    <a:p>
                      <a:r>
                        <a:rPr lang="pt-BR" dirty="0"/>
                        <a:t>ctrl+c ctrl+e k</a:t>
                      </a:r>
                      <a:endParaRPr lang="en-US" dirty="0"/>
                    </a:p>
                  </a:txBody>
                  <a:tcPr/>
                </a:tc>
                <a:tc>
                  <a:txBody>
                    <a:bodyPr/>
                    <a:lstStyle/>
                    <a:p>
                      <a:r>
                        <a:rPr lang="en-US" dirty="0"/>
                        <a:t>kill element</a:t>
                      </a:r>
                    </a:p>
                  </a:txBody>
                  <a:tcPr/>
                </a:tc>
                <a:extLst>
                  <a:ext uri="{0D108BD9-81ED-4DB2-BD59-A6C34878D82A}">
                    <a16:rowId xmlns:a16="http://schemas.microsoft.com/office/drawing/2014/main" val="1133955820"/>
                  </a:ext>
                </a:extLst>
              </a:tr>
              <a:tr h="370840">
                <a:tc>
                  <a:txBody>
                    <a:bodyPr/>
                    <a:lstStyle/>
                    <a:p>
                      <a:r>
                        <a:rPr lang="pt-BR" dirty="0"/>
                        <a:t>ctrl+c ctrl+e s</a:t>
                      </a:r>
                      <a:endParaRPr lang="en-US" dirty="0"/>
                    </a:p>
                  </a:txBody>
                  <a:tcPr/>
                </a:tc>
                <a:tc>
                  <a:txBody>
                    <a:bodyPr/>
                    <a:lstStyle/>
                    <a:p>
                      <a:r>
                        <a:rPr lang="en-US" dirty="0"/>
                        <a:t>select element</a:t>
                      </a:r>
                    </a:p>
                  </a:txBody>
                  <a:tcPr/>
                </a:tc>
                <a:extLst>
                  <a:ext uri="{0D108BD9-81ED-4DB2-BD59-A6C34878D82A}">
                    <a16:rowId xmlns:a16="http://schemas.microsoft.com/office/drawing/2014/main" val="2746172712"/>
                  </a:ext>
                </a:extLst>
              </a:tr>
              <a:tr h="370840">
                <a:tc>
                  <a:txBody>
                    <a:bodyPr/>
                    <a:lstStyle/>
                    <a:p>
                      <a:r>
                        <a:rPr lang="en-US" dirty="0"/>
                        <a:t>ctrl+c ctrl+d d</a:t>
                      </a:r>
                    </a:p>
                  </a:txBody>
                  <a:tcPr/>
                </a:tc>
                <a:tc>
                  <a:txBody>
                    <a:bodyPr/>
                    <a:lstStyle/>
                    <a:p>
                      <a:r>
                        <a:rPr lang="en-US" dirty="0"/>
                        <a:t>show tag mismatch</a:t>
                      </a:r>
                    </a:p>
                  </a:txBody>
                  <a:tcPr/>
                </a:tc>
                <a:extLst>
                  <a:ext uri="{0D108BD9-81ED-4DB2-BD59-A6C34878D82A}">
                    <a16:rowId xmlns:a16="http://schemas.microsoft.com/office/drawing/2014/main" val="56673871"/>
                  </a:ext>
                </a:extLst>
              </a:tr>
            </a:tbl>
          </a:graphicData>
        </a:graphic>
      </p:graphicFrame>
    </p:spTree>
    <p:extLst>
      <p:ext uri="{BB962C8B-B14F-4D97-AF65-F5344CB8AC3E}">
        <p14:creationId xmlns:p14="http://schemas.microsoft.com/office/powerpoint/2010/main" val="22010809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48B3887-F27A-4175-BDF0-AF561D97BEA1}"/>
              </a:ext>
            </a:extLst>
          </p:cNvPr>
          <p:cNvSpPr>
            <a:spLocks noGrp="1"/>
          </p:cNvSpPr>
          <p:nvPr>
            <p:ph type="title"/>
          </p:nvPr>
        </p:nvSpPr>
        <p:spPr/>
        <p:txBody>
          <a:bodyPr/>
          <a:lstStyle/>
          <a:p>
            <a:r>
              <a:rPr lang="en-US" dirty="0"/>
              <a:t>Alternative Way: Automatic Install</a:t>
            </a:r>
            <a:br>
              <a:rPr lang="en-US" dirty="0"/>
            </a:br>
            <a:r>
              <a:rPr lang="en-US" dirty="0"/>
              <a:t>(put to this your ~/.</a:t>
            </a:r>
            <a:r>
              <a:rPr lang="en-US" dirty="0" err="1"/>
              <a:t>emacs.d</a:t>
            </a:r>
            <a:r>
              <a:rPr lang="en-US" dirty="0"/>
              <a:t>/</a:t>
            </a:r>
            <a:r>
              <a:rPr lang="en-US" dirty="0" err="1"/>
              <a:t>init.el</a:t>
            </a:r>
            <a:r>
              <a:rPr lang="en-US" dirty="0"/>
              <a:t>)</a:t>
            </a:r>
          </a:p>
        </p:txBody>
      </p:sp>
      <p:sp>
        <p:nvSpPr>
          <p:cNvPr id="3" name="Sisällön paikkamerkki 2">
            <a:extLst>
              <a:ext uri="{FF2B5EF4-FFF2-40B4-BE49-F238E27FC236}">
                <a16:creationId xmlns:a16="http://schemas.microsoft.com/office/drawing/2014/main" id="{A767734B-35D6-409F-9CBF-C3538B184BE7}"/>
              </a:ext>
            </a:extLst>
          </p:cNvPr>
          <p:cNvSpPr>
            <a:spLocks noGrp="1"/>
          </p:cNvSpPr>
          <p:nvPr>
            <p:ph idx="1"/>
          </p:nvPr>
        </p:nvSpPr>
        <p:spPr>
          <a:xfrm>
            <a:off x="838200" y="1825625"/>
            <a:ext cx="10515600" cy="4667250"/>
          </a:xfrm>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(require 'package)</a:t>
            </a:r>
          </a:p>
          <a:p>
            <a:pPr marL="0" indent="0">
              <a:buNone/>
            </a:pPr>
            <a:r>
              <a:rPr lang="en-US" dirty="0">
                <a:latin typeface="Courier New" panose="02070309020205020404" pitchFamily="49" charset="0"/>
                <a:cs typeface="Courier New" panose="02070309020205020404" pitchFamily="49" charset="0"/>
              </a:rPr>
              <a:t>(add-to-list</a:t>
            </a:r>
          </a:p>
          <a:p>
            <a:pPr marL="0" indent="0">
              <a:buNone/>
            </a:pPr>
            <a:r>
              <a:rPr lang="en-US" dirty="0">
                <a:latin typeface="Courier New" panose="02070309020205020404" pitchFamily="49" charset="0"/>
                <a:cs typeface="Courier New" panose="02070309020205020404" pitchFamily="49" charset="0"/>
              </a:rPr>
              <a:t> 'package-archives</a:t>
            </a:r>
          </a:p>
          <a:p>
            <a:pPr marL="0" indent="0">
              <a:buNone/>
            </a:pPr>
            <a:r>
              <a:rPr lang="en-US" dirty="0">
                <a:latin typeface="Courier New" panose="02070309020205020404" pitchFamily="49" charset="0"/>
                <a:cs typeface="Courier New" panose="02070309020205020404" pitchFamily="49" charset="0"/>
              </a:rPr>
              <a:t> '("melpa" . "http://melpa.org/packages/"))</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(unless package--initialized (package-initialize))</a:t>
            </a:r>
          </a:p>
          <a:p>
            <a:pPr marL="0" indent="0">
              <a:buNone/>
            </a:pPr>
            <a:r>
              <a:rPr lang="en-US" dirty="0">
                <a:latin typeface="Courier New" panose="02070309020205020404" pitchFamily="49" charset="0"/>
                <a:cs typeface="Courier New" panose="02070309020205020404" pitchFamily="49" charset="0"/>
              </a:rPr>
              <a:t>(unless (package-installed-p 'use-package)</a:t>
            </a:r>
          </a:p>
          <a:p>
            <a:pPr marL="0" indent="0">
              <a:buNone/>
            </a:pPr>
            <a:r>
              <a:rPr lang="en-US" dirty="0">
                <a:latin typeface="Courier New" panose="02070309020205020404" pitchFamily="49" charset="0"/>
                <a:cs typeface="Courier New" panose="02070309020205020404" pitchFamily="49" charset="0"/>
              </a:rPr>
              <a:t>  (package-refresh-contents)</a:t>
            </a:r>
          </a:p>
          <a:p>
            <a:pPr marL="0" indent="0">
              <a:buNone/>
            </a:pPr>
            <a:r>
              <a:rPr lang="en-US" dirty="0">
                <a:latin typeface="Courier New" panose="02070309020205020404" pitchFamily="49" charset="0"/>
                <a:cs typeface="Courier New" panose="02070309020205020404" pitchFamily="49" charset="0"/>
              </a:rPr>
              <a:t>  (package-install 'use-package))</a:t>
            </a:r>
          </a:p>
          <a:p>
            <a:pPr marL="0" indent="0">
              <a:buNone/>
            </a:pP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(use-package web-mode :ensure t)</a:t>
            </a:r>
          </a:p>
          <a:p>
            <a:pPr marL="0" indent="0">
              <a:buNone/>
            </a:pPr>
            <a:r>
              <a:rPr lang="en-US" dirty="0">
                <a:latin typeface="Courier New" panose="02070309020205020404" pitchFamily="49" charset="0"/>
                <a:cs typeface="Courier New" panose="02070309020205020404" pitchFamily="49" charset="0"/>
              </a:rPr>
              <a:t>(use-package </a:t>
            </a:r>
            <a:r>
              <a:rPr lang="en-US" dirty="0">
                <a:latin typeface="Courier New" panose="02070309020205020404" pitchFamily="49" charset="0"/>
                <a:cs typeface="Courier New" panose="02070309020205020404" pitchFamily="49" charset="0"/>
                <a:hlinkClick r:id="rId2"/>
              </a:rPr>
              <a:t>company</a:t>
            </a:r>
            <a:r>
              <a:rPr lang="en-US" dirty="0">
                <a:latin typeface="Courier New" panose="02070309020205020404" pitchFamily="49" charset="0"/>
                <a:cs typeface="Courier New" panose="02070309020205020404" pitchFamily="49" charset="0"/>
              </a:rPr>
              <a:t> :ensure t)</a:t>
            </a:r>
          </a:p>
          <a:p>
            <a:pPr marL="0" indent="0">
              <a:buNone/>
            </a:pPr>
            <a:r>
              <a:rPr lang="en-US" dirty="0">
                <a:latin typeface="Courier New" panose="02070309020205020404" pitchFamily="49" charset="0"/>
                <a:cs typeface="Courier New" panose="02070309020205020404" pitchFamily="49" charset="0"/>
              </a:rPr>
              <a:t>(use-package </a:t>
            </a:r>
            <a:r>
              <a:rPr lang="en-US" dirty="0">
                <a:latin typeface="Courier New" panose="02070309020205020404" pitchFamily="49" charset="0"/>
                <a:cs typeface="Courier New" panose="02070309020205020404" pitchFamily="49" charset="0"/>
                <a:hlinkClick r:id="rId3"/>
              </a:rPr>
              <a:t>helm</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:ensure t</a:t>
            </a:r>
          </a:p>
          <a:p>
            <a:pPr marL="0" indent="0">
              <a:buNone/>
            </a:pPr>
            <a:r>
              <a:rPr lang="en-US" dirty="0">
                <a:latin typeface="Courier New" panose="02070309020205020404" pitchFamily="49" charset="0"/>
                <a:cs typeface="Courier New" panose="02070309020205020404" pitchFamily="49" charset="0"/>
              </a:rPr>
              <a:t>             :bind (("M-x" . helm-M-x)</a:t>
            </a:r>
          </a:p>
          <a:p>
            <a:pPr marL="0" indent="0">
              <a:buNone/>
            </a:pPr>
            <a:r>
              <a:rPr lang="en-US" dirty="0">
                <a:latin typeface="Courier New" panose="02070309020205020404" pitchFamily="49" charset="0"/>
                <a:cs typeface="Courier New" panose="02070309020205020404" pitchFamily="49" charset="0"/>
              </a:rPr>
              <a:t>                    ("C-x C-f" . helm-find-files))</a:t>
            </a:r>
          </a:p>
          <a:p>
            <a:pPr marL="0" indent="0">
              <a:buNone/>
            </a:pPr>
            <a:r>
              <a:rPr lang="en-US" dirty="0">
                <a:latin typeface="Courier New" panose="02070309020205020404" pitchFamily="49" charset="0"/>
                <a:cs typeface="Courier New" panose="02070309020205020404" pitchFamily="49" charset="0"/>
              </a:rPr>
              <a:t>             :init (helm-mode 1))</a:t>
            </a:r>
          </a:p>
        </p:txBody>
      </p:sp>
    </p:spTree>
    <p:extLst>
      <p:ext uri="{BB962C8B-B14F-4D97-AF65-F5344CB8AC3E}">
        <p14:creationId xmlns:p14="http://schemas.microsoft.com/office/powerpoint/2010/main" val="28890566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F801377-3326-41EE-83B9-38BD9CC2DB82}"/>
              </a:ext>
            </a:extLst>
          </p:cNvPr>
          <p:cNvSpPr>
            <a:spLocks noGrp="1"/>
          </p:cNvSpPr>
          <p:nvPr>
            <p:ph type="title"/>
          </p:nvPr>
        </p:nvSpPr>
        <p:spPr/>
        <p:txBody>
          <a:bodyPr/>
          <a:lstStyle/>
          <a:p>
            <a:r>
              <a:rPr lang="en-US" dirty="0"/>
              <a:t>Remote and Root Editing Using </a:t>
            </a:r>
            <a:r>
              <a:rPr lang="en-US" dirty="0">
                <a:hlinkClick r:id="rId2"/>
              </a:rPr>
              <a:t>Tramp mode</a:t>
            </a:r>
            <a:endParaRPr lang="en-US" dirty="0"/>
          </a:p>
        </p:txBody>
      </p:sp>
      <p:sp>
        <p:nvSpPr>
          <p:cNvPr id="3" name="Sisällön paikkamerkki 2">
            <a:extLst>
              <a:ext uri="{FF2B5EF4-FFF2-40B4-BE49-F238E27FC236}">
                <a16:creationId xmlns:a16="http://schemas.microsoft.com/office/drawing/2014/main" id="{D0E3587C-BF6B-4B2C-9D36-577C103DC4F5}"/>
              </a:ext>
            </a:extLst>
          </p:cNvPr>
          <p:cNvSpPr>
            <a:spLocks noGrp="1"/>
          </p:cNvSpPr>
          <p:nvPr>
            <p:ph idx="1"/>
          </p:nvPr>
        </p:nvSpPr>
        <p:spPr/>
        <p:txBody>
          <a:bodyPr/>
          <a:lstStyle/>
          <a:p>
            <a:r>
              <a:rPr lang="en-US" dirty="0"/>
              <a:t>Simple open a file like normal using ctrl+x ctrl+f</a:t>
            </a:r>
          </a:p>
          <a:p>
            <a:r>
              <a:rPr lang="en-US" dirty="0"/>
              <a:t>/ssh:user@host:/path/to/file (enter)</a:t>
            </a:r>
          </a:p>
          <a:p>
            <a:r>
              <a:rPr lang="en-US" dirty="0"/>
              <a:t>/ssh:user@host:directory (enter)</a:t>
            </a:r>
          </a:p>
          <a:p>
            <a:r>
              <a:rPr lang="en-US" dirty="0"/>
              <a:t>/sudo::/path/to/file (edit file as root)</a:t>
            </a:r>
          </a:p>
          <a:p>
            <a:r>
              <a:rPr lang="en-US" dirty="0"/>
              <a:t>/root@localhost:/path/to/file (edit file as root)</a:t>
            </a:r>
          </a:p>
          <a:p>
            <a:endParaRPr lang="en-US" dirty="0"/>
          </a:p>
          <a:p>
            <a:endParaRPr lang="en-US" dirty="0"/>
          </a:p>
        </p:txBody>
      </p:sp>
    </p:spTree>
    <p:extLst>
      <p:ext uri="{BB962C8B-B14F-4D97-AF65-F5344CB8AC3E}">
        <p14:creationId xmlns:p14="http://schemas.microsoft.com/office/powerpoint/2010/main" val="36955211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B8164FC-33E9-4097-B3F2-C1905B87FFF6}"/>
              </a:ext>
            </a:extLst>
          </p:cNvPr>
          <p:cNvSpPr>
            <a:spLocks noGrp="1"/>
          </p:cNvSpPr>
          <p:nvPr>
            <p:ph type="title"/>
          </p:nvPr>
        </p:nvSpPr>
        <p:spPr/>
        <p:txBody>
          <a:bodyPr/>
          <a:lstStyle/>
          <a:p>
            <a:r>
              <a:rPr lang="en-US" dirty="0"/>
              <a:t>More Information</a:t>
            </a:r>
          </a:p>
        </p:txBody>
      </p:sp>
      <p:sp>
        <p:nvSpPr>
          <p:cNvPr id="3" name="Sisällön paikkamerkki 2">
            <a:extLst>
              <a:ext uri="{FF2B5EF4-FFF2-40B4-BE49-F238E27FC236}">
                <a16:creationId xmlns:a16="http://schemas.microsoft.com/office/drawing/2014/main" id="{357F7E33-6552-4078-9A4B-C8C1EBEE1E3C}"/>
              </a:ext>
            </a:extLst>
          </p:cNvPr>
          <p:cNvSpPr>
            <a:spLocks noGrp="1"/>
          </p:cNvSpPr>
          <p:nvPr>
            <p:ph idx="1"/>
          </p:nvPr>
        </p:nvSpPr>
        <p:spPr/>
        <p:txBody>
          <a:bodyPr>
            <a:normAutofit fontScale="85000" lnSpcReduction="20000"/>
          </a:bodyPr>
          <a:lstStyle/>
          <a:p>
            <a:r>
              <a:rPr lang="en-US" dirty="0"/>
              <a:t>Useful links:</a:t>
            </a:r>
          </a:p>
          <a:p>
            <a:pPr lvl="1"/>
            <a:r>
              <a:rPr lang="en-US" dirty="0">
                <a:hlinkClick r:id="rId2"/>
              </a:rPr>
              <a:t>Xah's Practical Emacs Tutorial</a:t>
            </a:r>
            <a:endParaRPr lang="en-US" dirty="0"/>
          </a:p>
          <a:p>
            <a:pPr lvl="1"/>
            <a:r>
              <a:rPr lang="en-US" dirty="0">
                <a:hlinkClick r:id="rId3"/>
              </a:rPr>
              <a:t>A Guided Tour of Emacs</a:t>
            </a:r>
            <a:endParaRPr lang="en-US" dirty="0"/>
          </a:p>
          <a:p>
            <a:pPr lvl="1"/>
            <a:r>
              <a:rPr lang="en-US" dirty="0">
                <a:hlinkClick r:id="rId4"/>
              </a:rPr>
              <a:t>Absolute Beginner's Guide to Emacs</a:t>
            </a:r>
          </a:p>
          <a:p>
            <a:r>
              <a:rPr lang="en-US" dirty="0">
                <a:hlinkClick r:id="rId4"/>
              </a:rPr>
              <a:t>Awesome Emacs - A list of useful Emacs Packages, Tools and Libraries</a:t>
            </a:r>
          </a:p>
          <a:p>
            <a:r>
              <a:rPr lang="en-US" dirty="0">
                <a:hlinkClick r:id="rId4"/>
              </a:rPr>
              <a:t>Popular Emacs Starter Kits</a:t>
            </a:r>
            <a:r>
              <a:rPr lang="en-US" dirty="0"/>
              <a:t>:</a:t>
            </a:r>
          </a:p>
          <a:p>
            <a:pPr lvl="1"/>
            <a:r>
              <a:rPr lang="en-US" dirty="0">
                <a:hlinkClick r:id="rId5"/>
              </a:rPr>
              <a:t>Spacemacs</a:t>
            </a:r>
            <a:endParaRPr lang="en-US" dirty="0"/>
          </a:p>
          <a:p>
            <a:pPr lvl="1"/>
            <a:r>
              <a:rPr lang="en-US" dirty="0">
                <a:hlinkClick r:id="rId6"/>
              </a:rPr>
              <a:t>Doom Emacs</a:t>
            </a:r>
            <a:endParaRPr lang="en-US" dirty="0"/>
          </a:p>
          <a:p>
            <a:pPr lvl="1"/>
            <a:r>
              <a:rPr lang="en-US" dirty="0">
                <a:hlinkClick r:id="rId7"/>
              </a:rPr>
              <a:t>Purcell Emacs</a:t>
            </a:r>
            <a:endParaRPr lang="en-US" dirty="0"/>
          </a:p>
          <a:p>
            <a:pPr lvl="1"/>
            <a:r>
              <a:rPr lang="en-US" dirty="0"/>
              <a:t>Prelude</a:t>
            </a:r>
          </a:p>
          <a:p>
            <a:r>
              <a:rPr lang="en-US" dirty="0">
                <a:hlinkClick r:id="rId8"/>
              </a:rPr>
              <a:t>Lightweight Emacs clones</a:t>
            </a:r>
            <a:r>
              <a:rPr lang="en-US" dirty="0"/>
              <a:t>:</a:t>
            </a:r>
          </a:p>
          <a:p>
            <a:pPr lvl="1"/>
            <a:r>
              <a:rPr lang="en-US" dirty="0"/>
              <a:t>micro emacs</a:t>
            </a:r>
          </a:p>
          <a:p>
            <a:pPr lvl="1"/>
            <a:r>
              <a:rPr lang="en-US" dirty="0"/>
              <a:t>zile</a:t>
            </a:r>
          </a:p>
          <a:p>
            <a:pPr lvl="1"/>
            <a:r>
              <a:rPr lang="en-US" dirty="0"/>
              <a:t>jove</a:t>
            </a:r>
          </a:p>
          <a:p>
            <a:pPr lvl="1"/>
            <a:endParaRPr lang="en-US" dirty="0"/>
          </a:p>
          <a:p>
            <a:pPr lvl="1"/>
            <a:endParaRPr lang="en-US" dirty="0"/>
          </a:p>
        </p:txBody>
      </p:sp>
    </p:spTree>
    <p:extLst>
      <p:ext uri="{BB962C8B-B14F-4D97-AF65-F5344CB8AC3E}">
        <p14:creationId xmlns:p14="http://schemas.microsoft.com/office/powerpoint/2010/main" val="12565562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a:extLst>
              <a:ext uri="{FF2B5EF4-FFF2-40B4-BE49-F238E27FC236}">
                <a16:creationId xmlns:a16="http://schemas.microsoft.com/office/drawing/2014/main" id="{EA4DD921-C7B6-417B-87FA-C745FFDD3560}"/>
              </a:ext>
            </a:extLst>
          </p:cNvPr>
          <p:cNvSpPr>
            <a:spLocks noGrp="1"/>
          </p:cNvSpPr>
          <p:nvPr>
            <p:ph type="title"/>
          </p:nvPr>
        </p:nvSpPr>
        <p:spPr/>
        <p:txBody>
          <a:bodyPr/>
          <a:lstStyle/>
          <a:p>
            <a:r>
              <a:rPr lang="en-US" dirty="0"/>
              <a:t>C Programming Language</a:t>
            </a:r>
          </a:p>
        </p:txBody>
      </p:sp>
      <p:sp>
        <p:nvSpPr>
          <p:cNvPr id="6" name="Sisällön paikkamerkki 5">
            <a:extLst>
              <a:ext uri="{FF2B5EF4-FFF2-40B4-BE49-F238E27FC236}">
                <a16:creationId xmlns:a16="http://schemas.microsoft.com/office/drawing/2014/main" id="{3075B6EE-C107-4D40-89AA-4AE44B381360}"/>
              </a:ext>
            </a:extLst>
          </p:cNvPr>
          <p:cNvSpPr>
            <a:spLocks noGrp="1"/>
          </p:cNvSpPr>
          <p:nvPr>
            <p:ph idx="1"/>
          </p:nvPr>
        </p:nvSpPr>
        <p:spPr/>
        <p:txBody>
          <a:bodyPr>
            <a:normAutofit fontScale="92500" lnSpcReduction="20000"/>
          </a:bodyPr>
          <a:lstStyle/>
          <a:p>
            <a:r>
              <a:rPr lang="en-US" dirty="0"/>
              <a:t>General purpose programming language developed by Dennis Ritchie in 1972</a:t>
            </a:r>
          </a:p>
          <a:p>
            <a:r>
              <a:rPr lang="en-US" dirty="0"/>
              <a:t>Latest standard is called C17 (from 2018), which didn't introduce any new features to C11 (from 2011). </a:t>
            </a:r>
          </a:p>
          <a:p>
            <a:r>
              <a:rPr lang="en-US" dirty="0"/>
              <a:t>Almost everything requires the use of pointers:</a:t>
            </a:r>
            <a:br>
              <a:rPr lang="en-US" dirty="0"/>
            </a:br>
            <a:r>
              <a:rPr lang="en-US" dirty="0">
                <a:latin typeface="Courier New" panose="02070309020205020404" pitchFamily="49" charset="0"/>
                <a:cs typeface="Courier New" panose="02070309020205020404" pitchFamily="49" charset="0"/>
              </a:rPr>
              <a:t>char *</a:t>
            </a:r>
            <a:r>
              <a:rPr lang="en-US" dirty="0" err="1">
                <a:latin typeface="Courier New" panose="02070309020205020404" pitchFamily="49" charset="0"/>
                <a:cs typeface="Courier New" panose="02070309020205020404" pitchFamily="49" charset="0"/>
              </a:rPr>
              <a:t>chr_pointer</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int *</a:t>
            </a:r>
            <a:r>
              <a:rPr lang="en-US" dirty="0" err="1">
                <a:latin typeface="Courier New" panose="02070309020205020404" pitchFamily="49" charset="0"/>
                <a:cs typeface="Courier New" panose="02070309020205020404" pitchFamily="49" charset="0"/>
              </a:rPr>
              <a:t>int_pointer</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int x;</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int_pointer</a:t>
            </a:r>
            <a:r>
              <a:rPr lang="en-US" dirty="0">
                <a:latin typeface="Courier New" panose="02070309020205020404" pitchFamily="49" charset="0"/>
                <a:cs typeface="Courier New" panose="02070309020205020404" pitchFamily="49" charset="0"/>
              </a:rPr>
              <a:t> = &amp;x;</a:t>
            </a:r>
            <a:endParaRPr lang="en-US" dirty="0"/>
          </a:p>
          <a:p>
            <a:r>
              <a:rPr lang="en-US" dirty="0"/>
              <a:t>Many popular operating system kernels and software are written in C, including Linux kernel and most Linux commands, and interpreters, like standard C Python.</a:t>
            </a:r>
          </a:p>
          <a:p>
            <a:r>
              <a:rPr lang="en-US" dirty="0"/>
              <a:t>Popular C compilers: </a:t>
            </a:r>
            <a:r>
              <a:rPr lang="en-US" dirty="0" err="1"/>
              <a:t>Gcc</a:t>
            </a:r>
            <a:r>
              <a:rPr lang="en-US" dirty="0"/>
              <a:t>, LLVM Clang, Microsoft C++ VS</a:t>
            </a:r>
          </a:p>
          <a:p>
            <a:endParaRPr lang="en-US" dirty="0"/>
          </a:p>
        </p:txBody>
      </p:sp>
    </p:spTree>
    <p:extLst>
      <p:ext uri="{BB962C8B-B14F-4D97-AF65-F5344CB8AC3E}">
        <p14:creationId xmlns:p14="http://schemas.microsoft.com/office/powerpoint/2010/main" val="36046817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0F65C64-7AF6-4AC1-BFEA-995B69BDF346}"/>
              </a:ext>
            </a:extLst>
          </p:cNvPr>
          <p:cNvSpPr>
            <a:spLocks noGrp="1"/>
          </p:cNvSpPr>
          <p:nvPr>
            <p:ph type="title"/>
          </p:nvPr>
        </p:nvSpPr>
        <p:spPr/>
        <p:txBody>
          <a:bodyPr/>
          <a:lstStyle/>
          <a:p>
            <a:r>
              <a:rPr lang="en-US" dirty="0"/>
              <a:t>Advantages and Disadvantages of C</a:t>
            </a:r>
          </a:p>
        </p:txBody>
      </p:sp>
      <p:sp>
        <p:nvSpPr>
          <p:cNvPr id="4" name="Sisällön paikkamerkki 3">
            <a:extLst>
              <a:ext uri="{FF2B5EF4-FFF2-40B4-BE49-F238E27FC236}">
                <a16:creationId xmlns:a16="http://schemas.microsoft.com/office/drawing/2014/main" id="{D9491776-CA69-4885-9E0E-C13B708E25A9}"/>
              </a:ext>
            </a:extLst>
          </p:cNvPr>
          <p:cNvSpPr>
            <a:spLocks noGrp="1"/>
          </p:cNvSpPr>
          <p:nvPr>
            <p:ph sz="half" idx="1"/>
          </p:nvPr>
        </p:nvSpPr>
        <p:spPr/>
        <p:txBody>
          <a:bodyPr>
            <a:normAutofit fontScale="92500" lnSpcReduction="20000"/>
          </a:bodyPr>
          <a:lstStyle/>
          <a:p>
            <a:r>
              <a:rPr lang="en-US" dirty="0"/>
              <a:t>Possibility to create small executables with no runtime or external libraries required</a:t>
            </a:r>
          </a:p>
          <a:p>
            <a:r>
              <a:rPr lang="en-US" dirty="0"/>
              <a:t>Fast execution speed.</a:t>
            </a:r>
          </a:p>
          <a:p>
            <a:r>
              <a:rPr lang="en-US" dirty="0"/>
              <a:t>Relatively small language to learn</a:t>
            </a:r>
          </a:p>
          <a:p>
            <a:r>
              <a:rPr lang="en-US" dirty="0"/>
              <a:t>Well-written C code can be portable (between architectures and operating systems).</a:t>
            </a:r>
          </a:p>
          <a:p>
            <a:r>
              <a:rPr lang="en-US" dirty="0"/>
              <a:t>Able to access memory locations and many C compilers also allow embedding assembler code.</a:t>
            </a:r>
          </a:p>
          <a:p>
            <a:endParaRPr lang="en-US" dirty="0"/>
          </a:p>
        </p:txBody>
      </p:sp>
      <p:sp>
        <p:nvSpPr>
          <p:cNvPr id="5" name="Sisällön paikkamerkki 4">
            <a:extLst>
              <a:ext uri="{FF2B5EF4-FFF2-40B4-BE49-F238E27FC236}">
                <a16:creationId xmlns:a16="http://schemas.microsoft.com/office/drawing/2014/main" id="{6B2EDE4B-FFA0-42BF-8837-7DF7086F91BA}"/>
              </a:ext>
            </a:extLst>
          </p:cNvPr>
          <p:cNvSpPr>
            <a:spLocks noGrp="1"/>
          </p:cNvSpPr>
          <p:nvPr>
            <p:ph sz="half" idx="2"/>
          </p:nvPr>
        </p:nvSpPr>
        <p:spPr/>
        <p:txBody>
          <a:bodyPr>
            <a:normAutofit fontScale="92500" lnSpcReduction="20000"/>
          </a:bodyPr>
          <a:lstStyle/>
          <a:p>
            <a:r>
              <a:rPr lang="en-US" dirty="0"/>
              <a:t>Standard library is very limited and has several badly designed functions e.g. gets()</a:t>
            </a:r>
          </a:p>
          <a:p>
            <a:r>
              <a:rPr lang="en-US" dirty="0"/>
              <a:t>Manual memory management (malloc, </a:t>
            </a:r>
            <a:r>
              <a:rPr lang="en-US" dirty="0" err="1"/>
              <a:t>realloc</a:t>
            </a:r>
            <a:r>
              <a:rPr lang="en-US" dirty="0"/>
              <a:t>, free)</a:t>
            </a:r>
          </a:p>
          <a:p>
            <a:r>
              <a:rPr lang="en-US" dirty="0"/>
              <a:t>Need to compile to executable before running.</a:t>
            </a:r>
          </a:p>
          <a:p>
            <a:r>
              <a:rPr lang="en-US" dirty="0"/>
              <a:t>It is easy to create unsafe programs with pointers.</a:t>
            </a:r>
          </a:p>
          <a:p>
            <a:r>
              <a:rPr lang="en-US" dirty="0"/>
              <a:t>No support for Object Oriented Programming (OOP), but C++ added this.</a:t>
            </a:r>
          </a:p>
        </p:txBody>
      </p:sp>
    </p:spTree>
    <p:extLst>
      <p:ext uri="{BB962C8B-B14F-4D97-AF65-F5344CB8AC3E}">
        <p14:creationId xmlns:p14="http://schemas.microsoft.com/office/powerpoint/2010/main" val="34585491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FC8D870-8809-4BCB-8EDB-227A913F4D3A}"/>
              </a:ext>
            </a:extLst>
          </p:cNvPr>
          <p:cNvSpPr>
            <a:spLocks noGrp="1"/>
          </p:cNvSpPr>
          <p:nvPr>
            <p:ph type="title"/>
          </p:nvPr>
        </p:nvSpPr>
        <p:spPr/>
        <p:txBody>
          <a:bodyPr/>
          <a:lstStyle/>
          <a:p>
            <a:r>
              <a:rPr lang="en-US" dirty="0" err="1"/>
              <a:t>Gcc</a:t>
            </a:r>
            <a:r>
              <a:rPr lang="en-US" dirty="0"/>
              <a:t> and C / C++ compilation process</a:t>
            </a:r>
          </a:p>
        </p:txBody>
      </p:sp>
      <p:sp>
        <p:nvSpPr>
          <p:cNvPr id="6" name="Tekstiruutu 5">
            <a:extLst>
              <a:ext uri="{FF2B5EF4-FFF2-40B4-BE49-F238E27FC236}">
                <a16:creationId xmlns:a16="http://schemas.microsoft.com/office/drawing/2014/main" id="{3DF4C206-7D9E-4825-99F2-5223A5014D4D}"/>
              </a:ext>
            </a:extLst>
          </p:cNvPr>
          <p:cNvSpPr txBox="1"/>
          <p:nvPr/>
        </p:nvSpPr>
        <p:spPr>
          <a:xfrm>
            <a:off x="6428089" y="1949158"/>
            <a:ext cx="1545616" cy="923330"/>
          </a:xfrm>
          <a:prstGeom prst="rect">
            <a:avLst/>
          </a:prstGeom>
          <a:noFill/>
          <a:ln>
            <a:solidFill>
              <a:schemeClr val="tx1"/>
            </a:solidFill>
          </a:ln>
        </p:spPr>
        <p:txBody>
          <a:bodyPr wrap="none" rtlCol="0">
            <a:spAutoFit/>
          </a:bodyPr>
          <a:lstStyle/>
          <a:p>
            <a:r>
              <a:rPr lang="en-US" dirty="0"/>
              <a:t>Source code</a:t>
            </a:r>
          </a:p>
          <a:p>
            <a:r>
              <a:rPr lang="en-US" dirty="0"/>
              <a:t>.c .h for C</a:t>
            </a:r>
          </a:p>
          <a:p>
            <a:r>
              <a:rPr lang="en-US" dirty="0"/>
              <a:t>.</a:t>
            </a:r>
            <a:r>
              <a:rPr lang="en-US" dirty="0" err="1"/>
              <a:t>cpp</a:t>
            </a:r>
            <a:r>
              <a:rPr lang="en-US" dirty="0"/>
              <a:t> .h for C++</a:t>
            </a:r>
          </a:p>
        </p:txBody>
      </p:sp>
      <p:sp>
        <p:nvSpPr>
          <p:cNvPr id="7" name="Tekstiruutu 6">
            <a:extLst>
              <a:ext uri="{FF2B5EF4-FFF2-40B4-BE49-F238E27FC236}">
                <a16:creationId xmlns:a16="http://schemas.microsoft.com/office/drawing/2014/main" id="{2221D476-861B-4EE9-B967-049C66CC3680}"/>
              </a:ext>
            </a:extLst>
          </p:cNvPr>
          <p:cNvSpPr txBox="1"/>
          <p:nvPr/>
        </p:nvSpPr>
        <p:spPr>
          <a:xfrm>
            <a:off x="8577742" y="2226157"/>
            <a:ext cx="1037463" cy="369332"/>
          </a:xfrm>
          <a:prstGeom prst="rect">
            <a:avLst/>
          </a:prstGeom>
          <a:noFill/>
          <a:ln>
            <a:solidFill>
              <a:schemeClr val="tx1"/>
            </a:solidFill>
          </a:ln>
        </p:spPr>
        <p:txBody>
          <a:bodyPr wrap="none" rtlCol="0">
            <a:spAutoFit/>
          </a:bodyPr>
          <a:lstStyle/>
          <a:p>
            <a:r>
              <a:rPr lang="en-US" dirty="0"/>
              <a:t>Compiler</a:t>
            </a:r>
          </a:p>
        </p:txBody>
      </p:sp>
      <p:cxnSp>
        <p:nvCxnSpPr>
          <p:cNvPr id="9" name="Suora nuoliyhdysviiva 8">
            <a:extLst>
              <a:ext uri="{FF2B5EF4-FFF2-40B4-BE49-F238E27FC236}">
                <a16:creationId xmlns:a16="http://schemas.microsoft.com/office/drawing/2014/main" id="{FB9965C3-A2F3-498F-BA1B-17CB83D3A6FD}"/>
              </a:ext>
            </a:extLst>
          </p:cNvPr>
          <p:cNvCxnSpPr>
            <a:cxnSpLocks/>
            <a:stCxn id="6" idx="3"/>
            <a:endCxn id="7" idx="1"/>
          </p:cNvCxnSpPr>
          <p:nvPr/>
        </p:nvCxnSpPr>
        <p:spPr>
          <a:xfrm>
            <a:off x="7973705" y="2410823"/>
            <a:ext cx="6040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uora nuoliyhdysviiva 11">
            <a:extLst>
              <a:ext uri="{FF2B5EF4-FFF2-40B4-BE49-F238E27FC236}">
                <a16:creationId xmlns:a16="http://schemas.microsoft.com/office/drawing/2014/main" id="{6D5AB85E-05A6-4011-ADFF-3AEADDF6C58E}"/>
              </a:ext>
            </a:extLst>
          </p:cNvPr>
          <p:cNvCxnSpPr/>
          <p:nvPr/>
        </p:nvCxnSpPr>
        <p:spPr>
          <a:xfrm>
            <a:off x="9615205" y="2410822"/>
            <a:ext cx="4222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kstiruutu 12">
            <a:extLst>
              <a:ext uri="{FF2B5EF4-FFF2-40B4-BE49-F238E27FC236}">
                <a16:creationId xmlns:a16="http://schemas.microsoft.com/office/drawing/2014/main" id="{2CE802F8-2298-431F-BD53-2C8BEF0F7E54}"/>
              </a:ext>
            </a:extLst>
          </p:cNvPr>
          <p:cNvSpPr txBox="1"/>
          <p:nvPr/>
        </p:nvSpPr>
        <p:spPr>
          <a:xfrm>
            <a:off x="10031207" y="2087657"/>
            <a:ext cx="1242921" cy="646331"/>
          </a:xfrm>
          <a:prstGeom prst="rect">
            <a:avLst/>
          </a:prstGeom>
          <a:noFill/>
          <a:ln>
            <a:solidFill>
              <a:schemeClr val="tx1"/>
            </a:solidFill>
          </a:ln>
        </p:spPr>
        <p:txBody>
          <a:bodyPr wrap="square" rtlCol="0">
            <a:spAutoFit/>
          </a:bodyPr>
          <a:lstStyle/>
          <a:p>
            <a:r>
              <a:rPr lang="en-US" dirty="0"/>
              <a:t>Object file</a:t>
            </a:r>
          </a:p>
          <a:p>
            <a:r>
              <a:rPr lang="en-US" dirty="0"/>
              <a:t>.o</a:t>
            </a:r>
          </a:p>
        </p:txBody>
      </p:sp>
      <p:sp>
        <p:nvSpPr>
          <p:cNvPr id="25" name="Sisällön paikkamerkki 24">
            <a:extLst>
              <a:ext uri="{FF2B5EF4-FFF2-40B4-BE49-F238E27FC236}">
                <a16:creationId xmlns:a16="http://schemas.microsoft.com/office/drawing/2014/main" id="{B3470314-1903-4BB3-BB6F-B583D4565E79}"/>
              </a:ext>
            </a:extLst>
          </p:cNvPr>
          <p:cNvSpPr>
            <a:spLocks noGrp="1"/>
          </p:cNvSpPr>
          <p:nvPr>
            <p:ph sz="half" idx="1"/>
          </p:nvPr>
        </p:nvSpPr>
        <p:spPr/>
        <p:txBody>
          <a:bodyPr>
            <a:normAutofit fontScale="92500" lnSpcReduction="20000"/>
          </a:bodyPr>
          <a:lstStyle/>
          <a:p>
            <a:r>
              <a:rPr lang="en-US" dirty="0" err="1"/>
              <a:t>gcc</a:t>
            </a:r>
            <a:r>
              <a:rPr lang="en-US" dirty="0"/>
              <a:t> </a:t>
            </a:r>
            <a:r>
              <a:rPr lang="en-US" dirty="0" err="1"/>
              <a:t>hello.c</a:t>
            </a:r>
            <a:r>
              <a:rPr lang="en-US" dirty="0"/>
              <a:t>  → </a:t>
            </a:r>
            <a:r>
              <a:rPr lang="en-US" dirty="0" err="1"/>
              <a:t>a.out</a:t>
            </a:r>
            <a:endParaRPr lang="en-US" dirty="0"/>
          </a:p>
          <a:p>
            <a:r>
              <a:rPr lang="en-US" dirty="0" err="1"/>
              <a:t>gcc</a:t>
            </a:r>
            <a:r>
              <a:rPr lang="en-US" dirty="0"/>
              <a:t> -o hello </a:t>
            </a:r>
            <a:r>
              <a:rPr lang="en-US" dirty="0" err="1"/>
              <a:t>hello.c</a:t>
            </a:r>
            <a:r>
              <a:rPr lang="en-US" dirty="0"/>
              <a:t> → hello</a:t>
            </a:r>
          </a:p>
          <a:p>
            <a:r>
              <a:rPr lang="en-US" dirty="0" err="1"/>
              <a:t>gcc</a:t>
            </a:r>
            <a:r>
              <a:rPr lang="en-US" dirty="0"/>
              <a:t> -S </a:t>
            </a:r>
            <a:r>
              <a:rPr lang="en-US" dirty="0" err="1"/>
              <a:t>hello.c</a:t>
            </a:r>
            <a:r>
              <a:rPr lang="en-US" dirty="0"/>
              <a:t> → </a:t>
            </a:r>
            <a:r>
              <a:rPr lang="en-US" dirty="0" err="1"/>
              <a:t>hello.s</a:t>
            </a:r>
            <a:endParaRPr lang="en-US" dirty="0"/>
          </a:p>
          <a:p>
            <a:r>
              <a:rPr lang="en-US" dirty="0" err="1"/>
              <a:t>gcc</a:t>
            </a:r>
            <a:r>
              <a:rPr lang="en-US" dirty="0"/>
              <a:t> -c file1.c → file1.o</a:t>
            </a:r>
          </a:p>
          <a:p>
            <a:r>
              <a:rPr lang="en-US" dirty="0" err="1"/>
              <a:t>gcc</a:t>
            </a:r>
            <a:r>
              <a:rPr lang="en-US" dirty="0"/>
              <a:t> -o program file1.o file2.o</a:t>
            </a:r>
          </a:p>
          <a:p>
            <a:r>
              <a:rPr lang="en-US" dirty="0"/>
              <a:t>Common flags:</a:t>
            </a:r>
          </a:p>
          <a:p>
            <a:r>
              <a:rPr lang="en-US" dirty="0"/>
              <a:t>-g 		include debugging symbols</a:t>
            </a:r>
          </a:p>
          <a:p>
            <a:r>
              <a:rPr lang="en-US" dirty="0"/>
              <a:t>-O 		basic optimization</a:t>
            </a:r>
          </a:p>
          <a:p>
            <a:r>
              <a:rPr lang="en-US" dirty="0"/>
              <a:t>-O3 		full optimization</a:t>
            </a:r>
          </a:p>
          <a:p>
            <a:r>
              <a:rPr lang="en-US" dirty="0"/>
              <a:t>-Wall	all warnings </a:t>
            </a:r>
          </a:p>
          <a:p>
            <a:endParaRPr lang="en-US" dirty="0"/>
          </a:p>
          <a:p>
            <a:endParaRPr lang="en-US" dirty="0"/>
          </a:p>
          <a:p>
            <a:endParaRPr lang="en-US" dirty="0"/>
          </a:p>
        </p:txBody>
      </p:sp>
      <p:sp>
        <p:nvSpPr>
          <p:cNvPr id="28" name="Tekstiruutu 27">
            <a:extLst>
              <a:ext uri="{FF2B5EF4-FFF2-40B4-BE49-F238E27FC236}">
                <a16:creationId xmlns:a16="http://schemas.microsoft.com/office/drawing/2014/main" id="{F14EEA78-1ACA-4D2F-9DB5-91A05D1A1013}"/>
              </a:ext>
            </a:extLst>
          </p:cNvPr>
          <p:cNvSpPr txBox="1"/>
          <p:nvPr/>
        </p:nvSpPr>
        <p:spPr>
          <a:xfrm>
            <a:off x="10031206" y="3319682"/>
            <a:ext cx="1242922" cy="369332"/>
          </a:xfrm>
          <a:prstGeom prst="rect">
            <a:avLst/>
          </a:prstGeom>
          <a:noFill/>
          <a:ln>
            <a:solidFill>
              <a:schemeClr val="tx1"/>
            </a:solidFill>
          </a:ln>
        </p:spPr>
        <p:txBody>
          <a:bodyPr wrap="square" rtlCol="0">
            <a:spAutoFit/>
          </a:bodyPr>
          <a:lstStyle/>
          <a:p>
            <a:r>
              <a:rPr lang="en-US" dirty="0"/>
              <a:t>Linker</a:t>
            </a:r>
          </a:p>
        </p:txBody>
      </p:sp>
      <p:cxnSp>
        <p:nvCxnSpPr>
          <p:cNvPr id="30" name="Suora nuoliyhdysviiva 29">
            <a:extLst>
              <a:ext uri="{FF2B5EF4-FFF2-40B4-BE49-F238E27FC236}">
                <a16:creationId xmlns:a16="http://schemas.microsoft.com/office/drawing/2014/main" id="{6CBFDFBE-4DFD-4D0E-BCB9-31A2132157B2}"/>
              </a:ext>
            </a:extLst>
          </p:cNvPr>
          <p:cNvCxnSpPr>
            <a:stCxn id="13" idx="2"/>
            <a:endCxn id="28" idx="0"/>
          </p:cNvCxnSpPr>
          <p:nvPr/>
        </p:nvCxnSpPr>
        <p:spPr>
          <a:xfrm flipH="1">
            <a:off x="10652667" y="2733988"/>
            <a:ext cx="1" cy="585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kstiruutu 30">
            <a:extLst>
              <a:ext uri="{FF2B5EF4-FFF2-40B4-BE49-F238E27FC236}">
                <a16:creationId xmlns:a16="http://schemas.microsoft.com/office/drawing/2014/main" id="{4C015535-366D-4A60-A9D9-9C584203D40A}"/>
              </a:ext>
            </a:extLst>
          </p:cNvPr>
          <p:cNvSpPr txBox="1"/>
          <p:nvPr/>
        </p:nvSpPr>
        <p:spPr>
          <a:xfrm>
            <a:off x="6428089" y="3181182"/>
            <a:ext cx="1820411" cy="646331"/>
          </a:xfrm>
          <a:prstGeom prst="rect">
            <a:avLst/>
          </a:prstGeom>
          <a:noFill/>
          <a:ln>
            <a:solidFill>
              <a:schemeClr val="tx1"/>
            </a:solidFill>
          </a:ln>
        </p:spPr>
        <p:txBody>
          <a:bodyPr wrap="square" rtlCol="0">
            <a:spAutoFit/>
          </a:bodyPr>
          <a:lstStyle/>
          <a:p>
            <a:r>
              <a:rPr lang="en-US" dirty="0"/>
              <a:t>Runtime libraries</a:t>
            </a:r>
          </a:p>
          <a:p>
            <a:r>
              <a:rPr lang="en-US" dirty="0"/>
              <a:t>.a .</a:t>
            </a:r>
            <a:r>
              <a:rPr lang="en-US" dirty="0" err="1"/>
              <a:t>dll</a:t>
            </a:r>
            <a:endParaRPr lang="en-US" dirty="0"/>
          </a:p>
        </p:txBody>
      </p:sp>
      <p:cxnSp>
        <p:nvCxnSpPr>
          <p:cNvPr id="33" name="Suora nuoliyhdysviiva 32">
            <a:extLst>
              <a:ext uri="{FF2B5EF4-FFF2-40B4-BE49-F238E27FC236}">
                <a16:creationId xmlns:a16="http://schemas.microsoft.com/office/drawing/2014/main" id="{16D31E7D-0B46-4CCB-9B5A-996871C8D51F}"/>
              </a:ext>
            </a:extLst>
          </p:cNvPr>
          <p:cNvCxnSpPr>
            <a:stCxn id="31" idx="3"/>
            <a:endCxn id="28" idx="1"/>
          </p:cNvCxnSpPr>
          <p:nvPr/>
        </p:nvCxnSpPr>
        <p:spPr>
          <a:xfrm>
            <a:off x="8248500" y="3504348"/>
            <a:ext cx="1782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kstiruutu 34">
            <a:extLst>
              <a:ext uri="{FF2B5EF4-FFF2-40B4-BE49-F238E27FC236}">
                <a16:creationId xmlns:a16="http://schemas.microsoft.com/office/drawing/2014/main" id="{BEF1DCCC-1596-4F7A-970B-36652F56AE9C}"/>
              </a:ext>
            </a:extLst>
          </p:cNvPr>
          <p:cNvSpPr txBox="1"/>
          <p:nvPr/>
        </p:nvSpPr>
        <p:spPr>
          <a:xfrm>
            <a:off x="10031206" y="4329128"/>
            <a:ext cx="1242923" cy="369332"/>
          </a:xfrm>
          <a:prstGeom prst="rect">
            <a:avLst/>
          </a:prstGeom>
          <a:noFill/>
          <a:ln>
            <a:solidFill>
              <a:schemeClr val="tx1"/>
            </a:solidFill>
          </a:ln>
        </p:spPr>
        <p:txBody>
          <a:bodyPr wrap="square" rtlCol="0">
            <a:spAutoFit/>
          </a:bodyPr>
          <a:lstStyle/>
          <a:p>
            <a:r>
              <a:rPr lang="en-US" dirty="0"/>
              <a:t>Executable</a:t>
            </a:r>
          </a:p>
        </p:txBody>
      </p:sp>
      <p:cxnSp>
        <p:nvCxnSpPr>
          <p:cNvPr id="37" name="Suora nuoliyhdysviiva 36">
            <a:extLst>
              <a:ext uri="{FF2B5EF4-FFF2-40B4-BE49-F238E27FC236}">
                <a16:creationId xmlns:a16="http://schemas.microsoft.com/office/drawing/2014/main" id="{54AEB8D6-2CC1-426D-9C32-D6F398109402}"/>
              </a:ext>
            </a:extLst>
          </p:cNvPr>
          <p:cNvCxnSpPr>
            <a:stCxn id="28" idx="2"/>
            <a:endCxn id="35" idx="0"/>
          </p:cNvCxnSpPr>
          <p:nvPr/>
        </p:nvCxnSpPr>
        <p:spPr>
          <a:xfrm>
            <a:off x="10652667" y="3689014"/>
            <a:ext cx="1" cy="64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kstiruutu 38">
            <a:extLst>
              <a:ext uri="{FF2B5EF4-FFF2-40B4-BE49-F238E27FC236}">
                <a16:creationId xmlns:a16="http://schemas.microsoft.com/office/drawing/2014/main" id="{58BD5EB3-F60B-462E-A06D-F6A79492E2F4}"/>
              </a:ext>
            </a:extLst>
          </p:cNvPr>
          <p:cNvSpPr txBox="1"/>
          <p:nvPr/>
        </p:nvSpPr>
        <p:spPr>
          <a:xfrm>
            <a:off x="6428089" y="4190628"/>
            <a:ext cx="1876359" cy="646331"/>
          </a:xfrm>
          <a:prstGeom prst="rect">
            <a:avLst/>
          </a:prstGeom>
          <a:noFill/>
          <a:ln>
            <a:solidFill>
              <a:schemeClr val="bg1">
                <a:lumMod val="75000"/>
              </a:schemeClr>
            </a:solidFill>
          </a:ln>
        </p:spPr>
        <p:txBody>
          <a:bodyPr wrap="square" rtlCol="0">
            <a:spAutoFit/>
          </a:bodyPr>
          <a:lstStyle/>
          <a:p>
            <a:r>
              <a:rPr lang="en-US" dirty="0"/>
              <a:t>Shared Object File .so</a:t>
            </a:r>
          </a:p>
        </p:txBody>
      </p:sp>
      <p:cxnSp>
        <p:nvCxnSpPr>
          <p:cNvPr id="41" name="Suora nuoliyhdysviiva 40">
            <a:extLst>
              <a:ext uri="{FF2B5EF4-FFF2-40B4-BE49-F238E27FC236}">
                <a16:creationId xmlns:a16="http://schemas.microsoft.com/office/drawing/2014/main" id="{9DB0417C-0918-4DE8-83EF-39B5B46A682E}"/>
              </a:ext>
            </a:extLst>
          </p:cNvPr>
          <p:cNvCxnSpPr>
            <a:stCxn id="39" idx="3"/>
            <a:endCxn id="35" idx="1"/>
          </p:cNvCxnSpPr>
          <p:nvPr/>
        </p:nvCxnSpPr>
        <p:spPr>
          <a:xfrm>
            <a:off x="8304448" y="4513794"/>
            <a:ext cx="1726758" cy="0"/>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249363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432F4A5-A3C0-4C18-A09F-DF5224F60DB4}"/>
              </a:ext>
            </a:extLst>
          </p:cNvPr>
          <p:cNvSpPr>
            <a:spLocks noGrp="1"/>
          </p:cNvSpPr>
          <p:nvPr>
            <p:ph type="title"/>
          </p:nvPr>
        </p:nvSpPr>
        <p:spPr/>
        <p:txBody>
          <a:bodyPr/>
          <a:lstStyle/>
          <a:p>
            <a:r>
              <a:rPr lang="en-US" dirty="0"/>
              <a:t>C Compilation Process in More Detail</a:t>
            </a:r>
          </a:p>
        </p:txBody>
      </p:sp>
      <p:graphicFrame>
        <p:nvGraphicFramePr>
          <p:cNvPr id="5" name="Sisällön paikkamerkki 4">
            <a:extLst>
              <a:ext uri="{FF2B5EF4-FFF2-40B4-BE49-F238E27FC236}">
                <a16:creationId xmlns:a16="http://schemas.microsoft.com/office/drawing/2014/main" id="{13E6616C-F9A0-4599-B0CD-24A53B79136D}"/>
              </a:ext>
            </a:extLst>
          </p:cNvPr>
          <p:cNvGraphicFramePr>
            <a:graphicFrameLocks noGrp="1"/>
          </p:cNvGraphicFramePr>
          <p:nvPr>
            <p:ph idx="1"/>
            <p:extLst>
              <p:ext uri="{D42A27DB-BD31-4B8C-83A1-F6EECF244321}">
                <p14:modId xmlns:p14="http://schemas.microsoft.com/office/powerpoint/2010/main" val="37505919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1470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21A34B5-712C-430B-9CDC-0DE063807BF3}"/>
              </a:ext>
            </a:extLst>
          </p:cNvPr>
          <p:cNvSpPr>
            <a:spLocks noGrp="1"/>
          </p:cNvSpPr>
          <p:nvPr>
            <p:ph type="title"/>
          </p:nvPr>
        </p:nvSpPr>
        <p:spPr/>
        <p:txBody>
          <a:bodyPr/>
          <a:lstStyle/>
          <a:p>
            <a:r>
              <a:rPr lang="en-US" dirty="0"/>
              <a:t>Example Library C (.h) and Header File (.h)</a:t>
            </a:r>
          </a:p>
        </p:txBody>
      </p:sp>
      <p:sp>
        <p:nvSpPr>
          <p:cNvPr id="3" name="Sisällön paikkamerkki 2">
            <a:extLst>
              <a:ext uri="{FF2B5EF4-FFF2-40B4-BE49-F238E27FC236}">
                <a16:creationId xmlns:a16="http://schemas.microsoft.com/office/drawing/2014/main" id="{2AC6A271-7D5F-468F-A3BF-C79C4ED9494D}"/>
              </a:ext>
            </a:extLst>
          </p:cNvPr>
          <p:cNvSpPr>
            <a:spLocks noGrp="1"/>
          </p:cNvSpPr>
          <p:nvPr>
            <p:ph idx="1"/>
          </p:nvPr>
        </p:nvSpPr>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util.h</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kgToLbs</a:t>
            </a:r>
            <a:r>
              <a:rPr lang="en-US" dirty="0">
                <a:latin typeface="Courier New" panose="02070309020205020404" pitchFamily="49" charset="0"/>
                <a:cs typeface="Courier New" panose="02070309020205020404" pitchFamily="49" charset="0"/>
              </a:rPr>
              <a:t>(double kg);</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lbsToKg</a:t>
            </a: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util.c</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#include "</a:t>
            </a:r>
            <a:r>
              <a:rPr lang="en-US" dirty="0" err="1">
                <a:latin typeface="Courier New" panose="02070309020205020404" pitchFamily="49" charset="0"/>
                <a:cs typeface="Courier New" panose="02070309020205020404" pitchFamily="49" charset="0"/>
              </a:rPr>
              <a:t>util.h</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const double LBS_IN_KG = 0.453592;</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kgToLbs</a:t>
            </a:r>
            <a:r>
              <a:rPr lang="en-US" dirty="0">
                <a:latin typeface="Courier New" panose="02070309020205020404" pitchFamily="49" charset="0"/>
                <a:cs typeface="Courier New" panose="02070309020205020404" pitchFamily="49" charset="0"/>
              </a:rPr>
              <a:t>(double kg) {</a:t>
            </a:r>
          </a:p>
          <a:p>
            <a:pPr marL="0" indent="0">
              <a:buNone/>
            </a:pPr>
            <a:r>
              <a:rPr lang="en-US" dirty="0">
                <a:latin typeface="Courier New" panose="02070309020205020404" pitchFamily="49" charset="0"/>
                <a:cs typeface="Courier New" panose="02070309020205020404" pitchFamily="49" charset="0"/>
              </a:rPr>
              <a:t>  return kg/LBS_IN_KG;</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lbsToKg</a:t>
            </a: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return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*LBS_IN_KG;</a:t>
            </a:r>
          </a:p>
          <a:p>
            <a:pPr marL="0" indent="0">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842907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7B3F941-E099-4A43-9027-12B0170624B9}"/>
              </a:ext>
            </a:extLst>
          </p:cNvPr>
          <p:cNvSpPr>
            <a:spLocks noGrp="1"/>
          </p:cNvSpPr>
          <p:nvPr>
            <p:ph type="title"/>
          </p:nvPr>
        </p:nvSpPr>
        <p:spPr/>
        <p:txBody>
          <a:bodyPr/>
          <a:lstStyle/>
          <a:p>
            <a:r>
              <a:rPr lang="en-US" dirty="0"/>
              <a:t>Example Main File</a:t>
            </a:r>
          </a:p>
        </p:txBody>
      </p:sp>
      <p:sp>
        <p:nvSpPr>
          <p:cNvPr id="3" name="Sisällön paikkamerkki 2">
            <a:extLst>
              <a:ext uri="{FF2B5EF4-FFF2-40B4-BE49-F238E27FC236}">
                <a16:creationId xmlns:a16="http://schemas.microsoft.com/office/drawing/2014/main" id="{76BBBA73-88BA-4CFE-B604-BE4158F524D5}"/>
              </a:ext>
            </a:extLst>
          </p:cNvPr>
          <p:cNvSpPr>
            <a:spLocks noGrp="1"/>
          </p:cNvSpPr>
          <p:nvPr>
            <p:ph idx="1"/>
          </p:nvPr>
        </p:nvSpPr>
        <p:spPr/>
        <p:txBody>
          <a:bodyPr>
            <a:normAutofit fontScale="55000" lnSpcReduction="20000"/>
          </a:bodyPr>
          <a:lstStyle/>
          <a:p>
            <a:pPr marL="0" indent="0">
              <a:buNone/>
            </a:pPr>
            <a:r>
              <a:rPr lang="en-US" dirty="0">
                <a:latin typeface="Courier New" panose="02070309020205020404" pitchFamily="49" charset="0"/>
                <a:cs typeface="Courier New" panose="02070309020205020404" pitchFamily="49" charset="0"/>
              </a:rPr>
              <a:t>#include &lt;</a:t>
            </a:r>
            <a:r>
              <a:rPr lang="en-US" dirty="0" err="1">
                <a:latin typeface="Courier New" panose="02070309020205020404" pitchFamily="49" charset="0"/>
                <a:cs typeface="Courier New" panose="02070309020205020404" pitchFamily="49" charset="0"/>
              </a:rPr>
              <a:t>stdio.h</a:t>
            </a:r>
            <a:r>
              <a:rPr lang="en-US" dirty="0">
                <a:latin typeface="Courier New" panose="02070309020205020404" pitchFamily="49" charset="0"/>
                <a:cs typeface="Courier New" panose="02070309020205020404" pitchFamily="49" charset="0"/>
              </a:rPr>
              <a:t>&gt;</a:t>
            </a:r>
          </a:p>
          <a:p>
            <a:pPr marL="0" indent="0">
              <a:buNone/>
            </a:pPr>
            <a:r>
              <a:rPr lang="en-US" dirty="0">
                <a:latin typeface="Courier New" panose="02070309020205020404" pitchFamily="49" charset="0"/>
                <a:cs typeface="Courier New" panose="02070309020205020404" pitchFamily="49" charset="0"/>
              </a:rPr>
              <a:t>#include "</a:t>
            </a:r>
            <a:r>
              <a:rPr lang="en-US" dirty="0" err="1">
                <a:latin typeface="Courier New" panose="02070309020205020404" pitchFamily="49" charset="0"/>
                <a:cs typeface="Courier New" panose="02070309020205020404" pitchFamily="49" charset="0"/>
              </a:rPr>
              <a:t>util.h</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int main() {</a:t>
            </a:r>
          </a:p>
          <a:p>
            <a:pPr marL="0" indent="0">
              <a:buNone/>
            </a:pPr>
            <a:r>
              <a:rPr lang="en-US" dirty="0">
                <a:latin typeface="Courier New" panose="02070309020205020404" pitchFamily="49" charset="0"/>
                <a:cs typeface="Courier New" panose="02070309020205020404" pitchFamily="49" charset="0"/>
              </a:rPr>
              <a:t>  double kg,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("How many pounds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scanf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lf</a:t>
            </a:r>
            <a:r>
              <a:rPr lang="en-US" dirty="0">
                <a:latin typeface="Courier New" panose="02070309020205020404" pitchFamily="49" charset="0"/>
                <a:cs typeface="Courier New" panose="02070309020205020404" pitchFamily="49" charset="0"/>
              </a:rPr>
              <a:t>", &amp;</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kg = </a:t>
            </a:r>
            <a:r>
              <a:rPr lang="en-US" dirty="0" err="1">
                <a:latin typeface="Courier New" panose="02070309020205020404" pitchFamily="49" charset="0"/>
                <a:cs typeface="Courier New" panose="02070309020205020404" pitchFamily="49" charset="0"/>
              </a:rPr>
              <a:t>lbsToKg</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("%.2lf </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 is %.2lf kg\n",</a:t>
            </a:r>
            <a:r>
              <a:rPr lang="en-US" dirty="0" err="1">
                <a:latin typeface="Courier New" panose="02070309020205020404" pitchFamily="49" charset="0"/>
                <a:cs typeface="Courier New" panose="02070309020205020404" pitchFamily="49" charset="0"/>
              </a:rPr>
              <a:t>lbs</a:t>
            </a:r>
            <a:r>
              <a:rPr lang="en-US" dirty="0">
                <a:latin typeface="Courier New" panose="02070309020205020404" pitchFamily="49" charset="0"/>
                <a:cs typeface="Courier New" panose="02070309020205020404" pitchFamily="49" charset="0"/>
              </a:rPr>
              <a:t>, kg);</a:t>
            </a:r>
          </a:p>
          <a:p>
            <a:pPr marL="0" indent="0">
              <a:buNone/>
            </a:pPr>
            <a:r>
              <a:rPr lang="en-US" dirty="0">
                <a:latin typeface="Courier New" panose="02070309020205020404" pitchFamily="49" charset="0"/>
                <a:cs typeface="Courier New" panose="02070309020205020404" pitchFamily="49" charset="0"/>
              </a:rPr>
              <a:t>  } else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("Invalid input. Please input valid floating point numbers.\n");</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return 0;</a:t>
            </a:r>
          </a:p>
          <a:p>
            <a:pPr marL="0" indent="0">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201565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0B8D38F-D142-4E22-8708-D62098878AA8}"/>
              </a:ext>
            </a:extLst>
          </p:cNvPr>
          <p:cNvSpPr>
            <a:spLocks noGrp="1"/>
          </p:cNvSpPr>
          <p:nvPr>
            <p:ph type="title"/>
          </p:nvPr>
        </p:nvSpPr>
        <p:spPr/>
        <p:txBody>
          <a:bodyPr/>
          <a:lstStyle/>
          <a:p>
            <a:r>
              <a:rPr lang="en-US" dirty="0" err="1"/>
              <a:t>Makefile</a:t>
            </a:r>
            <a:endParaRPr lang="en-US" dirty="0"/>
          </a:p>
        </p:txBody>
      </p:sp>
      <p:sp>
        <p:nvSpPr>
          <p:cNvPr id="3" name="Sisällön paikkamerkki 2">
            <a:extLst>
              <a:ext uri="{FF2B5EF4-FFF2-40B4-BE49-F238E27FC236}">
                <a16:creationId xmlns:a16="http://schemas.microsoft.com/office/drawing/2014/main" id="{EAEF3CAB-D5CA-4C6A-B67B-6A0D4BC19C0F}"/>
              </a:ext>
            </a:extLst>
          </p:cNvPr>
          <p:cNvSpPr>
            <a:spLocks noGrp="1"/>
          </p:cNvSpPr>
          <p:nvPr>
            <p:ph idx="1"/>
          </p:nvPr>
        </p:nvSpPr>
        <p:spPr/>
        <p:txBody>
          <a:bodyPr>
            <a:normAutofit fontScale="85000" lnSpcReduction="20000"/>
          </a:bodyPr>
          <a:lstStyle/>
          <a:p>
            <a:r>
              <a:rPr lang="en-US" dirty="0" err="1"/>
              <a:t>Makefile</a:t>
            </a:r>
            <a:r>
              <a:rPr lang="en-US" dirty="0"/>
              <a:t> an automation tool to simply compilation, installation and running of programs</a:t>
            </a:r>
          </a:p>
          <a:p>
            <a:r>
              <a:rPr lang="en-US" dirty="0" err="1"/>
              <a:t>Makefiles</a:t>
            </a:r>
            <a:r>
              <a:rPr lang="en-US" dirty="0"/>
              <a:t> consist of variable definitions, such as:</a:t>
            </a:r>
            <a:br>
              <a:rPr lang="en-US" dirty="0"/>
            </a:br>
            <a:r>
              <a:rPr lang="en-US" dirty="0">
                <a:latin typeface="Courier New" panose="02070309020205020404" pitchFamily="49" charset="0"/>
                <a:cs typeface="Courier New" panose="02070309020205020404" pitchFamily="49" charset="0"/>
              </a:rPr>
              <a:t>variable = value</a:t>
            </a:r>
          </a:p>
          <a:p>
            <a:r>
              <a:rPr lang="en-US" dirty="0" err="1"/>
              <a:t>Makefiles</a:t>
            </a:r>
            <a:r>
              <a:rPr lang="en-US" dirty="0"/>
              <a:t> consist of rules, such as:</a:t>
            </a:r>
            <a:br>
              <a:rPr lang="en-US" dirty="0"/>
            </a:br>
            <a:r>
              <a:rPr lang="en-US" dirty="0">
                <a:latin typeface="Courier New" panose="02070309020205020404" pitchFamily="49" charset="0"/>
                <a:cs typeface="Courier New" panose="02070309020205020404" pitchFamily="49" charset="0"/>
              </a:rPr>
              <a:t>clean: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@echo "Cleaning up..."</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rm -</a:t>
            </a:r>
            <a:r>
              <a:rPr lang="en-US" dirty="0" err="1">
                <a:latin typeface="Courier New" panose="02070309020205020404" pitchFamily="49" charset="0"/>
                <a:cs typeface="Courier New" panose="02070309020205020404" pitchFamily="49" charset="0"/>
              </a:rPr>
              <a:t>rvf</a:t>
            </a:r>
            <a:r>
              <a:rPr lang="en-US" dirty="0">
                <a:latin typeface="Courier New" panose="02070309020205020404" pitchFamily="49" charset="0"/>
                <a:cs typeface="Courier New" panose="02070309020205020404" pitchFamily="49" charset="0"/>
              </a:rPr>
              <a:t> *.o ${BINS}</a:t>
            </a:r>
          </a:p>
          <a:p>
            <a:r>
              <a:rPr lang="en-US" dirty="0">
                <a:cs typeface="Courier New" panose="02070309020205020404" pitchFamily="49" charset="0"/>
              </a:rPr>
              <a:t>Typical make invocations:</a:t>
            </a:r>
          </a:p>
          <a:p>
            <a:pPr marL="0" indent="0">
              <a:buNone/>
            </a:pPr>
            <a:r>
              <a:rPr lang="en-US" dirty="0">
                <a:latin typeface="Courier New" panose="02070309020205020404" pitchFamily="49" charset="0"/>
                <a:cs typeface="Courier New" panose="02070309020205020404" pitchFamily="49" charset="0"/>
              </a:rPr>
              <a:t>make         # make all</a:t>
            </a:r>
          </a:p>
          <a:p>
            <a:pPr marL="0" indent="0">
              <a:buNone/>
            </a:pPr>
            <a:r>
              <a:rPr lang="en-US" dirty="0">
                <a:latin typeface="Courier New" panose="02070309020205020404" pitchFamily="49" charset="0"/>
                <a:cs typeface="Courier New" panose="02070309020205020404" pitchFamily="49" charset="0"/>
              </a:rPr>
              <a:t>make clean   # remove all binaries and object files</a:t>
            </a:r>
          </a:p>
          <a:p>
            <a:pPr marL="0" indent="0">
              <a:buNone/>
            </a:pPr>
            <a:r>
              <a:rPr lang="en-US" dirty="0">
                <a:latin typeface="Courier New" panose="02070309020205020404" pitchFamily="49" charset="0"/>
                <a:cs typeface="Courier New" panose="02070309020205020404" pitchFamily="49" charset="0"/>
              </a:rPr>
              <a:t>make install # install the executable / libraries</a:t>
            </a:r>
          </a:p>
        </p:txBody>
      </p:sp>
    </p:spTree>
    <p:extLst>
      <p:ext uri="{BB962C8B-B14F-4D97-AF65-F5344CB8AC3E}">
        <p14:creationId xmlns:p14="http://schemas.microsoft.com/office/powerpoint/2010/main" val="1804427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a:extLst>
              <a:ext uri="{FF2B5EF4-FFF2-40B4-BE49-F238E27FC236}">
                <a16:creationId xmlns:a16="http://schemas.microsoft.com/office/drawing/2014/main" id="{57005A56-6BC6-4207-B8E1-5926881CED78}"/>
              </a:ext>
            </a:extLst>
          </p:cNvPr>
          <p:cNvSpPr>
            <a:spLocks noGrp="1"/>
          </p:cNvSpPr>
          <p:nvPr>
            <p:ph type="title"/>
          </p:nvPr>
        </p:nvSpPr>
        <p:spPr/>
        <p:txBody>
          <a:bodyPr/>
          <a:lstStyle/>
          <a:p>
            <a:r>
              <a:rPr lang="en-US" dirty="0"/>
              <a:t>Example </a:t>
            </a:r>
            <a:r>
              <a:rPr lang="en-US" dirty="0" err="1"/>
              <a:t>Makefile</a:t>
            </a:r>
            <a:endParaRPr lang="en-US" dirty="0"/>
          </a:p>
        </p:txBody>
      </p:sp>
      <p:sp>
        <p:nvSpPr>
          <p:cNvPr id="6" name="Sisällön paikkamerkki 5">
            <a:extLst>
              <a:ext uri="{FF2B5EF4-FFF2-40B4-BE49-F238E27FC236}">
                <a16:creationId xmlns:a16="http://schemas.microsoft.com/office/drawing/2014/main" id="{11AA9ED6-9A06-4603-BD5F-95525B445213}"/>
              </a:ext>
            </a:extLst>
          </p:cNvPr>
          <p:cNvSpPr>
            <a:spLocks noGrp="1"/>
          </p:cNvSpPr>
          <p:nvPr>
            <p:ph idx="1"/>
          </p:nvPr>
        </p:nvSpPr>
        <p:spPr/>
        <p:txBody>
          <a:bodyPr>
            <a:normAutofit fontScale="40000" lnSpcReduction="20000"/>
          </a:bodyPr>
          <a:lstStyle/>
          <a:p>
            <a:pPr marL="0" indent="0">
              <a:spcBef>
                <a:spcPts val="600"/>
              </a:spcBef>
              <a:buNone/>
            </a:pPr>
            <a:r>
              <a:rPr lang="en-US" dirty="0">
                <a:latin typeface="Courier New" panose="02070309020205020404" pitchFamily="49" charset="0"/>
                <a:cs typeface="Courier New" panose="02070309020205020404" pitchFamily="49" charset="0"/>
              </a:rPr>
              <a:t># for C++ define  CC = g++</a:t>
            </a:r>
          </a:p>
          <a:p>
            <a:pPr marL="0" indent="0">
              <a:spcBef>
                <a:spcPts val="600"/>
              </a:spcBef>
              <a:buNone/>
            </a:pPr>
            <a:r>
              <a:rPr lang="en-US" dirty="0">
                <a:latin typeface="Courier New" panose="02070309020205020404" pitchFamily="49" charset="0"/>
                <a:cs typeface="Courier New" panose="02070309020205020404" pitchFamily="49" charset="0"/>
              </a:rPr>
              <a:t>CC = </a:t>
            </a:r>
            <a:r>
              <a:rPr lang="en-US" dirty="0" err="1">
                <a:latin typeface="Courier New" panose="02070309020205020404" pitchFamily="49" charset="0"/>
                <a:cs typeface="Courier New" panose="02070309020205020404" pitchFamily="49" charset="0"/>
              </a:rPr>
              <a:t>gcc</a:t>
            </a: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CFLAGS  = -g -Wall -O3</a:t>
            </a:r>
          </a:p>
          <a:p>
            <a:pPr marL="0" indent="0">
              <a:spcBef>
                <a:spcPts val="600"/>
              </a:spcBef>
              <a:buNone/>
            </a:pPr>
            <a:r>
              <a:rPr lang="en-US" dirty="0">
                <a:latin typeface="Courier New" panose="02070309020205020404" pitchFamily="49" charset="0"/>
                <a:cs typeface="Courier New" panose="02070309020205020404" pitchFamily="49" charset="0"/>
              </a:rPr>
              <a:t>TARGET = </a:t>
            </a:r>
            <a:r>
              <a:rPr lang="en-US" dirty="0" err="1">
                <a:latin typeface="Courier New" panose="02070309020205020404" pitchFamily="49" charset="0"/>
                <a:cs typeface="Courier New" panose="02070309020205020404" pitchFamily="49" charset="0"/>
              </a:rPr>
              <a:t>lbsconverter</a:t>
            </a:r>
            <a:endParaRPr lang="en-US" dirty="0">
              <a:latin typeface="Courier New" panose="02070309020205020404" pitchFamily="49" charset="0"/>
              <a:cs typeface="Courier New" panose="02070309020205020404" pitchFamily="49" charset="0"/>
            </a:endParaRPr>
          </a:p>
          <a:p>
            <a:pPr marL="0" indent="0">
              <a:spcBef>
                <a:spcPts val="600"/>
              </a:spcBef>
              <a:buNone/>
            </a:pP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typing 'make' will invoke this</a:t>
            </a:r>
          </a:p>
          <a:p>
            <a:pPr marL="0" indent="0">
              <a:spcBef>
                <a:spcPts val="600"/>
              </a:spcBef>
              <a:buNone/>
            </a:pPr>
            <a:r>
              <a:rPr lang="en-US" dirty="0">
                <a:latin typeface="Courier New" panose="02070309020205020404" pitchFamily="49" charset="0"/>
                <a:cs typeface="Courier New" panose="02070309020205020404" pitchFamily="49" charset="0"/>
              </a:rPr>
              <a:t>default: $(TARGET)</a:t>
            </a:r>
          </a:p>
          <a:p>
            <a:pPr marL="0" indent="0">
              <a:spcBef>
                <a:spcPts val="600"/>
              </a:spcBef>
              <a:buNone/>
            </a:pP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create executable</a:t>
            </a:r>
          </a:p>
          <a:p>
            <a:pPr marL="0" indent="0">
              <a:spcBef>
                <a:spcPts val="600"/>
              </a:spcBef>
              <a:buNone/>
            </a:pPr>
            <a:r>
              <a:rPr lang="en-US" dirty="0">
                <a:latin typeface="Courier New" panose="02070309020205020404" pitchFamily="49" charset="0"/>
                <a:cs typeface="Courier New" panose="02070309020205020404" pitchFamily="49" charset="0"/>
              </a:rPr>
              <a:t>$(TARGET):  </a:t>
            </a:r>
            <a:r>
              <a:rPr lang="en-US" dirty="0" err="1">
                <a:latin typeface="Courier New" panose="02070309020205020404" pitchFamily="49" charset="0"/>
                <a:cs typeface="Courier New" panose="02070309020205020404" pitchFamily="49" charset="0"/>
              </a:rPr>
              <a:t>main.o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util.o</a:t>
            </a: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$(CC) $(CFLAGS) -o $(TARGET) </a:t>
            </a:r>
            <a:r>
              <a:rPr lang="en-US" dirty="0" err="1">
                <a:latin typeface="Courier New" panose="02070309020205020404" pitchFamily="49" charset="0"/>
                <a:cs typeface="Courier New" panose="02070309020205020404" pitchFamily="49" charset="0"/>
              </a:rPr>
              <a:t>main.o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util.o</a:t>
            </a:r>
            <a:endParaRPr lang="en-US" dirty="0">
              <a:latin typeface="Courier New" panose="02070309020205020404" pitchFamily="49" charset="0"/>
              <a:cs typeface="Courier New" panose="02070309020205020404" pitchFamily="49" charset="0"/>
            </a:endParaRPr>
          </a:p>
          <a:p>
            <a:pPr marL="0" indent="0">
              <a:spcBef>
                <a:spcPts val="600"/>
              </a:spcBef>
              <a:buNone/>
            </a:pP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make object files</a:t>
            </a:r>
          </a:p>
          <a:p>
            <a:pPr marL="0" indent="0">
              <a:spcBef>
                <a:spcPts val="600"/>
              </a:spcBef>
              <a:buNone/>
            </a:pPr>
            <a:r>
              <a:rPr lang="en-US" dirty="0" err="1">
                <a:latin typeface="Courier New" panose="02070309020205020404" pitchFamily="49" charset="0"/>
                <a:cs typeface="Courier New" panose="02070309020205020404" pitchFamily="49" charset="0"/>
              </a:rPr>
              <a:t>main.o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main.c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util.h</a:t>
            </a: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$(CC) $(CFLAGS) -c </a:t>
            </a:r>
            <a:r>
              <a:rPr lang="en-US" dirty="0" err="1">
                <a:latin typeface="Courier New" panose="02070309020205020404" pitchFamily="49" charset="0"/>
                <a:cs typeface="Courier New" panose="02070309020205020404" pitchFamily="49" charset="0"/>
              </a:rPr>
              <a:t>main.c</a:t>
            </a:r>
            <a:endParaRPr lang="en-US" dirty="0">
              <a:latin typeface="Courier New" panose="02070309020205020404" pitchFamily="49" charset="0"/>
              <a:cs typeface="Courier New" panose="02070309020205020404" pitchFamily="49" charset="0"/>
            </a:endParaRPr>
          </a:p>
          <a:p>
            <a:pPr marL="0" indent="0">
              <a:spcBef>
                <a:spcPts val="600"/>
              </a:spcBef>
              <a:buNone/>
            </a:pP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err="1">
                <a:latin typeface="Courier New" panose="02070309020205020404" pitchFamily="49" charset="0"/>
                <a:cs typeface="Courier New" panose="02070309020205020404" pitchFamily="49" charset="0"/>
              </a:rPr>
              <a:t>util.o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util.h</a:t>
            </a: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$(CC) $(CFLAGS) -c </a:t>
            </a:r>
            <a:r>
              <a:rPr lang="en-US" dirty="0" err="1">
                <a:latin typeface="Courier New" panose="02070309020205020404" pitchFamily="49" charset="0"/>
                <a:cs typeface="Courier New" panose="02070309020205020404" pitchFamily="49" charset="0"/>
              </a:rPr>
              <a:t>util.c</a:t>
            </a:r>
            <a:endParaRPr lang="en-US" dirty="0">
              <a:latin typeface="Courier New" panose="02070309020205020404" pitchFamily="49" charset="0"/>
              <a:cs typeface="Courier New" panose="02070309020205020404" pitchFamily="49" charset="0"/>
            </a:endParaRPr>
          </a:p>
          <a:p>
            <a:pPr marL="0" indent="0">
              <a:spcBef>
                <a:spcPts val="600"/>
              </a:spcBef>
              <a:buNone/>
            </a:pPr>
            <a:endParaRPr lang="en-US" dirty="0">
              <a:latin typeface="Courier New" panose="02070309020205020404" pitchFamily="49" charset="0"/>
              <a:cs typeface="Courier New" panose="02070309020205020404" pitchFamily="49" charset="0"/>
            </a:endParaRPr>
          </a:p>
          <a:p>
            <a:pPr marL="0" indent="0">
              <a:spcBef>
                <a:spcPts val="600"/>
              </a:spcBef>
              <a:buNone/>
            </a:pPr>
            <a:r>
              <a:rPr lang="en-US" dirty="0">
                <a:latin typeface="Courier New" panose="02070309020205020404" pitchFamily="49" charset="0"/>
                <a:cs typeface="Courier New" panose="02070309020205020404" pitchFamily="49" charset="0"/>
              </a:rPr>
              <a:t># To start over from scratch, type 'make clean'.</a:t>
            </a:r>
          </a:p>
          <a:p>
            <a:pPr marL="0" indent="0">
              <a:spcBef>
                <a:spcPts val="600"/>
              </a:spcBef>
              <a:buNone/>
            </a:pPr>
            <a:r>
              <a:rPr lang="en-US" dirty="0">
                <a:latin typeface="Courier New" panose="02070309020205020404" pitchFamily="49" charset="0"/>
                <a:cs typeface="Courier New" panose="02070309020205020404" pitchFamily="49" charset="0"/>
              </a:rPr>
              <a:t>clean:</a:t>
            </a:r>
          </a:p>
          <a:p>
            <a:pPr marL="0" indent="0">
              <a:spcBef>
                <a:spcPts val="600"/>
              </a:spcBef>
              <a:buNone/>
            </a:pPr>
            <a:r>
              <a:rPr lang="en-US" dirty="0">
                <a:latin typeface="Courier New" panose="02070309020205020404" pitchFamily="49" charset="0"/>
                <a:cs typeface="Courier New" panose="02070309020205020404" pitchFamily="49" charset="0"/>
              </a:rPr>
              <a:t>        rm -f $(TARGET) *.o</a:t>
            </a:r>
          </a:p>
        </p:txBody>
      </p:sp>
    </p:spTree>
    <p:extLst>
      <p:ext uri="{BB962C8B-B14F-4D97-AF65-F5344CB8AC3E}">
        <p14:creationId xmlns:p14="http://schemas.microsoft.com/office/powerpoint/2010/main" val="31037308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A3932D4-4BC9-445A-8AFA-EEE1817B338F}"/>
              </a:ext>
            </a:extLst>
          </p:cNvPr>
          <p:cNvSpPr>
            <a:spLocks noGrp="1"/>
          </p:cNvSpPr>
          <p:nvPr>
            <p:ph type="title"/>
          </p:nvPr>
        </p:nvSpPr>
        <p:spPr/>
        <p:txBody>
          <a:bodyPr/>
          <a:lstStyle/>
          <a:p>
            <a:r>
              <a:rPr lang="en-US" dirty="0"/>
              <a:t>Bash Scripting</a:t>
            </a:r>
          </a:p>
        </p:txBody>
      </p:sp>
      <p:sp>
        <p:nvSpPr>
          <p:cNvPr id="3" name="Sisällön paikkamerkki 2">
            <a:extLst>
              <a:ext uri="{FF2B5EF4-FFF2-40B4-BE49-F238E27FC236}">
                <a16:creationId xmlns:a16="http://schemas.microsoft.com/office/drawing/2014/main" id="{9891D214-F501-4091-B6AA-5E4528FD5606}"/>
              </a:ext>
            </a:extLst>
          </p:cNvPr>
          <p:cNvSpPr>
            <a:spLocks noGrp="1"/>
          </p:cNvSpPr>
          <p:nvPr>
            <p:ph idx="1"/>
          </p:nvPr>
        </p:nvSpPr>
        <p:spPr>
          <a:xfrm>
            <a:off x="838200" y="1825625"/>
            <a:ext cx="10515600" cy="4667250"/>
          </a:xfrm>
        </p:spPr>
        <p:txBody>
          <a:bodyPr>
            <a:normAutofit fontScale="77500" lnSpcReduction="20000"/>
          </a:bodyPr>
          <a:lstStyle/>
          <a:p>
            <a:r>
              <a:rPr lang="en-US" dirty="0"/>
              <a:t>Good for small simple programs, especially repetitive tasks.</a:t>
            </a:r>
          </a:p>
          <a:p>
            <a:r>
              <a:rPr lang="en-US" dirty="0"/>
              <a:t>Create .</a:t>
            </a:r>
            <a:r>
              <a:rPr lang="en-US" dirty="0" err="1"/>
              <a:t>sh</a:t>
            </a:r>
            <a:r>
              <a:rPr lang="en-US" dirty="0"/>
              <a:t> ending file</a:t>
            </a:r>
          </a:p>
          <a:p>
            <a:r>
              <a:rPr lang="en-US" dirty="0"/>
              <a:t>Add the following to the beginning of file</a:t>
            </a:r>
            <a:br>
              <a:rPr lang="en-US" dirty="0"/>
            </a:br>
            <a:r>
              <a:rPr lang="en-US" dirty="0">
                <a:latin typeface="Courier New" panose="02070309020205020404" pitchFamily="49" charset="0"/>
                <a:cs typeface="Courier New" panose="02070309020205020404" pitchFamily="49" charset="0"/>
              </a:rPr>
              <a:t>#!/bin/sh</a:t>
            </a:r>
          </a:p>
          <a:p>
            <a:r>
              <a:rPr lang="en-US" dirty="0"/>
              <a:t>Make sure file is executable</a:t>
            </a:r>
            <a:br>
              <a:rPr lang="en-US" dirty="0"/>
            </a:br>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+x script.sh</a:t>
            </a:r>
          </a:p>
          <a:p>
            <a:r>
              <a:rPr lang="en-US" dirty="0"/>
              <a:t>Variable definition</a:t>
            </a:r>
            <a:r>
              <a:rPr lang="en-US" dirty="0">
                <a:latin typeface="Courier New" panose="02070309020205020404" pitchFamily="49" charset="0"/>
                <a:cs typeface="Courier New" panose="02070309020205020404" pitchFamily="49" charset="0"/>
              </a:rPr>
              <a:t> variable=value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age=25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name="Petri Kuittinen"</a:t>
            </a:r>
          </a:p>
          <a:p>
            <a:r>
              <a:rPr lang="en-US" dirty="0">
                <a:cs typeface="Courier New" panose="02070309020205020404" pitchFamily="49" charset="0"/>
              </a:rPr>
              <a:t>Reading input (till user presses enter)</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read name      # read from standard input and store to name</a:t>
            </a:r>
            <a:endParaRPr lang="en-US" dirty="0"/>
          </a:p>
          <a:p>
            <a:r>
              <a:rPr lang="en-US" dirty="0"/>
              <a:t>Accessing variable $variable e.g.</a:t>
            </a:r>
            <a:br>
              <a:rPr lang="en-US" dirty="0"/>
            </a:br>
            <a:r>
              <a:rPr lang="en-US" dirty="0">
                <a:latin typeface="Courier New" panose="02070309020205020404" pitchFamily="49" charset="0"/>
                <a:cs typeface="Courier New" panose="02070309020205020404" pitchFamily="49" charset="0"/>
              </a:rPr>
              <a:t>echo "Hello $name!" # will replace $name with its 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echo 'Hello $name!' # will just output Hello $name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echo $[age+1]       # perform arithmetic</a:t>
            </a:r>
          </a:p>
          <a:p>
            <a:pPr marL="0" indent="0">
              <a:buNone/>
            </a:pPr>
            <a:endParaRPr lang="en-US" dirty="0"/>
          </a:p>
        </p:txBody>
      </p:sp>
    </p:spTree>
    <p:extLst>
      <p:ext uri="{BB962C8B-B14F-4D97-AF65-F5344CB8AC3E}">
        <p14:creationId xmlns:p14="http://schemas.microsoft.com/office/powerpoint/2010/main" val="3633671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AA38A66-558C-4D04-94DD-575F2875E732}"/>
              </a:ext>
            </a:extLst>
          </p:cNvPr>
          <p:cNvSpPr>
            <a:spLocks noGrp="1"/>
          </p:cNvSpPr>
          <p:nvPr>
            <p:ph type="title"/>
          </p:nvPr>
        </p:nvSpPr>
        <p:spPr/>
        <p:txBody>
          <a:bodyPr/>
          <a:lstStyle/>
          <a:p>
            <a:r>
              <a:rPr lang="en-US" dirty="0"/>
              <a:t>Bash While Example</a:t>
            </a:r>
          </a:p>
        </p:txBody>
      </p:sp>
      <p:sp>
        <p:nvSpPr>
          <p:cNvPr id="3" name="Sisällön paikkamerkki 2">
            <a:extLst>
              <a:ext uri="{FF2B5EF4-FFF2-40B4-BE49-F238E27FC236}">
                <a16:creationId xmlns:a16="http://schemas.microsoft.com/office/drawing/2014/main" id="{AA2D8DE1-2329-4569-99CF-F92A15F91383}"/>
              </a:ext>
            </a:extLst>
          </p:cNvPr>
          <p:cNvSpPr>
            <a:spLocks noGrp="1"/>
          </p:cNvSpPr>
          <p:nvPr>
            <p:ph idx="1"/>
          </p:nvPr>
        </p:nvSpPr>
        <p:spPr/>
        <p:txBody>
          <a:bodyPr>
            <a:normAutofit fontScale="85000" lnSpcReduction="20000"/>
          </a:bodyPr>
          <a:lstStyle/>
          <a:p>
            <a:pPr marL="0" indent="0">
              <a:buNone/>
            </a:pPr>
            <a:r>
              <a:rPr lang="en-US" dirty="0">
                <a:latin typeface="Courier New" panose="02070309020205020404" pitchFamily="49" charset="0"/>
                <a:cs typeface="Courier New" panose="02070309020205020404" pitchFamily="49" charset="0"/>
              </a:rPr>
              <a:t>#!/bin/sh</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=1 # careful with spaces e.g.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won't work</a:t>
            </a:r>
          </a:p>
          <a:p>
            <a:pPr marL="0" indent="0">
              <a:buNone/>
            </a:pPr>
            <a:r>
              <a:rPr lang="en-US" dirty="0">
                <a:latin typeface="Courier New" panose="02070309020205020404" pitchFamily="49" charset="0"/>
                <a:cs typeface="Courier New" panose="02070309020205020404" pitchFamily="49" charset="0"/>
              </a:rPr>
              <a:t># loop from 1...10</a:t>
            </a:r>
          </a:p>
          <a:p>
            <a:pPr marL="0" indent="0">
              <a:buNone/>
            </a:pPr>
            <a:r>
              <a:rPr lang="en-US" dirty="0">
                <a:latin typeface="Courier New" panose="02070309020205020404" pitchFamily="49" charset="0"/>
                <a:cs typeface="Courier New" panose="02070309020205020404" pitchFamily="49" charset="0"/>
              </a:rPr>
              <a:t>echo "counting"</a:t>
            </a:r>
          </a:p>
          <a:p>
            <a:pPr marL="0" indent="0">
              <a:buNone/>
            </a:pPr>
            <a:r>
              <a:rPr lang="en-US" dirty="0">
                <a:latin typeface="Courier New" panose="02070309020205020404" pitchFamily="49" charset="0"/>
                <a:cs typeface="Courier New" panose="02070309020205020404" pitchFamily="49" charset="0"/>
              </a:rPr>
              <a:t>while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-le 10 ]</a:t>
            </a:r>
          </a:p>
          <a:p>
            <a:pPr marL="0" indent="0">
              <a:buNone/>
            </a:pPr>
            <a:r>
              <a:rPr lang="en-US" dirty="0">
                <a:latin typeface="Courier New" panose="02070309020205020404" pitchFamily="49" charset="0"/>
                <a:cs typeface="Courier New" panose="02070309020205020404" pitchFamily="49" charset="0"/>
              </a:rPr>
              <a:t>do</a:t>
            </a:r>
          </a:p>
          <a:p>
            <a:pPr marL="0" indent="0">
              <a:buNone/>
            </a:pPr>
            <a:r>
              <a:rPr lang="en-US" dirty="0">
                <a:latin typeface="Courier New" panose="02070309020205020404" pitchFamily="49" charset="0"/>
                <a:cs typeface="Courier New" panose="02070309020205020404" pitchFamily="49" charset="0"/>
              </a:rPr>
              <a:t>    echo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=`expr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0" indent="0">
              <a:buNone/>
            </a:pPr>
            <a:r>
              <a:rPr lang="en-US" dirty="0">
                <a:latin typeface="Courier New" panose="02070309020205020404" pitchFamily="49" charset="0"/>
                <a:cs typeface="Courier New" panose="02070309020205020404" pitchFamily="49" charset="0"/>
              </a:rPr>
              <a:t>    sleep 1</a:t>
            </a:r>
          </a:p>
          <a:p>
            <a:pPr marL="0" indent="0">
              <a:buNone/>
            </a:pPr>
            <a:r>
              <a:rPr lang="en-US"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19142217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29EC05D-BD9C-4666-B38D-AAAF287E917C}"/>
              </a:ext>
            </a:extLst>
          </p:cNvPr>
          <p:cNvSpPr>
            <a:spLocks noGrp="1"/>
          </p:cNvSpPr>
          <p:nvPr>
            <p:ph type="title"/>
          </p:nvPr>
        </p:nvSpPr>
        <p:spPr/>
        <p:txBody>
          <a:bodyPr/>
          <a:lstStyle/>
          <a:p>
            <a:r>
              <a:rPr lang="en-US" dirty="0"/>
              <a:t>Bash Reading Command Line</a:t>
            </a:r>
          </a:p>
        </p:txBody>
      </p:sp>
      <p:sp>
        <p:nvSpPr>
          <p:cNvPr id="3" name="Sisällön paikkamerkki 2">
            <a:extLst>
              <a:ext uri="{FF2B5EF4-FFF2-40B4-BE49-F238E27FC236}">
                <a16:creationId xmlns:a16="http://schemas.microsoft.com/office/drawing/2014/main" id="{31ABA3EB-E56C-40B1-945A-C362B42F8286}"/>
              </a:ext>
            </a:extLst>
          </p:cNvPr>
          <p:cNvSpPr>
            <a:spLocks noGrp="1"/>
          </p:cNvSpPr>
          <p:nvPr>
            <p:ph idx="1"/>
          </p:nvPr>
        </p:nvSpPr>
        <p:spPr/>
        <p:txBody>
          <a:bodyPr>
            <a:normAutofit lnSpcReduction="10000"/>
          </a:bodyPr>
          <a:lstStyle/>
          <a:p>
            <a:pPr marL="0" indent="0">
              <a:buNone/>
            </a:pPr>
            <a:r>
              <a:rPr lang="en-US" dirty="0">
                <a:latin typeface="Courier New" panose="02070309020205020404" pitchFamily="49" charset="0"/>
                <a:cs typeface="Courier New" panose="02070309020205020404" pitchFamily="49" charset="0"/>
              </a:rPr>
              <a:t>#!/bin/sh</a:t>
            </a:r>
          </a:p>
          <a:p>
            <a:pPr marL="0" indent="0">
              <a:buNone/>
            </a:pPr>
            <a:r>
              <a:rPr lang="en-US" dirty="0">
                <a:latin typeface="Courier New" panose="02070309020205020404" pitchFamily="49" charset="0"/>
                <a:cs typeface="Courier New" panose="02070309020205020404" pitchFamily="49" charset="0"/>
              </a:rPr>
              <a:t># $@ = all arguments</a:t>
            </a:r>
          </a:p>
          <a:p>
            <a:pPr marL="0" indent="0">
              <a:buNone/>
            </a:pPr>
            <a:r>
              <a:rPr lang="en-US" dirty="0">
                <a:latin typeface="Courier New" panose="02070309020205020404" pitchFamily="49" charset="0"/>
                <a:cs typeface="Courier New" panose="02070309020205020404" pitchFamily="49" charset="0"/>
              </a:rPr>
              <a:t># $1 = first argument, $2 = second argument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in "$@"</a:t>
            </a:r>
          </a:p>
          <a:p>
            <a:pPr marL="0" indent="0">
              <a:buNone/>
            </a:pPr>
            <a:r>
              <a:rPr lang="en-US" dirty="0">
                <a:latin typeface="Courier New" panose="02070309020205020404" pitchFamily="49" charset="0"/>
                <a:cs typeface="Courier New" panose="02070309020205020404" pitchFamily="49" charset="0"/>
              </a:rPr>
              <a:t>do</a:t>
            </a:r>
          </a:p>
          <a:p>
            <a:pPr marL="0" indent="0">
              <a:buNone/>
            </a:pPr>
            <a:r>
              <a:rPr lang="en-US" dirty="0">
                <a:latin typeface="Courier New" panose="02070309020205020404" pitchFamily="49" charset="0"/>
                <a:cs typeface="Courier New" panose="02070309020205020404" pitchFamily="49" charset="0"/>
              </a:rPr>
              <a:t>    echo $</a:t>
            </a:r>
            <a:r>
              <a:rPr lang="en-US" dirty="0" err="1">
                <a:latin typeface="Courier New" panose="02070309020205020404" pitchFamily="49" charset="0"/>
                <a:cs typeface="Courier New" panose="02070309020205020404" pitchFamily="49" charset="0"/>
              </a:rPr>
              <a:t>arg</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arg</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30407913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1222EB3-EA5A-4784-AC4F-7EE93513C23E}"/>
              </a:ext>
            </a:extLst>
          </p:cNvPr>
          <p:cNvSpPr>
            <a:spLocks noGrp="1"/>
          </p:cNvSpPr>
          <p:nvPr>
            <p:ph type="title"/>
          </p:nvPr>
        </p:nvSpPr>
        <p:spPr/>
        <p:txBody>
          <a:bodyPr/>
          <a:lstStyle/>
          <a:p>
            <a:r>
              <a:rPr lang="en-US" dirty="0"/>
              <a:t>Bash Command Line and Arithmetic</a:t>
            </a:r>
          </a:p>
        </p:txBody>
      </p:sp>
      <p:sp>
        <p:nvSpPr>
          <p:cNvPr id="3" name="Sisällön paikkamerkki 2">
            <a:extLst>
              <a:ext uri="{FF2B5EF4-FFF2-40B4-BE49-F238E27FC236}">
                <a16:creationId xmlns:a16="http://schemas.microsoft.com/office/drawing/2014/main" id="{6DA80DBE-C6F9-4E5C-8473-4B7E859D51FC}"/>
              </a:ext>
            </a:extLst>
          </p:cNvPr>
          <p:cNvSpPr>
            <a:spLocks noGrp="1"/>
          </p:cNvSpPr>
          <p:nvPr>
            <p:ph idx="1"/>
          </p:nvPr>
        </p:nvSpPr>
        <p:spPr/>
        <p:txBody>
          <a:bodyPr/>
          <a:lstStyle/>
          <a:p>
            <a:pPr marL="0" indent="0">
              <a:buNone/>
            </a:pPr>
            <a:r>
              <a:rPr lang="en-US" dirty="0">
                <a:latin typeface="Courier New" panose="02070309020205020404" pitchFamily="49" charset="0"/>
                <a:cs typeface="Courier New" panose="02070309020205020404" pitchFamily="49" charset="0"/>
              </a:rPr>
              <a:t>#!/bin/sh</a:t>
            </a:r>
          </a:p>
          <a:p>
            <a:pPr marL="0" indent="0">
              <a:buNone/>
            </a:pPr>
            <a:r>
              <a:rPr lang="en-US" dirty="0">
                <a:latin typeface="Courier New" panose="02070309020205020404" pitchFamily="49" charset="0"/>
                <a:cs typeface="Courier New" panose="02070309020205020404" pitchFamily="49" charset="0"/>
              </a:rPr>
              <a:t>echo "First argument: $1"</a:t>
            </a:r>
          </a:p>
          <a:p>
            <a:pPr marL="0" indent="0">
              <a:buNone/>
            </a:pPr>
            <a:r>
              <a:rPr lang="en-US" dirty="0">
                <a:latin typeface="Courier New" panose="02070309020205020404" pitchFamily="49" charset="0"/>
                <a:cs typeface="Courier New" panose="02070309020205020404" pitchFamily="49" charset="0"/>
              </a:rPr>
              <a:t>echo "Second argument: $2"</a:t>
            </a:r>
          </a:p>
          <a:p>
            <a:pPr marL="0" indent="0">
              <a:buNone/>
            </a:pPr>
            <a:r>
              <a:rPr lang="en-US" dirty="0">
                <a:latin typeface="Courier New" panose="02070309020205020404" pitchFamily="49" charset="0"/>
                <a:cs typeface="Courier New" panose="02070309020205020404" pitchFamily="49" charset="0"/>
              </a:rPr>
              <a:t>sum=$(($1 + $2)) # works only with integers</a:t>
            </a:r>
          </a:p>
          <a:p>
            <a:pPr marL="0" indent="0">
              <a:buNone/>
            </a:pPr>
            <a:r>
              <a:rPr lang="en-US" dirty="0">
                <a:latin typeface="Courier New" panose="02070309020205020404" pitchFamily="49" charset="0"/>
                <a:cs typeface="Courier New" panose="02070309020205020404" pitchFamily="49" charset="0"/>
              </a:rPr>
              <a:t>echo "Sum: $sum"</a:t>
            </a:r>
          </a:p>
        </p:txBody>
      </p:sp>
    </p:spTree>
    <p:extLst>
      <p:ext uri="{BB962C8B-B14F-4D97-AF65-F5344CB8AC3E}">
        <p14:creationId xmlns:p14="http://schemas.microsoft.com/office/powerpoint/2010/main" val="365989003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BE954F1-29C6-45F3-B178-323D6AD7C545}"/>
              </a:ext>
            </a:extLst>
          </p:cNvPr>
          <p:cNvSpPr>
            <a:spLocks noGrp="1"/>
          </p:cNvSpPr>
          <p:nvPr>
            <p:ph type="title"/>
          </p:nvPr>
        </p:nvSpPr>
        <p:spPr/>
        <p:txBody>
          <a:bodyPr/>
          <a:lstStyle/>
          <a:p>
            <a:r>
              <a:rPr lang="en-US" dirty="0"/>
              <a:t>Bash If Example</a:t>
            </a:r>
          </a:p>
        </p:txBody>
      </p:sp>
      <p:sp>
        <p:nvSpPr>
          <p:cNvPr id="3" name="Sisällön paikkamerkki 2">
            <a:extLst>
              <a:ext uri="{FF2B5EF4-FFF2-40B4-BE49-F238E27FC236}">
                <a16:creationId xmlns:a16="http://schemas.microsoft.com/office/drawing/2014/main" id="{1B789E47-CC6D-49DD-9A46-2C8E43F46E64}"/>
              </a:ext>
            </a:extLst>
          </p:cNvPr>
          <p:cNvSpPr>
            <a:spLocks noGrp="1"/>
          </p:cNvSpPr>
          <p:nvPr>
            <p:ph idx="1"/>
          </p:nvPr>
        </p:nvSpPr>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#!/bin/sh</a:t>
            </a:r>
          </a:p>
          <a:p>
            <a:pPr marL="0" indent="0">
              <a:buNone/>
            </a:pPr>
            <a:r>
              <a:rPr lang="en-US" dirty="0">
                <a:latin typeface="Courier New" panose="02070309020205020404" pitchFamily="49" charset="0"/>
                <a:cs typeface="Courier New" panose="02070309020205020404" pitchFamily="49" charset="0"/>
              </a:rPr>
              <a:t>echo How old are you?</a:t>
            </a:r>
          </a:p>
          <a:p>
            <a:pPr marL="0" indent="0">
              <a:buNone/>
            </a:pPr>
            <a:r>
              <a:rPr lang="en-US" dirty="0">
                <a:latin typeface="Courier New" panose="02070309020205020404" pitchFamily="49" charset="0"/>
                <a:cs typeface="Courier New" panose="02070309020205020404" pitchFamily="49" charset="0"/>
              </a:rPr>
              <a:t>read age</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if [ "$age" -</a:t>
            </a:r>
            <a:r>
              <a:rPr lang="en-US" dirty="0" err="1">
                <a:latin typeface="Courier New" panose="02070309020205020404" pitchFamily="49" charset="0"/>
                <a:cs typeface="Courier New" panose="02070309020205020404" pitchFamily="49" charset="0"/>
              </a:rPr>
              <a:t>lt</a:t>
            </a:r>
            <a:r>
              <a:rPr lang="en-US" dirty="0">
                <a:latin typeface="Courier New" panose="02070309020205020404" pitchFamily="49" charset="0"/>
                <a:cs typeface="Courier New" panose="02070309020205020404" pitchFamily="49" charset="0"/>
              </a:rPr>
              <a:t> 0 ]</a:t>
            </a:r>
          </a:p>
          <a:p>
            <a:pPr marL="0" indent="0">
              <a:buNone/>
            </a:pPr>
            <a:r>
              <a:rPr lang="en-US" dirty="0">
                <a:latin typeface="Courier New" panose="02070309020205020404" pitchFamily="49" charset="0"/>
                <a:cs typeface="Courier New" panose="02070309020205020404" pitchFamily="49" charset="0"/>
              </a:rPr>
              <a:t>then</a:t>
            </a:r>
          </a:p>
          <a:p>
            <a:pPr marL="0" indent="0">
              <a:buNone/>
            </a:pPr>
            <a:r>
              <a:rPr lang="en-US" dirty="0">
                <a:latin typeface="Courier New" panose="02070309020205020404" pitchFamily="49" charset="0"/>
                <a:cs typeface="Courier New" panose="02070309020205020404" pitchFamily="49" charset="0"/>
              </a:rPr>
              <a:t>    echo "Nobody can be so young!"</a:t>
            </a:r>
          </a:p>
          <a:p>
            <a:pPr marL="0" indent="0">
              <a:buNone/>
            </a:pP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 "$age" -eq 0 ]</a:t>
            </a:r>
          </a:p>
          <a:p>
            <a:pPr marL="0" indent="0">
              <a:buNone/>
            </a:pPr>
            <a:r>
              <a:rPr lang="en-US" dirty="0">
                <a:latin typeface="Courier New" panose="02070309020205020404" pitchFamily="49" charset="0"/>
                <a:cs typeface="Courier New" panose="02070309020205020404" pitchFamily="49" charset="0"/>
              </a:rPr>
              <a:t>then</a:t>
            </a:r>
          </a:p>
          <a:p>
            <a:pPr marL="0" indent="0">
              <a:buNone/>
            </a:pPr>
            <a:r>
              <a:rPr lang="en-US" dirty="0">
                <a:latin typeface="Courier New" panose="02070309020205020404" pitchFamily="49" charset="0"/>
                <a:cs typeface="Courier New" panose="02070309020205020404" pitchFamily="49" charset="0"/>
              </a:rPr>
              <a:t>    echo "You are an infant. Did daddy type this for you?"</a:t>
            </a:r>
          </a:p>
          <a:p>
            <a:pPr marL="0" indent="0">
              <a:buNone/>
            </a:pP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 "$age" -</a:t>
            </a:r>
            <a:r>
              <a:rPr lang="en-US" dirty="0" err="1">
                <a:latin typeface="Courier New" panose="02070309020205020404" pitchFamily="49" charset="0"/>
                <a:cs typeface="Courier New" panose="02070309020205020404" pitchFamily="49" charset="0"/>
              </a:rPr>
              <a:t>lt</a:t>
            </a:r>
            <a:r>
              <a:rPr lang="en-US" dirty="0">
                <a:latin typeface="Courier New" panose="02070309020205020404" pitchFamily="49" charset="0"/>
                <a:cs typeface="Courier New" panose="02070309020205020404" pitchFamily="49" charset="0"/>
              </a:rPr>
              <a:t> 18 ]</a:t>
            </a:r>
          </a:p>
          <a:p>
            <a:pPr marL="0" indent="0">
              <a:buNone/>
            </a:pPr>
            <a:r>
              <a:rPr lang="en-US" dirty="0">
                <a:latin typeface="Courier New" panose="02070309020205020404" pitchFamily="49" charset="0"/>
                <a:cs typeface="Courier New" panose="02070309020205020404" pitchFamily="49" charset="0"/>
              </a:rPr>
              <a:t>then</a:t>
            </a:r>
          </a:p>
          <a:p>
            <a:pPr marL="0" indent="0">
              <a:buNone/>
            </a:pPr>
            <a:r>
              <a:rPr lang="en-US" dirty="0">
                <a:latin typeface="Courier New" panose="02070309020205020404" pitchFamily="49" charset="0"/>
                <a:cs typeface="Courier New" panose="02070309020205020404" pitchFamily="49" charset="0"/>
              </a:rPr>
              <a:t>    echo "You are still a child."</a:t>
            </a:r>
          </a:p>
          <a:p>
            <a:pPr marL="0" indent="0">
              <a:buNone/>
            </a:pPr>
            <a:r>
              <a:rPr lang="en-US" dirty="0">
                <a:latin typeface="Courier New" panose="02070309020205020404" pitchFamily="49" charset="0"/>
                <a:cs typeface="Courier New" panose="02070309020205020404" pitchFamily="49" charset="0"/>
              </a:rPr>
              <a:t>else</a:t>
            </a:r>
          </a:p>
          <a:p>
            <a:pPr marL="0" indent="0">
              <a:buNone/>
            </a:pPr>
            <a:r>
              <a:rPr lang="en-US" dirty="0">
                <a:latin typeface="Courier New" panose="02070309020205020404" pitchFamily="49" charset="0"/>
                <a:cs typeface="Courier New" panose="02070309020205020404" pitchFamily="49" charset="0"/>
              </a:rPr>
              <a:t>    echo "You are an adult."</a:t>
            </a:r>
          </a:p>
          <a:p>
            <a:pPr marL="0" indent="0">
              <a:buNone/>
            </a:pPr>
            <a:r>
              <a:rPr lang="en-US" dirty="0">
                <a:latin typeface="Courier New" panose="02070309020205020404" pitchFamily="49" charset="0"/>
                <a:cs typeface="Courier New" panose="02070309020205020404" pitchFamily="49" charset="0"/>
              </a:rPr>
              <a:t>fi</a:t>
            </a:r>
          </a:p>
        </p:txBody>
      </p:sp>
    </p:spTree>
    <p:extLst>
      <p:ext uri="{BB962C8B-B14F-4D97-AF65-F5344CB8AC3E}">
        <p14:creationId xmlns:p14="http://schemas.microsoft.com/office/powerpoint/2010/main" val="6212945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D6FEE4F-3A33-4A32-A513-432CB86BA4F9}"/>
              </a:ext>
            </a:extLst>
          </p:cNvPr>
          <p:cNvSpPr>
            <a:spLocks noGrp="1"/>
          </p:cNvSpPr>
          <p:nvPr>
            <p:ph type="title"/>
          </p:nvPr>
        </p:nvSpPr>
        <p:spPr/>
        <p:txBody>
          <a:bodyPr/>
          <a:lstStyle/>
          <a:p>
            <a:r>
              <a:rPr lang="en-US" dirty="0"/>
              <a:t>Bash Processing Files and Folders</a:t>
            </a:r>
          </a:p>
        </p:txBody>
      </p:sp>
      <p:sp>
        <p:nvSpPr>
          <p:cNvPr id="3" name="Sisällön paikkamerkki 2">
            <a:extLst>
              <a:ext uri="{FF2B5EF4-FFF2-40B4-BE49-F238E27FC236}">
                <a16:creationId xmlns:a16="http://schemas.microsoft.com/office/drawing/2014/main" id="{C57CE3E9-8F53-41E4-A79C-B13C351BC64E}"/>
              </a:ext>
            </a:extLst>
          </p:cNvPr>
          <p:cNvSpPr>
            <a:spLocks noGrp="1"/>
          </p:cNvSpPr>
          <p:nvPr>
            <p:ph idx="1"/>
          </p:nvPr>
        </p:nvSpPr>
        <p:spPr/>
        <p:txBody>
          <a:bodyPr>
            <a:normAutofit fontScale="55000" lnSpcReduction="20000"/>
          </a:bodyPr>
          <a:lstStyle/>
          <a:p>
            <a:pPr marL="0" indent="0">
              <a:buNone/>
            </a:pPr>
            <a:r>
              <a:rPr lang="en-US" dirty="0">
                <a:latin typeface="Courier New" panose="02070309020205020404" pitchFamily="49" charset="0"/>
                <a:cs typeface="Courier New" panose="02070309020205020404" pitchFamily="49" charset="0"/>
              </a:rPr>
              <a:t>#!/bin/sh</a:t>
            </a:r>
          </a:p>
          <a:p>
            <a:pPr marL="0" indent="0">
              <a:buNone/>
            </a:pPr>
            <a:r>
              <a:rPr lang="en-US" dirty="0">
                <a:latin typeface="Courier New" panose="02070309020205020404" pitchFamily="49" charset="0"/>
                <a:cs typeface="Courier New" panose="02070309020205020404" pitchFamily="49" charset="0"/>
              </a:rPr>
              <a:t>FILES=$HOME/bin/*</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 file in $FILES</a:t>
            </a:r>
          </a:p>
          <a:p>
            <a:pPr marL="0" indent="0">
              <a:buNone/>
            </a:pPr>
            <a:r>
              <a:rPr lang="en-US" dirty="0">
                <a:latin typeface="Courier New" panose="02070309020205020404" pitchFamily="49" charset="0"/>
                <a:cs typeface="Courier New" panose="02070309020205020404" pitchFamily="49" charset="0"/>
              </a:rPr>
              <a:t>do</a:t>
            </a:r>
          </a:p>
          <a:p>
            <a:pPr marL="0" indent="0">
              <a:buNone/>
            </a:pPr>
            <a:r>
              <a:rPr lang="en-US" dirty="0">
                <a:latin typeface="Courier New" panose="02070309020205020404" pitchFamily="49" charset="0"/>
                <a:cs typeface="Courier New" panose="02070309020205020404" pitchFamily="49" charset="0"/>
              </a:rPr>
              <a:t>    if [ -d "$file" ]</a:t>
            </a:r>
          </a:p>
          <a:p>
            <a:pPr marL="0" indent="0">
              <a:buNone/>
            </a:pPr>
            <a:r>
              <a:rPr lang="en-US" dirty="0">
                <a:latin typeface="Courier New" panose="02070309020205020404" pitchFamily="49" charset="0"/>
                <a:cs typeface="Courier New" panose="02070309020205020404" pitchFamily="49" charset="0"/>
              </a:rPr>
              <a:t>    then</a:t>
            </a:r>
          </a:p>
          <a:p>
            <a:pPr marL="0" indent="0">
              <a:buNone/>
            </a:pPr>
            <a:r>
              <a:rPr lang="en-US" dirty="0">
                <a:latin typeface="Courier New" panose="02070309020205020404" pitchFamily="49" charset="0"/>
                <a:cs typeface="Courier New" panose="02070309020205020404" pitchFamily="49" charset="0"/>
              </a:rPr>
              <a:t>        echo "$(</a:t>
            </a:r>
            <a:r>
              <a:rPr lang="en-US" dirty="0" err="1">
                <a:latin typeface="Courier New" panose="02070309020205020404" pitchFamily="49" charset="0"/>
                <a:cs typeface="Courier New" panose="02070309020205020404" pitchFamily="49" charset="0"/>
              </a:rPr>
              <a:t>basename</a:t>
            </a:r>
            <a:r>
              <a:rPr lang="en-US" dirty="0">
                <a:latin typeface="Courier New" panose="02070309020205020404" pitchFamily="49" charset="0"/>
                <a:cs typeface="Courier New" panose="02070309020205020404" pitchFamily="49" charset="0"/>
              </a:rPr>
              <a:t> $file) is a directory"</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 -f "$file" ]</a:t>
            </a:r>
          </a:p>
          <a:p>
            <a:pPr marL="0" indent="0">
              <a:buNone/>
            </a:pPr>
            <a:r>
              <a:rPr lang="en-US" dirty="0">
                <a:latin typeface="Courier New" panose="02070309020205020404" pitchFamily="49" charset="0"/>
                <a:cs typeface="Courier New" panose="02070309020205020404" pitchFamily="49" charset="0"/>
              </a:rPr>
              <a:t>    then</a:t>
            </a:r>
          </a:p>
          <a:p>
            <a:pPr marL="0" indent="0">
              <a:buNone/>
            </a:pPr>
            <a:r>
              <a:rPr lang="en-US" dirty="0">
                <a:latin typeface="Courier New" panose="02070309020205020404" pitchFamily="49" charset="0"/>
                <a:cs typeface="Courier New" panose="02070309020205020404" pitchFamily="49" charset="0"/>
              </a:rPr>
              <a:t>        echo "$(</a:t>
            </a:r>
            <a:r>
              <a:rPr lang="en-US" dirty="0" err="1">
                <a:latin typeface="Courier New" panose="02070309020205020404" pitchFamily="49" charset="0"/>
                <a:cs typeface="Courier New" panose="02070309020205020404" pitchFamily="49" charset="0"/>
              </a:rPr>
              <a:t>basename</a:t>
            </a:r>
            <a:r>
              <a:rPr lang="en-US" dirty="0">
                <a:latin typeface="Courier New" panose="02070309020205020404" pitchFamily="49" charset="0"/>
                <a:cs typeface="Courier New" panose="02070309020205020404" pitchFamily="49" charset="0"/>
              </a:rPr>
              <a:t> $file) has lines words bytes"</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wc</a:t>
            </a:r>
            <a:r>
              <a:rPr lang="en-US" dirty="0">
                <a:latin typeface="Courier New" panose="02070309020205020404" pitchFamily="49" charset="0"/>
                <a:cs typeface="Courier New" panose="02070309020205020404" pitchFamily="49" charset="0"/>
              </a:rPr>
              <a:t> $file</a:t>
            </a:r>
          </a:p>
          <a:p>
            <a:pPr marL="0" indent="0">
              <a:buNone/>
            </a:pPr>
            <a:r>
              <a:rPr lang="en-US" dirty="0">
                <a:latin typeface="Courier New" panose="02070309020205020404" pitchFamily="49" charset="0"/>
                <a:cs typeface="Courier New" panose="02070309020205020404" pitchFamily="49" charset="0"/>
              </a:rPr>
              <a:t>    fi</a:t>
            </a:r>
          </a:p>
          <a:p>
            <a:pPr marL="0" indent="0">
              <a:buNone/>
            </a:pPr>
            <a:r>
              <a:rPr lang="en-US"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26984035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D315D87-5DAB-4CF7-93FC-E2E02EF68C26}"/>
              </a:ext>
            </a:extLst>
          </p:cNvPr>
          <p:cNvSpPr>
            <a:spLocks noGrp="1"/>
          </p:cNvSpPr>
          <p:nvPr>
            <p:ph type="title"/>
          </p:nvPr>
        </p:nvSpPr>
        <p:spPr/>
        <p:txBody>
          <a:bodyPr/>
          <a:lstStyle/>
          <a:p>
            <a:r>
              <a:rPr lang="en-US" dirty="0"/>
              <a:t>Bash Conditional Execution</a:t>
            </a:r>
          </a:p>
        </p:txBody>
      </p:sp>
      <p:sp>
        <p:nvSpPr>
          <p:cNvPr id="3" name="Sisällön paikkamerkki 2">
            <a:extLst>
              <a:ext uri="{FF2B5EF4-FFF2-40B4-BE49-F238E27FC236}">
                <a16:creationId xmlns:a16="http://schemas.microsoft.com/office/drawing/2014/main" id="{C16445AE-F084-49B8-8166-6A84E6E484DB}"/>
              </a:ext>
            </a:extLst>
          </p:cNvPr>
          <p:cNvSpPr>
            <a:spLocks noGrp="1"/>
          </p:cNvSpPr>
          <p:nvPr>
            <p:ph idx="1"/>
          </p:nvPr>
        </p:nvSpPr>
        <p:spPr>
          <a:xfrm>
            <a:off x="838200" y="1825625"/>
            <a:ext cx="10515600" cy="4667250"/>
          </a:xfrm>
        </p:spPr>
        <p:txBody>
          <a:bodyPr>
            <a:normAutofit fontScale="92500" lnSpcReduction="20000"/>
          </a:bodyPr>
          <a:lstStyle/>
          <a:p>
            <a:r>
              <a:rPr lang="en-US" dirty="0"/>
              <a:t>First &amp;&amp; second execute only if first succeeded</a:t>
            </a:r>
            <a:br>
              <a:rPr lang="en-US" dirty="0"/>
            </a:br>
            <a:r>
              <a:rPr lang="en-US" dirty="0">
                <a:latin typeface="Courier New" panose="02070309020205020404" pitchFamily="49" charset="0"/>
                <a:cs typeface="Courier New" panose="02070309020205020404" pitchFamily="49" charset="0"/>
              </a:rPr>
              <a:t>git commit &amp;&amp; git push</a:t>
            </a:r>
          </a:p>
          <a:p>
            <a:r>
              <a:rPr lang="en-US" dirty="0"/>
              <a:t>First || second executed only if first failed</a:t>
            </a:r>
            <a:br>
              <a:rPr lang="en-US" dirty="0"/>
            </a:br>
            <a:r>
              <a:rPr lang="en-US" dirty="0">
                <a:latin typeface="Courier New" panose="02070309020205020404" pitchFamily="49" charset="0"/>
                <a:cs typeface="Courier New" panose="02070309020205020404" pitchFamily="49" charset="0"/>
              </a:rPr>
              <a:t>git commit || echo "git commit failed"</a:t>
            </a:r>
          </a:p>
          <a:p>
            <a:r>
              <a:rPr lang="en-US" dirty="0"/>
              <a:t>Bash function (cd followed by ls)</a:t>
            </a:r>
          </a:p>
          <a:p>
            <a:pPr marL="0" indent="0">
              <a:buNone/>
            </a:pPr>
            <a:r>
              <a:rPr lang="en-US" dirty="0">
                <a:latin typeface="Courier New" panose="02070309020205020404" pitchFamily="49" charset="0"/>
                <a:cs typeface="Courier New" panose="02070309020205020404" pitchFamily="49" charset="0"/>
              </a:rPr>
              <a:t>function cs () {</a:t>
            </a:r>
          </a:p>
          <a:p>
            <a:pPr marL="0" indent="0">
              <a:buNone/>
            </a:pPr>
            <a:r>
              <a:rPr lang="en-US" dirty="0">
                <a:latin typeface="Courier New" panose="02070309020205020404" pitchFamily="49" charset="0"/>
                <a:cs typeface="Courier New" panose="02070309020205020404" pitchFamily="49" charset="0"/>
              </a:rPr>
              <a:t>    cd "$@" &amp;&amp; ls</a:t>
            </a:r>
          </a:p>
          <a:p>
            <a:pPr marL="0" indent="0">
              <a:buNone/>
            </a:pP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alternative syntax</a:t>
            </a:r>
          </a:p>
          <a:p>
            <a:pPr marL="0" indent="0">
              <a:buNone/>
            </a:pPr>
            <a:r>
              <a:rPr lang="en-US" dirty="0">
                <a:latin typeface="Courier New" panose="02070309020205020404" pitchFamily="49" charset="0"/>
                <a:cs typeface="Courier New" panose="02070309020205020404" pitchFamily="49" charset="0"/>
              </a:rPr>
              <a:t>cs () {</a:t>
            </a:r>
          </a:p>
          <a:p>
            <a:pPr marL="0" indent="0">
              <a:buNone/>
            </a:pPr>
            <a:r>
              <a:rPr lang="en-US" dirty="0">
                <a:latin typeface="Courier New" panose="02070309020205020404" pitchFamily="49" charset="0"/>
                <a:cs typeface="Courier New" panose="02070309020205020404" pitchFamily="49" charset="0"/>
              </a:rPr>
              <a:t>    cd "$@" &amp;&amp; ls</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263141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0CCE385-BD49-4B24-84B6-102D00E0407D}"/>
              </a:ext>
            </a:extLst>
          </p:cNvPr>
          <p:cNvSpPr>
            <a:spLocks noGrp="1"/>
          </p:cNvSpPr>
          <p:nvPr>
            <p:ph type="title"/>
          </p:nvPr>
        </p:nvSpPr>
        <p:spPr/>
        <p:txBody>
          <a:bodyPr/>
          <a:lstStyle/>
          <a:p>
            <a:r>
              <a:rPr lang="en-US" dirty="0"/>
              <a:t>Python Scripting</a:t>
            </a:r>
          </a:p>
        </p:txBody>
      </p:sp>
      <p:sp>
        <p:nvSpPr>
          <p:cNvPr id="3" name="Sisällön paikkamerkki 2">
            <a:extLst>
              <a:ext uri="{FF2B5EF4-FFF2-40B4-BE49-F238E27FC236}">
                <a16:creationId xmlns:a16="http://schemas.microsoft.com/office/drawing/2014/main" id="{ECEC1F9D-3F61-4C05-9905-F8DB3BA30DEB}"/>
              </a:ext>
            </a:extLst>
          </p:cNvPr>
          <p:cNvSpPr>
            <a:spLocks noGrp="1"/>
          </p:cNvSpPr>
          <p:nvPr>
            <p:ph idx="1"/>
          </p:nvPr>
        </p:nvSpPr>
        <p:spPr/>
        <p:txBody>
          <a:bodyPr>
            <a:normAutofit fontScale="92500" lnSpcReduction="10000"/>
          </a:bodyPr>
          <a:lstStyle/>
          <a:p>
            <a:r>
              <a:rPr lang="en-US" dirty="0"/>
              <a:t>Multi-purpose dynamic interpreted programming language invented by Guido van Rossum in 1991.</a:t>
            </a:r>
          </a:p>
          <a:p>
            <a:r>
              <a:rPr lang="en-US" dirty="0"/>
              <a:t>Very easy to learn and code is highly readable.</a:t>
            </a:r>
          </a:p>
          <a:p>
            <a:r>
              <a:rPr lang="en-US" dirty="0"/>
              <a:t>Automatic memory management.</a:t>
            </a:r>
          </a:p>
          <a:p>
            <a:r>
              <a:rPr lang="en-US" dirty="0"/>
              <a:t>Suitable for large and complex software as well. </a:t>
            </a:r>
          </a:p>
          <a:p>
            <a:r>
              <a:rPr lang="en-US" dirty="0"/>
              <a:t>Comes with batteries included = a comprehensive standard library.</a:t>
            </a:r>
          </a:p>
          <a:p>
            <a:r>
              <a:rPr lang="en-US" dirty="0" err="1">
                <a:hlinkClick r:id="rId2"/>
              </a:rPr>
              <a:t>Pypi</a:t>
            </a:r>
            <a:r>
              <a:rPr lang="en-US" dirty="0"/>
              <a:t> has hundreds of thousands of modules available.</a:t>
            </a:r>
          </a:p>
          <a:p>
            <a:r>
              <a:rPr lang="en-US" dirty="0" err="1">
                <a:hlinkClick r:id="rId3"/>
              </a:rPr>
              <a:t>Pypy</a:t>
            </a:r>
            <a:r>
              <a:rPr lang="en-US" dirty="0"/>
              <a:t> offers fast </a:t>
            </a:r>
            <a:r>
              <a:rPr lang="en-US" dirty="0">
                <a:hlinkClick r:id="rId4"/>
              </a:rPr>
              <a:t>JIT</a:t>
            </a:r>
            <a:r>
              <a:rPr lang="en-US" dirty="0"/>
              <a:t> implementation.</a:t>
            </a:r>
          </a:p>
          <a:p>
            <a:r>
              <a:rPr lang="en-US" dirty="0"/>
              <a:t>Useful standard library modules: sys, </a:t>
            </a:r>
            <a:r>
              <a:rPr lang="en-US" dirty="0" err="1"/>
              <a:t>os</a:t>
            </a:r>
            <a:r>
              <a:rPr lang="en-US" dirty="0"/>
              <a:t>, </a:t>
            </a:r>
            <a:r>
              <a:rPr lang="en-US" dirty="0" err="1"/>
              <a:t>os.path</a:t>
            </a:r>
            <a:r>
              <a:rPr lang="en-US" dirty="0"/>
              <a:t>, </a:t>
            </a:r>
            <a:r>
              <a:rPr lang="en-US" dirty="0" err="1"/>
              <a:t>pathlib</a:t>
            </a:r>
            <a:r>
              <a:rPr lang="en-US" dirty="0"/>
              <a:t>, </a:t>
            </a:r>
            <a:r>
              <a:rPr lang="en-US" dirty="0" err="1"/>
              <a:t>fnmatch</a:t>
            </a:r>
            <a:r>
              <a:rPr lang="en-US" dirty="0"/>
              <a:t>, glob, </a:t>
            </a:r>
            <a:r>
              <a:rPr lang="en-US" dirty="0" err="1"/>
              <a:t>tempfile</a:t>
            </a:r>
            <a:r>
              <a:rPr lang="en-US" dirty="0"/>
              <a:t>, </a:t>
            </a:r>
            <a:r>
              <a:rPr lang="en-US" dirty="0" err="1"/>
              <a:t>fileinput</a:t>
            </a:r>
            <a:r>
              <a:rPr lang="en-US" dirty="0"/>
              <a:t>, </a:t>
            </a:r>
            <a:r>
              <a:rPr lang="en-US" dirty="0" err="1"/>
              <a:t>shutil</a:t>
            </a:r>
            <a:r>
              <a:rPr lang="en-US" dirty="0"/>
              <a:t>, </a:t>
            </a:r>
            <a:r>
              <a:rPr lang="en-US" dirty="0" err="1"/>
              <a:t>readline</a:t>
            </a:r>
            <a:r>
              <a:rPr lang="en-US" dirty="0"/>
              <a:t>, </a:t>
            </a:r>
            <a:r>
              <a:rPr lang="en-US" dirty="0" err="1"/>
              <a:t>argparse</a:t>
            </a:r>
            <a:r>
              <a:rPr lang="en-US" dirty="0"/>
              <a:t>, </a:t>
            </a:r>
            <a:r>
              <a:rPr lang="en-US" dirty="0" err="1"/>
              <a:t>getopt</a:t>
            </a:r>
            <a:r>
              <a:rPr lang="en-US" dirty="0"/>
              <a:t>, platform, subprocess</a:t>
            </a:r>
          </a:p>
        </p:txBody>
      </p:sp>
    </p:spTree>
    <p:extLst>
      <p:ext uri="{BB962C8B-B14F-4D97-AF65-F5344CB8AC3E}">
        <p14:creationId xmlns:p14="http://schemas.microsoft.com/office/powerpoint/2010/main" val="14422057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E5C80FA-C67E-4033-873A-4EDAF700CDC1}"/>
              </a:ext>
            </a:extLst>
          </p:cNvPr>
          <p:cNvSpPr>
            <a:spLocks noGrp="1"/>
          </p:cNvSpPr>
          <p:nvPr>
            <p:ph type="title"/>
          </p:nvPr>
        </p:nvSpPr>
        <p:spPr/>
        <p:txBody>
          <a:bodyPr/>
          <a:lstStyle/>
          <a:p>
            <a:r>
              <a:rPr lang="en-US" dirty="0"/>
              <a:t>Python Read Command Line</a:t>
            </a:r>
          </a:p>
        </p:txBody>
      </p:sp>
      <p:sp>
        <p:nvSpPr>
          <p:cNvPr id="3" name="Sisällön paikkamerkki 2">
            <a:extLst>
              <a:ext uri="{FF2B5EF4-FFF2-40B4-BE49-F238E27FC236}">
                <a16:creationId xmlns:a16="http://schemas.microsoft.com/office/drawing/2014/main" id="{3D2561AB-9C85-417F-A52C-96D66F9E6540}"/>
              </a:ext>
            </a:extLst>
          </p:cNvPr>
          <p:cNvSpPr>
            <a:spLocks noGrp="1"/>
          </p:cNvSpPr>
          <p:nvPr>
            <p:ph idx="1"/>
          </p:nvPr>
        </p:nvSpPr>
        <p:spPr/>
        <p:txBody>
          <a:bodyPr>
            <a:normAutofit fontScale="92500" lnSpcReduction="20000"/>
          </a:bodyPr>
          <a:lstStyle/>
          <a:p>
            <a:pPr marL="0" indent="0">
              <a:buNone/>
            </a:pPr>
            <a:r>
              <a:rPr lang="en-US" dirty="0">
                <a:latin typeface="Courier New" panose="02070309020205020404" pitchFamily="49" charset="0"/>
                <a:cs typeface="Courier New" panose="02070309020205020404" pitchFamily="49" charset="0"/>
              </a:rPr>
              <a:t>import sys</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calculates sum of command line arguments</a:t>
            </a:r>
          </a:p>
          <a:p>
            <a:pPr marL="0" indent="0">
              <a:buNone/>
            </a:pPr>
            <a:r>
              <a:rPr lang="en-US" dirty="0">
                <a:latin typeface="Courier New" panose="02070309020205020404" pitchFamily="49" charset="0"/>
                <a:cs typeface="Courier New" panose="02070309020205020404" pitchFamily="49" charset="0"/>
              </a:rPr>
              <a:t>a = []</a:t>
            </a: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 in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    try:</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a.append</a:t>
            </a:r>
            <a:r>
              <a:rPr lang="en-US" dirty="0">
                <a:latin typeface="Courier New" panose="02070309020205020404" pitchFamily="49" charset="0"/>
                <a:cs typeface="Courier New" panose="02070309020205020404" pitchFamily="49" charset="0"/>
              </a:rPr>
              <a:t>(float(</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except </a:t>
            </a:r>
            <a:r>
              <a:rPr lang="en-US" dirty="0" err="1">
                <a:latin typeface="Courier New" panose="02070309020205020404" pitchFamily="49" charset="0"/>
                <a:cs typeface="Courier New" panose="02070309020205020404" pitchFamily="49" charset="0"/>
              </a:rPr>
              <a:t>ValueError</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pass  # ignore non-floating point arguments</a:t>
            </a:r>
          </a:p>
          <a:p>
            <a:pPr marL="0" indent="0">
              <a:buNone/>
            </a:pPr>
            <a:r>
              <a:rPr lang="en-US" dirty="0">
                <a:latin typeface="Courier New" panose="02070309020205020404" pitchFamily="49" charset="0"/>
                <a:cs typeface="Courier New" panose="02070309020205020404" pitchFamily="49" charset="0"/>
              </a:rPr>
              <a:t>print("Sum:", sum(a))</a:t>
            </a:r>
          </a:p>
        </p:txBody>
      </p:sp>
    </p:spTree>
    <p:extLst>
      <p:ext uri="{BB962C8B-B14F-4D97-AF65-F5344CB8AC3E}">
        <p14:creationId xmlns:p14="http://schemas.microsoft.com/office/powerpoint/2010/main" val="19208211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A19459A-972C-4D98-AC46-31D116A0D485}"/>
              </a:ext>
            </a:extLst>
          </p:cNvPr>
          <p:cNvSpPr>
            <a:spLocks noGrp="1"/>
          </p:cNvSpPr>
          <p:nvPr>
            <p:ph type="title"/>
          </p:nvPr>
        </p:nvSpPr>
        <p:spPr/>
        <p:txBody>
          <a:bodyPr/>
          <a:lstStyle/>
          <a:p>
            <a:r>
              <a:rPr lang="en-US" dirty="0"/>
              <a:t>Python Command Line + Call Programs</a:t>
            </a:r>
          </a:p>
        </p:txBody>
      </p:sp>
      <p:sp>
        <p:nvSpPr>
          <p:cNvPr id="3" name="Sisällön paikkamerkki 2">
            <a:extLst>
              <a:ext uri="{FF2B5EF4-FFF2-40B4-BE49-F238E27FC236}">
                <a16:creationId xmlns:a16="http://schemas.microsoft.com/office/drawing/2014/main" id="{AEC4088A-B760-436B-AF16-13C90B3C51FD}"/>
              </a:ext>
            </a:extLst>
          </p:cNvPr>
          <p:cNvSpPr>
            <a:spLocks noGrp="1"/>
          </p:cNvSpPr>
          <p:nvPr>
            <p:ph idx="1"/>
          </p:nvPr>
        </p:nvSpPr>
        <p:spPr/>
        <p:txBody>
          <a:bodyPr/>
          <a:lstStyle/>
          <a:p>
            <a:pPr marL="0" indent="0">
              <a:buNone/>
            </a:pPr>
            <a:r>
              <a:rPr lang="en-US" dirty="0">
                <a:latin typeface="Courier New" panose="02070309020205020404" pitchFamily="49" charset="0"/>
                <a:cs typeface="Courier New" panose="02070309020205020404" pitchFamily="49" charset="0"/>
              </a:rPr>
              <a:t>import sys</a:t>
            </a:r>
          </a:p>
          <a:p>
            <a:pPr marL="0" indent="0">
              <a:buNone/>
            </a:pP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os</a:t>
            </a: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 in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os.spawnlp</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os.P_WAIT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161482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15F401D-A489-45B5-810E-92B89AC0D9BF}"/>
              </a:ext>
            </a:extLst>
          </p:cNvPr>
          <p:cNvSpPr>
            <a:spLocks noGrp="1"/>
          </p:cNvSpPr>
          <p:nvPr>
            <p:ph type="title"/>
          </p:nvPr>
        </p:nvSpPr>
        <p:spPr/>
        <p:txBody>
          <a:bodyPr/>
          <a:lstStyle/>
          <a:p>
            <a:r>
              <a:rPr lang="en-US" dirty="0"/>
              <a:t>Cat Command in Python</a:t>
            </a:r>
          </a:p>
        </p:txBody>
      </p:sp>
      <p:sp>
        <p:nvSpPr>
          <p:cNvPr id="3" name="Sisällön paikkamerkki 2">
            <a:extLst>
              <a:ext uri="{FF2B5EF4-FFF2-40B4-BE49-F238E27FC236}">
                <a16:creationId xmlns:a16="http://schemas.microsoft.com/office/drawing/2014/main" id="{79BF91F7-D342-4E66-AB6B-E0B3A261AF90}"/>
              </a:ext>
            </a:extLst>
          </p:cNvPr>
          <p:cNvSpPr>
            <a:spLocks noGrp="1"/>
          </p:cNvSpPr>
          <p:nvPr>
            <p:ph idx="1"/>
          </p:nvPr>
        </p:nvSpPr>
        <p:spPr/>
        <p:txBody>
          <a:bodyPr/>
          <a:lstStyle/>
          <a:p>
            <a:pPr marL="0" indent="0">
              <a:buNone/>
            </a:pPr>
            <a:r>
              <a:rPr lang="en-US" dirty="0">
                <a:latin typeface="Courier New" panose="02070309020205020404" pitchFamily="49" charset="0"/>
                <a:cs typeface="Courier New" panose="02070309020205020404" pitchFamily="49" charset="0"/>
              </a:rPr>
              <a:t>import sys</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"cat" command accepts multiple arguments</a:t>
            </a: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in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    with open(</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as f:</a:t>
            </a:r>
          </a:p>
          <a:p>
            <a:pPr marL="0" indent="0">
              <a:buNone/>
            </a:pPr>
            <a:r>
              <a:rPr lang="en-US" dirty="0">
                <a:latin typeface="Courier New" panose="02070309020205020404" pitchFamily="49" charset="0"/>
                <a:cs typeface="Courier New" panose="02070309020205020404" pitchFamily="49" charset="0"/>
              </a:rPr>
              <a:t>        for line in f:</a:t>
            </a:r>
          </a:p>
          <a:p>
            <a:pPr marL="0" indent="0">
              <a:buNone/>
            </a:pPr>
            <a:r>
              <a:rPr lang="en-US" dirty="0">
                <a:latin typeface="Courier New" panose="02070309020205020404" pitchFamily="49" charset="0"/>
                <a:cs typeface="Courier New" panose="02070309020205020404" pitchFamily="49" charset="0"/>
              </a:rPr>
              <a:t>            print(line, end="")</a:t>
            </a:r>
          </a:p>
        </p:txBody>
      </p:sp>
    </p:spTree>
    <p:extLst>
      <p:ext uri="{BB962C8B-B14F-4D97-AF65-F5344CB8AC3E}">
        <p14:creationId xmlns:p14="http://schemas.microsoft.com/office/powerpoint/2010/main" val="203821484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ED90479-0D53-4C2F-AA01-E2481C879ECA}"/>
              </a:ext>
            </a:extLst>
          </p:cNvPr>
          <p:cNvSpPr>
            <a:spLocks noGrp="1"/>
          </p:cNvSpPr>
          <p:nvPr>
            <p:ph type="title"/>
          </p:nvPr>
        </p:nvSpPr>
        <p:spPr/>
        <p:txBody>
          <a:bodyPr/>
          <a:lstStyle/>
          <a:p>
            <a:r>
              <a:rPr lang="en-US" dirty="0"/>
              <a:t>More Advanced Argument Parsing in Python</a:t>
            </a:r>
          </a:p>
        </p:txBody>
      </p:sp>
      <p:sp>
        <p:nvSpPr>
          <p:cNvPr id="3" name="Sisällön paikkamerkki 2">
            <a:extLst>
              <a:ext uri="{FF2B5EF4-FFF2-40B4-BE49-F238E27FC236}">
                <a16:creationId xmlns:a16="http://schemas.microsoft.com/office/drawing/2014/main" id="{5EDD444F-9537-4FA2-89DD-321D79BE88BB}"/>
              </a:ext>
            </a:extLst>
          </p:cNvPr>
          <p:cNvSpPr>
            <a:spLocks noGrp="1"/>
          </p:cNvSpPr>
          <p:nvPr>
            <p:ph idx="1"/>
          </p:nvPr>
        </p:nvSpPr>
        <p:spPr/>
        <p:txBody>
          <a:bodyPr>
            <a:normAutofit fontScale="62500" lnSpcReduction="20000"/>
          </a:bodyPr>
          <a:lstStyle/>
          <a:p>
            <a:pPr marL="0" indent="0">
              <a:buNone/>
            </a:pPr>
            <a:r>
              <a:rPr lang="en-US" dirty="0">
                <a:latin typeface="Courier New" panose="02070309020205020404" pitchFamily="49" charset="0"/>
                <a:cs typeface="Courier New" panose="02070309020205020404" pitchFamily="49" charset="0"/>
              </a:rPr>
              <a:t>#!/usr/bin/python3</a:t>
            </a:r>
          </a:p>
          <a:p>
            <a:pPr marL="0" indent="0">
              <a:buNone/>
            </a:pP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argparse</a:t>
            </a: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parser = </a:t>
            </a:r>
            <a:r>
              <a:rPr lang="en-US" dirty="0" err="1">
                <a:latin typeface="Courier New" panose="02070309020205020404" pitchFamily="49" charset="0"/>
                <a:cs typeface="Courier New" panose="02070309020205020404" pitchFamily="49" charset="0"/>
              </a:rPr>
              <a:t>argparse.ArgumentParser</a:t>
            </a:r>
            <a:r>
              <a:rPr lang="en-US" dirty="0">
                <a:latin typeface="Courier New" panose="02070309020205020404" pitchFamily="49" charset="0"/>
                <a:cs typeface="Courier New" panose="02070309020205020404" pitchFamily="49" charset="0"/>
              </a:rPr>
              <a:t>(description='Process some integers.')</a:t>
            </a:r>
          </a:p>
          <a:p>
            <a:pPr marL="0" indent="0">
              <a:buNone/>
            </a:pPr>
            <a:r>
              <a:rPr lang="en-US" dirty="0" err="1">
                <a:latin typeface="Courier New" panose="02070309020205020404" pitchFamily="49" charset="0"/>
                <a:cs typeface="Courier New" panose="02070309020205020404" pitchFamily="49" charset="0"/>
              </a:rPr>
              <a:t>parser.add_argument</a:t>
            </a:r>
            <a:r>
              <a:rPr lang="en-US" dirty="0">
                <a:latin typeface="Courier New" panose="02070309020205020404" pitchFamily="49" charset="0"/>
                <a:cs typeface="Courier New" panose="02070309020205020404" pitchFamily="49" charset="0"/>
              </a:rPr>
              <a:t>('integers', </a:t>
            </a:r>
            <a:r>
              <a:rPr lang="en-US" dirty="0" err="1">
                <a:latin typeface="Courier New" panose="02070309020205020404" pitchFamily="49" charset="0"/>
                <a:cs typeface="Courier New" panose="02070309020205020404" pitchFamily="49" charset="0"/>
              </a:rPr>
              <a:t>metavar</a:t>
            </a:r>
            <a:r>
              <a:rPr lang="en-US" dirty="0">
                <a:latin typeface="Courier New" panose="02070309020205020404" pitchFamily="49" charset="0"/>
                <a:cs typeface="Courier New" panose="02070309020205020404" pitchFamily="49" charset="0"/>
              </a:rPr>
              <a:t>='N', type=int, </a:t>
            </a:r>
            <a:r>
              <a:rPr lang="en-US" dirty="0" err="1">
                <a:latin typeface="Courier New" panose="02070309020205020404" pitchFamily="49" charset="0"/>
                <a:cs typeface="Courier New" panose="02070309020205020404" pitchFamily="49" charset="0"/>
              </a:rPr>
              <a:t>nargs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help='an integer for the accumulator')</a:t>
            </a:r>
          </a:p>
          <a:p>
            <a:pPr marL="0" indent="0">
              <a:buNone/>
            </a:pPr>
            <a:r>
              <a:rPr lang="en-US" dirty="0" err="1">
                <a:latin typeface="Courier New" panose="02070309020205020404" pitchFamily="49" charset="0"/>
                <a:cs typeface="Courier New" panose="02070309020205020404" pitchFamily="49" charset="0"/>
              </a:rPr>
              <a:t>parser.add_argument</a:t>
            </a:r>
            <a:r>
              <a:rPr lang="en-US" dirty="0">
                <a:latin typeface="Courier New" panose="02070309020205020404" pitchFamily="49" charset="0"/>
                <a:cs typeface="Courier New" panose="02070309020205020404" pitchFamily="49" charset="0"/>
              </a:rPr>
              <a:t>('--sum', </a:t>
            </a:r>
            <a:r>
              <a:rPr lang="en-US" dirty="0" err="1">
                <a:latin typeface="Courier New" panose="02070309020205020404" pitchFamily="49" charset="0"/>
                <a:cs typeface="Courier New" panose="02070309020205020404" pitchFamily="49" charset="0"/>
              </a:rPr>
              <a:t>dest</a:t>
            </a:r>
            <a:r>
              <a:rPr lang="en-US" dirty="0">
                <a:latin typeface="Courier New" panose="02070309020205020404" pitchFamily="49" charset="0"/>
                <a:cs typeface="Courier New" panose="02070309020205020404" pitchFamily="49" charset="0"/>
              </a:rPr>
              <a:t>='accumulate', action='</a:t>
            </a:r>
            <a:r>
              <a:rPr lang="en-US" dirty="0" err="1">
                <a:latin typeface="Courier New" panose="02070309020205020404" pitchFamily="49" charset="0"/>
                <a:cs typeface="Courier New" panose="02070309020205020404" pitchFamily="49" charset="0"/>
              </a:rPr>
              <a:t>store_const</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const=sum, default=max,</a:t>
            </a:r>
          </a:p>
          <a:p>
            <a:pPr marL="0" indent="0">
              <a:buNone/>
            </a:pPr>
            <a:r>
              <a:rPr lang="en-US" dirty="0">
                <a:latin typeface="Courier New" panose="02070309020205020404" pitchFamily="49" charset="0"/>
                <a:cs typeface="Courier New" panose="02070309020205020404" pitchFamily="49" charset="0"/>
              </a:rPr>
              <a:t>                    help='sum the integers (default: find the max)')</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parser.parse_args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args.accumulate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args.integers</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685483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268AF46-80FE-4620-9392-8043855E31CA}"/>
              </a:ext>
            </a:extLst>
          </p:cNvPr>
          <p:cNvSpPr>
            <a:spLocks noGrp="1"/>
          </p:cNvSpPr>
          <p:nvPr>
            <p:ph type="title"/>
          </p:nvPr>
        </p:nvSpPr>
        <p:spPr/>
        <p:txBody>
          <a:bodyPr/>
          <a:lstStyle/>
          <a:p>
            <a:r>
              <a:rPr lang="en-US" dirty="0"/>
              <a:t>Using Glob Module in Python</a:t>
            </a:r>
          </a:p>
        </p:txBody>
      </p:sp>
      <p:sp>
        <p:nvSpPr>
          <p:cNvPr id="3" name="Sisällön paikkamerkki 2">
            <a:extLst>
              <a:ext uri="{FF2B5EF4-FFF2-40B4-BE49-F238E27FC236}">
                <a16:creationId xmlns:a16="http://schemas.microsoft.com/office/drawing/2014/main" id="{F7B0435E-F71F-4890-9412-DCD5427191F4}"/>
              </a:ext>
            </a:extLst>
          </p:cNvPr>
          <p:cNvSpPr>
            <a:spLocks noGrp="1"/>
          </p:cNvSpPr>
          <p:nvPr>
            <p:ph idx="1"/>
          </p:nvPr>
        </p:nvSpPr>
        <p:spPr/>
        <p:txBody>
          <a:bodyPr>
            <a:normAutofit fontScale="92500"/>
          </a:bodyPr>
          <a:lstStyle/>
          <a:p>
            <a:pPr marL="0" indent="0">
              <a:buNone/>
            </a:pPr>
            <a:r>
              <a:rPr lang="en-US" dirty="0">
                <a:latin typeface="Courier New" panose="02070309020205020404" pitchFamily="49" charset="0"/>
                <a:cs typeface="Courier New" panose="02070309020205020404" pitchFamily="49" charset="0"/>
              </a:rPr>
              <a:t>#!/usr/bin/python3</a:t>
            </a:r>
          </a:p>
          <a:p>
            <a:pPr marL="0" indent="0">
              <a:buNone/>
            </a:pPr>
            <a:r>
              <a:rPr lang="en-US" dirty="0">
                <a:latin typeface="Courier New" panose="02070309020205020404" pitchFamily="49" charset="0"/>
                <a:cs typeface="Courier New" panose="02070309020205020404" pitchFamily="49" charset="0"/>
              </a:rPr>
              <a:t>import glob</a:t>
            </a:r>
          </a:p>
          <a:p>
            <a:pPr marL="0" indent="0">
              <a:buNone/>
            </a:pPr>
            <a:r>
              <a:rPr lang="en-US" dirty="0">
                <a:latin typeface="Courier New" panose="02070309020205020404" pitchFamily="49" charset="0"/>
                <a:cs typeface="Courier New" panose="02070309020205020404" pitchFamily="49" charset="0"/>
              </a:rPr>
              <a:t>import sys</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ending =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paths = filter(lambda path: </a:t>
            </a:r>
            <a:r>
              <a:rPr lang="en-US" dirty="0" err="1">
                <a:latin typeface="Courier New" panose="02070309020205020404" pitchFamily="49" charset="0"/>
                <a:cs typeface="Courier New" panose="02070309020205020404" pitchFamily="49" charset="0"/>
              </a:rPr>
              <a:t>path.endswith</a:t>
            </a:r>
            <a:r>
              <a:rPr lang="en-US" dirty="0">
                <a:latin typeface="Courier New" panose="02070309020205020404" pitchFamily="49" charset="0"/>
                <a:cs typeface="Courier New" panose="02070309020205020404" pitchFamily="49" charset="0"/>
              </a:rPr>
              <a:t>(ending),</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glob.glob</a:t>
            </a:r>
            <a:r>
              <a:rPr lang="en-US" dirty="0">
                <a:latin typeface="Courier New" panose="02070309020205020404" pitchFamily="49" charset="0"/>
                <a:cs typeface="Courier New" panose="02070309020205020404" pitchFamily="49" charset="0"/>
              </a:rPr>
              <a:t>("**", recursive=True))</a:t>
            </a:r>
          </a:p>
          <a:p>
            <a:pPr marL="0" indent="0">
              <a:buNone/>
            </a:pPr>
            <a:r>
              <a:rPr lang="en-US" dirty="0">
                <a:latin typeface="Courier New" panose="02070309020205020404" pitchFamily="49" charset="0"/>
                <a:cs typeface="Courier New" panose="02070309020205020404" pitchFamily="49" charset="0"/>
              </a:rPr>
              <a:t>for path in paths:</a:t>
            </a:r>
          </a:p>
          <a:p>
            <a:pPr marL="0" indent="0">
              <a:buNone/>
            </a:pPr>
            <a:r>
              <a:rPr lang="en-US" dirty="0">
                <a:latin typeface="Courier New" panose="02070309020205020404" pitchFamily="49" charset="0"/>
                <a:cs typeface="Courier New" panose="02070309020205020404" pitchFamily="49" charset="0"/>
              </a:rPr>
              <a:t>    print(path)</a:t>
            </a:r>
          </a:p>
        </p:txBody>
      </p:sp>
    </p:spTree>
    <p:extLst>
      <p:ext uri="{BB962C8B-B14F-4D97-AF65-F5344CB8AC3E}">
        <p14:creationId xmlns:p14="http://schemas.microsoft.com/office/powerpoint/2010/main" val="25885391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08E9E0F-2F33-42EC-9497-AA6AF1055D4D}"/>
              </a:ext>
            </a:extLst>
          </p:cNvPr>
          <p:cNvSpPr>
            <a:spLocks noGrp="1"/>
          </p:cNvSpPr>
          <p:nvPr>
            <p:ph type="title"/>
          </p:nvPr>
        </p:nvSpPr>
        <p:spPr/>
        <p:txBody>
          <a:bodyPr/>
          <a:lstStyle/>
          <a:p>
            <a:r>
              <a:rPr lang="en-US" dirty="0"/>
              <a:t>Using </a:t>
            </a:r>
            <a:r>
              <a:rPr lang="en-US" dirty="0" err="1"/>
              <a:t>Shutil</a:t>
            </a:r>
            <a:r>
              <a:rPr lang="en-US" dirty="0"/>
              <a:t> in Python</a:t>
            </a:r>
          </a:p>
        </p:txBody>
      </p:sp>
      <p:sp>
        <p:nvSpPr>
          <p:cNvPr id="3" name="Sisällön paikkamerkki 2">
            <a:extLst>
              <a:ext uri="{FF2B5EF4-FFF2-40B4-BE49-F238E27FC236}">
                <a16:creationId xmlns:a16="http://schemas.microsoft.com/office/drawing/2014/main" id="{C6985F14-BA21-4E90-B4A8-37F3BC4D2933}"/>
              </a:ext>
            </a:extLst>
          </p:cNvPr>
          <p:cNvSpPr>
            <a:spLocks noGrp="1"/>
          </p:cNvSpPr>
          <p:nvPr>
            <p:ph idx="1"/>
          </p:nvPr>
        </p:nvSpPr>
        <p:spPr/>
        <p:txBody>
          <a:bodyPr/>
          <a:lstStyle/>
          <a:p>
            <a:pPr marL="0" indent="0">
              <a:buNone/>
            </a:pPr>
            <a:r>
              <a:rPr lang="en-US" dirty="0">
                <a:latin typeface="Courier New" panose="02070309020205020404" pitchFamily="49" charset="0"/>
                <a:cs typeface="Courier New" panose="02070309020205020404" pitchFamily="49" charset="0"/>
              </a:rPr>
              <a:t>#!/usr/bin/python3</a:t>
            </a:r>
          </a:p>
          <a:p>
            <a:pPr marL="0" indent="0">
              <a:buNone/>
            </a:pP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shutil</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import sys</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src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err="1">
                <a:latin typeface="Courier New" panose="02070309020205020404" pitchFamily="49" charset="0"/>
                <a:cs typeface="Courier New" panose="02070309020205020404" pitchFamily="49" charset="0"/>
              </a:rPr>
              <a:t>dst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[2]</a:t>
            </a:r>
          </a:p>
          <a:p>
            <a:pPr marL="0" indent="0">
              <a:buNone/>
            </a:pPr>
            <a:r>
              <a:rPr lang="en-US" dirty="0" err="1">
                <a:latin typeface="Courier New" panose="02070309020205020404" pitchFamily="49" charset="0"/>
                <a:cs typeface="Courier New" panose="02070309020205020404" pitchFamily="49" charset="0"/>
              </a:rPr>
              <a:t>shutil.copytree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src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dst</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35970496"/>
      </p:ext>
    </p:extLst>
  </p:cSld>
  <p:clrMapOvr>
    <a:masterClrMapping/>
  </p:clrMapOvr>
</p:sld>
</file>

<file path=ppt/theme/theme1.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84054</TotalTime>
  <Words>12994</Words>
  <Application>Microsoft Office PowerPoint</Application>
  <PresentationFormat>Laajakuva</PresentationFormat>
  <Paragraphs>1614</Paragraphs>
  <Slides>124</Slides>
  <Notes>0</Notes>
  <HiddenSlides>0</HiddenSlides>
  <MMClips>0</MMClips>
  <ScaleCrop>false</ScaleCrop>
  <HeadingPairs>
    <vt:vector size="6" baseType="variant">
      <vt:variant>
        <vt:lpstr>Käytetyt fontit</vt:lpstr>
      </vt:variant>
      <vt:variant>
        <vt:i4>4</vt:i4>
      </vt:variant>
      <vt:variant>
        <vt:lpstr>Teema</vt:lpstr>
      </vt:variant>
      <vt:variant>
        <vt:i4>1</vt:i4>
      </vt:variant>
      <vt:variant>
        <vt:lpstr>Dian otsikot</vt:lpstr>
      </vt:variant>
      <vt:variant>
        <vt:i4>124</vt:i4>
      </vt:variant>
    </vt:vector>
  </HeadingPairs>
  <TitlesOfParts>
    <vt:vector size="129" baseType="lpstr">
      <vt:lpstr>Arial</vt:lpstr>
      <vt:lpstr>Calibri</vt:lpstr>
      <vt:lpstr>Calibri Light</vt:lpstr>
      <vt:lpstr>Courier New</vt:lpstr>
      <vt:lpstr>Office-teema</vt:lpstr>
      <vt:lpstr>Linux / Unix Administration and Usage</vt:lpstr>
      <vt:lpstr>Contents</vt:lpstr>
      <vt:lpstr>Week #1 - Installing Linux on Azure and Basics</vt:lpstr>
      <vt:lpstr>Week #2 - More Commands and files</vt:lpstr>
      <vt:lpstr>Week #3 - Text editing</vt:lpstr>
      <vt:lpstr>Week #4 - Users, Permissions, File Compression</vt:lpstr>
      <vt:lpstr>Week #5 - Scripting and Programming</vt:lpstr>
      <vt:lpstr>Week #6 - Web Servers and WordPress</vt:lpstr>
      <vt:lpstr>Week #7 - Group Presentations</vt:lpstr>
      <vt:lpstr>Week #8 - Security and Miscellaneous topics</vt:lpstr>
      <vt:lpstr>Passing the Course and Grading</vt:lpstr>
      <vt:lpstr>Operating System</vt:lpstr>
      <vt:lpstr>Linux</vt:lpstr>
      <vt:lpstr>Linux Distributions</vt:lpstr>
      <vt:lpstr>apt - Advanced Package Tool</vt:lpstr>
      <vt:lpstr>Unix / Linux shells</vt:lpstr>
      <vt:lpstr>Bash Command Line Basics</vt:lpstr>
      <vt:lpstr>Bash Shortcuts</vt:lpstr>
      <vt:lpstr>man - interface to online manuals</vt:lpstr>
      <vt:lpstr>Alias - Give an Alias Name to Command</vt:lpstr>
      <vt:lpstr>Customize Bash</vt:lpstr>
      <vt:lpstr>Adding Auto Complete to Bash</vt:lpstr>
      <vt:lpstr>System Maintenance</vt:lpstr>
      <vt:lpstr>Shell Special Characters and file Paths</vt:lpstr>
      <vt:lpstr>cd - Change Directory</vt:lpstr>
      <vt:lpstr>ls - list files</vt:lpstr>
      <vt:lpstr>cp - copy file</vt:lpstr>
      <vt:lpstr>mv - Move/Rename file/folder</vt:lpstr>
      <vt:lpstr>rm - Remove files and Folders</vt:lpstr>
      <vt:lpstr>mkdir - Make Directory</vt:lpstr>
      <vt:lpstr>rmdir - Remove Empty Directories</vt:lpstr>
      <vt:lpstr>cat - Concatenate</vt:lpstr>
      <vt:lpstr>ln - Make Links</vt:lpstr>
      <vt:lpstr>touch - Change file timestamps</vt:lpstr>
      <vt:lpstr>wget - non-interactive network downloader</vt:lpstr>
      <vt:lpstr>curl - Transfer URL</vt:lpstr>
      <vt:lpstr>less - less is more, read a file</vt:lpstr>
      <vt:lpstr>scp - OpenSSH secure file copy</vt:lpstr>
      <vt:lpstr>sftp - Secure file Transfer Protocol</vt:lpstr>
      <vt:lpstr>du - summarize file space usage</vt:lpstr>
      <vt:lpstr>Standard Input, Output, Error, Redirecting and Pipes</vt:lpstr>
      <vt:lpstr>head - output the first parts of file</vt:lpstr>
      <vt:lpstr>od - dump files in octal and other formats</vt:lpstr>
      <vt:lpstr>sed - stream editor for filtering and transforming text</vt:lpstr>
      <vt:lpstr>sort - sort lines of text files</vt:lpstr>
      <vt:lpstr>tr - translate</vt:lpstr>
      <vt:lpstr>tail - output the last parts of file</vt:lpstr>
      <vt:lpstr>uniq - report or omit repeated lines</vt:lpstr>
      <vt:lpstr>kill - send a signal to a process</vt:lpstr>
      <vt:lpstr>ps - report a snapshot of the current processes</vt:lpstr>
      <vt:lpstr>adduser - add a user to the system addgroup - add a new group to the system</vt:lpstr>
      <vt:lpstr>deluser - Remove user</vt:lpstr>
      <vt:lpstr>su - change user ID or become superuser </vt:lpstr>
      <vt:lpstr>passwd - change user password</vt:lpstr>
      <vt:lpstr>chage - change user password expiry information</vt:lpstr>
      <vt:lpstr>usermod -modify a user account</vt:lpstr>
      <vt:lpstr>/etc/passwd format</vt:lpstr>
      <vt:lpstr>/etc/group format</vt:lpstr>
      <vt:lpstr>/etc/sudoers file</vt:lpstr>
      <vt:lpstr>File and Folder Permissions</vt:lpstr>
      <vt:lpstr>Special Permissions Explained</vt:lpstr>
      <vt:lpstr>chmod - change file mode bits</vt:lpstr>
      <vt:lpstr>chmod examples</vt:lpstr>
      <vt:lpstr>chown - change file owner and group</vt:lpstr>
      <vt:lpstr>chgrp - change group ownership</vt:lpstr>
      <vt:lpstr>grep, egrep, fgrep, rgrep - print lines matching a pattern</vt:lpstr>
      <vt:lpstr>Data Compression</vt:lpstr>
      <vt:lpstr>Archive File</vt:lpstr>
      <vt:lpstr>tar - an archiving utility</vt:lpstr>
      <vt:lpstr>gzip, gunzip, zcat - compress or expand files</vt:lpstr>
      <vt:lpstr>zip - package and compress (archive) files unzip - list¨and extract files in a ZIP archive</vt:lpstr>
      <vt:lpstr>bzip2, bunzip2 - a block-sorting file compressor bzcat - decompresses files to stdout</vt:lpstr>
      <vt:lpstr>xz,  unxz,  xzcat, lzma, unlzma, lzcat - Compress or decompress .xz and        .lzma files</vt:lpstr>
      <vt:lpstr>Compression Comparison</vt:lpstr>
      <vt:lpstr>date - print or set the system date and time</vt:lpstr>
      <vt:lpstr>cal - displays a calendar and the date of Easter ncal - new format</vt:lpstr>
      <vt:lpstr>passwd - change user password</vt:lpstr>
      <vt:lpstr>Vim - Vi iMproved - The Default Editor</vt:lpstr>
      <vt:lpstr>PowerPoint-esitys</vt:lpstr>
      <vt:lpstr>Vim Command Line Options</vt:lpstr>
      <vt:lpstr>Normal and Insert mode</vt:lpstr>
      <vt:lpstr>Vim Keyboard Navigation</vt:lpstr>
      <vt:lpstr>Vim Yank (Copy) and Paste and Search</vt:lpstr>
      <vt:lpstr>Commands</vt:lpstr>
      <vt:lpstr>Vim Window Splits, Tabs and Buffers</vt:lpstr>
      <vt:lpstr>Vim Configuration Options</vt:lpstr>
      <vt:lpstr>Gnu Emacs</vt:lpstr>
      <vt:lpstr>Emacs Terminology</vt:lpstr>
      <vt:lpstr>Emacs Command Line</vt:lpstr>
      <vt:lpstr>Emacs Navigation</vt:lpstr>
      <vt:lpstr>Emacs Save, Quit, Menu etc.</vt:lpstr>
      <vt:lpstr>Copy and Paste and Help</vt:lpstr>
      <vt:lpstr>Search and Replace</vt:lpstr>
      <vt:lpstr>Dired - Directory and file Operations</vt:lpstr>
      <vt:lpstr>Emacs and Multiple Windows and Buffers</vt:lpstr>
      <vt:lpstr>Emacs Applications</vt:lpstr>
      <vt:lpstr>Installing web-mode to Emacs</vt:lpstr>
      <vt:lpstr>Web-mode Settings to ~/.emacs.d/init.el</vt:lpstr>
      <vt:lpstr>Web Mode Keyboard Shortcuts</vt:lpstr>
      <vt:lpstr>Alternative Way: Automatic Install (put to this your ~/.emacs.d/init.el)</vt:lpstr>
      <vt:lpstr>Remote and Root Editing Using Tramp mode</vt:lpstr>
      <vt:lpstr>More Information</vt:lpstr>
      <vt:lpstr>C Programming Language</vt:lpstr>
      <vt:lpstr>Advantages and Disadvantages of C</vt:lpstr>
      <vt:lpstr>Gcc and C / C++ compilation process</vt:lpstr>
      <vt:lpstr>C Compilation Process in More Detail</vt:lpstr>
      <vt:lpstr>Example Library C (.h) and Header File (.h)</vt:lpstr>
      <vt:lpstr>Example Main File</vt:lpstr>
      <vt:lpstr>Makefile</vt:lpstr>
      <vt:lpstr>Example Makefile</vt:lpstr>
      <vt:lpstr>Bash Scripting</vt:lpstr>
      <vt:lpstr>Bash While Example</vt:lpstr>
      <vt:lpstr>Bash Reading Command Line</vt:lpstr>
      <vt:lpstr>Bash Command Line and Arithmetic</vt:lpstr>
      <vt:lpstr>Bash If Example</vt:lpstr>
      <vt:lpstr>Bash Processing Files and Folders</vt:lpstr>
      <vt:lpstr>Bash Conditional Execution</vt:lpstr>
      <vt:lpstr>Python Scripting</vt:lpstr>
      <vt:lpstr>Python Read Command Line</vt:lpstr>
      <vt:lpstr>Python Command Line + Call Programs</vt:lpstr>
      <vt:lpstr>Cat Command in Python</vt:lpstr>
      <vt:lpstr>More Advanced Argument Parsing in Python</vt:lpstr>
      <vt:lpstr>Using Glob Module in Python</vt:lpstr>
      <vt:lpstr>Using Shutil in Python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 Unix Administration and Usage</dc:title>
  <dc:creator>Petri Kuittinen</dc:creator>
  <cp:lastModifiedBy>Petri Kuittinen</cp:lastModifiedBy>
  <cp:revision>429</cp:revision>
  <dcterms:created xsi:type="dcterms:W3CDTF">2019-10-15T07:32:52Z</dcterms:created>
  <dcterms:modified xsi:type="dcterms:W3CDTF">2021-04-01T10:45:41Z</dcterms:modified>
</cp:coreProperties>
</file>