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8"/>
  </p:notesMasterIdLst>
  <p:handoutMasterIdLst>
    <p:handoutMasterId r:id="rId149"/>
  </p:handoutMasterIdLst>
  <p:sldIdLst>
    <p:sldId id="257" r:id="rId5"/>
    <p:sldId id="268" r:id="rId6"/>
    <p:sldId id="274" r:id="rId7"/>
    <p:sldId id="275" r:id="rId8"/>
    <p:sldId id="273" r:id="rId9"/>
    <p:sldId id="272" r:id="rId10"/>
    <p:sldId id="281" r:id="rId11"/>
    <p:sldId id="282" r:id="rId12"/>
    <p:sldId id="279" r:id="rId13"/>
    <p:sldId id="280" r:id="rId14"/>
    <p:sldId id="285" r:id="rId15"/>
    <p:sldId id="286" r:id="rId16"/>
    <p:sldId id="283" r:id="rId17"/>
    <p:sldId id="284" r:id="rId18"/>
    <p:sldId id="294" r:id="rId19"/>
    <p:sldId id="295" r:id="rId20"/>
    <p:sldId id="296" r:id="rId21"/>
    <p:sldId id="298" r:id="rId22"/>
    <p:sldId id="299" r:id="rId23"/>
    <p:sldId id="378" r:id="rId24"/>
    <p:sldId id="379" r:id="rId25"/>
    <p:sldId id="300" r:id="rId26"/>
    <p:sldId id="334" r:id="rId27"/>
    <p:sldId id="302" r:id="rId28"/>
    <p:sldId id="380" r:id="rId29"/>
    <p:sldId id="303" r:id="rId30"/>
    <p:sldId id="304" r:id="rId31"/>
    <p:sldId id="381" r:id="rId32"/>
    <p:sldId id="305" r:id="rId33"/>
    <p:sldId id="314" r:id="rId34"/>
    <p:sldId id="312" r:id="rId35"/>
    <p:sldId id="313" r:id="rId36"/>
    <p:sldId id="382" r:id="rId37"/>
    <p:sldId id="374" r:id="rId38"/>
    <p:sldId id="375" r:id="rId39"/>
    <p:sldId id="308" r:id="rId40"/>
    <p:sldId id="309" r:id="rId41"/>
    <p:sldId id="315" r:id="rId42"/>
    <p:sldId id="384" r:id="rId43"/>
    <p:sldId id="297" r:id="rId44"/>
    <p:sldId id="306" r:id="rId45"/>
    <p:sldId id="307" r:id="rId46"/>
    <p:sldId id="292" r:id="rId47"/>
    <p:sldId id="291" r:id="rId48"/>
    <p:sldId id="276" r:id="rId49"/>
    <p:sldId id="277" r:id="rId50"/>
    <p:sldId id="383" r:id="rId51"/>
    <p:sldId id="278" r:id="rId52"/>
    <p:sldId id="287" r:id="rId53"/>
    <p:sldId id="288" r:id="rId54"/>
    <p:sldId id="385" r:id="rId55"/>
    <p:sldId id="289" r:id="rId56"/>
    <p:sldId id="386" r:id="rId57"/>
    <p:sldId id="293" r:id="rId58"/>
    <p:sldId id="323" r:id="rId59"/>
    <p:sldId id="290" r:id="rId60"/>
    <p:sldId id="310" r:id="rId61"/>
    <p:sldId id="316" r:id="rId62"/>
    <p:sldId id="324" r:id="rId63"/>
    <p:sldId id="317" r:id="rId64"/>
    <p:sldId id="318" r:id="rId65"/>
    <p:sldId id="320" r:id="rId66"/>
    <p:sldId id="321" r:id="rId67"/>
    <p:sldId id="311" r:id="rId68"/>
    <p:sldId id="387" r:id="rId69"/>
    <p:sldId id="322" r:id="rId70"/>
    <p:sldId id="319" r:id="rId71"/>
    <p:sldId id="325" r:id="rId72"/>
    <p:sldId id="329" r:id="rId73"/>
    <p:sldId id="335" r:id="rId74"/>
    <p:sldId id="330" r:id="rId75"/>
    <p:sldId id="331" r:id="rId76"/>
    <p:sldId id="332" r:id="rId77"/>
    <p:sldId id="333" r:id="rId78"/>
    <p:sldId id="391" r:id="rId79"/>
    <p:sldId id="343" r:id="rId80"/>
    <p:sldId id="342" r:id="rId81"/>
    <p:sldId id="349" r:id="rId82"/>
    <p:sldId id="376" r:id="rId83"/>
    <p:sldId id="377" r:id="rId84"/>
    <p:sldId id="395" r:id="rId85"/>
    <p:sldId id="394" r:id="rId86"/>
    <p:sldId id="393" r:id="rId87"/>
    <p:sldId id="392" r:id="rId88"/>
    <p:sldId id="396" r:id="rId89"/>
    <p:sldId id="344" r:id="rId90"/>
    <p:sldId id="345" r:id="rId91"/>
    <p:sldId id="346" r:id="rId92"/>
    <p:sldId id="347" r:id="rId93"/>
    <p:sldId id="390" r:id="rId94"/>
    <p:sldId id="404" r:id="rId95"/>
    <p:sldId id="389" r:id="rId96"/>
    <p:sldId id="326" r:id="rId97"/>
    <p:sldId id="403" r:id="rId98"/>
    <p:sldId id="327" r:id="rId99"/>
    <p:sldId id="328" r:id="rId100"/>
    <p:sldId id="399" r:id="rId101"/>
    <p:sldId id="400" r:id="rId102"/>
    <p:sldId id="397" r:id="rId103"/>
    <p:sldId id="398" r:id="rId104"/>
    <p:sldId id="402" r:id="rId105"/>
    <p:sldId id="401" r:id="rId106"/>
    <p:sldId id="348" r:id="rId107"/>
    <p:sldId id="350" r:id="rId108"/>
    <p:sldId id="351" r:id="rId109"/>
    <p:sldId id="352" r:id="rId110"/>
    <p:sldId id="353" r:id="rId111"/>
    <p:sldId id="354" r:id="rId112"/>
    <p:sldId id="355" r:id="rId113"/>
    <p:sldId id="356" r:id="rId114"/>
    <p:sldId id="339" r:id="rId115"/>
    <p:sldId id="340" r:id="rId116"/>
    <p:sldId id="341" r:id="rId117"/>
    <p:sldId id="357" r:id="rId118"/>
    <p:sldId id="359" r:id="rId119"/>
    <p:sldId id="358" r:id="rId120"/>
    <p:sldId id="360" r:id="rId121"/>
    <p:sldId id="361" r:id="rId122"/>
    <p:sldId id="370" r:id="rId123"/>
    <p:sldId id="371" r:id="rId124"/>
    <p:sldId id="364" r:id="rId125"/>
    <p:sldId id="362" r:id="rId126"/>
    <p:sldId id="363" r:id="rId127"/>
    <p:sldId id="365" r:id="rId128"/>
    <p:sldId id="366" r:id="rId129"/>
    <p:sldId id="368" r:id="rId130"/>
    <p:sldId id="369" r:id="rId131"/>
    <p:sldId id="336" r:id="rId132"/>
    <p:sldId id="338" r:id="rId133"/>
    <p:sldId id="337" r:id="rId134"/>
    <p:sldId id="367" r:id="rId135"/>
    <p:sldId id="372" r:id="rId136"/>
    <p:sldId id="373" r:id="rId137"/>
    <p:sldId id="405" r:id="rId138"/>
    <p:sldId id="406" r:id="rId139"/>
    <p:sldId id="407" r:id="rId140"/>
    <p:sldId id="408" r:id="rId141"/>
    <p:sldId id="409" r:id="rId142"/>
    <p:sldId id="410" r:id="rId143"/>
    <p:sldId id="411" r:id="rId144"/>
    <p:sldId id="413" r:id="rId145"/>
    <p:sldId id="412" r:id="rId146"/>
    <p:sldId id="388" r:id="rId147"/>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811D"/>
    <a:srgbClr val="718412"/>
    <a:srgbClr val="394404"/>
    <a:srgbClr val="5F6F0F"/>
    <a:srgbClr val="65741A"/>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p:cViewPr varScale="1">
        <p:scale>
          <a:sx n="113" d="100"/>
          <a:sy n="113" d="100"/>
        </p:scale>
        <p:origin x="456" y="102"/>
      </p:cViewPr>
      <p:guideLst>
        <p:guide orient="horz" pos="2160"/>
        <p:guide pos="3839"/>
      </p:guideLst>
    </p:cSldViewPr>
  </p:slideViewPr>
  <p:outlineViewPr>
    <p:cViewPr>
      <p:scale>
        <a:sx n="33" d="100"/>
        <a:sy n="33" d="100"/>
      </p:scale>
      <p:origin x="0" y="-114090"/>
    </p:cViewPr>
  </p:outlineViewPr>
  <p:notesTextViewPr>
    <p:cViewPr>
      <p:scale>
        <a:sx n="1" d="1"/>
        <a:sy n="1" d="1"/>
      </p:scale>
      <p:origin x="0" y="0"/>
    </p:cViewPr>
  </p:notesTextViewPr>
  <p:sorterViewPr>
    <p:cViewPr>
      <p:scale>
        <a:sx n="100" d="100"/>
        <a:sy n="100" d="100"/>
      </p:scale>
      <p:origin x="0" y="-7290"/>
    </p:cViewPr>
  </p:sorter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handoutMaster" Target="handoutMasters/handoutMaster1.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50" Type="http://schemas.openxmlformats.org/officeDocument/2006/relationships/presProps" Target="presProps.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viewProps" Target="view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tableStyles" Target="tableStyle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s>
</file>

<file path=ppt/diagrams/_rels/data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image" Target="../media/image1.jpg"/><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image" Target="../media/image1.jpg"/><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29D9B5-106B-4010-8BFF-5A6B079E8220}" type="doc">
      <dgm:prSet loTypeId="urn:microsoft.com/office/officeart/2009/layout/CirclePictureHierarchy" loCatId="hierarchy" qsTypeId="urn:microsoft.com/office/officeart/2005/8/quickstyle/simple1" qsCatId="simple" csTypeId="urn:microsoft.com/office/officeart/2005/8/colors/accent1_2" csCatId="accent1" phldr="1"/>
      <dgm:spPr/>
      <dgm:t>
        <a:bodyPr/>
        <a:lstStyle/>
        <a:p>
          <a:endParaRPr lang="fi-FI"/>
        </a:p>
      </dgm:t>
    </dgm:pt>
    <dgm:pt modelId="{B06620B3-A6C4-4713-A5BF-1106DD3B51D3}">
      <dgm:prSet phldrT="[Teksti]"/>
      <dgm:spPr/>
      <dgm:t>
        <a:bodyPr/>
        <a:lstStyle/>
        <a:p>
          <a:r>
            <a:rPr lang="en-US" noProof="0" dirty="0"/>
            <a:t>Base</a:t>
          </a:r>
        </a:p>
      </dgm:t>
    </dgm:pt>
    <dgm:pt modelId="{68831EB5-92D4-4FA6-AFDD-D7C608D852B8}" type="parTrans" cxnId="{70AE361D-37FC-42D0-9F37-513E2697F4E4}">
      <dgm:prSet/>
      <dgm:spPr/>
      <dgm:t>
        <a:bodyPr/>
        <a:lstStyle/>
        <a:p>
          <a:endParaRPr lang="fi-FI"/>
        </a:p>
      </dgm:t>
    </dgm:pt>
    <dgm:pt modelId="{5C738350-9DD1-43D5-A183-E56CDAC9EFA9}" type="sibTrans" cxnId="{70AE361D-37FC-42D0-9F37-513E2697F4E4}">
      <dgm:prSet/>
      <dgm:spPr/>
      <dgm:t>
        <a:bodyPr/>
        <a:lstStyle/>
        <a:p>
          <a:endParaRPr lang="fi-FI"/>
        </a:p>
      </dgm:t>
    </dgm:pt>
    <dgm:pt modelId="{EFE08DDE-A2B5-4826-99FD-CB4D1B308E88}">
      <dgm:prSet phldrT="[Teksti]"/>
      <dgm:spPr/>
      <dgm:t>
        <a:bodyPr/>
        <a:lstStyle/>
        <a:p>
          <a:r>
            <a:rPr lang="en-US" noProof="0" dirty="0"/>
            <a:t>Parent</a:t>
          </a:r>
        </a:p>
      </dgm:t>
    </dgm:pt>
    <dgm:pt modelId="{F5900FED-FA40-4554-9386-9582730D5E0F}" type="parTrans" cxnId="{E0A534EC-4001-4EAE-A3FE-8B4E0E56B9E8}">
      <dgm:prSet/>
      <dgm:spPr/>
      <dgm:t>
        <a:bodyPr/>
        <a:lstStyle/>
        <a:p>
          <a:endParaRPr lang="fi-FI"/>
        </a:p>
      </dgm:t>
    </dgm:pt>
    <dgm:pt modelId="{CEA81257-D298-4927-9CBD-029704BE19EE}" type="sibTrans" cxnId="{E0A534EC-4001-4EAE-A3FE-8B4E0E56B9E8}">
      <dgm:prSet/>
      <dgm:spPr/>
      <dgm:t>
        <a:bodyPr/>
        <a:lstStyle/>
        <a:p>
          <a:endParaRPr lang="fi-FI"/>
        </a:p>
      </dgm:t>
    </dgm:pt>
    <dgm:pt modelId="{E99A99E1-94EE-4C6D-B03C-661D69F7B154}">
      <dgm:prSet phldrT="[Teksti]"/>
      <dgm:spPr/>
      <dgm:t>
        <a:bodyPr/>
        <a:lstStyle/>
        <a:p>
          <a:r>
            <a:rPr lang="fi-FI" dirty="0"/>
            <a:t>Child</a:t>
          </a:r>
        </a:p>
      </dgm:t>
    </dgm:pt>
    <dgm:pt modelId="{9BCC0EDC-06B9-4889-9735-4C2C94ECC07D}" type="parTrans" cxnId="{5989AAF0-732A-49AF-AAD6-7703FC8144CE}">
      <dgm:prSet/>
      <dgm:spPr/>
      <dgm:t>
        <a:bodyPr/>
        <a:lstStyle/>
        <a:p>
          <a:endParaRPr lang="fi-FI"/>
        </a:p>
      </dgm:t>
    </dgm:pt>
    <dgm:pt modelId="{B30BF3D8-3F23-4A0F-9156-CBCB1EB3F02D}" type="sibTrans" cxnId="{5989AAF0-732A-49AF-AAD6-7703FC8144CE}">
      <dgm:prSet/>
      <dgm:spPr/>
      <dgm:t>
        <a:bodyPr/>
        <a:lstStyle/>
        <a:p>
          <a:endParaRPr lang="fi-FI"/>
        </a:p>
      </dgm:t>
    </dgm:pt>
    <dgm:pt modelId="{428701E6-7D0E-4EA0-BE50-4D6EE8FC12D0}">
      <dgm:prSet phldrT="[Teksti]"/>
      <dgm:spPr/>
      <dgm:t>
        <a:bodyPr/>
        <a:lstStyle/>
        <a:p>
          <a:r>
            <a:rPr lang="fi-FI" dirty="0"/>
            <a:t>Child</a:t>
          </a:r>
        </a:p>
      </dgm:t>
    </dgm:pt>
    <dgm:pt modelId="{FF2DFE7C-31DE-4096-84D1-5198C0B62710}" type="parTrans" cxnId="{FFAA30BC-F523-49FB-B5E1-BDC048A131A6}">
      <dgm:prSet/>
      <dgm:spPr/>
      <dgm:t>
        <a:bodyPr/>
        <a:lstStyle/>
        <a:p>
          <a:endParaRPr lang="fi-FI"/>
        </a:p>
      </dgm:t>
    </dgm:pt>
    <dgm:pt modelId="{C0BFCEA7-0FB4-4CFB-984C-6C0CF516B7F0}" type="sibTrans" cxnId="{FFAA30BC-F523-49FB-B5E1-BDC048A131A6}">
      <dgm:prSet/>
      <dgm:spPr/>
      <dgm:t>
        <a:bodyPr/>
        <a:lstStyle/>
        <a:p>
          <a:endParaRPr lang="fi-FI"/>
        </a:p>
      </dgm:t>
    </dgm:pt>
    <dgm:pt modelId="{7B1EC9C8-0FAC-412B-849F-AB508AD25C92}">
      <dgm:prSet phldrT="[Teksti]"/>
      <dgm:spPr/>
      <dgm:t>
        <a:bodyPr/>
        <a:lstStyle/>
        <a:p>
          <a:r>
            <a:rPr lang="en-US" noProof="0" dirty="0"/>
            <a:t>Parent</a:t>
          </a:r>
        </a:p>
      </dgm:t>
    </dgm:pt>
    <dgm:pt modelId="{AC058B2D-E1E1-429B-B6D8-0BFCA8BB268C}" type="parTrans" cxnId="{2FECC322-83A7-47C4-8DF3-44F87D6853D5}">
      <dgm:prSet/>
      <dgm:spPr/>
      <dgm:t>
        <a:bodyPr/>
        <a:lstStyle/>
        <a:p>
          <a:endParaRPr lang="fi-FI"/>
        </a:p>
      </dgm:t>
    </dgm:pt>
    <dgm:pt modelId="{0B55A224-8AE4-40D2-AA3A-C11302E2E8AE}" type="sibTrans" cxnId="{2FECC322-83A7-47C4-8DF3-44F87D6853D5}">
      <dgm:prSet/>
      <dgm:spPr/>
      <dgm:t>
        <a:bodyPr/>
        <a:lstStyle/>
        <a:p>
          <a:endParaRPr lang="fi-FI"/>
        </a:p>
      </dgm:t>
    </dgm:pt>
    <dgm:pt modelId="{B7767341-803D-47EF-98D2-C653D739E8CB}">
      <dgm:prSet phldrT="[Teksti]"/>
      <dgm:spPr/>
      <dgm:t>
        <a:bodyPr/>
        <a:lstStyle/>
        <a:p>
          <a:r>
            <a:rPr lang="fi-FI" dirty="0"/>
            <a:t>Child</a:t>
          </a:r>
        </a:p>
      </dgm:t>
    </dgm:pt>
    <dgm:pt modelId="{53C4A1B5-F6B1-4F4E-9349-DC511440B263}" type="parTrans" cxnId="{E31F44BB-3334-4878-A916-B3F8BDB25CA2}">
      <dgm:prSet/>
      <dgm:spPr/>
      <dgm:t>
        <a:bodyPr/>
        <a:lstStyle/>
        <a:p>
          <a:endParaRPr lang="fi-FI"/>
        </a:p>
      </dgm:t>
    </dgm:pt>
    <dgm:pt modelId="{65AD3CD2-D559-4FC1-8830-19DC9D36EFDC}" type="sibTrans" cxnId="{E31F44BB-3334-4878-A916-B3F8BDB25CA2}">
      <dgm:prSet/>
      <dgm:spPr/>
      <dgm:t>
        <a:bodyPr/>
        <a:lstStyle/>
        <a:p>
          <a:endParaRPr lang="fi-FI"/>
        </a:p>
      </dgm:t>
    </dgm:pt>
    <dgm:pt modelId="{CD0DE99B-32BC-43F4-9E2A-06B973C56A09}" type="pres">
      <dgm:prSet presAssocID="{8D29D9B5-106B-4010-8BFF-5A6B079E8220}" presName="hierChild1" presStyleCnt="0">
        <dgm:presLayoutVars>
          <dgm:chPref val="1"/>
          <dgm:dir/>
          <dgm:animOne val="branch"/>
          <dgm:animLvl val="lvl"/>
          <dgm:resizeHandles/>
        </dgm:presLayoutVars>
      </dgm:prSet>
      <dgm:spPr/>
    </dgm:pt>
    <dgm:pt modelId="{9C704749-999B-4073-89B9-C4E3D9FF8260}" type="pres">
      <dgm:prSet presAssocID="{B06620B3-A6C4-4713-A5BF-1106DD3B51D3}" presName="hierRoot1" presStyleCnt="0"/>
      <dgm:spPr/>
    </dgm:pt>
    <dgm:pt modelId="{CC372464-A904-48A7-AAB1-EC6FC744E4C8}" type="pres">
      <dgm:prSet presAssocID="{B06620B3-A6C4-4713-A5BF-1106DD3B51D3}" presName="composite" presStyleCnt="0"/>
      <dgm:spPr/>
    </dgm:pt>
    <dgm:pt modelId="{460AC253-15D3-419E-AC01-30302483814A}" type="pres">
      <dgm:prSet presAssocID="{B06620B3-A6C4-4713-A5BF-1106DD3B51D3}" presName="image" presStyleLbl="node0" presStyleIdx="0" presStyleCnt="1" custLinFactY="-14549" custLinFactNeighborX="592" custLinFactNeighborY="-100000"/>
      <dgm:spPr>
        <a:blipFill>
          <a:blip xmlns:r="http://schemas.openxmlformats.org/officeDocument/2006/relationships" r:embed="rId1"/>
          <a:srcRect/>
          <a:stretch>
            <a:fillRect l="-25000" r="-25000"/>
          </a:stretch>
        </a:blipFill>
      </dgm:spPr>
      <dgm:extLst>
        <a:ext uri="{E40237B7-FDA0-4F09-8148-C483321AD2D9}">
          <dgm14:cNvPr xmlns:dgm14="http://schemas.microsoft.com/office/drawing/2010/diagram" id="0" name="" descr="Harmaa orava puussa ja vihreä, sumea tausta"/>
        </a:ext>
      </dgm:extLst>
    </dgm:pt>
    <dgm:pt modelId="{52484CEA-72BE-4849-BD65-4D4B528DDE9C}" type="pres">
      <dgm:prSet presAssocID="{B06620B3-A6C4-4713-A5BF-1106DD3B51D3}" presName="text" presStyleLbl="revTx" presStyleIdx="0" presStyleCnt="6" custLinFactY="-14300" custLinFactNeighborX="16913" custLinFactNeighborY="-100000">
        <dgm:presLayoutVars>
          <dgm:chPref val="3"/>
        </dgm:presLayoutVars>
      </dgm:prSet>
      <dgm:spPr/>
    </dgm:pt>
    <dgm:pt modelId="{2BC0F546-16EF-41F9-B415-EFEA5D1CE2E5}" type="pres">
      <dgm:prSet presAssocID="{B06620B3-A6C4-4713-A5BF-1106DD3B51D3}" presName="hierChild2" presStyleCnt="0"/>
      <dgm:spPr/>
    </dgm:pt>
    <dgm:pt modelId="{EE61C222-B9AF-4337-95FF-FE2A8FEB3AB6}" type="pres">
      <dgm:prSet presAssocID="{F5900FED-FA40-4554-9386-9582730D5E0F}" presName="Name10" presStyleLbl="parChTrans1D2" presStyleIdx="0" presStyleCnt="2"/>
      <dgm:spPr/>
    </dgm:pt>
    <dgm:pt modelId="{324152D7-A10F-4B4A-BD50-7A109360ED58}" type="pres">
      <dgm:prSet presAssocID="{EFE08DDE-A2B5-4826-99FD-CB4D1B308E88}" presName="hierRoot2" presStyleCnt="0"/>
      <dgm:spPr/>
    </dgm:pt>
    <dgm:pt modelId="{22620C4F-2DE4-43B7-AA1C-6D9505F6B1A1}" type="pres">
      <dgm:prSet presAssocID="{EFE08DDE-A2B5-4826-99FD-CB4D1B308E88}" presName="composite2" presStyleCnt="0"/>
      <dgm:spPr/>
    </dgm:pt>
    <dgm:pt modelId="{4DC2D1A2-896B-4C7E-83A4-A4FA3842909B}" type="pres">
      <dgm:prSet presAssocID="{EFE08DDE-A2B5-4826-99FD-CB4D1B308E88}" presName="image2" presStyleLbl="node2" presStyleIdx="0" presStyleCnt="2" custLinFactNeighborX="2661" custLinFactNeighborY="-41869"/>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25000" r="-25000"/>
          </a:stretch>
        </a:blipFill>
      </dgm:spPr>
      <dgm:extLst>
        <a:ext uri="{E40237B7-FDA0-4F09-8148-C483321AD2D9}">
          <dgm14:cNvPr xmlns:dgm14="http://schemas.microsoft.com/office/drawing/2010/diagram" id="0" name="" descr="Mandrillin kasvot"/>
        </a:ext>
      </dgm:extLst>
    </dgm:pt>
    <dgm:pt modelId="{1F63F02F-296F-433D-BC1C-359E810C2BFE}" type="pres">
      <dgm:prSet presAssocID="{EFE08DDE-A2B5-4826-99FD-CB4D1B308E88}" presName="text2" presStyleLbl="revTx" presStyleIdx="1" presStyleCnt="6" custLinFactNeighborX="18292" custLinFactNeighborY="-26198">
        <dgm:presLayoutVars>
          <dgm:chPref val="3"/>
        </dgm:presLayoutVars>
      </dgm:prSet>
      <dgm:spPr/>
    </dgm:pt>
    <dgm:pt modelId="{CE678608-5121-4D00-BEFE-71C83979543D}" type="pres">
      <dgm:prSet presAssocID="{EFE08DDE-A2B5-4826-99FD-CB4D1B308E88}" presName="hierChild3" presStyleCnt="0"/>
      <dgm:spPr/>
    </dgm:pt>
    <dgm:pt modelId="{BFCB8023-EA10-4058-9EA3-6D5BB009C038}" type="pres">
      <dgm:prSet presAssocID="{9BCC0EDC-06B9-4889-9735-4C2C94ECC07D}" presName="Name17" presStyleLbl="parChTrans1D3" presStyleIdx="0" presStyleCnt="3"/>
      <dgm:spPr/>
    </dgm:pt>
    <dgm:pt modelId="{99579222-A3A5-42E2-9756-6988B561DA89}" type="pres">
      <dgm:prSet presAssocID="{E99A99E1-94EE-4C6D-B03C-661D69F7B154}" presName="hierRoot3" presStyleCnt="0"/>
      <dgm:spPr/>
    </dgm:pt>
    <dgm:pt modelId="{83A97D86-1539-4808-A442-59B86CFBCDFF}" type="pres">
      <dgm:prSet presAssocID="{E99A99E1-94EE-4C6D-B03C-661D69F7B154}" presName="composite3" presStyleCnt="0"/>
      <dgm:spPr/>
    </dgm:pt>
    <dgm:pt modelId="{B6AF3447-E03D-4BEB-9AF8-6270D1373604}" type="pres">
      <dgm:prSet presAssocID="{E99A99E1-94EE-4C6D-B03C-661D69F7B154}" presName="image3" presStyleLbl="node3" presStyleIdx="0" presStyleCnt="3" custLinFactNeighborX="4040" custLinFactNeighborY="64843"/>
      <dgm:spPr>
        <a:blipFill>
          <a:blip xmlns:r="http://schemas.openxmlformats.org/officeDocument/2006/relationships" r:embed="rId3"/>
          <a:srcRect/>
          <a:stretch>
            <a:fillRect l="-39000" r="-39000"/>
          </a:stretch>
        </a:blipFill>
      </dgm:spPr>
      <dgm:extLst>
        <a:ext uri="{E40237B7-FDA0-4F09-8148-C483321AD2D9}">
          <dgm14:cNvPr xmlns:dgm14="http://schemas.microsoft.com/office/drawing/2010/diagram" id="0" name="" descr="Simpanssi lepäämässä"/>
        </a:ext>
      </dgm:extLst>
    </dgm:pt>
    <dgm:pt modelId="{6B85D069-E315-4FC2-8951-22A8112BA649}" type="pres">
      <dgm:prSet presAssocID="{E99A99E1-94EE-4C6D-B03C-661D69F7B154}" presName="text3" presStyleLbl="revTx" presStyleIdx="2" presStyleCnt="6" custLinFactNeighborX="4087" custLinFactNeighborY="76436">
        <dgm:presLayoutVars>
          <dgm:chPref val="3"/>
        </dgm:presLayoutVars>
      </dgm:prSet>
      <dgm:spPr/>
    </dgm:pt>
    <dgm:pt modelId="{D71D88E4-0B71-4E7E-8997-EFA725F6C627}" type="pres">
      <dgm:prSet presAssocID="{E99A99E1-94EE-4C6D-B03C-661D69F7B154}" presName="hierChild4" presStyleCnt="0"/>
      <dgm:spPr/>
    </dgm:pt>
    <dgm:pt modelId="{DA31DD00-799F-4155-B331-BB4E4227B9D0}" type="pres">
      <dgm:prSet presAssocID="{FF2DFE7C-31DE-4096-84D1-5198C0B62710}" presName="Name17" presStyleLbl="parChTrans1D3" presStyleIdx="1" presStyleCnt="3"/>
      <dgm:spPr/>
    </dgm:pt>
    <dgm:pt modelId="{EC5295E3-ECCA-4279-8BC1-0BEE9232FE06}" type="pres">
      <dgm:prSet presAssocID="{428701E6-7D0E-4EA0-BE50-4D6EE8FC12D0}" presName="hierRoot3" presStyleCnt="0"/>
      <dgm:spPr/>
    </dgm:pt>
    <dgm:pt modelId="{5DB1667D-40D1-470F-B095-3B5DB81217D2}" type="pres">
      <dgm:prSet presAssocID="{428701E6-7D0E-4EA0-BE50-4D6EE8FC12D0}" presName="composite3" presStyleCnt="0"/>
      <dgm:spPr/>
    </dgm:pt>
    <dgm:pt modelId="{5C48C249-D7F8-4E33-8574-E986E2B36EEA}" type="pres">
      <dgm:prSet presAssocID="{428701E6-7D0E-4EA0-BE50-4D6EE8FC12D0}" presName="image3" presStyleLbl="node3" presStyleIdx="1" presStyleCnt="3" custLinFactNeighborX="1282" custLinFactNeighborY="64843"/>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l="-18000" r="-18000"/>
          </a:stretch>
        </a:blipFill>
      </dgm:spPr>
      <dgm:extLst>
        <a:ext uri="{E40237B7-FDA0-4F09-8148-C483321AD2D9}">
          <dgm14:cNvPr xmlns:dgm14="http://schemas.microsoft.com/office/drawing/2010/diagram" id="0" name="" descr="Puhuva simpanssi"/>
        </a:ext>
      </dgm:extLst>
    </dgm:pt>
    <dgm:pt modelId="{87333F66-723A-445D-9248-57F786341322}" type="pres">
      <dgm:prSet presAssocID="{428701E6-7D0E-4EA0-BE50-4D6EE8FC12D0}" presName="text3" presStyleLbl="revTx" presStyleIdx="3" presStyleCnt="6" custLinFactNeighborX="2248" custLinFactNeighborY="65093">
        <dgm:presLayoutVars>
          <dgm:chPref val="3"/>
        </dgm:presLayoutVars>
      </dgm:prSet>
      <dgm:spPr/>
    </dgm:pt>
    <dgm:pt modelId="{14172EDA-3944-4DC2-8CE0-ADB08CAF80CB}" type="pres">
      <dgm:prSet presAssocID="{428701E6-7D0E-4EA0-BE50-4D6EE8FC12D0}" presName="hierChild4" presStyleCnt="0"/>
      <dgm:spPr/>
    </dgm:pt>
    <dgm:pt modelId="{9F2679E9-4867-4FF6-BDC7-B9B0E7B6F011}" type="pres">
      <dgm:prSet presAssocID="{AC058B2D-E1E1-429B-B6D8-0BFCA8BB268C}" presName="Name10" presStyleLbl="parChTrans1D2" presStyleIdx="1" presStyleCnt="2"/>
      <dgm:spPr/>
    </dgm:pt>
    <dgm:pt modelId="{3FE6CA6D-4C3C-4408-A472-0B318F0BA732}" type="pres">
      <dgm:prSet presAssocID="{7B1EC9C8-0FAC-412B-849F-AB508AD25C92}" presName="hierRoot2" presStyleCnt="0"/>
      <dgm:spPr/>
    </dgm:pt>
    <dgm:pt modelId="{C71110DA-4CB6-434D-BEF5-2F7B729768D8}" type="pres">
      <dgm:prSet presAssocID="{7B1EC9C8-0FAC-412B-849F-AB508AD25C92}" presName="composite2" presStyleCnt="0"/>
      <dgm:spPr/>
    </dgm:pt>
    <dgm:pt modelId="{DF03DF8E-301A-48A3-B8DA-8DBA26790108}" type="pres">
      <dgm:prSet presAssocID="{7B1EC9C8-0FAC-412B-849F-AB508AD25C92}" presName="image2" presStyleLbl="node2" presStyleIdx="1" presStyleCnt="2" custLinFactNeighborX="-12821" custLinFactNeighborY="-41868"/>
      <dgm:spPr>
        <a:blipFill>
          <a:blip xmlns:r="http://schemas.openxmlformats.org/officeDocument/2006/relationships" r:embed="rId5"/>
          <a:srcRect/>
          <a:stretch>
            <a:fillRect l="-25000" r="-25000"/>
          </a:stretch>
        </a:blipFill>
      </dgm:spPr>
      <dgm:extLst>
        <a:ext uri="{E40237B7-FDA0-4F09-8148-C483321AD2D9}">
          <dgm14:cNvPr xmlns:dgm14="http://schemas.microsoft.com/office/drawing/2010/diagram" id="0" name="" descr="Lähikuva karjuvasta tiikeristä mustalla taustalla"/>
        </a:ext>
      </dgm:extLst>
    </dgm:pt>
    <dgm:pt modelId="{2C73DC01-3BD9-435C-ADC3-534E18BB8528}" type="pres">
      <dgm:prSet presAssocID="{7B1EC9C8-0FAC-412B-849F-AB508AD25C92}" presName="text2" presStyleLbl="revTx" presStyleIdx="4" presStyleCnt="6" custLinFactNeighborX="-7153" custLinFactNeighborY="-30275">
        <dgm:presLayoutVars>
          <dgm:chPref val="3"/>
        </dgm:presLayoutVars>
      </dgm:prSet>
      <dgm:spPr/>
    </dgm:pt>
    <dgm:pt modelId="{8048D301-57ED-4CD3-A7EC-12F873E972F7}" type="pres">
      <dgm:prSet presAssocID="{7B1EC9C8-0FAC-412B-849F-AB508AD25C92}" presName="hierChild3" presStyleCnt="0"/>
      <dgm:spPr/>
    </dgm:pt>
    <dgm:pt modelId="{0283145B-E745-4C88-B09E-567482BBF9E1}" type="pres">
      <dgm:prSet presAssocID="{53C4A1B5-F6B1-4F4E-9349-DC511440B263}" presName="Name17" presStyleLbl="parChTrans1D3" presStyleIdx="2" presStyleCnt="3"/>
      <dgm:spPr/>
    </dgm:pt>
    <dgm:pt modelId="{80D86C72-DD36-43DD-8FD9-E1A08AC68BA9}" type="pres">
      <dgm:prSet presAssocID="{B7767341-803D-47EF-98D2-C653D739E8CB}" presName="hierRoot3" presStyleCnt="0"/>
      <dgm:spPr/>
    </dgm:pt>
    <dgm:pt modelId="{12F92347-CD2C-4B6D-9BA4-7E385A5AC428}" type="pres">
      <dgm:prSet presAssocID="{B7767341-803D-47EF-98D2-C653D739E8CB}" presName="composite3" presStyleCnt="0"/>
      <dgm:spPr/>
    </dgm:pt>
    <dgm:pt modelId="{25A94071-39AA-4DD1-9EB7-27FA95B0D91C}" type="pres">
      <dgm:prSet presAssocID="{B7767341-803D-47EF-98D2-C653D739E8CB}" presName="image3" presStyleLbl="node3" presStyleIdx="2" presStyleCnt="3" custLinFactY="32903" custLinFactNeighborX="-12821" custLinFactNeighborY="100000"/>
      <dgm:spPr>
        <a:blipFill>
          <a:blip xmlns:r="http://schemas.openxmlformats.org/officeDocument/2006/relationships" r:embed="rId6"/>
          <a:srcRect/>
          <a:stretch>
            <a:fillRect l="-25000" r="-25000"/>
          </a:stretch>
        </a:blipFill>
      </dgm:spPr>
      <dgm:extLst>
        <a:ext uri="{E40237B7-FDA0-4F09-8148-C483321AD2D9}">
          <dgm14:cNvPr xmlns:dgm14="http://schemas.microsoft.com/office/drawing/2010/diagram" id="0" name="" descr="Siperiankissan pentu"/>
        </a:ext>
      </dgm:extLst>
    </dgm:pt>
    <dgm:pt modelId="{EC2527E7-49BF-4707-ACB2-4B40C554BF6E}" type="pres">
      <dgm:prSet presAssocID="{B7767341-803D-47EF-98D2-C653D739E8CB}" presName="text3" presStyleLbl="revTx" presStyleIdx="5" presStyleCnt="6" custLinFactY="33153" custLinFactNeighborX="17" custLinFactNeighborY="100000">
        <dgm:presLayoutVars>
          <dgm:chPref val="3"/>
        </dgm:presLayoutVars>
      </dgm:prSet>
      <dgm:spPr/>
    </dgm:pt>
    <dgm:pt modelId="{894275B1-D255-4C8D-B825-887520FFDF13}" type="pres">
      <dgm:prSet presAssocID="{B7767341-803D-47EF-98D2-C653D739E8CB}" presName="hierChild4" presStyleCnt="0"/>
      <dgm:spPr/>
    </dgm:pt>
  </dgm:ptLst>
  <dgm:cxnLst>
    <dgm:cxn modelId="{8B206705-8E5C-4659-8828-845673AEBBFD}" type="presOf" srcId="{FF2DFE7C-31DE-4096-84D1-5198C0B62710}" destId="{DA31DD00-799F-4155-B331-BB4E4227B9D0}" srcOrd="0" destOrd="0" presId="urn:microsoft.com/office/officeart/2009/layout/CirclePictureHierarchy"/>
    <dgm:cxn modelId="{70AE361D-37FC-42D0-9F37-513E2697F4E4}" srcId="{8D29D9B5-106B-4010-8BFF-5A6B079E8220}" destId="{B06620B3-A6C4-4713-A5BF-1106DD3B51D3}" srcOrd="0" destOrd="0" parTransId="{68831EB5-92D4-4FA6-AFDD-D7C608D852B8}" sibTransId="{5C738350-9DD1-43D5-A183-E56CDAC9EFA9}"/>
    <dgm:cxn modelId="{2FECC322-83A7-47C4-8DF3-44F87D6853D5}" srcId="{B06620B3-A6C4-4713-A5BF-1106DD3B51D3}" destId="{7B1EC9C8-0FAC-412B-849F-AB508AD25C92}" srcOrd="1" destOrd="0" parTransId="{AC058B2D-E1E1-429B-B6D8-0BFCA8BB268C}" sibTransId="{0B55A224-8AE4-40D2-AA3A-C11302E2E8AE}"/>
    <dgm:cxn modelId="{0C126130-2A1A-4C68-9BCD-32C33A5D8BF3}" type="presOf" srcId="{EFE08DDE-A2B5-4826-99FD-CB4D1B308E88}" destId="{1F63F02F-296F-433D-BC1C-359E810C2BFE}" srcOrd="0" destOrd="0" presId="urn:microsoft.com/office/officeart/2009/layout/CirclePictureHierarchy"/>
    <dgm:cxn modelId="{F3FEA232-1650-4D2C-BA2B-2E8978E37042}" type="presOf" srcId="{8D29D9B5-106B-4010-8BFF-5A6B079E8220}" destId="{CD0DE99B-32BC-43F4-9E2A-06B973C56A09}" srcOrd="0" destOrd="0" presId="urn:microsoft.com/office/officeart/2009/layout/CirclePictureHierarchy"/>
    <dgm:cxn modelId="{4BFE1371-F415-4C7F-9E1A-80C9346CEC4B}" type="presOf" srcId="{53C4A1B5-F6B1-4F4E-9349-DC511440B263}" destId="{0283145B-E745-4C88-B09E-567482BBF9E1}" srcOrd="0" destOrd="0" presId="urn:microsoft.com/office/officeart/2009/layout/CirclePictureHierarchy"/>
    <dgm:cxn modelId="{FF1ED883-1734-47A5-9546-BC2045415686}" type="presOf" srcId="{B06620B3-A6C4-4713-A5BF-1106DD3B51D3}" destId="{52484CEA-72BE-4849-BD65-4D4B528DDE9C}" srcOrd="0" destOrd="0" presId="urn:microsoft.com/office/officeart/2009/layout/CirclePictureHierarchy"/>
    <dgm:cxn modelId="{EBCC6F8F-A02B-4EA6-AE51-280F6FE360D8}" type="presOf" srcId="{E99A99E1-94EE-4C6D-B03C-661D69F7B154}" destId="{6B85D069-E315-4FC2-8951-22A8112BA649}" srcOrd="0" destOrd="0" presId="urn:microsoft.com/office/officeart/2009/layout/CirclePictureHierarchy"/>
    <dgm:cxn modelId="{DEFBD393-159C-445F-9078-6E090821AAD7}" type="presOf" srcId="{428701E6-7D0E-4EA0-BE50-4D6EE8FC12D0}" destId="{87333F66-723A-445D-9248-57F786341322}" srcOrd="0" destOrd="0" presId="urn:microsoft.com/office/officeart/2009/layout/CirclePictureHierarchy"/>
    <dgm:cxn modelId="{9EA83296-4A39-4F4C-94FB-27AF516B4827}" type="presOf" srcId="{B7767341-803D-47EF-98D2-C653D739E8CB}" destId="{EC2527E7-49BF-4707-ACB2-4B40C554BF6E}" srcOrd="0" destOrd="0" presId="urn:microsoft.com/office/officeart/2009/layout/CirclePictureHierarchy"/>
    <dgm:cxn modelId="{E31F44BB-3334-4878-A916-B3F8BDB25CA2}" srcId="{7B1EC9C8-0FAC-412B-849F-AB508AD25C92}" destId="{B7767341-803D-47EF-98D2-C653D739E8CB}" srcOrd="0" destOrd="0" parTransId="{53C4A1B5-F6B1-4F4E-9349-DC511440B263}" sibTransId="{65AD3CD2-D559-4FC1-8830-19DC9D36EFDC}"/>
    <dgm:cxn modelId="{FFAA30BC-F523-49FB-B5E1-BDC048A131A6}" srcId="{EFE08DDE-A2B5-4826-99FD-CB4D1B308E88}" destId="{428701E6-7D0E-4EA0-BE50-4D6EE8FC12D0}" srcOrd="1" destOrd="0" parTransId="{FF2DFE7C-31DE-4096-84D1-5198C0B62710}" sibTransId="{C0BFCEA7-0FB4-4CFB-984C-6C0CF516B7F0}"/>
    <dgm:cxn modelId="{AC70E8BE-3048-47D4-B69D-B94651274A24}" type="presOf" srcId="{AC058B2D-E1E1-429B-B6D8-0BFCA8BB268C}" destId="{9F2679E9-4867-4FF6-BDC7-B9B0E7B6F011}" srcOrd="0" destOrd="0" presId="urn:microsoft.com/office/officeart/2009/layout/CirclePictureHierarchy"/>
    <dgm:cxn modelId="{5AB89BCF-2CD5-4A23-8F85-6152EFC6F8F1}" type="presOf" srcId="{9BCC0EDC-06B9-4889-9735-4C2C94ECC07D}" destId="{BFCB8023-EA10-4058-9EA3-6D5BB009C038}" srcOrd="0" destOrd="0" presId="urn:microsoft.com/office/officeart/2009/layout/CirclePictureHierarchy"/>
    <dgm:cxn modelId="{4D53A6D6-3A42-4FFA-971C-D7AB15C603C8}" type="presOf" srcId="{7B1EC9C8-0FAC-412B-849F-AB508AD25C92}" destId="{2C73DC01-3BD9-435C-ADC3-534E18BB8528}" srcOrd="0" destOrd="0" presId="urn:microsoft.com/office/officeart/2009/layout/CirclePictureHierarchy"/>
    <dgm:cxn modelId="{E0A534EC-4001-4EAE-A3FE-8B4E0E56B9E8}" srcId="{B06620B3-A6C4-4713-A5BF-1106DD3B51D3}" destId="{EFE08DDE-A2B5-4826-99FD-CB4D1B308E88}" srcOrd="0" destOrd="0" parTransId="{F5900FED-FA40-4554-9386-9582730D5E0F}" sibTransId="{CEA81257-D298-4927-9CBD-029704BE19EE}"/>
    <dgm:cxn modelId="{5989AAF0-732A-49AF-AAD6-7703FC8144CE}" srcId="{EFE08DDE-A2B5-4826-99FD-CB4D1B308E88}" destId="{E99A99E1-94EE-4C6D-B03C-661D69F7B154}" srcOrd="0" destOrd="0" parTransId="{9BCC0EDC-06B9-4889-9735-4C2C94ECC07D}" sibTransId="{B30BF3D8-3F23-4A0F-9156-CBCB1EB3F02D}"/>
    <dgm:cxn modelId="{F0DD8AFC-5634-4B47-81A9-857B6EADF690}" type="presOf" srcId="{F5900FED-FA40-4554-9386-9582730D5E0F}" destId="{EE61C222-B9AF-4337-95FF-FE2A8FEB3AB6}" srcOrd="0" destOrd="0" presId="urn:microsoft.com/office/officeart/2009/layout/CirclePictureHierarchy"/>
    <dgm:cxn modelId="{52CBE650-1897-40FE-9353-0CCC92C001C9}" type="presParOf" srcId="{CD0DE99B-32BC-43F4-9E2A-06B973C56A09}" destId="{9C704749-999B-4073-89B9-C4E3D9FF8260}" srcOrd="0" destOrd="0" presId="urn:microsoft.com/office/officeart/2009/layout/CirclePictureHierarchy"/>
    <dgm:cxn modelId="{3AB4F3E4-4008-4786-93E3-E481FD08BFF0}" type="presParOf" srcId="{9C704749-999B-4073-89B9-C4E3D9FF8260}" destId="{CC372464-A904-48A7-AAB1-EC6FC744E4C8}" srcOrd="0" destOrd="0" presId="urn:microsoft.com/office/officeart/2009/layout/CirclePictureHierarchy"/>
    <dgm:cxn modelId="{070DCE0B-DAC5-4874-84BE-8A3892A3507D}" type="presParOf" srcId="{CC372464-A904-48A7-AAB1-EC6FC744E4C8}" destId="{460AC253-15D3-419E-AC01-30302483814A}" srcOrd="0" destOrd="0" presId="urn:microsoft.com/office/officeart/2009/layout/CirclePictureHierarchy"/>
    <dgm:cxn modelId="{3031BCBA-14F9-439E-85C8-5AA7AE81DF44}" type="presParOf" srcId="{CC372464-A904-48A7-AAB1-EC6FC744E4C8}" destId="{52484CEA-72BE-4849-BD65-4D4B528DDE9C}" srcOrd="1" destOrd="0" presId="urn:microsoft.com/office/officeart/2009/layout/CirclePictureHierarchy"/>
    <dgm:cxn modelId="{5AE9413E-C322-4CAC-9987-3A8F0C01B428}" type="presParOf" srcId="{9C704749-999B-4073-89B9-C4E3D9FF8260}" destId="{2BC0F546-16EF-41F9-B415-EFEA5D1CE2E5}" srcOrd="1" destOrd="0" presId="urn:microsoft.com/office/officeart/2009/layout/CirclePictureHierarchy"/>
    <dgm:cxn modelId="{D1472A12-C2CB-4659-B4B9-369A81BABCF1}" type="presParOf" srcId="{2BC0F546-16EF-41F9-B415-EFEA5D1CE2E5}" destId="{EE61C222-B9AF-4337-95FF-FE2A8FEB3AB6}" srcOrd="0" destOrd="0" presId="urn:microsoft.com/office/officeart/2009/layout/CirclePictureHierarchy"/>
    <dgm:cxn modelId="{85F11837-8E17-4B69-B343-B996D879B381}" type="presParOf" srcId="{2BC0F546-16EF-41F9-B415-EFEA5D1CE2E5}" destId="{324152D7-A10F-4B4A-BD50-7A109360ED58}" srcOrd="1" destOrd="0" presId="urn:microsoft.com/office/officeart/2009/layout/CirclePictureHierarchy"/>
    <dgm:cxn modelId="{CDB8561E-0E3F-4C5F-9030-0E0C945584D9}" type="presParOf" srcId="{324152D7-A10F-4B4A-BD50-7A109360ED58}" destId="{22620C4F-2DE4-43B7-AA1C-6D9505F6B1A1}" srcOrd="0" destOrd="0" presId="urn:microsoft.com/office/officeart/2009/layout/CirclePictureHierarchy"/>
    <dgm:cxn modelId="{D8970471-71A3-4E58-A741-AA6D358B62F4}" type="presParOf" srcId="{22620C4F-2DE4-43B7-AA1C-6D9505F6B1A1}" destId="{4DC2D1A2-896B-4C7E-83A4-A4FA3842909B}" srcOrd="0" destOrd="0" presId="urn:microsoft.com/office/officeart/2009/layout/CirclePictureHierarchy"/>
    <dgm:cxn modelId="{1156E98C-5968-4937-874E-CE8A461CE0BE}" type="presParOf" srcId="{22620C4F-2DE4-43B7-AA1C-6D9505F6B1A1}" destId="{1F63F02F-296F-433D-BC1C-359E810C2BFE}" srcOrd="1" destOrd="0" presId="urn:microsoft.com/office/officeart/2009/layout/CirclePictureHierarchy"/>
    <dgm:cxn modelId="{3220408A-C443-4F9F-BF25-296AD0400913}" type="presParOf" srcId="{324152D7-A10F-4B4A-BD50-7A109360ED58}" destId="{CE678608-5121-4D00-BEFE-71C83979543D}" srcOrd="1" destOrd="0" presId="urn:microsoft.com/office/officeart/2009/layout/CirclePictureHierarchy"/>
    <dgm:cxn modelId="{E5A15B73-C095-4F20-8911-4F34AED7DAB4}" type="presParOf" srcId="{CE678608-5121-4D00-BEFE-71C83979543D}" destId="{BFCB8023-EA10-4058-9EA3-6D5BB009C038}" srcOrd="0" destOrd="0" presId="urn:microsoft.com/office/officeart/2009/layout/CirclePictureHierarchy"/>
    <dgm:cxn modelId="{0D5879D5-C745-4114-9257-67E474A89C1A}" type="presParOf" srcId="{CE678608-5121-4D00-BEFE-71C83979543D}" destId="{99579222-A3A5-42E2-9756-6988B561DA89}" srcOrd="1" destOrd="0" presId="urn:microsoft.com/office/officeart/2009/layout/CirclePictureHierarchy"/>
    <dgm:cxn modelId="{DC74B2B4-0539-4598-BD41-5A920B78C242}" type="presParOf" srcId="{99579222-A3A5-42E2-9756-6988B561DA89}" destId="{83A97D86-1539-4808-A442-59B86CFBCDFF}" srcOrd="0" destOrd="0" presId="urn:microsoft.com/office/officeart/2009/layout/CirclePictureHierarchy"/>
    <dgm:cxn modelId="{B3439B11-46BB-4AD2-94C4-54BBDF1D3072}" type="presParOf" srcId="{83A97D86-1539-4808-A442-59B86CFBCDFF}" destId="{B6AF3447-E03D-4BEB-9AF8-6270D1373604}" srcOrd="0" destOrd="0" presId="urn:microsoft.com/office/officeart/2009/layout/CirclePictureHierarchy"/>
    <dgm:cxn modelId="{566AC879-8A58-4830-A4B3-B2BBB999CA8A}" type="presParOf" srcId="{83A97D86-1539-4808-A442-59B86CFBCDFF}" destId="{6B85D069-E315-4FC2-8951-22A8112BA649}" srcOrd="1" destOrd="0" presId="urn:microsoft.com/office/officeart/2009/layout/CirclePictureHierarchy"/>
    <dgm:cxn modelId="{6E944969-8C32-478A-A5D4-000A2C8EAA37}" type="presParOf" srcId="{99579222-A3A5-42E2-9756-6988B561DA89}" destId="{D71D88E4-0B71-4E7E-8997-EFA725F6C627}" srcOrd="1" destOrd="0" presId="urn:microsoft.com/office/officeart/2009/layout/CirclePictureHierarchy"/>
    <dgm:cxn modelId="{44B06F70-2E19-4583-992C-022DA4725D79}" type="presParOf" srcId="{CE678608-5121-4D00-BEFE-71C83979543D}" destId="{DA31DD00-799F-4155-B331-BB4E4227B9D0}" srcOrd="2" destOrd="0" presId="urn:microsoft.com/office/officeart/2009/layout/CirclePictureHierarchy"/>
    <dgm:cxn modelId="{B9589C1A-3EFD-44D5-8886-107CE89B475A}" type="presParOf" srcId="{CE678608-5121-4D00-BEFE-71C83979543D}" destId="{EC5295E3-ECCA-4279-8BC1-0BEE9232FE06}" srcOrd="3" destOrd="0" presId="urn:microsoft.com/office/officeart/2009/layout/CirclePictureHierarchy"/>
    <dgm:cxn modelId="{313EDEB5-6D82-4664-9798-698AB4144340}" type="presParOf" srcId="{EC5295E3-ECCA-4279-8BC1-0BEE9232FE06}" destId="{5DB1667D-40D1-470F-B095-3B5DB81217D2}" srcOrd="0" destOrd="0" presId="urn:microsoft.com/office/officeart/2009/layout/CirclePictureHierarchy"/>
    <dgm:cxn modelId="{FAFAB7AB-A8AB-4DF6-947B-65368C92465E}" type="presParOf" srcId="{5DB1667D-40D1-470F-B095-3B5DB81217D2}" destId="{5C48C249-D7F8-4E33-8574-E986E2B36EEA}" srcOrd="0" destOrd="0" presId="urn:microsoft.com/office/officeart/2009/layout/CirclePictureHierarchy"/>
    <dgm:cxn modelId="{4C392A2E-B9B3-4868-B118-DA08F634CC82}" type="presParOf" srcId="{5DB1667D-40D1-470F-B095-3B5DB81217D2}" destId="{87333F66-723A-445D-9248-57F786341322}" srcOrd="1" destOrd="0" presId="urn:microsoft.com/office/officeart/2009/layout/CirclePictureHierarchy"/>
    <dgm:cxn modelId="{946C6A8C-DCE7-4ABD-A407-28F9FA810249}" type="presParOf" srcId="{EC5295E3-ECCA-4279-8BC1-0BEE9232FE06}" destId="{14172EDA-3944-4DC2-8CE0-ADB08CAF80CB}" srcOrd="1" destOrd="0" presId="urn:microsoft.com/office/officeart/2009/layout/CirclePictureHierarchy"/>
    <dgm:cxn modelId="{E6E9BE6A-B1EE-49CF-A078-E07F63373D0A}" type="presParOf" srcId="{2BC0F546-16EF-41F9-B415-EFEA5D1CE2E5}" destId="{9F2679E9-4867-4FF6-BDC7-B9B0E7B6F011}" srcOrd="2" destOrd="0" presId="urn:microsoft.com/office/officeart/2009/layout/CirclePictureHierarchy"/>
    <dgm:cxn modelId="{A67F742D-94C9-4B9B-BA42-655420EC29A7}" type="presParOf" srcId="{2BC0F546-16EF-41F9-B415-EFEA5D1CE2E5}" destId="{3FE6CA6D-4C3C-4408-A472-0B318F0BA732}" srcOrd="3" destOrd="0" presId="urn:microsoft.com/office/officeart/2009/layout/CirclePictureHierarchy"/>
    <dgm:cxn modelId="{8F247B86-7361-4B16-B603-BCA2085D5D4A}" type="presParOf" srcId="{3FE6CA6D-4C3C-4408-A472-0B318F0BA732}" destId="{C71110DA-4CB6-434D-BEF5-2F7B729768D8}" srcOrd="0" destOrd="0" presId="urn:microsoft.com/office/officeart/2009/layout/CirclePictureHierarchy"/>
    <dgm:cxn modelId="{2B996402-7A31-435D-A46D-15CE5C80A2FF}" type="presParOf" srcId="{C71110DA-4CB6-434D-BEF5-2F7B729768D8}" destId="{DF03DF8E-301A-48A3-B8DA-8DBA26790108}" srcOrd="0" destOrd="0" presId="urn:microsoft.com/office/officeart/2009/layout/CirclePictureHierarchy"/>
    <dgm:cxn modelId="{31731C62-3873-468D-BC31-661CEF983AFA}" type="presParOf" srcId="{C71110DA-4CB6-434D-BEF5-2F7B729768D8}" destId="{2C73DC01-3BD9-435C-ADC3-534E18BB8528}" srcOrd="1" destOrd="0" presId="urn:microsoft.com/office/officeart/2009/layout/CirclePictureHierarchy"/>
    <dgm:cxn modelId="{EA2B8945-32C4-4CC4-BB59-B123EEEAB04F}" type="presParOf" srcId="{3FE6CA6D-4C3C-4408-A472-0B318F0BA732}" destId="{8048D301-57ED-4CD3-A7EC-12F873E972F7}" srcOrd="1" destOrd="0" presId="urn:microsoft.com/office/officeart/2009/layout/CirclePictureHierarchy"/>
    <dgm:cxn modelId="{D2E864D4-1091-48E0-B633-77A96CAD3D0C}" type="presParOf" srcId="{8048D301-57ED-4CD3-A7EC-12F873E972F7}" destId="{0283145B-E745-4C88-B09E-567482BBF9E1}" srcOrd="0" destOrd="0" presId="urn:microsoft.com/office/officeart/2009/layout/CirclePictureHierarchy"/>
    <dgm:cxn modelId="{800D1184-2017-44DC-8FD8-90164F927E87}" type="presParOf" srcId="{8048D301-57ED-4CD3-A7EC-12F873E972F7}" destId="{80D86C72-DD36-43DD-8FD9-E1A08AC68BA9}" srcOrd="1" destOrd="0" presId="urn:microsoft.com/office/officeart/2009/layout/CirclePictureHierarchy"/>
    <dgm:cxn modelId="{717F7EE8-830F-41CE-98F6-B33D55666ED2}" type="presParOf" srcId="{80D86C72-DD36-43DD-8FD9-E1A08AC68BA9}" destId="{12F92347-CD2C-4B6D-9BA4-7E385A5AC428}" srcOrd="0" destOrd="0" presId="urn:microsoft.com/office/officeart/2009/layout/CirclePictureHierarchy"/>
    <dgm:cxn modelId="{1EE54922-2282-4092-B33E-F4BC6585638D}" type="presParOf" srcId="{12F92347-CD2C-4B6D-9BA4-7E385A5AC428}" destId="{25A94071-39AA-4DD1-9EB7-27FA95B0D91C}" srcOrd="0" destOrd="0" presId="urn:microsoft.com/office/officeart/2009/layout/CirclePictureHierarchy"/>
    <dgm:cxn modelId="{F11FECC1-3F18-4FCE-99AD-7FFCD6CF1016}" type="presParOf" srcId="{12F92347-CD2C-4B6D-9BA4-7E385A5AC428}" destId="{EC2527E7-49BF-4707-ACB2-4B40C554BF6E}" srcOrd="1" destOrd="0" presId="urn:microsoft.com/office/officeart/2009/layout/CirclePictureHierarchy"/>
    <dgm:cxn modelId="{248AF0F3-7ABF-4751-B90A-A510C3828D89}" type="presParOf" srcId="{80D86C72-DD36-43DD-8FD9-E1A08AC68BA9}" destId="{894275B1-D255-4C8D-B825-887520FFDF13}" srcOrd="1" destOrd="0" presId="urn:microsoft.com/office/officeart/2009/layout/CirclePicture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7204BE-6790-44FF-9419-BFDFBE52F37A}" type="doc">
      <dgm:prSet loTypeId="urn:microsoft.com/office/officeart/2005/8/layout/venn2" loCatId="relationship" qsTypeId="urn:microsoft.com/office/officeart/2005/8/quickstyle/simple1" qsCatId="simple" csTypeId="urn:microsoft.com/office/officeart/2005/8/colors/colorful5" csCatId="colorful" phldr="1"/>
      <dgm:spPr/>
      <dgm:t>
        <a:bodyPr/>
        <a:lstStyle/>
        <a:p>
          <a:endParaRPr lang="fi-FI"/>
        </a:p>
      </dgm:t>
    </dgm:pt>
    <dgm:pt modelId="{DDEBEB2F-81B4-41CB-9AD2-267722F07762}">
      <dgm:prSet phldrT="[Teksti]"/>
      <dgm:spPr/>
      <dgm:t>
        <a:bodyPr/>
        <a:lstStyle/>
        <a:p>
          <a:r>
            <a:rPr lang="en-US" noProof="0" dirty="0"/>
            <a:t>Built-In</a:t>
          </a:r>
        </a:p>
      </dgm:t>
    </dgm:pt>
    <dgm:pt modelId="{6AAEE717-DD5D-4EB4-9E7C-37ECD7ECD00C}" type="parTrans" cxnId="{D7CBE386-4A09-4FB6-B5D9-72B7FF59DA3D}">
      <dgm:prSet/>
      <dgm:spPr/>
      <dgm:t>
        <a:bodyPr/>
        <a:lstStyle/>
        <a:p>
          <a:endParaRPr lang="fi-FI"/>
        </a:p>
      </dgm:t>
    </dgm:pt>
    <dgm:pt modelId="{EB39FE76-68D9-46D5-9057-DA8456BCAF75}" type="sibTrans" cxnId="{D7CBE386-4A09-4FB6-B5D9-72B7FF59DA3D}">
      <dgm:prSet/>
      <dgm:spPr/>
      <dgm:t>
        <a:bodyPr/>
        <a:lstStyle/>
        <a:p>
          <a:endParaRPr lang="fi-FI"/>
        </a:p>
      </dgm:t>
    </dgm:pt>
    <dgm:pt modelId="{3217B4FC-9C9B-47BA-8559-087DD8843DA2}">
      <dgm:prSet phldrT="[Teksti]"/>
      <dgm:spPr/>
      <dgm:t>
        <a:bodyPr/>
        <a:lstStyle/>
        <a:p>
          <a:r>
            <a:rPr lang="en-US" noProof="0" dirty="0"/>
            <a:t>Global Scope</a:t>
          </a:r>
        </a:p>
      </dgm:t>
    </dgm:pt>
    <dgm:pt modelId="{C2A424CF-DDEF-4DE6-A5A2-E185B735D2E1}" type="parTrans" cxnId="{513E36FC-A4E5-4E62-9EAB-B5E8D1B6EF67}">
      <dgm:prSet/>
      <dgm:spPr/>
      <dgm:t>
        <a:bodyPr/>
        <a:lstStyle/>
        <a:p>
          <a:endParaRPr lang="fi-FI"/>
        </a:p>
      </dgm:t>
    </dgm:pt>
    <dgm:pt modelId="{6EA26699-E252-473F-A642-4A5D1AD555C9}" type="sibTrans" cxnId="{513E36FC-A4E5-4E62-9EAB-B5E8D1B6EF67}">
      <dgm:prSet/>
      <dgm:spPr/>
      <dgm:t>
        <a:bodyPr/>
        <a:lstStyle/>
        <a:p>
          <a:endParaRPr lang="fi-FI"/>
        </a:p>
      </dgm:t>
    </dgm:pt>
    <dgm:pt modelId="{C2772157-5E55-4EE8-BEC8-657C44F60402}">
      <dgm:prSet phldrT="[Teksti]"/>
      <dgm:spPr/>
      <dgm:t>
        <a:bodyPr/>
        <a:lstStyle/>
        <a:p>
          <a:r>
            <a:rPr lang="en-US" noProof="0" dirty="0"/>
            <a:t>Enclosing</a:t>
          </a:r>
          <a:br>
            <a:rPr lang="fi-FI" dirty="0"/>
          </a:br>
          <a:r>
            <a:rPr lang="en-US" noProof="0" dirty="0"/>
            <a:t>Scope</a:t>
          </a:r>
        </a:p>
      </dgm:t>
    </dgm:pt>
    <dgm:pt modelId="{5E075185-1F87-4AA5-A170-0527969F5A2A}" type="parTrans" cxnId="{230E2EC6-3B4D-4BC6-931B-01ED5E14B00A}">
      <dgm:prSet/>
      <dgm:spPr/>
      <dgm:t>
        <a:bodyPr/>
        <a:lstStyle/>
        <a:p>
          <a:endParaRPr lang="fi-FI"/>
        </a:p>
      </dgm:t>
    </dgm:pt>
    <dgm:pt modelId="{DCBD0C7D-1F28-4735-8E81-2C2EE826D341}" type="sibTrans" cxnId="{230E2EC6-3B4D-4BC6-931B-01ED5E14B00A}">
      <dgm:prSet/>
      <dgm:spPr/>
      <dgm:t>
        <a:bodyPr/>
        <a:lstStyle/>
        <a:p>
          <a:endParaRPr lang="fi-FI"/>
        </a:p>
      </dgm:t>
    </dgm:pt>
    <dgm:pt modelId="{EED9EDA8-7AEC-4FF5-A538-315F137CCD08}">
      <dgm:prSet phldrT="[Teksti]"/>
      <dgm:spPr/>
      <dgm:t>
        <a:bodyPr/>
        <a:lstStyle/>
        <a:p>
          <a:r>
            <a:rPr lang="en-US" noProof="0" dirty="0"/>
            <a:t>Local</a:t>
          </a:r>
          <a:br>
            <a:rPr lang="en-US" noProof="0" dirty="0"/>
          </a:br>
          <a:r>
            <a:rPr lang="en-US" noProof="0" dirty="0"/>
            <a:t>Scope</a:t>
          </a:r>
        </a:p>
      </dgm:t>
    </dgm:pt>
    <dgm:pt modelId="{52E60F76-795F-437B-ABC3-A8A5DCA07D58}" type="parTrans" cxnId="{4FDDFB8C-B3E3-4B27-8611-13BBA43D7292}">
      <dgm:prSet/>
      <dgm:spPr/>
      <dgm:t>
        <a:bodyPr/>
        <a:lstStyle/>
        <a:p>
          <a:endParaRPr lang="fi-FI"/>
        </a:p>
      </dgm:t>
    </dgm:pt>
    <dgm:pt modelId="{E696C33E-F5EE-4D1A-B731-6ECB362749F8}" type="sibTrans" cxnId="{4FDDFB8C-B3E3-4B27-8611-13BBA43D7292}">
      <dgm:prSet/>
      <dgm:spPr/>
      <dgm:t>
        <a:bodyPr/>
        <a:lstStyle/>
        <a:p>
          <a:endParaRPr lang="fi-FI"/>
        </a:p>
      </dgm:t>
    </dgm:pt>
    <dgm:pt modelId="{5A475CD2-8117-494C-8527-A73847E744F1}" type="pres">
      <dgm:prSet presAssocID="{9E7204BE-6790-44FF-9419-BFDFBE52F37A}" presName="Name0" presStyleCnt="0">
        <dgm:presLayoutVars>
          <dgm:chMax val="7"/>
          <dgm:resizeHandles val="exact"/>
        </dgm:presLayoutVars>
      </dgm:prSet>
      <dgm:spPr/>
    </dgm:pt>
    <dgm:pt modelId="{98D1ADAA-7EEF-4100-87E3-0ABC4BC1DC01}" type="pres">
      <dgm:prSet presAssocID="{9E7204BE-6790-44FF-9419-BFDFBE52F37A}" presName="comp1" presStyleCnt="0"/>
      <dgm:spPr/>
    </dgm:pt>
    <dgm:pt modelId="{D39D5D54-D553-4124-8A37-572DEE55B479}" type="pres">
      <dgm:prSet presAssocID="{9E7204BE-6790-44FF-9419-BFDFBE52F37A}" presName="circle1" presStyleLbl="node1" presStyleIdx="0" presStyleCnt="4"/>
      <dgm:spPr/>
    </dgm:pt>
    <dgm:pt modelId="{F262F6CD-FC28-4053-8801-C98E05315535}" type="pres">
      <dgm:prSet presAssocID="{9E7204BE-6790-44FF-9419-BFDFBE52F37A}" presName="c1text" presStyleLbl="node1" presStyleIdx="0" presStyleCnt="4">
        <dgm:presLayoutVars>
          <dgm:bulletEnabled val="1"/>
        </dgm:presLayoutVars>
      </dgm:prSet>
      <dgm:spPr/>
    </dgm:pt>
    <dgm:pt modelId="{0254A544-D3A8-459C-95C2-E5C0D63107AE}" type="pres">
      <dgm:prSet presAssocID="{9E7204BE-6790-44FF-9419-BFDFBE52F37A}" presName="comp2" presStyleCnt="0"/>
      <dgm:spPr/>
    </dgm:pt>
    <dgm:pt modelId="{71467C89-D9D1-4F40-BA85-8AF1CCE3FBC2}" type="pres">
      <dgm:prSet presAssocID="{9E7204BE-6790-44FF-9419-BFDFBE52F37A}" presName="circle2" presStyleLbl="node1" presStyleIdx="1" presStyleCnt="4"/>
      <dgm:spPr/>
    </dgm:pt>
    <dgm:pt modelId="{B492D963-9AFF-4A3D-AC1A-50D0BC11F6A7}" type="pres">
      <dgm:prSet presAssocID="{9E7204BE-6790-44FF-9419-BFDFBE52F37A}" presName="c2text" presStyleLbl="node1" presStyleIdx="1" presStyleCnt="4">
        <dgm:presLayoutVars>
          <dgm:bulletEnabled val="1"/>
        </dgm:presLayoutVars>
      </dgm:prSet>
      <dgm:spPr/>
    </dgm:pt>
    <dgm:pt modelId="{179E83B3-F35D-41D2-88BE-3F4125919E53}" type="pres">
      <dgm:prSet presAssocID="{9E7204BE-6790-44FF-9419-BFDFBE52F37A}" presName="comp3" presStyleCnt="0"/>
      <dgm:spPr/>
    </dgm:pt>
    <dgm:pt modelId="{ED877F5D-3C94-4447-A0D9-F3E596EB60EA}" type="pres">
      <dgm:prSet presAssocID="{9E7204BE-6790-44FF-9419-BFDFBE52F37A}" presName="circle3" presStyleLbl="node1" presStyleIdx="2" presStyleCnt="4"/>
      <dgm:spPr/>
    </dgm:pt>
    <dgm:pt modelId="{8127865B-3F26-4ADA-9E14-087A538E7817}" type="pres">
      <dgm:prSet presAssocID="{9E7204BE-6790-44FF-9419-BFDFBE52F37A}" presName="c3text" presStyleLbl="node1" presStyleIdx="2" presStyleCnt="4">
        <dgm:presLayoutVars>
          <dgm:bulletEnabled val="1"/>
        </dgm:presLayoutVars>
      </dgm:prSet>
      <dgm:spPr/>
    </dgm:pt>
    <dgm:pt modelId="{56D8184A-A0BA-4DCA-96D2-4A11059E12E6}" type="pres">
      <dgm:prSet presAssocID="{9E7204BE-6790-44FF-9419-BFDFBE52F37A}" presName="comp4" presStyleCnt="0"/>
      <dgm:spPr/>
    </dgm:pt>
    <dgm:pt modelId="{41559871-5481-49BA-838D-2EA6D864FA7B}" type="pres">
      <dgm:prSet presAssocID="{9E7204BE-6790-44FF-9419-BFDFBE52F37A}" presName="circle4" presStyleLbl="node1" presStyleIdx="3" presStyleCnt="4"/>
      <dgm:spPr/>
    </dgm:pt>
    <dgm:pt modelId="{5A28FAD6-6628-4C0E-9929-AA033D191FEB}" type="pres">
      <dgm:prSet presAssocID="{9E7204BE-6790-44FF-9419-BFDFBE52F37A}" presName="c4text" presStyleLbl="node1" presStyleIdx="3" presStyleCnt="4">
        <dgm:presLayoutVars>
          <dgm:bulletEnabled val="1"/>
        </dgm:presLayoutVars>
      </dgm:prSet>
      <dgm:spPr/>
    </dgm:pt>
  </dgm:ptLst>
  <dgm:cxnLst>
    <dgm:cxn modelId="{B68E4F0B-A8F7-44C9-A977-B39EAACE0BDE}" type="presOf" srcId="{EED9EDA8-7AEC-4FF5-A538-315F137CCD08}" destId="{5A28FAD6-6628-4C0E-9929-AA033D191FEB}" srcOrd="1" destOrd="0" presId="urn:microsoft.com/office/officeart/2005/8/layout/venn2"/>
    <dgm:cxn modelId="{1A287A17-ED6C-4EC8-83A3-E4D398A299E7}" type="presOf" srcId="{EED9EDA8-7AEC-4FF5-A538-315F137CCD08}" destId="{41559871-5481-49BA-838D-2EA6D864FA7B}" srcOrd="0" destOrd="0" presId="urn:microsoft.com/office/officeart/2005/8/layout/venn2"/>
    <dgm:cxn modelId="{80E69D19-F5DC-4DF9-BD75-781B7C511BD2}" type="presOf" srcId="{9E7204BE-6790-44FF-9419-BFDFBE52F37A}" destId="{5A475CD2-8117-494C-8527-A73847E744F1}" srcOrd="0" destOrd="0" presId="urn:microsoft.com/office/officeart/2005/8/layout/venn2"/>
    <dgm:cxn modelId="{93C07822-399A-4755-9279-BC255B50D637}" type="presOf" srcId="{C2772157-5E55-4EE8-BEC8-657C44F60402}" destId="{ED877F5D-3C94-4447-A0D9-F3E596EB60EA}" srcOrd="0" destOrd="0" presId="urn:microsoft.com/office/officeart/2005/8/layout/venn2"/>
    <dgm:cxn modelId="{65A9E933-651E-45EF-AF95-D38D077812D6}" type="presOf" srcId="{C2772157-5E55-4EE8-BEC8-657C44F60402}" destId="{8127865B-3F26-4ADA-9E14-087A538E7817}" srcOrd="1" destOrd="0" presId="urn:microsoft.com/office/officeart/2005/8/layout/venn2"/>
    <dgm:cxn modelId="{BBC65D34-E7E6-46AD-827B-DE9A50760D8C}" type="presOf" srcId="{3217B4FC-9C9B-47BA-8559-087DD8843DA2}" destId="{71467C89-D9D1-4F40-BA85-8AF1CCE3FBC2}" srcOrd="0" destOrd="0" presId="urn:microsoft.com/office/officeart/2005/8/layout/venn2"/>
    <dgm:cxn modelId="{A4958D45-45FF-4EE2-AD24-22B35D813D2C}" type="presOf" srcId="{DDEBEB2F-81B4-41CB-9AD2-267722F07762}" destId="{D39D5D54-D553-4124-8A37-572DEE55B479}" srcOrd="0" destOrd="0" presId="urn:microsoft.com/office/officeart/2005/8/layout/venn2"/>
    <dgm:cxn modelId="{AB37C67F-7174-4E34-996C-332F7614652B}" type="presOf" srcId="{3217B4FC-9C9B-47BA-8559-087DD8843DA2}" destId="{B492D963-9AFF-4A3D-AC1A-50D0BC11F6A7}" srcOrd="1" destOrd="0" presId="urn:microsoft.com/office/officeart/2005/8/layout/venn2"/>
    <dgm:cxn modelId="{D7CBE386-4A09-4FB6-B5D9-72B7FF59DA3D}" srcId="{9E7204BE-6790-44FF-9419-BFDFBE52F37A}" destId="{DDEBEB2F-81B4-41CB-9AD2-267722F07762}" srcOrd="0" destOrd="0" parTransId="{6AAEE717-DD5D-4EB4-9E7C-37ECD7ECD00C}" sibTransId="{EB39FE76-68D9-46D5-9057-DA8456BCAF75}"/>
    <dgm:cxn modelId="{4FDDFB8C-B3E3-4B27-8611-13BBA43D7292}" srcId="{9E7204BE-6790-44FF-9419-BFDFBE52F37A}" destId="{EED9EDA8-7AEC-4FF5-A538-315F137CCD08}" srcOrd="3" destOrd="0" parTransId="{52E60F76-795F-437B-ABC3-A8A5DCA07D58}" sibTransId="{E696C33E-F5EE-4D1A-B731-6ECB362749F8}"/>
    <dgm:cxn modelId="{0CADC1BF-F499-4383-8A98-5533C4CE1CAC}" type="presOf" srcId="{DDEBEB2F-81B4-41CB-9AD2-267722F07762}" destId="{F262F6CD-FC28-4053-8801-C98E05315535}" srcOrd="1" destOrd="0" presId="urn:microsoft.com/office/officeart/2005/8/layout/venn2"/>
    <dgm:cxn modelId="{230E2EC6-3B4D-4BC6-931B-01ED5E14B00A}" srcId="{9E7204BE-6790-44FF-9419-BFDFBE52F37A}" destId="{C2772157-5E55-4EE8-BEC8-657C44F60402}" srcOrd="2" destOrd="0" parTransId="{5E075185-1F87-4AA5-A170-0527969F5A2A}" sibTransId="{DCBD0C7D-1F28-4735-8E81-2C2EE826D341}"/>
    <dgm:cxn modelId="{513E36FC-A4E5-4E62-9EAB-B5E8D1B6EF67}" srcId="{9E7204BE-6790-44FF-9419-BFDFBE52F37A}" destId="{3217B4FC-9C9B-47BA-8559-087DD8843DA2}" srcOrd="1" destOrd="0" parTransId="{C2A424CF-DDEF-4DE6-A5A2-E185B735D2E1}" sibTransId="{6EA26699-E252-473F-A642-4A5D1AD555C9}"/>
    <dgm:cxn modelId="{06DA7752-D80A-4B1F-9B86-E8A5CD8FE8E2}" type="presParOf" srcId="{5A475CD2-8117-494C-8527-A73847E744F1}" destId="{98D1ADAA-7EEF-4100-87E3-0ABC4BC1DC01}" srcOrd="0" destOrd="0" presId="urn:microsoft.com/office/officeart/2005/8/layout/venn2"/>
    <dgm:cxn modelId="{25C696E7-3DD3-46A6-81F6-E423EEC566A9}" type="presParOf" srcId="{98D1ADAA-7EEF-4100-87E3-0ABC4BC1DC01}" destId="{D39D5D54-D553-4124-8A37-572DEE55B479}" srcOrd="0" destOrd="0" presId="urn:microsoft.com/office/officeart/2005/8/layout/venn2"/>
    <dgm:cxn modelId="{B1211B33-1FC2-4718-9FA0-C8E6B62B5EE4}" type="presParOf" srcId="{98D1ADAA-7EEF-4100-87E3-0ABC4BC1DC01}" destId="{F262F6CD-FC28-4053-8801-C98E05315535}" srcOrd="1" destOrd="0" presId="urn:microsoft.com/office/officeart/2005/8/layout/venn2"/>
    <dgm:cxn modelId="{4254816B-1A48-4F9C-B2B3-6341C2B6FE14}" type="presParOf" srcId="{5A475CD2-8117-494C-8527-A73847E744F1}" destId="{0254A544-D3A8-459C-95C2-E5C0D63107AE}" srcOrd="1" destOrd="0" presId="urn:microsoft.com/office/officeart/2005/8/layout/venn2"/>
    <dgm:cxn modelId="{84578729-89E0-47A2-84CC-54EB251A1474}" type="presParOf" srcId="{0254A544-D3A8-459C-95C2-E5C0D63107AE}" destId="{71467C89-D9D1-4F40-BA85-8AF1CCE3FBC2}" srcOrd="0" destOrd="0" presId="urn:microsoft.com/office/officeart/2005/8/layout/venn2"/>
    <dgm:cxn modelId="{B4711AD8-EA1F-4169-9663-244845C0FE7D}" type="presParOf" srcId="{0254A544-D3A8-459C-95C2-E5C0D63107AE}" destId="{B492D963-9AFF-4A3D-AC1A-50D0BC11F6A7}" srcOrd="1" destOrd="0" presId="urn:microsoft.com/office/officeart/2005/8/layout/venn2"/>
    <dgm:cxn modelId="{109EBFC2-ACD8-42A7-B42D-8B0EF8774B75}" type="presParOf" srcId="{5A475CD2-8117-494C-8527-A73847E744F1}" destId="{179E83B3-F35D-41D2-88BE-3F4125919E53}" srcOrd="2" destOrd="0" presId="urn:microsoft.com/office/officeart/2005/8/layout/venn2"/>
    <dgm:cxn modelId="{276CC33C-DE77-461A-930F-66B280F71262}" type="presParOf" srcId="{179E83B3-F35D-41D2-88BE-3F4125919E53}" destId="{ED877F5D-3C94-4447-A0D9-F3E596EB60EA}" srcOrd="0" destOrd="0" presId="urn:microsoft.com/office/officeart/2005/8/layout/venn2"/>
    <dgm:cxn modelId="{F4E9FBA3-4AFC-4F17-BEA4-791403650404}" type="presParOf" srcId="{179E83B3-F35D-41D2-88BE-3F4125919E53}" destId="{8127865B-3F26-4ADA-9E14-087A538E7817}" srcOrd="1" destOrd="0" presId="urn:microsoft.com/office/officeart/2005/8/layout/venn2"/>
    <dgm:cxn modelId="{3C047115-7640-422B-9301-7A7EDE76E2CD}" type="presParOf" srcId="{5A475CD2-8117-494C-8527-A73847E744F1}" destId="{56D8184A-A0BA-4DCA-96D2-4A11059E12E6}" srcOrd="3" destOrd="0" presId="urn:microsoft.com/office/officeart/2005/8/layout/venn2"/>
    <dgm:cxn modelId="{B5B4730B-5F2B-496A-8C91-E32047F44636}" type="presParOf" srcId="{56D8184A-A0BA-4DCA-96D2-4A11059E12E6}" destId="{41559871-5481-49BA-838D-2EA6D864FA7B}" srcOrd="0" destOrd="0" presId="urn:microsoft.com/office/officeart/2005/8/layout/venn2"/>
    <dgm:cxn modelId="{1E239274-1084-4E8F-ADF4-A417893F8C04}" type="presParOf" srcId="{56D8184A-A0BA-4DCA-96D2-4A11059E12E6}" destId="{5A28FAD6-6628-4C0E-9929-AA033D191FEB}"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83145B-E745-4C88-B09E-567482BBF9E1}">
      <dsp:nvSpPr>
        <dsp:cNvPr id="0" name=""/>
        <dsp:cNvSpPr/>
      </dsp:nvSpPr>
      <dsp:spPr>
        <a:xfrm>
          <a:off x="3681701" y="2285234"/>
          <a:ext cx="91440" cy="1309411"/>
        </a:xfrm>
        <a:custGeom>
          <a:avLst/>
          <a:gdLst/>
          <a:ahLst/>
          <a:cxnLst/>
          <a:rect l="0" t="0" r="0" b="0"/>
          <a:pathLst>
            <a:path>
              <a:moveTo>
                <a:pt x="45720" y="0"/>
              </a:moveTo>
              <a:lnTo>
                <a:pt x="45720" y="1309411"/>
              </a:lnTo>
            </a:path>
          </a:pathLst>
        </a:custGeom>
        <a:noFill/>
        <a:ln w="25400" cap="flat" cmpd="sng" algn="ctr">
          <a:solidFill>
            <a:schemeClr val="accent1">
              <a:shade val="80000"/>
              <a:hueOff val="0"/>
              <a:satOff val="0"/>
              <a:lumOff val="0"/>
              <a:alphaOff val="0"/>
            </a:schemeClr>
          </a:solidFill>
          <a:miter lim="800000"/>
        </a:ln>
        <a:effectLst/>
      </dsp:spPr>
      <dsp:style>
        <a:lnRef idx="2">
          <a:scrgbClr r="0" g="0" b="0"/>
        </a:lnRef>
        <a:fillRef idx="0">
          <a:scrgbClr r="0" g="0" b="0"/>
        </a:fillRef>
        <a:effectRef idx="0">
          <a:scrgbClr r="0" g="0" b="0"/>
        </a:effectRef>
        <a:fontRef idx="minor"/>
      </dsp:style>
    </dsp:sp>
    <dsp:sp modelId="{9F2679E9-4867-4FF6-BDC7-B9B0E7B6F011}">
      <dsp:nvSpPr>
        <dsp:cNvPr id="0" name=""/>
        <dsp:cNvSpPr/>
      </dsp:nvSpPr>
      <dsp:spPr>
        <a:xfrm>
          <a:off x="2503288" y="989090"/>
          <a:ext cx="1224132" cy="661342"/>
        </a:xfrm>
        <a:custGeom>
          <a:avLst/>
          <a:gdLst/>
          <a:ahLst/>
          <a:cxnLst/>
          <a:rect l="0" t="0" r="0" b="0"/>
          <a:pathLst>
            <a:path>
              <a:moveTo>
                <a:pt x="0" y="0"/>
              </a:moveTo>
              <a:lnTo>
                <a:pt x="0" y="562154"/>
              </a:lnTo>
              <a:lnTo>
                <a:pt x="1224132" y="562154"/>
              </a:lnTo>
              <a:lnTo>
                <a:pt x="1224132" y="661342"/>
              </a:lnTo>
            </a:path>
          </a:pathLst>
        </a:custGeom>
        <a:noFill/>
        <a:ln w="25400" cap="flat" cmpd="sng" algn="ctr">
          <a:solidFill>
            <a:schemeClr val="accent1">
              <a:shade val="60000"/>
              <a:hueOff val="0"/>
              <a:satOff val="0"/>
              <a:lumOff val="0"/>
              <a:alphaOff val="0"/>
            </a:schemeClr>
          </a:solidFill>
          <a:miter lim="800000"/>
        </a:ln>
        <a:effectLst/>
      </dsp:spPr>
      <dsp:style>
        <a:lnRef idx="2">
          <a:scrgbClr r="0" g="0" b="0"/>
        </a:lnRef>
        <a:fillRef idx="0">
          <a:scrgbClr r="0" g="0" b="0"/>
        </a:fillRef>
        <a:effectRef idx="0">
          <a:scrgbClr r="0" g="0" b="0"/>
        </a:effectRef>
        <a:fontRef idx="minor"/>
      </dsp:style>
    </dsp:sp>
    <dsp:sp modelId="{DA31DD00-799F-4155-B331-BB4E4227B9D0}">
      <dsp:nvSpPr>
        <dsp:cNvPr id="0" name=""/>
        <dsp:cNvSpPr/>
      </dsp:nvSpPr>
      <dsp:spPr>
        <a:xfrm>
          <a:off x="1207144" y="2285227"/>
          <a:ext cx="864098" cy="877371"/>
        </a:xfrm>
        <a:custGeom>
          <a:avLst/>
          <a:gdLst/>
          <a:ahLst/>
          <a:cxnLst/>
          <a:rect l="0" t="0" r="0" b="0"/>
          <a:pathLst>
            <a:path>
              <a:moveTo>
                <a:pt x="0" y="0"/>
              </a:moveTo>
              <a:lnTo>
                <a:pt x="0" y="778184"/>
              </a:lnTo>
              <a:lnTo>
                <a:pt x="864098" y="778184"/>
              </a:lnTo>
              <a:lnTo>
                <a:pt x="864098" y="877371"/>
              </a:lnTo>
            </a:path>
          </a:pathLst>
        </a:custGeom>
        <a:noFill/>
        <a:ln w="25400" cap="flat" cmpd="sng" algn="ctr">
          <a:solidFill>
            <a:schemeClr val="accent1">
              <a:shade val="80000"/>
              <a:hueOff val="0"/>
              <a:satOff val="0"/>
              <a:lumOff val="0"/>
              <a:alphaOff val="0"/>
            </a:schemeClr>
          </a:solidFill>
          <a:miter lim="800000"/>
        </a:ln>
        <a:effectLst/>
      </dsp:spPr>
      <dsp:style>
        <a:lnRef idx="2">
          <a:scrgbClr r="0" g="0" b="0"/>
        </a:lnRef>
        <a:fillRef idx="0">
          <a:scrgbClr r="0" g="0" b="0"/>
        </a:fillRef>
        <a:effectRef idx="0">
          <a:scrgbClr r="0" g="0" b="0"/>
        </a:effectRef>
        <a:fontRef idx="minor"/>
      </dsp:style>
    </dsp:sp>
    <dsp:sp modelId="{BFCB8023-EA10-4058-9EA3-6D5BB009C038}">
      <dsp:nvSpPr>
        <dsp:cNvPr id="0" name=""/>
        <dsp:cNvSpPr/>
      </dsp:nvSpPr>
      <dsp:spPr>
        <a:xfrm>
          <a:off x="343046" y="2285227"/>
          <a:ext cx="864098" cy="877371"/>
        </a:xfrm>
        <a:custGeom>
          <a:avLst/>
          <a:gdLst/>
          <a:ahLst/>
          <a:cxnLst/>
          <a:rect l="0" t="0" r="0" b="0"/>
          <a:pathLst>
            <a:path>
              <a:moveTo>
                <a:pt x="864098" y="0"/>
              </a:moveTo>
              <a:lnTo>
                <a:pt x="864098" y="778184"/>
              </a:lnTo>
              <a:lnTo>
                <a:pt x="0" y="778184"/>
              </a:lnTo>
              <a:lnTo>
                <a:pt x="0" y="877371"/>
              </a:lnTo>
            </a:path>
          </a:pathLst>
        </a:custGeom>
        <a:noFill/>
        <a:ln w="25400" cap="flat" cmpd="sng" algn="ctr">
          <a:solidFill>
            <a:schemeClr val="accent1">
              <a:shade val="80000"/>
              <a:hueOff val="0"/>
              <a:satOff val="0"/>
              <a:lumOff val="0"/>
              <a:alphaOff val="0"/>
            </a:schemeClr>
          </a:solidFill>
          <a:miter lim="800000"/>
        </a:ln>
        <a:effectLst/>
      </dsp:spPr>
      <dsp:style>
        <a:lnRef idx="2">
          <a:scrgbClr r="0" g="0" b="0"/>
        </a:lnRef>
        <a:fillRef idx="0">
          <a:scrgbClr r="0" g="0" b="0"/>
        </a:fillRef>
        <a:effectRef idx="0">
          <a:scrgbClr r="0" g="0" b="0"/>
        </a:effectRef>
        <a:fontRef idx="minor"/>
      </dsp:style>
    </dsp:sp>
    <dsp:sp modelId="{EE61C222-B9AF-4337-95FF-FE2A8FEB3AB6}">
      <dsp:nvSpPr>
        <dsp:cNvPr id="0" name=""/>
        <dsp:cNvSpPr/>
      </dsp:nvSpPr>
      <dsp:spPr>
        <a:xfrm>
          <a:off x="1207144" y="989090"/>
          <a:ext cx="1296144" cy="661336"/>
        </a:xfrm>
        <a:custGeom>
          <a:avLst/>
          <a:gdLst/>
          <a:ahLst/>
          <a:cxnLst/>
          <a:rect l="0" t="0" r="0" b="0"/>
          <a:pathLst>
            <a:path>
              <a:moveTo>
                <a:pt x="1296144" y="0"/>
              </a:moveTo>
              <a:lnTo>
                <a:pt x="1296144" y="562148"/>
              </a:lnTo>
              <a:lnTo>
                <a:pt x="0" y="562148"/>
              </a:lnTo>
              <a:lnTo>
                <a:pt x="0" y="661336"/>
              </a:lnTo>
            </a:path>
          </a:pathLst>
        </a:custGeom>
        <a:noFill/>
        <a:ln w="25400" cap="flat" cmpd="sng" algn="ctr">
          <a:solidFill>
            <a:schemeClr val="accent1">
              <a:shade val="60000"/>
              <a:hueOff val="0"/>
              <a:satOff val="0"/>
              <a:lumOff val="0"/>
              <a:alphaOff val="0"/>
            </a:schemeClr>
          </a:solidFill>
          <a:miter lim="800000"/>
        </a:ln>
        <a:effectLst/>
      </dsp:spPr>
      <dsp:style>
        <a:lnRef idx="2">
          <a:scrgbClr r="0" g="0" b="0"/>
        </a:lnRef>
        <a:fillRef idx="0">
          <a:scrgbClr r="0" g="0" b="0"/>
        </a:fillRef>
        <a:effectRef idx="0">
          <a:scrgbClr r="0" g="0" b="0"/>
        </a:effectRef>
        <a:fontRef idx="minor"/>
      </dsp:style>
    </dsp:sp>
    <dsp:sp modelId="{460AC253-15D3-419E-AC01-30302483814A}">
      <dsp:nvSpPr>
        <dsp:cNvPr id="0" name=""/>
        <dsp:cNvSpPr/>
      </dsp:nvSpPr>
      <dsp:spPr>
        <a:xfrm>
          <a:off x="2185888" y="354288"/>
          <a:ext cx="634801" cy="634801"/>
        </a:xfrm>
        <a:prstGeom prst="ellipse">
          <a:avLst/>
        </a:prstGeom>
        <a:blipFill>
          <a:blip xmlns:r="http://schemas.openxmlformats.org/officeDocument/2006/relationships" r:embed="rId1"/>
          <a:srcRect/>
          <a:stretch>
            <a:fillRect l="-25000" r="-25000"/>
          </a:stretch>
        </a:blip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sp>
    <dsp:sp modelId="{52484CEA-72BE-4849-BD65-4D4B528DDE9C}">
      <dsp:nvSpPr>
        <dsp:cNvPr id="0" name=""/>
        <dsp:cNvSpPr/>
      </dsp:nvSpPr>
      <dsp:spPr>
        <a:xfrm>
          <a:off x="2977977" y="354282"/>
          <a:ext cx="952202" cy="634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noProof="0" dirty="0"/>
            <a:t>Base</a:t>
          </a:r>
        </a:p>
      </dsp:txBody>
      <dsp:txXfrm>
        <a:off x="2977977" y="354282"/>
        <a:ext cx="952202" cy="634801"/>
      </dsp:txXfrm>
    </dsp:sp>
    <dsp:sp modelId="{4DC2D1A2-896B-4C7E-83A4-A4FA3842909B}">
      <dsp:nvSpPr>
        <dsp:cNvPr id="0" name=""/>
        <dsp:cNvSpPr/>
      </dsp:nvSpPr>
      <dsp:spPr>
        <a:xfrm>
          <a:off x="889744" y="1650426"/>
          <a:ext cx="634801" cy="634801"/>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25000" r="-25000"/>
          </a:stretch>
        </a:blip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sp>
    <dsp:sp modelId="{1F63F02F-296F-433D-BC1C-359E810C2BFE}">
      <dsp:nvSpPr>
        <dsp:cNvPr id="0" name=""/>
        <dsp:cNvSpPr/>
      </dsp:nvSpPr>
      <dsp:spPr>
        <a:xfrm>
          <a:off x="1681830" y="1748318"/>
          <a:ext cx="952202" cy="634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noProof="0" dirty="0"/>
            <a:t>Parent</a:t>
          </a:r>
        </a:p>
      </dsp:txBody>
      <dsp:txXfrm>
        <a:off x="1681830" y="1748318"/>
        <a:ext cx="952202" cy="634801"/>
      </dsp:txXfrm>
    </dsp:sp>
    <dsp:sp modelId="{B6AF3447-E03D-4BEB-9AF8-6270D1373604}">
      <dsp:nvSpPr>
        <dsp:cNvPr id="0" name=""/>
        <dsp:cNvSpPr/>
      </dsp:nvSpPr>
      <dsp:spPr>
        <a:xfrm>
          <a:off x="25645" y="3162599"/>
          <a:ext cx="634801" cy="634801"/>
        </a:xfrm>
        <a:prstGeom prst="ellipse">
          <a:avLst/>
        </a:prstGeom>
        <a:blipFill>
          <a:blip xmlns:r="http://schemas.openxmlformats.org/officeDocument/2006/relationships" r:embed="rId3"/>
          <a:srcRect/>
          <a:stretch>
            <a:fillRect l="-39000" r="-39000"/>
          </a:stretch>
        </a:blip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sp>
    <dsp:sp modelId="{6B85D069-E315-4FC2-8951-22A8112BA649}">
      <dsp:nvSpPr>
        <dsp:cNvPr id="0" name=""/>
        <dsp:cNvSpPr/>
      </dsp:nvSpPr>
      <dsp:spPr>
        <a:xfrm>
          <a:off x="673718" y="3234605"/>
          <a:ext cx="952202" cy="634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i-FI" sz="2300" kern="1200" dirty="0"/>
            <a:t>Child</a:t>
          </a:r>
        </a:p>
      </dsp:txBody>
      <dsp:txXfrm>
        <a:off x="673718" y="3234605"/>
        <a:ext cx="952202" cy="634801"/>
      </dsp:txXfrm>
    </dsp:sp>
    <dsp:sp modelId="{5C48C249-D7F8-4E33-8574-E986E2B36EEA}">
      <dsp:nvSpPr>
        <dsp:cNvPr id="0" name=""/>
        <dsp:cNvSpPr/>
      </dsp:nvSpPr>
      <dsp:spPr>
        <a:xfrm>
          <a:off x="1753842" y="3162599"/>
          <a:ext cx="634801" cy="634801"/>
        </a:xfrm>
        <a:prstGeom prst="ellipse">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l="-18000" r="-18000"/>
          </a:stretch>
        </a:blip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sp>
    <dsp:sp modelId="{87333F66-723A-445D-9248-57F786341322}">
      <dsp:nvSpPr>
        <dsp:cNvPr id="0" name=""/>
        <dsp:cNvSpPr/>
      </dsp:nvSpPr>
      <dsp:spPr>
        <a:xfrm>
          <a:off x="2401911" y="3162599"/>
          <a:ext cx="952202" cy="634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i-FI" sz="2300" kern="1200" dirty="0"/>
            <a:t>Child</a:t>
          </a:r>
        </a:p>
      </dsp:txBody>
      <dsp:txXfrm>
        <a:off x="2401911" y="3162599"/>
        <a:ext cx="952202" cy="634801"/>
      </dsp:txXfrm>
    </dsp:sp>
    <dsp:sp modelId="{DF03DF8E-301A-48A3-B8DA-8DBA26790108}">
      <dsp:nvSpPr>
        <dsp:cNvPr id="0" name=""/>
        <dsp:cNvSpPr/>
      </dsp:nvSpPr>
      <dsp:spPr>
        <a:xfrm>
          <a:off x="3410020" y="1650432"/>
          <a:ext cx="634801" cy="634801"/>
        </a:xfrm>
        <a:prstGeom prst="ellipse">
          <a:avLst/>
        </a:prstGeom>
        <a:blipFill>
          <a:blip xmlns:r="http://schemas.openxmlformats.org/officeDocument/2006/relationships" r:embed="rId5"/>
          <a:srcRect/>
          <a:stretch>
            <a:fillRect l="-25000" r="-25000"/>
          </a:stretch>
        </a:blip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sp>
    <dsp:sp modelId="{2C73DC01-3BD9-435C-ADC3-534E18BB8528}">
      <dsp:nvSpPr>
        <dsp:cNvPr id="0" name=""/>
        <dsp:cNvSpPr/>
      </dsp:nvSpPr>
      <dsp:spPr>
        <a:xfrm>
          <a:off x="4058098" y="1722438"/>
          <a:ext cx="952202" cy="634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noProof="0" dirty="0"/>
            <a:t>Parent</a:t>
          </a:r>
        </a:p>
      </dsp:txBody>
      <dsp:txXfrm>
        <a:off x="4058098" y="1722438"/>
        <a:ext cx="952202" cy="634801"/>
      </dsp:txXfrm>
    </dsp:sp>
    <dsp:sp modelId="{25A94071-39AA-4DD1-9EB7-27FA95B0D91C}">
      <dsp:nvSpPr>
        <dsp:cNvPr id="0" name=""/>
        <dsp:cNvSpPr/>
      </dsp:nvSpPr>
      <dsp:spPr>
        <a:xfrm>
          <a:off x="3410020" y="3594645"/>
          <a:ext cx="634801" cy="634801"/>
        </a:xfrm>
        <a:prstGeom prst="ellipse">
          <a:avLst/>
        </a:prstGeom>
        <a:blipFill>
          <a:blip xmlns:r="http://schemas.openxmlformats.org/officeDocument/2006/relationships" r:embed="rId6"/>
          <a:srcRect/>
          <a:stretch>
            <a:fillRect l="-25000" r="-25000"/>
          </a:stretch>
        </a:blip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sp>
    <dsp:sp modelId="{EC2527E7-49BF-4707-ACB2-4B40C554BF6E}">
      <dsp:nvSpPr>
        <dsp:cNvPr id="0" name=""/>
        <dsp:cNvSpPr/>
      </dsp:nvSpPr>
      <dsp:spPr>
        <a:xfrm>
          <a:off x="4126209" y="3594645"/>
          <a:ext cx="952202" cy="634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i-FI" sz="2300" kern="1200" dirty="0"/>
            <a:t>Child</a:t>
          </a:r>
        </a:p>
      </dsp:txBody>
      <dsp:txXfrm>
        <a:off x="4126209" y="3594645"/>
        <a:ext cx="952202" cy="6348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9D5D54-D553-4124-8A37-572DEE55B479}">
      <dsp:nvSpPr>
        <dsp:cNvPr id="0" name=""/>
        <dsp:cNvSpPr/>
      </dsp:nvSpPr>
      <dsp:spPr>
        <a:xfrm>
          <a:off x="306388" y="0"/>
          <a:ext cx="4465637" cy="4465637"/>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noProof="0" dirty="0"/>
            <a:t>Built-In</a:t>
          </a:r>
        </a:p>
      </dsp:txBody>
      <dsp:txXfrm>
        <a:off x="1914910" y="223281"/>
        <a:ext cx="1248592" cy="669845"/>
      </dsp:txXfrm>
    </dsp:sp>
    <dsp:sp modelId="{71467C89-D9D1-4F40-BA85-8AF1CCE3FBC2}">
      <dsp:nvSpPr>
        <dsp:cNvPr id="0" name=""/>
        <dsp:cNvSpPr/>
      </dsp:nvSpPr>
      <dsp:spPr>
        <a:xfrm>
          <a:off x="752951" y="893127"/>
          <a:ext cx="3572509" cy="3572509"/>
        </a:xfrm>
        <a:prstGeom prst="ellipse">
          <a:avLst/>
        </a:prstGeom>
        <a:solidFill>
          <a:schemeClr val="accent5">
            <a:hueOff val="4516134"/>
            <a:satOff val="-11447"/>
            <a:lumOff val="1830"/>
            <a:alphaOff val="0"/>
          </a:schemeClr>
        </a:solid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noProof="0" dirty="0"/>
            <a:t>Global Scope</a:t>
          </a:r>
        </a:p>
      </dsp:txBody>
      <dsp:txXfrm>
        <a:off x="1914910" y="1107477"/>
        <a:ext cx="1248592" cy="643051"/>
      </dsp:txXfrm>
    </dsp:sp>
    <dsp:sp modelId="{ED877F5D-3C94-4447-A0D9-F3E596EB60EA}">
      <dsp:nvSpPr>
        <dsp:cNvPr id="0" name=""/>
        <dsp:cNvSpPr/>
      </dsp:nvSpPr>
      <dsp:spPr>
        <a:xfrm>
          <a:off x="1199515" y="1786254"/>
          <a:ext cx="2679382" cy="2679382"/>
        </a:xfrm>
        <a:prstGeom prst="ellipse">
          <a:avLst/>
        </a:prstGeom>
        <a:solidFill>
          <a:schemeClr val="accent5">
            <a:hueOff val="9032268"/>
            <a:satOff val="-22894"/>
            <a:lumOff val="3659"/>
            <a:alphaOff val="0"/>
          </a:schemeClr>
        </a:solid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noProof="0" dirty="0"/>
            <a:t>Enclosing</a:t>
          </a:r>
          <a:br>
            <a:rPr lang="fi-FI" sz="1400" kern="1200" dirty="0"/>
          </a:br>
          <a:r>
            <a:rPr lang="en-US" sz="1400" kern="1200" noProof="0" dirty="0"/>
            <a:t>Scope</a:t>
          </a:r>
        </a:p>
      </dsp:txBody>
      <dsp:txXfrm>
        <a:off x="1914910" y="1987208"/>
        <a:ext cx="1248592" cy="602860"/>
      </dsp:txXfrm>
    </dsp:sp>
    <dsp:sp modelId="{41559871-5481-49BA-838D-2EA6D864FA7B}">
      <dsp:nvSpPr>
        <dsp:cNvPr id="0" name=""/>
        <dsp:cNvSpPr/>
      </dsp:nvSpPr>
      <dsp:spPr>
        <a:xfrm>
          <a:off x="1646079" y="2679382"/>
          <a:ext cx="1786254" cy="1786254"/>
        </a:xfrm>
        <a:prstGeom prst="ellipse">
          <a:avLst/>
        </a:prstGeom>
        <a:solidFill>
          <a:schemeClr val="accent5">
            <a:hueOff val="13548401"/>
            <a:satOff val="-34341"/>
            <a:lumOff val="5489"/>
            <a:alphaOff val="0"/>
          </a:schemeClr>
        </a:solidFill>
        <a:ln w="25400" cap="flat" cmpd="sng" algn="ctr">
          <a:solidFill>
            <a:schemeClr val="lt1">
              <a:hueOff val="0"/>
              <a:satOff val="0"/>
              <a:lumOff val="0"/>
              <a:alphaOff val="0"/>
            </a:schemeClr>
          </a:solidFill>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noProof="0" dirty="0"/>
            <a:t>Local</a:t>
          </a:r>
          <a:br>
            <a:rPr lang="en-US" sz="1400" kern="1200" noProof="0" dirty="0"/>
          </a:br>
          <a:r>
            <a:rPr lang="en-US" sz="1400" kern="1200" noProof="0" dirty="0"/>
            <a:t>Scope</a:t>
          </a:r>
        </a:p>
      </dsp:txBody>
      <dsp:txXfrm>
        <a:off x="1907670" y="3125945"/>
        <a:ext cx="1263072" cy="893127"/>
      </dsp:txXfrm>
    </dsp:sp>
  </dsp:spTree>
</dsp:drawing>
</file>

<file path=ppt/diagrams/layout1.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5/19/2024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5/19/2024</a:t>
            </a:fld>
            <a:endParaRPr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dirty="0"/>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dirty="0"/>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dirty="0"/>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5/19/2024</a:t>
            </a:fld>
            <a:endParaRPr dirty="0"/>
          </a:p>
        </p:txBody>
      </p:sp>
      <p:sp>
        <p:nvSpPr>
          <p:cNvPr id="23" name="Footer Placeholder 22"/>
          <p:cNvSpPr>
            <a:spLocks noGrp="1"/>
          </p:cNvSpPr>
          <p:nvPr>
            <p:ph type="ftr" sz="quarter" idx="11"/>
          </p:nvPr>
        </p:nvSpPr>
        <p:spPr/>
        <p:txBody>
          <a:bodyPr/>
          <a:lstStyle/>
          <a:p>
            <a:endParaRPr dirty="0"/>
          </a:p>
        </p:txBody>
      </p:sp>
      <p:sp>
        <p:nvSpPr>
          <p:cNvPr id="24" name="Slide Number Placeholder 23"/>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5/19/2024</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5/19/2024</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5/19/2024</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5/19/2024</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5/19/2024</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5/19/2024</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5/19/2024</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F0DFD029-FB74-4578-B929-F66AA97659CA}" type="datetimeFigureOut">
              <a:rPr lang="en-US"/>
              <a:t>5/19/2024</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5/19/2024</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5/19/2024</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5/19/2024</a:t>
            </a:fld>
            <a:endParaRPr dirty="0"/>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dirty="0"/>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dirty="0"/>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iobe.com/tiobe-index/" TargetMode="External"/><Relationship Id="rId2" Type="http://schemas.openxmlformats.org/officeDocument/2006/relationships/hyperlink" Target="https://octoverse.github.com/" TargetMode="External"/><Relationship Id="rId1" Type="http://schemas.openxmlformats.org/officeDocument/2006/relationships/slideLayout" Target="../slideLayouts/slideLayout2.xml"/><Relationship Id="rId6" Type="http://schemas.openxmlformats.org/officeDocument/2006/relationships/hyperlink" Target="http://en.wikipedia.org/wiki/Guido_van_Rossum" TargetMode="External"/><Relationship Id="rId5" Type="http://schemas.openxmlformats.org/officeDocument/2006/relationships/hyperlink" Target="https://spectrum.ieee.org/static/interactive-the-top-programming-languages-2020" TargetMode="External"/><Relationship Id="rId4" Type="http://schemas.openxmlformats.org/officeDocument/2006/relationships/hyperlink" Target="https://insights.stackoverflow.com/survey/2020#technology-most-loved-dreaded-and-wanted-languages-wanted"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ocs.python.org/3/index.html" TargetMode="External"/><Relationship Id="rId2" Type="http://schemas.openxmlformats.org/officeDocument/2006/relationships/hyperlink" Target="https://docs.python.org/3/librar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ypy.org/" TargetMode="External"/><Relationship Id="rId2" Type="http://schemas.openxmlformats.org/officeDocument/2006/relationships/hyperlink" Target="https://benchmarksgame-team.pages.debian.net/benchmarksgame/" TargetMode="External"/><Relationship Id="rId1" Type="http://schemas.openxmlformats.org/officeDocument/2006/relationships/slideLayout" Target="../slideLayouts/slideLayout2.xml"/><Relationship Id="rId4" Type="http://schemas.openxmlformats.org/officeDocument/2006/relationships/hyperlink" Target="http://speed.pypy.org/"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jupyter.org/" TargetMode="External"/><Relationship Id="rId3" Type="http://schemas.openxmlformats.org/officeDocument/2006/relationships/hyperlink" Target="http://www.numpy.org/" TargetMode="External"/><Relationship Id="rId7" Type="http://schemas.openxmlformats.org/officeDocument/2006/relationships/hyperlink" Target="http://vispy.org/" TargetMode="External"/><Relationship Id="rId12" Type="http://schemas.openxmlformats.org/officeDocument/2006/relationships/hyperlink" Target="https://pytorch.org/" TargetMode="External"/><Relationship Id="rId2" Type="http://schemas.openxmlformats.org/officeDocument/2006/relationships/hyperlink" Target="https://python-graph-gallery.com/" TargetMode="External"/><Relationship Id="rId1" Type="http://schemas.openxmlformats.org/officeDocument/2006/relationships/slideLayout" Target="../slideLayouts/slideLayout2.xml"/><Relationship Id="rId6" Type="http://schemas.openxmlformats.org/officeDocument/2006/relationships/hyperlink" Target="https://matplotlib.org/" TargetMode="External"/><Relationship Id="rId11" Type="http://schemas.openxmlformats.org/officeDocument/2006/relationships/hyperlink" Target="https://keras.io/" TargetMode="External"/><Relationship Id="rId5" Type="http://schemas.openxmlformats.org/officeDocument/2006/relationships/hyperlink" Target="https://pandas.pydata.org/" TargetMode="External"/><Relationship Id="rId10" Type="http://schemas.openxmlformats.org/officeDocument/2006/relationships/hyperlink" Target="https://scikit-learn.org/" TargetMode="External"/><Relationship Id="rId4" Type="http://schemas.openxmlformats.org/officeDocument/2006/relationships/hyperlink" Target="https://www.scipy.org/" TargetMode="External"/><Relationship Id="rId9" Type="http://schemas.openxmlformats.org/officeDocument/2006/relationships/hyperlink" Target="https://www.tensorflow.or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6" Type="http://schemas.openxmlformats.org/officeDocument/2006/relationships/hyperlink" Target="https://docs.python.org/3/library/functions.html#staticmethod" TargetMode="External"/><Relationship Id="rId21" Type="http://schemas.openxmlformats.org/officeDocument/2006/relationships/hyperlink" Target="https://docs.python.org/3/library/functions.html#sorted" TargetMode="External"/><Relationship Id="rId42" Type="http://schemas.openxmlformats.org/officeDocument/2006/relationships/hyperlink" Target="https://docs.python.org/3/library/functions.html#func-bytes" TargetMode="External"/><Relationship Id="rId47" Type="http://schemas.openxmlformats.org/officeDocument/2006/relationships/hyperlink" Target="https://docs.python.org/3/library/functions.html#callable" TargetMode="External"/><Relationship Id="rId63" Type="http://schemas.openxmlformats.org/officeDocument/2006/relationships/hyperlink" Target="https://docs.python.org/3/library/functions.html#globals" TargetMode="External"/><Relationship Id="rId68" Type="http://schemas.openxmlformats.org/officeDocument/2006/relationships/hyperlink" Target="https://docs.python.org/3/library/functions.html#hasattr" TargetMode="External"/><Relationship Id="rId7" Type="http://schemas.openxmlformats.org/officeDocument/2006/relationships/hyperlink" Target="https://docs.python.org/3/library/functions.html#all" TargetMode="External"/><Relationship Id="rId2" Type="http://schemas.openxmlformats.org/officeDocument/2006/relationships/hyperlink" Target="https://docs.python.org/3/library/functions.html#abs" TargetMode="External"/><Relationship Id="rId16" Type="http://schemas.openxmlformats.org/officeDocument/2006/relationships/hyperlink" Target="https://docs.python.org/3/library/functions.html#slice" TargetMode="External"/><Relationship Id="rId29" Type="http://schemas.openxmlformats.org/officeDocument/2006/relationships/hyperlink" Target="https://docs.python.org/3/library/functions.html#int" TargetMode="External"/><Relationship Id="rId11" Type="http://schemas.openxmlformats.org/officeDocument/2006/relationships/hyperlink" Target="https://docs.python.org/3/library/functions.html#setattr" TargetMode="External"/><Relationship Id="rId24" Type="http://schemas.openxmlformats.org/officeDocument/2006/relationships/hyperlink" Target="https://docs.python.org/3/library/functions.html#input" TargetMode="External"/><Relationship Id="rId32" Type="http://schemas.openxmlformats.org/officeDocument/2006/relationships/hyperlink" Target="https://docs.python.org/3/library/functions.html#breakpoint" TargetMode="External"/><Relationship Id="rId37" Type="http://schemas.openxmlformats.org/officeDocument/2006/relationships/hyperlink" Target="https://docs.python.org/3/library/functions.html#func-bytearray" TargetMode="External"/><Relationship Id="rId40" Type="http://schemas.openxmlformats.org/officeDocument/2006/relationships/hyperlink" Target="https://docs.python.org/3/library/functions.html#pow" TargetMode="External"/><Relationship Id="rId45" Type="http://schemas.openxmlformats.org/officeDocument/2006/relationships/hyperlink" Target="https://docs.python.org/3/library/functions.html#print" TargetMode="External"/><Relationship Id="rId53" Type="http://schemas.openxmlformats.org/officeDocument/2006/relationships/hyperlink" Target="https://docs.python.org/3/library/functions.html#func-frozenset" TargetMode="External"/><Relationship Id="rId58" Type="http://schemas.openxmlformats.org/officeDocument/2006/relationships/hyperlink" Target="https://docs.python.org/3/library/functions.html#getattr" TargetMode="External"/><Relationship Id="rId66" Type="http://schemas.openxmlformats.org/officeDocument/2006/relationships/hyperlink" Target="https://docs.python.org/3/library/functions.html#__import__" TargetMode="External"/><Relationship Id="rId5" Type="http://schemas.openxmlformats.org/officeDocument/2006/relationships/hyperlink" Target="https://docs.python.org/3/library/functions.html#func-memoryview" TargetMode="External"/><Relationship Id="rId61" Type="http://schemas.openxmlformats.org/officeDocument/2006/relationships/hyperlink" Target="https://docs.python.org/3/library/functions.html#zip" TargetMode="External"/><Relationship Id="rId19" Type="http://schemas.openxmlformats.org/officeDocument/2006/relationships/hyperlink" Target="https://docs.python.org/3/library/functions.html#id" TargetMode="External"/><Relationship Id="rId14" Type="http://schemas.openxmlformats.org/officeDocument/2006/relationships/hyperlink" Target="https://docs.python.org/3/library/functions.html#hex" TargetMode="External"/><Relationship Id="rId22" Type="http://schemas.openxmlformats.org/officeDocument/2006/relationships/hyperlink" Target="https://docs.python.org/3/library/functions.html#bin" TargetMode="External"/><Relationship Id="rId27" Type="http://schemas.openxmlformats.org/officeDocument/2006/relationships/hyperlink" Target="https://docs.python.org/3/library/functions.html#bool" TargetMode="External"/><Relationship Id="rId30" Type="http://schemas.openxmlformats.org/officeDocument/2006/relationships/hyperlink" Target="https://docs.python.org/3/library/functions.html#open" TargetMode="External"/><Relationship Id="rId35" Type="http://schemas.openxmlformats.org/officeDocument/2006/relationships/hyperlink" Target="https://docs.python.org/3/library/functions.html#ord" TargetMode="External"/><Relationship Id="rId43" Type="http://schemas.openxmlformats.org/officeDocument/2006/relationships/hyperlink" Target="https://docs.python.org/3/library/functions.html#float" TargetMode="External"/><Relationship Id="rId48" Type="http://schemas.openxmlformats.org/officeDocument/2006/relationships/hyperlink" Target="https://docs.python.org/3/library/functions.html#format" TargetMode="External"/><Relationship Id="rId56" Type="http://schemas.openxmlformats.org/officeDocument/2006/relationships/hyperlink" Target="https://docs.python.org/3/library/functions.html#vars" TargetMode="External"/><Relationship Id="rId64" Type="http://schemas.openxmlformats.org/officeDocument/2006/relationships/hyperlink" Target="https://docs.python.org/3/library/functions.html#map" TargetMode="External"/><Relationship Id="rId69" Type="http://schemas.openxmlformats.org/officeDocument/2006/relationships/hyperlink" Target="https://docs.python.org/3/library/functions.html#max" TargetMode="External"/><Relationship Id="rId8" Type="http://schemas.openxmlformats.org/officeDocument/2006/relationships/hyperlink" Target="https://docs.python.org/3/library/functions.html#func-dict" TargetMode="External"/><Relationship Id="rId51" Type="http://schemas.openxmlformats.org/officeDocument/2006/relationships/hyperlink" Target="https://docs.python.org/3/library/functions.html#type" TargetMode="External"/><Relationship Id="rId3" Type="http://schemas.openxmlformats.org/officeDocument/2006/relationships/hyperlink" Target="https://docs.python.org/3/library/functions.html#delattr" TargetMode="External"/><Relationship Id="rId12" Type="http://schemas.openxmlformats.org/officeDocument/2006/relationships/hyperlink" Target="https://docs.python.org/3/library/functions.html#any" TargetMode="External"/><Relationship Id="rId17" Type="http://schemas.openxmlformats.org/officeDocument/2006/relationships/hyperlink" Target="https://docs.python.org/3/library/functions.html#ascii" TargetMode="External"/><Relationship Id="rId25" Type="http://schemas.openxmlformats.org/officeDocument/2006/relationships/hyperlink" Target="https://docs.python.org/3/library/functions.html#oct" TargetMode="External"/><Relationship Id="rId33" Type="http://schemas.openxmlformats.org/officeDocument/2006/relationships/hyperlink" Target="https://docs.python.org/3/library/functions.html#exec" TargetMode="External"/><Relationship Id="rId38" Type="http://schemas.openxmlformats.org/officeDocument/2006/relationships/hyperlink" Target="https://docs.python.org/3/library/functions.html#filter" TargetMode="External"/><Relationship Id="rId46" Type="http://schemas.openxmlformats.org/officeDocument/2006/relationships/hyperlink" Target="https://docs.python.org/3/library/functions.html#func-tuple" TargetMode="External"/><Relationship Id="rId59" Type="http://schemas.openxmlformats.org/officeDocument/2006/relationships/hyperlink" Target="https://docs.python.org/3/library/functions.html#locals" TargetMode="External"/><Relationship Id="rId67" Type="http://schemas.openxmlformats.org/officeDocument/2006/relationships/hyperlink" Target="https://docs.python.org/3/library/functions.html#complex" TargetMode="External"/><Relationship Id="rId20" Type="http://schemas.openxmlformats.org/officeDocument/2006/relationships/hyperlink" Target="https://docs.python.org/3/library/functions.html#object" TargetMode="External"/><Relationship Id="rId41" Type="http://schemas.openxmlformats.org/officeDocument/2006/relationships/hyperlink" Target="https://docs.python.org/3/library/functions.html#super" TargetMode="External"/><Relationship Id="rId54" Type="http://schemas.openxmlformats.org/officeDocument/2006/relationships/hyperlink" Target="https://docs.python.org/3/library/functions.html#func-list" TargetMode="External"/><Relationship Id="rId62" Type="http://schemas.openxmlformats.org/officeDocument/2006/relationships/hyperlink" Target="https://docs.python.org/3/library/functions.html#compile" TargetMode="External"/><Relationship Id="rId70" Type="http://schemas.openxmlformats.org/officeDocument/2006/relationships/hyperlink" Target="https://docs.python.org/3/library/functions.html#round" TargetMode="External"/><Relationship Id="rId1" Type="http://schemas.openxmlformats.org/officeDocument/2006/relationships/slideLayout" Target="../slideLayouts/slideLayout4.xml"/><Relationship Id="rId6" Type="http://schemas.openxmlformats.org/officeDocument/2006/relationships/hyperlink" Target="https://docs.python.org/3/library/functions.html#func-set" TargetMode="External"/><Relationship Id="rId15" Type="http://schemas.openxmlformats.org/officeDocument/2006/relationships/hyperlink" Target="https://docs.python.org/3/library/functions.html#-1,-1,NEXT" TargetMode="External"/><Relationship Id="rId23" Type="http://schemas.openxmlformats.org/officeDocument/2006/relationships/hyperlink" Target="https://docs.python.org/3/library/functions.html#enumerate" TargetMode="External"/><Relationship Id="rId28" Type="http://schemas.openxmlformats.org/officeDocument/2006/relationships/hyperlink" Target="https://docs.python.org/3/library/functions.html#eval" TargetMode="External"/><Relationship Id="rId36" Type="http://schemas.openxmlformats.org/officeDocument/2006/relationships/hyperlink" Target="https://docs.python.org/3/library/functions.html#sum" TargetMode="External"/><Relationship Id="rId49" Type="http://schemas.openxmlformats.org/officeDocument/2006/relationships/hyperlink" Target="https://docs.python.org/3/library/functions.html#len" TargetMode="External"/><Relationship Id="rId57" Type="http://schemas.openxmlformats.org/officeDocument/2006/relationships/hyperlink" Target="https://docs.python.org/3/library/functions.html#classmethod" TargetMode="External"/><Relationship Id="rId10" Type="http://schemas.openxmlformats.org/officeDocument/2006/relationships/hyperlink" Target="https://docs.python.org/3/library/functions.html#min" TargetMode="External"/><Relationship Id="rId31" Type="http://schemas.openxmlformats.org/officeDocument/2006/relationships/hyperlink" Target="https://docs.python.org/3/library/functions.html#func-str" TargetMode="External"/><Relationship Id="rId44" Type="http://schemas.openxmlformats.org/officeDocument/2006/relationships/hyperlink" Target="https://docs.python.org/3/library/functions.html#iter" TargetMode="External"/><Relationship Id="rId52" Type="http://schemas.openxmlformats.org/officeDocument/2006/relationships/hyperlink" Target="https://docs.python.org/3/library/functions.html#chr" TargetMode="External"/><Relationship Id="rId60" Type="http://schemas.openxmlformats.org/officeDocument/2006/relationships/hyperlink" Target="https://docs.python.org/3/library/functions.html#repr" TargetMode="External"/><Relationship Id="rId65" Type="http://schemas.openxmlformats.org/officeDocument/2006/relationships/hyperlink" Target="https://docs.python.org/3/library/functions.html#reversed" TargetMode="External"/><Relationship Id="rId4" Type="http://schemas.openxmlformats.org/officeDocument/2006/relationships/hyperlink" Target="https://docs.python.org/3/library/functions.html#hash" TargetMode="External"/><Relationship Id="rId9" Type="http://schemas.openxmlformats.org/officeDocument/2006/relationships/hyperlink" Target="https://docs.python.org/3/library/functions.html#help" TargetMode="External"/><Relationship Id="rId13" Type="http://schemas.openxmlformats.org/officeDocument/2006/relationships/hyperlink" Target="https://docs.python.org/3/library/functions.html#dir" TargetMode="External"/><Relationship Id="rId18" Type="http://schemas.openxmlformats.org/officeDocument/2006/relationships/hyperlink" Target="https://docs.python.org/3/library/functions.html#divmod" TargetMode="External"/><Relationship Id="rId39" Type="http://schemas.openxmlformats.org/officeDocument/2006/relationships/hyperlink" Target="https://docs.python.org/3/library/functions.html#issubclass" TargetMode="External"/><Relationship Id="rId34" Type="http://schemas.openxmlformats.org/officeDocument/2006/relationships/hyperlink" Target="https://docs.python.org/3/library/functions.html#isinstance" TargetMode="External"/><Relationship Id="rId50" Type="http://schemas.openxmlformats.org/officeDocument/2006/relationships/hyperlink" Target="https://docs.python.org/3/library/functions.html#property" TargetMode="External"/><Relationship Id="rId55" Type="http://schemas.openxmlformats.org/officeDocument/2006/relationships/hyperlink" Target="https://docs.python.org/3/library/functions.html#func-rang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kitchingroup.cheme.cmu.edu/blog/2013/07/07/The-and-or-trick-in-pytho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docs.python.org/3/library/stdtypes.html#text-sequence-type-str"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docs.python.org/3/library/stdtypes.html#mapping-types-dict"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python.org/dev/peps/pep-0008/"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en.wikipedia.org/wiki/Recursion_(computer_science)"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hyperlink" Target="https://book.pythontips.com/en/latest/__slots__magic.html"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docs.python.org/3/library/typing.html" TargetMode="External"/><Relationship Id="rId2" Type="http://schemas.openxmlformats.org/officeDocument/2006/relationships/hyperlink" Target="http://mypy-lang.org/"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realpython.com/python-type-checking/" TargetMode="External"/><Relationship Id="rId2" Type="http://schemas.openxmlformats.org/officeDocument/2006/relationships/hyperlink" Target="https://realpython.com/python-data-classes/"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bit.ly/2T7BDAP" TargetMode="External"/><Relationship Id="rId2" Type="http://schemas.openxmlformats.org/officeDocument/2006/relationships/hyperlink" Target="https://yle.fi/uutiset" TargetMode="Externa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hyperlink" Target="https://www.json.org/json-en.html" TargetMode="Externa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hyperlink" Target="https://docs.python.org/3/library/pickle.html" TargetMode="Externa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hyperlink" Target="https://en.wikipedia.org/wiki/Mersenne_Twister" TargetMode="Externa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hyperlink" Target="https://ipython.readthedocs.io/en/stable/index.html" TargetMode="Externa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hyperlink" Target="https://docs.python-guide.org/dev/virtualenvs/" TargetMode="Externa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hyperlink" Target="https://pipenv.pypa.io/en/latest/" TargetMode="Externa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hyperlink" Target="https://pipenv.pypa.io/en/latest/" TargetMode="External"/><Relationship Id="rId2" Type="http://schemas.openxmlformats.org/officeDocument/2006/relationships/hyperlink" Target="https://docs.python.org/3/library/venv.html" TargetMode="Externa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hyperlink" Target="https://en.wikipedia.org/wiki/Tim_Peters_(software_engine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Python 3</a:t>
            </a:r>
          </a:p>
        </p:txBody>
      </p:sp>
      <p:sp>
        <p:nvSpPr>
          <p:cNvPr id="5" name="Subtitle 4"/>
          <p:cNvSpPr>
            <a:spLocks noGrp="1"/>
          </p:cNvSpPr>
          <p:nvPr>
            <p:ph type="subTitle" idx="1"/>
          </p:nvPr>
        </p:nvSpPr>
        <p:spPr/>
        <p:txBody>
          <a:bodyPr/>
          <a:lstStyle/>
          <a:p>
            <a:r>
              <a:rPr lang="en-US" dirty="0"/>
              <a:t>BY Petri KUITTINEN 2020</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What is Python?</a:t>
            </a:r>
          </a:p>
        </p:txBody>
      </p:sp>
      <p:sp>
        <p:nvSpPr>
          <p:cNvPr id="14" name="Content Placeholder 13"/>
          <p:cNvSpPr>
            <a:spLocks noGrp="1"/>
          </p:cNvSpPr>
          <p:nvPr>
            <p:ph idx="1"/>
          </p:nvPr>
        </p:nvSpPr>
        <p:spPr/>
        <p:txBody>
          <a:bodyPr>
            <a:normAutofit fontScale="92500" lnSpcReduction="20000"/>
          </a:bodyPr>
          <a:lstStyle/>
          <a:p>
            <a:pPr>
              <a:lnSpc>
                <a:spcPct val="80000"/>
              </a:lnSpc>
              <a:defRPr/>
            </a:pPr>
            <a:r>
              <a:rPr lang="en-US" dirty="0"/>
              <a:t>Interpreted, interactive programming language with dynamic typing</a:t>
            </a:r>
          </a:p>
          <a:p>
            <a:pPr>
              <a:lnSpc>
                <a:spcPct val="80000"/>
              </a:lnSpc>
              <a:defRPr/>
            </a:pPr>
            <a:r>
              <a:rPr lang="en-US" dirty="0"/>
              <a:t>Multi-paradigm:</a:t>
            </a:r>
          </a:p>
          <a:p>
            <a:pPr lvl="1">
              <a:lnSpc>
                <a:spcPct val="80000"/>
              </a:lnSpc>
              <a:defRPr/>
            </a:pPr>
            <a:r>
              <a:rPr lang="en-US" dirty="0"/>
              <a:t>structured</a:t>
            </a:r>
          </a:p>
          <a:p>
            <a:pPr lvl="1">
              <a:lnSpc>
                <a:spcPct val="80000"/>
              </a:lnSpc>
              <a:defRPr/>
            </a:pPr>
            <a:r>
              <a:rPr lang="en-US" dirty="0"/>
              <a:t>object-oriented</a:t>
            </a:r>
          </a:p>
          <a:p>
            <a:pPr lvl="1">
              <a:lnSpc>
                <a:spcPct val="80000"/>
              </a:lnSpc>
              <a:defRPr/>
            </a:pPr>
            <a:r>
              <a:rPr lang="en-US" dirty="0"/>
              <a:t>functional</a:t>
            </a:r>
          </a:p>
          <a:p>
            <a:pPr>
              <a:lnSpc>
                <a:spcPct val="80000"/>
              </a:lnSpc>
              <a:defRPr/>
            </a:pPr>
            <a:r>
              <a:rPr lang="en-US" dirty="0"/>
              <a:t>Free, open source</a:t>
            </a:r>
          </a:p>
          <a:p>
            <a:pPr>
              <a:lnSpc>
                <a:spcPct val="80000"/>
              </a:lnSpc>
              <a:defRPr/>
            </a:pPr>
            <a:r>
              <a:rPr lang="en-US" dirty="0"/>
              <a:t>Very popular</a:t>
            </a:r>
          </a:p>
          <a:p>
            <a:pPr lvl="1">
              <a:lnSpc>
                <a:spcPct val="80000"/>
              </a:lnSpc>
              <a:defRPr/>
            </a:pPr>
            <a:r>
              <a:rPr lang="en-US" dirty="0"/>
              <a:t>#2 in </a:t>
            </a:r>
            <a:r>
              <a:rPr lang="en-US" dirty="0">
                <a:hlinkClick r:id="rId2"/>
              </a:rPr>
              <a:t>Github </a:t>
            </a:r>
            <a:r>
              <a:rPr lang="en-US" dirty="0" err="1">
                <a:hlinkClick r:id="rId2"/>
              </a:rPr>
              <a:t>Octoverse</a:t>
            </a:r>
            <a:r>
              <a:rPr lang="en-US" dirty="0">
                <a:hlinkClick r:id="rId2"/>
              </a:rPr>
              <a:t> 2019</a:t>
            </a:r>
            <a:endParaRPr lang="en-US" dirty="0"/>
          </a:p>
          <a:p>
            <a:pPr lvl="1">
              <a:lnSpc>
                <a:spcPct val="80000"/>
              </a:lnSpc>
              <a:defRPr/>
            </a:pPr>
            <a:r>
              <a:rPr lang="en-US" dirty="0"/>
              <a:t>#3 in </a:t>
            </a:r>
            <a:r>
              <a:rPr lang="en-US" dirty="0">
                <a:hlinkClick r:id="rId3"/>
              </a:rPr>
              <a:t>Tiobe Index </a:t>
            </a:r>
            <a:r>
              <a:rPr lang="en-US" dirty="0"/>
              <a:t>8/2020</a:t>
            </a:r>
          </a:p>
          <a:p>
            <a:pPr lvl="1">
              <a:lnSpc>
                <a:spcPct val="80000"/>
              </a:lnSpc>
              <a:defRPr/>
            </a:pPr>
            <a:r>
              <a:rPr lang="en-US" dirty="0"/>
              <a:t>#1 </a:t>
            </a:r>
            <a:r>
              <a:rPr lang="en-US" dirty="0">
                <a:hlinkClick r:id="rId4"/>
              </a:rPr>
              <a:t>Most wanted programming language Stack Overflow 2020</a:t>
            </a:r>
            <a:endParaRPr lang="en-US" dirty="0"/>
          </a:p>
          <a:p>
            <a:pPr lvl="1">
              <a:lnSpc>
                <a:spcPct val="80000"/>
              </a:lnSpc>
              <a:defRPr/>
            </a:pPr>
            <a:r>
              <a:rPr lang="en-US" dirty="0"/>
              <a:t>#1 </a:t>
            </a:r>
            <a:r>
              <a:rPr lang="en-US" dirty="0">
                <a:hlinkClick r:id="rId5"/>
              </a:rPr>
              <a:t>Spectrum IEEE</a:t>
            </a:r>
            <a:r>
              <a:rPr lang="en-US" dirty="0"/>
              <a:t>  2020</a:t>
            </a:r>
          </a:p>
          <a:p>
            <a:pPr>
              <a:lnSpc>
                <a:spcPct val="80000"/>
              </a:lnSpc>
              <a:defRPr/>
            </a:pPr>
            <a:r>
              <a:rPr lang="en-US" dirty="0"/>
              <a:t>Originally developed by </a:t>
            </a:r>
            <a:r>
              <a:rPr lang="en-US" dirty="0">
                <a:effectLst>
                  <a:outerShdw blurRad="38100" dist="38100" dir="2700000" algn="tl">
                    <a:srgbClr val="000000"/>
                  </a:outerShdw>
                </a:effectLst>
                <a:hlinkClick r:id="rId6"/>
              </a:rPr>
              <a:t>Guido Van Rossum</a:t>
            </a:r>
            <a:r>
              <a:rPr lang="en-US" dirty="0"/>
              <a:t> in 1991</a:t>
            </a: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7EDA-2AFB-46D2-8BF5-3BB8C5221888}"/>
              </a:ext>
            </a:extLst>
          </p:cNvPr>
          <p:cNvSpPr>
            <a:spLocks noGrp="1"/>
          </p:cNvSpPr>
          <p:nvPr>
            <p:ph type="title"/>
          </p:nvPr>
        </p:nvSpPr>
        <p:spPr/>
        <p:txBody>
          <a:bodyPr/>
          <a:lstStyle/>
          <a:p>
            <a:r>
              <a:rPr lang="en-US" dirty="0"/>
              <a:t>Python Advantages</a:t>
            </a:r>
          </a:p>
        </p:txBody>
      </p:sp>
      <p:sp>
        <p:nvSpPr>
          <p:cNvPr id="3" name="Content Placeholder 2">
            <a:extLst>
              <a:ext uri="{FF2B5EF4-FFF2-40B4-BE49-F238E27FC236}">
                <a16:creationId xmlns:a16="http://schemas.microsoft.com/office/drawing/2014/main" id="{7C00087E-FD10-44C2-9294-D91BAC1A76B2}"/>
              </a:ext>
            </a:extLst>
          </p:cNvPr>
          <p:cNvSpPr>
            <a:spLocks noGrp="1"/>
          </p:cNvSpPr>
          <p:nvPr>
            <p:ph idx="1"/>
          </p:nvPr>
        </p:nvSpPr>
        <p:spPr/>
        <p:txBody>
          <a:bodyPr>
            <a:normAutofit lnSpcReduction="10000"/>
          </a:bodyPr>
          <a:lstStyle/>
          <a:p>
            <a:pPr>
              <a:lnSpc>
                <a:spcPct val="80000"/>
              </a:lnSpc>
              <a:defRPr/>
            </a:pPr>
            <a:r>
              <a:rPr lang="en-US" dirty="0"/>
              <a:t>Clean and elegant design</a:t>
            </a:r>
          </a:p>
          <a:p>
            <a:pPr>
              <a:lnSpc>
                <a:spcPct val="80000"/>
              </a:lnSpc>
              <a:defRPr/>
            </a:pPr>
            <a:r>
              <a:rPr lang="en-US" dirty="0"/>
              <a:t>Very easy to read, write and learn</a:t>
            </a:r>
          </a:p>
          <a:p>
            <a:pPr>
              <a:lnSpc>
                <a:spcPct val="80000"/>
              </a:lnSpc>
              <a:defRPr/>
            </a:pPr>
            <a:r>
              <a:rPr lang="en-US" dirty="0"/>
              <a:t>About 10 times faster development speed and shorter programs compared to traditional programming languages like C &amp; Java</a:t>
            </a:r>
          </a:p>
          <a:p>
            <a:pPr>
              <a:lnSpc>
                <a:spcPct val="80000"/>
              </a:lnSpc>
              <a:defRPr/>
            </a:pPr>
            <a:r>
              <a:rPr lang="en-US" dirty="0"/>
              <a:t>Automatic</a:t>
            </a:r>
            <a:r>
              <a:rPr lang="fi-FI" dirty="0"/>
              <a:t> </a:t>
            </a:r>
            <a:r>
              <a:rPr lang="en-US" dirty="0"/>
              <a:t>memory</a:t>
            </a:r>
            <a:r>
              <a:rPr lang="fi-FI" dirty="0"/>
              <a:t> management (</a:t>
            </a:r>
            <a:r>
              <a:rPr lang="en-US" dirty="0"/>
              <a:t>reference</a:t>
            </a:r>
            <a:r>
              <a:rPr lang="fi-FI" dirty="0"/>
              <a:t> </a:t>
            </a:r>
            <a:r>
              <a:rPr lang="en-US" dirty="0"/>
              <a:t>count</a:t>
            </a:r>
            <a:r>
              <a:rPr lang="fi-FI" dirty="0"/>
              <a:t>)</a:t>
            </a:r>
            <a:endParaRPr lang="en-US" dirty="0"/>
          </a:p>
          <a:p>
            <a:pPr>
              <a:lnSpc>
                <a:spcPct val="80000"/>
              </a:lnSpc>
              <a:defRPr/>
            </a:pPr>
            <a:r>
              <a:rPr lang="en-US" dirty="0"/>
              <a:t>Interactive interpreter</a:t>
            </a:r>
          </a:p>
          <a:p>
            <a:pPr>
              <a:lnSpc>
                <a:spcPct val="80000"/>
              </a:lnSpc>
              <a:defRPr/>
            </a:pPr>
            <a:r>
              <a:rPr lang="en-US" dirty="0"/>
              <a:t>Versatile inbuilt </a:t>
            </a:r>
            <a:r>
              <a:rPr lang="en-US" dirty="0">
                <a:effectLst>
                  <a:outerShdw blurRad="38100" dist="38100" dir="2700000" algn="tl">
                    <a:srgbClr val="000000"/>
                  </a:outerShdw>
                </a:effectLst>
                <a:hlinkClick r:id="rId2"/>
              </a:rPr>
              <a:t>library</a:t>
            </a:r>
            <a:r>
              <a:rPr lang="en-US" dirty="0">
                <a:effectLst>
                  <a:outerShdw blurRad="38100" dist="38100" dir="2700000" algn="tl">
                    <a:srgbClr val="000000"/>
                  </a:outerShdw>
                </a:effectLst>
              </a:rPr>
              <a:t> and thousands of free modules from the net</a:t>
            </a:r>
          </a:p>
          <a:p>
            <a:pPr>
              <a:lnSpc>
                <a:spcPct val="80000"/>
              </a:lnSpc>
              <a:defRPr/>
            </a:pPr>
            <a:r>
              <a:rPr lang="en-US" dirty="0"/>
              <a:t>Good </a:t>
            </a:r>
            <a:r>
              <a:rPr lang="en-US" dirty="0">
                <a:effectLst>
                  <a:outerShdw blurRad="38100" dist="38100" dir="2700000" algn="tl">
                    <a:srgbClr val="000000"/>
                  </a:outerShdw>
                </a:effectLst>
                <a:hlinkClick r:id="rId3"/>
              </a:rPr>
              <a:t>online documentation</a:t>
            </a:r>
            <a:r>
              <a:rPr lang="en-US" dirty="0"/>
              <a:t> and excellent books</a:t>
            </a:r>
          </a:p>
          <a:p>
            <a:pPr>
              <a:lnSpc>
                <a:spcPct val="80000"/>
              </a:lnSpc>
              <a:defRPr/>
            </a:pPr>
            <a:r>
              <a:rPr lang="en-US" dirty="0"/>
              <a:t>Excellent glue language ("What Can I Do for You") </a:t>
            </a:r>
          </a:p>
          <a:p>
            <a:endParaRPr lang="en-US" dirty="0"/>
          </a:p>
        </p:txBody>
      </p:sp>
    </p:spTree>
    <p:extLst>
      <p:ext uri="{BB962C8B-B14F-4D97-AF65-F5344CB8AC3E}">
        <p14:creationId xmlns:p14="http://schemas.microsoft.com/office/powerpoint/2010/main" val="1052092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C2211-CAB7-4E99-8402-0B238EF9A04E}"/>
              </a:ext>
            </a:extLst>
          </p:cNvPr>
          <p:cNvSpPr>
            <a:spLocks noGrp="1"/>
          </p:cNvSpPr>
          <p:nvPr>
            <p:ph type="title"/>
          </p:nvPr>
        </p:nvSpPr>
        <p:spPr/>
        <p:txBody>
          <a:bodyPr/>
          <a:lstStyle/>
          <a:p>
            <a:r>
              <a:rPr lang="en-US" dirty="0"/>
              <a:t>Python Disadvantages</a:t>
            </a:r>
          </a:p>
        </p:txBody>
      </p:sp>
      <p:sp>
        <p:nvSpPr>
          <p:cNvPr id="3" name="Content Placeholder 2">
            <a:extLst>
              <a:ext uri="{FF2B5EF4-FFF2-40B4-BE49-F238E27FC236}">
                <a16:creationId xmlns:a16="http://schemas.microsoft.com/office/drawing/2014/main" id="{3BBC6C92-2DEA-4251-8776-570B8908759B}"/>
              </a:ext>
            </a:extLst>
          </p:cNvPr>
          <p:cNvSpPr>
            <a:spLocks noGrp="1"/>
          </p:cNvSpPr>
          <p:nvPr>
            <p:ph idx="1"/>
          </p:nvPr>
        </p:nvSpPr>
        <p:spPr/>
        <p:txBody>
          <a:bodyPr/>
          <a:lstStyle/>
          <a:p>
            <a:pPr>
              <a:defRPr/>
            </a:pPr>
            <a:r>
              <a:rPr lang="en-US" dirty="0">
                <a:effectLst>
                  <a:outerShdw blurRad="38100" dist="38100" dir="2700000" algn="tl">
                    <a:srgbClr val="000000"/>
                  </a:outerShdw>
                </a:effectLst>
                <a:hlinkClick r:id="rId2"/>
              </a:rPr>
              <a:t>Much slower</a:t>
            </a:r>
            <a:r>
              <a:rPr lang="en-US" dirty="0"/>
              <a:t> than C or Java for calculation-intensive applications</a:t>
            </a:r>
          </a:p>
          <a:p>
            <a:pPr lvl="1">
              <a:defRPr/>
            </a:pPr>
            <a:r>
              <a:rPr lang="en-US" dirty="0"/>
              <a:t>You can use libraries written in C/C++/Fortran to alleviate this</a:t>
            </a:r>
          </a:p>
          <a:p>
            <a:pPr lvl="1">
              <a:defRPr/>
            </a:pPr>
            <a:r>
              <a:rPr lang="en-US" dirty="0">
                <a:hlinkClick r:id="rId3"/>
              </a:rPr>
              <a:t>PyPy</a:t>
            </a:r>
            <a:r>
              <a:rPr lang="en-US" dirty="0"/>
              <a:t> Just-in-Time (JIT) compiler written in subset of Python offers </a:t>
            </a:r>
            <a:r>
              <a:rPr lang="en-US" dirty="0">
                <a:hlinkClick r:id="rId4"/>
              </a:rPr>
              <a:t>speedup</a:t>
            </a:r>
            <a:endParaRPr lang="en-US" dirty="0"/>
          </a:p>
          <a:p>
            <a:pPr>
              <a:defRPr/>
            </a:pPr>
            <a:r>
              <a:rPr lang="en-US" dirty="0"/>
              <a:t>Compulsory </a:t>
            </a:r>
            <a:r>
              <a:rPr lang="en-US" dirty="0">
                <a:effectLst>
                  <a:outerShdw blurRad="38100" dist="38100" dir="2700000" algn="tl">
                    <a:srgbClr val="000000"/>
                  </a:outerShdw>
                </a:effectLst>
              </a:rPr>
              <a:t>indentation</a:t>
            </a:r>
            <a:r>
              <a:rPr lang="en-US" dirty="0"/>
              <a:t> of code is disliked by some people</a:t>
            </a:r>
          </a:p>
          <a:p>
            <a:pPr>
              <a:defRPr/>
            </a:pPr>
            <a:r>
              <a:rPr lang="en-US" dirty="0"/>
              <a:t>Because of dynamic nature, some errors aren't discovered before run time</a:t>
            </a:r>
          </a:p>
          <a:p>
            <a:pPr>
              <a:defRPr/>
            </a:pPr>
            <a:r>
              <a:rPr lang="en-US" dirty="0"/>
              <a:t>Not the optimal choice for mobile development</a:t>
            </a:r>
          </a:p>
          <a:p>
            <a:pPr>
              <a:defRPr/>
            </a:pPr>
            <a:endParaRPr lang="en-US" dirty="0"/>
          </a:p>
          <a:p>
            <a:pPr marL="0" indent="0">
              <a:buNone/>
            </a:pPr>
            <a:endParaRPr lang="en-US" dirty="0"/>
          </a:p>
        </p:txBody>
      </p:sp>
    </p:spTree>
    <p:extLst>
      <p:ext uri="{BB962C8B-B14F-4D97-AF65-F5344CB8AC3E}">
        <p14:creationId xmlns:p14="http://schemas.microsoft.com/office/powerpoint/2010/main" val="72695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359C1-A6F2-4ECE-B935-57C193C4CA8B}"/>
              </a:ext>
            </a:extLst>
          </p:cNvPr>
          <p:cNvSpPr>
            <a:spLocks noGrp="1"/>
          </p:cNvSpPr>
          <p:nvPr>
            <p:ph type="title"/>
          </p:nvPr>
        </p:nvSpPr>
        <p:spPr/>
        <p:txBody>
          <a:bodyPr/>
          <a:lstStyle/>
          <a:p>
            <a:r>
              <a:rPr lang="en-US" dirty="0"/>
              <a:t>Python Usage</a:t>
            </a:r>
          </a:p>
        </p:txBody>
      </p:sp>
      <p:sp>
        <p:nvSpPr>
          <p:cNvPr id="3" name="Content Placeholder 2">
            <a:extLst>
              <a:ext uri="{FF2B5EF4-FFF2-40B4-BE49-F238E27FC236}">
                <a16:creationId xmlns:a16="http://schemas.microsoft.com/office/drawing/2014/main" id="{2F49AA72-9CB8-4B6D-86BB-ACB8929EBE40}"/>
              </a:ext>
            </a:extLst>
          </p:cNvPr>
          <p:cNvSpPr>
            <a:spLocks noGrp="1"/>
          </p:cNvSpPr>
          <p:nvPr>
            <p:ph idx="1"/>
          </p:nvPr>
        </p:nvSpPr>
        <p:spPr/>
        <p:txBody>
          <a:bodyPr>
            <a:normAutofit lnSpcReduction="10000"/>
          </a:bodyPr>
          <a:lstStyle/>
          <a:p>
            <a:r>
              <a:rPr lang="en-US" dirty="0"/>
              <a:t>A general purpose programming language </a:t>
            </a:r>
          </a:p>
          <a:p>
            <a:r>
              <a:rPr lang="en-US" dirty="0"/>
              <a:t>Numerical, scientific and statistical computation, data analysis and </a:t>
            </a:r>
            <a:r>
              <a:rPr lang="en-US" dirty="0">
                <a:hlinkClick r:id="rId2"/>
              </a:rPr>
              <a:t>visualization</a:t>
            </a:r>
            <a:r>
              <a:rPr lang="en-US" dirty="0"/>
              <a:t> e.g. </a:t>
            </a:r>
            <a:r>
              <a:rPr lang="en-US" dirty="0">
                <a:hlinkClick r:id="rId3"/>
              </a:rPr>
              <a:t>NumPy</a:t>
            </a:r>
            <a:r>
              <a:rPr lang="en-US" dirty="0"/>
              <a:t>, </a:t>
            </a:r>
            <a:r>
              <a:rPr lang="en-US" dirty="0">
                <a:hlinkClick r:id="rId4"/>
              </a:rPr>
              <a:t>SciPy</a:t>
            </a:r>
            <a:r>
              <a:rPr lang="en-US" dirty="0"/>
              <a:t>, </a:t>
            </a:r>
            <a:r>
              <a:rPr lang="en-US" dirty="0">
                <a:hlinkClick r:id="rId5"/>
              </a:rPr>
              <a:t>Pandas</a:t>
            </a:r>
            <a:r>
              <a:rPr lang="en-US" dirty="0"/>
              <a:t>, </a:t>
            </a:r>
            <a:r>
              <a:rPr lang="en-US" dirty="0">
                <a:hlinkClick r:id="rId6"/>
              </a:rPr>
              <a:t>Matplotlib</a:t>
            </a:r>
            <a:r>
              <a:rPr lang="en-US" dirty="0"/>
              <a:t>, </a:t>
            </a:r>
            <a:r>
              <a:rPr lang="en-US" dirty="0">
                <a:hlinkClick r:id="rId7"/>
              </a:rPr>
              <a:t>VisPy</a:t>
            </a:r>
            <a:r>
              <a:rPr lang="en-US" dirty="0"/>
              <a:t> and </a:t>
            </a:r>
            <a:r>
              <a:rPr lang="en-US" dirty="0">
                <a:hlinkClick r:id="rId8"/>
              </a:rPr>
              <a:t>Jupyter</a:t>
            </a:r>
            <a:endParaRPr lang="en-US" dirty="0"/>
          </a:p>
          <a:p>
            <a:r>
              <a:rPr lang="en-US" dirty="0"/>
              <a:t>Artificial intelligence, machine learning e.g. </a:t>
            </a:r>
            <a:r>
              <a:rPr lang="en-US" dirty="0">
                <a:hlinkClick r:id="rId9"/>
              </a:rPr>
              <a:t>TensorFlow</a:t>
            </a:r>
            <a:r>
              <a:rPr lang="en-US" dirty="0"/>
              <a:t> and </a:t>
            </a:r>
            <a:r>
              <a:rPr lang="en-US" dirty="0">
                <a:hlinkClick r:id="rId10"/>
              </a:rPr>
              <a:t>Scikit-Learn</a:t>
            </a:r>
            <a:r>
              <a:rPr lang="en-US" dirty="0"/>
              <a:t>, </a:t>
            </a:r>
            <a:r>
              <a:rPr lang="en-US" dirty="0">
                <a:hlinkClick r:id="rId11"/>
              </a:rPr>
              <a:t>Keras</a:t>
            </a:r>
            <a:r>
              <a:rPr lang="en-US" dirty="0"/>
              <a:t>, </a:t>
            </a:r>
            <a:r>
              <a:rPr lang="en-US" dirty="0">
                <a:hlinkClick r:id="rId12"/>
              </a:rPr>
              <a:t>Pytorch</a:t>
            </a:r>
            <a:endParaRPr lang="en-US" dirty="0"/>
          </a:p>
          <a:p>
            <a:r>
              <a:rPr lang="en-US" dirty="0"/>
              <a:t>Web: Google search engine, YouTube, Instagram, Dropbox, Quora, Reddit, Yahoo, Spotify</a:t>
            </a:r>
          </a:p>
          <a:p>
            <a:r>
              <a:rPr lang="en-US" dirty="0"/>
              <a:t>Games: Civilization IV, Sims 4, World of Tanks, Frets on Fire, Eve Online</a:t>
            </a:r>
          </a:p>
          <a:p>
            <a:endParaRPr lang="en-US" dirty="0"/>
          </a:p>
          <a:p>
            <a:endParaRPr lang="en-US" dirty="0"/>
          </a:p>
        </p:txBody>
      </p:sp>
    </p:spTree>
    <p:extLst>
      <p:ext uri="{BB962C8B-B14F-4D97-AF65-F5344CB8AC3E}">
        <p14:creationId xmlns:p14="http://schemas.microsoft.com/office/powerpoint/2010/main" val="399215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9859-B99A-41FB-8278-4CEFF9E04652}"/>
              </a:ext>
            </a:extLst>
          </p:cNvPr>
          <p:cNvSpPr>
            <a:spLocks noGrp="1"/>
          </p:cNvSpPr>
          <p:nvPr>
            <p:ph type="title"/>
          </p:nvPr>
        </p:nvSpPr>
        <p:spPr/>
        <p:txBody>
          <a:bodyPr/>
          <a:lstStyle/>
          <a:p>
            <a:r>
              <a:rPr lang="en-US" dirty="0"/>
              <a:t>Key Differences Between Python 2 and 3</a:t>
            </a:r>
          </a:p>
        </p:txBody>
      </p:sp>
      <p:sp>
        <p:nvSpPr>
          <p:cNvPr id="6" name="Text Placeholder 5">
            <a:extLst>
              <a:ext uri="{FF2B5EF4-FFF2-40B4-BE49-F238E27FC236}">
                <a16:creationId xmlns:a16="http://schemas.microsoft.com/office/drawing/2014/main" id="{BB545A48-FA8E-4157-B96F-5A1F140339A8}"/>
              </a:ext>
            </a:extLst>
          </p:cNvPr>
          <p:cNvSpPr>
            <a:spLocks noGrp="1"/>
          </p:cNvSpPr>
          <p:nvPr>
            <p:ph type="body" idx="1"/>
          </p:nvPr>
        </p:nvSpPr>
        <p:spPr/>
        <p:txBody>
          <a:bodyPr/>
          <a:lstStyle/>
          <a:p>
            <a:r>
              <a:rPr lang="en-US" dirty="0"/>
              <a:t>Python 2</a:t>
            </a:r>
          </a:p>
        </p:txBody>
      </p:sp>
      <p:sp>
        <p:nvSpPr>
          <p:cNvPr id="7" name="Content Placeholder 6">
            <a:extLst>
              <a:ext uri="{FF2B5EF4-FFF2-40B4-BE49-F238E27FC236}">
                <a16:creationId xmlns:a16="http://schemas.microsoft.com/office/drawing/2014/main" id="{E8CD0060-2134-4EF7-8512-9560CD276561}"/>
              </a:ext>
            </a:extLst>
          </p:cNvPr>
          <p:cNvSpPr>
            <a:spLocks noGrp="1"/>
          </p:cNvSpPr>
          <p:nvPr>
            <p:ph sz="half" idx="2"/>
          </p:nvPr>
        </p:nvSpPr>
        <p:spPr/>
        <p:txBody>
          <a:bodyPr/>
          <a:lstStyle/>
          <a:p>
            <a:pPr marL="0" indent="0">
              <a:buNone/>
            </a:pPr>
            <a:r>
              <a:rPr lang="en-US" sz="2400" dirty="0">
                <a:latin typeface="Courier New" panose="02070309020205020404" pitchFamily="49" charset="0"/>
                <a:cs typeface="Courier New" panose="02070309020205020404" pitchFamily="49" charset="0"/>
              </a:rPr>
              <a:t>print "hello"</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print "begin",;print "end"</a:t>
            </a:r>
            <a:br>
              <a:rPr lang="en-US" sz="2400" dirty="0">
                <a:latin typeface="Courier New" panose="02070309020205020404" pitchFamily="49" charset="0"/>
                <a:cs typeface="Courier New" panose="02070309020205020404" pitchFamily="49" charset="0"/>
              </a:rPr>
            </a:b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u"Unicode string"</a:t>
            </a:r>
            <a:br>
              <a:rPr lang="en-US" sz="2400" dirty="0">
                <a:latin typeface="Courier New" panose="02070309020205020404" pitchFamily="49" charset="0"/>
                <a:cs typeface="Courier New" panose="02070309020205020404" pitchFamily="49" charset="0"/>
              </a:rPr>
            </a:b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3/2 # integer division</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float(3)/2 # float div.</a:t>
            </a:r>
            <a:br>
              <a:rPr lang="en-US" sz="2400" dirty="0">
                <a:latin typeface="Courier New" panose="02070309020205020404" pitchFamily="49" charset="0"/>
                <a:cs typeface="Courier New" panose="02070309020205020404" pitchFamily="49" charset="0"/>
              </a:rPr>
            </a:b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name = raw_input("?")</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xrange(1,10)</a:t>
            </a:r>
          </a:p>
        </p:txBody>
      </p:sp>
      <p:sp>
        <p:nvSpPr>
          <p:cNvPr id="8" name="Text Placeholder 7">
            <a:extLst>
              <a:ext uri="{FF2B5EF4-FFF2-40B4-BE49-F238E27FC236}">
                <a16:creationId xmlns:a16="http://schemas.microsoft.com/office/drawing/2014/main" id="{64C84A65-A33F-4990-983F-A331F0B70CD4}"/>
              </a:ext>
            </a:extLst>
          </p:cNvPr>
          <p:cNvSpPr>
            <a:spLocks noGrp="1"/>
          </p:cNvSpPr>
          <p:nvPr>
            <p:ph type="body" sz="quarter" idx="3"/>
          </p:nvPr>
        </p:nvSpPr>
        <p:spPr/>
        <p:txBody>
          <a:bodyPr/>
          <a:lstStyle/>
          <a:p>
            <a:r>
              <a:rPr lang="en-US" dirty="0"/>
              <a:t>PYTHON 3</a:t>
            </a:r>
          </a:p>
        </p:txBody>
      </p:sp>
      <p:sp>
        <p:nvSpPr>
          <p:cNvPr id="9" name="Content Placeholder 8">
            <a:extLst>
              <a:ext uri="{FF2B5EF4-FFF2-40B4-BE49-F238E27FC236}">
                <a16:creationId xmlns:a16="http://schemas.microsoft.com/office/drawing/2014/main" id="{5BED3DF9-1CC7-4706-9CDE-7259AE97A4AB}"/>
              </a:ext>
            </a:extLst>
          </p:cNvPr>
          <p:cNvSpPr>
            <a:spLocks noGrp="1"/>
          </p:cNvSpPr>
          <p:nvPr>
            <p:ph sz="quarter" idx="4"/>
          </p:nvPr>
        </p:nvSpPr>
        <p:spPr/>
        <p:txBody>
          <a:bodyPr/>
          <a:lstStyle/>
          <a:p>
            <a:pPr marL="0" indent="0">
              <a:buNone/>
            </a:pPr>
            <a:r>
              <a:rPr lang="en-US" sz="2400" dirty="0">
                <a:latin typeface="Courier New" panose="02070309020205020404" pitchFamily="49" charset="0"/>
                <a:cs typeface="Courier New" panose="02070309020205020404" pitchFamily="49" charset="0"/>
              </a:rPr>
              <a:t>print("hello")</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print("begin", end="");print("end")</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"Unicode string"</a:t>
            </a:r>
            <a:br>
              <a:rPr lang="en-US" sz="2400" dirty="0">
                <a:latin typeface="Courier New" panose="02070309020205020404" pitchFamily="49" charset="0"/>
                <a:cs typeface="Courier New" panose="02070309020205020404" pitchFamily="49" charset="0"/>
              </a:rPr>
            </a:b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3//2 # integer division</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3/2 # float division</a:t>
            </a:r>
            <a:br>
              <a:rPr lang="en-US" sz="2400" dirty="0">
                <a:latin typeface="Courier New" panose="02070309020205020404" pitchFamily="49" charset="0"/>
                <a:cs typeface="Courier New" panose="02070309020205020404" pitchFamily="49" charset="0"/>
              </a:rPr>
            </a:b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name = input("?")</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range(1,10)</a:t>
            </a:r>
          </a:p>
        </p:txBody>
      </p:sp>
    </p:spTree>
    <p:extLst>
      <p:ext uri="{BB962C8B-B14F-4D97-AF65-F5344CB8AC3E}">
        <p14:creationId xmlns:p14="http://schemas.microsoft.com/office/powerpoint/2010/main" val="2302657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95888-0DD1-4407-B155-C75D836DF0A4}"/>
              </a:ext>
            </a:extLst>
          </p:cNvPr>
          <p:cNvSpPr>
            <a:spLocks noGrp="1"/>
          </p:cNvSpPr>
          <p:nvPr>
            <p:ph type="title"/>
          </p:nvPr>
        </p:nvSpPr>
        <p:spPr>
          <a:xfrm>
            <a:off x="1218883" y="274637"/>
            <a:ext cx="10360501" cy="706091"/>
          </a:xfrm>
        </p:spPr>
        <p:txBody>
          <a:bodyPr/>
          <a:lstStyle/>
          <a:p>
            <a:r>
              <a:rPr lang="en-US" dirty="0"/>
              <a:t>Python Keywords</a:t>
            </a:r>
          </a:p>
        </p:txBody>
      </p:sp>
      <p:sp>
        <p:nvSpPr>
          <p:cNvPr id="3" name="Content Placeholder 2">
            <a:extLst>
              <a:ext uri="{FF2B5EF4-FFF2-40B4-BE49-F238E27FC236}">
                <a16:creationId xmlns:a16="http://schemas.microsoft.com/office/drawing/2014/main" id="{3BDBE5C2-A38E-4BDD-BB43-7827D0605321}"/>
              </a:ext>
            </a:extLst>
          </p:cNvPr>
          <p:cNvSpPr>
            <a:spLocks noGrp="1"/>
          </p:cNvSpPr>
          <p:nvPr>
            <p:ph sz="half" idx="1"/>
          </p:nvPr>
        </p:nvSpPr>
        <p:spPr>
          <a:xfrm>
            <a:off x="1218883" y="1083311"/>
            <a:ext cx="8835969" cy="4465320"/>
          </a:xfrm>
        </p:spPr>
        <p:txBody>
          <a:bodyPr>
            <a:normAutofit/>
          </a:bodyPr>
          <a:lstStyle/>
          <a:p>
            <a:pPr>
              <a:lnSpc>
                <a:spcPct val="80000"/>
              </a:lnSpc>
              <a:defRPr/>
            </a:pPr>
            <a:r>
              <a:rPr lang="en-US" dirty="0">
                <a:latin typeface="Courier New" pitchFamily="49" charset="0"/>
              </a:rPr>
              <a:t>False	True		and		assert</a:t>
            </a:r>
            <a:br>
              <a:rPr lang="en-US" dirty="0">
                <a:latin typeface="Courier New" pitchFamily="49" charset="0"/>
              </a:rPr>
            </a:br>
            <a:r>
              <a:rPr lang="en-US" dirty="0">
                <a:latin typeface="Courier New" pitchFamily="49" charset="0"/>
              </a:rPr>
              <a:t>break	class		continue	def</a:t>
            </a:r>
            <a:br>
              <a:rPr lang="en-US" dirty="0">
                <a:latin typeface="Courier New" pitchFamily="49" charset="0"/>
              </a:rPr>
            </a:br>
            <a:r>
              <a:rPr lang="en-US" dirty="0">
                <a:latin typeface="Courier New" pitchFamily="49" charset="0"/>
              </a:rPr>
              <a:t>del		elif		else		exec</a:t>
            </a:r>
            <a:br>
              <a:rPr lang="en-US" dirty="0">
                <a:latin typeface="Courier New" pitchFamily="49" charset="0"/>
              </a:rPr>
            </a:br>
            <a:r>
              <a:rPr lang="en-US" dirty="0">
                <a:latin typeface="Courier New" pitchFamily="49" charset="0"/>
              </a:rPr>
              <a:t>finally	for		from		global</a:t>
            </a:r>
            <a:br>
              <a:rPr lang="en-US" dirty="0">
                <a:latin typeface="Courier New" pitchFamily="49" charset="0"/>
              </a:rPr>
            </a:br>
            <a:r>
              <a:rPr lang="en-US" dirty="0">
                <a:latin typeface="Courier New" pitchFamily="49" charset="0"/>
              </a:rPr>
              <a:t>import	in		is		lambda</a:t>
            </a:r>
            <a:br>
              <a:rPr lang="en-US" dirty="0">
                <a:latin typeface="Courier New" pitchFamily="49" charset="0"/>
              </a:rPr>
            </a:br>
            <a:r>
              <a:rPr lang="en-US" dirty="0">
                <a:latin typeface="Courier New" pitchFamily="49" charset="0"/>
              </a:rPr>
              <a:t>not		nonlocal	pass		raise</a:t>
            </a:r>
            <a:br>
              <a:rPr lang="en-US" dirty="0">
                <a:latin typeface="Courier New" pitchFamily="49" charset="0"/>
              </a:rPr>
            </a:br>
            <a:r>
              <a:rPr lang="en-US" dirty="0">
                <a:latin typeface="Courier New" pitchFamily="49" charset="0"/>
              </a:rPr>
              <a:t>return	try		while		with</a:t>
            </a:r>
            <a:br>
              <a:rPr lang="en-US" dirty="0">
                <a:latin typeface="Courier New" pitchFamily="49" charset="0"/>
              </a:rPr>
            </a:br>
            <a:r>
              <a:rPr lang="en-US" dirty="0">
                <a:latin typeface="Courier New" pitchFamily="49" charset="0"/>
              </a:rPr>
              <a:t>yield	None</a:t>
            </a:r>
            <a:br>
              <a:rPr lang="en-US" dirty="0"/>
            </a:br>
            <a:br>
              <a:rPr lang="en-US" dirty="0">
                <a:latin typeface="Courier New" pitchFamily="49" charset="0"/>
              </a:rPr>
            </a:br>
            <a:br>
              <a:rPr lang="en-US" dirty="0">
                <a:latin typeface="Courier New" pitchFamily="49" charset="0"/>
              </a:rPr>
            </a:br>
            <a:endParaRPr lang="en-US" dirty="0"/>
          </a:p>
        </p:txBody>
      </p:sp>
      <p:sp>
        <p:nvSpPr>
          <p:cNvPr id="6" name="Content Placeholder 5">
            <a:extLst>
              <a:ext uri="{FF2B5EF4-FFF2-40B4-BE49-F238E27FC236}">
                <a16:creationId xmlns:a16="http://schemas.microsoft.com/office/drawing/2014/main" id="{58CB0217-F9E8-4AC3-9ED6-1CC88586B542}"/>
              </a:ext>
            </a:extLst>
          </p:cNvPr>
          <p:cNvSpPr>
            <a:spLocks noGrp="1"/>
          </p:cNvSpPr>
          <p:nvPr>
            <p:ph sz="half" idx="2"/>
          </p:nvPr>
        </p:nvSpPr>
        <p:spPr>
          <a:xfrm>
            <a:off x="1218883" y="4215016"/>
            <a:ext cx="5667617" cy="1872208"/>
          </a:xfrm>
        </p:spPr>
        <p:txBody>
          <a:bodyPr>
            <a:normAutofit/>
          </a:bodyPr>
          <a:lstStyle/>
          <a:p>
            <a:r>
              <a:rPr lang="en-US" dirty="0"/>
              <a:t>These cannot be used as names.</a:t>
            </a:r>
          </a:p>
          <a:p>
            <a:r>
              <a:rPr lang="en-US" dirty="0"/>
              <a:t>In addition to these words Python has in-built functions, which shouldn't be used for names either.</a:t>
            </a:r>
          </a:p>
        </p:txBody>
      </p:sp>
      <p:graphicFrame>
        <p:nvGraphicFramePr>
          <p:cNvPr id="4" name="Table 3">
            <a:extLst>
              <a:ext uri="{FF2B5EF4-FFF2-40B4-BE49-F238E27FC236}">
                <a16:creationId xmlns:a16="http://schemas.microsoft.com/office/drawing/2014/main" id="{C2AA0CBB-05DC-4F31-BD4E-B304C2DF1FCE}"/>
              </a:ext>
            </a:extLst>
          </p:cNvPr>
          <p:cNvGraphicFramePr>
            <a:graphicFrameLocks noGrp="1"/>
          </p:cNvGraphicFramePr>
          <p:nvPr>
            <p:extLst>
              <p:ext uri="{D42A27DB-BD31-4B8C-83A1-F6EECF244321}">
                <p14:modId xmlns:p14="http://schemas.microsoft.com/office/powerpoint/2010/main" val="3977967142"/>
              </p:ext>
            </p:extLst>
          </p:nvPr>
        </p:nvGraphicFramePr>
        <p:xfrm>
          <a:off x="7390556" y="3584730"/>
          <a:ext cx="4642050" cy="3132780"/>
        </p:xfrm>
        <a:graphic>
          <a:graphicData uri="http://schemas.openxmlformats.org/drawingml/2006/table">
            <a:tbl>
              <a:tblPr/>
              <a:tblGrid>
                <a:gridCol w="928410">
                  <a:extLst>
                    <a:ext uri="{9D8B030D-6E8A-4147-A177-3AD203B41FA5}">
                      <a16:colId xmlns:a16="http://schemas.microsoft.com/office/drawing/2014/main" val="1007921365"/>
                    </a:ext>
                  </a:extLst>
                </a:gridCol>
                <a:gridCol w="928410">
                  <a:extLst>
                    <a:ext uri="{9D8B030D-6E8A-4147-A177-3AD203B41FA5}">
                      <a16:colId xmlns:a16="http://schemas.microsoft.com/office/drawing/2014/main" val="4223099901"/>
                    </a:ext>
                  </a:extLst>
                </a:gridCol>
                <a:gridCol w="928410">
                  <a:extLst>
                    <a:ext uri="{9D8B030D-6E8A-4147-A177-3AD203B41FA5}">
                      <a16:colId xmlns:a16="http://schemas.microsoft.com/office/drawing/2014/main" val="957950289"/>
                    </a:ext>
                  </a:extLst>
                </a:gridCol>
                <a:gridCol w="928410">
                  <a:extLst>
                    <a:ext uri="{9D8B030D-6E8A-4147-A177-3AD203B41FA5}">
                      <a16:colId xmlns:a16="http://schemas.microsoft.com/office/drawing/2014/main" val="2366135384"/>
                    </a:ext>
                  </a:extLst>
                </a:gridCol>
                <a:gridCol w="928410">
                  <a:extLst>
                    <a:ext uri="{9D8B030D-6E8A-4147-A177-3AD203B41FA5}">
                      <a16:colId xmlns:a16="http://schemas.microsoft.com/office/drawing/2014/main" val="3885838651"/>
                    </a:ext>
                  </a:extLst>
                </a:gridCol>
              </a:tblGrid>
              <a:tr h="205483">
                <a:tc>
                  <a:txBody>
                    <a:bodyPr/>
                    <a:lstStyle/>
                    <a:p>
                      <a:pPr algn="l"/>
                      <a:r>
                        <a:rPr lang="fi-FI" sz="1050" u="none" strike="noStrike" dirty="0">
                          <a:solidFill>
                            <a:srgbClr val="6363BB"/>
                          </a:solidFill>
                          <a:effectLst/>
                          <a:hlinkClick r:id="rId2" tooltip="abs"/>
                        </a:rPr>
                        <a:t>abs()</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3" tooltip="delattr"/>
                        </a:rPr>
                        <a:t>delattr()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4" tooltip="hash"/>
                        </a:rPr>
                        <a:t>hash()</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5"/>
                        </a:rPr>
                        <a:t>memoryview()</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6"/>
                        </a:rPr>
                        <a:t>set()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839719643"/>
                  </a:ext>
                </a:extLst>
              </a:tr>
              <a:tr h="205483">
                <a:tc>
                  <a:txBody>
                    <a:bodyPr/>
                    <a:lstStyle/>
                    <a:p>
                      <a:pPr algn="l"/>
                      <a:r>
                        <a:rPr lang="fi-FI" sz="1050" u="none" strike="noStrike" dirty="0">
                          <a:solidFill>
                            <a:srgbClr val="6363BB"/>
                          </a:solidFill>
                          <a:effectLst/>
                          <a:hlinkClick r:id="rId7" tooltip="all"/>
                        </a:rPr>
                        <a:t>all()</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8"/>
                        </a:rPr>
                        <a:t>dict()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9" tooltip="help"/>
                        </a:rPr>
                        <a:t>help()</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10" tooltip="min"/>
                        </a:rPr>
                        <a:t>min()</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11" tooltip="setattr"/>
                        </a:rPr>
                        <a:t>setattr()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893808397"/>
                  </a:ext>
                </a:extLst>
              </a:tr>
              <a:tr h="205483">
                <a:tc>
                  <a:txBody>
                    <a:bodyPr/>
                    <a:lstStyle/>
                    <a:p>
                      <a:pPr algn="l"/>
                      <a:r>
                        <a:rPr lang="fi-FI" sz="1050" u="none" strike="noStrike" dirty="0">
                          <a:solidFill>
                            <a:srgbClr val="6363BB"/>
                          </a:solidFill>
                          <a:effectLst/>
                          <a:hlinkClick r:id="rId12" tooltip="any"/>
                        </a:rPr>
                        <a:t>any()</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13" tooltip="dir"/>
                        </a:rPr>
                        <a:t>dir()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14" tooltip="hex"/>
                        </a:rPr>
                        <a:t>hex()</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15" tooltip="next"/>
                        </a:rPr>
                        <a:t>next()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16" tooltip="slice"/>
                        </a:rPr>
                        <a:t>slice()</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286903554"/>
                  </a:ext>
                </a:extLst>
              </a:tr>
              <a:tr h="205483">
                <a:tc>
                  <a:txBody>
                    <a:bodyPr/>
                    <a:lstStyle/>
                    <a:p>
                      <a:pPr algn="l"/>
                      <a:r>
                        <a:rPr lang="fi-FI" sz="1050" u="none" strike="noStrike" dirty="0">
                          <a:solidFill>
                            <a:srgbClr val="6363BB"/>
                          </a:solidFill>
                          <a:effectLst/>
                          <a:hlinkClick r:id="rId17" tooltip="ascii"/>
                        </a:rPr>
                        <a:t>ascii()</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18" tooltip="divmod"/>
                        </a:rPr>
                        <a:t>divmod()</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19" tooltip="id"/>
                        </a:rPr>
                        <a:t>id()</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20" tooltip="object"/>
                        </a:rPr>
                        <a:t>object()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21" tooltip="sorted"/>
                        </a:rPr>
                        <a:t>sorted()</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616700473"/>
                  </a:ext>
                </a:extLst>
              </a:tr>
              <a:tr h="205483">
                <a:tc>
                  <a:txBody>
                    <a:bodyPr/>
                    <a:lstStyle/>
                    <a:p>
                      <a:pPr algn="l"/>
                      <a:r>
                        <a:rPr lang="fi-FI" sz="1050" u="none" strike="noStrike" dirty="0">
                          <a:solidFill>
                            <a:srgbClr val="6363BB"/>
                          </a:solidFill>
                          <a:effectLst/>
                          <a:hlinkClick r:id="rId22" tooltip="bin"/>
                        </a:rPr>
                        <a:t>bin()</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23" tooltip="enumerate"/>
                        </a:rPr>
                        <a:t>enumerate()</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24" tooltip="input"/>
                        </a:rPr>
                        <a:t>input()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25" tooltip="oct"/>
                        </a:rPr>
                        <a:t>oct()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26" tooltip="staticmethod"/>
                        </a:rPr>
                        <a:t>staticmethod()</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20720581"/>
                  </a:ext>
                </a:extLst>
              </a:tr>
              <a:tr h="205483">
                <a:tc>
                  <a:txBody>
                    <a:bodyPr/>
                    <a:lstStyle/>
                    <a:p>
                      <a:pPr algn="l"/>
                      <a:r>
                        <a:rPr lang="fi-FI" sz="1050" u="none" strike="noStrike" dirty="0">
                          <a:solidFill>
                            <a:srgbClr val="6363BB"/>
                          </a:solidFill>
                          <a:effectLst/>
                          <a:hlinkClick r:id="rId27" tooltip="bool"/>
                        </a:rPr>
                        <a:t>bool()</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28" tooltip="eval"/>
                        </a:rPr>
                        <a:t>eval()</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29" tooltip="int"/>
                        </a:rPr>
                        <a:t>int()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30" tooltip="open"/>
                        </a:rPr>
                        <a:t>open()</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31"/>
                        </a:rPr>
                        <a:t>str()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30916459"/>
                  </a:ext>
                </a:extLst>
              </a:tr>
              <a:tr h="205483">
                <a:tc>
                  <a:txBody>
                    <a:bodyPr/>
                    <a:lstStyle/>
                    <a:p>
                      <a:pPr algn="l"/>
                      <a:r>
                        <a:rPr lang="fi-FI" sz="1050" u="none" strike="noStrike" dirty="0">
                          <a:solidFill>
                            <a:srgbClr val="6363BB"/>
                          </a:solidFill>
                          <a:effectLst/>
                          <a:hlinkClick r:id="rId32" tooltip="breakpoint"/>
                        </a:rPr>
                        <a:t>breakpoint()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33" tooltip="exec"/>
                        </a:rPr>
                        <a:t>exec()</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34" tooltip="isinstance"/>
                        </a:rPr>
                        <a:t>isinstance()</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35" tooltip="ord"/>
                        </a:rPr>
                        <a:t>ord()</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36" tooltip="sum"/>
                        </a:rPr>
                        <a:t>sum()</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294874556"/>
                  </a:ext>
                </a:extLst>
              </a:tr>
              <a:tr h="205483">
                <a:tc>
                  <a:txBody>
                    <a:bodyPr/>
                    <a:lstStyle/>
                    <a:p>
                      <a:pPr algn="l"/>
                      <a:r>
                        <a:rPr lang="fi-FI" sz="1050" u="none" strike="noStrike" dirty="0">
                          <a:solidFill>
                            <a:srgbClr val="6363BB"/>
                          </a:solidFill>
                          <a:effectLst/>
                          <a:hlinkClick r:id="rId37"/>
                        </a:rPr>
                        <a:t>bytearray()</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38" tooltip="filter"/>
                        </a:rPr>
                        <a:t>filter()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39" tooltip="issubclass"/>
                        </a:rPr>
                        <a:t>issubclass()</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40" tooltip="pow"/>
                        </a:rPr>
                        <a:t>pow()</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41" tooltip="super"/>
                        </a:rPr>
                        <a:t>super()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958632436"/>
                  </a:ext>
                </a:extLst>
              </a:tr>
              <a:tr h="205483">
                <a:tc>
                  <a:txBody>
                    <a:bodyPr/>
                    <a:lstStyle/>
                    <a:p>
                      <a:pPr algn="l"/>
                      <a:r>
                        <a:rPr lang="fi-FI" sz="1050" u="none" strike="noStrike" dirty="0">
                          <a:solidFill>
                            <a:srgbClr val="6363BB"/>
                          </a:solidFill>
                          <a:effectLst/>
                          <a:hlinkClick r:id="rId42"/>
                        </a:rPr>
                        <a:t>bytes()</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43" tooltip="float"/>
                        </a:rPr>
                        <a:t>float()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44" tooltip="iter"/>
                        </a:rPr>
                        <a:t>iter()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45" tooltip="print"/>
                        </a:rPr>
                        <a:t>print()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46"/>
                        </a:rPr>
                        <a:t>tuple()</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595427433"/>
                  </a:ext>
                </a:extLst>
              </a:tr>
              <a:tr h="205483">
                <a:tc>
                  <a:txBody>
                    <a:bodyPr/>
                    <a:lstStyle/>
                    <a:p>
                      <a:pPr algn="l"/>
                      <a:r>
                        <a:rPr lang="fi-FI" sz="1050" u="none" strike="noStrike" dirty="0">
                          <a:solidFill>
                            <a:srgbClr val="6363BB"/>
                          </a:solidFill>
                          <a:effectLst/>
                          <a:hlinkClick r:id="rId47" tooltip="callable"/>
                        </a:rPr>
                        <a:t>callable()</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48" tooltip="format"/>
                        </a:rPr>
                        <a:t>format()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49" tooltip="len"/>
                        </a:rPr>
                        <a:t>len()</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50" tooltip="property"/>
                        </a:rPr>
                        <a:t>property()</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51" tooltip="type"/>
                        </a:rPr>
                        <a:t>type()</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870938229"/>
                  </a:ext>
                </a:extLst>
              </a:tr>
              <a:tr h="205483">
                <a:tc>
                  <a:txBody>
                    <a:bodyPr/>
                    <a:lstStyle/>
                    <a:p>
                      <a:pPr algn="l"/>
                      <a:r>
                        <a:rPr lang="fi-FI" sz="1050" u="none" strike="noStrike" dirty="0">
                          <a:solidFill>
                            <a:srgbClr val="6363BB"/>
                          </a:solidFill>
                          <a:effectLst/>
                          <a:hlinkClick r:id="rId52" tooltip="chr"/>
                        </a:rPr>
                        <a:t>chr()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53"/>
                        </a:rPr>
                        <a:t>frozenset()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54"/>
                        </a:rPr>
                        <a:t>list()</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55"/>
                        </a:rPr>
                        <a:t>range()</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56" tooltip="vars"/>
                        </a:rPr>
                        <a:t>vars()</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87159300"/>
                  </a:ext>
                </a:extLst>
              </a:tr>
              <a:tr h="205483">
                <a:tc>
                  <a:txBody>
                    <a:bodyPr/>
                    <a:lstStyle/>
                    <a:p>
                      <a:pPr algn="l"/>
                      <a:r>
                        <a:rPr lang="fi-FI" sz="1050" u="none" strike="noStrike" dirty="0">
                          <a:solidFill>
                            <a:srgbClr val="6363BB"/>
                          </a:solidFill>
                          <a:effectLst/>
                          <a:hlinkClick r:id="rId57" tooltip="classmethod"/>
                        </a:rPr>
                        <a:t>classmethod()</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58" tooltip="getattr"/>
                        </a:rPr>
                        <a:t>getattr()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59" tooltip="locals"/>
                        </a:rPr>
                        <a:t>locals()</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60" tooltip="repr"/>
                        </a:rPr>
                        <a:t>repr()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61" tooltip="zip"/>
                        </a:rPr>
                        <a:t>zip()</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233796483"/>
                  </a:ext>
                </a:extLst>
              </a:tr>
              <a:tr h="205483">
                <a:tc>
                  <a:txBody>
                    <a:bodyPr/>
                    <a:lstStyle/>
                    <a:p>
                      <a:pPr algn="l"/>
                      <a:r>
                        <a:rPr lang="fi-FI" sz="1050" u="none" strike="noStrike" dirty="0">
                          <a:solidFill>
                            <a:srgbClr val="6363BB"/>
                          </a:solidFill>
                          <a:effectLst/>
                          <a:hlinkClick r:id="rId62" tooltip="compile"/>
                        </a:rPr>
                        <a:t>compile()</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63" tooltip="globals"/>
                        </a:rPr>
                        <a:t>globals()</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64" tooltip="map"/>
                        </a:rPr>
                        <a:t>map()</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65" tooltip="reversed"/>
                        </a:rPr>
                        <a:t>reversed()</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66" tooltip="__import__"/>
                        </a:rPr>
                        <a:t>__import__()</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246291830"/>
                  </a:ext>
                </a:extLst>
              </a:tr>
              <a:tr h="205483">
                <a:tc>
                  <a:txBody>
                    <a:bodyPr/>
                    <a:lstStyle/>
                    <a:p>
                      <a:pPr algn="l"/>
                      <a:r>
                        <a:rPr lang="fi-FI" sz="1050" u="none" strike="noStrike" dirty="0">
                          <a:solidFill>
                            <a:srgbClr val="6363BB"/>
                          </a:solidFill>
                          <a:effectLst/>
                          <a:hlinkClick r:id="rId67" tooltip="complex"/>
                        </a:rPr>
                        <a:t>complex()</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68" tooltip="hasattr"/>
                        </a:rPr>
                        <a:t>hasattr()</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69" tooltip="max"/>
                        </a:rPr>
                        <a:t>max()</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u="none" strike="noStrike" dirty="0">
                          <a:solidFill>
                            <a:srgbClr val="6363BB"/>
                          </a:solidFill>
                          <a:effectLst/>
                          <a:hlinkClick r:id="rId70" tooltip="round"/>
                        </a:rPr>
                        <a:t>round()</a:t>
                      </a:r>
                      <a:endParaRPr lang="fi-FI" sz="1050" dirty="0">
                        <a:effectLst/>
                      </a:endParaRP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fi-FI" sz="1050" dirty="0">
                          <a:effectLst/>
                        </a:rPr>
                        <a:t> </a:t>
                      </a:r>
                    </a:p>
                  </a:txBody>
                  <a:tcPr marL="63749" marR="63749" marT="31875" marB="3187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277501958"/>
                  </a:ext>
                </a:extLst>
              </a:tr>
            </a:tbl>
          </a:graphicData>
        </a:graphic>
      </p:graphicFrame>
    </p:spTree>
    <p:extLst>
      <p:ext uri="{BB962C8B-B14F-4D97-AF65-F5344CB8AC3E}">
        <p14:creationId xmlns:p14="http://schemas.microsoft.com/office/powerpoint/2010/main" val="507839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0D6E7-B7BA-44C9-9CDC-4DE9932829F3}"/>
              </a:ext>
            </a:extLst>
          </p:cNvPr>
          <p:cNvSpPr>
            <a:spLocks noGrp="1"/>
          </p:cNvSpPr>
          <p:nvPr>
            <p:ph type="title"/>
          </p:nvPr>
        </p:nvSpPr>
        <p:spPr/>
        <p:txBody>
          <a:bodyPr/>
          <a:lstStyle/>
          <a:p>
            <a:r>
              <a:rPr lang="en-US" dirty="0"/>
              <a:t>Python Names</a:t>
            </a:r>
          </a:p>
        </p:txBody>
      </p:sp>
      <p:sp>
        <p:nvSpPr>
          <p:cNvPr id="5" name="Content Placeholder 4">
            <a:extLst>
              <a:ext uri="{FF2B5EF4-FFF2-40B4-BE49-F238E27FC236}">
                <a16:creationId xmlns:a16="http://schemas.microsoft.com/office/drawing/2014/main" id="{E808C569-1C99-412F-BA89-661E8C95AD3A}"/>
              </a:ext>
            </a:extLst>
          </p:cNvPr>
          <p:cNvSpPr>
            <a:spLocks noGrp="1"/>
          </p:cNvSpPr>
          <p:nvPr>
            <p:ph idx="1"/>
          </p:nvPr>
        </p:nvSpPr>
        <p:spPr/>
        <p:txBody>
          <a:bodyPr>
            <a:normAutofit fontScale="85000" lnSpcReduction="20000"/>
          </a:bodyPr>
          <a:lstStyle/>
          <a:p>
            <a:r>
              <a:rPr lang="en-US" dirty="0"/>
              <a:t>Use letters A-Z, a-z, numbers 0-9 and underscore (_) for names</a:t>
            </a:r>
          </a:p>
          <a:p>
            <a:r>
              <a:rPr lang="en-US" dirty="0"/>
              <a:t>Capitalize class names: </a:t>
            </a:r>
            <a:r>
              <a:rPr lang="en-US" dirty="0">
                <a:latin typeface="Courier New" panose="02070309020205020404" pitchFamily="49" charset="0"/>
                <a:cs typeface="Courier New" panose="02070309020205020404" pitchFamily="49" charset="0"/>
              </a:rPr>
              <a:t>ClassName, Matrix</a:t>
            </a:r>
          </a:p>
          <a:p>
            <a:r>
              <a:rPr lang="en-US" dirty="0">
                <a:cs typeface="Courier New" panose="02070309020205020404" pitchFamily="49" charset="0"/>
              </a:rPr>
              <a:t>Lowercase function and variable names: a, i, </a:t>
            </a:r>
            <a:r>
              <a:rPr lang="en-US" dirty="0">
                <a:latin typeface="Courier New" panose="02070309020205020404" pitchFamily="49" charset="0"/>
                <a:cs typeface="Courier New" panose="02070309020205020404" pitchFamily="49" charset="0"/>
              </a:rPr>
              <a:t>load_settings</a:t>
            </a:r>
          </a:p>
          <a:p>
            <a:r>
              <a:rPr lang="en-US" dirty="0">
                <a:cs typeface="Courier New" panose="02070309020205020404" pitchFamily="49" charset="0"/>
              </a:rPr>
              <a:t>Uppercase constants: </a:t>
            </a:r>
            <a:r>
              <a:rPr lang="en-US" dirty="0">
                <a:latin typeface="Courier New" panose="02070309020205020404" pitchFamily="49" charset="0"/>
                <a:cs typeface="Courier New" panose="02070309020205020404" pitchFamily="49" charset="0"/>
              </a:rPr>
              <a:t>MAXIMUM_WIDTH</a:t>
            </a:r>
            <a:endParaRPr lang="en-US" dirty="0">
              <a:cs typeface="Courier New" panose="02070309020205020404" pitchFamily="49" charset="0"/>
            </a:endParaRPr>
          </a:p>
          <a:p>
            <a:r>
              <a:rPr lang="en-US" dirty="0"/>
              <a:t>Generally use underscore in variable and function names to separate words, but camel-case can also be sometimes used: </a:t>
            </a:r>
            <a:r>
              <a:rPr lang="en-US" dirty="0">
                <a:latin typeface="Courier New" panose="02070309020205020404" pitchFamily="49" charset="0"/>
                <a:cs typeface="Courier New" panose="02070309020205020404" pitchFamily="49" charset="0"/>
              </a:rPr>
              <a:t>setWidth()</a:t>
            </a:r>
          </a:p>
          <a:p>
            <a:r>
              <a:rPr lang="en-US" dirty="0">
                <a:cs typeface="Courier New" panose="02070309020205020404" pitchFamily="49" charset="0"/>
              </a:rPr>
              <a:t>Use descriptive names</a:t>
            </a:r>
          </a:p>
          <a:p>
            <a:r>
              <a:rPr lang="en-US" dirty="0">
                <a:cs typeface="Courier New" panose="02070309020205020404" pitchFamily="49" charset="0"/>
              </a:rPr>
              <a:t>Avoid names, which can cause confusion:</a:t>
            </a:r>
            <a:br>
              <a:rPr lang="en-US" dirty="0">
                <a:cs typeface="Courier New" panose="02070309020205020404" pitchFamily="49" charset="0"/>
              </a:rPr>
            </a:br>
            <a:r>
              <a:rPr lang="en-US" dirty="0">
                <a:latin typeface="Courier New" panose="02070309020205020404" pitchFamily="49" charset="0"/>
                <a:cs typeface="Courier New" panose="02070309020205020404" pitchFamily="49" charset="0"/>
              </a:rPr>
              <a:t>l (mistake with 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O (mistake with 0)</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40499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20A7A4-044F-47B0-902E-6351A1B49C83}"/>
              </a:ext>
            </a:extLst>
          </p:cNvPr>
          <p:cNvSpPr>
            <a:spLocks noGrp="1"/>
          </p:cNvSpPr>
          <p:nvPr>
            <p:ph type="title"/>
          </p:nvPr>
        </p:nvSpPr>
        <p:spPr/>
        <p:txBody>
          <a:bodyPr/>
          <a:lstStyle/>
          <a:p>
            <a:r>
              <a:rPr lang="en-US" dirty="0"/>
              <a:t>Python 3 Data Types</a:t>
            </a:r>
          </a:p>
        </p:txBody>
      </p:sp>
      <p:sp>
        <p:nvSpPr>
          <p:cNvPr id="8" name="Content Placeholder 7">
            <a:extLst>
              <a:ext uri="{FF2B5EF4-FFF2-40B4-BE49-F238E27FC236}">
                <a16:creationId xmlns:a16="http://schemas.microsoft.com/office/drawing/2014/main" id="{3B86CD21-D4F7-49D9-BBC6-54A98356C58A}"/>
              </a:ext>
            </a:extLst>
          </p:cNvPr>
          <p:cNvSpPr>
            <a:spLocks noGrp="1"/>
          </p:cNvSpPr>
          <p:nvPr>
            <p:ph idx="1"/>
          </p:nvPr>
        </p:nvSpPr>
        <p:spPr>
          <a:xfrm>
            <a:off x="1218883" y="1701796"/>
            <a:ext cx="10360501" cy="4751539"/>
          </a:xfrm>
        </p:spPr>
        <p:txBody>
          <a:bodyPr>
            <a:normAutofit fontScale="77500" lnSpcReduction="20000"/>
          </a:bodyPr>
          <a:lstStyle/>
          <a:p>
            <a:r>
              <a:rPr lang="en-US" dirty="0"/>
              <a:t>int		unlimited precision integers		313</a:t>
            </a:r>
          </a:p>
          <a:p>
            <a:r>
              <a:rPr lang="en-US" dirty="0"/>
              <a:t>float		double precision floating point		3.14</a:t>
            </a:r>
          </a:p>
          <a:p>
            <a:r>
              <a:rPr lang="en-US" dirty="0"/>
              <a:t>complex	complex numbers			3+2j</a:t>
            </a:r>
          </a:p>
          <a:p>
            <a:r>
              <a:rPr lang="en-US" dirty="0"/>
              <a:t>boolean	truth value			True or False</a:t>
            </a:r>
          </a:p>
          <a:p>
            <a:r>
              <a:rPr lang="en-US" dirty="0"/>
              <a:t>str		string				"hello"</a:t>
            </a:r>
          </a:p>
          <a:p>
            <a:r>
              <a:rPr lang="en-US" dirty="0"/>
              <a:t>list		unlimited array			[1, 2, "hello"]</a:t>
            </a:r>
          </a:p>
          <a:p>
            <a:r>
              <a:rPr lang="en-US" dirty="0"/>
              <a:t>tuple		immutable version of list		(1, 2)</a:t>
            </a:r>
          </a:p>
          <a:p>
            <a:r>
              <a:rPr lang="en-US" dirty="0"/>
              <a:t>dictionary	hash table				{"key": value}</a:t>
            </a:r>
          </a:p>
          <a:p>
            <a:r>
              <a:rPr lang="en-US" dirty="0"/>
              <a:t>range		immutable sequence of numbers	range(0, 100, 10)</a:t>
            </a:r>
          </a:p>
          <a:p>
            <a:r>
              <a:rPr lang="en-US" dirty="0"/>
              <a:t>set		like list, but no duplicates		{1, 2, 13}</a:t>
            </a:r>
          </a:p>
          <a:p>
            <a:r>
              <a:rPr lang="en-US" dirty="0"/>
              <a:t>In addition there are other in-built types frozenset, bytes, bytearray, memoryview</a:t>
            </a:r>
          </a:p>
        </p:txBody>
      </p:sp>
    </p:spTree>
    <p:extLst>
      <p:ext uri="{BB962C8B-B14F-4D97-AF65-F5344CB8AC3E}">
        <p14:creationId xmlns:p14="http://schemas.microsoft.com/office/powerpoint/2010/main" val="1483962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95AE2-A313-4F1B-96B3-EEC07400DED7}"/>
              </a:ext>
            </a:extLst>
          </p:cNvPr>
          <p:cNvSpPr>
            <a:spLocks noGrp="1"/>
          </p:cNvSpPr>
          <p:nvPr>
            <p:ph type="title"/>
          </p:nvPr>
        </p:nvSpPr>
        <p:spPr/>
        <p:txBody>
          <a:bodyPr/>
          <a:lstStyle/>
          <a:p>
            <a:r>
              <a:rPr lang="en-US" dirty="0"/>
              <a:t>Python Data Type Conversions</a:t>
            </a:r>
          </a:p>
        </p:txBody>
      </p:sp>
      <p:sp>
        <p:nvSpPr>
          <p:cNvPr id="3" name="Content Placeholder 2">
            <a:extLst>
              <a:ext uri="{FF2B5EF4-FFF2-40B4-BE49-F238E27FC236}">
                <a16:creationId xmlns:a16="http://schemas.microsoft.com/office/drawing/2014/main" id="{51F32087-6A1A-4C73-80C7-262E0688831B}"/>
              </a:ext>
            </a:extLst>
          </p:cNvPr>
          <p:cNvSpPr>
            <a:spLocks noGrp="1"/>
          </p:cNvSpPr>
          <p:nvPr>
            <p:ph idx="1"/>
          </p:nvPr>
        </p:nvSpPr>
        <p:spPr/>
        <p:txBody>
          <a:bodyPr/>
          <a:lstStyle/>
          <a:p>
            <a:r>
              <a:rPr lang="en-US" dirty="0"/>
              <a:t>Implicit type conversion only works for numeric types:</a:t>
            </a:r>
            <a:br>
              <a:rPr lang="en-US" dirty="0"/>
            </a:br>
            <a:r>
              <a:rPr lang="en-US" dirty="0"/>
              <a:t>integer </a:t>
            </a:r>
            <a:r>
              <a:rPr lang="en-US" dirty="0">
                <a:sym typeface="Wingdings" panose="05000000000000000000" pitchFamily="2" charset="2"/>
              </a:rPr>
              <a:t> float  complex</a:t>
            </a:r>
          </a:p>
          <a:p>
            <a:r>
              <a:rPr lang="en-US" dirty="0"/>
              <a:t>All other type conversions must be done manually:</a:t>
            </a:r>
            <a:br>
              <a:rPr lang="en-US" dirty="0"/>
            </a:br>
            <a:r>
              <a:rPr lang="en-US" dirty="0">
                <a:latin typeface="Courier New" panose="02070309020205020404" pitchFamily="49" charset="0"/>
                <a:cs typeface="Courier New" panose="02070309020205020404" pitchFamily="49" charset="0"/>
              </a:rPr>
              <a:t>s = "Answer is "+42 # error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 = "Answer is %d" % 42</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 = "Answer is {}".format(42)</a:t>
            </a:r>
          </a:p>
          <a:p>
            <a:r>
              <a:rPr lang="en-US" dirty="0">
                <a:latin typeface="Courier New" panose="02070309020205020404" pitchFamily="49" charset="0"/>
                <a:cs typeface="Courier New" panose="02070309020205020404" pitchFamily="49" charset="0"/>
              </a:rPr>
              <a:t>a = list(range(1, 6)) # [1, 2, 3, 4, 5]</a:t>
            </a:r>
          </a:p>
          <a:p>
            <a:r>
              <a:rPr lang="en-US" dirty="0">
                <a:latin typeface="Courier New" panose="02070309020205020404" pitchFamily="49" charset="0"/>
                <a:cs typeface="Courier New" panose="02070309020205020404" pitchFamily="49" charset="0"/>
              </a:rPr>
              <a:t>x = float(s) # will raise ValueError is s is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not a valid floating point number</a:t>
            </a:r>
          </a:p>
        </p:txBody>
      </p:sp>
    </p:spTree>
    <p:extLst>
      <p:ext uri="{BB962C8B-B14F-4D97-AF65-F5344CB8AC3E}">
        <p14:creationId xmlns:p14="http://schemas.microsoft.com/office/powerpoint/2010/main" val="854363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72D40-18FF-4395-BD49-4ACC3B4C1475}"/>
              </a:ext>
            </a:extLst>
          </p:cNvPr>
          <p:cNvSpPr>
            <a:spLocks noGrp="1"/>
          </p:cNvSpPr>
          <p:nvPr>
            <p:ph type="title"/>
          </p:nvPr>
        </p:nvSpPr>
        <p:spPr/>
        <p:txBody>
          <a:bodyPr/>
          <a:lstStyle/>
          <a:p>
            <a:r>
              <a:rPr lang="en-US" dirty="0"/>
              <a:t>Operators and Their Evaluation Order</a:t>
            </a:r>
          </a:p>
        </p:txBody>
      </p:sp>
      <p:sp>
        <p:nvSpPr>
          <p:cNvPr id="3" name="Content Placeholder 2">
            <a:extLst>
              <a:ext uri="{FF2B5EF4-FFF2-40B4-BE49-F238E27FC236}">
                <a16:creationId xmlns:a16="http://schemas.microsoft.com/office/drawing/2014/main" id="{4490EA2F-9FF1-419E-B029-0F4FE0057198}"/>
              </a:ext>
            </a:extLst>
          </p:cNvPr>
          <p:cNvSpPr>
            <a:spLocks noGrp="1"/>
          </p:cNvSpPr>
          <p:nvPr>
            <p:ph idx="1"/>
          </p:nvPr>
        </p:nvSpPr>
        <p:spPr>
          <a:xfrm>
            <a:off x="1218883" y="1701796"/>
            <a:ext cx="10360501" cy="4881567"/>
          </a:xfrm>
        </p:spPr>
        <p:txBody>
          <a:bodyPr>
            <a:normAutofit fontScale="55000" lnSpcReduction="20000"/>
          </a:bodyPr>
          <a:lstStyle/>
          <a:p>
            <a:pPr>
              <a:lnSpc>
                <a:spcPct val="70000"/>
              </a:lnSpc>
              <a:defRPr/>
            </a:pPr>
            <a:r>
              <a:rPr lang="en-US" dirty="0"/>
              <a:t>, […] {…} '...'	tuple, list &amp; dictionary creation, string conversion</a:t>
            </a:r>
          </a:p>
          <a:p>
            <a:pPr>
              <a:lnSpc>
                <a:spcPct val="70000"/>
              </a:lnSpc>
              <a:defRPr/>
            </a:pPr>
            <a:r>
              <a:rPr lang="en-US" dirty="0"/>
              <a:t>s[i] s[i:j] s.attr f()	indexing, slicing, attributes, function calls</a:t>
            </a:r>
          </a:p>
          <a:p>
            <a:pPr>
              <a:lnSpc>
                <a:spcPct val="70000"/>
              </a:lnSpc>
              <a:defRPr/>
            </a:pPr>
            <a:r>
              <a:rPr lang="en-US" dirty="0"/>
              <a:t>+x –x ~x		positive sign, negative sign, binary not</a:t>
            </a:r>
          </a:p>
          <a:p>
            <a:pPr>
              <a:lnSpc>
                <a:spcPct val="70000"/>
              </a:lnSpc>
              <a:defRPr/>
            </a:pPr>
            <a:r>
              <a:rPr lang="en-US" dirty="0"/>
              <a:t>x**y		raise x to power of y (x</a:t>
            </a:r>
            <a:r>
              <a:rPr lang="en-US" baseline="30000" dirty="0"/>
              <a:t>y</a:t>
            </a:r>
            <a:r>
              <a:rPr lang="en-US" dirty="0"/>
              <a:t>)</a:t>
            </a:r>
            <a:endParaRPr lang="en-US" baseline="30000" dirty="0"/>
          </a:p>
          <a:p>
            <a:pPr>
              <a:lnSpc>
                <a:spcPct val="70000"/>
              </a:lnSpc>
              <a:defRPr/>
            </a:pPr>
            <a:r>
              <a:rPr lang="en-US" dirty="0"/>
              <a:t>x*y x/y x%y	multiplication, division, modulo</a:t>
            </a:r>
          </a:p>
          <a:p>
            <a:pPr>
              <a:lnSpc>
                <a:spcPct val="70000"/>
              </a:lnSpc>
              <a:defRPr/>
            </a:pPr>
            <a:r>
              <a:rPr lang="en-US" dirty="0"/>
              <a:t>x+y x-y		addition, subtraction</a:t>
            </a:r>
          </a:p>
          <a:p>
            <a:pPr>
              <a:lnSpc>
                <a:spcPct val="70000"/>
              </a:lnSpc>
              <a:defRPr/>
            </a:pPr>
            <a:r>
              <a:rPr lang="en-US" dirty="0"/>
              <a:t>x&lt;&lt;y x&gt;&gt;y		shift integer x y bits left/right</a:t>
            </a:r>
          </a:p>
          <a:p>
            <a:pPr>
              <a:lnSpc>
                <a:spcPct val="70000"/>
              </a:lnSpc>
              <a:defRPr/>
            </a:pPr>
            <a:r>
              <a:rPr lang="en-US" dirty="0"/>
              <a:t>x&amp;y 		binary and</a:t>
            </a:r>
          </a:p>
          <a:p>
            <a:pPr>
              <a:lnSpc>
                <a:spcPct val="70000"/>
              </a:lnSpc>
              <a:defRPr/>
            </a:pPr>
            <a:r>
              <a:rPr lang="en-US" dirty="0"/>
              <a:t>x^y		binary exclusive or (XOR)</a:t>
            </a:r>
          </a:p>
          <a:p>
            <a:pPr>
              <a:lnSpc>
                <a:spcPct val="70000"/>
              </a:lnSpc>
              <a:defRPr/>
            </a:pPr>
            <a:r>
              <a:rPr lang="en-US" dirty="0"/>
              <a:t>x|y 		binary or</a:t>
            </a:r>
          </a:p>
          <a:p>
            <a:pPr>
              <a:lnSpc>
                <a:spcPct val="70000"/>
              </a:lnSpc>
              <a:defRPr/>
            </a:pPr>
            <a:r>
              <a:rPr lang="en-US" dirty="0"/>
              <a:t>Comparisons</a:t>
            </a:r>
          </a:p>
          <a:p>
            <a:pPr>
              <a:lnSpc>
                <a:spcPct val="70000"/>
              </a:lnSpc>
              <a:defRPr/>
            </a:pPr>
            <a:r>
              <a:rPr lang="en-US" dirty="0"/>
              <a:t>not x</a:t>
            </a:r>
          </a:p>
          <a:p>
            <a:pPr>
              <a:lnSpc>
                <a:spcPct val="70000"/>
              </a:lnSpc>
              <a:defRPr/>
            </a:pPr>
            <a:r>
              <a:rPr lang="en-US" dirty="0"/>
              <a:t>x and y</a:t>
            </a:r>
          </a:p>
          <a:p>
            <a:pPr>
              <a:lnSpc>
                <a:spcPct val="70000"/>
              </a:lnSpc>
              <a:defRPr/>
            </a:pPr>
            <a:r>
              <a:rPr lang="en-US" dirty="0"/>
              <a:t>x or y</a:t>
            </a:r>
          </a:p>
          <a:p>
            <a:pPr>
              <a:lnSpc>
                <a:spcPct val="70000"/>
              </a:lnSpc>
              <a:defRPr/>
            </a:pPr>
            <a:r>
              <a:rPr lang="en-US" dirty="0"/>
              <a:t>lambda args: expr	anonymous function</a:t>
            </a:r>
          </a:p>
          <a:p>
            <a:pPr>
              <a:lnSpc>
                <a:spcPct val="70000"/>
              </a:lnSpc>
            </a:pPr>
            <a:endParaRPr lang="en-US" dirty="0"/>
          </a:p>
        </p:txBody>
      </p:sp>
    </p:spTree>
    <p:extLst>
      <p:ext uri="{BB962C8B-B14F-4D97-AF65-F5344CB8AC3E}">
        <p14:creationId xmlns:p14="http://schemas.microsoft.com/office/powerpoint/2010/main" val="3140471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EA99F-A3C7-4C84-BC9F-BDFA31AD6DF3}"/>
              </a:ext>
            </a:extLst>
          </p:cNvPr>
          <p:cNvSpPr>
            <a:spLocks noGrp="1"/>
          </p:cNvSpPr>
          <p:nvPr>
            <p:ph type="title"/>
          </p:nvPr>
        </p:nvSpPr>
        <p:spPr/>
        <p:txBody>
          <a:bodyPr/>
          <a:lstStyle/>
          <a:p>
            <a:r>
              <a:rPr lang="en-US" dirty="0"/>
              <a:t>Assignment Operators</a:t>
            </a:r>
          </a:p>
        </p:txBody>
      </p:sp>
      <p:sp>
        <p:nvSpPr>
          <p:cNvPr id="3" name="Content Placeholder 2">
            <a:extLst>
              <a:ext uri="{FF2B5EF4-FFF2-40B4-BE49-F238E27FC236}">
                <a16:creationId xmlns:a16="http://schemas.microsoft.com/office/drawing/2014/main" id="{DF0D0B9D-F204-4978-AB59-A0AEF0000BE9}"/>
              </a:ext>
            </a:extLst>
          </p:cNvPr>
          <p:cNvSpPr>
            <a:spLocks noGrp="1"/>
          </p:cNvSpPr>
          <p:nvPr>
            <p:ph idx="1"/>
          </p:nvPr>
        </p:nvSpPr>
        <p:spPr/>
        <p:txBody>
          <a:bodyPr>
            <a:normAutofit fontScale="55000" lnSpcReduction="20000"/>
          </a:bodyPr>
          <a:lstStyle/>
          <a:p>
            <a:pPr>
              <a:lnSpc>
                <a:spcPct val="80000"/>
              </a:lnSpc>
              <a:defRPr/>
            </a:pPr>
            <a:r>
              <a:rPr lang="en-US" dirty="0">
                <a:latin typeface="Courier New" pitchFamily="49" charset="0"/>
              </a:rPr>
              <a:t>a = b</a:t>
            </a:r>
            <a:r>
              <a:rPr lang="en-US" dirty="0"/>
              <a:t>	assign object b to label a</a:t>
            </a:r>
          </a:p>
          <a:p>
            <a:pPr>
              <a:lnSpc>
                <a:spcPct val="80000"/>
              </a:lnSpc>
              <a:defRPr/>
            </a:pPr>
            <a:r>
              <a:rPr lang="en-US" dirty="0">
                <a:latin typeface="Courier New" pitchFamily="49" charset="0"/>
              </a:rPr>
              <a:t>a += b</a:t>
            </a:r>
            <a:r>
              <a:rPr lang="en-US" dirty="0"/>
              <a:t>	roughly same as a = a + b</a:t>
            </a:r>
          </a:p>
          <a:p>
            <a:pPr>
              <a:lnSpc>
                <a:spcPct val="80000"/>
              </a:lnSpc>
              <a:defRPr/>
            </a:pPr>
            <a:r>
              <a:rPr lang="en-US" dirty="0">
                <a:latin typeface="Courier New" pitchFamily="49" charset="0"/>
              </a:rPr>
              <a:t>a -= b</a:t>
            </a:r>
            <a:r>
              <a:rPr lang="en-US" dirty="0"/>
              <a:t>	roughly a = a - b</a:t>
            </a:r>
          </a:p>
          <a:p>
            <a:pPr>
              <a:lnSpc>
                <a:spcPct val="80000"/>
              </a:lnSpc>
              <a:defRPr/>
            </a:pPr>
            <a:r>
              <a:rPr lang="en-US" dirty="0">
                <a:latin typeface="Courier New" pitchFamily="49" charset="0"/>
              </a:rPr>
              <a:t>a *= b</a:t>
            </a:r>
            <a:r>
              <a:rPr lang="en-US" dirty="0"/>
              <a:t>	roughly a = a * b</a:t>
            </a:r>
          </a:p>
          <a:p>
            <a:pPr>
              <a:lnSpc>
                <a:spcPct val="80000"/>
              </a:lnSpc>
              <a:defRPr/>
            </a:pPr>
            <a:r>
              <a:rPr lang="en-US" dirty="0">
                <a:latin typeface="Courier New" pitchFamily="49" charset="0"/>
              </a:rPr>
              <a:t>a /= b</a:t>
            </a:r>
            <a:r>
              <a:rPr lang="en-US" dirty="0"/>
              <a:t>	roughly a = a / b</a:t>
            </a:r>
          </a:p>
          <a:p>
            <a:pPr>
              <a:lnSpc>
                <a:spcPct val="80000"/>
              </a:lnSpc>
              <a:defRPr/>
            </a:pPr>
            <a:r>
              <a:rPr lang="en-US" dirty="0">
                <a:latin typeface="Courier New" pitchFamily="49" charset="0"/>
              </a:rPr>
              <a:t>a //= b</a:t>
            </a:r>
            <a:r>
              <a:rPr lang="en-US" dirty="0"/>
              <a:t>	roughly a = a // b</a:t>
            </a:r>
          </a:p>
          <a:p>
            <a:pPr>
              <a:lnSpc>
                <a:spcPct val="80000"/>
              </a:lnSpc>
              <a:defRPr/>
            </a:pPr>
            <a:r>
              <a:rPr lang="en-US" dirty="0">
                <a:latin typeface="Courier New" pitchFamily="49" charset="0"/>
              </a:rPr>
              <a:t>a %= b</a:t>
            </a:r>
            <a:r>
              <a:rPr lang="en-US" dirty="0"/>
              <a:t>	roughly a = a % b</a:t>
            </a:r>
          </a:p>
          <a:p>
            <a:pPr>
              <a:lnSpc>
                <a:spcPct val="80000"/>
              </a:lnSpc>
              <a:defRPr/>
            </a:pPr>
            <a:r>
              <a:rPr lang="en-US" dirty="0">
                <a:latin typeface="Courier New" pitchFamily="49" charset="0"/>
              </a:rPr>
              <a:t>a **= b</a:t>
            </a:r>
            <a:r>
              <a:rPr lang="en-US" dirty="0"/>
              <a:t>	roughly a = a ** b</a:t>
            </a:r>
          </a:p>
          <a:p>
            <a:pPr>
              <a:lnSpc>
                <a:spcPct val="80000"/>
              </a:lnSpc>
              <a:defRPr/>
            </a:pPr>
            <a:r>
              <a:rPr lang="en-US" dirty="0">
                <a:latin typeface="Courier New" pitchFamily="49" charset="0"/>
              </a:rPr>
              <a:t>a &amp;= b</a:t>
            </a:r>
            <a:r>
              <a:rPr lang="en-US" dirty="0"/>
              <a:t>	roughly a = a &amp; b</a:t>
            </a:r>
          </a:p>
          <a:p>
            <a:pPr>
              <a:lnSpc>
                <a:spcPct val="80000"/>
              </a:lnSpc>
              <a:defRPr/>
            </a:pPr>
            <a:r>
              <a:rPr lang="en-US" dirty="0">
                <a:latin typeface="Courier New" pitchFamily="49" charset="0"/>
              </a:rPr>
              <a:t>a |= b</a:t>
            </a:r>
            <a:r>
              <a:rPr lang="en-US" dirty="0"/>
              <a:t>	roughly a = a | b</a:t>
            </a:r>
          </a:p>
          <a:p>
            <a:pPr>
              <a:lnSpc>
                <a:spcPct val="80000"/>
              </a:lnSpc>
              <a:defRPr/>
            </a:pPr>
            <a:r>
              <a:rPr lang="en-US" dirty="0">
                <a:latin typeface="Courier New" pitchFamily="49" charset="0"/>
              </a:rPr>
              <a:t>a ^= b</a:t>
            </a:r>
            <a:r>
              <a:rPr lang="en-US" dirty="0"/>
              <a:t>	roughly a = a ^ b</a:t>
            </a:r>
          </a:p>
          <a:p>
            <a:pPr>
              <a:lnSpc>
                <a:spcPct val="80000"/>
              </a:lnSpc>
              <a:defRPr/>
            </a:pPr>
            <a:r>
              <a:rPr lang="en-US" dirty="0">
                <a:latin typeface="Courier New" pitchFamily="49" charset="0"/>
              </a:rPr>
              <a:t>a &lt;&lt;= b</a:t>
            </a:r>
            <a:r>
              <a:rPr lang="en-US" dirty="0"/>
              <a:t>	roughly a = a &lt;&lt; b</a:t>
            </a:r>
          </a:p>
          <a:p>
            <a:pPr>
              <a:lnSpc>
                <a:spcPct val="80000"/>
              </a:lnSpc>
              <a:defRPr/>
            </a:pPr>
            <a:r>
              <a:rPr lang="en-US" dirty="0">
                <a:latin typeface="Courier New" pitchFamily="49" charset="0"/>
              </a:rPr>
              <a:t>a &gt;&gt;= b</a:t>
            </a:r>
            <a:r>
              <a:rPr lang="en-US" dirty="0"/>
              <a:t>	roughly a = a &gt;&gt; b</a:t>
            </a:r>
          </a:p>
          <a:p>
            <a:endParaRPr lang="en-US" dirty="0"/>
          </a:p>
        </p:txBody>
      </p:sp>
    </p:spTree>
    <p:extLst>
      <p:ext uri="{BB962C8B-B14F-4D97-AF65-F5344CB8AC3E}">
        <p14:creationId xmlns:p14="http://schemas.microsoft.com/office/powerpoint/2010/main" val="330331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78418-2371-403B-8AE6-C4126A1DD61D}"/>
              </a:ext>
            </a:extLst>
          </p:cNvPr>
          <p:cNvSpPr>
            <a:spLocks noGrp="1"/>
          </p:cNvSpPr>
          <p:nvPr>
            <p:ph type="title"/>
          </p:nvPr>
        </p:nvSpPr>
        <p:spPr/>
        <p:txBody>
          <a:bodyPr/>
          <a:lstStyle/>
          <a:p>
            <a:r>
              <a:rPr lang="en-US" dirty="0"/>
              <a:t>Comparisons</a:t>
            </a:r>
          </a:p>
        </p:txBody>
      </p:sp>
      <p:sp>
        <p:nvSpPr>
          <p:cNvPr id="3" name="Content Placeholder 2">
            <a:extLst>
              <a:ext uri="{FF2B5EF4-FFF2-40B4-BE49-F238E27FC236}">
                <a16:creationId xmlns:a16="http://schemas.microsoft.com/office/drawing/2014/main" id="{67FDF731-9C40-40CD-B9D9-1509083E8970}"/>
              </a:ext>
            </a:extLst>
          </p:cNvPr>
          <p:cNvSpPr>
            <a:spLocks noGrp="1"/>
          </p:cNvSpPr>
          <p:nvPr>
            <p:ph idx="1"/>
          </p:nvPr>
        </p:nvSpPr>
        <p:spPr/>
        <p:txBody>
          <a:bodyPr>
            <a:normAutofit fontScale="92500" lnSpcReduction="20000"/>
          </a:bodyPr>
          <a:lstStyle/>
          <a:p>
            <a:pPr>
              <a:defRPr/>
            </a:pPr>
            <a:r>
              <a:rPr lang="en-US" dirty="0"/>
              <a:t>&lt; 		lesser than</a:t>
            </a:r>
          </a:p>
          <a:p>
            <a:pPr>
              <a:defRPr/>
            </a:pPr>
            <a:r>
              <a:rPr lang="en-US" dirty="0"/>
              <a:t>&gt; 		greater than</a:t>
            </a:r>
          </a:p>
          <a:p>
            <a:pPr>
              <a:defRPr/>
            </a:pPr>
            <a:r>
              <a:rPr lang="en-US" dirty="0"/>
              <a:t>== 		equal</a:t>
            </a:r>
          </a:p>
          <a:p>
            <a:pPr>
              <a:defRPr/>
            </a:pPr>
            <a:r>
              <a:rPr lang="en-US" dirty="0"/>
              <a:t>!= 		not equal (also &lt;&gt;)</a:t>
            </a:r>
          </a:p>
          <a:p>
            <a:pPr>
              <a:defRPr/>
            </a:pPr>
            <a:r>
              <a:rPr lang="en-US" dirty="0"/>
              <a:t>&lt;= 		lesser than or equal</a:t>
            </a:r>
          </a:p>
          <a:p>
            <a:pPr>
              <a:defRPr/>
            </a:pPr>
            <a:r>
              <a:rPr lang="en-US" dirty="0"/>
              <a:t>&gt;= 		greater than or equal</a:t>
            </a:r>
          </a:p>
          <a:p>
            <a:pPr>
              <a:defRPr/>
            </a:pPr>
            <a:r>
              <a:rPr lang="en-US" dirty="0"/>
              <a:t>is [not]	object identity (same object)</a:t>
            </a:r>
          </a:p>
          <a:p>
            <a:pPr>
              <a:defRPr/>
            </a:pPr>
            <a:r>
              <a:rPr lang="en-US" dirty="0"/>
              <a:t>[not] in 	test if element is in sequence</a:t>
            </a:r>
          </a:p>
          <a:p>
            <a:pPr>
              <a:defRPr/>
            </a:pPr>
            <a:r>
              <a:rPr lang="en-US" dirty="0"/>
              <a:t>a &lt;= x &lt;= b	x is between a and b</a:t>
            </a:r>
          </a:p>
          <a:p>
            <a:endParaRPr lang="en-US" dirty="0"/>
          </a:p>
        </p:txBody>
      </p:sp>
    </p:spTree>
    <p:extLst>
      <p:ext uri="{BB962C8B-B14F-4D97-AF65-F5344CB8AC3E}">
        <p14:creationId xmlns:p14="http://schemas.microsoft.com/office/powerpoint/2010/main" val="3961394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7553-E1F3-499E-9A03-168AA51CAF81}"/>
              </a:ext>
            </a:extLst>
          </p:cNvPr>
          <p:cNvSpPr>
            <a:spLocks noGrp="1"/>
          </p:cNvSpPr>
          <p:nvPr>
            <p:ph type="title"/>
          </p:nvPr>
        </p:nvSpPr>
        <p:spPr/>
        <p:txBody>
          <a:bodyPr/>
          <a:lstStyle/>
          <a:p>
            <a:r>
              <a:rPr lang="en-US" dirty="0"/>
              <a:t>Boolean Operators</a:t>
            </a:r>
          </a:p>
        </p:txBody>
      </p:sp>
      <p:sp>
        <p:nvSpPr>
          <p:cNvPr id="3" name="Content Placeholder 2">
            <a:extLst>
              <a:ext uri="{FF2B5EF4-FFF2-40B4-BE49-F238E27FC236}">
                <a16:creationId xmlns:a16="http://schemas.microsoft.com/office/drawing/2014/main" id="{29B61321-41ED-43A8-B286-3817C198CD32}"/>
              </a:ext>
            </a:extLst>
          </p:cNvPr>
          <p:cNvSpPr>
            <a:spLocks noGrp="1"/>
          </p:cNvSpPr>
          <p:nvPr>
            <p:ph idx="1"/>
          </p:nvPr>
        </p:nvSpPr>
        <p:spPr>
          <a:xfrm>
            <a:off x="1218883" y="1701797"/>
            <a:ext cx="10360501" cy="4881566"/>
          </a:xfrm>
        </p:spPr>
        <p:txBody>
          <a:bodyPr>
            <a:normAutofit fontScale="92500" lnSpcReduction="10000"/>
          </a:bodyPr>
          <a:lstStyle/>
          <a:p>
            <a:pPr>
              <a:defRPr/>
            </a:pPr>
            <a:r>
              <a:rPr lang="en-US" dirty="0">
                <a:latin typeface="Courier New" panose="02070309020205020404" pitchFamily="49" charset="0"/>
                <a:cs typeface="Courier New" panose="02070309020205020404" pitchFamily="49" charset="0"/>
              </a:rPr>
              <a:t>not x</a:t>
            </a:r>
            <a:r>
              <a:rPr lang="en-US" dirty="0"/>
              <a:t>		(same as !x in C)</a:t>
            </a:r>
          </a:p>
          <a:p>
            <a:pPr>
              <a:defRPr/>
            </a:pPr>
            <a:r>
              <a:rPr lang="en-US" dirty="0">
                <a:latin typeface="Courier New" panose="02070309020205020404" pitchFamily="49" charset="0"/>
                <a:cs typeface="Courier New" panose="02070309020205020404" pitchFamily="49" charset="0"/>
              </a:rPr>
              <a:t>x or y</a:t>
            </a:r>
            <a:r>
              <a:rPr lang="en-US" dirty="0"/>
              <a:t>		(same as x || y in C)</a:t>
            </a:r>
          </a:p>
          <a:p>
            <a:pPr>
              <a:defRPr/>
            </a:pPr>
            <a:r>
              <a:rPr lang="en-US" dirty="0">
                <a:latin typeface="Courier New" panose="02070309020205020404" pitchFamily="49" charset="0"/>
                <a:cs typeface="Courier New" panose="02070309020205020404" pitchFamily="49" charset="0"/>
              </a:rPr>
              <a:t>x and y</a:t>
            </a:r>
            <a:r>
              <a:rPr lang="en-US" dirty="0"/>
              <a:t>		(same as x &amp;&amp; y in C)</a:t>
            </a:r>
          </a:p>
          <a:p>
            <a:pPr>
              <a:defRPr/>
            </a:pPr>
            <a:r>
              <a:rPr lang="en-US" dirty="0"/>
              <a:t>Shortcut rules and automatic return:</a:t>
            </a:r>
          </a:p>
          <a:p>
            <a:pPr lvl="1">
              <a:defRPr/>
            </a:pPr>
            <a:r>
              <a:rPr lang="en-US" dirty="0"/>
              <a:t>If left side of OR operator is true, then the rest of boolean expression is not evaluated. Returns left if it is true, otherwise right side.</a:t>
            </a:r>
          </a:p>
          <a:p>
            <a:pPr lvl="1">
              <a:defRPr/>
            </a:pPr>
            <a:r>
              <a:rPr lang="en-US" dirty="0"/>
              <a:t>If left side of AND operator is false, then the rest of the boolean expression is not evaluated. Returns right side if left side is true, otherwise left side.</a:t>
            </a:r>
          </a:p>
          <a:p>
            <a:pPr>
              <a:defRPr/>
            </a:pPr>
            <a:r>
              <a:rPr lang="en-US" dirty="0"/>
              <a:t>None, numeric zero, empty sequences and mappings are considered to be False (anything else is true)</a:t>
            </a:r>
          </a:p>
          <a:p>
            <a:pPr>
              <a:defRPr/>
            </a:pPr>
            <a:r>
              <a:rPr lang="en-US" dirty="0"/>
              <a:t>For advanced coders, see also </a:t>
            </a:r>
            <a:r>
              <a:rPr lang="en-US" dirty="0">
                <a:hlinkClick r:id="rId2"/>
              </a:rPr>
              <a:t>and-or trick</a:t>
            </a:r>
            <a:endParaRPr lang="en-US" dirty="0"/>
          </a:p>
          <a:p>
            <a:pPr>
              <a:defRPr/>
            </a:pPr>
            <a:endParaRPr lang="en-US" dirty="0"/>
          </a:p>
          <a:p>
            <a:endParaRPr lang="en-US" dirty="0"/>
          </a:p>
        </p:txBody>
      </p:sp>
    </p:spTree>
    <p:extLst>
      <p:ext uri="{BB962C8B-B14F-4D97-AF65-F5344CB8AC3E}">
        <p14:creationId xmlns:p14="http://schemas.microsoft.com/office/powerpoint/2010/main" val="3388600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5D98B-D8F3-4D3A-916E-2D0C3C0A16C1}"/>
              </a:ext>
            </a:extLst>
          </p:cNvPr>
          <p:cNvSpPr>
            <a:spLocks noGrp="1"/>
          </p:cNvSpPr>
          <p:nvPr>
            <p:ph type="title"/>
          </p:nvPr>
        </p:nvSpPr>
        <p:spPr/>
        <p:txBody>
          <a:bodyPr/>
          <a:lstStyle/>
          <a:p>
            <a:r>
              <a:rPr lang="en-US" dirty="0"/>
              <a:t>Integers</a:t>
            </a:r>
          </a:p>
        </p:txBody>
      </p:sp>
      <p:sp>
        <p:nvSpPr>
          <p:cNvPr id="3" name="Content Placeholder 2">
            <a:extLst>
              <a:ext uri="{FF2B5EF4-FFF2-40B4-BE49-F238E27FC236}">
                <a16:creationId xmlns:a16="http://schemas.microsoft.com/office/drawing/2014/main" id="{8CCA3E9B-EF0E-409C-9575-8AFA91BC804C}"/>
              </a:ext>
            </a:extLst>
          </p:cNvPr>
          <p:cNvSpPr>
            <a:spLocks noGrp="1"/>
          </p:cNvSpPr>
          <p:nvPr>
            <p:ph idx="1"/>
          </p:nvPr>
        </p:nvSpPr>
        <p:spPr/>
        <p:txBody>
          <a:bodyPr/>
          <a:lstStyle/>
          <a:p>
            <a:r>
              <a:rPr lang="en-US" dirty="0"/>
              <a:t>Python 2 made a difference between:</a:t>
            </a:r>
          </a:p>
          <a:p>
            <a:pPr lvl="1"/>
            <a:r>
              <a:rPr lang="en-US" dirty="0">
                <a:latin typeface="Courier New" panose="02070309020205020404" pitchFamily="49" charset="0"/>
                <a:cs typeface="Courier New" panose="02070309020205020404" pitchFamily="49" charset="0"/>
              </a:rPr>
              <a:t>123 # normal integer</a:t>
            </a:r>
          </a:p>
          <a:p>
            <a:pPr lvl="1"/>
            <a:r>
              <a:rPr lang="en-US" dirty="0">
                <a:latin typeface="Courier New" panose="02070309020205020404" pitchFamily="49" charset="0"/>
                <a:cs typeface="Courier New" panose="02070309020205020404" pitchFamily="49" charset="0"/>
              </a:rPr>
              <a:t>12345678901234567890L # long integer</a:t>
            </a:r>
          </a:p>
          <a:p>
            <a:r>
              <a:rPr lang="en-US" dirty="0"/>
              <a:t>Python3 automatically promotes integers to long integers e.g. L is not needed at the end of a very large integer. </a:t>
            </a:r>
          </a:p>
          <a:p>
            <a:r>
              <a:rPr lang="en-US" dirty="0"/>
              <a:t>Hexadecimals (16-base): </a:t>
            </a:r>
            <a:r>
              <a:rPr lang="en-US" dirty="0">
                <a:latin typeface="Courier New" panose="02070309020205020404" pitchFamily="49" charset="0"/>
                <a:cs typeface="Courier New" panose="02070309020205020404" pitchFamily="49" charset="0"/>
              </a:rPr>
              <a:t>0x41 = 65 0xff = 255</a:t>
            </a:r>
          </a:p>
          <a:p>
            <a:r>
              <a:rPr lang="en-US" dirty="0">
                <a:cs typeface="Courier New" panose="02070309020205020404" pitchFamily="49" charset="0"/>
              </a:rPr>
              <a:t>Binary (2-base): </a:t>
            </a:r>
            <a:r>
              <a:rPr lang="en-US" dirty="0">
                <a:latin typeface="Courier New" panose="02070309020205020404" pitchFamily="49" charset="0"/>
                <a:cs typeface="Courier New" panose="02070309020205020404" pitchFamily="49" charset="0"/>
              </a:rPr>
              <a:t>0b111 = 7 0b1010 = 10</a:t>
            </a:r>
          </a:p>
          <a:p>
            <a:r>
              <a:rPr lang="en-US" dirty="0">
                <a:cs typeface="Courier New" panose="02070309020205020404" pitchFamily="49" charset="0"/>
              </a:rPr>
              <a:t>Octal (8-base): </a:t>
            </a:r>
            <a:r>
              <a:rPr lang="en-US" dirty="0">
                <a:latin typeface="Courier New" panose="02070309020205020404" pitchFamily="49" charset="0"/>
                <a:cs typeface="Courier New" panose="02070309020205020404" pitchFamily="49" charset="0"/>
              </a:rPr>
              <a:t>0o10 = 8 # 010 in Python 2</a:t>
            </a:r>
          </a:p>
        </p:txBody>
      </p:sp>
    </p:spTree>
    <p:extLst>
      <p:ext uri="{BB962C8B-B14F-4D97-AF65-F5344CB8AC3E}">
        <p14:creationId xmlns:p14="http://schemas.microsoft.com/office/powerpoint/2010/main" val="1192257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A9A21-5C1C-4A8A-AADE-0B784E6C93B4}"/>
              </a:ext>
            </a:extLst>
          </p:cNvPr>
          <p:cNvSpPr>
            <a:spLocks noGrp="1"/>
          </p:cNvSpPr>
          <p:nvPr>
            <p:ph type="title"/>
          </p:nvPr>
        </p:nvSpPr>
        <p:spPr/>
        <p:txBody>
          <a:bodyPr/>
          <a:lstStyle/>
          <a:p>
            <a:r>
              <a:rPr lang="en-US" dirty="0"/>
              <a:t>Floating Point Numbers</a:t>
            </a:r>
          </a:p>
        </p:txBody>
      </p:sp>
      <p:sp>
        <p:nvSpPr>
          <p:cNvPr id="3" name="Content Placeholder 2">
            <a:extLst>
              <a:ext uri="{FF2B5EF4-FFF2-40B4-BE49-F238E27FC236}">
                <a16:creationId xmlns:a16="http://schemas.microsoft.com/office/drawing/2014/main" id="{480A7CD4-9B50-4CD3-ABAB-BB4CF10D34C7}"/>
              </a:ext>
            </a:extLst>
          </p:cNvPr>
          <p:cNvSpPr>
            <a:spLocks noGrp="1"/>
          </p:cNvSpPr>
          <p:nvPr>
            <p:ph idx="1"/>
          </p:nvPr>
        </p:nvSpPr>
        <p:spPr/>
        <p:txBody>
          <a:bodyPr>
            <a:normAutofit fontScale="92500" lnSpcReduction="20000"/>
          </a:bodyPr>
          <a:lstStyle/>
          <a:p>
            <a:r>
              <a:rPr lang="en-US" dirty="0"/>
              <a:t>IEEE 754 64-bit double precision</a:t>
            </a:r>
          </a:p>
          <a:p>
            <a:r>
              <a:rPr lang="fi-FI" dirty="0"/>
              <a:t>± 1.8 × 10</a:t>
            </a:r>
            <a:r>
              <a:rPr lang="fi-FI" baseline="30000" dirty="0"/>
              <a:t>308</a:t>
            </a:r>
          </a:p>
          <a:p>
            <a:r>
              <a:rPr lang="en-US" dirty="0"/>
              <a:t>About 15-17 of significant digits</a:t>
            </a:r>
          </a:p>
          <a:p>
            <a:r>
              <a:rPr lang="en-US" dirty="0">
                <a:latin typeface="Courier New" panose="02070309020205020404" pitchFamily="49" charset="0"/>
                <a:cs typeface="Courier New" panose="02070309020205020404" pitchFamily="49" charset="0"/>
              </a:rPr>
              <a:t>3.141592653589793</a:t>
            </a:r>
          </a:p>
          <a:p>
            <a:r>
              <a:rPr lang="en-US" dirty="0">
                <a:latin typeface="Courier New" panose="02070309020205020404" pitchFamily="49" charset="0"/>
                <a:cs typeface="Courier New" panose="02070309020205020404" pitchFamily="49" charset="0"/>
              </a:rPr>
              <a:t>1e6 = 1000000.0</a:t>
            </a:r>
          </a:p>
          <a:p>
            <a:r>
              <a:rPr lang="en-US" dirty="0">
                <a:latin typeface="Courier New" panose="02070309020205020404" pitchFamily="49" charset="0"/>
                <a:cs typeface="Courier New" panose="02070309020205020404" pitchFamily="49" charset="0"/>
              </a:rPr>
              <a:t>-5e-3 = -0.005</a:t>
            </a:r>
          </a:p>
          <a:p>
            <a:r>
              <a:rPr lang="en-US" dirty="0">
                <a:latin typeface="Courier New" panose="02070309020205020404" pitchFamily="49" charset="0"/>
                <a:cs typeface="Courier New" panose="02070309020205020404" pitchFamily="49" charset="0"/>
              </a:rPr>
              <a:t>1.23e3 = 1230.0</a:t>
            </a:r>
          </a:p>
          <a:p>
            <a:r>
              <a:rPr lang="en-US" dirty="0">
                <a:cs typeface="Courier New" panose="02070309020205020404" pitchFamily="49" charset="0"/>
              </a:rPr>
              <a:t>Note that IEEE 754 double precision is inexact</a:t>
            </a:r>
          </a:p>
          <a:p>
            <a:r>
              <a:rPr lang="en-US" dirty="0">
                <a:latin typeface="Courier New" panose="02070309020205020404" pitchFamily="49" charset="0"/>
                <a:cs typeface="Courier New" panose="02070309020205020404" pitchFamily="49" charset="0"/>
              </a:rPr>
              <a:t>0.2+0.7 = 0.8999999999999999</a:t>
            </a:r>
          </a:p>
          <a:p>
            <a:endParaRPr lang="en-US" dirty="0"/>
          </a:p>
          <a:p>
            <a:endParaRPr lang="en-US" dirty="0"/>
          </a:p>
        </p:txBody>
      </p:sp>
    </p:spTree>
    <p:extLst>
      <p:ext uri="{BB962C8B-B14F-4D97-AF65-F5344CB8AC3E}">
        <p14:creationId xmlns:p14="http://schemas.microsoft.com/office/powerpoint/2010/main" val="1737796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542FC-A401-43D7-9C0A-200B06EBB100}"/>
              </a:ext>
            </a:extLst>
          </p:cNvPr>
          <p:cNvSpPr>
            <a:spLocks noGrp="1"/>
          </p:cNvSpPr>
          <p:nvPr>
            <p:ph type="title"/>
          </p:nvPr>
        </p:nvSpPr>
        <p:spPr/>
        <p:txBody>
          <a:bodyPr/>
          <a:lstStyle/>
          <a:p>
            <a:r>
              <a:rPr lang="en-US" dirty="0"/>
              <a:t>Strings</a:t>
            </a:r>
          </a:p>
        </p:txBody>
      </p:sp>
      <p:sp>
        <p:nvSpPr>
          <p:cNvPr id="3" name="Content Placeholder 2">
            <a:extLst>
              <a:ext uri="{FF2B5EF4-FFF2-40B4-BE49-F238E27FC236}">
                <a16:creationId xmlns:a16="http://schemas.microsoft.com/office/drawing/2014/main" id="{4FF4C481-FD64-49F1-9FED-0DB96812C486}"/>
              </a:ext>
            </a:extLst>
          </p:cNvPr>
          <p:cNvSpPr>
            <a:spLocks noGrp="1"/>
          </p:cNvSpPr>
          <p:nvPr>
            <p:ph idx="1"/>
          </p:nvPr>
        </p:nvSpPr>
        <p:spPr>
          <a:xfrm>
            <a:off x="1218883" y="1701797"/>
            <a:ext cx="10360501" cy="4462272"/>
          </a:xfrm>
        </p:spPr>
        <p:txBody>
          <a:bodyPr>
            <a:normAutofit fontScale="55000" lnSpcReduction="20000"/>
          </a:bodyPr>
          <a:lstStyle/>
          <a:p>
            <a:r>
              <a:rPr lang="en-US" dirty="0"/>
              <a:t>Both ' and " work and can be mixed e.g. </a:t>
            </a:r>
            <a:r>
              <a:rPr lang="en-US" dirty="0">
                <a:latin typeface="Courier New" panose="02070309020205020404" pitchFamily="49" charset="0"/>
                <a:cs typeface="Courier New" panose="02070309020205020404" pitchFamily="49" charset="0"/>
              </a:rPr>
              <a:t>'easy '+"don't you think?"</a:t>
            </a:r>
          </a:p>
          <a:p>
            <a:r>
              <a:rPr lang="en-US" dirty="0"/>
              <a:t>The equivalent of Java's char is string with just one character </a:t>
            </a:r>
            <a:r>
              <a:rPr lang="en-US" dirty="0">
                <a:latin typeface="Courier New" panose="02070309020205020404" pitchFamily="49" charset="0"/>
                <a:cs typeface="Courier New" panose="02070309020205020404" pitchFamily="49" charset="0"/>
              </a:rPr>
              <a:t>'a'</a:t>
            </a:r>
          </a:p>
          <a:p>
            <a:r>
              <a:rPr lang="en-US" dirty="0"/>
              <a:t>In Python 3 all strings are Unicode. In Python 2 strings are 8-bit and you must mark Unicode e.g. </a:t>
            </a:r>
            <a:r>
              <a:rPr lang="en-US" dirty="0">
                <a:latin typeface="Courier New" panose="02070309020205020404" pitchFamily="49" charset="0"/>
                <a:cs typeface="Courier New" panose="02070309020205020404" pitchFamily="49" charset="0"/>
              </a:rPr>
              <a:t>u'this is Unicode'</a:t>
            </a:r>
          </a:p>
          <a:p>
            <a:r>
              <a:rPr lang="en-US" dirty="0"/>
              <a:t>Raw string make it easier to write regular expressions </a:t>
            </a:r>
            <a:r>
              <a:rPr lang="en-US" dirty="0">
                <a:latin typeface="Courier New" panose="02070309020205020404" pitchFamily="49" charset="0"/>
                <a:cs typeface="Courier New" panose="02070309020205020404" pitchFamily="49" charset="0"/>
              </a:rPr>
              <a:t>two_numbers = r'\d\d'</a:t>
            </a:r>
          </a:p>
          <a:p>
            <a:r>
              <a:rPr lang="en-US" dirty="0"/>
              <a:t>Three quotes (''') or (""") make it easy to write multi-line string literals</a:t>
            </a:r>
          </a:p>
          <a:p>
            <a:r>
              <a:rPr lang="en-US" dirty="0">
                <a:latin typeface="Courier New" panose="02070309020205020404" pitchFamily="49" charset="0"/>
                <a:cs typeface="Courier New" panose="02070309020205020404" pitchFamily="49" charset="0"/>
              </a:rPr>
              <a:t>msg = """this is line #1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line #2"""</a:t>
            </a:r>
          </a:p>
          <a:p>
            <a:r>
              <a:rPr lang="en-US" dirty="0"/>
              <a:t>+ concatenates two strings, but often it is not needed:</a:t>
            </a:r>
          </a:p>
          <a:p>
            <a:r>
              <a:rPr lang="en-US" dirty="0">
                <a:latin typeface="Courier New" panose="02070309020205020404" pitchFamily="49" charset="0"/>
                <a:cs typeface="Courier New" panose="02070309020205020404" pitchFamily="49" charset="0"/>
              </a:rPr>
              <a:t>s = "eat " "my shorts" #same as s="eat "+"my shorts"</a:t>
            </a:r>
          </a:p>
          <a:p>
            <a:r>
              <a:rPr lang="en-US" dirty="0"/>
              <a:t>Strings can be indexed and indexing starts from 0</a:t>
            </a:r>
          </a:p>
          <a:p>
            <a:r>
              <a:rPr lang="en-US" dirty="0"/>
              <a:t>String is Immutable Sequence Type, meaning its value cannot be changed after creating</a:t>
            </a:r>
          </a:p>
          <a:p>
            <a:r>
              <a:rPr lang="en-US" dirty="0">
                <a:latin typeface="Courier New" panose="02070309020205020404" pitchFamily="49" charset="0"/>
                <a:cs typeface="Courier New" panose="02070309020205020404" pitchFamily="49" charset="0"/>
              </a:rPr>
              <a:t>a = "bart"; a[0]='c' # won't work</a:t>
            </a:r>
          </a:p>
          <a:p>
            <a:r>
              <a:rPr lang="en-US" dirty="0">
                <a:latin typeface="Courier New" panose="02070309020205020404" pitchFamily="49" charset="0"/>
                <a:cs typeface="Courier New" panose="02070309020205020404" pitchFamily="49" charset="0"/>
              </a:rPr>
              <a:t>a = "bart"; a = 'c'+a[1:] # will work, a = 'cart'</a:t>
            </a:r>
          </a:p>
        </p:txBody>
      </p:sp>
    </p:spTree>
    <p:extLst>
      <p:ext uri="{BB962C8B-B14F-4D97-AF65-F5344CB8AC3E}">
        <p14:creationId xmlns:p14="http://schemas.microsoft.com/office/powerpoint/2010/main" val="832632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26062-CBA6-4AB8-AE31-572725078588}"/>
              </a:ext>
            </a:extLst>
          </p:cNvPr>
          <p:cNvSpPr>
            <a:spLocks noGrp="1"/>
          </p:cNvSpPr>
          <p:nvPr>
            <p:ph type="title"/>
          </p:nvPr>
        </p:nvSpPr>
        <p:spPr/>
        <p:txBody>
          <a:bodyPr/>
          <a:lstStyle/>
          <a:p>
            <a:r>
              <a:rPr lang="en-US" dirty="0"/>
              <a:t>String Literals</a:t>
            </a:r>
          </a:p>
        </p:txBody>
      </p:sp>
      <p:sp>
        <p:nvSpPr>
          <p:cNvPr id="3" name="Content Placeholder 2">
            <a:extLst>
              <a:ext uri="{FF2B5EF4-FFF2-40B4-BE49-F238E27FC236}">
                <a16:creationId xmlns:a16="http://schemas.microsoft.com/office/drawing/2014/main" id="{A07F40EE-2DEC-4ADE-BD70-3CAA06E6E5E6}"/>
              </a:ext>
            </a:extLst>
          </p:cNvPr>
          <p:cNvSpPr>
            <a:spLocks noGrp="1"/>
          </p:cNvSpPr>
          <p:nvPr>
            <p:ph idx="1"/>
          </p:nvPr>
        </p:nvSpPr>
        <p:spPr>
          <a:xfrm>
            <a:off x="1218883" y="1701797"/>
            <a:ext cx="10360501" cy="4881566"/>
          </a:xfrm>
        </p:spPr>
        <p:txBody>
          <a:bodyPr>
            <a:normAutofit fontScale="62500" lnSpcReduction="20000"/>
          </a:bodyPr>
          <a:lstStyle/>
          <a:p>
            <a:pPr>
              <a:defRPr/>
            </a:pPr>
            <a:r>
              <a:rPr lang="en-US" dirty="0"/>
              <a:t>"" or '' empty string</a:t>
            </a:r>
          </a:p>
          <a:p>
            <a:pPr>
              <a:defRPr/>
            </a:pPr>
            <a:r>
              <a:rPr lang="en-US" dirty="0"/>
              <a:t>\</a:t>
            </a:r>
            <a:r>
              <a:rPr lang="en-US" i="1" dirty="0"/>
              <a:t>newline </a:t>
            </a:r>
            <a:r>
              <a:rPr lang="en-US" dirty="0"/>
              <a:t>backslash and newline ignored</a:t>
            </a:r>
          </a:p>
          <a:p>
            <a:pPr>
              <a:defRPr/>
            </a:pPr>
            <a:r>
              <a:rPr lang="en-US" dirty="0"/>
              <a:t>\\ backlash (\)</a:t>
            </a:r>
          </a:p>
          <a:p>
            <a:pPr>
              <a:defRPr/>
            </a:pPr>
            <a:r>
              <a:rPr lang="en-US" dirty="0"/>
              <a:t>\' single quote (')</a:t>
            </a:r>
          </a:p>
          <a:p>
            <a:pPr>
              <a:defRPr/>
            </a:pPr>
            <a:r>
              <a:rPr lang="en-US" dirty="0"/>
              <a:t>\" double quote (")</a:t>
            </a:r>
          </a:p>
          <a:p>
            <a:pPr>
              <a:defRPr/>
            </a:pPr>
            <a:r>
              <a:rPr lang="en-US" dirty="0"/>
              <a:t>\n ASCII linefeed (LF)</a:t>
            </a:r>
          </a:p>
          <a:p>
            <a:pPr>
              <a:defRPr/>
            </a:pPr>
            <a:r>
              <a:rPr lang="en-US" dirty="0"/>
              <a:t>\r ASCII carriage return (CR)</a:t>
            </a:r>
          </a:p>
          <a:p>
            <a:pPr>
              <a:defRPr/>
            </a:pPr>
            <a:r>
              <a:rPr lang="en-US" dirty="0"/>
              <a:t>\t ASCII horizontal tab (TAB)</a:t>
            </a:r>
          </a:p>
          <a:p>
            <a:pPr>
              <a:defRPr/>
            </a:pPr>
            <a:r>
              <a:rPr lang="en-US" dirty="0"/>
              <a:t>\xhh character with hex value hh</a:t>
            </a:r>
          </a:p>
          <a:p>
            <a:pPr>
              <a:defRPr/>
            </a:pPr>
            <a:r>
              <a:rPr lang="en-US" dirty="0"/>
              <a:t>\N{name}	Character named name in the Unicode database	(4)</a:t>
            </a:r>
          </a:p>
          <a:p>
            <a:pPr>
              <a:defRPr/>
            </a:pPr>
            <a:r>
              <a:rPr lang="en-US" dirty="0"/>
              <a:t>\uxxxx	Character with 16-bit hex value xxxx	(5)</a:t>
            </a:r>
          </a:p>
          <a:p>
            <a:pPr>
              <a:defRPr/>
            </a:pPr>
            <a:r>
              <a:rPr lang="en-US" dirty="0"/>
              <a:t>\Uxxxxxxxx	Character with 32-bit hex value xxxxxxxx</a:t>
            </a:r>
            <a:br>
              <a:rPr lang="en-US" dirty="0"/>
            </a:br>
            <a:endParaRPr lang="en-US" dirty="0"/>
          </a:p>
          <a:p>
            <a:endParaRPr lang="en-US" dirty="0"/>
          </a:p>
        </p:txBody>
      </p:sp>
    </p:spTree>
    <p:extLst>
      <p:ext uri="{BB962C8B-B14F-4D97-AF65-F5344CB8AC3E}">
        <p14:creationId xmlns:p14="http://schemas.microsoft.com/office/powerpoint/2010/main" val="242039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7497B-580E-459B-AC76-0C19BB43A7CA}"/>
              </a:ext>
            </a:extLst>
          </p:cNvPr>
          <p:cNvSpPr>
            <a:spLocks noGrp="1"/>
          </p:cNvSpPr>
          <p:nvPr>
            <p:ph type="title"/>
          </p:nvPr>
        </p:nvSpPr>
        <p:spPr/>
        <p:txBody>
          <a:bodyPr/>
          <a:lstStyle/>
          <a:p>
            <a:r>
              <a:rPr lang="en-US" dirty="0">
                <a:hlinkClick r:id="rId2"/>
              </a:rPr>
              <a:t>String Methods</a:t>
            </a:r>
            <a:endParaRPr lang="en-US" dirty="0"/>
          </a:p>
        </p:txBody>
      </p:sp>
      <p:sp>
        <p:nvSpPr>
          <p:cNvPr id="3" name="Content Placeholder 2">
            <a:extLst>
              <a:ext uri="{FF2B5EF4-FFF2-40B4-BE49-F238E27FC236}">
                <a16:creationId xmlns:a16="http://schemas.microsoft.com/office/drawing/2014/main" id="{20D8F978-113F-4029-9445-BC6039FE7017}"/>
              </a:ext>
            </a:extLst>
          </p:cNvPr>
          <p:cNvSpPr>
            <a:spLocks noGrp="1"/>
          </p:cNvSpPr>
          <p:nvPr>
            <p:ph idx="1"/>
          </p:nvPr>
        </p:nvSpPr>
        <p:spPr/>
        <p:txBody>
          <a:bodyPr>
            <a:normAutofit fontScale="92500" lnSpcReduction="10000"/>
          </a:bodyPr>
          <a:lstStyle/>
          <a:p>
            <a:pPr>
              <a:defRPr/>
            </a:pPr>
            <a:r>
              <a:rPr lang="en-US" b="1" dirty="0" err="1"/>
              <a:t>str.count</a:t>
            </a:r>
            <a:r>
              <a:rPr lang="en-US" b="1" dirty="0"/>
              <a:t>(sub[, start[, end]])</a:t>
            </a:r>
            <a:r>
              <a:rPr lang="en-US" dirty="0"/>
              <a:t> Return the number of non-overlapping occurrences of substring sub in the range [start, end].</a:t>
            </a:r>
          </a:p>
          <a:p>
            <a:pPr>
              <a:defRPr/>
            </a:pPr>
            <a:r>
              <a:rPr lang="en-US" b="1" dirty="0" err="1"/>
              <a:t>str.encode</a:t>
            </a:r>
            <a:r>
              <a:rPr lang="en-US" b="1" dirty="0"/>
              <a:t>(encoding="utf-8", errors="strict") </a:t>
            </a:r>
            <a:r>
              <a:rPr lang="en-US" dirty="0"/>
              <a:t>Return an encoded version of the string as a bytes object. Default encoding is 'utf-8'. The opposite is</a:t>
            </a:r>
            <a:br>
              <a:rPr lang="en-US" dirty="0"/>
            </a:br>
            <a:r>
              <a:rPr lang="en-US" b="1" dirty="0" err="1"/>
              <a:t>bytes.decode</a:t>
            </a:r>
            <a:r>
              <a:rPr lang="en-US" b="1" dirty="0"/>
              <a:t>(encoding="utf-8", errors="strict")</a:t>
            </a:r>
            <a:endParaRPr lang="en-US" dirty="0"/>
          </a:p>
          <a:p>
            <a:pPr>
              <a:defRPr/>
            </a:pPr>
            <a:r>
              <a:rPr lang="en-US" b="1" dirty="0" err="1"/>
              <a:t>str.endswith</a:t>
            </a:r>
            <a:r>
              <a:rPr lang="en-US" b="1" dirty="0"/>
              <a:t>(suffix[, start[, end]])</a:t>
            </a:r>
            <a:r>
              <a:rPr lang="en-US" dirty="0"/>
              <a:t> Return True if the string ends with the specified suffix, otherwise return False. suffix can also be a tuple of suffixes to look for. </a:t>
            </a:r>
          </a:p>
          <a:p>
            <a:pPr>
              <a:defRPr/>
            </a:pPr>
            <a:r>
              <a:rPr lang="en-US" b="1" dirty="0" err="1"/>
              <a:t>s.find</a:t>
            </a:r>
            <a:r>
              <a:rPr lang="en-US" b="1" dirty="0"/>
              <a:t>(substring)</a:t>
            </a:r>
            <a:r>
              <a:rPr lang="en-US" dirty="0"/>
              <a:t> find index of substring. Returns -1 if nothing found.</a:t>
            </a:r>
          </a:p>
          <a:p>
            <a:pPr>
              <a:defRPr/>
            </a:pPr>
            <a:r>
              <a:rPr lang="en-US" b="1" dirty="0">
                <a:cs typeface="Courier New" panose="02070309020205020404" pitchFamily="49" charset="0"/>
              </a:rPr>
              <a:t>s.format(arguments</a:t>
            </a:r>
            <a:r>
              <a:rPr lang="en-US" b="1" dirty="0"/>
              <a:t>)</a:t>
            </a:r>
            <a:r>
              <a:rPr lang="en-US" dirty="0"/>
              <a:t> formats a string for nicer output</a:t>
            </a:r>
          </a:p>
          <a:p>
            <a:pPr>
              <a:defRPr/>
            </a:pPr>
            <a:endParaRPr lang="en-US" dirty="0"/>
          </a:p>
          <a:p>
            <a:endParaRPr lang="en-US" dirty="0"/>
          </a:p>
        </p:txBody>
      </p:sp>
    </p:spTree>
    <p:extLst>
      <p:ext uri="{BB962C8B-B14F-4D97-AF65-F5344CB8AC3E}">
        <p14:creationId xmlns:p14="http://schemas.microsoft.com/office/powerpoint/2010/main" val="208712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B6A7567-2E3C-4E59-9D87-94F11CB7EEB3}"/>
              </a:ext>
            </a:extLst>
          </p:cNvPr>
          <p:cNvSpPr>
            <a:spLocks noGrp="1"/>
          </p:cNvSpPr>
          <p:nvPr>
            <p:ph type="title"/>
          </p:nvPr>
        </p:nvSpPr>
        <p:spPr/>
        <p:txBody>
          <a:bodyPr/>
          <a:lstStyle/>
          <a:p>
            <a:r>
              <a:rPr lang="fi-FI" dirty="0" err="1"/>
              <a:t>String</a:t>
            </a:r>
            <a:r>
              <a:rPr lang="fi-FI" dirty="0"/>
              <a:t> </a:t>
            </a:r>
            <a:r>
              <a:rPr lang="fi-FI" dirty="0" err="1"/>
              <a:t>Methods</a:t>
            </a:r>
            <a:r>
              <a:rPr lang="fi-FI" dirty="0"/>
              <a:t> I</a:t>
            </a:r>
          </a:p>
        </p:txBody>
      </p:sp>
      <p:sp>
        <p:nvSpPr>
          <p:cNvPr id="3" name="Sisällön paikkamerkki 2">
            <a:extLst>
              <a:ext uri="{FF2B5EF4-FFF2-40B4-BE49-F238E27FC236}">
                <a16:creationId xmlns:a16="http://schemas.microsoft.com/office/drawing/2014/main" id="{EFDE5920-587C-4AD1-8780-A29D3E92CA8D}"/>
              </a:ext>
            </a:extLst>
          </p:cNvPr>
          <p:cNvSpPr>
            <a:spLocks noGrp="1"/>
          </p:cNvSpPr>
          <p:nvPr>
            <p:ph idx="1"/>
          </p:nvPr>
        </p:nvSpPr>
        <p:spPr>
          <a:xfrm>
            <a:off x="1218883" y="1701797"/>
            <a:ext cx="10360501" cy="4881566"/>
          </a:xfrm>
        </p:spPr>
        <p:txBody>
          <a:bodyPr>
            <a:normAutofit fontScale="62500" lnSpcReduction="20000"/>
          </a:bodyPr>
          <a:lstStyle/>
          <a:p>
            <a:r>
              <a:rPr lang="en-US" b="1" dirty="0" err="1"/>
              <a:t>str.isalnum</a:t>
            </a:r>
            <a:r>
              <a:rPr lang="en-US" b="1" dirty="0"/>
              <a:t>()</a:t>
            </a:r>
            <a:r>
              <a:rPr lang="en-US" dirty="0"/>
              <a:t> Return True if all characters in the string are alphanumeric and there is at least one character, False otherwise. </a:t>
            </a:r>
          </a:p>
          <a:p>
            <a:r>
              <a:rPr lang="en-US" b="1" dirty="0" err="1"/>
              <a:t>str.isalpha</a:t>
            </a:r>
            <a:r>
              <a:rPr lang="en-US" b="1" dirty="0"/>
              <a:t>()</a:t>
            </a:r>
            <a:r>
              <a:rPr lang="en-US" dirty="0"/>
              <a:t> Return True if all characters in the string are alphabetic and there is at least one character, False otherwise.</a:t>
            </a:r>
          </a:p>
          <a:p>
            <a:r>
              <a:rPr lang="en-US" b="1" dirty="0" err="1"/>
              <a:t>str.isdecimal</a:t>
            </a:r>
            <a:r>
              <a:rPr lang="en-US" b="1" dirty="0"/>
              <a:t>()</a:t>
            </a:r>
            <a:r>
              <a:rPr lang="en-US" dirty="0"/>
              <a:t> Return True if all characters in the string are decimal characters and there is at least one character, False otherwise. Decimal characters are those that can be used to form numbers in base 10.</a:t>
            </a:r>
          </a:p>
          <a:p>
            <a:r>
              <a:rPr lang="en-US" b="1" dirty="0" err="1"/>
              <a:t>str.isdigit</a:t>
            </a:r>
            <a:r>
              <a:rPr lang="en-US" b="1" dirty="0"/>
              <a:t>()</a:t>
            </a:r>
            <a:r>
              <a:rPr lang="en-US" dirty="0"/>
              <a:t> Return True if all characters in the string are digits and there is at least one character, False otherwise. Digits include decimal characters and digits that need special handling, such as the compatibility superscript digits. </a:t>
            </a:r>
          </a:p>
          <a:p>
            <a:r>
              <a:rPr lang="en-US" b="1" dirty="0" err="1"/>
              <a:t>str.islower</a:t>
            </a:r>
            <a:r>
              <a:rPr lang="en-US" b="1" dirty="0"/>
              <a:t>()</a:t>
            </a:r>
            <a:r>
              <a:rPr lang="en-US" dirty="0"/>
              <a:t> Return True if all cased characters in the string are lowercase and there is at least one cased character, False otherwise.</a:t>
            </a:r>
          </a:p>
          <a:p>
            <a:r>
              <a:rPr lang="en-US" b="1" dirty="0" err="1"/>
              <a:t>str.isnumeric</a:t>
            </a:r>
            <a:r>
              <a:rPr lang="en-US" b="1" dirty="0"/>
              <a:t>()</a:t>
            </a:r>
            <a:r>
              <a:rPr lang="en-US" dirty="0"/>
              <a:t> Return True if all characters in the string are numeric characters, and there is at least one character, False otherwise.</a:t>
            </a:r>
          </a:p>
          <a:p>
            <a:r>
              <a:rPr lang="en-US" b="1" dirty="0" err="1"/>
              <a:t>str.isspace</a:t>
            </a:r>
            <a:r>
              <a:rPr lang="en-US" b="1" dirty="0"/>
              <a:t>()</a:t>
            </a:r>
            <a:r>
              <a:rPr lang="en-US" dirty="0"/>
              <a:t> Return True if there are only whitespace characters in the string and there is at least one character, False otherwise.</a:t>
            </a:r>
          </a:p>
          <a:p>
            <a:r>
              <a:rPr lang="en-US" b="1" dirty="0" err="1"/>
              <a:t>str.isupper</a:t>
            </a:r>
            <a:r>
              <a:rPr lang="en-US" b="1" dirty="0"/>
              <a:t>()</a:t>
            </a:r>
            <a:r>
              <a:rPr lang="en-US" dirty="0"/>
              <a:t> Return True if all cased characters in the string are uppercase and there is at least one cased character, False otherwise.</a:t>
            </a:r>
            <a:endParaRPr lang="fi-FI" dirty="0"/>
          </a:p>
        </p:txBody>
      </p:sp>
    </p:spTree>
    <p:extLst>
      <p:ext uri="{BB962C8B-B14F-4D97-AF65-F5344CB8AC3E}">
        <p14:creationId xmlns:p14="http://schemas.microsoft.com/office/powerpoint/2010/main" val="10625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97B03E5-AC1E-4756-90D1-BE37CA080419}"/>
              </a:ext>
            </a:extLst>
          </p:cNvPr>
          <p:cNvSpPr>
            <a:spLocks noGrp="1"/>
          </p:cNvSpPr>
          <p:nvPr>
            <p:ph type="title"/>
          </p:nvPr>
        </p:nvSpPr>
        <p:spPr/>
        <p:txBody>
          <a:bodyPr/>
          <a:lstStyle/>
          <a:p>
            <a:r>
              <a:rPr lang="en-US" dirty="0"/>
              <a:t>String Methods J-U</a:t>
            </a:r>
          </a:p>
        </p:txBody>
      </p:sp>
      <p:sp>
        <p:nvSpPr>
          <p:cNvPr id="3" name="Sisällön paikkamerkki 2">
            <a:extLst>
              <a:ext uri="{FF2B5EF4-FFF2-40B4-BE49-F238E27FC236}">
                <a16:creationId xmlns:a16="http://schemas.microsoft.com/office/drawing/2014/main" id="{E5AEB36C-1157-4598-9A8C-C51F3A64649D}"/>
              </a:ext>
            </a:extLst>
          </p:cNvPr>
          <p:cNvSpPr>
            <a:spLocks noGrp="1"/>
          </p:cNvSpPr>
          <p:nvPr>
            <p:ph idx="1"/>
          </p:nvPr>
        </p:nvSpPr>
        <p:spPr>
          <a:xfrm>
            <a:off x="1218883" y="1701796"/>
            <a:ext cx="10360501" cy="4751539"/>
          </a:xfrm>
        </p:spPr>
        <p:txBody>
          <a:bodyPr>
            <a:normAutofit fontScale="85000" lnSpcReduction="20000"/>
          </a:bodyPr>
          <a:lstStyle/>
          <a:p>
            <a:pPr>
              <a:defRPr/>
            </a:pPr>
            <a:r>
              <a:rPr lang="en-US" b="1" dirty="0" err="1">
                <a:latin typeface="Courier New" pitchFamily="49" charset="0"/>
              </a:rPr>
              <a:t>s.join</a:t>
            </a:r>
            <a:r>
              <a:rPr lang="en-US" b="1" dirty="0">
                <a:latin typeface="Courier New" pitchFamily="49" charset="0"/>
              </a:rPr>
              <a:t>(sequence)</a:t>
            </a:r>
            <a:r>
              <a:rPr lang="en-US" dirty="0"/>
              <a:t> concatenate sequence with string in between</a:t>
            </a:r>
          </a:p>
          <a:p>
            <a:pPr>
              <a:defRPr/>
            </a:pPr>
            <a:r>
              <a:rPr lang="en-US" b="1" dirty="0" err="1">
                <a:latin typeface="Courier New" pitchFamily="49" charset="0"/>
              </a:rPr>
              <a:t>s.lower</a:t>
            </a:r>
            <a:r>
              <a:rPr lang="en-US" b="1" dirty="0">
                <a:latin typeface="Courier New" pitchFamily="49" charset="0"/>
              </a:rPr>
              <a:t>()</a:t>
            </a:r>
            <a:r>
              <a:rPr lang="en-US" dirty="0"/>
              <a:t> convert to lowercase</a:t>
            </a:r>
          </a:p>
          <a:p>
            <a:pPr>
              <a:defRPr/>
            </a:pPr>
            <a:r>
              <a:rPr lang="en-US" b="1" dirty="0" err="1">
                <a:latin typeface="Courier New" pitchFamily="49" charset="0"/>
              </a:rPr>
              <a:t>s.replace</a:t>
            </a:r>
            <a:r>
              <a:rPr lang="en-US" b="1" dirty="0">
                <a:latin typeface="Courier New" pitchFamily="49" charset="0"/>
              </a:rPr>
              <a:t>(old, new)</a:t>
            </a:r>
            <a:r>
              <a:rPr lang="en-US" dirty="0"/>
              <a:t> replace old with new</a:t>
            </a:r>
          </a:p>
          <a:p>
            <a:pPr>
              <a:defRPr/>
            </a:pPr>
            <a:r>
              <a:rPr lang="en-US" b="1" dirty="0" err="1">
                <a:latin typeface="Courier New" pitchFamily="49" charset="0"/>
              </a:rPr>
              <a:t>s.split</a:t>
            </a:r>
            <a:r>
              <a:rPr lang="en-US" b="1" dirty="0">
                <a:latin typeface="Courier New" pitchFamily="49" charset="0"/>
              </a:rPr>
              <a:t>(separator)</a:t>
            </a:r>
            <a:r>
              <a:rPr lang="en-US" dirty="0"/>
              <a:t> split into a list</a:t>
            </a:r>
          </a:p>
          <a:p>
            <a:pPr>
              <a:defRPr/>
            </a:pPr>
            <a:r>
              <a:rPr lang="en-US" b="1" dirty="0" err="1"/>
              <a:t>str.splitlines</a:t>
            </a:r>
            <a:r>
              <a:rPr lang="en-US" b="1" dirty="0"/>
              <a:t>([</a:t>
            </a:r>
            <a:r>
              <a:rPr lang="en-US" b="1" dirty="0" err="1"/>
              <a:t>keepends</a:t>
            </a:r>
            <a:r>
              <a:rPr lang="en-US" b="1" dirty="0"/>
              <a:t>]) </a:t>
            </a:r>
            <a:r>
              <a:rPr lang="en-US" dirty="0"/>
              <a:t>Return a list of the lines in the string, breaking at line boundaries. Line breaks are not included in the resulting list unless </a:t>
            </a:r>
            <a:r>
              <a:rPr lang="en-US" dirty="0" err="1"/>
              <a:t>keepends</a:t>
            </a:r>
            <a:r>
              <a:rPr lang="en-US" dirty="0"/>
              <a:t> is given and true.</a:t>
            </a:r>
          </a:p>
          <a:p>
            <a:pPr>
              <a:defRPr/>
            </a:pPr>
            <a:r>
              <a:rPr lang="en-US" b="1" dirty="0" err="1"/>
              <a:t>str.startswith</a:t>
            </a:r>
            <a:r>
              <a:rPr lang="en-US" b="1" dirty="0"/>
              <a:t>(prefix[, start[, end]]) </a:t>
            </a:r>
            <a:r>
              <a:rPr lang="en-US" dirty="0"/>
              <a:t>Return True if string starts with the prefix, otherwise return False. prefix can also be a tuple of prefixes to look for.</a:t>
            </a:r>
          </a:p>
          <a:p>
            <a:pPr>
              <a:defRPr/>
            </a:pPr>
            <a:r>
              <a:rPr lang="en-US" b="1" dirty="0" err="1">
                <a:latin typeface="Courier New" pitchFamily="49" charset="0"/>
              </a:rPr>
              <a:t>s.strip</a:t>
            </a:r>
            <a:r>
              <a:rPr lang="en-US" b="1" dirty="0">
                <a:latin typeface="Courier New" pitchFamily="49" charset="0"/>
              </a:rPr>
              <a:t>()</a:t>
            </a:r>
            <a:r>
              <a:rPr lang="en-US" dirty="0"/>
              <a:t> remove white space</a:t>
            </a:r>
          </a:p>
          <a:p>
            <a:pPr>
              <a:defRPr/>
            </a:pPr>
            <a:r>
              <a:rPr lang="en-US" b="1" dirty="0" err="1">
                <a:latin typeface="Courier New" pitchFamily="49" charset="0"/>
              </a:rPr>
              <a:t>s.upper</a:t>
            </a:r>
            <a:r>
              <a:rPr lang="en-US" b="1" dirty="0">
                <a:latin typeface="Courier New" pitchFamily="49" charset="0"/>
              </a:rPr>
              <a:t>()</a:t>
            </a:r>
            <a:r>
              <a:rPr lang="en-US" dirty="0"/>
              <a:t> convert to uppercase</a:t>
            </a:r>
          </a:p>
          <a:p>
            <a:endParaRPr lang="fi-FI" dirty="0"/>
          </a:p>
        </p:txBody>
      </p:sp>
    </p:spTree>
    <p:extLst>
      <p:ext uri="{BB962C8B-B14F-4D97-AF65-F5344CB8AC3E}">
        <p14:creationId xmlns:p14="http://schemas.microsoft.com/office/powerpoint/2010/main" val="109064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7B406-BA27-45A8-A946-7D574EA93B62}"/>
              </a:ext>
            </a:extLst>
          </p:cNvPr>
          <p:cNvSpPr>
            <a:spLocks noGrp="1"/>
          </p:cNvSpPr>
          <p:nvPr>
            <p:ph type="title"/>
          </p:nvPr>
        </p:nvSpPr>
        <p:spPr/>
        <p:txBody>
          <a:bodyPr/>
          <a:lstStyle/>
          <a:p>
            <a:r>
              <a:rPr lang="en-US" dirty="0"/>
              <a:t>Different Ways of String Formatting </a:t>
            </a:r>
          </a:p>
        </p:txBody>
      </p:sp>
      <p:sp>
        <p:nvSpPr>
          <p:cNvPr id="3" name="Content Placeholder 2">
            <a:extLst>
              <a:ext uri="{FF2B5EF4-FFF2-40B4-BE49-F238E27FC236}">
                <a16:creationId xmlns:a16="http://schemas.microsoft.com/office/drawing/2014/main" id="{062514A1-138E-4EA3-8059-68E59BA43110}"/>
              </a:ext>
            </a:extLst>
          </p:cNvPr>
          <p:cNvSpPr>
            <a:spLocks noGrp="1"/>
          </p:cNvSpPr>
          <p:nvPr>
            <p:ph idx="1"/>
          </p:nvPr>
        </p:nvSpPr>
        <p:spPr/>
        <p:txBody>
          <a:bodyPr>
            <a:normAutofit fontScale="92500"/>
          </a:bodyPr>
          <a:lstStyle/>
          <a:p>
            <a:r>
              <a:rPr lang="en-US" dirty="0"/>
              <a:t>The old syntax (works with any Python version):</a:t>
            </a:r>
            <a:br>
              <a:rPr lang="en-US" dirty="0"/>
            </a:br>
            <a:r>
              <a:rPr lang="en-US" dirty="0">
                <a:latin typeface="Courier New" panose="02070309020205020404" pitchFamily="49" charset="0"/>
                <a:cs typeface="Courier New" panose="02070309020205020404" pitchFamily="49" charset="0"/>
              </a:rPr>
              <a:t>"string" % parameter 	"string" % (parameter1, parameter2)</a:t>
            </a:r>
          </a:p>
          <a:p>
            <a:r>
              <a:rPr lang="en-US" dirty="0">
                <a:latin typeface="Courier New" panose="02070309020205020404" pitchFamily="49" charset="0"/>
                <a:cs typeface="Courier New" panose="02070309020205020404" pitchFamily="49" charset="0"/>
              </a:rPr>
              <a:t>"Value of %s is %.2f" % ("PI", 3.14159)</a:t>
            </a:r>
          </a:p>
          <a:p>
            <a:r>
              <a:rPr lang="en-US" dirty="0">
                <a:cs typeface="Courier New" panose="02070309020205020404" pitchFamily="49" charset="0"/>
              </a:rPr>
              <a:t>The new syntax (Python 2.6+):</a:t>
            </a:r>
          </a:p>
          <a:p>
            <a:r>
              <a:rPr lang="en-US" dirty="0">
                <a:latin typeface="Courier New" panose="02070309020205020404" pitchFamily="49" charset="0"/>
                <a:cs typeface="Courier New" panose="02070309020205020404" pitchFamily="49" charset="0"/>
              </a:rPr>
              <a:t>"Value of {0} is {1:.2f}".format("PI", 3.14159)</a:t>
            </a:r>
          </a:p>
          <a:p>
            <a:r>
              <a:rPr lang="en-US" dirty="0">
                <a:cs typeface="Courier New" panose="02070309020205020404" pitchFamily="49" charset="0"/>
              </a:rPr>
              <a:t>Python 3.6+ f strings:</a:t>
            </a:r>
          </a:p>
          <a:p>
            <a:r>
              <a:rPr lang="en-US" dirty="0">
                <a:latin typeface="Courier New" panose="02070309020205020404" pitchFamily="49" charset="0"/>
                <a:cs typeface="Courier New" panose="02070309020205020404" pitchFamily="49" charset="0"/>
              </a:rPr>
              <a:t>name = "pi"; value = 3.14159</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f"Value of {</a:t>
            </a:r>
            <a:r>
              <a:rPr lang="en-US" dirty="0" err="1">
                <a:latin typeface="Courier New" panose="02070309020205020404" pitchFamily="49" charset="0"/>
                <a:cs typeface="Courier New" panose="02070309020205020404" pitchFamily="49" charset="0"/>
              </a:rPr>
              <a:t>name.upper</a:t>
            </a:r>
            <a:r>
              <a:rPr lang="en-US" dirty="0">
                <a:latin typeface="Courier New" panose="02070309020205020404" pitchFamily="49" charset="0"/>
                <a:cs typeface="Courier New" panose="02070309020205020404" pitchFamily="49" charset="0"/>
              </a:rPr>
              <a:t>()} is {value:.3f}"</a:t>
            </a:r>
          </a:p>
          <a:p>
            <a:endParaRPr lang="en-US" dirty="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5304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B78D3-79F7-4446-81D2-8203A464A70A}"/>
              </a:ext>
            </a:extLst>
          </p:cNvPr>
          <p:cNvSpPr>
            <a:spLocks noGrp="1"/>
          </p:cNvSpPr>
          <p:nvPr>
            <p:ph type="title"/>
          </p:nvPr>
        </p:nvSpPr>
        <p:spPr/>
        <p:txBody>
          <a:bodyPr/>
          <a:lstStyle/>
          <a:p>
            <a:r>
              <a:rPr lang="en-US" dirty="0"/>
              <a:t>String Formatting</a:t>
            </a:r>
          </a:p>
        </p:txBody>
      </p:sp>
      <p:sp>
        <p:nvSpPr>
          <p:cNvPr id="3" name="Content Placeholder 2">
            <a:extLst>
              <a:ext uri="{FF2B5EF4-FFF2-40B4-BE49-F238E27FC236}">
                <a16:creationId xmlns:a16="http://schemas.microsoft.com/office/drawing/2014/main" id="{603CAAE0-6304-4666-A4DA-0FF93D235B55}"/>
              </a:ext>
            </a:extLst>
          </p:cNvPr>
          <p:cNvSpPr>
            <a:spLocks noGrp="1"/>
          </p:cNvSpPr>
          <p:nvPr>
            <p:ph idx="1"/>
          </p:nvPr>
        </p:nvSpPr>
        <p:spPr>
          <a:xfrm>
            <a:off x="1218883" y="1701797"/>
            <a:ext cx="10636169" cy="4462272"/>
          </a:xfrm>
        </p:spPr>
        <p:txBody>
          <a:bodyPr>
            <a:normAutofit fontScale="92500"/>
          </a:bodyPr>
          <a:lstStyle/>
          <a:p>
            <a:pPr marL="0" indent="0">
              <a:buNone/>
            </a:pPr>
            <a:r>
              <a:rPr lang="en-US" sz="2400" dirty="0">
                <a:latin typeface="Courier New" panose="02070309020205020404" pitchFamily="49" charset="0"/>
                <a:cs typeface="Courier New" panose="02070309020205020404" pitchFamily="49" charset="0"/>
              </a:rPr>
              <a:t># printing numbers with certain amount of decimals</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x = 123.45678585</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print("2 decimals %.2f and 3 decimals %.3f ." % (x, x))</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using named arguments</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age = 15</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name = "Jack"</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print("My name is %(name)s and my age is %(age)d." % {"age": age, "name": name})</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or if you are lazy</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print("My name is %(name)s and my age is %(age)d." % vars())</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formatting to binary and hexadecimal</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print("%o %x" % (13, 65))</a:t>
            </a:r>
            <a:br>
              <a:rPr lang="en-US" sz="2400" dirty="0">
                <a:latin typeface="Courier New" panose="02070309020205020404" pitchFamily="49" charset="0"/>
                <a:cs typeface="Courier New" panose="02070309020205020404" pitchFamily="49" charset="0"/>
              </a:rPr>
            </a:br>
            <a:br>
              <a:rPr lang="en-US" sz="2400" dirty="0">
                <a:latin typeface="Courier New" panose="02070309020205020404" pitchFamily="49" charset="0"/>
                <a:cs typeface="Courier New" panose="02070309020205020404" pitchFamily="49" charset="0"/>
              </a:rPr>
            </a:b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61568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FD910-A387-4B93-8D09-302E2AB07AA3}"/>
              </a:ext>
            </a:extLst>
          </p:cNvPr>
          <p:cNvSpPr>
            <a:spLocks noGrp="1"/>
          </p:cNvSpPr>
          <p:nvPr>
            <p:ph type="title"/>
          </p:nvPr>
        </p:nvSpPr>
        <p:spPr/>
        <p:txBody>
          <a:bodyPr/>
          <a:lstStyle/>
          <a:p>
            <a:r>
              <a:rPr lang="en-US" dirty="0"/>
              <a:t>String Examples</a:t>
            </a:r>
          </a:p>
        </p:txBody>
      </p:sp>
      <p:sp>
        <p:nvSpPr>
          <p:cNvPr id="3" name="Content Placeholder 2">
            <a:extLst>
              <a:ext uri="{FF2B5EF4-FFF2-40B4-BE49-F238E27FC236}">
                <a16:creationId xmlns:a16="http://schemas.microsoft.com/office/drawing/2014/main" id="{14928E2D-1B4C-4464-87C3-EF601523C11E}"/>
              </a:ext>
            </a:extLst>
          </p:cNvPr>
          <p:cNvSpPr>
            <a:spLocks noGrp="1"/>
          </p:cNvSpPr>
          <p:nvPr>
            <p:ph idx="1"/>
          </p:nvPr>
        </p:nvSpPr>
        <p:spPr>
          <a:xfrm>
            <a:off x="1218883" y="1701797"/>
            <a:ext cx="10360501" cy="4881566"/>
          </a:xfrm>
        </p:spPr>
        <p:txBody>
          <a:bodyPr>
            <a:normAutofit fontScale="70000" lnSpcReduction="20000"/>
          </a:bodyPr>
          <a:lstStyle/>
          <a:p>
            <a:r>
              <a:rPr lang="en-US" dirty="0">
                <a:latin typeface="Courier New" panose="02070309020205020404" pitchFamily="49" charset="0"/>
                <a:cs typeface="Courier New" panose="02070309020205020404" pitchFamily="49" charset="0"/>
              </a:rPr>
              <a:t>"The End".lower()  # 'the end'</a:t>
            </a:r>
          </a:p>
          <a:p>
            <a:r>
              <a:rPr lang="en-US" dirty="0">
                <a:latin typeface="Courier New" panose="02070309020205020404" pitchFamily="49" charset="0"/>
                <a:cs typeface="Courier New" panose="02070309020205020404" pitchFamily="49" charset="0"/>
              </a:rPr>
              <a:t>"The End".upper()  # 'THE END'</a:t>
            </a:r>
          </a:p>
          <a:p>
            <a:r>
              <a:rPr lang="en-US" dirty="0">
                <a:latin typeface="Courier New" panose="02070309020205020404" pitchFamily="49" charset="0"/>
                <a:cs typeface="Courier New" panose="02070309020205020404" pitchFamily="49" charset="0"/>
              </a:rPr>
              <a:t>s = "test"; s.capitalize()  # doesn't change 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 = "test"; s = s.capitalize() # changes s</a:t>
            </a:r>
          </a:p>
          <a:p>
            <a:r>
              <a:rPr lang="en-US" dirty="0">
                <a:latin typeface="Courier New" panose="02070309020205020404" pitchFamily="49" charset="0"/>
                <a:cs typeface="Courier New" panose="02070309020205020404" pitchFamily="49" charset="0"/>
              </a:rPr>
              <a:t>b = s.encode("utf-8")  # encode string into bytes object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 = b.decode("utf-8")  # decode bytes object into string</a:t>
            </a:r>
          </a:p>
          <a:p>
            <a:r>
              <a:rPr lang="en-US" dirty="0">
                <a:latin typeface="Courier New" panose="02070309020205020404" pitchFamily="49" charset="0"/>
                <a:cs typeface="Courier New" panose="02070309020205020404" pitchFamily="49" charset="0"/>
              </a:rPr>
              <a:t>words = "This is easy".split()  # ['This', 'is', 'easy']</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sentence = " ".join(words)  # Join the strings into one</a:t>
            </a:r>
          </a:p>
          <a:p>
            <a:r>
              <a:rPr lang="en-US" dirty="0">
                <a:latin typeface="Courier New" panose="02070309020205020404" pitchFamily="49" charset="0"/>
                <a:cs typeface="Courier New" panose="02070309020205020404" pitchFamily="49" charset="0"/>
              </a:rPr>
              <a:t>" get rid of leading and trailing white space \n".strip()</a:t>
            </a:r>
          </a:p>
          <a:p>
            <a:r>
              <a:rPr lang="en-US" dirty="0">
                <a:latin typeface="Courier New" panose="02070309020205020404" pitchFamily="49" charset="0"/>
                <a:cs typeface="Courier New" panose="02070309020205020404" pitchFamily="49" charset="0"/>
              </a:rPr>
              <a:t>"fun" in "This is funny"</a:t>
            </a:r>
          </a:p>
          <a:p>
            <a:r>
              <a:rPr lang="en-US" dirty="0">
                <a:latin typeface="Courier New" panose="02070309020205020404" pitchFamily="49" charset="0"/>
                <a:cs typeface="Courier New" panose="02070309020205020404" pitchFamily="49" charset="0"/>
              </a:rPr>
              <a:t>s = "line1\nline 2 is longer\nline 3 is even longer\n"</a:t>
            </a:r>
            <a:br>
              <a:rPr lang="en-US" dirty="0">
                <a:latin typeface="Courier New" panose="02070309020205020404" pitchFamily="49" charset="0"/>
                <a:cs typeface="Courier New" panose="02070309020205020404" pitchFamily="49" charset="0"/>
              </a:rPr>
            </a:b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for line in s.splitlines():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print(line)</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62564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90C5BA9-385F-4DFA-8984-45E022FE39AF}"/>
              </a:ext>
            </a:extLst>
          </p:cNvPr>
          <p:cNvSpPr>
            <a:spLocks noGrp="1"/>
          </p:cNvSpPr>
          <p:nvPr>
            <p:ph type="title"/>
          </p:nvPr>
        </p:nvSpPr>
        <p:spPr/>
        <p:txBody>
          <a:bodyPr/>
          <a:lstStyle/>
          <a:p>
            <a:r>
              <a:rPr lang="en-US" dirty="0"/>
              <a:t>Practical String Examples</a:t>
            </a:r>
          </a:p>
        </p:txBody>
      </p:sp>
      <p:sp>
        <p:nvSpPr>
          <p:cNvPr id="3" name="Sisällön paikkamerkki 2">
            <a:extLst>
              <a:ext uri="{FF2B5EF4-FFF2-40B4-BE49-F238E27FC236}">
                <a16:creationId xmlns:a16="http://schemas.microsoft.com/office/drawing/2014/main" id="{1979622E-5886-4248-B029-4EE39629EC89}"/>
              </a:ext>
            </a:extLst>
          </p:cNvPr>
          <p:cNvSpPr>
            <a:spLocks noGrp="1"/>
          </p:cNvSpPr>
          <p:nvPr>
            <p:ph idx="1"/>
          </p:nvPr>
        </p:nvSpPr>
        <p:spPr>
          <a:xfrm>
            <a:off x="1218883" y="1701796"/>
            <a:ext cx="10360501" cy="4823547"/>
          </a:xfrm>
        </p:spPr>
        <p:txBody>
          <a:bodyPr>
            <a:normAutofit fontScale="77500" lnSpcReduction="20000"/>
          </a:bodyPr>
          <a:lstStyle/>
          <a:p>
            <a:pPr>
              <a:lnSpc>
                <a:spcPct val="120000"/>
              </a:lnSpc>
            </a:pPr>
            <a:r>
              <a:rPr lang="en-US" dirty="0">
                <a:latin typeface="Courier New" panose="02070309020205020404" pitchFamily="49" charset="0"/>
                <a:cs typeface="Courier New" panose="02070309020205020404" pitchFamily="49" charset="0"/>
              </a:rPr>
              <a:t>name_input = "  John Smith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name = name_input.strip()</a:t>
            </a:r>
          </a:p>
          <a:p>
            <a:pPr>
              <a:lnSpc>
                <a:spcPct val="120000"/>
              </a:lnSpc>
            </a:pPr>
            <a:r>
              <a:rPr lang="en-US" dirty="0">
                <a:latin typeface="Courier New" panose="02070309020205020404" pitchFamily="49" charset="0"/>
                <a:cs typeface="Courier New" panose="02070309020205020404" pitchFamily="49" charset="0"/>
              </a:rPr>
              <a:t>s = 'programming'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r = s[::-1]  # s reversed '</a:t>
            </a:r>
            <a:r>
              <a:rPr lang="en-US" dirty="0" err="1">
                <a:latin typeface="Courier New" panose="02070309020205020404" pitchFamily="49" charset="0"/>
                <a:cs typeface="Courier New" panose="02070309020205020404" pitchFamily="49" charset="0"/>
              </a:rPr>
              <a:t>gnimmargorp</a:t>
            </a:r>
            <a:r>
              <a:rPr lang="en-US" dirty="0">
                <a:latin typeface="Courier New" panose="02070309020205020404" pitchFamily="49" charset="0"/>
                <a:cs typeface="Courier New" panose="02070309020205020404" pitchFamily="49" charset="0"/>
              </a:rPr>
              <a:t>'</a:t>
            </a:r>
          </a:p>
          <a:p>
            <a:pPr>
              <a:lnSpc>
                <a:spcPct val="120000"/>
              </a:lnSpc>
            </a:pPr>
            <a:r>
              <a:rPr lang="en-US" dirty="0">
                <a:latin typeface="Courier New" panose="02070309020205020404" pitchFamily="49" charset="0"/>
                <a:cs typeface="Courier New" panose="02070309020205020404" pitchFamily="49" charset="0"/>
              </a:rPr>
              <a:t>phone_input = " +358 45 123 8976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phone = phone_input.replace(" ", "")   # '+358451238976'</a:t>
            </a:r>
          </a:p>
          <a:p>
            <a:pPr>
              <a:lnSpc>
                <a:spcPct val="120000"/>
              </a:lnSpc>
            </a:pPr>
            <a:r>
              <a:rPr lang="en-US" dirty="0">
                <a:latin typeface="Courier New" panose="02070309020205020404" pitchFamily="49" charset="0"/>
                <a:cs typeface="Courier New" panose="02070309020205020404" pitchFamily="49" charset="0"/>
              </a:rPr>
              <a:t>file_paths = ['pic.jpg', 'text.text', 'logo.png']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file_endings = ('.png', '.gif', '.jpg', '.jpeg')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for path in file_paths: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path.endswith(file_endings):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print(path)  # print all image file paths</a:t>
            </a:r>
            <a:br>
              <a:rPr lang="en-US" dirty="0"/>
            </a:br>
            <a:endParaRPr lang="fi-FI" dirty="0"/>
          </a:p>
        </p:txBody>
      </p:sp>
    </p:spTree>
    <p:extLst>
      <p:ext uri="{BB962C8B-B14F-4D97-AF65-F5344CB8AC3E}">
        <p14:creationId xmlns:p14="http://schemas.microsoft.com/office/powerpoint/2010/main" val="154904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B9C7C-1788-4529-BE82-34E933658BC9}"/>
              </a:ext>
            </a:extLst>
          </p:cNvPr>
          <p:cNvSpPr>
            <a:spLocks noGrp="1"/>
          </p:cNvSpPr>
          <p:nvPr>
            <p:ph type="title"/>
          </p:nvPr>
        </p:nvSpPr>
        <p:spPr/>
        <p:txBody>
          <a:bodyPr/>
          <a:lstStyle/>
          <a:p>
            <a:r>
              <a:rPr lang="en-US" dirty="0"/>
              <a:t>Lists</a:t>
            </a:r>
          </a:p>
        </p:txBody>
      </p:sp>
      <p:sp>
        <p:nvSpPr>
          <p:cNvPr id="3" name="Content Placeholder 2">
            <a:extLst>
              <a:ext uri="{FF2B5EF4-FFF2-40B4-BE49-F238E27FC236}">
                <a16:creationId xmlns:a16="http://schemas.microsoft.com/office/drawing/2014/main" id="{2A675D2F-0E4F-4BAB-AB99-A456D3AD7A71}"/>
              </a:ext>
            </a:extLst>
          </p:cNvPr>
          <p:cNvSpPr>
            <a:spLocks noGrp="1"/>
          </p:cNvSpPr>
          <p:nvPr>
            <p:ph idx="1"/>
          </p:nvPr>
        </p:nvSpPr>
        <p:spPr>
          <a:xfrm>
            <a:off x="1218883" y="1701797"/>
            <a:ext cx="10360501" cy="4881566"/>
          </a:xfrm>
        </p:spPr>
        <p:txBody>
          <a:bodyPr>
            <a:normAutofit fontScale="92500" lnSpcReduction="10000"/>
          </a:bodyPr>
          <a:lstStyle/>
          <a:p>
            <a:pPr>
              <a:lnSpc>
                <a:spcPct val="80000"/>
              </a:lnSpc>
              <a:defRPr/>
            </a:pPr>
            <a:r>
              <a:rPr lang="en-US" dirty="0"/>
              <a:t>List is a mutable sequence type</a:t>
            </a:r>
          </a:p>
          <a:p>
            <a:pPr>
              <a:lnSpc>
                <a:spcPct val="80000"/>
              </a:lnSpc>
              <a:defRPr/>
            </a:pPr>
            <a:r>
              <a:rPr lang="en-US" dirty="0"/>
              <a:t>List can contain any other python objects, including other lists</a:t>
            </a:r>
          </a:p>
          <a:p>
            <a:pPr>
              <a:lnSpc>
                <a:spcPct val="80000"/>
              </a:lnSpc>
              <a:defRPr/>
            </a:pPr>
            <a:r>
              <a:rPr lang="en-US" dirty="0"/>
              <a:t>List can change its contents and size</a:t>
            </a:r>
          </a:p>
          <a:p>
            <a:pPr>
              <a:lnSpc>
                <a:spcPct val="80000"/>
              </a:lnSpc>
              <a:defRPr/>
            </a:pPr>
            <a:r>
              <a:rPr lang="en-US" dirty="0"/>
              <a:t>Implemented as resizing array of pointers</a:t>
            </a:r>
          </a:p>
          <a:p>
            <a:pPr lvl="1">
              <a:lnSpc>
                <a:spcPct val="80000"/>
              </a:lnSpc>
              <a:defRPr/>
            </a:pPr>
            <a:r>
              <a:rPr lang="en-US" dirty="0"/>
              <a:t>fast random access and change of elements</a:t>
            </a:r>
          </a:p>
          <a:p>
            <a:pPr lvl="1">
              <a:lnSpc>
                <a:spcPct val="80000"/>
              </a:lnSpc>
              <a:defRPr/>
            </a:pPr>
            <a:r>
              <a:rPr lang="en-US" dirty="0"/>
              <a:t>slow adding or removing items to beginning of a large list (use deque from </a:t>
            </a:r>
            <a:r>
              <a:rPr lang="en-US"/>
              <a:t>collections module for </a:t>
            </a:r>
            <a:r>
              <a:rPr lang="en-US" dirty="0"/>
              <a:t>that)</a:t>
            </a:r>
          </a:p>
          <a:p>
            <a:pPr>
              <a:lnSpc>
                <a:spcPct val="80000"/>
              </a:lnSpc>
              <a:defRPr/>
            </a:pPr>
            <a:r>
              <a:rPr lang="en-US" dirty="0">
                <a:latin typeface="Courier New" pitchFamily="49" charset="0"/>
              </a:rPr>
              <a:t>a = [0, 2.5, "cat"]</a:t>
            </a:r>
          </a:p>
          <a:p>
            <a:pPr>
              <a:lnSpc>
                <a:spcPct val="80000"/>
              </a:lnSpc>
              <a:defRPr/>
            </a:pPr>
            <a:r>
              <a:rPr lang="en-US" dirty="0">
                <a:latin typeface="Courier New" pitchFamily="49" charset="0"/>
              </a:rPr>
              <a:t>a[0] = 1</a:t>
            </a:r>
          </a:p>
          <a:p>
            <a:pPr>
              <a:lnSpc>
                <a:spcPct val="80000"/>
              </a:lnSpc>
              <a:defRPr/>
            </a:pPr>
            <a:r>
              <a:rPr lang="en-US" dirty="0">
                <a:latin typeface="Courier New" pitchFamily="49" charset="0"/>
              </a:rPr>
              <a:t>b = [] # empty list</a:t>
            </a:r>
          </a:p>
          <a:p>
            <a:pPr>
              <a:lnSpc>
                <a:spcPct val="80000"/>
              </a:lnSpc>
              <a:defRPr/>
            </a:pPr>
            <a:r>
              <a:rPr lang="en-US" dirty="0">
                <a:latin typeface="Courier New" pitchFamily="49" charset="0"/>
              </a:rPr>
              <a:t>c = [0]*100 # list with 100 zeros</a:t>
            </a:r>
          </a:p>
          <a:p>
            <a:pPr marL="0" indent="0">
              <a:buNone/>
            </a:pPr>
            <a:endParaRPr lang="en-US" dirty="0"/>
          </a:p>
        </p:txBody>
      </p:sp>
    </p:spTree>
    <p:extLst>
      <p:ext uri="{BB962C8B-B14F-4D97-AF65-F5344CB8AC3E}">
        <p14:creationId xmlns:p14="http://schemas.microsoft.com/office/powerpoint/2010/main" val="322937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675C-A322-4AA3-BB68-E378EAFDD1E6}"/>
              </a:ext>
            </a:extLst>
          </p:cNvPr>
          <p:cNvSpPr>
            <a:spLocks noGrp="1"/>
          </p:cNvSpPr>
          <p:nvPr>
            <p:ph type="title"/>
          </p:nvPr>
        </p:nvSpPr>
        <p:spPr/>
        <p:txBody>
          <a:bodyPr/>
          <a:lstStyle/>
          <a:p>
            <a:r>
              <a:rPr lang="en-US" dirty="0"/>
              <a:t>Tuples</a:t>
            </a:r>
          </a:p>
        </p:txBody>
      </p:sp>
      <p:sp>
        <p:nvSpPr>
          <p:cNvPr id="3" name="Content Placeholder 2">
            <a:extLst>
              <a:ext uri="{FF2B5EF4-FFF2-40B4-BE49-F238E27FC236}">
                <a16:creationId xmlns:a16="http://schemas.microsoft.com/office/drawing/2014/main" id="{941C42EC-A6B2-4894-8A3E-9D7482C1574D}"/>
              </a:ext>
            </a:extLst>
          </p:cNvPr>
          <p:cNvSpPr>
            <a:spLocks noGrp="1"/>
          </p:cNvSpPr>
          <p:nvPr>
            <p:ph idx="1"/>
          </p:nvPr>
        </p:nvSpPr>
        <p:spPr/>
        <p:txBody>
          <a:bodyPr/>
          <a:lstStyle/>
          <a:p>
            <a:r>
              <a:rPr lang="en-US" dirty="0"/>
              <a:t>Immutable aka read-only list, thus hashable and can be used as key for dictionaries</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 Empty tuple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(1, ) # one element tuple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(1, 2, "cat") # three element tuple</a:t>
            </a:r>
          </a:p>
          <a:p>
            <a:r>
              <a:rPr lang="en-US" dirty="0"/>
              <a:t>f = (1, 1, 2, 3, 5, 8) </a:t>
            </a:r>
            <a:br>
              <a:rPr lang="en-US" dirty="0"/>
            </a:br>
            <a:r>
              <a:rPr lang="en-US" dirty="0"/>
              <a:t>f.count(1) # 2, counts how many 1:s it can find from f</a:t>
            </a:r>
            <a:br>
              <a:rPr lang="en-US" dirty="0"/>
            </a:br>
            <a:r>
              <a:rPr lang="en-US" dirty="0"/>
              <a:t>max(f) # 8 largest element</a:t>
            </a:r>
            <a:br>
              <a:rPr lang="en-US" dirty="0"/>
            </a:br>
            <a:r>
              <a:rPr lang="en-US" dirty="0"/>
              <a:t>sum(f) # 20 sum of all elements</a:t>
            </a:r>
          </a:p>
        </p:txBody>
      </p:sp>
    </p:spTree>
    <p:extLst>
      <p:ext uri="{BB962C8B-B14F-4D97-AF65-F5344CB8AC3E}">
        <p14:creationId xmlns:p14="http://schemas.microsoft.com/office/powerpoint/2010/main" val="2189548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A4F15F0-166E-4F77-B982-9A8A1E625FAD}"/>
              </a:ext>
            </a:extLst>
          </p:cNvPr>
          <p:cNvSpPr>
            <a:spLocks noGrp="1"/>
          </p:cNvSpPr>
          <p:nvPr>
            <p:ph type="title"/>
          </p:nvPr>
        </p:nvSpPr>
        <p:spPr/>
        <p:txBody>
          <a:bodyPr/>
          <a:lstStyle/>
          <a:p>
            <a:r>
              <a:rPr lang="en-US" dirty="0"/>
              <a:t>Mutable Sequence Operations</a:t>
            </a:r>
          </a:p>
        </p:txBody>
      </p:sp>
      <p:sp>
        <p:nvSpPr>
          <p:cNvPr id="3" name="Sisällön paikkamerkki 2">
            <a:extLst>
              <a:ext uri="{FF2B5EF4-FFF2-40B4-BE49-F238E27FC236}">
                <a16:creationId xmlns:a16="http://schemas.microsoft.com/office/drawing/2014/main" id="{1C8DE5CC-5903-49D9-A85C-731B8BF4F47B}"/>
              </a:ext>
            </a:extLst>
          </p:cNvPr>
          <p:cNvSpPr>
            <a:spLocks noGrp="1"/>
          </p:cNvSpPr>
          <p:nvPr>
            <p:ph idx="1"/>
          </p:nvPr>
        </p:nvSpPr>
        <p:spPr/>
        <p:txBody>
          <a:bodyPr>
            <a:normAutofit fontScale="62500" lnSpcReduction="20000"/>
          </a:bodyPr>
          <a:lstStyle/>
          <a:p>
            <a:r>
              <a:rPr lang="en-US" dirty="0">
                <a:latin typeface="Courier New" panose="02070309020205020404" pitchFamily="49" charset="0"/>
                <a:cs typeface="Courier New" panose="02070309020205020404" pitchFamily="49" charset="0"/>
              </a:rPr>
              <a:t>s[</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x</a:t>
            </a:r>
            <a:r>
              <a:rPr lang="en-US" dirty="0"/>
              <a:t> item </a:t>
            </a:r>
            <a:r>
              <a:rPr lang="en-US" dirty="0" err="1"/>
              <a:t>i</a:t>
            </a:r>
            <a:r>
              <a:rPr lang="en-US" dirty="0"/>
              <a:t> of s is replaced by x</a:t>
            </a:r>
          </a:p>
          <a:p>
            <a:r>
              <a:rPr lang="en-US" dirty="0">
                <a:latin typeface="Courier New" panose="02070309020205020404" pitchFamily="49" charset="0"/>
                <a:cs typeface="Courier New" panose="02070309020205020404" pitchFamily="49" charset="0"/>
              </a:rPr>
              <a:t>s[</a:t>
            </a:r>
            <a:r>
              <a:rPr lang="en-US" dirty="0" err="1">
                <a:latin typeface="Courier New" panose="02070309020205020404" pitchFamily="49" charset="0"/>
                <a:cs typeface="Courier New" panose="02070309020205020404" pitchFamily="49" charset="0"/>
              </a:rPr>
              <a:t>i:j</a:t>
            </a:r>
            <a:r>
              <a:rPr lang="en-US" dirty="0">
                <a:latin typeface="Courier New" panose="02070309020205020404" pitchFamily="49" charset="0"/>
                <a:cs typeface="Courier New" panose="02070309020205020404" pitchFamily="49" charset="0"/>
              </a:rPr>
              <a:t>] = t </a:t>
            </a:r>
            <a:r>
              <a:rPr lang="en-US" dirty="0"/>
              <a:t>slice of s from </a:t>
            </a:r>
            <a:r>
              <a:rPr lang="en-US" dirty="0" err="1"/>
              <a:t>i</a:t>
            </a:r>
            <a:r>
              <a:rPr lang="en-US" dirty="0"/>
              <a:t> to j is replaced by the contents of the </a:t>
            </a:r>
            <a:r>
              <a:rPr lang="en-US" dirty="0" err="1"/>
              <a:t>iterable</a:t>
            </a:r>
            <a:r>
              <a:rPr lang="en-US" dirty="0"/>
              <a:t> t</a:t>
            </a:r>
          </a:p>
          <a:p>
            <a:r>
              <a:rPr lang="en-US" dirty="0">
                <a:latin typeface="Courier New" panose="02070309020205020404" pitchFamily="49" charset="0"/>
                <a:cs typeface="Courier New" panose="02070309020205020404" pitchFamily="49" charset="0"/>
              </a:rPr>
              <a:t>del s[</a:t>
            </a:r>
            <a:r>
              <a:rPr lang="en-US" dirty="0" err="1">
                <a:latin typeface="Courier New" panose="02070309020205020404" pitchFamily="49" charset="0"/>
                <a:cs typeface="Courier New" panose="02070309020205020404" pitchFamily="49" charset="0"/>
              </a:rPr>
              <a:t>i:j</a:t>
            </a:r>
            <a:r>
              <a:rPr lang="en-US" dirty="0">
                <a:latin typeface="Courier New" panose="02070309020205020404" pitchFamily="49" charset="0"/>
                <a:cs typeface="Courier New" panose="02070309020205020404" pitchFamily="49" charset="0"/>
              </a:rPr>
              <a:t>] </a:t>
            </a:r>
            <a:r>
              <a:rPr lang="en-US" dirty="0"/>
              <a:t>same as s[</a:t>
            </a:r>
            <a:r>
              <a:rPr lang="en-US" dirty="0" err="1"/>
              <a:t>i:j</a:t>
            </a:r>
            <a:r>
              <a:rPr lang="en-US" dirty="0"/>
              <a:t>] = []</a:t>
            </a:r>
          </a:p>
          <a:p>
            <a:r>
              <a:rPr lang="en-US" dirty="0">
                <a:latin typeface="Courier New" panose="02070309020205020404" pitchFamily="49" charset="0"/>
                <a:cs typeface="Courier New" panose="02070309020205020404" pitchFamily="49" charset="0"/>
              </a:rPr>
              <a:t>s[</a:t>
            </a:r>
            <a:r>
              <a:rPr lang="en-US" dirty="0" err="1">
                <a:latin typeface="Courier New" panose="02070309020205020404" pitchFamily="49" charset="0"/>
                <a:cs typeface="Courier New" panose="02070309020205020404" pitchFamily="49" charset="0"/>
              </a:rPr>
              <a:t>i:j:k</a:t>
            </a:r>
            <a:r>
              <a:rPr lang="en-US" dirty="0">
                <a:latin typeface="Courier New" panose="02070309020205020404" pitchFamily="49" charset="0"/>
                <a:cs typeface="Courier New" panose="02070309020205020404" pitchFamily="49" charset="0"/>
              </a:rPr>
              <a:t>] = t </a:t>
            </a:r>
            <a:r>
              <a:rPr lang="en-US" dirty="0"/>
              <a:t>the elements of s[</a:t>
            </a:r>
            <a:r>
              <a:rPr lang="en-US" dirty="0" err="1"/>
              <a:t>i:j:k</a:t>
            </a:r>
            <a:r>
              <a:rPr lang="en-US" dirty="0"/>
              <a:t>] are replaced by those of t</a:t>
            </a:r>
          </a:p>
          <a:p>
            <a:r>
              <a:rPr lang="en-US" dirty="0">
                <a:latin typeface="Courier New" panose="02070309020205020404" pitchFamily="49" charset="0"/>
                <a:cs typeface="Courier New" panose="02070309020205020404" pitchFamily="49" charset="0"/>
              </a:rPr>
              <a:t>s *= n </a:t>
            </a:r>
            <a:r>
              <a:rPr lang="en-US" dirty="0"/>
              <a:t>updates s with its contents repeated n times</a:t>
            </a:r>
          </a:p>
          <a:p>
            <a:r>
              <a:rPr lang="en-US" dirty="0" err="1">
                <a:latin typeface="Courier New" panose="02070309020205020404" pitchFamily="49" charset="0"/>
                <a:cs typeface="Courier New" panose="02070309020205020404" pitchFamily="49" charset="0"/>
              </a:rPr>
              <a:t>s.append</a:t>
            </a:r>
            <a:r>
              <a:rPr lang="en-US" dirty="0">
                <a:latin typeface="Courier New" panose="02070309020205020404" pitchFamily="49" charset="0"/>
                <a:cs typeface="Courier New" panose="02070309020205020404" pitchFamily="49" charset="0"/>
              </a:rPr>
              <a:t>(x) </a:t>
            </a:r>
            <a:r>
              <a:rPr lang="en-US" dirty="0"/>
              <a:t>appends x to the end of the sequence (same as s[</a:t>
            </a:r>
            <a:r>
              <a:rPr lang="en-US" dirty="0" err="1"/>
              <a:t>len</a:t>
            </a:r>
            <a:r>
              <a:rPr lang="en-US" dirty="0"/>
              <a:t>(s):</a:t>
            </a:r>
            <a:r>
              <a:rPr lang="en-US" dirty="0" err="1"/>
              <a:t>len</a:t>
            </a:r>
            <a:r>
              <a:rPr lang="en-US" dirty="0"/>
              <a:t>(s)] = [x])</a:t>
            </a:r>
          </a:p>
          <a:p>
            <a:r>
              <a:rPr lang="en-US" dirty="0" err="1">
                <a:latin typeface="Courier New" panose="02070309020205020404" pitchFamily="49" charset="0"/>
                <a:cs typeface="Courier New" panose="02070309020205020404" pitchFamily="49" charset="0"/>
              </a:rPr>
              <a:t>s.insert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x) </a:t>
            </a:r>
            <a:r>
              <a:rPr lang="en-US" dirty="0"/>
              <a:t>inserts x into s at the index given by </a:t>
            </a:r>
            <a:r>
              <a:rPr lang="en-US" dirty="0" err="1"/>
              <a:t>i</a:t>
            </a:r>
            <a:r>
              <a:rPr lang="en-US" dirty="0"/>
              <a:t> (same as s[</a:t>
            </a:r>
            <a:r>
              <a:rPr lang="en-US" dirty="0" err="1"/>
              <a:t>i:i</a:t>
            </a:r>
            <a:r>
              <a:rPr lang="en-US" dirty="0"/>
              <a:t>] = [x])</a:t>
            </a:r>
          </a:p>
          <a:p>
            <a:r>
              <a:rPr lang="en-US" dirty="0" err="1">
                <a:latin typeface="Courier New" panose="02070309020205020404" pitchFamily="49" charset="0"/>
                <a:cs typeface="Courier New" panose="02070309020205020404" pitchFamily="49" charset="0"/>
              </a:rPr>
              <a:t>s.pop</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a:t>
            </a:r>
            <a:r>
              <a:rPr lang="en-US" dirty="0"/>
              <a:t>retrieves the item at </a:t>
            </a:r>
            <a:r>
              <a:rPr lang="en-US" dirty="0" err="1"/>
              <a:t>i</a:t>
            </a:r>
            <a:r>
              <a:rPr lang="en-US" dirty="0"/>
              <a:t> and also removes it from s</a:t>
            </a:r>
          </a:p>
          <a:p>
            <a:r>
              <a:rPr lang="en-US" dirty="0" err="1">
                <a:latin typeface="Courier New" panose="02070309020205020404" pitchFamily="49" charset="0"/>
                <a:cs typeface="Courier New" panose="02070309020205020404" pitchFamily="49" charset="0"/>
              </a:rPr>
              <a:t>s.remove</a:t>
            </a:r>
            <a:r>
              <a:rPr lang="en-US" dirty="0">
                <a:latin typeface="Courier New" panose="02070309020205020404" pitchFamily="49" charset="0"/>
                <a:cs typeface="Courier New" panose="02070309020205020404" pitchFamily="49" charset="0"/>
              </a:rPr>
              <a:t>(x) </a:t>
            </a:r>
            <a:r>
              <a:rPr lang="en-US" dirty="0"/>
              <a:t>remove the first item from s where s[</a:t>
            </a:r>
            <a:r>
              <a:rPr lang="en-US" dirty="0" err="1"/>
              <a:t>i</a:t>
            </a:r>
            <a:r>
              <a:rPr lang="en-US" dirty="0"/>
              <a:t>] is equal to x</a:t>
            </a:r>
          </a:p>
          <a:p>
            <a:r>
              <a:rPr lang="en-US" dirty="0" err="1">
                <a:latin typeface="Courier New" panose="02070309020205020404" pitchFamily="49" charset="0"/>
                <a:cs typeface="Courier New" panose="02070309020205020404" pitchFamily="49" charset="0"/>
              </a:rPr>
              <a:t>s.reverse</a:t>
            </a:r>
            <a:r>
              <a:rPr lang="en-US" dirty="0">
                <a:latin typeface="Courier New" panose="02070309020205020404" pitchFamily="49" charset="0"/>
                <a:cs typeface="Courier New" panose="02070309020205020404" pitchFamily="49" charset="0"/>
              </a:rPr>
              <a:t>() </a:t>
            </a:r>
            <a:r>
              <a:rPr lang="en-US" dirty="0"/>
              <a:t>reverses the items of s in place</a:t>
            </a:r>
          </a:p>
          <a:p>
            <a:r>
              <a:rPr lang="en-US" dirty="0">
                <a:latin typeface="Courier New" panose="02070309020205020404" pitchFamily="49" charset="0"/>
                <a:cs typeface="Courier New" panose="02070309020205020404" pitchFamily="49" charset="0"/>
              </a:rPr>
              <a:t>sort(*, key=None, reverse=False) </a:t>
            </a:r>
            <a:r>
              <a:rPr lang="en-US" dirty="0"/>
              <a:t>sorts the list in place</a:t>
            </a:r>
          </a:p>
        </p:txBody>
      </p:sp>
    </p:spTree>
    <p:extLst>
      <p:ext uri="{BB962C8B-B14F-4D97-AF65-F5344CB8AC3E}">
        <p14:creationId xmlns:p14="http://schemas.microsoft.com/office/powerpoint/2010/main" val="2242676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9DD7C-54E1-421B-A237-40114D38B40B}"/>
              </a:ext>
            </a:extLst>
          </p:cNvPr>
          <p:cNvSpPr>
            <a:spLocks noGrp="1"/>
          </p:cNvSpPr>
          <p:nvPr>
            <p:ph type="title"/>
          </p:nvPr>
        </p:nvSpPr>
        <p:spPr/>
        <p:txBody>
          <a:bodyPr/>
          <a:lstStyle/>
          <a:p>
            <a:r>
              <a:rPr lang="en-US" dirty="0"/>
              <a:t>Sequence Operations</a:t>
            </a:r>
          </a:p>
        </p:txBody>
      </p:sp>
      <p:sp>
        <p:nvSpPr>
          <p:cNvPr id="3" name="Content Placeholder 2">
            <a:extLst>
              <a:ext uri="{FF2B5EF4-FFF2-40B4-BE49-F238E27FC236}">
                <a16:creationId xmlns:a16="http://schemas.microsoft.com/office/drawing/2014/main" id="{27214AA4-9548-49FC-B7E2-D1242A4CB242}"/>
              </a:ext>
            </a:extLst>
          </p:cNvPr>
          <p:cNvSpPr>
            <a:spLocks noGrp="1"/>
          </p:cNvSpPr>
          <p:nvPr>
            <p:ph idx="1"/>
          </p:nvPr>
        </p:nvSpPr>
        <p:spPr/>
        <p:txBody>
          <a:bodyPr>
            <a:normAutofit fontScale="62500" lnSpcReduction="20000"/>
          </a:bodyPr>
          <a:lstStyle/>
          <a:p>
            <a:pPr>
              <a:defRPr/>
            </a:pPr>
            <a:r>
              <a:rPr lang="en-US" dirty="0">
                <a:latin typeface="Courier New" pitchFamily="49" charset="0"/>
              </a:rPr>
              <a:t>x in s</a:t>
            </a:r>
            <a:r>
              <a:rPr lang="en-US" dirty="0"/>
              <a:t> True if x is in s</a:t>
            </a:r>
          </a:p>
          <a:p>
            <a:pPr>
              <a:defRPr/>
            </a:pPr>
            <a:r>
              <a:rPr lang="en-US" dirty="0">
                <a:latin typeface="Courier New" pitchFamily="49" charset="0"/>
              </a:rPr>
              <a:t>x not in s</a:t>
            </a:r>
            <a:r>
              <a:rPr lang="en-US" dirty="0"/>
              <a:t> False if x is in s</a:t>
            </a:r>
          </a:p>
          <a:p>
            <a:pPr>
              <a:defRPr/>
            </a:pPr>
            <a:r>
              <a:rPr lang="en-US" dirty="0">
                <a:latin typeface="Courier New" pitchFamily="49" charset="0"/>
              </a:rPr>
              <a:t>a+b </a:t>
            </a:r>
            <a:r>
              <a:rPr lang="en-US" dirty="0"/>
              <a:t>concatenation</a:t>
            </a:r>
          </a:p>
          <a:p>
            <a:pPr>
              <a:defRPr/>
            </a:pPr>
            <a:r>
              <a:rPr lang="en-US" dirty="0">
                <a:latin typeface="Courier New" pitchFamily="49" charset="0"/>
              </a:rPr>
              <a:t>s*n</a:t>
            </a:r>
            <a:r>
              <a:rPr lang="en-US" dirty="0"/>
              <a:t> (shallow) copy n times s</a:t>
            </a:r>
          </a:p>
          <a:p>
            <a:pPr>
              <a:defRPr/>
            </a:pPr>
            <a:r>
              <a:rPr lang="en-US" dirty="0" err="1">
                <a:latin typeface="Courier New" panose="02070309020205020404" pitchFamily="49" charset="0"/>
                <a:cs typeface="Courier New" panose="02070309020205020404" pitchFamily="49" charset="0"/>
              </a:rPr>
              <a:t>s.count</a:t>
            </a:r>
            <a:r>
              <a:rPr lang="en-US" dirty="0">
                <a:latin typeface="Courier New" panose="02070309020205020404" pitchFamily="49" charset="0"/>
                <a:cs typeface="Courier New" panose="02070309020205020404" pitchFamily="49" charset="0"/>
              </a:rPr>
              <a:t>(x)</a:t>
            </a:r>
            <a:r>
              <a:rPr lang="en-US" dirty="0"/>
              <a:t>return total number of occurrences of x in s</a:t>
            </a:r>
          </a:p>
          <a:p>
            <a:pPr>
              <a:defRPr/>
            </a:pPr>
            <a:r>
              <a:rPr lang="en-US" dirty="0">
                <a:latin typeface="Courier New" pitchFamily="49" charset="0"/>
              </a:rPr>
              <a:t>s[i]</a:t>
            </a:r>
            <a:r>
              <a:rPr lang="en-US" dirty="0"/>
              <a:t> return i:th element of s, indexes start from 0</a:t>
            </a:r>
          </a:p>
          <a:p>
            <a:pPr>
              <a:defRPr/>
            </a:pPr>
            <a:r>
              <a:rPr lang="en-US" dirty="0">
                <a:latin typeface="Courier New" pitchFamily="49" charset="0"/>
              </a:rPr>
              <a:t>s[i:j]</a:t>
            </a:r>
            <a:r>
              <a:rPr lang="en-US" dirty="0"/>
              <a:t> slicing from i to j (not including)</a:t>
            </a:r>
          </a:p>
          <a:p>
            <a:pPr>
              <a:defRPr/>
            </a:pPr>
            <a:r>
              <a:rPr lang="en-US" dirty="0">
                <a:latin typeface="Courier New" pitchFamily="49" charset="0"/>
              </a:rPr>
              <a:t>s[i:j:k]</a:t>
            </a:r>
            <a:r>
              <a:rPr lang="en-US" dirty="0"/>
              <a:t> slice from i to j with stepping k </a:t>
            </a:r>
          </a:p>
          <a:p>
            <a:pPr>
              <a:defRPr/>
            </a:pPr>
            <a:r>
              <a:rPr lang="en-US" dirty="0">
                <a:latin typeface="Courier New" pitchFamily="49" charset="0"/>
              </a:rPr>
              <a:t>len(s)</a:t>
            </a:r>
            <a:r>
              <a:rPr lang="en-US" dirty="0"/>
              <a:t> length/size of s</a:t>
            </a:r>
          </a:p>
          <a:p>
            <a:pPr>
              <a:defRPr/>
            </a:pPr>
            <a:r>
              <a:rPr lang="en-US" dirty="0">
                <a:latin typeface="Courier New" pitchFamily="49" charset="0"/>
              </a:rPr>
              <a:t>max(s)</a:t>
            </a:r>
            <a:r>
              <a:rPr lang="en-US" dirty="0"/>
              <a:t> largest item of s</a:t>
            </a:r>
          </a:p>
          <a:p>
            <a:pPr>
              <a:defRPr/>
            </a:pPr>
            <a:r>
              <a:rPr lang="en-US" dirty="0">
                <a:latin typeface="Courier New" pitchFamily="49" charset="0"/>
              </a:rPr>
              <a:t>min(s)</a:t>
            </a:r>
            <a:r>
              <a:rPr lang="en-US" dirty="0"/>
              <a:t> smallest item of s</a:t>
            </a:r>
          </a:p>
          <a:p>
            <a:endParaRPr lang="en-US" dirty="0"/>
          </a:p>
        </p:txBody>
      </p:sp>
    </p:spTree>
    <p:extLst>
      <p:ext uri="{BB962C8B-B14F-4D97-AF65-F5344CB8AC3E}">
        <p14:creationId xmlns:p14="http://schemas.microsoft.com/office/powerpoint/2010/main" val="4288508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317B5-DED3-4997-A5C4-79DC63C3DC6D}"/>
              </a:ext>
            </a:extLst>
          </p:cNvPr>
          <p:cNvSpPr>
            <a:spLocks noGrp="1"/>
          </p:cNvSpPr>
          <p:nvPr>
            <p:ph type="title"/>
          </p:nvPr>
        </p:nvSpPr>
        <p:spPr/>
        <p:txBody>
          <a:bodyPr/>
          <a:lstStyle/>
          <a:p>
            <a:r>
              <a:rPr lang="en-US" dirty="0"/>
              <a:t>Examples of Slicing</a:t>
            </a:r>
          </a:p>
        </p:txBody>
      </p:sp>
      <p:sp>
        <p:nvSpPr>
          <p:cNvPr id="3" name="Content Placeholder 2">
            <a:extLst>
              <a:ext uri="{FF2B5EF4-FFF2-40B4-BE49-F238E27FC236}">
                <a16:creationId xmlns:a16="http://schemas.microsoft.com/office/drawing/2014/main" id="{5A269195-DE6D-41A5-BA2B-CD1F723B31E7}"/>
              </a:ext>
            </a:extLst>
          </p:cNvPr>
          <p:cNvSpPr>
            <a:spLocks noGrp="1"/>
          </p:cNvSpPr>
          <p:nvPr>
            <p:ph idx="1"/>
          </p:nvPr>
        </p:nvSpPr>
        <p:spPr>
          <a:xfrm>
            <a:off x="1218883" y="1701796"/>
            <a:ext cx="10360501" cy="4751539"/>
          </a:xfrm>
        </p:spPr>
        <p:txBody>
          <a:bodyPr>
            <a:normAutofit fontScale="85000" lnSpcReduction="20000"/>
          </a:bodyPr>
          <a:lstStyle/>
          <a:p>
            <a:r>
              <a:rPr lang="en-US" dirty="0"/>
              <a:t>[begin:end:stepping], indexes start from 0, negative indexes from -1 start from the end</a:t>
            </a:r>
          </a:p>
          <a:p>
            <a:r>
              <a:rPr lang="en-US" dirty="0"/>
              <a:t>These will work with any sequence type e.g. string, list, tuple</a:t>
            </a:r>
          </a:p>
          <a:p>
            <a:r>
              <a:rPr lang="en-US" b="0" dirty="0">
                <a:solidFill>
                  <a:srgbClr val="FFFFFF"/>
                </a:solidFill>
                <a:effectLst/>
                <a:latin typeface="Consolas" panose="020B0609020204030204" pitchFamily="49" charset="0"/>
              </a:rPr>
              <a:t>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"abc123"</a:t>
            </a:r>
            <a:br>
              <a:rPr lang="en-US" b="0" dirty="0">
                <a:solidFill>
                  <a:srgbClr val="CE917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omit first 2 characters "c123"</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last character "3"</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omit last 3, "</a:t>
            </a:r>
            <a:r>
              <a:rPr lang="en-US" b="0" dirty="0" err="1">
                <a:solidFill>
                  <a:srgbClr val="7CA668"/>
                </a:solidFill>
                <a:effectLst/>
                <a:latin typeface="Consolas" panose="020B0609020204030204" pitchFamily="49" charset="0"/>
              </a:rPr>
              <a:t>abc</a:t>
            </a:r>
            <a:r>
              <a:rPr lang="en-US" b="0" dirty="0">
                <a:solidFill>
                  <a:srgbClr val="7CA668"/>
                </a:solidFill>
                <a:effectLst/>
                <a:latin typeface="Consolas" panose="020B0609020204030204" pitchFamily="49" charset="0"/>
              </a:rPr>
              <a:t>"</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"c12"</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every second character "ac2"</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reverse "321cba"</a:t>
            </a:r>
            <a:br>
              <a:rPr lang="en-US" b="0" dirty="0">
                <a:solidFill>
                  <a:srgbClr val="7CA668"/>
                </a:solidFill>
                <a:effectLst/>
                <a:latin typeface="Consolas" panose="020B0609020204030204" pitchFamily="49" charset="0"/>
              </a:rPr>
            </a:br>
            <a:r>
              <a:rPr lang="en-US" b="0" dirty="0">
                <a:solidFill>
                  <a:srgbClr val="FFFFFF"/>
                </a:solidFill>
                <a:effectLst/>
                <a:latin typeface="Consolas" panose="020B0609020204030204" pitchFamily="49" charset="0"/>
              </a:rPr>
              <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"one"</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"two"</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"three"</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"four"</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second last, "three"</a:t>
            </a:r>
            <a:br>
              <a:rPr lang="en-US" dirty="0">
                <a:solidFill>
                  <a:srgbClr val="FFFFFF"/>
                </a:solidFill>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['four', 'three', 'two', 'one'] </a:t>
            </a:r>
            <a:br>
              <a:rPr lang="en-US" b="0" dirty="0">
                <a:solidFill>
                  <a:srgbClr val="7CA668"/>
                </a:solidFill>
                <a:effectLst/>
                <a:latin typeface="Consolas" panose="020B0609020204030204" pitchFamily="49" charset="0"/>
              </a:rPr>
            </a:br>
            <a:r>
              <a:rPr lang="en-US" b="0" dirty="0">
                <a:solidFill>
                  <a:srgbClr val="FFFFFF"/>
                </a:solidFill>
                <a:effectLst/>
                <a:latin typeface="Consolas" panose="020B0609020204030204" pitchFamily="49" charset="0"/>
              </a:rPr>
              <a:t>a[</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kaksi</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kolme</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        </a:t>
            </a:r>
            <a:r>
              <a:rPr lang="en-US" b="0" dirty="0">
                <a:solidFill>
                  <a:srgbClr val="7CA668"/>
                </a:solidFill>
                <a:effectLst/>
                <a:latin typeface="Consolas" panose="020B0609020204030204" pitchFamily="49" charset="0"/>
              </a:rPr>
              <a:t># ['one', '</a:t>
            </a:r>
            <a:r>
              <a:rPr lang="en-US" b="0" dirty="0" err="1">
                <a:solidFill>
                  <a:srgbClr val="7CA668"/>
                </a:solidFill>
                <a:effectLst/>
                <a:latin typeface="Consolas" panose="020B0609020204030204" pitchFamily="49" charset="0"/>
              </a:rPr>
              <a:t>kaksi</a:t>
            </a:r>
            <a:r>
              <a:rPr lang="en-US" b="0" dirty="0">
                <a:solidFill>
                  <a:srgbClr val="7CA668"/>
                </a:solidFill>
                <a:effectLst/>
                <a:latin typeface="Consolas" panose="020B0609020204030204" pitchFamily="49" charset="0"/>
              </a:rPr>
              <a:t>', '</a:t>
            </a:r>
            <a:r>
              <a:rPr lang="en-US" b="0" dirty="0" err="1">
                <a:solidFill>
                  <a:srgbClr val="7CA668"/>
                </a:solidFill>
                <a:effectLst/>
                <a:latin typeface="Consolas" panose="020B0609020204030204" pitchFamily="49" charset="0"/>
              </a:rPr>
              <a:t>kolme</a:t>
            </a:r>
            <a:r>
              <a:rPr lang="en-US" b="0" dirty="0">
                <a:solidFill>
                  <a:srgbClr val="7CA668"/>
                </a:solidFill>
                <a:effectLst/>
                <a:latin typeface="Consolas" panose="020B0609020204030204" pitchFamily="49" charset="0"/>
              </a:rPr>
              <a:t>', 'four']</a:t>
            </a:r>
            <a:endParaRPr lang="en-US" b="0" dirty="0">
              <a:solidFill>
                <a:srgbClr val="FFFFFF"/>
              </a:solidFill>
              <a:effectLst/>
              <a:latin typeface="Consolas" panose="020B0609020204030204" pitchFamily="49" charset="0"/>
            </a:endParaRPr>
          </a:p>
          <a:p>
            <a:pPr marL="0" indent="0">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558425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CB0AE-5BD4-44BB-BBC1-D59B8D6F4D02}"/>
              </a:ext>
            </a:extLst>
          </p:cNvPr>
          <p:cNvSpPr>
            <a:spLocks noGrp="1"/>
          </p:cNvSpPr>
          <p:nvPr>
            <p:ph type="title"/>
          </p:nvPr>
        </p:nvSpPr>
        <p:spPr/>
        <p:txBody>
          <a:bodyPr/>
          <a:lstStyle/>
          <a:p>
            <a:r>
              <a:rPr lang="en-US" dirty="0"/>
              <a:t>Examples of Sequence Operations</a:t>
            </a:r>
          </a:p>
        </p:txBody>
      </p:sp>
      <p:sp>
        <p:nvSpPr>
          <p:cNvPr id="3" name="Content Placeholder 2">
            <a:extLst>
              <a:ext uri="{FF2B5EF4-FFF2-40B4-BE49-F238E27FC236}">
                <a16:creationId xmlns:a16="http://schemas.microsoft.com/office/drawing/2014/main" id="{C2916622-003C-4C06-84E1-876DBF4B11FF}"/>
              </a:ext>
            </a:extLst>
          </p:cNvPr>
          <p:cNvSpPr>
            <a:spLocks noGrp="1"/>
          </p:cNvSpPr>
          <p:nvPr>
            <p:ph idx="1"/>
          </p:nvPr>
        </p:nvSpPr>
        <p:spPr>
          <a:xfrm>
            <a:off x="1218883" y="1701796"/>
            <a:ext cx="10708177" cy="4751539"/>
          </a:xfrm>
        </p:spPr>
        <p:txBody>
          <a:bodyPr>
            <a:normAutofit fontScale="85000" lnSpcReduction="20000"/>
          </a:bodyPr>
          <a:lstStyle/>
          <a:p>
            <a:pPr marL="0" indent="0">
              <a:buNone/>
            </a:pPr>
            <a:r>
              <a:rPr lang="en-US" b="0" dirty="0">
                <a:solidFill>
                  <a:srgbClr val="FFFFFF"/>
                </a:solidFill>
                <a:effectLst/>
                <a:latin typeface="Consolas" panose="020B0609020204030204" pitchFamily="49" charset="0"/>
              </a:rPr>
              <a:t>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"this is easy"</a:t>
            </a:r>
            <a:br>
              <a:rPr lang="en-US" dirty="0">
                <a:solidFill>
                  <a:srgbClr val="FFFFFF"/>
                </a:solidFill>
                <a:latin typeface="Consolas" panose="020B0609020204030204" pitchFamily="49" charset="0"/>
              </a:rPr>
            </a:br>
            <a:r>
              <a:rPr lang="en-US" b="0" dirty="0">
                <a:solidFill>
                  <a:srgbClr val="FFFFFF"/>
                </a:solidFill>
                <a:effectLst/>
                <a:latin typeface="Consolas" panose="020B0609020204030204" pitchFamily="49" charset="0"/>
              </a:rPr>
              <a:t>n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(s) </a:t>
            </a:r>
            <a:r>
              <a:rPr lang="en-US" b="0" dirty="0">
                <a:solidFill>
                  <a:srgbClr val="7CA668"/>
                </a:solidFill>
                <a:effectLst/>
                <a:latin typeface="Consolas" panose="020B0609020204030204" pitchFamily="49" charset="0"/>
              </a:rPr>
              <a:t># n = 12</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s.count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i</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how many "</a:t>
            </a:r>
            <a:r>
              <a:rPr lang="en-US" b="0" dirty="0" err="1">
                <a:solidFill>
                  <a:srgbClr val="7CA668"/>
                </a:solidFill>
                <a:effectLst/>
                <a:latin typeface="Consolas" panose="020B0609020204030204" pitchFamily="49" charset="0"/>
              </a:rPr>
              <a:t>i</a:t>
            </a:r>
            <a:r>
              <a:rPr lang="en-US" b="0" dirty="0">
                <a:solidFill>
                  <a:srgbClr val="7CA668"/>
                </a:solidFill>
                <a:effectLst/>
                <a:latin typeface="Consolas" panose="020B0609020204030204" pitchFamily="49" charset="0"/>
              </a:rPr>
              <a:t>":s</a:t>
            </a:r>
            <a:br>
              <a:rPr lang="en-US" dirty="0">
                <a:solidFill>
                  <a:srgbClr val="FFFFFF"/>
                </a:solidFill>
                <a:latin typeface="Consolas" panose="020B0609020204030204" pitchFamily="49" charset="0"/>
              </a:rPr>
            </a:br>
            <a:r>
              <a:rPr lang="en-US" b="0" dirty="0">
                <a:solidFill>
                  <a:srgbClr val="FFFFFF"/>
                </a:solidFill>
                <a:effectLst/>
                <a:latin typeface="Consolas" panose="020B0609020204030204" pitchFamily="49" charset="0"/>
              </a:rPr>
              <a:t>words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s.split</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sentence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 "</a:t>
            </a:r>
            <a:r>
              <a:rPr lang="en-US" b="0" dirty="0">
                <a:solidFill>
                  <a:srgbClr val="FFFFFF"/>
                </a:solidFill>
                <a:effectLst/>
                <a:latin typeface="Consolas" panose="020B0609020204030204" pitchFamily="49" charset="0"/>
              </a:rPr>
              <a:t>.join(words)</a:t>
            </a: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(words, sentence)</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words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sentence:</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"equal"</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br>
              <a:rPr lang="en-US" b="0" dirty="0">
                <a:solidFill>
                  <a:srgbClr val="FFFFFF"/>
                </a:solidFill>
                <a:effectLst/>
                <a:latin typeface="Consolas" panose="020B0609020204030204" pitchFamily="49" charset="0"/>
              </a:rPr>
            </a:br>
            <a:r>
              <a:rPr lang="en-US" b="0" dirty="0" err="1">
                <a:solidFill>
                  <a:srgbClr val="FFFFFF"/>
                </a:solidFill>
                <a:effectLst/>
                <a:latin typeface="Consolas" panose="020B0609020204030204" pitchFamily="49" charset="0"/>
              </a:rPr>
              <a:t>a.append</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err="1">
                <a:solidFill>
                  <a:srgbClr val="FFFFFF"/>
                </a:solidFill>
                <a:effectLst/>
                <a:latin typeface="Consolas" panose="020B0609020204030204" pitchFamily="49" charset="0"/>
              </a:rPr>
              <a:t>a.append</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err="1">
                <a:solidFill>
                  <a:srgbClr val="FFFFFF"/>
                </a:solidFill>
                <a:effectLst/>
                <a:latin typeface="Consolas" panose="020B0609020204030204" pitchFamily="49" charset="0"/>
              </a:rPr>
              <a:t>a.append</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100</a:t>
            </a:r>
            <a:r>
              <a:rPr lang="en-US" b="0" dirty="0">
                <a:solidFill>
                  <a:srgbClr val="FFFFFF"/>
                </a:solidFill>
                <a:effectLst/>
                <a:latin typeface="Consolas" panose="020B0609020204030204" pitchFamily="49" charset="0"/>
              </a:rPr>
              <a:t>) </a:t>
            </a: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print second item</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a.pop</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print last item and remove it</a:t>
            </a:r>
            <a:br>
              <a:rPr lang="en-US" dirty="0">
                <a:solidFill>
                  <a:srgbClr val="FFFFFF"/>
                </a:solidFill>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a.pop</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print first item and remove it</a:t>
            </a:r>
            <a:br>
              <a:rPr lang="en-US" b="0" dirty="0">
                <a:solidFill>
                  <a:srgbClr val="7CA668"/>
                </a:solidFill>
                <a:effectLst/>
                <a:latin typeface="Consolas" panose="020B0609020204030204" pitchFamily="49" charset="0"/>
              </a:rPr>
            </a:br>
            <a:r>
              <a:rPr lang="en-US" b="0" dirty="0" err="1">
                <a:solidFill>
                  <a:srgbClr val="FFFFFF"/>
                </a:solidFill>
                <a:effectLst/>
                <a:latin typeface="Consolas" panose="020B0609020204030204" pitchFamily="49" charset="0"/>
              </a:rPr>
              <a:t>a.insert</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"second"</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insert to specified location</a:t>
            </a: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038808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5E8DC-6398-4A0D-8AA7-B9EFB9527A33}"/>
              </a:ext>
            </a:extLst>
          </p:cNvPr>
          <p:cNvSpPr>
            <a:spLocks noGrp="1"/>
          </p:cNvSpPr>
          <p:nvPr>
            <p:ph type="title"/>
          </p:nvPr>
        </p:nvSpPr>
        <p:spPr/>
        <p:txBody>
          <a:bodyPr/>
          <a:lstStyle/>
          <a:p>
            <a:r>
              <a:rPr lang="en-US" dirty="0"/>
              <a:t>Examples of List Operations</a:t>
            </a:r>
          </a:p>
        </p:txBody>
      </p:sp>
      <p:sp>
        <p:nvSpPr>
          <p:cNvPr id="3" name="Content Placeholder 2">
            <a:extLst>
              <a:ext uri="{FF2B5EF4-FFF2-40B4-BE49-F238E27FC236}">
                <a16:creationId xmlns:a16="http://schemas.microsoft.com/office/drawing/2014/main" id="{D3BFAFDC-016D-4CEE-AC63-5BF731C49652}"/>
              </a:ext>
            </a:extLst>
          </p:cNvPr>
          <p:cNvSpPr>
            <a:spLocks noGrp="1"/>
          </p:cNvSpPr>
          <p:nvPr>
            <p:ph idx="1"/>
          </p:nvPr>
        </p:nvSpPr>
        <p:spPr>
          <a:xfrm>
            <a:off x="1218883" y="1701797"/>
            <a:ext cx="10564161" cy="4881566"/>
          </a:xfrm>
        </p:spPr>
        <p:txBody>
          <a:bodyPr>
            <a:normAutofit lnSpcReduction="10000"/>
          </a:bodyPr>
          <a:lstStyle/>
          <a:p>
            <a:pPr marL="0" indent="0">
              <a:buNone/>
            </a:pPr>
            <a:r>
              <a:rPr lang="fi-FI" b="0" dirty="0" err="1">
                <a:solidFill>
                  <a:srgbClr val="C586C0"/>
                </a:solidFill>
                <a:effectLst/>
                <a:latin typeface="Consolas" panose="020B0609020204030204" pitchFamily="49" charset="0"/>
              </a:rPr>
              <a:t>from</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random</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import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shuffle</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a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4EC9B0"/>
                </a:solidFill>
                <a:effectLst/>
                <a:latin typeface="Consolas" panose="020B0609020204030204" pitchFamily="49" charset="0"/>
              </a:rPr>
              <a:t>list</a:t>
            </a:r>
            <a:r>
              <a:rPr lang="fi-FI" b="0" dirty="0">
                <a:solidFill>
                  <a:srgbClr val="FFFFFF"/>
                </a:solidFill>
                <a:effectLst/>
                <a:latin typeface="Consolas" panose="020B0609020204030204" pitchFamily="49" charset="0"/>
              </a:rPr>
              <a:t>(</a:t>
            </a:r>
            <a:r>
              <a:rPr lang="fi-FI" b="0" dirty="0" err="1">
                <a:solidFill>
                  <a:srgbClr val="DCDCAA"/>
                </a:solidFill>
                <a:effectLst/>
                <a:latin typeface="Consolas" panose="020B0609020204030204" pitchFamily="49" charset="0"/>
              </a:rPr>
              <a:t>range</a:t>
            </a:r>
            <a:r>
              <a:rPr lang="fi-FI" b="0" dirty="0">
                <a:solidFill>
                  <a:srgbClr val="FFFFFF"/>
                </a:solidFill>
                <a:effectLst/>
                <a:latin typeface="Consolas" panose="020B0609020204030204" pitchFamily="49" charset="0"/>
              </a:rPr>
              <a:t>(</a:t>
            </a:r>
            <a:r>
              <a:rPr lang="fi-FI" b="0" dirty="0">
                <a:solidFill>
                  <a:srgbClr val="B5CEA8"/>
                </a:solidFill>
                <a:effectLst/>
                <a:latin typeface="Consolas" panose="020B0609020204030204" pitchFamily="49" charset="0"/>
              </a:rPr>
              <a:t>1</a:t>
            </a:r>
            <a:r>
              <a:rPr lang="fi-FI" b="0" dirty="0">
                <a:solidFill>
                  <a:srgbClr val="FFFFFF"/>
                </a:solidFill>
                <a:effectLst/>
                <a:latin typeface="Consolas" panose="020B0609020204030204" pitchFamily="49" charset="0"/>
              </a:rPr>
              <a:t>,</a:t>
            </a:r>
            <a:r>
              <a:rPr lang="fi-FI" b="0" dirty="0">
                <a:solidFill>
                  <a:srgbClr val="B5CEA8"/>
                </a:solidFill>
                <a:effectLst/>
                <a:latin typeface="Consolas" panose="020B0609020204030204" pitchFamily="49" charset="0"/>
              </a:rPr>
              <a:t>11</a:t>
            </a:r>
            <a:r>
              <a:rPr lang="fi-FI" b="0" dirty="0">
                <a:solidFill>
                  <a:srgbClr val="FFFFFF"/>
                </a:solidFill>
                <a:effectLst/>
                <a:latin typeface="Consolas" panose="020B0609020204030204" pitchFamily="49" charset="0"/>
              </a:rPr>
              <a:t>))  </a:t>
            </a:r>
            <a:r>
              <a:rPr lang="fi-FI" b="0" dirty="0">
                <a:solidFill>
                  <a:srgbClr val="7CA668"/>
                </a:solidFill>
                <a:effectLst/>
                <a:latin typeface="Consolas" panose="020B0609020204030204" pitchFamily="49" charset="0"/>
              </a:rPr>
              <a:t># a = [1, 2, 3…10]</a:t>
            </a:r>
            <a:br>
              <a:rPr lang="fi-FI" b="0" dirty="0">
                <a:solidFill>
                  <a:srgbClr val="7CA668"/>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Sum</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sum</a:t>
            </a:r>
            <a:r>
              <a:rPr lang="fi-FI" b="0" dirty="0">
                <a:solidFill>
                  <a:srgbClr val="FFFFFF"/>
                </a:solidFill>
                <a:effectLst/>
                <a:latin typeface="Consolas" panose="020B0609020204030204" pitchFamily="49" charset="0"/>
              </a:rPr>
              <a:t>(a))  </a:t>
            </a:r>
            <a:r>
              <a:rPr lang="fi-FI" b="0" dirty="0">
                <a:solidFill>
                  <a:srgbClr val="7CA668"/>
                </a:solidFill>
                <a:effectLst/>
                <a:latin typeface="Consolas" panose="020B0609020204030204" pitchFamily="49" charset="0"/>
              </a:rPr>
              <a:t># 55</a:t>
            </a:r>
            <a:br>
              <a:rPr lang="fi-FI" b="0" dirty="0">
                <a:solidFill>
                  <a:srgbClr val="7CA668"/>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Smallest</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min</a:t>
            </a:r>
            <a:r>
              <a:rPr lang="fi-FI" b="0" dirty="0">
                <a:solidFill>
                  <a:srgbClr val="FFFFFF"/>
                </a:solidFill>
                <a:effectLst/>
                <a:latin typeface="Consolas" panose="020B0609020204030204" pitchFamily="49" charset="0"/>
              </a:rPr>
              <a:t>(a))</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Largest</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max</a:t>
            </a:r>
            <a:r>
              <a:rPr lang="fi-FI" b="0" dirty="0">
                <a:solidFill>
                  <a:srgbClr val="FFFFFF"/>
                </a:solidFill>
                <a:effectLst/>
                <a:latin typeface="Consolas" panose="020B0609020204030204" pitchFamily="49" charset="0"/>
              </a:rPr>
              <a:t>(a))</a:t>
            </a:r>
            <a:br>
              <a:rPr lang="fi-FI" b="0" dirty="0">
                <a:solidFill>
                  <a:srgbClr val="FFFFFF"/>
                </a:solidFill>
                <a:effectLst/>
                <a:latin typeface="Consolas" panose="020B0609020204030204" pitchFamily="49" charset="0"/>
              </a:rPr>
            </a:br>
            <a:r>
              <a:rPr lang="fi-FI" b="0" dirty="0" err="1">
                <a:solidFill>
                  <a:srgbClr val="FFFFFF"/>
                </a:solidFill>
                <a:effectLst/>
                <a:latin typeface="Consolas" panose="020B0609020204030204" pitchFamily="49" charset="0"/>
              </a:rPr>
              <a:t>shuffle</a:t>
            </a:r>
            <a:r>
              <a:rPr lang="fi-FI" b="0" dirty="0">
                <a:solidFill>
                  <a:srgbClr val="FFFFFF"/>
                </a:solidFill>
                <a:effectLst/>
                <a:latin typeface="Consolas" panose="020B0609020204030204" pitchFamily="49" charset="0"/>
              </a:rPr>
              <a:t>(a)</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Shuffled</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a:t>
            </a:r>
            <a:br>
              <a:rPr lang="fi-FI" b="0" dirty="0">
                <a:solidFill>
                  <a:srgbClr val="FFFFFF"/>
                </a:solidFill>
                <a:effectLst/>
                <a:latin typeface="Consolas" panose="020B0609020204030204" pitchFamily="49" charset="0"/>
              </a:rPr>
            </a:br>
            <a:r>
              <a:rPr lang="fi-FI" b="0" dirty="0" err="1">
                <a:solidFill>
                  <a:srgbClr val="FFFFFF"/>
                </a:solidFill>
                <a:effectLst/>
                <a:latin typeface="Consolas" panose="020B0609020204030204" pitchFamily="49" charset="0"/>
              </a:rPr>
              <a:t>a.sort</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Sorted</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a:t>
            </a:r>
            <a:br>
              <a:rPr lang="fi-FI" b="0" dirty="0">
                <a:solidFill>
                  <a:srgbClr val="FFFFFF"/>
                </a:solidFill>
                <a:effectLst/>
                <a:latin typeface="Consolas" panose="020B0609020204030204" pitchFamily="49" charset="0"/>
              </a:rPr>
            </a:br>
            <a:r>
              <a:rPr lang="fi-FI" b="0" dirty="0" err="1">
                <a:solidFill>
                  <a:srgbClr val="FFFFFF"/>
                </a:solidFill>
                <a:effectLst/>
                <a:latin typeface="Consolas" panose="020B0609020204030204" pitchFamily="49" charset="0"/>
              </a:rPr>
              <a:t>a.reverse</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Resersed</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7CA668"/>
                </a:solidFill>
                <a:effectLst/>
                <a:latin typeface="Consolas" panose="020B0609020204030204" pitchFamily="49" charset="0"/>
              </a:rPr>
              <a:t>more</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efficient</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way</a:t>
            </a:r>
            <a:r>
              <a:rPr lang="fi-FI" b="0" dirty="0">
                <a:solidFill>
                  <a:srgbClr val="7CA668"/>
                </a:solidFill>
                <a:effectLst/>
                <a:latin typeface="Consolas" panose="020B0609020204030204" pitchFamily="49" charset="0"/>
              </a:rPr>
              <a:t> to </a:t>
            </a:r>
            <a:r>
              <a:rPr lang="fi-FI" b="0" dirty="0" err="1">
                <a:solidFill>
                  <a:srgbClr val="7CA668"/>
                </a:solidFill>
                <a:effectLst/>
                <a:latin typeface="Consolas" panose="020B0609020204030204" pitchFamily="49" charset="0"/>
              </a:rPr>
              <a:t>do</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reverse</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sort</a:t>
            </a:r>
            <a:br>
              <a:rPr lang="fi-FI" dirty="0">
                <a:solidFill>
                  <a:srgbClr val="FFFFFF"/>
                </a:solidFill>
                <a:latin typeface="Consolas" panose="020B0609020204030204" pitchFamily="49" charset="0"/>
              </a:rPr>
            </a:br>
            <a:r>
              <a:rPr lang="fi-FI" b="0" dirty="0" err="1">
                <a:solidFill>
                  <a:srgbClr val="FFFFFF"/>
                </a:solidFill>
                <a:effectLst/>
                <a:latin typeface="Consolas" panose="020B0609020204030204" pitchFamily="49" charset="0"/>
              </a:rPr>
              <a:t>a.sort</a:t>
            </a:r>
            <a:r>
              <a:rPr lang="fi-FI" b="0" dirty="0">
                <a:solidFill>
                  <a:srgbClr val="FFFFFF"/>
                </a:solidFill>
                <a:effectLst/>
                <a:latin typeface="Consolas" panose="020B0609020204030204" pitchFamily="49" charset="0"/>
              </a:rPr>
              <a:t>(</a:t>
            </a:r>
            <a:r>
              <a:rPr lang="fi-FI" b="0" dirty="0" err="1">
                <a:solidFill>
                  <a:srgbClr val="9CDCFE"/>
                </a:solidFill>
                <a:effectLst/>
                <a:latin typeface="Consolas" panose="020B0609020204030204" pitchFamily="49" charset="0"/>
              </a:rPr>
              <a:t>reverse</a:t>
            </a:r>
            <a:r>
              <a:rPr lang="fi-FI" b="0" dirty="0">
                <a:solidFill>
                  <a:srgbClr val="D4D4D4"/>
                </a:solidFill>
                <a:effectLst/>
                <a:latin typeface="Consolas" panose="020B0609020204030204" pitchFamily="49" charset="0"/>
              </a:rPr>
              <a:t>=</a:t>
            </a:r>
            <a:r>
              <a:rPr lang="fi-FI" b="0" dirty="0" err="1">
                <a:solidFill>
                  <a:srgbClr val="569CD6"/>
                </a:solidFill>
                <a:effectLst/>
                <a:latin typeface="Consolas" panose="020B0609020204030204" pitchFamily="49" charset="0"/>
              </a:rPr>
              <a:t>True</a:t>
            </a:r>
            <a:r>
              <a:rPr lang="fi-FI"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1574591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BDA7423-8DFB-41B9-8E0C-F9921882D17A}"/>
              </a:ext>
            </a:extLst>
          </p:cNvPr>
          <p:cNvSpPr>
            <a:spLocks noGrp="1"/>
          </p:cNvSpPr>
          <p:nvPr>
            <p:ph type="title"/>
          </p:nvPr>
        </p:nvSpPr>
        <p:spPr/>
        <p:txBody>
          <a:bodyPr/>
          <a:lstStyle/>
          <a:p>
            <a:r>
              <a:rPr lang="en-US" dirty="0"/>
              <a:t>Copy by Reference vs Shallow Copy</a:t>
            </a:r>
          </a:p>
        </p:txBody>
      </p:sp>
      <p:sp>
        <p:nvSpPr>
          <p:cNvPr id="3" name="Sisällön paikkamerkki 2">
            <a:extLst>
              <a:ext uri="{FF2B5EF4-FFF2-40B4-BE49-F238E27FC236}">
                <a16:creationId xmlns:a16="http://schemas.microsoft.com/office/drawing/2014/main" id="{590BF9EC-CCF5-4D78-9540-6316BAA35766}"/>
              </a:ext>
            </a:extLst>
          </p:cNvPr>
          <p:cNvSpPr>
            <a:spLocks noGrp="1"/>
          </p:cNvSpPr>
          <p:nvPr>
            <p:ph idx="1"/>
          </p:nvPr>
        </p:nvSpPr>
        <p:spPr>
          <a:xfrm>
            <a:off x="1218883" y="1701796"/>
            <a:ext cx="10360501" cy="4823547"/>
          </a:xfrm>
        </p:spPr>
        <p:txBody>
          <a:bodyPr>
            <a:normAutofit fontScale="92500" lnSpcReduction="10000"/>
          </a:bodyPr>
          <a:lstStyle/>
          <a:p>
            <a:r>
              <a:rPr lang="en-US" b="0" dirty="0">
                <a:solidFill>
                  <a:srgbClr val="FFFFFF"/>
                </a:solidFill>
                <a:effectLst/>
                <a:latin typeface="Consolas" panose="020B0609020204030204" pitchFamily="49" charset="0"/>
              </a:rPr>
              <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4</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100</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b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 </a:t>
            </a:r>
            <a:r>
              <a:rPr lang="en-US" b="0" dirty="0">
                <a:solidFill>
                  <a:srgbClr val="7CA668"/>
                </a:solidFill>
                <a:effectLst/>
                <a:latin typeface="Consolas" panose="020B0609020204030204" pitchFamily="49" charset="0"/>
              </a:rPr>
              <a:t># b is now reference to a, not a copy!</a:t>
            </a:r>
            <a:br>
              <a:rPr lang="en-US" b="0" dirty="0">
                <a:solidFill>
                  <a:srgbClr val="7CA668"/>
                </a:solidFill>
                <a:effectLst/>
                <a:latin typeface="Consolas" panose="020B0609020204030204" pitchFamily="49" charset="0"/>
              </a:rPr>
            </a:br>
            <a:r>
              <a:rPr lang="en-US" b="0" dirty="0">
                <a:solidFill>
                  <a:srgbClr val="FFFFFF"/>
                </a:solidFill>
                <a:effectLst/>
                <a:latin typeface="Consolas" panose="020B0609020204030204" pitchFamily="49" charset="0"/>
              </a:rPr>
              <a:t>b[</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"flower"</a:t>
            </a:r>
            <a:br>
              <a:rPr lang="en-US" dirty="0">
                <a:solidFill>
                  <a:srgbClr val="FFFFFF"/>
                </a:solidFill>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(b)</a:t>
            </a: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 </a:t>
            </a:r>
            <a:r>
              <a:rPr lang="en-US" b="0" dirty="0">
                <a:solidFill>
                  <a:srgbClr val="7CA668"/>
                </a:solidFill>
                <a:effectLst/>
                <a:latin typeface="Consolas" panose="020B0609020204030204" pitchFamily="49" charset="0"/>
              </a:rPr>
              <a:t># both are changed, because they point to same memory location</a:t>
            </a:r>
            <a:endParaRPr lang="en-US" b="0" dirty="0">
              <a:solidFill>
                <a:srgbClr val="FFFFFF"/>
              </a:solidFill>
              <a:effectLst/>
              <a:latin typeface="Consolas" panose="020B0609020204030204" pitchFamily="49" charset="0"/>
            </a:endParaRPr>
          </a:p>
          <a:p>
            <a:r>
              <a:rPr lang="en-US" b="0" dirty="0">
                <a:solidFill>
                  <a:srgbClr val="7CA668"/>
                </a:solidFill>
                <a:effectLst/>
                <a:latin typeface="Consolas" panose="020B0609020204030204" pitchFamily="49" charset="0"/>
              </a:rPr>
              <a:t># solution to this problem</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"Do like this instead:"</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4</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100</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b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 </a:t>
            </a:r>
            <a:r>
              <a:rPr lang="en-US" b="0" dirty="0">
                <a:solidFill>
                  <a:srgbClr val="7CA668"/>
                </a:solidFill>
                <a:effectLst/>
                <a:latin typeface="Consolas" panose="020B0609020204030204" pitchFamily="49" charset="0"/>
              </a:rPr>
              <a:t># b is now a shallow copy of a</a:t>
            </a:r>
            <a:br>
              <a:rPr lang="en-US" b="0" dirty="0">
                <a:solidFill>
                  <a:srgbClr val="7CA668"/>
                </a:solidFill>
                <a:effectLst/>
                <a:latin typeface="Consolas" panose="020B0609020204030204" pitchFamily="49" charset="0"/>
              </a:rPr>
            </a:br>
            <a:r>
              <a:rPr lang="en-US" b="0" dirty="0">
                <a:solidFill>
                  <a:srgbClr val="7CA668"/>
                </a:solidFill>
                <a:effectLst/>
                <a:latin typeface="Consolas" panose="020B0609020204030204" pitchFamily="49" charset="0"/>
              </a:rPr>
              <a:t># b </a:t>
            </a:r>
            <a:r>
              <a:rPr lang="en-US" b="0" dirty="0" err="1">
                <a:solidFill>
                  <a:srgbClr val="7CA668"/>
                </a:solidFill>
                <a:effectLst/>
                <a:latin typeface="Consolas" panose="020B0609020204030204" pitchFamily="49" charset="0"/>
              </a:rPr>
              <a:t>a.copy</a:t>
            </a:r>
            <a:r>
              <a:rPr lang="en-US" b="0" dirty="0">
                <a:solidFill>
                  <a:srgbClr val="7CA668"/>
                </a:solidFill>
                <a:effectLst/>
                <a:latin typeface="Consolas" panose="020B0609020204030204" pitchFamily="49" charset="0"/>
              </a:rPr>
              <a:t>() would do the same</a:t>
            </a:r>
            <a:br>
              <a:rPr lang="en-US" b="0" dirty="0">
                <a:solidFill>
                  <a:srgbClr val="7CA668"/>
                </a:solidFill>
                <a:effectLst/>
                <a:latin typeface="Consolas" panose="020B0609020204030204" pitchFamily="49" charset="0"/>
              </a:rPr>
            </a:br>
            <a:r>
              <a:rPr lang="en-US" b="0" dirty="0">
                <a:solidFill>
                  <a:srgbClr val="FFFFFF"/>
                </a:solidFill>
                <a:effectLst/>
                <a:latin typeface="Consolas" panose="020B0609020204030204" pitchFamily="49" charset="0"/>
              </a:rPr>
              <a:t>b[</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"flower"</a:t>
            </a:r>
            <a:br>
              <a:rPr lang="en-US" b="0" dirty="0">
                <a:solidFill>
                  <a:srgbClr val="CE917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(b) </a:t>
            </a:r>
            <a:r>
              <a:rPr lang="en-US" b="0" dirty="0">
                <a:solidFill>
                  <a:srgbClr val="7CA668"/>
                </a:solidFill>
                <a:effectLst/>
                <a:latin typeface="Consolas" panose="020B0609020204030204" pitchFamily="49" charset="0"/>
              </a:rPr>
              <a:t># 'flower' here</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 </a:t>
            </a:r>
            <a:r>
              <a:rPr lang="en-US" b="0" dirty="0">
                <a:solidFill>
                  <a:srgbClr val="7CA668"/>
                </a:solidFill>
                <a:effectLst/>
                <a:latin typeface="Consolas" panose="020B0609020204030204" pitchFamily="49" charset="0"/>
              </a:rPr>
              <a:t># no 'flower' here</a:t>
            </a:r>
            <a:endParaRPr lang="en-US" b="0" dirty="0">
              <a:solidFill>
                <a:srgbClr val="FFFFFF"/>
              </a:solidFill>
              <a:effectLst/>
              <a:latin typeface="Consolas" panose="020B0609020204030204" pitchFamily="49" charset="0"/>
            </a:endParaRPr>
          </a:p>
          <a:p>
            <a:endParaRPr lang="fi-FI" dirty="0"/>
          </a:p>
        </p:txBody>
      </p:sp>
    </p:spTree>
    <p:extLst>
      <p:ext uri="{BB962C8B-B14F-4D97-AF65-F5344CB8AC3E}">
        <p14:creationId xmlns:p14="http://schemas.microsoft.com/office/powerpoint/2010/main" val="3326297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8D941-8CFF-4033-8AC6-1100348C882D}"/>
              </a:ext>
            </a:extLst>
          </p:cNvPr>
          <p:cNvSpPr>
            <a:spLocks noGrp="1"/>
          </p:cNvSpPr>
          <p:nvPr>
            <p:ph type="title"/>
          </p:nvPr>
        </p:nvSpPr>
        <p:spPr/>
        <p:txBody>
          <a:bodyPr/>
          <a:lstStyle/>
          <a:p>
            <a:r>
              <a:rPr lang="en-US" dirty="0"/>
              <a:t>Set and frozenset</a:t>
            </a:r>
          </a:p>
        </p:txBody>
      </p:sp>
      <p:sp>
        <p:nvSpPr>
          <p:cNvPr id="3" name="Content Placeholder 2">
            <a:extLst>
              <a:ext uri="{FF2B5EF4-FFF2-40B4-BE49-F238E27FC236}">
                <a16:creationId xmlns:a16="http://schemas.microsoft.com/office/drawing/2014/main" id="{8ACF27C3-7306-43F8-A93B-3C1B1A2C361B}"/>
              </a:ext>
            </a:extLst>
          </p:cNvPr>
          <p:cNvSpPr>
            <a:spLocks noGrp="1"/>
          </p:cNvSpPr>
          <p:nvPr>
            <p:ph idx="1"/>
          </p:nvPr>
        </p:nvSpPr>
        <p:spPr>
          <a:xfrm>
            <a:off x="1218883" y="1701797"/>
            <a:ext cx="10360501" cy="4881566"/>
          </a:xfrm>
        </p:spPr>
        <p:txBody>
          <a:bodyPr>
            <a:normAutofit fontScale="70000" lnSpcReduction="20000"/>
          </a:bodyPr>
          <a:lstStyle/>
          <a:p>
            <a:r>
              <a:rPr lang="en-US" dirty="0"/>
              <a:t>A set object is an unordered collection of distinct hashable objects. </a:t>
            </a:r>
          </a:p>
          <a:p>
            <a:r>
              <a:rPr lang="en-US" dirty="0"/>
              <a:t>Set has no duplicate items, unlike list</a:t>
            </a:r>
          </a:p>
          <a:p>
            <a:r>
              <a:rPr lang="en-US" dirty="0"/>
              <a:t>frozenset is immutable version of set</a:t>
            </a:r>
          </a:p>
          <a:p>
            <a:r>
              <a:rPr lang="en-US" dirty="0">
                <a:latin typeface="Courier New" panose="02070309020205020404" pitchFamily="49" charset="0"/>
                <a:cs typeface="Courier New" panose="02070309020205020404" pitchFamily="49" charset="0"/>
              </a:rPr>
              <a:t>s = {</a:t>
            </a:r>
            <a:r>
              <a:rPr lang="en-US" i="1" dirty="0">
                <a:latin typeface="Courier New" panose="02070309020205020404" pitchFamily="49" charset="0"/>
                <a:cs typeface="Courier New" panose="02070309020205020404" pitchFamily="49" charset="0"/>
              </a:rPr>
              <a:t>item1</a:t>
            </a:r>
            <a:r>
              <a:rPr lang="en-US" dirty="0">
                <a:latin typeface="Courier New" panose="02070309020205020404" pitchFamily="49" charset="0"/>
                <a:cs typeface="Courier New" panose="02070309020205020404" pitchFamily="49" charset="0"/>
              </a:rPr>
              <a:t>, </a:t>
            </a:r>
            <a:r>
              <a:rPr lang="en-US" i="1" dirty="0">
                <a:latin typeface="Courier New" panose="02070309020205020404" pitchFamily="49" charset="0"/>
                <a:cs typeface="Courier New" panose="02070309020205020404" pitchFamily="49" charset="0"/>
              </a:rPr>
              <a:t>item2</a:t>
            </a:r>
            <a:r>
              <a:rPr lang="en-US" dirty="0">
                <a:latin typeface="Courier New" panose="02070309020205020404" pitchFamily="49" charset="0"/>
                <a:cs typeface="Courier New" panose="02070309020205020404" pitchFamily="49" charset="0"/>
              </a:rPr>
              <a:t>, </a:t>
            </a:r>
            <a:r>
              <a:rPr lang="en-US" i="1" dirty="0">
                <a:latin typeface="Courier New" panose="02070309020205020404" pitchFamily="49" charset="0"/>
                <a:cs typeface="Courier New" panose="02070309020205020404" pitchFamily="49" charset="0"/>
              </a:rPr>
              <a:t>item3</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s = set([</a:t>
            </a:r>
            <a:r>
              <a:rPr lang="en-US" i="1" dirty="0">
                <a:latin typeface="Courier New" panose="02070309020205020404" pitchFamily="49" charset="0"/>
                <a:cs typeface="Courier New" panose="02070309020205020404" pitchFamily="49" charset="0"/>
              </a:rPr>
              <a:t>iterable</a:t>
            </a:r>
            <a:r>
              <a:rPr lang="en-US" dirty="0">
                <a:latin typeface="Courier New" panose="02070309020205020404" pitchFamily="49" charset="0"/>
                <a:cs typeface="Courier New" panose="02070309020205020404" pitchFamily="49" charset="0"/>
              </a:rPr>
              <a:t>])</a:t>
            </a:r>
          </a:p>
          <a:p>
            <a:r>
              <a:rPr lang="en-US" b="1" dirty="0" err="1">
                <a:cs typeface="Courier New" panose="02070309020205020404" pitchFamily="49" charset="0"/>
              </a:rPr>
              <a:t>issubset</a:t>
            </a:r>
            <a:r>
              <a:rPr lang="en-US" b="1" dirty="0">
                <a:cs typeface="Courier New" panose="02070309020205020404" pitchFamily="49" charset="0"/>
              </a:rPr>
              <a:t>(other) </a:t>
            </a:r>
            <a:r>
              <a:rPr lang="en-US" dirty="0">
                <a:cs typeface="Courier New" panose="02070309020205020404" pitchFamily="49" charset="0"/>
              </a:rPr>
              <a:t>Return true if set is subset of other</a:t>
            </a:r>
          </a:p>
          <a:p>
            <a:r>
              <a:rPr lang="en-US" b="1" dirty="0">
                <a:cs typeface="Courier New" panose="02070309020205020404" pitchFamily="49" charset="0"/>
              </a:rPr>
              <a:t>union(*others) </a:t>
            </a:r>
            <a:r>
              <a:rPr lang="en-US" dirty="0">
                <a:cs typeface="Courier New" panose="02070309020205020404" pitchFamily="49" charset="0"/>
              </a:rPr>
              <a:t>Return a new set with elements from the set and all others.</a:t>
            </a:r>
          </a:p>
          <a:p>
            <a:r>
              <a:rPr lang="en-US" b="1" dirty="0">
                <a:cs typeface="Courier New" panose="02070309020205020404" pitchFamily="49" charset="0"/>
              </a:rPr>
              <a:t>intersection(*others) </a:t>
            </a:r>
            <a:r>
              <a:rPr lang="en-US" dirty="0">
                <a:cs typeface="Courier New" panose="02070309020205020404" pitchFamily="49" charset="0"/>
              </a:rPr>
              <a:t>Return a new set with elements common to the set and all others.</a:t>
            </a:r>
          </a:p>
          <a:p>
            <a:r>
              <a:rPr lang="en-US" b="1" dirty="0">
                <a:cs typeface="Courier New" panose="02070309020205020404" pitchFamily="49" charset="0"/>
              </a:rPr>
              <a:t>difference(*others) </a:t>
            </a:r>
            <a:r>
              <a:rPr lang="en-US" dirty="0">
                <a:cs typeface="Courier New" panose="02070309020205020404" pitchFamily="49" charset="0"/>
              </a:rPr>
              <a:t>Return a new set with elements in the set that are not in the others.</a:t>
            </a:r>
          </a:p>
          <a:p>
            <a:r>
              <a:rPr lang="en-US" b="1" dirty="0" err="1">
                <a:cs typeface="Courier New" panose="02070309020205020404" pitchFamily="49" charset="0"/>
              </a:rPr>
              <a:t>symmetric_difference</a:t>
            </a:r>
            <a:r>
              <a:rPr lang="en-US" b="1" dirty="0">
                <a:cs typeface="Courier New" panose="02070309020205020404" pitchFamily="49" charset="0"/>
              </a:rPr>
              <a:t>(other) </a:t>
            </a:r>
            <a:r>
              <a:rPr lang="en-US" dirty="0">
                <a:cs typeface="Courier New" panose="02070309020205020404" pitchFamily="49" charset="0"/>
              </a:rPr>
              <a:t>Return a new set with elements in either the set or other but not bot</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10576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E691-A455-4483-A0EE-C8A16ABA2157}"/>
              </a:ext>
            </a:extLst>
          </p:cNvPr>
          <p:cNvSpPr>
            <a:spLocks noGrp="1"/>
          </p:cNvSpPr>
          <p:nvPr>
            <p:ph type="title"/>
          </p:nvPr>
        </p:nvSpPr>
        <p:spPr/>
        <p:txBody>
          <a:bodyPr/>
          <a:lstStyle/>
          <a:p>
            <a:r>
              <a:rPr lang="en-US" dirty="0"/>
              <a:t>Using Sets</a:t>
            </a:r>
          </a:p>
        </p:txBody>
      </p:sp>
      <p:sp>
        <p:nvSpPr>
          <p:cNvPr id="3" name="Content Placeholder 2">
            <a:extLst>
              <a:ext uri="{FF2B5EF4-FFF2-40B4-BE49-F238E27FC236}">
                <a16:creationId xmlns:a16="http://schemas.microsoft.com/office/drawing/2014/main" id="{69C91846-A72E-4C1E-83D6-533D747832FB}"/>
              </a:ext>
            </a:extLst>
          </p:cNvPr>
          <p:cNvSpPr>
            <a:spLocks noGrp="1"/>
          </p:cNvSpPr>
          <p:nvPr>
            <p:ph idx="1"/>
          </p:nvPr>
        </p:nvSpPr>
        <p:spPr>
          <a:xfrm>
            <a:off x="1218883" y="1701796"/>
            <a:ext cx="10708177" cy="5039572"/>
          </a:xfrm>
        </p:spPr>
        <p:txBody>
          <a:bodyPr>
            <a:normAutofit fontScale="92500" lnSpcReduction="10000"/>
          </a:bodyPr>
          <a:lstStyle/>
          <a:p>
            <a:r>
              <a:rPr lang="fi-FI" b="0" dirty="0">
                <a:solidFill>
                  <a:srgbClr val="FFFFFF"/>
                </a:solidFill>
                <a:effectLst/>
                <a:latin typeface="Consolas" panose="020B0609020204030204" pitchFamily="49" charset="0"/>
              </a:rPr>
              <a:t>a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1</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2</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3</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4</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5</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b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10</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8</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7</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5</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4</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c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a.union</a:t>
            </a:r>
            <a:r>
              <a:rPr lang="fi-FI" b="0" dirty="0">
                <a:solidFill>
                  <a:srgbClr val="FFFFFF"/>
                </a:solidFill>
                <a:effectLst/>
                <a:latin typeface="Consolas" panose="020B0609020204030204" pitchFamily="49" charset="0"/>
              </a:rPr>
              <a:t>(b)</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d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4EC9B0"/>
                </a:solidFill>
                <a:effectLst/>
                <a:latin typeface="Consolas" panose="020B0609020204030204" pitchFamily="49" charset="0"/>
              </a:rPr>
              <a:t>set</a:t>
            </a:r>
            <a:r>
              <a:rPr lang="fi-FI" b="0" dirty="0">
                <a:solidFill>
                  <a:srgbClr val="FFFFFF"/>
                </a:solidFill>
                <a:effectLst/>
                <a:latin typeface="Consolas" panose="020B0609020204030204" pitchFamily="49" charset="0"/>
              </a:rPr>
              <a:t>([</a:t>
            </a:r>
            <a:r>
              <a:rPr lang="fi-FI" b="0" dirty="0">
                <a:solidFill>
                  <a:srgbClr val="B5CEA8"/>
                </a:solidFill>
                <a:effectLst/>
                <a:latin typeface="Consolas" panose="020B0609020204030204" pitchFamily="49" charset="0"/>
              </a:rPr>
              <a:t>7</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5</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length</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len</a:t>
            </a:r>
            <a:r>
              <a:rPr lang="fi-FI" b="0" dirty="0">
                <a:solidFill>
                  <a:srgbClr val="FFFFFF"/>
                </a:solidFill>
                <a:effectLst/>
                <a:latin typeface="Consolas" panose="020B0609020204030204" pitchFamily="49" charset="0"/>
              </a:rPr>
              <a:t>(a))</a:t>
            </a:r>
            <a:br>
              <a:rPr lang="fi-FI" b="0" dirty="0">
                <a:solidFill>
                  <a:srgbClr val="FFFFFF"/>
                </a:solidFill>
                <a:effectLst/>
                <a:latin typeface="Consolas" panose="020B0609020204030204" pitchFamily="49" charset="0"/>
              </a:rPr>
            </a:br>
            <a:r>
              <a:rPr lang="fi-FI" b="0" dirty="0" err="1">
                <a:solidFill>
                  <a:srgbClr val="C586C0"/>
                </a:solidFill>
                <a:effectLst/>
                <a:latin typeface="Consolas" panose="020B0609020204030204" pitchFamily="49" charset="0"/>
              </a:rPr>
              <a:t>if</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3</a:t>
            </a:r>
            <a:r>
              <a:rPr lang="fi-FI" b="0" dirty="0">
                <a:solidFill>
                  <a:srgbClr val="FFFFFF"/>
                </a:solidFill>
                <a:effectLst/>
                <a:latin typeface="Consolas" panose="020B0609020204030204" pitchFamily="49" charset="0"/>
              </a:rPr>
              <a:t> </a:t>
            </a:r>
            <a:r>
              <a:rPr lang="fi-FI" b="0" dirty="0">
                <a:solidFill>
                  <a:srgbClr val="569CD6"/>
                </a:solidFill>
                <a:effectLst/>
                <a:latin typeface="Consolas" panose="020B0609020204030204" pitchFamily="49" charset="0"/>
              </a:rPr>
              <a:t>in</a:t>
            </a:r>
            <a:r>
              <a:rPr lang="fi-FI" b="0" dirty="0">
                <a:solidFill>
                  <a:srgbClr val="FFFFFF"/>
                </a:solidFill>
                <a:effectLst/>
                <a:latin typeface="Consolas" panose="020B0609020204030204" pitchFamily="49" charset="0"/>
              </a:rPr>
              <a:t> a:</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"3 </a:t>
            </a:r>
            <a:r>
              <a:rPr lang="fi-FI" b="0" dirty="0" err="1">
                <a:solidFill>
                  <a:srgbClr val="CE9178"/>
                </a:solidFill>
                <a:effectLst/>
                <a:latin typeface="Consolas" panose="020B0609020204030204" pitchFamily="49" charset="0"/>
              </a:rPr>
              <a:t>found</a:t>
            </a:r>
            <a:r>
              <a:rPr lang="fi-FI" b="0" dirty="0">
                <a:solidFill>
                  <a:srgbClr val="CE9178"/>
                </a:solidFill>
                <a:effectLst/>
                <a:latin typeface="Consolas" panose="020B0609020204030204" pitchFamily="49" charset="0"/>
              </a:rPr>
              <a:t> in a"</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union</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c)</a:t>
            </a:r>
            <a:br>
              <a:rPr lang="fi-FI" b="0" dirty="0">
                <a:solidFill>
                  <a:srgbClr val="FFFFFF"/>
                </a:solidFill>
                <a:effectLst/>
                <a:latin typeface="Consolas" panose="020B0609020204030204" pitchFamily="49" charset="0"/>
              </a:rPr>
            </a:br>
            <a:r>
              <a:rPr lang="fi-FI" b="0" dirty="0" err="1">
                <a:solidFill>
                  <a:srgbClr val="C586C0"/>
                </a:solidFill>
                <a:effectLst/>
                <a:latin typeface="Consolas" panose="020B0609020204030204" pitchFamily="49" charset="0"/>
              </a:rPr>
              <a:t>if</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a.issubset</a:t>
            </a:r>
            <a:r>
              <a:rPr lang="fi-FI" b="0" dirty="0">
                <a:solidFill>
                  <a:srgbClr val="FFFFFF"/>
                </a:solidFill>
                <a:effectLst/>
                <a:latin typeface="Consolas" panose="020B0609020204030204" pitchFamily="49" charset="0"/>
              </a:rPr>
              <a:t>(c):</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 is </a:t>
            </a:r>
            <a:r>
              <a:rPr lang="fi-FI" b="0" dirty="0" err="1">
                <a:solidFill>
                  <a:srgbClr val="CE9178"/>
                </a:solidFill>
                <a:effectLst/>
                <a:latin typeface="Consolas" panose="020B0609020204030204" pitchFamily="49" charset="0"/>
              </a:rPr>
              <a:t>subset</a:t>
            </a:r>
            <a:r>
              <a:rPr lang="fi-FI" b="0" dirty="0">
                <a:solidFill>
                  <a:srgbClr val="CE9178"/>
                </a:solidFill>
                <a:effectLst/>
                <a:latin typeface="Consolas" panose="020B0609020204030204" pitchFamily="49" charset="0"/>
              </a:rPr>
              <a:t> of c"</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intersection</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a.intersection</a:t>
            </a:r>
            <a:r>
              <a:rPr lang="fi-FI" b="0" dirty="0">
                <a:solidFill>
                  <a:srgbClr val="FFFFFF"/>
                </a:solidFill>
                <a:effectLst/>
                <a:latin typeface="Consolas" panose="020B0609020204030204" pitchFamily="49" charset="0"/>
              </a:rPr>
              <a:t>(b))</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difference</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a.difference</a:t>
            </a:r>
            <a:r>
              <a:rPr lang="fi-FI" b="0" dirty="0">
                <a:solidFill>
                  <a:srgbClr val="FFFFFF"/>
                </a:solidFill>
                <a:effectLst/>
                <a:latin typeface="Consolas" panose="020B0609020204030204" pitchFamily="49" charset="0"/>
              </a:rPr>
              <a:t>(b))</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symmetric</a:t>
            </a:r>
            <a:r>
              <a:rPr lang="fi-FI" b="0" dirty="0">
                <a:solidFill>
                  <a:srgbClr val="CE9178"/>
                </a:solidFill>
                <a:effectLst/>
                <a:latin typeface="Consolas" panose="020B0609020204030204" pitchFamily="49" charset="0"/>
              </a:rPr>
              <a:t> </a:t>
            </a:r>
            <a:r>
              <a:rPr lang="fi-FI" b="0" dirty="0" err="1">
                <a:solidFill>
                  <a:srgbClr val="CE9178"/>
                </a:solidFill>
                <a:effectLst/>
                <a:latin typeface="Consolas" panose="020B0609020204030204" pitchFamily="49" charset="0"/>
              </a:rPr>
              <a:t>difference</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a.symmetric_difference</a:t>
            </a:r>
            <a:r>
              <a:rPr lang="fi-FI" b="0" dirty="0">
                <a:solidFill>
                  <a:srgbClr val="FFFFFF"/>
                </a:solidFill>
                <a:effectLst/>
                <a:latin typeface="Consolas" panose="020B0609020204030204" pitchFamily="49" charset="0"/>
              </a:rPr>
              <a:t>(b))</a:t>
            </a:r>
            <a:br>
              <a:rPr lang="fi-FI" b="0" dirty="0">
                <a:solidFill>
                  <a:srgbClr val="FFFFFF"/>
                </a:solidFill>
                <a:effectLst/>
                <a:latin typeface="Consolas" panose="020B0609020204030204" pitchFamily="49" charset="0"/>
              </a:rPr>
            </a:br>
            <a:r>
              <a:rPr lang="fi-FI" b="0" dirty="0" err="1">
                <a:solidFill>
                  <a:srgbClr val="FFFFFF"/>
                </a:solidFill>
                <a:effectLst/>
                <a:latin typeface="Consolas" panose="020B0609020204030204" pitchFamily="49" charset="0"/>
              </a:rPr>
              <a:t>readonly</a:t>
            </a:r>
            <a:r>
              <a:rPr lang="fi-FI" b="0" dirty="0">
                <a:solidFill>
                  <a:srgbClr val="FFFFFF"/>
                </a:solidFill>
                <a:effectLst/>
                <a:latin typeface="Consolas" panose="020B0609020204030204" pitchFamily="49" charset="0"/>
              </a:rPr>
              <a:t>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4EC9B0"/>
                </a:solidFill>
                <a:effectLst/>
                <a:latin typeface="Consolas" panose="020B0609020204030204" pitchFamily="49" charset="0"/>
              </a:rPr>
              <a:t>frozenset</a:t>
            </a:r>
            <a:r>
              <a:rPr lang="fi-FI" b="0" dirty="0">
                <a:solidFill>
                  <a:srgbClr val="FFFFFF"/>
                </a:solidFill>
                <a:effectLst/>
                <a:latin typeface="Consolas" panose="020B0609020204030204" pitchFamily="49" charset="0"/>
              </a:rPr>
              <a:t>([</a:t>
            </a:r>
            <a:r>
              <a:rPr lang="fi-FI" b="0" dirty="0">
                <a:solidFill>
                  <a:srgbClr val="B5CEA8"/>
                </a:solidFill>
                <a:effectLst/>
                <a:latin typeface="Consolas" panose="020B0609020204030204" pitchFamily="49" charset="0"/>
              </a:rPr>
              <a:t>1</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2</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3</a:t>
            </a:r>
            <a:r>
              <a:rPr lang="fi-FI"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2366651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F2FE-C4F7-40CA-92E3-67611CCD6DA7}"/>
              </a:ext>
            </a:extLst>
          </p:cNvPr>
          <p:cNvSpPr>
            <a:spLocks noGrp="1"/>
          </p:cNvSpPr>
          <p:nvPr>
            <p:ph type="title"/>
          </p:nvPr>
        </p:nvSpPr>
        <p:spPr/>
        <p:txBody>
          <a:bodyPr/>
          <a:lstStyle/>
          <a:p>
            <a:r>
              <a:rPr lang="en-US" dirty="0"/>
              <a:t>Dictionaries</a:t>
            </a:r>
          </a:p>
        </p:txBody>
      </p:sp>
      <p:sp>
        <p:nvSpPr>
          <p:cNvPr id="3" name="Content Placeholder 2">
            <a:extLst>
              <a:ext uri="{FF2B5EF4-FFF2-40B4-BE49-F238E27FC236}">
                <a16:creationId xmlns:a16="http://schemas.microsoft.com/office/drawing/2014/main" id="{4E0533A0-6940-416F-98CC-5DD43B98091E}"/>
              </a:ext>
            </a:extLst>
          </p:cNvPr>
          <p:cNvSpPr>
            <a:spLocks noGrp="1"/>
          </p:cNvSpPr>
          <p:nvPr>
            <p:ph idx="1"/>
          </p:nvPr>
        </p:nvSpPr>
        <p:spPr>
          <a:xfrm>
            <a:off x="1218883" y="1701796"/>
            <a:ext cx="10360501" cy="4751539"/>
          </a:xfrm>
        </p:spPr>
        <p:txBody>
          <a:bodyPr>
            <a:normAutofit fontScale="92500" lnSpcReduction="20000"/>
          </a:bodyPr>
          <a:lstStyle/>
          <a:p>
            <a:pPr>
              <a:lnSpc>
                <a:spcPct val="80000"/>
              </a:lnSpc>
              <a:defRPr/>
            </a:pPr>
            <a:r>
              <a:rPr lang="en-US" dirty="0"/>
              <a:t>Is a built-in mapping type, which maps immutable values (numbers, strings, tuple) to arbitrary objects</a:t>
            </a:r>
          </a:p>
          <a:p>
            <a:pPr>
              <a:lnSpc>
                <a:spcPct val="80000"/>
              </a:lnSpc>
              <a:defRPr/>
            </a:pPr>
            <a:r>
              <a:rPr lang="en-US" dirty="0"/>
              <a:t>Dictionaries</a:t>
            </a:r>
            <a:r>
              <a:rPr lang="fi-FI" dirty="0"/>
              <a:t> </a:t>
            </a:r>
            <a:r>
              <a:rPr lang="en-US" dirty="0"/>
              <a:t>are</a:t>
            </a:r>
            <a:r>
              <a:rPr lang="fi-FI" dirty="0"/>
              <a:t> </a:t>
            </a:r>
            <a:r>
              <a:rPr lang="en-US" dirty="0"/>
              <a:t>mutable</a:t>
            </a:r>
          </a:p>
          <a:p>
            <a:pPr>
              <a:lnSpc>
                <a:spcPct val="80000"/>
              </a:lnSpc>
              <a:defRPr/>
            </a:pPr>
            <a:r>
              <a:rPr lang="en-US" dirty="0"/>
              <a:t>Syntax: </a:t>
            </a:r>
            <a:r>
              <a:rPr lang="en-US" dirty="0">
                <a:latin typeface="Courier New" pitchFamily="49" charset="0"/>
              </a:rPr>
              <a:t>{key: value}</a:t>
            </a:r>
          </a:p>
          <a:p>
            <a:pPr>
              <a:lnSpc>
                <a:spcPct val="80000"/>
              </a:lnSpc>
              <a:defRPr/>
            </a:pPr>
            <a:r>
              <a:rPr lang="en-US" dirty="0"/>
              <a:t>Implemented as a hash table</a:t>
            </a:r>
          </a:p>
          <a:p>
            <a:pPr lvl="1">
              <a:lnSpc>
                <a:spcPct val="80000"/>
              </a:lnSpc>
              <a:defRPr/>
            </a:pPr>
            <a:r>
              <a:rPr lang="en-US" dirty="0"/>
              <a:t>In most cases very fast random access</a:t>
            </a:r>
          </a:p>
          <a:p>
            <a:pPr>
              <a:lnSpc>
                <a:spcPct val="80000"/>
              </a:lnSpc>
              <a:defRPr/>
            </a:pPr>
            <a:r>
              <a:rPr lang="en-US" dirty="0">
                <a:latin typeface="Courier New" pitchFamily="49" charset="0"/>
              </a:rPr>
              <a:t>d = {} # empty dictionary</a:t>
            </a:r>
          </a:p>
          <a:p>
            <a:pPr>
              <a:lnSpc>
                <a:spcPct val="80000"/>
              </a:lnSpc>
              <a:defRPr/>
            </a:pPr>
            <a:r>
              <a:rPr lang="en-US" dirty="0">
                <a:latin typeface="Courier New" pitchFamily="49" charset="0"/>
              </a:rPr>
              <a:t>d = {"Jack": 1234, "Lisa": 6678 }</a:t>
            </a:r>
          </a:p>
          <a:p>
            <a:pPr>
              <a:lnSpc>
                <a:spcPct val="80000"/>
              </a:lnSpc>
              <a:defRPr/>
            </a:pPr>
            <a:r>
              <a:rPr lang="en-US" dirty="0">
                <a:latin typeface="Courier New" pitchFamily="49" charset="0"/>
              </a:rPr>
              <a:t>d["Lisa"] # return 6678</a:t>
            </a:r>
          </a:p>
          <a:p>
            <a:pPr>
              <a:lnSpc>
                <a:spcPct val="80000"/>
              </a:lnSpc>
              <a:defRPr/>
            </a:pPr>
            <a:r>
              <a:rPr lang="en-US" dirty="0">
                <a:latin typeface="Courier New" pitchFamily="49" charset="0"/>
              </a:rPr>
              <a:t>d["Lisa"] = 6699</a:t>
            </a:r>
          </a:p>
          <a:p>
            <a:pPr>
              <a:lnSpc>
                <a:spcPct val="80000"/>
              </a:lnSpc>
              <a:defRPr/>
            </a:pPr>
            <a:r>
              <a:rPr lang="en-US" dirty="0">
                <a:latin typeface="Courier New" pitchFamily="49" charset="0"/>
              </a:rPr>
              <a:t>d["Bob"] = 101 </a:t>
            </a:r>
            <a:endParaRPr lang="en-US" dirty="0"/>
          </a:p>
          <a:p>
            <a:endParaRPr lang="en-US" dirty="0"/>
          </a:p>
        </p:txBody>
      </p:sp>
    </p:spTree>
    <p:extLst>
      <p:ext uri="{BB962C8B-B14F-4D97-AF65-F5344CB8AC3E}">
        <p14:creationId xmlns:p14="http://schemas.microsoft.com/office/powerpoint/2010/main" val="2219055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F92DC-338F-4302-AD7A-5E2112FCBB17}"/>
              </a:ext>
            </a:extLst>
          </p:cNvPr>
          <p:cNvSpPr>
            <a:spLocks noGrp="1"/>
          </p:cNvSpPr>
          <p:nvPr>
            <p:ph type="title"/>
          </p:nvPr>
        </p:nvSpPr>
        <p:spPr/>
        <p:txBody>
          <a:bodyPr/>
          <a:lstStyle/>
          <a:p>
            <a:r>
              <a:rPr lang="en-US" dirty="0">
                <a:hlinkClick r:id="rId2"/>
              </a:rPr>
              <a:t>Dictionary operations</a:t>
            </a:r>
            <a:endParaRPr lang="en-US" dirty="0"/>
          </a:p>
        </p:txBody>
      </p:sp>
      <p:sp>
        <p:nvSpPr>
          <p:cNvPr id="3" name="Content Placeholder 2">
            <a:extLst>
              <a:ext uri="{FF2B5EF4-FFF2-40B4-BE49-F238E27FC236}">
                <a16:creationId xmlns:a16="http://schemas.microsoft.com/office/drawing/2014/main" id="{8EDA6F1A-1489-43F9-AB4C-B00D3E7E45D8}"/>
              </a:ext>
            </a:extLst>
          </p:cNvPr>
          <p:cNvSpPr>
            <a:spLocks noGrp="1"/>
          </p:cNvSpPr>
          <p:nvPr>
            <p:ph idx="1"/>
          </p:nvPr>
        </p:nvSpPr>
        <p:spPr/>
        <p:txBody>
          <a:bodyPr>
            <a:normAutofit fontScale="55000" lnSpcReduction="20000"/>
          </a:bodyPr>
          <a:lstStyle/>
          <a:p>
            <a:pPr>
              <a:lnSpc>
                <a:spcPct val="80000"/>
              </a:lnSpc>
              <a:defRPr/>
            </a:pPr>
            <a:r>
              <a:rPr lang="en-US" dirty="0" err="1">
                <a:latin typeface="Courier New" pitchFamily="49" charset="0"/>
              </a:rPr>
              <a:t>len</a:t>
            </a:r>
            <a:r>
              <a:rPr lang="en-US" dirty="0">
                <a:latin typeface="Courier New" pitchFamily="49" charset="0"/>
              </a:rPr>
              <a:t>(d)</a:t>
            </a:r>
            <a:r>
              <a:rPr lang="en-US" dirty="0"/>
              <a:t> size of dictionary</a:t>
            </a:r>
          </a:p>
          <a:p>
            <a:pPr>
              <a:lnSpc>
                <a:spcPct val="80000"/>
              </a:lnSpc>
              <a:defRPr/>
            </a:pPr>
            <a:r>
              <a:rPr lang="en-US" dirty="0">
                <a:latin typeface="Courier New" pitchFamily="49" charset="0"/>
              </a:rPr>
              <a:t>d[k]</a:t>
            </a:r>
            <a:r>
              <a:rPr lang="en-US" dirty="0"/>
              <a:t> value of a with key k</a:t>
            </a:r>
          </a:p>
          <a:p>
            <a:pPr>
              <a:lnSpc>
                <a:spcPct val="80000"/>
              </a:lnSpc>
              <a:defRPr/>
            </a:pPr>
            <a:r>
              <a:rPr lang="en-US" dirty="0">
                <a:latin typeface="Courier New" pitchFamily="49" charset="0"/>
              </a:rPr>
              <a:t>d[k] = v</a:t>
            </a:r>
            <a:r>
              <a:rPr lang="en-US" dirty="0"/>
              <a:t> set a[k] to v</a:t>
            </a:r>
          </a:p>
          <a:p>
            <a:pPr>
              <a:lnSpc>
                <a:spcPct val="80000"/>
              </a:lnSpc>
              <a:defRPr/>
            </a:pPr>
            <a:r>
              <a:rPr lang="en-US" dirty="0">
                <a:latin typeface="Courier New" pitchFamily="49" charset="0"/>
              </a:rPr>
              <a:t>del d[k]</a:t>
            </a:r>
            <a:r>
              <a:rPr lang="en-US" dirty="0"/>
              <a:t> remove a[k]</a:t>
            </a:r>
          </a:p>
          <a:p>
            <a:pPr>
              <a:lnSpc>
                <a:spcPct val="80000"/>
              </a:lnSpc>
              <a:defRPr/>
            </a:pPr>
            <a:r>
              <a:rPr lang="en-US" dirty="0" err="1">
                <a:latin typeface="Courier New" pitchFamily="49" charset="0"/>
              </a:rPr>
              <a:t>d.clear</a:t>
            </a:r>
            <a:r>
              <a:rPr lang="en-US" dirty="0">
                <a:latin typeface="Courier New" pitchFamily="49" charset="0"/>
              </a:rPr>
              <a:t>()</a:t>
            </a:r>
            <a:r>
              <a:rPr lang="en-US" dirty="0"/>
              <a:t> empty dictionary</a:t>
            </a:r>
          </a:p>
          <a:p>
            <a:pPr>
              <a:lnSpc>
                <a:spcPct val="80000"/>
              </a:lnSpc>
              <a:defRPr/>
            </a:pPr>
            <a:r>
              <a:rPr lang="en-US" dirty="0">
                <a:latin typeface="Courier New" pitchFamily="49" charset="0"/>
              </a:rPr>
              <a:t>k in d</a:t>
            </a:r>
            <a:r>
              <a:rPr lang="en-US" dirty="0"/>
              <a:t> True if a has k</a:t>
            </a:r>
          </a:p>
          <a:p>
            <a:pPr>
              <a:lnSpc>
                <a:spcPct val="80000"/>
              </a:lnSpc>
              <a:defRPr/>
            </a:pPr>
            <a:r>
              <a:rPr lang="en-US" dirty="0" err="1">
                <a:latin typeface="Courier New" pitchFamily="49" charset="0"/>
              </a:rPr>
              <a:t>d.has_key</a:t>
            </a:r>
            <a:r>
              <a:rPr lang="en-US" dirty="0">
                <a:latin typeface="Courier New" pitchFamily="49" charset="0"/>
              </a:rPr>
              <a:t>(k)</a:t>
            </a:r>
            <a:r>
              <a:rPr lang="en-US" dirty="0"/>
              <a:t> True if a has k</a:t>
            </a:r>
          </a:p>
          <a:p>
            <a:pPr>
              <a:lnSpc>
                <a:spcPct val="80000"/>
              </a:lnSpc>
              <a:defRPr/>
            </a:pPr>
            <a:r>
              <a:rPr lang="en-US" dirty="0" err="1">
                <a:latin typeface="Courier New" panose="02070309020205020404" pitchFamily="49" charset="0"/>
                <a:cs typeface="Courier New" panose="02070309020205020404" pitchFamily="49" charset="0"/>
              </a:rPr>
              <a:t>d.get</a:t>
            </a:r>
            <a:r>
              <a:rPr lang="en-US" dirty="0">
                <a:latin typeface="Courier New" panose="02070309020205020404" pitchFamily="49" charset="0"/>
                <a:cs typeface="Courier New" panose="02070309020205020404" pitchFamily="49" charset="0"/>
              </a:rPr>
              <a:t>(key [, default]) </a:t>
            </a:r>
            <a:r>
              <a:rPr lang="en-US" dirty="0"/>
              <a:t>return the value for key if key is in dictionary, else return default</a:t>
            </a:r>
          </a:p>
          <a:p>
            <a:pPr>
              <a:lnSpc>
                <a:spcPct val="80000"/>
              </a:lnSpc>
              <a:defRPr/>
            </a:pPr>
            <a:r>
              <a:rPr lang="en-US" dirty="0" err="1">
                <a:latin typeface="Courier New" pitchFamily="49" charset="0"/>
              </a:rPr>
              <a:t>d.items</a:t>
            </a:r>
            <a:r>
              <a:rPr lang="en-US" dirty="0">
                <a:latin typeface="Courier New" pitchFamily="49" charset="0"/>
              </a:rPr>
              <a:t>()</a:t>
            </a:r>
            <a:r>
              <a:rPr lang="en-US" dirty="0"/>
              <a:t> a copy of a's (key, value) tuples as a list</a:t>
            </a:r>
          </a:p>
          <a:p>
            <a:pPr>
              <a:lnSpc>
                <a:spcPct val="80000"/>
              </a:lnSpc>
              <a:defRPr/>
            </a:pPr>
            <a:r>
              <a:rPr lang="en-US" dirty="0" err="1">
                <a:latin typeface="Courier New" pitchFamily="49" charset="0"/>
              </a:rPr>
              <a:t>d.keys</a:t>
            </a:r>
            <a:r>
              <a:rPr lang="en-US" dirty="0">
                <a:latin typeface="Courier New" pitchFamily="49" charset="0"/>
              </a:rPr>
              <a:t>()</a:t>
            </a:r>
            <a:r>
              <a:rPr lang="en-US" dirty="0"/>
              <a:t> a copy of a's keys as a list, same as list(d)</a:t>
            </a:r>
          </a:p>
          <a:p>
            <a:pPr>
              <a:lnSpc>
                <a:spcPct val="80000"/>
              </a:lnSpc>
              <a:defRPr/>
            </a:pPr>
            <a:r>
              <a:rPr lang="en-US" dirty="0" err="1">
                <a:latin typeface="Courier New" panose="02070309020205020404" pitchFamily="49" charset="0"/>
                <a:cs typeface="Courier New" panose="02070309020205020404" pitchFamily="49" charset="0"/>
              </a:rPr>
              <a:t>d.setdefault</a:t>
            </a:r>
            <a:r>
              <a:rPr lang="en-US" dirty="0">
                <a:latin typeface="Courier New" panose="02070309020205020404" pitchFamily="49" charset="0"/>
                <a:cs typeface="Courier New" panose="02070309020205020404" pitchFamily="49" charset="0"/>
              </a:rPr>
              <a:t>(key [,default])</a:t>
            </a:r>
            <a:r>
              <a:rPr lang="en-US" dirty="0"/>
              <a:t> if key is in dictionary, return its value. If not insert key with value default and return default</a:t>
            </a:r>
          </a:p>
          <a:p>
            <a:pPr>
              <a:lnSpc>
                <a:spcPct val="80000"/>
              </a:lnSpc>
              <a:defRPr/>
            </a:pPr>
            <a:r>
              <a:rPr lang="en-US" dirty="0" err="1">
                <a:latin typeface="Courier New" pitchFamily="49" charset="0"/>
              </a:rPr>
              <a:t>d.values</a:t>
            </a:r>
            <a:r>
              <a:rPr lang="en-US" dirty="0">
                <a:latin typeface="Courier New" pitchFamily="49" charset="0"/>
              </a:rPr>
              <a:t>()</a:t>
            </a:r>
            <a:r>
              <a:rPr lang="en-US" dirty="0"/>
              <a:t> a copy of a's values as a list</a:t>
            </a:r>
          </a:p>
        </p:txBody>
      </p:sp>
    </p:spTree>
    <p:extLst>
      <p:ext uri="{BB962C8B-B14F-4D97-AF65-F5344CB8AC3E}">
        <p14:creationId xmlns:p14="http://schemas.microsoft.com/office/powerpoint/2010/main" val="248842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19B8F-81C2-4A10-9D0B-BD1BB1EE7A24}"/>
              </a:ext>
            </a:extLst>
          </p:cNvPr>
          <p:cNvSpPr>
            <a:spLocks noGrp="1"/>
          </p:cNvSpPr>
          <p:nvPr>
            <p:ph type="title"/>
          </p:nvPr>
        </p:nvSpPr>
        <p:spPr/>
        <p:txBody>
          <a:bodyPr/>
          <a:lstStyle/>
          <a:p>
            <a:r>
              <a:rPr lang="en-US" dirty="0"/>
              <a:t>Dictionary Examples</a:t>
            </a:r>
          </a:p>
        </p:txBody>
      </p:sp>
      <p:sp>
        <p:nvSpPr>
          <p:cNvPr id="3" name="Content Placeholder 2">
            <a:extLst>
              <a:ext uri="{FF2B5EF4-FFF2-40B4-BE49-F238E27FC236}">
                <a16:creationId xmlns:a16="http://schemas.microsoft.com/office/drawing/2014/main" id="{09E0CAA2-738C-4EAA-8C22-901C796161CB}"/>
              </a:ext>
            </a:extLst>
          </p:cNvPr>
          <p:cNvSpPr>
            <a:spLocks noGrp="1"/>
          </p:cNvSpPr>
          <p:nvPr>
            <p:ph idx="1"/>
          </p:nvPr>
        </p:nvSpPr>
        <p:spPr>
          <a:xfrm>
            <a:off x="1218883" y="1701797"/>
            <a:ext cx="10360501" cy="4881566"/>
          </a:xfrm>
        </p:spPr>
        <p:txBody>
          <a:bodyPr>
            <a:normAutofit fontScale="77500" lnSpcReduction="20000"/>
          </a:bodyPr>
          <a:lstStyle/>
          <a:p>
            <a:pPr marL="0" indent="0">
              <a:buNone/>
            </a:pPr>
            <a:r>
              <a:rPr lang="en-US" b="0" dirty="0">
                <a:solidFill>
                  <a:srgbClr val="FFFFFF"/>
                </a:solidFill>
                <a:effectLst/>
                <a:latin typeface="Consolas" panose="020B0609020204030204" pitchFamily="49" charset="0"/>
              </a:rPr>
              <a:t>d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 </a:t>
            </a:r>
            <a:r>
              <a:rPr lang="en-US" b="0" dirty="0">
                <a:solidFill>
                  <a:srgbClr val="7CA668"/>
                </a:solidFill>
                <a:effectLst/>
                <a:latin typeface="Consolas" panose="020B0609020204030204" pitchFamily="49" charset="0"/>
              </a:rPr>
              <a:t># empty dictionary</a:t>
            </a:r>
            <a:br>
              <a:rPr lang="en-US" dirty="0">
                <a:solidFill>
                  <a:srgbClr val="FFFFFF"/>
                </a:solidFill>
                <a:latin typeface="Consolas" panose="020B0609020204030204" pitchFamily="49" charset="0"/>
              </a:rPr>
            </a:br>
            <a:r>
              <a:rPr lang="en-US" b="0" dirty="0">
                <a:solidFill>
                  <a:srgbClr val="FFFFFF"/>
                </a:solidFill>
                <a:effectLst/>
                <a:latin typeface="Consolas" panose="020B0609020204030204" pitchFamily="49" charset="0"/>
              </a:rPr>
              <a:t>d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"cat"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kissa</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"dog"</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koira</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define a dictionary with 2 key value pairs</a:t>
            </a:r>
            <a:br>
              <a:rPr lang="en-US" dirty="0">
                <a:solidFill>
                  <a:srgbClr val="FFFFFF"/>
                </a:solidFill>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(d)</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d[</a:t>
            </a:r>
            <a:r>
              <a:rPr lang="en-US" b="0" dirty="0">
                <a:solidFill>
                  <a:srgbClr val="CE9178"/>
                </a:solidFill>
                <a:effectLst/>
                <a:latin typeface="Consolas" panose="020B0609020204030204" pitchFamily="49" charset="0"/>
              </a:rPr>
              <a:t>"ape"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apina</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add a new key value pair</a:t>
            </a:r>
            <a:br>
              <a:rPr lang="en-US" dirty="0">
                <a:solidFill>
                  <a:srgbClr val="FFFFFF"/>
                </a:solidFill>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(d[</a:t>
            </a:r>
            <a:r>
              <a:rPr lang="en-US" b="0" dirty="0">
                <a:solidFill>
                  <a:srgbClr val="CE9178"/>
                </a:solidFill>
                <a:effectLst/>
                <a:latin typeface="Consolas" panose="020B0609020204030204" pitchFamily="49" charset="0"/>
              </a:rPr>
              <a:t>"cat"</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d[</a:t>
            </a:r>
            <a:r>
              <a:rPr lang="en-US" b="0" dirty="0">
                <a:solidFill>
                  <a:srgbClr val="CE9178"/>
                </a:solidFill>
                <a:effectLst/>
                <a:latin typeface="Consolas" panose="020B0609020204030204" pitchFamily="49" charset="0"/>
              </a:rPr>
              <a:t>"cat"</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mirri</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update existing key value pair</a:t>
            </a:r>
            <a:br>
              <a:rPr lang="en-US" b="0" dirty="0">
                <a:solidFill>
                  <a:srgbClr val="7CA668"/>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(d[</a:t>
            </a:r>
            <a:r>
              <a:rPr lang="en-US" b="0" dirty="0">
                <a:solidFill>
                  <a:srgbClr val="CE9178"/>
                </a:solidFill>
                <a:effectLst/>
                <a:latin typeface="Consolas" panose="020B0609020204030204" pitchFamily="49" charset="0"/>
              </a:rPr>
              <a:t>"cat"</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"cat"</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FFFFFF"/>
                </a:solidFill>
                <a:effectLst/>
                <a:latin typeface="Consolas" panose="020B0609020204030204" pitchFamily="49" charset="0"/>
              </a:rPr>
              <a:t> d: </a:t>
            </a:r>
            <a:r>
              <a:rPr lang="en-US" b="0" dirty="0">
                <a:solidFill>
                  <a:srgbClr val="7CA668"/>
                </a:solidFill>
                <a:effectLst/>
                <a:latin typeface="Consolas" panose="020B0609020204030204" pitchFamily="49" charset="0"/>
              </a:rPr>
              <a:t># checking if something exists in a dictionary</a:t>
            </a:r>
            <a:br>
              <a:rPr lang="en-US" b="0" dirty="0">
                <a:solidFill>
                  <a:srgbClr val="7CA668"/>
                </a:solidFill>
                <a:effectLst/>
                <a:latin typeface="Consolas" panose="020B0609020204030204" pitchFamily="49" charset="0"/>
              </a:rPr>
            </a:br>
            <a:r>
              <a:rPr lang="en-US" b="0" dirty="0">
                <a:solidFill>
                  <a:srgbClr val="7CA668"/>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"cat found"</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key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d.keys</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(key)</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value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d.values</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(value)</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word, definition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d.items</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(word, </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definition)</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word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sorted</a:t>
            </a:r>
            <a:r>
              <a:rPr lang="en-US" b="0" dirty="0">
                <a:solidFill>
                  <a:srgbClr val="FFFFFF"/>
                </a:solidFill>
                <a:effectLst/>
                <a:latin typeface="Consolas" panose="020B0609020204030204" pitchFamily="49" charset="0"/>
              </a:rPr>
              <a:t>(d):</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(word)</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del</a:t>
            </a:r>
            <a:r>
              <a:rPr lang="en-US" b="0" dirty="0">
                <a:solidFill>
                  <a:srgbClr val="FFFFFF"/>
                </a:solidFill>
                <a:effectLst/>
                <a:latin typeface="Consolas" panose="020B0609020204030204" pitchFamily="49" charset="0"/>
              </a:rPr>
              <a:t> d[</a:t>
            </a:r>
            <a:r>
              <a:rPr lang="en-US" b="0" dirty="0">
                <a:solidFill>
                  <a:srgbClr val="CE9178"/>
                </a:solidFill>
                <a:effectLst/>
                <a:latin typeface="Consolas" panose="020B0609020204030204" pitchFamily="49" charset="0"/>
              </a:rPr>
              <a:t>"dog"</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remove</a:t>
            </a: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319531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2250604-54E3-4ED2-8C83-A003B8FAD924}"/>
              </a:ext>
            </a:extLst>
          </p:cNvPr>
          <p:cNvSpPr>
            <a:spLocks noGrp="1"/>
          </p:cNvSpPr>
          <p:nvPr>
            <p:ph type="title"/>
          </p:nvPr>
        </p:nvSpPr>
        <p:spPr/>
        <p:txBody>
          <a:bodyPr/>
          <a:lstStyle/>
          <a:p>
            <a:r>
              <a:rPr lang="en-US" dirty="0"/>
              <a:t>Dir, Sorted and Vars</a:t>
            </a:r>
          </a:p>
        </p:txBody>
      </p:sp>
      <p:sp>
        <p:nvSpPr>
          <p:cNvPr id="3" name="Sisällön paikkamerkki 2">
            <a:extLst>
              <a:ext uri="{FF2B5EF4-FFF2-40B4-BE49-F238E27FC236}">
                <a16:creationId xmlns:a16="http://schemas.microsoft.com/office/drawing/2014/main" id="{B92475C5-600D-4177-A14F-A66A50201433}"/>
              </a:ext>
            </a:extLst>
          </p:cNvPr>
          <p:cNvSpPr>
            <a:spLocks noGrp="1"/>
          </p:cNvSpPr>
          <p:nvPr>
            <p:ph idx="1"/>
          </p:nvPr>
        </p:nvSpPr>
        <p:spPr/>
        <p:txBody>
          <a:bodyPr>
            <a:normAutofit/>
          </a:bodyPr>
          <a:lstStyle/>
          <a:p>
            <a:r>
              <a:rPr lang="en-US" dirty="0" err="1">
                <a:latin typeface="Courier New" panose="02070309020205020404" pitchFamily="49" charset="0"/>
                <a:cs typeface="Courier New" panose="02070309020205020404" pitchFamily="49" charset="0"/>
              </a:rPr>
              <a:t>dir</a:t>
            </a:r>
            <a:r>
              <a:rPr lang="en-US" dirty="0">
                <a:latin typeface="Courier New" panose="02070309020205020404" pitchFamily="49" charset="0"/>
                <a:cs typeface="Courier New" panose="02070309020205020404" pitchFamily="49" charset="0"/>
              </a:rPr>
              <a:t>([object]) </a:t>
            </a:r>
            <a:r>
              <a:rPr lang="en-US" dirty="0"/>
              <a:t>function returns a list of valid attributes of the object.</a:t>
            </a:r>
            <a:br>
              <a:rPr lang="en-US" dirty="0"/>
            </a:br>
            <a:r>
              <a:rPr lang="en-US" dirty="0" err="1"/>
              <a:t>dir</a:t>
            </a:r>
            <a:r>
              <a:rPr lang="en-US" dirty="0"/>
              <a:t>() alone returns a list of objects in current name space</a:t>
            </a:r>
          </a:p>
          <a:p>
            <a:r>
              <a:rPr lang="en-US" dirty="0">
                <a:latin typeface="Courier New" panose="02070309020205020404" pitchFamily="49" charset="0"/>
                <a:cs typeface="Courier New" panose="02070309020205020404" pitchFamily="49" charset="0"/>
              </a:rPr>
              <a:t>sorted(</a:t>
            </a:r>
            <a:r>
              <a:rPr lang="en-US" dirty="0" err="1">
                <a:latin typeface="Courier New" panose="02070309020205020404" pitchFamily="49" charset="0"/>
                <a:cs typeface="Courier New" panose="02070309020205020404" pitchFamily="49" charset="0"/>
              </a:rPr>
              <a:t>iterable</a:t>
            </a:r>
            <a:r>
              <a:rPr lang="en-US" dirty="0">
                <a:latin typeface="Courier New" panose="02070309020205020404" pitchFamily="49" charset="0"/>
                <a:cs typeface="Courier New" panose="02070309020205020404" pitchFamily="49" charset="0"/>
              </a:rPr>
              <a:t>, key=None, reverse=False)</a:t>
            </a:r>
            <a:br>
              <a:rPr lang="en-US" dirty="0"/>
            </a:br>
            <a:r>
              <a:rPr lang="en-US" dirty="0"/>
              <a:t>function sorts the elements of a given </a:t>
            </a:r>
            <a:r>
              <a:rPr lang="en-US" dirty="0" err="1"/>
              <a:t>iterable</a:t>
            </a:r>
            <a:r>
              <a:rPr lang="en-US" dirty="0"/>
              <a:t> in a ascending order (descending order if reverse is True) and returns the sorted </a:t>
            </a:r>
            <a:r>
              <a:rPr lang="en-US" dirty="0" err="1"/>
              <a:t>iterable</a:t>
            </a:r>
            <a:r>
              <a:rPr lang="en-US" dirty="0"/>
              <a:t> as a list</a:t>
            </a:r>
          </a:p>
          <a:p>
            <a:r>
              <a:rPr lang="en-US" dirty="0">
                <a:latin typeface="Courier New" panose="02070309020205020404" pitchFamily="49" charset="0"/>
                <a:cs typeface="Courier New" panose="02070309020205020404" pitchFamily="49" charset="0"/>
              </a:rPr>
              <a:t>vars(object)</a:t>
            </a:r>
            <a:br>
              <a:rPr lang="en-US" dirty="0"/>
            </a:br>
            <a:r>
              <a:rPr lang="en-US" dirty="0"/>
              <a:t>function returns the __</a:t>
            </a:r>
            <a:r>
              <a:rPr lang="en-US" dirty="0" err="1"/>
              <a:t>dict</a:t>
            </a:r>
            <a:r>
              <a:rPr lang="en-US" dirty="0"/>
              <a:t>__ attribute of the given object.</a:t>
            </a:r>
            <a:br>
              <a:rPr lang="en-US" dirty="0"/>
            </a:br>
            <a:r>
              <a:rPr lang="en-US" dirty="0"/>
              <a:t>Basically vars() returns current namespace as dictionary</a:t>
            </a:r>
          </a:p>
          <a:p>
            <a:endParaRPr lang="fi-FI" dirty="0"/>
          </a:p>
        </p:txBody>
      </p:sp>
    </p:spTree>
    <p:extLst>
      <p:ext uri="{BB962C8B-B14F-4D97-AF65-F5344CB8AC3E}">
        <p14:creationId xmlns:p14="http://schemas.microsoft.com/office/powerpoint/2010/main" val="1913749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69832-512B-4599-ACC9-A047C8404B95}"/>
              </a:ext>
            </a:extLst>
          </p:cNvPr>
          <p:cNvSpPr>
            <a:spLocks noGrp="1"/>
          </p:cNvSpPr>
          <p:nvPr>
            <p:ph type="title"/>
          </p:nvPr>
        </p:nvSpPr>
        <p:spPr/>
        <p:txBody>
          <a:bodyPr/>
          <a:lstStyle/>
          <a:p>
            <a:r>
              <a:rPr lang="en-US" dirty="0"/>
              <a:t>Python Interactive Interpreter Command Line</a:t>
            </a:r>
          </a:p>
        </p:txBody>
      </p:sp>
      <p:sp>
        <p:nvSpPr>
          <p:cNvPr id="3" name="Content Placeholder 2">
            <a:extLst>
              <a:ext uri="{FF2B5EF4-FFF2-40B4-BE49-F238E27FC236}">
                <a16:creationId xmlns:a16="http://schemas.microsoft.com/office/drawing/2014/main" id="{E4D977B7-5CF2-49F0-BE6A-6CCB4CAABF39}"/>
              </a:ext>
            </a:extLst>
          </p:cNvPr>
          <p:cNvSpPr>
            <a:spLocks noGrp="1"/>
          </p:cNvSpPr>
          <p:nvPr>
            <p:ph idx="1"/>
          </p:nvPr>
        </p:nvSpPr>
        <p:spPr/>
        <p:txBody>
          <a:bodyPr>
            <a:normAutofit fontScale="62500" lnSpcReduction="20000"/>
          </a:bodyPr>
          <a:lstStyle/>
          <a:p>
            <a:r>
              <a:rPr lang="en-US" dirty="0"/>
              <a:t>Cursor up and down to browse command line history</a:t>
            </a:r>
          </a:p>
          <a:p>
            <a:r>
              <a:rPr lang="en-US" dirty="0"/>
              <a:t>Tab for autocompletion</a:t>
            </a:r>
          </a:p>
          <a:p>
            <a:r>
              <a:rPr lang="en-US" dirty="0">
                <a:latin typeface="Courier New" panose="02070309020205020404" pitchFamily="49" charset="0"/>
                <a:cs typeface="Courier New" panose="02070309020205020404" pitchFamily="49" charset="0"/>
              </a:rPr>
              <a:t>import random # first import random module, as an example</a:t>
            </a:r>
          </a:p>
          <a:p>
            <a:r>
              <a:rPr lang="en-US" dirty="0">
                <a:latin typeface="Courier New" panose="02070309020205020404" pitchFamily="49" charset="0"/>
                <a:cs typeface="Courier New" panose="02070309020205020404" pitchFamily="49" charset="0"/>
              </a:rPr>
              <a:t>dir(random) # print everything from random name space</a:t>
            </a:r>
          </a:p>
          <a:p>
            <a:r>
              <a:rPr lang="en-US" dirty="0">
                <a:latin typeface="Courier New" panose="02070309020205020404" pitchFamily="49" charset="0"/>
                <a:cs typeface="Courier New" panose="02070309020205020404" pitchFamily="49" charset="0"/>
              </a:rPr>
              <a:t>dir() # global name space</a:t>
            </a:r>
          </a:p>
          <a:p>
            <a:r>
              <a:rPr lang="en-US" dirty="0">
                <a:latin typeface="Courier New" panose="02070309020205020404" pitchFamily="49" charset="0"/>
                <a:cs typeface="Courier New" panose="02070309020205020404" pitchFamily="49" charset="0"/>
              </a:rPr>
              <a:t>help() # interactive help, inside help type topics</a:t>
            </a:r>
          </a:p>
          <a:p>
            <a:r>
              <a:rPr lang="en-US" dirty="0">
                <a:latin typeface="Courier New" panose="02070309020205020404" pitchFamily="49" charset="0"/>
                <a:cs typeface="Courier New" panose="02070309020205020404" pitchFamily="49" charset="0"/>
              </a:rPr>
              <a:t>help('topic') # help on specific topics or quit to end</a:t>
            </a:r>
          </a:p>
          <a:p>
            <a:r>
              <a:rPr lang="en-US" dirty="0">
                <a:latin typeface="Courier New" panose="02070309020205020404" pitchFamily="49" charset="0"/>
                <a:cs typeface="Courier New" panose="02070309020205020404" pitchFamily="49" charset="0"/>
              </a:rPr>
              <a:t>help('string') # information about strings</a:t>
            </a:r>
          </a:p>
          <a:p>
            <a:r>
              <a:rPr lang="en-US" dirty="0">
                <a:latin typeface="Courier New" panose="02070309020205020404" pitchFamily="49" charset="0"/>
                <a:cs typeface="Courier New" panose="02070309020205020404" pitchFamily="49" charset="0"/>
              </a:rPr>
              <a:t>help('random') # information about random module</a:t>
            </a:r>
          </a:p>
          <a:p>
            <a:r>
              <a:rPr lang="en-US" dirty="0">
                <a:latin typeface="Courier New" panose="02070309020205020404" pitchFamily="49" charset="0"/>
                <a:cs typeface="Courier New" panose="02070309020205020404" pitchFamily="49" charset="0"/>
              </a:rPr>
              <a:t>print(random.__doc__) # will do almost the same</a:t>
            </a:r>
          </a:p>
          <a:p>
            <a:r>
              <a:rPr lang="en-US" dirty="0">
                <a:latin typeface="Courier New" panose="02070309020205020404" pitchFamily="49" charset="0"/>
                <a:cs typeface="Courier New" panose="02070309020205020404" pitchFamily="49" charset="0"/>
              </a:rPr>
              <a:t>quit() or Control-D will quit the interpreter</a:t>
            </a:r>
          </a:p>
          <a:p>
            <a:endParaRPr lang="en-US" dirty="0"/>
          </a:p>
        </p:txBody>
      </p:sp>
    </p:spTree>
    <p:extLst>
      <p:ext uri="{BB962C8B-B14F-4D97-AF65-F5344CB8AC3E}">
        <p14:creationId xmlns:p14="http://schemas.microsoft.com/office/powerpoint/2010/main" val="366798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F02EC-ED69-45F3-9D0D-13CCB6B0BD52}"/>
              </a:ext>
            </a:extLst>
          </p:cNvPr>
          <p:cNvSpPr>
            <a:spLocks noGrp="1"/>
          </p:cNvSpPr>
          <p:nvPr>
            <p:ph type="title"/>
          </p:nvPr>
        </p:nvSpPr>
        <p:spPr/>
        <p:txBody>
          <a:bodyPr/>
          <a:lstStyle/>
          <a:p>
            <a:r>
              <a:rPr lang="en-US" dirty="0"/>
              <a:t>Basic Input and Output</a:t>
            </a:r>
          </a:p>
        </p:txBody>
      </p:sp>
      <p:sp>
        <p:nvSpPr>
          <p:cNvPr id="3" name="Content Placeholder 2">
            <a:extLst>
              <a:ext uri="{FF2B5EF4-FFF2-40B4-BE49-F238E27FC236}">
                <a16:creationId xmlns:a16="http://schemas.microsoft.com/office/drawing/2014/main" id="{52A60B69-569D-4404-982C-0E96233BD1B7}"/>
              </a:ext>
            </a:extLst>
          </p:cNvPr>
          <p:cNvSpPr>
            <a:spLocks noGrp="1"/>
          </p:cNvSpPr>
          <p:nvPr>
            <p:ph idx="1"/>
          </p:nvPr>
        </p:nvSpPr>
        <p:spPr/>
        <p:txBody>
          <a:bodyPr>
            <a:normAutofit/>
          </a:bodyPr>
          <a:lstStyle/>
          <a:p>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(string)  </a:t>
            </a:r>
            <a:r>
              <a:rPr lang="en-US" b="0" dirty="0">
                <a:solidFill>
                  <a:srgbClr val="7CA668"/>
                </a:solidFill>
                <a:effectLst/>
                <a:latin typeface="Consolas" panose="020B0609020204030204" pitchFamily="49" charset="0"/>
              </a:rPr>
              <a:t># returns a string</a:t>
            </a:r>
            <a:endParaRPr lang="en-US" b="0" dirty="0">
              <a:solidFill>
                <a:srgbClr val="FFFFFF"/>
              </a:solidFill>
              <a:effectLst/>
              <a:latin typeface="Consolas" panose="020B0609020204030204" pitchFamily="49" charset="0"/>
            </a:endParaRPr>
          </a:p>
          <a:p>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objects, </a:t>
            </a:r>
            <a:r>
              <a:rPr lang="en-US" b="0" dirty="0" err="1">
                <a:solidFill>
                  <a:srgbClr val="9CDCFE"/>
                </a:solidFill>
                <a:effectLst/>
                <a:latin typeface="Consolas" panose="020B0609020204030204" pitchFamily="49" charset="0"/>
              </a:rPr>
              <a:t>sep</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 '</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end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\n</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a:t>
            </a:r>
            <a:r>
              <a:rPr lang="en-US" b="0" dirty="0" err="1">
                <a:solidFill>
                  <a:srgbClr val="FFFFFF"/>
                </a:solidFill>
                <a:effectLst/>
                <a:latin typeface="Consolas" panose="020B0609020204030204" pitchFamily="49" charset="0"/>
              </a:rPr>
              <a:t>sys.stdout</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flush</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FFFFFF"/>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"automatic newline"</a:t>
            </a:r>
            <a:r>
              <a:rPr lang="en-US" b="0" dirty="0">
                <a:solidFill>
                  <a:srgbClr val="FFFFFF"/>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"no newline"</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end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"automatic space"</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"between"</a:t>
            </a:r>
            <a:r>
              <a:rPr lang="en-US" b="0" dirty="0">
                <a:solidFill>
                  <a:srgbClr val="FFFFFF"/>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sep</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 and "</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'2 and 3'</a:t>
            </a: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47258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B6E9-8D02-4E1E-98FA-3D81576C2A4B}"/>
              </a:ext>
            </a:extLst>
          </p:cNvPr>
          <p:cNvSpPr>
            <a:spLocks noGrp="1"/>
          </p:cNvSpPr>
          <p:nvPr>
            <p:ph type="title"/>
          </p:nvPr>
        </p:nvSpPr>
        <p:spPr/>
        <p:txBody>
          <a:bodyPr/>
          <a:lstStyle/>
          <a:p>
            <a:r>
              <a:rPr lang="en-US" dirty="0"/>
              <a:t>Interactive Hello World</a:t>
            </a:r>
          </a:p>
        </p:txBody>
      </p:sp>
      <p:sp>
        <p:nvSpPr>
          <p:cNvPr id="3" name="Content Placeholder 2">
            <a:extLst>
              <a:ext uri="{FF2B5EF4-FFF2-40B4-BE49-F238E27FC236}">
                <a16:creationId xmlns:a16="http://schemas.microsoft.com/office/drawing/2014/main" id="{5A9EFB87-C055-46FA-A533-A965E8CCB9DB}"/>
              </a:ext>
            </a:extLst>
          </p:cNvPr>
          <p:cNvSpPr>
            <a:spLocks noGrp="1"/>
          </p:cNvSpPr>
          <p:nvPr>
            <p:ph idx="1"/>
          </p:nvPr>
        </p:nvSpPr>
        <p:spPr>
          <a:xfrm>
            <a:off x="1218883" y="1701796"/>
            <a:ext cx="10360501" cy="4679531"/>
          </a:xfrm>
        </p:spPr>
        <p:txBody>
          <a:bodyPr>
            <a:normAutofit/>
          </a:bodyPr>
          <a:lstStyle/>
          <a:p>
            <a:pPr marL="0" indent="0">
              <a:buNone/>
            </a:pPr>
            <a:r>
              <a:rPr lang="fi-FI" b="0" dirty="0">
                <a:solidFill>
                  <a:srgbClr val="7CA668"/>
                </a:solidFill>
                <a:effectLst/>
                <a:latin typeface="Consolas" panose="020B0609020204030204" pitchFamily="49" charset="0"/>
              </a:rPr>
              <a:t># Python 3 version</a:t>
            </a:r>
            <a:endParaRPr lang="fi-FI" b="0" dirty="0">
              <a:solidFill>
                <a:srgbClr val="FFFFFF"/>
              </a:solidFill>
              <a:effectLst/>
              <a:latin typeface="Consolas" panose="020B0609020204030204" pitchFamily="49" charset="0"/>
            </a:endParaRPr>
          </a:p>
          <a:p>
            <a:pPr marL="0" indent="0">
              <a:buNone/>
            </a:pPr>
            <a:r>
              <a:rPr lang="fi-FI" b="0" dirty="0" err="1">
                <a:solidFill>
                  <a:srgbClr val="FFFFFF"/>
                </a:solidFill>
                <a:effectLst/>
                <a:latin typeface="Consolas" panose="020B0609020204030204" pitchFamily="49" charset="0"/>
              </a:rPr>
              <a:t>name</a:t>
            </a:r>
            <a:r>
              <a:rPr lang="fi-FI" b="0" dirty="0">
                <a:solidFill>
                  <a:srgbClr val="FFFFFF"/>
                </a:solidFill>
                <a:effectLst/>
                <a:latin typeface="Consolas" panose="020B0609020204030204" pitchFamily="49" charset="0"/>
              </a:rPr>
              <a:t>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input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What</a:t>
            </a:r>
            <a:r>
              <a:rPr lang="fi-FI" b="0" dirty="0">
                <a:solidFill>
                  <a:srgbClr val="CE9178"/>
                </a:solidFill>
                <a:effectLst/>
                <a:latin typeface="Consolas" panose="020B0609020204030204" pitchFamily="49" charset="0"/>
              </a:rPr>
              <a:t> is </a:t>
            </a:r>
            <a:r>
              <a:rPr lang="fi-FI" b="0" dirty="0" err="1">
                <a:solidFill>
                  <a:srgbClr val="CE9178"/>
                </a:solidFill>
                <a:effectLst/>
                <a:latin typeface="Consolas" panose="020B0609020204030204" pitchFamily="49" charset="0"/>
              </a:rPr>
              <a:t>your</a:t>
            </a:r>
            <a:r>
              <a:rPr lang="fi-FI" b="0" dirty="0">
                <a:solidFill>
                  <a:srgbClr val="CE9178"/>
                </a:solidFill>
                <a:effectLst/>
                <a:latin typeface="Consolas" panose="020B0609020204030204" pitchFamily="49" charset="0"/>
              </a:rPr>
              <a:t> </a:t>
            </a:r>
            <a:r>
              <a:rPr lang="fi-FI" b="0" dirty="0" err="1">
                <a:solidFill>
                  <a:srgbClr val="CE9178"/>
                </a:solidFill>
                <a:effectLst/>
                <a:latin typeface="Consolas" panose="020B0609020204030204" pitchFamily="49" charset="0"/>
              </a:rPr>
              <a:t>name</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a:t>
            </a:r>
          </a:p>
          <a:p>
            <a:pPr marL="0" indent="0">
              <a:buNone/>
            </a:pP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Hello</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name</a:t>
            </a:r>
            <a:r>
              <a:rPr lang="fi-FI" b="0" dirty="0">
                <a:solidFill>
                  <a:srgbClr val="FFFFFF"/>
                </a:solidFill>
                <a:effectLst/>
                <a:latin typeface="Consolas" panose="020B0609020204030204" pitchFamily="49" charset="0"/>
              </a:rPr>
              <a:t>)</a:t>
            </a:r>
          </a:p>
          <a:p>
            <a:pPr marL="0" indent="0">
              <a:buNone/>
            </a:pPr>
            <a:br>
              <a:rPr lang="fi-FI" b="0" dirty="0">
                <a:solidFill>
                  <a:srgbClr val="7CA668"/>
                </a:solidFill>
                <a:effectLst/>
                <a:latin typeface="Consolas" panose="020B0609020204030204" pitchFamily="49" charset="0"/>
              </a:rPr>
            </a:br>
            <a:r>
              <a:rPr lang="fi-FI" b="0" dirty="0">
                <a:solidFill>
                  <a:srgbClr val="7CA668"/>
                </a:solidFill>
                <a:effectLst/>
                <a:latin typeface="Consolas" panose="020B0609020204030204" pitchFamily="49" charset="0"/>
              </a:rPr>
              <a:t>#!/usr/bin/python</a:t>
            </a:r>
            <a:br>
              <a:rPr lang="fi-FI" b="0" dirty="0">
                <a:solidFill>
                  <a:srgbClr val="7CA668"/>
                </a:solidFill>
                <a:effectLst/>
                <a:latin typeface="Consolas" panose="020B0609020204030204" pitchFamily="49" charset="0"/>
              </a:rPr>
            </a:br>
            <a:r>
              <a:rPr lang="fi-FI" b="0" dirty="0">
                <a:solidFill>
                  <a:srgbClr val="7CA668"/>
                </a:solidFill>
                <a:effectLst/>
                <a:latin typeface="Consolas" panose="020B0609020204030204" pitchFamily="49" charset="0"/>
              </a:rPr>
              <a:t># -*- </a:t>
            </a:r>
            <a:r>
              <a:rPr lang="fi-FI" b="0" dirty="0" err="1">
                <a:solidFill>
                  <a:srgbClr val="7CA668"/>
                </a:solidFill>
                <a:effectLst/>
                <a:latin typeface="Consolas" panose="020B0609020204030204" pitchFamily="49" charset="0"/>
              </a:rPr>
              <a:t>coding</a:t>
            </a:r>
            <a:r>
              <a:rPr lang="fi-FI" b="0" dirty="0">
                <a:solidFill>
                  <a:srgbClr val="7CA668"/>
                </a:solidFill>
                <a:effectLst/>
                <a:latin typeface="Consolas" panose="020B0609020204030204" pitchFamily="49" charset="0"/>
              </a:rPr>
              <a:t>: utf-8 -*-</a:t>
            </a:r>
            <a:br>
              <a:rPr lang="fi-FI" dirty="0">
                <a:solidFill>
                  <a:srgbClr val="FFFFFF"/>
                </a:solidFill>
                <a:latin typeface="Consolas" panose="020B0609020204030204" pitchFamily="49" charset="0"/>
              </a:rPr>
            </a:br>
            <a:r>
              <a:rPr lang="fi-FI" b="0" dirty="0">
                <a:solidFill>
                  <a:srgbClr val="7CA668"/>
                </a:solidFill>
                <a:effectLst/>
                <a:latin typeface="Consolas" panose="020B0609020204030204" pitchFamily="49" charset="0"/>
              </a:rPr>
              <a:t># Python 2 </a:t>
            </a:r>
            <a:r>
              <a:rPr lang="fi-FI" b="0" dirty="0" err="1">
                <a:solidFill>
                  <a:srgbClr val="7CA668"/>
                </a:solidFill>
                <a:effectLst/>
                <a:latin typeface="Consolas" panose="020B0609020204030204" pitchFamily="49" charset="0"/>
              </a:rPr>
              <a:t>generic</a:t>
            </a:r>
            <a:r>
              <a:rPr lang="fi-FI" b="0" dirty="0">
                <a:solidFill>
                  <a:srgbClr val="7CA668"/>
                </a:solidFill>
                <a:effectLst/>
                <a:latin typeface="Consolas" panose="020B0609020204030204" pitchFamily="49" charset="0"/>
              </a:rPr>
              <a:t> version</a:t>
            </a:r>
            <a:br>
              <a:rPr lang="fi-FI" dirty="0">
                <a:solidFill>
                  <a:srgbClr val="FFFFFF"/>
                </a:solidFill>
                <a:latin typeface="Consolas" panose="020B0609020204030204" pitchFamily="49" charset="0"/>
              </a:rPr>
            </a:br>
            <a:r>
              <a:rPr lang="fi-FI" b="0" dirty="0" err="1">
                <a:solidFill>
                  <a:srgbClr val="FFFFFF"/>
                </a:solidFill>
                <a:effectLst/>
                <a:latin typeface="Consolas" panose="020B0609020204030204" pitchFamily="49" charset="0"/>
              </a:rPr>
              <a:t>name</a:t>
            </a:r>
            <a:r>
              <a:rPr lang="fi-FI" b="0" dirty="0">
                <a:solidFill>
                  <a:srgbClr val="FFFFFF"/>
                </a:solidFill>
                <a:effectLst/>
                <a:latin typeface="Consolas" panose="020B0609020204030204" pitchFamily="49" charset="0"/>
              </a:rPr>
              <a:t>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9CDCFE"/>
                </a:solidFill>
                <a:effectLst/>
                <a:latin typeface="Consolas" panose="020B0609020204030204" pitchFamily="49" charset="0"/>
              </a:rPr>
              <a:t>raw_input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"Mikä sinun nimesi on?"</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"Hei "</a:t>
            </a:r>
            <a:r>
              <a:rPr lang="fi-FI" b="0" dirty="0">
                <a:solidFill>
                  <a:srgbClr val="D4D4D4"/>
                </a:solidFill>
                <a:effectLst/>
                <a:latin typeface="Consolas" panose="020B0609020204030204" pitchFamily="49" charset="0"/>
              </a:rPr>
              <a:t>+</a:t>
            </a:r>
            <a:r>
              <a:rPr lang="fi-FI" b="0" dirty="0" err="1">
                <a:solidFill>
                  <a:srgbClr val="FFFFFF"/>
                </a:solidFill>
                <a:effectLst/>
                <a:latin typeface="Consolas" panose="020B0609020204030204" pitchFamily="49" charset="0"/>
              </a:rPr>
              <a:t>name</a:t>
            </a:r>
            <a:endParaRPr lang="fi-FI"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53790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A1BE-572A-485E-AF97-AB5691EA2029}"/>
              </a:ext>
            </a:extLst>
          </p:cNvPr>
          <p:cNvSpPr>
            <a:spLocks noGrp="1"/>
          </p:cNvSpPr>
          <p:nvPr>
            <p:ph type="title"/>
          </p:nvPr>
        </p:nvSpPr>
        <p:spPr/>
        <p:txBody>
          <a:bodyPr/>
          <a:lstStyle/>
          <a:p>
            <a:r>
              <a:rPr lang="en-US" dirty="0"/>
              <a:t>Comments and Documentation Strings</a:t>
            </a:r>
          </a:p>
        </p:txBody>
      </p:sp>
      <p:sp>
        <p:nvSpPr>
          <p:cNvPr id="3" name="Content Placeholder 2">
            <a:extLst>
              <a:ext uri="{FF2B5EF4-FFF2-40B4-BE49-F238E27FC236}">
                <a16:creationId xmlns:a16="http://schemas.microsoft.com/office/drawing/2014/main" id="{3F8E8F8C-BDF5-4BF5-A78E-B5BEB696F955}"/>
              </a:ext>
            </a:extLst>
          </p:cNvPr>
          <p:cNvSpPr>
            <a:spLocks noGrp="1"/>
          </p:cNvSpPr>
          <p:nvPr>
            <p:ph idx="1"/>
          </p:nvPr>
        </p:nvSpPr>
        <p:spPr/>
        <p:txBody>
          <a:bodyPr>
            <a:normAutofit lnSpcReduction="10000"/>
          </a:bodyPr>
          <a:lstStyle/>
          <a:p>
            <a:pPr>
              <a:defRPr/>
            </a:pPr>
            <a:r>
              <a:rPr lang="en-US" dirty="0"/>
              <a:t># single line comment to the end of line</a:t>
            </a:r>
          </a:p>
          <a:p>
            <a:pPr>
              <a:defRPr/>
            </a:pPr>
            <a:r>
              <a:rPr lang="en-US" dirty="0"/>
              <a:t>modules (=files), classes and functions can have a documentation string, which is a just string at the beginning. It can be accessed name.__doc__</a:t>
            </a:r>
          </a:p>
          <a:p>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square</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x</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"""return x raised to power of two"""</a:t>
            </a:r>
            <a:br>
              <a:rPr lang="en-US" b="0" dirty="0">
                <a:solidFill>
                  <a:srgbClr val="CE9178"/>
                </a:solidFill>
                <a:effectLst/>
                <a:latin typeface="Consolas" panose="020B0609020204030204" pitchFamily="49" charset="0"/>
              </a:rPr>
            </a:br>
            <a:r>
              <a:rPr lang="en-US" b="0" dirty="0">
                <a:solidFill>
                  <a:srgbClr val="CE9178"/>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x</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x </a:t>
            </a:r>
            <a:endParaRPr lang="en-US" dirty="0"/>
          </a:p>
          <a:p>
            <a:r>
              <a:rPr lang="en-US" dirty="0"/>
              <a:t>You can mark encoding with a special comment (needed in Python2, which uses ASCII as default encoding!)</a:t>
            </a:r>
          </a:p>
          <a:p>
            <a:pPr marL="0" indent="0">
              <a:buNone/>
            </a:pPr>
            <a:r>
              <a:rPr lang="fi-FI" b="0" dirty="0">
                <a:solidFill>
                  <a:srgbClr val="7CA668"/>
                </a:solidFill>
                <a:effectLst/>
                <a:latin typeface="Consolas" panose="020B0609020204030204" pitchFamily="49" charset="0"/>
              </a:rPr>
              <a:t># -*- </a:t>
            </a:r>
            <a:r>
              <a:rPr lang="fi-FI" b="0" dirty="0" err="1">
                <a:solidFill>
                  <a:srgbClr val="7CA668"/>
                </a:solidFill>
                <a:effectLst/>
                <a:latin typeface="Consolas" panose="020B0609020204030204" pitchFamily="49" charset="0"/>
              </a:rPr>
              <a:t>coding</a:t>
            </a:r>
            <a:r>
              <a:rPr lang="fi-FI" b="0" dirty="0">
                <a:solidFill>
                  <a:srgbClr val="7CA668"/>
                </a:solidFill>
                <a:effectLst/>
                <a:latin typeface="Consolas" panose="020B0609020204030204" pitchFamily="49" charset="0"/>
              </a:rPr>
              <a:t>: utf-8 -*-</a:t>
            </a:r>
            <a:endParaRPr lang="fi-FI"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37359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36AB5-BC0E-4012-8B6D-90E310EDE393}"/>
              </a:ext>
            </a:extLst>
          </p:cNvPr>
          <p:cNvSpPr>
            <a:spLocks noGrp="1"/>
          </p:cNvSpPr>
          <p:nvPr>
            <p:ph type="title"/>
          </p:nvPr>
        </p:nvSpPr>
        <p:spPr/>
        <p:txBody>
          <a:bodyPr/>
          <a:lstStyle/>
          <a:p>
            <a:r>
              <a:rPr lang="en-US" dirty="0"/>
              <a:t>Block Are Expressed as Indentation</a:t>
            </a:r>
          </a:p>
        </p:txBody>
      </p:sp>
      <p:sp>
        <p:nvSpPr>
          <p:cNvPr id="3" name="Content Placeholder 2">
            <a:extLst>
              <a:ext uri="{FF2B5EF4-FFF2-40B4-BE49-F238E27FC236}">
                <a16:creationId xmlns:a16="http://schemas.microsoft.com/office/drawing/2014/main" id="{8BB70C23-D17E-415E-AE87-8E850969D562}"/>
              </a:ext>
            </a:extLst>
          </p:cNvPr>
          <p:cNvSpPr>
            <a:spLocks noGrp="1"/>
          </p:cNvSpPr>
          <p:nvPr>
            <p:ph idx="1"/>
          </p:nvPr>
        </p:nvSpPr>
        <p:spPr/>
        <p:txBody>
          <a:bodyPr/>
          <a:lstStyle/>
          <a:p>
            <a:r>
              <a:rPr lang="en-US" dirty="0"/>
              <a:t>C/C++/C#/Java/JavaScript use braces to designate start and end of block. Indentation is optional.</a:t>
            </a:r>
          </a:p>
          <a:p>
            <a:r>
              <a:rPr lang="en-US" dirty="0"/>
              <a:t>In Python indentation is compulsory. You should use standard indentation of 4 spaces, but any amount will work.</a:t>
            </a:r>
          </a:p>
          <a:p>
            <a:r>
              <a:rPr lang="en-US" dirty="0"/>
              <a:t>Use </a:t>
            </a:r>
            <a:r>
              <a:rPr lang="en-US" dirty="0">
                <a:hlinkClick r:id="rId2"/>
              </a:rPr>
              <a:t>PEP8</a:t>
            </a:r>
            <a:r>
              <a:rPr lang="en-US" dirty="0"/>
              <a:t> as style guide</a:t>
            </a:r>
          </a:p>
          <a:p>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range</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11</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inside the loop</a:t>
            </a:r>
            <a:br>
              <a:rPr lang="en-US" dirty="0">
                <a:solidFill>
                  <a:srgbClr val="FFFFFF"/>
                </a:solidFill>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"end"</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outside the loop</a:t>
            </a: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837273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FEE488A-7A7A-4ECF-A41F-C98408D898C7}"/>
              </a:ext>
            </a:extLst>
          </p:cNvPr>
          <p:cNvSpPr>
            <a:spLocks noGrp="1"/>
          </p:cNvSpPr>
          <p:nvPr>
            <p:ph type="title"/>
          </p:nvPr>
        </p:nvSpPr>
        <p:spPr/>
        <p:txBody>
          <a:bodyPr/>
          <a:lstStyle/>
          <a:p>
            <a:r>
              <a:rPr lang="en-US" dirty="0"/>
              <a:t>If statement</a:t>
            </a:r>
          </a:p>
        </p:txBody>
      </p:sp>
      <p:sp>
        <p:nvSpPr>
          <p:cNvPr id="8" name="Content Placeholder 7">
            <a:extLst>
              <a:ext uri="{FF2B5EF4-FFF2-40B4-BE49-F238E27FC236}">
                <a16:creationId xmlns:a16="http://schemas.microsoft.com/office/drawing/2014/main" id="{5B2299D6-350D-4CC7-AA2C-0340F535EC2A}"/>
              </a:ext>
            </a:extLst>
          </p:cNvPr>
          <p:cNvSpPr>
            <a:spLocks noGrp="1"/>
          </p:cNvSpPr>
          <p:nvPr>
            <p:ph idx="1"/>
          </p:nvPr>
        </p:nvSpPr>
        <p:spPr/>
        <p:txBody>
          <a:bodyPr>
            <a:normAutofit fontScale="85000" lnSpcReduction="20000"/>
          </a:bodyPr>
          <a:lstStyle/>
          <a:p>
            <a:pPr>
              <a:buNone/>
              <a:defRPr/>
            </a:pPr>
            <a:r>
              <a:rPr lang="en-US" dirty="0"/>
              <a:t>Syntax:</a:t>
            </a:r>
          </a:p>
          <a:p>
            <a:pPr marL="0" indent="0">
              <a:buNone/>
            </a:pP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condition:</a:t>
            </a:r>
          </a:p>
          <a:p>
            <a:pPr marL="0" indent="0">
              <a:buNone/>
            </a:pPr>
            <a:r>
              <a:rPr lang="en-US" b="0" dirty="0">
                <a:solidFill>
                  <a:srgbClr val="FFFFFF"/>
                </a:solidFill>
                <a:effectLst/>
                <a:latin typeface="Consolas" panose="020B0609020204030204" pitchFamily="49" charset="0"/>
              </a:rPr>
              <a:t>    </a:t>
            </a:r>
            <a:r>
              <a:rPr lang="en-US" dirty="0">
                <a:solidFill>
                  <a:srgbClr val="DCDCAA"/>
                </a:solidFill>
                <a:latin typeface="Consolas" panose="020B0609020204030204" pitchFamily="49" charset="0"/>
              </a:rPr>
              <a:t># executed if condition is true, end of if-else</a:t>
            </a:r>
            <a:endParaRPr lang="en-US" b="0" dirty="0">
              <a:solidFill>
                <a:srgbClr val="FFFFFF"/>
              </a:solidFill>
              <a:effectLst/>
              <a:latin typeface="Consolas" panose="020B0609020204030204" pitchFamily="49" charset="0"/>
            </a:endParaRPr>
          </a:p>
          <a:p>
            <a:pPr marL="0" indent="0">
              <a:buNone/>
            </a:pPr>
            <a:r>
              <a:rPr lang="en-US" b="0" dirty="0" err="1">
                <a:solidFill>
                  <a:srgbClr val="C586C0"/>
                </a:solidFill>
                <a:effectLst/>
                <a:latin typeface="Consolas" panose="020B0609020204030204" pitchFamily="49" charset="0"/>
              </a:rPr>
              <a:t>elif</a:t>
            </a:r>
            <a:r>
              <a:rPr lang="en-US" b="0" dirty="0">
                <a:solidFill>
                  <a:srgbClr val="FFFFFF"/>
                </a:solidFill>
                <a:effectLst/>
                <a:latin typeface="Consolas" panose="020B0609020204030204" pitchFamily="49" charset="0"/>
              </a:rPr>
              <a:t> condition:</a:t>
            </a:r>
          </a:p>
          <a:p>
            <a:pPr marL="0" indent="0">
              <a:buNone/>
            </a:pPr>
            <a:r>
              <a:rPr lang="en-US" b="0" dirty="0">
                <a:solidFill>
                  <a:srgbClr val="FFFFFF"/>
                </a:solidFill>
                <a:effectLst/>
                <a:latin typeface="Consolas" panose="020B0609020204030204" pitchFamily="49" charset="0"/>
              </a:rPr>
              <a:t>  </a:t>
            </a:r>
            <a:r>
              <a:rPr lang="en-US" dirty="0">
                <a:solidFill>
                  <a:srgbClr val="DCDCAA"/>
                </a:solidFill>
                <a:latin typeface="Consolas" panose="020B0609020204030204" pitchFamily="49" charset="0"/>
              </a:rPr>
              <a:t>  # else if, executed if above not true and this is true</a:t>
            </a:r>
            <a:endParaRPr lang="en-US" b="0" dirty="0">
              <a:solidFill>
                <a:srgbClr val="FFFFFF"/>
              </a:solidFill>
              <a:effectLst/>
              <a:latin typeface="Consolas" panose="020B0609020204030204" pitchFamily="49" charset="0"/>
            </a:endParaRPr>
          </a:p>
          <a:p>
            <a:pPr marL="0" indent="0">
              <a:buNone/>
            </a:pP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 executed if all above is false</a:t>
            </a:r>
            <a:endParaRPr lang="en-US" b="0" dirty="0">
              <a:solidFill>
                <a:srgbClr val="FFFFFF"/>
              </a:solidFill>
              <a:effectLst/>
              <a:latin typeface="Consolas" panose="020B0609020204030204" pitchFamily="49" charset="0"/>
            </a:endParaRPr>
          </a:p>
          <a:p>
            <a:pPr marL="0" indent="0">
              <a:buNone/>
            </a:pPr>
            <a:br>
              <a:rPr lang="en-US" b="0" dirty="0">
                <a:solidFill>
                  <a:srgbClr val="C586C0"/>
                </a:solidFill>
                <a:effectLst/>
                <a:latin typeface="Consolas" panose="020B0609020204030204" pitchFamily="49" charset="0"/>
              </a:rPr>
            </a:br>
            <a:r>
              <a:rPr lang="en-US" b="0" dirty="0">
                <a:solidFill>
                  <a:srgbClr val="C586C0"/>
                </a:solidFill>
                <a:effectLst/>
                <a:latin typeface="Consolas" panose="020B0609020204030204" pitchFamily="49" charset="0"/>
              </a:rPr>
              <a:t># Notice:</a:t>
            </a:r>
            <a:br>
              <a:rPr lang="en-US" b="0" dirty="0">
                <a:solidFill>
                  <a:srgbClr val="C586C0"/>
                </a:solidFill>
                <a:effectLst/>
                <a:latin typeface="Consolas" panose="020B0609020204030204" pitchFamily="49" charset="0"/>
              </a:rPr>
            </a:b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&lt;=</a:t>
            </a:r>
            <a:r>
              <a:rPr lang="en-US" b="0" dirty="0">
                <a:solidFill>
                  <a:srgbClr val="FFFFFF"/>
                </a:solidFill>
                <a:effectLst/>
                <a:latin typeface="Consolas" panose="020B0609020204030204" pitchFamily="49" charset="0"/>
              </a:rPr>
              <a:t> age </a:t>
            </a:r>
            <a:r>
              <a:rPr lang="en-US" b="0" dirty="0">
                <a:solidFill>
                  <a:srgbClr val="D4D4D4"/>
                </a:solidFill>
                <a:effectLst/>
                <a:latin typeface="Consolas" panose="020B0609020204030204" pitchFamily="49" charset="0"/>
              </a:rPr>
              <a:t>&lt;=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"Your age is between 1-10"</a:t>
            </a:r>
            <a:r>
              <a:rPr lang="en-US" b="0" dirty="0">
                <a:solidFill>
                  <a:srgbClr val="FFFFFF"/>
                </a:solidFill>
                <a:effectLst/>
                <a:latin typeface="Consolas" panose="020B0609020204030204" pitchFamily="49" charset="0"/>
              </a:rPr>
              <a:t>)</a:t>
            </a:r>
          </a:p>
          <a:p>
            <a:endParaRPr lang="en-US" dirty="0"/>
          </a:p>
        </p:txBody>
      </p:sp>
    </p:spTree>
    <p:extLst>
      <p:ext uri="{BB962C8B-B14F-4D97-AF65-F5344CB8AC3E}">
        <p14:creationId xmlns:p14="http://schemas.microsoft.com/office/powerpoint/2010/main" val="9347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E8E7-8AC4-42F1-96FC-7DD309F6DBA8}"/>
              </a:ext>
            </a:extLst>
          </p:cNvPr>
          <p:cNvSpPr>
            <a:spLocks noGrp="1"/>
          </p:cNvSpPr>
          <p:nvPr>
            <p:ph type="title"/>
          </p:nvPr>
        </p:nvSpPr>
        <p:spPr/>
        <p:txBody>
          <a:bodyPr/>
          <a:lstStyle/>
          <a:p>
            <a:r>
              <a:rPr lang="en-US" dirty="0"/>
              <a:t>If example</a:t>
            </a:r>
          </a:p>
        </p:txBody>
      </p:sp>
      <p:sp>
        <p:nvSpPr>
          <p:cNvPr id="3" name="Content Placeholder 2">
            <a:extLst>
              <a:ext uri="{FF2B5EF4-FFF2-40B4-BE49-F238E27FC236}">
                <a16:creationId xmlns:a16="http://schemas.microsoft.com/office/drawing/2014/main" id="{987B63F0-372A-4639-A9FD-6227BACE950F}"/>
              </a:ext>
            </a:extLst>
          </p:cNvPr>
          <p:cNvSpPr>
            <a:spLocks noGrp="1"/>
          </p:cNvSpPr>
          <p:nvPr>
            <p:ph idx="1"/>
          </p:nvPr>
        </p:nvSpPr>
        <p:spPr>
          <a:xfrm>
            <a:off x="1218883" y="1701796"/>
            <a:ext cx="10360501" cy="4823547"/>
          </a:xfrm>
        </p:spPr>
        <p:txBody>
          <a:bodyPr>
            <a:normAutofit fontScale="55000" lnSpcReduction="20000"/>
          </a:bodyPr>
          <a:lstStyle/>
          <a:p>
            <a:pPr marL="0" indent="0">
              <a:buNone/>
            </a:pPr>
            <a:r>
              <a:rPr lang="en-US" b="0" dirty="0">
                <a:solidFill>
                  <a:srgbClr val="FFFFFF"/>
                </a:solidFill>
                <a:effectLst/>
                <a:latin typeface="Consolas" panose="020B0609020204030204" pitchFamily="49" charset="0"/>
              </a:rPr>
              <a:t>age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float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"Age?"</a:t>
            </a:r>
            <a:r>
              <a:rPr lang="en-US" b="0" dirty="0">
                <a:solidFill>
                  <a:srgbClr val="FFFFFF"/>
                </a:solidFill>
                <a:effectLst/>
                <a:latin typeface="Consolas" panose="020B0609020204030204" pitchFamily="49" charset="0"/>
              </a:rPr>
              <a:t>))</a:t>
            </a:r>
          </a:p>
          <a:p>
            <a:pPr marL="0" indent="0">
              <a:buNone/>
            </a:pP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age </a:t>
            </a:r>
            <a:r>
              <a:rPr lang="en-US" b="0" dirty="0">
                <a:solidFill>
                  <a:srgbClr val="D4D4D4"/>
                </a:solidFill>
                <a:effectLst/>
                <a:latin typeface="Consolas" panose="020B0609020204030204" pitchFamily="49" charset="0"/>
              </a:rPr>
              <a:t>&lt;=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"Nobody can be so young."</a:t>
            </a:r>
            <a:r>
              <a:rPr lang="en-US" b="0" dirty="0">
                <a:solidFill>
                  <a:srgbClr val="FFFFFF"/>
                </a:solidFill>
                <a:effectLst/>
                <a:latin typeface="Consolas" panose="020B0609020204030204" pitchFamily="49" charset="0"/>
              </a:rPr>
              <a:t>)</a:t>
            </a:r>
          </a:p>
          <a:p>
            <a:pPr marL="0" indent="0">
              <a:buNone/>
            </a:pPr>
            <a:r>
              <a:rPr lang="en-US" b="0" dirty="0" err="1">
                <a:solidFill>
                  <a:srgbClr val="C586C0"/>
                </a:solidFill>
                <a:effectLst/>
                <a:latin typeface="Consolas" panose="020B0609020204030204" pitchFamily="49" charset="0"/>
              </a:rPr>
              <a:t>elif</a:t>
            </a:r>
            <a:r>
              <a:rPr lang="en-US" b="0" dirty="0">
                <a:solidFill>
                  <a:srgbClr val="FFFFFF"/>
                </a:solidFill>
                <a:effectLst/>
                <a:latin typeface="Consolas" panose="020B0609020204030204" pitchFamily="49" charset="0"/>
              </a:rPr>
              <a:t> age </a:t>
            </a:r>
            <a:r>
              <a:rPr lang="en-US" b="0" dirty="0">
                <a:solidFill>
                  <a:srgbClr val="D4D4D4"/>
                </a:solidFill>
                <a:effectLst/>
                <a:latin typeface="Consolas" panose="020B0609020204030204" pitchFamily="49" charset="0"/>
              </a:rPr>
              <a:t>&lt;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"You are still young."</a:t>
            </a:r>
            <a:r>
              <a:rPr lang="en-US" b="0" dirty="0">
                <a:solidFill>
                  <a:srgbClr val="FFFFFF"/>
                </a:solidFill>
                <a:effectLst/>
                <a:latin typeface="Consolas" panose="020B0609020204030204" pitchFamily="49" charset="0"/>
              </a:rPr>
              <a:t>)</a:t>
            </a:r>
          </a:p>
          <a:p>
            <a:pPr marL="0" indent="0">
              <a:buNone/>
            </a:pP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"You old fart!"</a:t>
            </a:r>
            <a:r>
              <a:rPr lang="en-US" b="0" dirty="0">
                <a:solidFill>
                  <a:srgbClr val="FFFFFF"/>
                </a:solidFill>
                <a:effectLst/>
                <a:latin typeface="Consolas" panose="020B0609020204030204" pitchFamily="49" charset="0"/>
              </a:rPr>
              <a:t>)</a:t>
            </a:r>
          </a:p>
          <a:p>
            <a:pPr marL="0" indent="0">
              <a:buNone/>
            </a:pPr>
            <a:r>
              <a:rPr lang="en-US" b="0" dirty="0">
                <a:solidFill>
                  <a:srgbClr val="7CA668"/>
                </a:solidFill>
                <a:effectLst/>
                <a:latin typeface="Consolas" panose="020B0609020204030204" pitchFamily="49" charset="0"/>
              </a:rPr>
              <a:t># common mistakes:</a:t>
            </a:r>
            <a:endParaRPr lang="en-US" b="0" dirty="0">
              <a:solidFill>
                <a:srgbClr val="FFFFFF"/>
              </a:solidFill>
              <a:effectLst/>
              <a:latin typeface="Consolas" panose="020B0609020204030204" pitchFamily="49" charset="0"/>
            </a:endParaRPr>
          </a:p>
          <a:p>
            <a:pPr marL="0" indent="0">
              <a:buNone/>
            </a:pPr>
            <a:r>
              <a:rPr lang="en-US" b="0" dirty="0">
                <a:solidFill>
                  <a:srgbClr val="7CA668"/>
                </a:solidFill>
                <a:effectLst/>
                <a:latin typeface="Consolas" panose="020B0609020204030204" pitchFamily="49" charset="0"/>
              </a:rPr>
              <a:t># 1. forgetting colon : at the end</a:t>
            </a:r>
            <a:endParaRPr lang="en-US" b="0" dirty="0">
              <a:solidFill>
                <a:srgbClr val="FFFFFF"/>
              </a:solidFill>
              <a:effectLst/>
              <a:latin typeface="Consolas" panose="020B0609020204030204" pitchFamily="49" charset="0"/>
            </a:endParaRPr>
          </a:p>
          <a:p>
            <a:pPr marL="0" indent="0">
              <a:buNone/>
            </a:pPr>
            <a:r>
              <a:rPr lang="en-US" b="0" dirty="0">
                <a:solidFill>
                  <a:srgbClr val="7CA668"/>
                </a:solidFill>
                <a:effectLst/>
                <a:latin typeface="Consolas" panose="020B0609020204030204" pitchFamily="49" charset="0"/>
              </a:rPr>
              <a:t># 2. wrong indentation</a:t>
            </a:r>
          </a:p>
          <a:p>
            <a:pPr marL="0" indent="0">
              <a:buNone/>
            </a:pPr>
            <a:r>
              <a:rPr lang="en-US" b="0" dirty="0">
                <a:solidFill>
                  <a:srgbClr val="7CA668"/>
                </a:solidFill>
                <a:effectLst/>
                <a:latin typeface="Consolas" panose="020B0609020204030204" pitchFamily="49" charset="0"/>
              </a:rPr>
              <a:t># 3. trying to use = for comparison, use == instead</a:t>
            </a:r>
          </a:p>
          <a:p>
            <a:pPr marL="0" indent="0">
              <a:buNone/>
            </a:pPr>
            <a:r>
              <a:rPr lang="en-US" dirty="0">
                <a:solidFill>
                  <a:srgbClr val="7CA668"/>
                </a:solidFill>
                <a:latin typeface="Consolas" panose="020B0609020204030204" pitchFamily="49" charset="0"/>
              </a:rPr>
              <a:t># e.g. if a=3: fails, but if a == 3: works</a:t>
            </a:r>
            <a:br>
              <a:rPr lang="en-US" b="0" dirty="0">
                <a:solidFill>
                  <a:srgbClr val="7CA668"/>
                </a:solidFill>
                <a:effectLst/>
                <a:latin typeface="Consolas" panose="020B0609020204030204" pitchFamily="49" charset="0"/>
              </a:rPr>
            </a:b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060201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DABFA8A-8352-4146-B4CE-006EBF91FA6F}"/>
              </a:ext>
            </a:extLst>
          </p:cNvPr>
          <p:cNvSpPr>
            <a:spLocks noGrp="1"/>
          </p:cNvSpPr>
          <p:nvPr>
            <p:ph type="title"/>
          </p:nvPr>
        </p:nvSpPr>
        <p:spPr/>
        <p:txBody>
          <a:bodyPr/>
          <a:lstStyle/>
          <a:p>
            <a:r>
              <a:rPr lang="en-FI" dirty="0"/>
              <a:t>Ternary Operator aka inline if-else</a:t>
            </a:r>
          </a:p>
        </p:txBody>
      </p:sp>
      <p:sp>
        <p:nvSpPr>
          <p:cNvPr id="3" name="Sisällön paikkamerkki 2">
            <a:extLst>
              <a:ext uri="{FF2B5EF4-FFF2-40B4-BE49-F238E27FC236}">
                <a16:creationId xmlns:a16="http://schemas.microsoft.com/office/drawing/2014/main" id="{CAB191D3-DA3B-45ED-B54D-A711ED7A3C73}"/>
              </a:ext>
            </a:extLst>
          </p:cNvPr>
          <p:cNvSpPr>
            <a:spLocks noGrp="1"/>
          </p:cNvSpPr>
          <p:nvPr>
            <p:ph idx="1"/>
          </p:nvPr>
        </p:nvSpPr>
        <p:spPr>
          <a:xfrm>
            <a:off x="1218883" y="1701796"/>
            <a:ext cx="10360501" cy="4823547"/>
          </a:xfrm>
        </p:spPr>
        <p:txBody>
          <a:bodyPr>
            <a:normAutofit fontScale="92500" lnSpcReduction="10000"/>
          </a:bodyPr>
          <a:lstStyle/>
          <a:p>
            <a:pPr marL="0" indent="0">
              <a:buNone/>
            </a:pPr>
            <a:r>
              <a:rPr lang="en-US" b="0" dirty="0">
                <a:solidFill>
                  <a:srgbClr val="FFFFFF"/>
                </a:solidFill>
                <a:effectLst/>
                <a:latin typeface="Consolas" panose="020B0609020204030204" pitchFamily="49" charset="0"/>
              </a:rPr>
              <a:t>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float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"Give me number?"</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7CA668"/>
                </a:solidFill>
                <a:effectLst/>
                <a:latin typeface="Consolas" panose="020B0609020204030204" pitchFamily="49" charset="0"/>
              </a:rPr>
              <a:t># ternary operator is nice for short ifs</a:t>
            </a:r>
            <a:br>
              <a:rPr lang="en-US" b="0" dirty="0">
                <a:solidFill>
                  <a:srgbClr val="7CA668"/>
                </a:solidFill>
                <a:effectLst/>
                <a:latin typeface="Consolas" panose="020B0609020204030204" pitchFamily="49" charset="0"/>
              </a:rPr>
            </a:br>
            <a:r>
              <a:rPr lang="en-US" b="0" dirty="0" err="1">
                <a:solidFill>
                  <a:srgbClr val="FFFFFF"/>
                </a:solidFill>
                <a:effectLst/>
                <a:latin typeface="Consolas" panose="020B0609020204030204" pitchFamily="49" charset="0"/>
              </a:rPr>
              <a:t>abs_x</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x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&gt;=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x</a:t>
            </a:r>
            <a:br>
              <a:rPr lang="en-US" b="0" dirty="0">
                <a:solidFill>
                  <a:srgbClr val="FFFFFF"/>
                </a:solidFill>
                <a:effectLst/>
                <a:latin typeface="Consolas" panose="020B0609020204030204" pitchFamily="49" charset="0"/>
              </a:rPr>
            </a:br>
            <a:r>
              <a:rPr lang="en-US" b="0" dirty="0">
                <a:solidFill>
                  <a:srgbClr val="7CA668"/>
                </a:solidFill>
                <a:effectLst/>
                <a:latin typeface="Consolas" panose="020B0609020204030204" pitchFamily="49" charset="0"/>
              </a:rPr>
              <a:t># same as:</a:t>
            </a:r>
            <a:br>
              <a:rPr lang="en-US" b="0" dirty="0">
                <a:solidFill>
                  <a:srgbClr val="7CA668"/>
                </a:solidFill>
                <a:effectLst/>
                <a:latin typeface="Consolas" panose="020B0609020204030204" pitchFamily="49" charset="0"/>
              </a:rPr>
            </a:b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&lt;=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abs_x</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x</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abs_x</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x</a:t>
            </a: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7CA668"/>
                </a:solidFill>
                <a:effectLst/>
                <a:latin typeface="Consolas" panose="020B0609020204030204" pitchFamily="49" charset="0"/>
              </a:rPr>
              <a:t># can also be used in functions and lambdas</a:t>
            </a:r>
            <a:br>
              <a:rPr lang="en-US" b="0" dirty="0">
                <a:solidFill>
                  <a:srgbClr val="7CA668"/>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myabs</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x</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x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&gt;=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x</a:t>
            </a: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"Absolute value is"</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myabs</a:t>
            </a:r>
            <a:r>
              <a:rPr lang="en-US" b="0" dirty="0">
                <a:solidFill>
                  <a:srgbClr val="FFFFFF"/>
                </a:solidFill>
                <a:effectLst/>
                <a:latin typeface="Consolas" panose="020B0609020204030204" pitchFamily="49" charset="0"/>
              </a:rPr>
              <a:t>(x))</a:t>
            </a:r>
          </a:p>
        </p:txBody>
      </p:sp>
    </p:spTree>
    <p:extLst>
      <p:ext uri="{BB962C8B-B14F-4D97-AF65-F5344CB8AC3E}">
        <p14:creationId xmlns:p14="http://schemas.microsoft.com/office/powerpoint/2010/main" val="847965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5B1CD-DE01-472A-8CE2-D156B77739D3}"/>
              </a:ext>
            </a:extLst>
          </p:cNvPr>
          <p:cNvSpPr>
            <a:spLocks noGrp="1"/>
          </p:cNvSpPr>
          <p:nvPr>
            <p:ph type="title"/>
          </p:nvPr>
        </p:nvSpPr>
        <p:spPr/>
        <p:txBody>
          <a:bodyPr/>
          <a:lstStyle/>
          <a:p>
            <a:r>
              <a:rPr lang="en-US" dirty="0"/>
              <a:t>Writing Long and Complex If Clauses</a:t>
            </a:r>
          </a:p>
        </p:txBody>
      </p:sp>
      <p:sp>
        <p:nvSpPr>
          <p:cNvPr id="3" name="Content Placeholder 2">
            <a:extLst>
              <a:ext uri="{FF2B5EF4-FFF2-40B4-BE49-F238E27FC236}">
                <a16:creationId xmlns:a16="http://schemas.microsoft.com/office/drawing/2014/main" id="{C41F3F66-E17C-41C7-BA7F-28203399CFEA}"/>
              </a:ext>
            </a:extLst>
          </p:cNvPr>
          <p:cNvSpPr>
            <a:spLocks noGrp="1"/>
          </p:cNvSpPr>
          <p:nvPr>
            <p:ph idx="1"/>
          </p:nvPr>
        </p:nvSpPr>
        <p:spPr>
          <a:xfrm>
            <a:off x="1218883" y="1701797"/>
            <a:ext cx="10564161" cy="4462272"/>
          </a:xfrm>
        </p:spPr>
        <p:txBody>
          <a:bodyPr>
            <a:normAutofit lnSpcReduction="10000"/>
          </a:bodyPr>
          <a:lstStyle/>
          <a:p>
            <a:pPr marL="0" indent="0">
              <a:buNone/>
            </a:pP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isinstance</a:t>
            </a:r>
            <a:r>
              <a:rPr lang="en-US" b="0" dirty="0">
                <a:solidFill>
                  <a:srgbClr val="FFFFFF"/>
                </a:solidFill>
                <a:effectLst/>
                <a:latin typeface="Consolas" panose="020B0609020204030204" pitchFamily="49" charset="0"/>
              </a:rPr>
              <a:t>(s, </a:t>
            </a:r>
            <a:r>
              <a:rPr lang="en-US" b="0" dirty="0">
                <a:solidFill>
                  <a:srgbClr val="4EC9B0"/>
                </a:solidFill>
                <a:effectLst/>
                <a:latin typeface="Consolas" panose="020B0609020204030204" pitchFamily="49" charset="0"/>
              </a:rPr>
              <a:t>str</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and</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(s)</a:t>
            </a:r>
            <a:r>
              <a:rPr lang="en-US" b="0" dirty="0">
                <a:solidFill>
                  <a:srgbClr val="D4D4D4"/>
                </a:solidFill>
                <a:effectLst/>
                <a:latin typeface="Consolas" panose="020B0609020204030204" pitchFamily="49" charset="0"/>
              </a:rPr>
              <a:t>&gt;</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and</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not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 "</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FFFFFF"/>
                </a:solidFill>
                <a:effectLst/>
                <a:latin typeface="Consolas" panose="020B0609020204030204" pitchFamily="49" charset="0"/>
              </a:rPr>
              <a:t> s:</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verifying that s is a strong of not empty</a:t>
            </a:r>
            <a:br>
              <a:rPr lang="en-US" dirty="0">
                <a:solidFill>
                  <a:srgbClr val="FFFFFF"/>
                </a:solidFill>
                <a:latin typeface="Consolas" panose="020B0609020204030204" pitchFamily="49" charset="0"/>
              </a:rPr>
            </a:br>
            <a:r>
              <a:rPr lang="en-US" dirty="0">
                <a:solidFill>
                  <a:srgbClr val="FFFFFF"/>
                </a:solidFill>
                <a:latin typeface="Consolas" panose="020B0609020204030204" pitchFamily="49" charset="0"/>
              </a:rPr>
              <a:t>    </a:t>
            </a:r>
            <a:r>
              <a:rPr lang="en-US" b="0" dirty="0">
                <a:solidFill>
                  <a:srgbClr val="7CA668"/>
                </a:solidFill>
                <a:effectLst/>
                <a:latin typeface="Consolas" panose="020B0609020204030204" pitchFamily="49" charset="0"/>
              </a:rPr>
              <a:t># value and that it doesn't contain any space   </a:t>
            </a:r>
            <a:br>
              <a:rPr lang="en-US" b="0" dirty="0">
                <a:solidFill>
                  <a:srgbClr val="7CA668"/>
                </a:solidFill>
                <a:effectLst/>
                <a:latin typeface="Consolas" panose="020B0609020204030204" pitchFamily="49" charset="0"/>
              </a:rPr>
            </a:br>
            <a:br>
              <a:rPr lang="en-US" b="0" dirty="0">
                <a:solidFill>
                  <a:srgbClr val="7CA668"/>
                </a:solidFill>
                <a:effectLst/>
                <a:latin typeface="Consolas" panose="020B0609020204030204" pitchFamily="49" charset="0"/>
              </a:rPr>
            </a:br>
            <a:r>
              <a:rPr lang="en-US" b="0" dirty="0">
                <a:solidFill>
                  <a:srgbClr val="7CA668"/>
                </a:solidFill>
                <a:effectLst/>
                <a:latin typeface="Consolas" panose="020B0609020204030204" pitchFamily="49" charset="0"/>
              </a:rPr>
              <a:t># consider making a function</a:t>
            </a:r>
            <a:endParaRPr lang="en-US" b="0" dirty="0">
              <a:solidFill>
                <a:srgbClr val="FFFFFF"/>
              </a:solidFill>
              <a:effectLst/>
              <a:latin typeface="Consolas" panose="020B0609020204030204" pitchFamily="49" charset="0"/>
            </a:endParaRPr>
          </a:p>
          <a:p>
            <a:pPr marL="0" indent="0">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valid_string</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isinstance</a:t>
            </a:r>
            <a:r>
              <a:rPr lang="en-US" b="0" dirty="0">
                <a:solidFill>
                  <a:srgbClr val="FFFFFF"/>
                </a:solidFill>
                <a:effectLst/>
                <a:latin typeface="Consolas" panose="020B0609020204030204" pitchFamily="49" charset="0"/>
              </a:rPr>
              <a:t>(s, </a:t>
            </a:r>
            <a:r>
              <a:rPr lang="en-US" b="0" dirty="0">
                <a:solidFill>
                  <a:srgbClr val="4EC9B0"/>
                </a:solidFill>
                <a:effectLst/>
                <a:latin typeface="Consolas" panose="020B0609020204030204" pitchFamily="49" charset="0"/>
              </a:rPr>
              <a:t>str</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and</a:t>
            </a:r>
            <a:r>
              <a:rPr lang="en-US" b="0" dirty="0">
                <a:solidFill>
                  <a:srgbClr val="FFFFFF"/>
                </a:solidFill>
                <a:effectLst/>
                <a:latin typeface="Consolas" panose="020B0609020204030204" pitchFamily="49" charset="0"/>
              </a:rPr>
              <a:t> \</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(s) </a:t>
            </a:r>
            <a:r>
              <a:rPr lang="en-US" b="0" dirty="0">
                <a:solidFill>
                  <a:srgbClr val="D4D4D4"/>
                </a:solidFill>
                <a:effectLst/>
                <a:latin typeface="Consolas" panose="020B0609020204030204" pitchFamily="49" charset="0"/>
              </a:rPr>
              <a:t>&gt;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and </a:t>
            </a:r>
            <a:r>
              <a:rPr lang="en-US" b="0" dirty="0">
                <a:solidFill>
                  <a:srgbClr val="569CD6"/>
                </a:solidFill>
                <a:effectLst/>
                <a:latin typeface="Consolas" panose="020B0609020204030204" pitchFamily="49" charset="0"/>
              </a:rPr>
              <a:t>not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 "</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FFFFFF"/>
                </a:solidFill>
                <a:effectLst/>
                <a:latin typeface="Consolas" panose="020B0609020204030204" pitchFamily="49" charset="0"/>
              </a:rPr>
              <a:t> s </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valid_string</a:t>
            </a:r>
            <a:r>
              <a:rPr lang="en-US" b="0" dirty="0">
                <a:solidFill>
                  <a:srgbClr val="FFFFFF"/>
                </a:solidFill>
                <a:effectLst/>
                <a:latin typeface="Consolas" panose="020B0609020204030204" pitchFamily="49" charset="0"/>
              </a:rPr>
              <a:t>(s):</a:t>
            </a: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7CA668"/>
                </a:solidFill>
                <a:effectLst/>
                <a:latin typeface="Consolas" panose="020B0609020204030204" pitchFamily="49" charset="0"/>
              </a:rPr>
              <a:t># the above is more readable and reusable</a:t>
            </a:r>
            <a:endParaRPr lang="en-US" b="0" dirty="0">
              <a:solidFill>
                <a:srgbClr val="FFFFFF"/>
              </a:solidFill>
              <a:effectLst/>
              <a:latin typeface="Consolas" panose="020B0609020204030204" pitchFamily="49" charset="0"/>
            </a:endParaRPr>
          </a:p>
          <a:p>
            <a:pPr marL="0" indent="0">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009029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5E595-3111-44ED-8EFA-2CD50E2A951F}"/>
              </a:ext>
            </a:extLst>
          </p:cNvPr>
          <p:cNvSpPr>
            <a:spLocks noGrp="1"/>
          </p:cNvSpPr>
          <p:nvPr>
            <p:ph type="title"/>
          </p:nvPr>
        </p:nvSpPr>
        <p:spPr/>
        <p:txBody>
          <a:bodyPr/>
          <a:lstStyle/>
          <a:p>
            <a:r>
              <a:rPr lang="en-US" dirty="0"/>
              <a:t>While loop statement</a:t>
            </a:r>
          </a:p>
        </p:txBody>
      </p:sp>
      <p:sp>
        <p:nvSpPr>
          <p:cNvPr id="3" name="Content Placeholder 2">
            <a:extLst>
              <a:ext uri="{FF2B5EF4-FFF2-40B4-BE49-F238E27FC236}">
                <a16:creationId xmlns:a16="http://schemas.microsoft.com/office/drawing/2014/main" id="{7BD9C792-282C-44B3-9989-D9B03C274575}"/>
              </a:ext>
            </a:extLst>
          </p:cNvPr>
          <p:cNvSpPr>
            <a:spLocks noGrp="1"/>
          </p:cNvSpPr>
          <p:nvPr>
            <p:ph idx="1"/>
          </p:nvPr>
        </p:nvSpPr>
        <p:spPr/>
        <p:txBody>
          <a:bodyPr>
            <a:normAutofit fontScale="77500" lnSpcReduction="20000"/>
          </a:bodyPr>
          <a:lstStyle/>
          <a:p>
            <a:pPr>
              <a:lnSpc>
                <a:spcPct val="120000"/>
              </a:lnSpc>
              <a:defRPr/>
            </a:pPr>
            <a:r>
              <a:rPr lang="en-US" dirty="0"/>
              <a:t>basic loop construct, same as C/Java/JavaScript except for optional else part, which is executed when loop ends (unless user breaks out of it with break)</a:t>
            </a:r>
          </a:p>
          <a:p>
            <a:pPr>
              <a:defRPr/>
            </a:pPr>
            <a:r>
              <a:rPr lang="en-US" dirty="0"/>
              <a:t>Syntax:</a:t>
            </a:r>
          </a:p>
          <a:p>
            <a:pPr marL="0" indent="0">
              <a:buNone/>
            </a:pPr>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a:t>
            </a:r>
            <a:r>
              <a:rPr lang="en-US" b="0" i="1" dirty="0">
                <a:solidFill>
                  <a:srgbClr val="FFFFFF"/>
                </a:solidFill>
                <a:effectLst/>
                <a:latin typeface="Consolas" panose="020B0609020204030204" pitchFamily="49" charset="0"/>
              </a:rPr>
              <a:t>condition</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i="1" dirty="0">
                <a:solidFill>
                  <a:srgbClr val="FFFFFF"/>
                </a:solidFill>
                <a:effectLst/>
                <a:latin typeface="Consolas" panose="020B0609020204030204" pitchFamily="49" charset="0"/>
              </a:rPr>
              <a:t>statement(s)</a:t>
            </a:r>
            <a:br>
              <a:rPr lang="en-US" b="0" i="1"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a:t>
            </a: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 statement(s)]</a:t>
            </a:r>
          </a:p>
          <a:p>
            <a:pPr marL="0" indent="0">
              <a:buNone/>
            </a:pPr>
            <a:r>
              <a:rPr lang="en-US" dirty="0">
                <a:solidFill>
                  <a:srgbClr val="FFFFFF"/>
                </a:solidFill>
                <a:latin typeface="Consolas" panose="020B0609020204030204" pitchFamily="49" charset="0"/>
              </a:rPr>
              <a:t># Common mistake is to forget to change value of number</a:t>
            </a:r>
            <a:endParaRPr lang="en-US" b="0" dirty="0">
              <a:solidFill>
                <a:srgbClr val="FFFFFF"/>
              </a:solidFill>
              <a:effectLst/>
              <a:latin typeface="Consolas" panose="020B0609020204030204" pitchFamily="49" charset="0"/>
            </a:endParaRPr>
          </a:p>
          <a:p>
            <a:pPr marL="0" indent="0">
              <a:buNone/>
            </a:pPr>
            <a:r>
              <a:rPr lang="en-US" b="0" dirty="0">
                <a:solidFill>
                  <a:srgbClr val="7CA668"/>
                </a:solidFill>
                <a:effectLst/>
                <a:latin typeface="Consolas" panose="020B0609020204030204" pitchFamily="49" charset="0"/>
              </a:rPr>
              <a:t># print numbers from 1...10</a:t>
            </a:r>
            <a:br>
              <a:rPr lang="en-US" b="0" dirty="0">
                <a:solidFill>
                  <a:srgbClr val="7CA668"/>
                </a:solidFill>
                <a:effectLst/>
                <a:latin typeface="Consolas" panose="020B0609020204030204" pitchFamily="49" charset="0"/>
              </a:rPr>
            </a:br>
            <a:r>
              <a:rPr lang="en-US" b="0" dirty="0">
                <a:solidFill>
                  <a:srgbClr val="FFFFFF"/>
                </a:solidFill>
                <a:effectLst/>
                <a:latin typeface="Consolas" panose="020B0609020204030204" pitchFamily="49" charset="0"/>
              </a:rPr>
              <a:t>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br>
              <a:rPr lang="en-US" b="0" dirty="0">
                <a:solidFill>
                  <a:srgbClr val="B5CEA8"/>
                </a:solidFill>
                <a:effectLst/>
                <a:latin typeface="Consolas" panose="020B0609020204030204" pitchFamily="49" charset="0"/>
              </a:rPr>
            </a:br>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&lt;=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(x)</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same as x = x+1</a:t>
            </a: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"end"</a:t>
            </a:r>
            <a:r>
              <a:rPr lang="en-US" b="0" dirty="0">
                <a:solidFill>
                  <a:srgbClr val="FFFFFF"/>
                </a:solidFill>
                <a:effectLst/>
                <a:latin typeface="Consolas" panose="020B0609020204030204" pitchFamily="49" charset="0"/>
              </a:rPr>
              <a:t>)</a:t>
            </a:r>
          </a:p>
          <a:p>
            <a:pPr marL="0" indent="0">
              <a:buNone/>
            </a:pPr>
            <a:endParaRPr lang="en-US" dirty="0"/>
          </a:p>
        </p:txBody>
      </p:sp>
    </p:spTree>
    <p:extLst>
      <p:ext uri="{BB962C8B-B14F-4D97-AF65-F5344CB8AC3E}">
        <p14:creationId xmlns:p14="http://schemas.microsoft.com/office/powerpoint/2010/main" val="2571734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3399-3B73-451E-AC09-C02835235450}"/>
              </a:ext>
            </a:extLst>
          </p:cNvPr>
          <p:cNvSpPr>
            <a:spLocks noGrp="1"/>
          </p:cNvSpPr>
          <p:nvPr>
            <p:ph type="title"/>
          </p:nvPr>
        </p:nvSpPr>
        <p:spPr/>
        <p:txBody>
          <a:bodyPr/>
          <a:lstStyle/>
          <a:p>
            <a:r>
              <a:rPr lang="en-US" dirty="0"/>
              <a:t>There is No Do While</a:t>
            </a:r>
          </a:p>
        </p:txBody>
      </p:sp>
      <p:sp>
        <p:nvSpPr>
          <p:cNvPr id="3" name="Content Placeholder 2">
            <a:extLst>
              <a:ext uri="{FF2B5EF4-FFF2-40B4-BE49-F238E27FC236}">
                <a16:creationId xmlns:a16="http://schemas.microsoft.com/office/drawing/2014/main" id="{C2FD9B84-6F76-4D1A-A7A4-67BEF417FB4C}"/>
              </a:ext>
            </a:extLst>
          </p:cNvPr>
          <p:cNvSpPr>
            <a:spLocks noGrp="1"/>
          </p:cNvSpPr>
          <p:nvPr>
            <p:ph idx="1"/>
          </p:nvPr>
        </p:nvSpPr>
        <p:spPr/>
        <p:txBody>
          <a:bodyPr>
            <a:normAutofit fontScale="92500" lnSpcReduction="20000"/>
          </a:bodyPr>
          <a:lstStyle/>
          <a:p>
            <a:pPr>
              <a:defRPr/>
            </a:pPr>
            <a:r>
              <a:rPr lang="en-US" dirty="0"/>
              <a:t>Use the following construct instead:</a:t>
            </a:r>
          </a:p>
          <a:p>
            <a:pPr>
              <a:buNone/>
              <a:defRPr/>
            </a:pPr>
            <a:r>
              <a:rPr lang="en-US" dirty="0">
                <a:latin typeface="Courier New" pitchFamily="49" charset="0"/>
              </a:rPr>
              <a:t>while True:</a:t>
            </a:r>
          </a:p>
          <a:p>
            <a:pPr>
              <a:buNone/>
              <a:defRPr/>
            </a:pPr>
            <a:r>
              <a:rPr lang="en-US" dirty="0">
                <a:latin typeface="Courier New" pitchFamily="49" charset="0"/>
              </a:rPr>
              <a:t>    </a:t>
            </a:r>
            <a:r>
              <a:rPr lang="en-US" i="1" dirty="0">
                <a:latin typeface="Courier New" pitchFamily="49" charset="0"/>
              </a:rPr>
              <a:t>statement(s)</a:t>
            </a:r>
            <a:endParaRPr lang="en-US" dirty="0">
              <a:latin typeface="Courier New" pitchFamily="49" charset="0"/>
            </a:endParaRPr>
          </a:p>
          <a:p>
            <a:pPr>
              <a:buNone/>
              <a:defRPr/>
            </a:pPr>
            <a:r>
              <a:rPr lang="en-US" dirty="0">
                <a:latin typeface="Courier New" pitchFamily="49" charset="0"/>
              </a:rPr>
              <a:t>    if not </a:t>
            </a:r>
            <a:r>
              <a:rPr lang="en-US" i="1" dirty="0">
                <a:latin typeface="Courier New" pitchFamily="49" charset="0"/>
              </a:rPr>
              <a:t>condition</a:t>
            </a:r>
            <a:r>
              <a:rPr lang="en-US" dirty="0">
                <a:latin typeface="Courier New" pitchFamily="49" charset="0"/>
              </a:rPr>
              <a:t>: break</a:t>
            </a:r>
          </a:p>
          <a:p>
            <a:pPr>
              <a:buNone/>
              <a:defRPr/>
            </a:pPr>
            <a:endParaRPr lang="en-US" dirty="0">
              <a:latin typeface="Courier New" pitchFamily="49" charset="0"/>
            </a:endParaRPr>
          </a:p>
          <a:p>
            <a:pPr>
              <a:defRPr/>
            </a:pPr>
            <a:r>
              <a:rPr lang="en-US" dirty="0"/>
              <a:t>Same as C/Java/JavaScript's:</a:t>
            </a:r>
          </a:p>
          <a:p>
            <a:pPr>
              <a:buNone/>
              <a:defRPr/>
            </a:pPr>
            <a:r>
              <a:rPr lang="en-US" dirty="0">
                <a:latin typeface="Courier New" pitchFamily="49" charset="0"/>
              </a:rPr>
              <a:t>do {</a:t>
            </a:r>
          </a:p>
          <a:p>
            <a:pPr>
              <a:buNone/>
              <a:defRPr/>
            </a:pPr>
            <a:r>
              <a:rPr lang="en-US" dirty="0">
                <a:latin typeface="Courier New" pitchFamily="49" charset="0"/>
              </a:rPr>
              <a:t>    </a:t>
            </a:r>
            <a:r>
              <a:rPr lang="en-US" i="1" dirty="0">
                <a:latin typeface="Courier New" pitchFamily="49" charset="0"/>
              </a:rPr>
              <a:t>statement(s)</a:t>
            </a:r>
            <a:r>
              <a:rPr lang="en-US" dirty="0">
                <a:latin typeface="Courier New" pitchFamily="49" charset="0"/>
              </a:rPr>
              <a:t>;</a:t>
            </a:r>
          </a:p>
          <a:p>
            <a:pPr>
              <a:buNone/>
              <a:defRPr/>
            </a:pPr>
            <a:r>
              <a:rPr lang="en-US" dirty="0">
                <a:latin typeface="Courier New" pitchFamily="49" charset="0"/>
              </a:rPr>
              <a:t>} while (</a:t>
            </a:r>
            <a:r>
              <a:rPr lang="en-US" i="1" dirty="0">
                <a:latin typeface="Courier New" pitchFamily="49" charset="0"/>
              </a:rPr>
              <a:t>condition</a:t>
            </a:r>
            <a:r>
              <a:rPr lang="en-US" dirty="0">
                <a:latin typeface="Courier New" pitchFamily="49" charset="0"/>
              </a:rPr>
              <a:t>);</a:t>
            </a:r>
          </a:p>
          <a:p>
            <a:endParaRPr lang="en-US" dirty="0"/>
          </a:p>
        </p:txBody>
      </p:sp>
    </p:spTree>
    <p:extLst>
      <p:ext uri="{BB962C8B-B14F-4D97-AF65-F5344CB8AC3E}">
        <p14:creationId xmlns:p14="http://schemas.microsoft.com/office/powerpoint/2010/main" val="366819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723941C-A60E-45A8-A7DB-FF57EC9CAFBC}"/>
              </a:ext>
            </a:extLst>
          </p:cNvPr>
          <p:cNvSpPr>
            <a:spLocks noGrp="1"/>
          </p:cNvSpPr>
          <p:nvPr>
            <p:ph type="title"/>
          </p:nvPr>
        </p:nvSpPr>
        <p:spPr/>
        <p:txBody>
          <a:bodyPr/>
          <a:lstStyle/>
          <a:p>
            <a:r>
              <a:rPr lang="en-US" dirty="0"/>
              <a:t>Do While Example</a:t>
            </a:r>
          </a:p>
        </p:txBody>
      </p:sp>
      <p:sp>
        <p:nvSpPr>
          <p:cNvPr id="3" name="Sisällön paikkamerkki 2">
            <a:extLst>
              <a:ext uri="{FF2B5EF4-FFF2-40B4-BE49-F238E27FC236}">
                <a16:creationId xmlns:a16="http://schemas.microsoft.com/office/drawing/2014/main" id="{C6E387FE-B6F6-4A68-B761-BD6F3A6572B0}"/>
              </a:ext>
            </a:extLst>
          </p:cNvPr>
          <p:cNvSpPr>
            <a:spLocks noGrp="1"/>
          </p:cNvSpPr>
          <p:nvPr>
            <p:ph idx="1"/>
          </p:nvPr>
        </p:nvSpPr>
        <p:spPr/>
        <p:txBody>
          <a:bodyPr/>
          <a:lstStyle/>
          <a:p>
            <a:pPr marL="0" indent="0">
              <a:buNone/>
            </a:pPr>
            <a:r>
              <a:rPr lang="en-US" b="0" dirty="0">
                <a:solidFill>
                  <a:srgbClr val="FFFFFF"/>
                </a:solidFill>
                <a:effectLst/>
                <a:latin typeface="Consolas" panose="020B0609020204030204" pitchFamily="49" charset="0"/>
              </a:rPr>
              <a:t>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br>
              <a:rPr lang="en-US" dirty="0">
                <a:solidFill>
                  <a:srgbClr val="FFFFFF"/>
                </a:solidFill>
                <a:latin typeface="Consolas" panose="020B0609020204030204" pitchFamily="49" charset="0"/>
              </a:rPr>
            </a:br>
            <a:r>
              <a:rPr lang="en-US" b="0" dirty="0">
                <a:solidFill>
                  <a:srgbClr val="7CA668"/>
                </a:solidFill>
                <a:effectLst/>
                <a:latin typeface="Consolas" panose="020B0609020204030204" pitchFamily="49" charset="0"/>
              </a:rPr>
              <a:t># emulate do while with endless while and break</a:t>
            </a:r>
            <a:br>
              <a:rPr lang="en-US" dirty="0">
                <a:solidFill>
                  <a:srgbClr val="FFFFFF"/>
                </a:solidFill>
                <a:latin typeface="Consolas" panose="020B0609020204030204" pitchFamily="49" charset="0"/>
              </a:rPr>
            </a:br>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(x)</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br>
              <a:rPr lang="en-US" dirty="0">
                <a:solidFill>
                  <a:srgbClr val="FFFFFF"/>
                </a:solidFill>
                <a:latin typeface="Consolas" panose="020B0609020204030204" pitchFamily="49" charset="0"/>
              </a:rPr>
            </a:br>
            <a:r>
              <a:rPr lang="en-US" dirty="0">
                <a:solidFill>
                  <a:srgbClr val="FFFFFF"/>
                </a:solidFill>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x</a:t>
            </a:r>
            <a:r>
              <a:rPr lang="en-US" b="0" dirty="0">
                <a:solidFill>
                  <a:srgbClr val="D4D4D4"/>
                </a:solidFill>
                <a:effectLst/>
                <a:latin typeface="Consolas" panose="020B0609020204030204" pitchFamily="49" charset="0"/>
              </a:rPr>
              <a:t>&gt;</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break</a:t>
            </a:r>
            <a:endParaRPr lang="en-US" b="0" dirty="0">
              <a:solidFill>
                <a:srgbClr val="FFFFFF"/>
              </a:solidFill>
              <a:effectLst/>
              <a:latin typeface="Consolas" panose="020B0609020204030204" pitchFamily="49" charset="0"/>
            </a:endParaRPr>
          </a:p>
          <a:p>
            <a:pPr marL="0" indent="0">
              <a:buNone/>
            </a:pPr>
            <a:br>
              <a:rPr lang="en-US" dirty="0">
                <a:solidFill>
                  <a:srgbClr val="FFFFFF"/>
                </a:solidFill>
                <a:latin typeface="Consolas" panose="020B0609020204030204" pitchFamily="49" charset="0"/>
              </a:rPr>
            </a:br>
            <a:r>
              <a:rPr lang="en-US" b="0" dirty="0">
                <a:solidFill>
                  <a:srgbClr val="FFFFFF"/>
                </a:solidFill>
                <a:effectLst/>
                <a:latin typeface="Consolas" panose="020B0609020204030204" pitchFamily="49" charset="0"/>
              </a:rPr>
              <a:t>  </a:t>
            </a:r>
          </a:p>
          <a:p>
            <a:endParaRPr lang="fi-FI" dirty="0"/>
          </a:p>
        </p:txBody>
      </p:sp>
    </p:spTree>
    <p:extLst>
      <p:ext uri="{BB962C8B-B14F-4D97-AF65-F5344CB8AC3E}">
        <p14:creationId xmlns:p14="http://schemas.microsoft.com/office/powerpoint/2010/main" val="247995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EAE8B-1935-4872-895D-C62B5B54F783}"/>
              </a:ext>
            </a:extLst>
          </p:cNvPr>
          <p:cNvSpPr>
            <a:spLocks noGrp="1"/>
          </p:cNvSpPr>
          <p:nvPr>
            <p:ph type="title"/>
          </p:nvPr>
        </p:nvSpPr>
        <p:spPr/>
        <p:txBody>
          <a:bodyPr/>
          <a:lstStyle/>
          <a:p>
            <a:r>
              <a:rPr lang="en-US" dirty="0"/>
              <a:t>For Loop Statement</a:t>
            </a:r>
          </a:p>
        </p:txBody>
      </p:sp>
      <p:sp>
        <p:nvSpPr>
          <p:cNvPr id="3" name="Content Placeholder 2">
            <a:extLst>
              <a:ext uri="{FF2B5EF4-FFF2-40B4-BE49-F238E27FC236}">
                <a16:creationId xmlns:a16="http://schemas.microsoft.com/office/drawing/2014/main" id="{B9CDAA85-AC72-4A81-B145-C09432CEB82C}"/>
              </a:ext>
            </a:extLst>
          </p:cNvPr>
          <p:cNvSpPr>
            <a:spLocks noGrp="1"/>
          </p:cNvSpPr>
          <p:nvPr>
            <p:ph idx="1"/>
          </p:nvPr>
        </p:nvSpPr>
        <p:spPr>
          <a:xfrm>
            <a:off x="1218883" y="1701796"/>
            <a:ext cx="10360501" cy="4751539"/>
          </a:xfrm>
        </p:spPr>
        <p:txBody>
          <a:bodyPr>
            <a:normAutofit fontScale="92500" lnSpcReduction="10000"/>
          </a:bodyPr>
          <a:lstStyle/>
          <a:p>
            <a:pPr>
              <a:lnSpc>
                <a:spcPct val="80000"/>
              </a:lnSpc>
              <a:spcAft>
                <a:spcPts val="600"/>
              </a:spcAft>
              <a:defRPr/>
            </a:pPr>
            <a:r>
              <a:rPr lang="en-US" dirty="0"/>
              <a:t>Iterates over a sequence, which can be a list, tuple, range, string, file (returns one line)</a:t>
            </a:r>
          </a:p>
          <a:p>
            <a:pPr>
              <a:lnSpc>
                <a:spcPct val="120000"/>
              </a:lnSpc>
              <a:spcAft>
                <a:spcPts val="600"/>
              </a:spcAft>
              <a:defRPr/>
            </a:pPr>
            <a:r>
              <a:rPr lang="en-US" dirty="0"/>
              <a:t>Optional else part is executed when loop ends or normally or if there was no elements in sequence</a:t>
            </a:r>
          </a:p>
          <a:p>
            <a:pPr>
              <a:lnSpc>
                <a:spcPct val="80000"/>
              </a:lnSpc>
              <a:buFont typeface="Wingdings" panose="05000000000000000000" pitchFamily="2" charset="2"/>
              <a:buNone/>
              <a:defRPr/>
            </a:pPr>
            <a:r>
              <a:rPr lang="en-US" dirty="0"/>
              <a:t>Syntax:</a:t>
            </a:r>
          </a:p>
          <a:p>
            <a:pPr marL="0" indent="0">
              <a:buNone/>
            </a:pPr>
            <a:r>
              <a:rPr lang="en-US" sz="2000" b="0" dirty="0">
                <a:solidFill>
                  <a:srgbClr val="C586C0"/>
                </a:solidFill>
                <a:effectLst/>
                <a:latin typeface="Consolas" panose="020B0609020204030204" pitchFamily="49" charset="0"/>
              </a:rPr>
              <a:t>for</a:t>
            </a:r>
            <a:r>
              <a:rPr lang="en-US" sz="2000" b="0" dirty="0">
                <a:solidFill>
                  <a:srgbClr val="FFFFFF"/>
                </a:solidFill>
                <a:effectLst/>
                <a:latin typeface="Consolas" panose="020B0609020204030204" pitchFamily="49" charset="0"/>
              </a:rPr>
              <a:t> </a:t>
            </a:r>
            <a:r>
              <a:rPr lang="en-US" sz="2000" b="0" i="1" dirty="0">
                <a:solidFill>
                  <a:srgbClr val="FFFFFF"/>
                </a:solidFill>
                <a:effectLst/>
                <a:latin typeface="Consolas" panose="020B0609020204030204" pitchFamily="49" charset="0"/>
              </a:rPr>
              <a:t>element</a:t>
            </a:r>
            <a:r>
              <a:rPr lang="en-US" sz="2000" b="0" dirty="0">
                <a:solidFill>
                  <a:srgbClr val="FFFFFF"/>
                </a:solidFill>
                <a:effectLst/>
                <a:latin typeface="Consolas" panose="020B0609020204030204" pitchFamily="49" charset="0"/>
              </a:rPr>
              <a:t> </a:t>
            </a:r>
            <a:r>
              <a:rPr lang="en-US" sz="2000" b="0" dirty="0">
                <a:solidFill>
                  <a:srgbClr val="C586C0"/>
                </a:solidFill>
                <a:effectLst/>
                <a:latin typeface="Consolas" panose="020B0609020204030204" pitchFamily="49" charset="0"/>
              </a:rPr>
              <a:t>in</a:t>
            </a:r>
            <a:r>
              <a:rPr lang="en-US" sz="2000" b="0" dirty="0">
                <a:solidFill>
                  <a:srgbClr val="FFFFFF"/>
                </a:solidFill>
                <a:effectLst/>
                <a:latin typeface="Consolas" panose="020B0609020204030204" pitchFamily="49" charset="0"/>
              </a:rPr>
              <a:t> </a:t>
            </a:r>
            <a:r>
              <a:rPr lang="en-US" sz="2000" b="0" i="1" dirty="0">
                <a:solidFill>
                  <a:srgbClr val="FFFFFF"/>
                </a:solidFill>
                <a:effectLst/>
                <a:latin typeface="Consolas" panose="020B0609020204030204" pitchFamily="49" charset="0"/>
              </a:rPr>
              <a:t>sequence</a:t>
            </a:r>
            <a:r>
              <a:rPr lang="en-US" sz="2000" b="0" dirty="0">
                <a:solidFill>
                  <a:srgbClr val="FFFFFF"/>
                </a:solidFill>
                <a:effectLst/>
                <a:latin typeface="Consolas" panose="020B0609020204030204" pitchFamily="49" charset="0"/>
              </a:rPr>
              <a:t>:</a:t>
            </a:r>
            <a:br>
              <a:rPr lang="en-US" sz="2000" b="0" dirty="0">
                <a:solidFill>
                  <a:srgbClr val="FFFFFF"/>
                </a:solidFill>
                <a:effectLst/>
                <a:latin typeface="Consolas" panose="020B0609020204030204" pitchFamily="49" charset="0"/>
              </a:rPr>
            </a:br>
            <a:r>
              <a:rPr lang="en-US" sz="2000" b="0" dirty="0">
                <a:solidFill>
                  <a:srgbClr val="FFFFFF"/>
                </a:solidFill>
                <a:effectLst/>
                <a:latin typeface="Consolas" panose="020B0609020204030204" pitchFamily="49" charset="0"/>
              </a:rPr>
              <a:t>    </a:t>
            </a:r>
            <a:r>
              <a:rPr lang="en-US" sz="2000" b="0" i="1" dirty="0">
                <a:solidFill>
                  <a:srgbClr val="FFFFFF"/>
                </a:solidFill>
                <a:effectLst/>
                <a:latin typeface="Consolas" panose="020B0609020204030204" pitchFamily="49" charset="0"/>
              </a:rPr>
              <a:t>statement(s)</a:t>
            </a:r>
            <a:br>
              <a:rPr lang="en-US" sz="2000" b="0" dirty="0">
                <a:solidFill>
                  <a:srgbClr val="FFFFFF"/>
                </a:solidFill>
                <a:effectLst/>
                <a:latin typeface="Consolas" panose="020B0609020204030204" pitchFamily="49" charset="0"/>
              </a:rPr>
            </a:br>
            <a:r>
              <a:rPr lang="en-US" sz="2000" b="0" dirty="0">
                <a:solidFill>
                  <a:srgbClr val="FFFFFF"/>
                </a:solidFill>
                <a:effectLst/>
                <a:latin typeface="Consolas" panose="020B0609020204030204" pitchFamily="49" charset="0"/>
              </a:rPr>
              <a:t>[</a:t>
            </a:r>
            <a:r>
              <a:rPr lang="en-US" sz="2000" b="0" dirty="0">
                <a:solidFill>
                  <a:srgbClr val="C586C0"/>
                </a:solidFill>
                <a:effectLst/>
                <a:latin typeface="Consolas" panose="020B0609020204030204" pitchFamily="49" charset="0"/>
              </a:rPr>
              <a:t>else</a:t>
            </a:r>
            <a:r>
              <a:rPr lang="en-US" sz="2000" b="0" dirty="0">
                <a:solidFill>
                  <a:srgbClr val="FFFFFF"/>
                </a:solidFill>
                <a:effectLst/>
                <a:latin typeface="Consolas" panose="020B0609020204030204" pitchFamily="49" charset="0"/>
              </a:rPr>
              <a:t>: </a:t>
            </a:r>
            <a:r>
              <a:rPr lang="en-US" sz="2000" b="0" i="1" dirty="0">
                <a:solidFill>
                  <a:srgbClr val="FFFFFF"/>
                </a:solidFill>
                <a:effectLst/>
                <a:latin typeface="Consolas" panose="020B0609020204030204" pitchFamily="49" charset="0"/>
              </a:rPr>
              <a:t>statements</a:t>
            </a:r>
            <a:r>
              <a:rPr lang="en-US" sz="2000" b="0" dirty="0">
                <a:solidFill>
                  <a:srgbClr val="FFFFFF"/>
                </a:solidFill>
                <a:effectLst/>
                <a:latin typeface="Consolas" panose="020B0609020204030204" pitchFamily="49" charset="0"/>
              </a:rPr>
              <a:t> ]</a:t>
            </a:r>
          </a:p>
          <a:p>
            <a:pPr marL="0" indent="0">
              <a:buNone/>
            </a:pPr>
            <a:r>
              <a:rPr lang="en-US" sz="2000" b="0" dirty="0">
                <a:solidFill>
                  <a:srgbClr val="C586C0"/>
                </a:solidFill>
                <a:effectLst/>
                <a:latin typeface="Consolas" panose="020B0609020204030204" pitchFamily="49" charset="0"/>
              </a:rPr>
              <a:t>for</a:t>
            </a:r>
            <a:r>
              <a:rPr lang="en-US" sz="2000" b="0" dirty="0">
                <a:solidFill>
                  <a:srgbClr val="FFFFFF"/>
                </a:solidFill>
                <a:effectLst/>
                <a:latin typeface="Consolas" panose="020B0609020204030204" pitchFamily="49" charset="0"/>
              </a:rPr>
              <a:t> </a:t>
            </a:r>
            <a:r>
              <a:rPr lang="en-US" sz="2000" b="0" dirty="0" err="1">
                <a:solidFill>
                  <a:srgbClr val="FFFFFF"/>
                </a:solidFill>
                <a:effectLst/>
                <a:latin typeface="Consolas" panose="020B0609020204030204" pitchFamily="49" charset="0"/>
              </a:rPr>
              <a:t>i</a:t>
            </a:r>
            <a:r>
              <a:rPr lang="en-US" sz="2000" b="0" dirty="0">
                <a:solidFill>
                  <a:srgbClr val="FFFFFF"/>
                </a:solidFill>
                <a:effectLst/>
                <a:latin typeface="Consolas" panose="020B0609020204030204" pitchFamily="49" charset="0"/>
              </a:rPr>
              <a:t> </a:t>
            </a:r>
            <a:r>
              <a:rPr lang="en-US" sz="2000" b="0" dirty="0">
                <a:solidFill>
                  <a:srgbClr val="C586C0"/>
                </a:solidFill>
                <a:effectLst/>
                <a:latin typeface="Consolas" panose="020B0609020204030204" pitchFamily="49" charset="0"/>
              </a:rPr>
              <a:t>in</a:t>
            </a:r>
            <a:r>
              <a:rPr lang="en-US" sz="2000" b="0" dirty="0">
                <a:solidFill>
                  <a:srgbClr val="FFFFFF"/>
                </a:solidFill>
                <a:effectLst/>
                <a:latin typeface="Consolas" panose="020B0609020204030204" pitchFamily="49" charset="0"/>
              </a:rPr>
              <a:t> </a:t>
            </a:r>
            <a:r>
              <a:rPr lang="en-US" sz="2000" b="0" dirty="0">
                <a:solidFill>
                  <a:srgbClr val="DCDCAA"/>
                </a:solidFill>
                <a:effectLst/>
                <a:latin typeface="Consolas" panose="020B0609020204030204" pitchFamily="49" charset="0"/>
              </a:rPr>
              <a:t>range</a:t>
            </a:r>
            <a:r>
              <a:rPr lang="en-US" sz="2000" b="0" dirty="0">
                <a:solidFill>
                  <a:srgbClr val="FFFFFF"/>
                </a:solidFill>
                <a:effectLst/>
                <a:latin typeface="Consolas" panose="020B0609020204030204" pitchFamily="49" charset="0"/>
              </a:rPr>
              <a:t>(</a:t>
            </a:r>
            <a:r>
              <a:rPr lang="en-US" sz="2000" b="0" dirty="0">
                <a:solidFill>
                  <a:srgbClr val="B5CEA8"/>
                </a:solidFill>
                <a:effectLst/>
                <a:latin typeface="Consolas" panose="020B0609020204030204" pitchFamily="49" charset="0"/>
              </a:rPr>
              <a:t>10</a:t>
            </a:r>
            <a:r>
              <a:rPr lang="en-US" sz="2000" b="0" dirty="0">
                <a:solidFill>
                  <a:srgbClr val="FFFFFF"/>
                </a:solidFill>
                <a:effectLst/>
                <a:latin typeface="Consolas" panose="020B0609020204030204" pitchFamily="49" charset="0"/>
              </a:rPr>
              <a:t>):</a:t>
            </a:r>
            <a:br>
              <a:rPr lang="en-US" sz="2000" b="0" dirty="0">
                <a:solidFill>
                  <a:srgbClr val="FFFFFF"/>
                </a:solidFill>
                <a:effectLst/>
                <a:latin typeface="Consolas" panose="020B0609020204030204" pitchFamily="49" charset="0"/>
              </a:rPr>
            </a:br>
            <a:r>
              <a:rPr lang="en-US" sz="2000" b="0" dirty="0">
                <a:solidFill>
                  <a:srgbClr val="FFFFFF"/>
                </a:solidFill>
                <a:effectLst/>
                <a:latin typeface="Consolas" panose="020B0609020204030204" pitchFamily="49" charset="0"/>
              </a:rPr>
              <a:t>    </a:t>
            </a:r>
            <a:r>
              <a:rPr lang="en-US" sz="2000" b="0" dirty="0">
                <a:solidFill>
                  <a:srgbClr val="DCDCAA"/>
                </a:solidFill>
                <a:effectLst/>
                <a:latin typeface="Consolas" panose="020B0609020204030204" pitchFamily="49" charset="0"/>
              </a:rPr>
              <a:t>print</a:t>
            </a:r>
            <a:r>
              <a:rPr lang="en-US" sz="2000" b="0" dirty="0">
                <a:solidFill>
                  <a:srgbClr val="FFFFFF"/>
                </a:solidFill>
                <a:effectLst/>
                <a:latin typeface="Consolas" panose="020B0609020204030204" pitchFamily="49" charset="0"/>
              </a:rPr>
              <a:t>(</a:t>
            </a:r>
            <a:r>
              <a:rPr lang="en-US" sz="2000" b="0" dirty="0" err="1">
                <a:solidFill>
                  <a:srgbClr val="FFFFFF"/>
                </a:solidFill>
                <a:effectLst/>
                <a:latin typeface="Consolas" panose="020B0609020204030204" pitchFamily="49" charset="0"/>
              </a:rPr>
              <a:t>i</a:t>
            </a:r>
            <a:r>
              <a:rPr lang="en-US" sz="2000" b="0" dirty="0">
                <a:solidFill>
                  <a:srgbClr val="FFFFFF"/>
                </a:solidFill>
                <a:effectLst/>
                <a:latin typeface="Consolas" panose="020B0609020204030204" pitchFamily="49" charset="0"/>
              </a:rPr>
              <a:t>)</a:t>
            </a:r>
            <a:br>
              <a:rPr lang="en-US" sz="2000" b="0" dirty="0">
                <a:solidFill>
                  <a:srgbClr val="FFFFFF"/>
                </a:solidFill>
                <a:effectLst/>
                <a:latin typeface="Consolas" panose="020B0609020204030204" pitchFamily="49" charset="0"/>
              </a:rPr>
            </a:br>
            <a:br>
              <a:rPr lang="en-US" sz="2000" b="0" dirty="0">
                <a:solidFill>
                  <a:srgbClr val="FFFFFF"/>
                </a:solidFill>
                <a:effectLst/>
                <a:latin typeface="Consolas" panose="020B0609020204030204" pitchFamily="49" charset="0"/>
              </a:rPr>
            </a:br>
            <a:r>
              <a:rPr lang="en-US" sz="2000" b="0" dirty="0">
                <a:solidFill>
                  <a:srgbClr val="C586C0"/>
                </a:solidFill>
                <a:effectLst/>
                <a:latin typeface="Consolas" panose="020B0609020204030204" pitchFamily="49" charset="0"/>
              </a:rPr>
              <a:t>for</a:t>
            </a:r>
            <a:r>
              <a:rPr lang="en-US" sz="2000" b="0" dirty="0">
                <a:solidFill>
                  <a:srgbClr val="FFFFFF"/>
                </a:solidFill>
                <a:effectLst/>
                <a:latin typeface="Consolas" panose="020B0609020204030204" pitchFamily="49" charset="0"/>
              </a:rPr>
              <a:t> x </a:t>
            </a:r>
            <a:r>
              <a:rPr lang="en-US" sz="2000" b="0" dirty="0">
                <a:solidFill>
                  <a:srgbClr val="C586C0"/>
                </a:solidFill>
                <a:effectLst/>
                <a:latin typeface="Consolas" panose="020B0609020204030204" pitchFamily="49" charset="0"/>
              </a:rPr>
              <a:t>in</a:t>
            </a:r>
            <a:r>
              <a:rPr lang="en-US" sz="2000" b="0" dirty="0">
                <a:solidFill>
                  <a:srgbClr val="FFFFFF"/>
                </a:solidFill>
                <a:effectLst/>
                <a:latin typeface="Consolas" panose="020B0609020204030204" pitchFamily="49" charset="0"/>
              </a:rPr>
              <a:t> [</a:t>
            </a:r>
            <a:r>
              <a:rPr lang="en-US" sz="2000" b="0" dirty="0">
                <a:solidFill>
                  <a:srgbClr val="B5CEA8"/>
                </a:solidFill>
                <a:effectLst/>
                <a:latin typeface="Consolas" panose="020B0609020204030204" pitchFamily="49" charset="0"/>
              </a:rPr>
              <a:t>1</a:t>
            </a:r>
            <a:r>
              <a:rPr lang="en-US" sz="2000" b="0" dirty="0">
                <a:solidFill>
                  <a:srgbClr val="FFFFFF"/>
                </a:solidFill>
                <a:effectLst/>
                <a:latin typeface="Consolas" panose="020B0609020204030204" pitchFamily="49" charset="0"/>
              </a:rPr>
              <a:t>, </a:t>
            </a:r>
            <a:r>
              <a:rPr lang="en-US" sz="2000" b="0" dirty="0">
                <a:solidFill>
                  <a:srgbClr val="CE9178"/>
                </a:solidFill>
                <a:effectLst/>
                <a:latin typeface="Consolas" panose="020B0609020204030204" pitchFamily="49" charset="0"/>
              </a:rPr>
              <a:t>"cat"</a:t>
            </a:r>
            <a:r>
              <a:rPr lang="en-US" sz="2000" b="0" dirty="0">
                <a:solidFill>
                  <a:srgbClr val="FFFFFF"/>
                </a:solidFill>
                <a:effectLst/>
                <a:latin typeface="Consolas" panose="020B0609020204030204" pitchFamily="49" charset="0"/>
              </a:rPr>
              <a:t>, </a:t>
            </a:r>
            <a:r>
              <a:rPr lang="en-US" sz="2000" b="0" dirty="0">
                <a:solidFill>
                  <a:srgbClr val="B5CEA8"/>
                </a:solidFill>
                <a:effectLst/>
                <a:latin typeface="Consolas" panose="020B0609020204030204" pitchFamily="49" charset="0"/>
              </a:rPr>
              <a:t>3.14</a:t>
            </a:r>
            <a:r>
              <a:rPr lang="en-US" sz="2000" b="0" dirty="0">
                <a:solidFill>
                  <a:srgbClr val="FFFFFF"/>
                </a:solidFill>
                <a:effectLst/>
                <a:latin typeface="Consolas" panose="020B0609020204030204" pitchFamily="49" charset="0"/>
              </a:rPr>
              <a:t>]:</a:t>
            </a:r>
            <a:br>
              <a:rPr lang="en-US" sz="2000" b="0" dirty="0">
                <a:solidFill>
                  <a:srgbClr val="FFFFFF"/>
                </a:solidFill>
                <a:effectLst/>
                <a:latin typeface="Consolas" panose="020B0609020204030204" pitchFamily="49" charset="0"/>
              </a:rPr>
            </a:br>
            <a:r>
              <a:rPr lang="en-US" sz="2000" b="0" dirty="0">
                <a:solidFill>
                  <a:srgbClr val="FFFFFF"/>
                </a:solidFill>
                <a:effectLst/>
                <a:latin typeface="Consolas" panose="020B0609020204030204" pitchFamily="49" charset="0"/>
              </a:rPr>
              <a:t>    </a:t>
            </a:r>
            <a:r>
              <a:rPr lang="en-US" sz="2000" b="0" dirty="0">
                <a:solidFill>
                  <a:srgbClr val="DCDCAA"/>
                </a:solidFill>
                <a:effectLst/>
                <a:latin typeface="Consolas" panose="020B0609020204030204" pitchFamily="49" charset="0"/>
              </a:rPr>
              <a:t>print</a:t>
            </a:r>
            <a:r>
              <a:rPr lang="en-US" sz="2000" b="0" dirty="0">
                <a:solidFill>
                  <a:srgbClr val="FFFFFF"/>
                </a:solidFill>
                <a:effectLst/>
                <a:latin typeface="Consolas" panose="020B0609020204030204" pitchFamily="49" charset="0"/>
              </a:rPr>
              <a:t>(x)</a:t>
            </a:r>
          </a:p>
        </p:txBody>
      </p:sp>
    </p:spTree>
    <p:extLst>
      <p:ext uri="{BB962C8B-B14F-4D97-AF65-F5344CB8AC3E}">
        <p14:creationId xmlns:p14="http://schemas.microsoft.com/office/powerpoint/2010/main" val="2482697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A70385A-4474-4AB7-91C9-85B78159DA9D}"/>
              </a:ext>
            </a:extLst>
          </p:cNvPr>
          <p:cNvSpPr>
            <a:spLocks noGrp="1"/>
          </p:cNvSpPr>
          <p:nvPr>
            <p:ph type="title"/>
          </p:nvPr>
        </p:nvSpPr>
        <p:spPr/>
        <p:txBody>
          <a:bodyPr/>
          <a:lstStyle/>
          <a:p>
            <a:r>
              <a:rPr lang="fi-FI" dirty="0"/>
              <a:t>For - Else</a:t>
            </a:r>
          </a:p>
        </p:txBody>
      </p:sp>
      <p:sp>
        <p:nvSpPr>
          <p:cNvPr id="3" name="Sisällön paikkamerkki 2">
            <a:extLst>
              <a:ext uri="{FF2B5EF4-FFF2-40B4-BE49-F238E27FC236}">
                <a16:creationId xmlns:a16="http://schemas.microsoft.com/office/drawing/2014/main" id="{60BF2F64-70F3-4829-B0FE-3B6CF73D12A4}"/>
              </a:ext>
            </a:extLst>
          </p:cNvPr>
          <p:cNvSpPr>
            <a:spLocks noGrp="1"/>
          </p:cNvSpPr>
          <p:nvPr>
            <p:ph idx="1"/>
          </p:nvPr>
        </p:nvSpPr>
        <p:spPr/>
        <p:txBody>
          <a:bodyPr>
            <a:normAutofit fontScale="92500" lnSpcReduction="20000"/>
          </a:bodyPr>
          <a:lstStyle/>
          <a:p>
            <a:pPr marL="0" indent="0">
              <a:buNone/>
            </a:pPr>
            <a:r>
              <a:rPr lang="en-US" b="0" dirty="0">
                <a:solidFill>
                  <a:srgbClr val="FFFFFF"/>
                </a:solidFill>
                <a:effectLst/>
                <a:latin typeface="Consolas" panose="020B0609020204030204" pitchFamily="49" charset="0"/>
              </a:rPr>
              <a:t>words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"Give me words separated by spaces, but not word NO?"</a:t>
            </a:r>
            <a:r>
              <a:rPr lang="en-US" b="0" dirty="0">
                <a:solidFill>
                  <a:srgbClr val="FFFFFF"/>
                </a:solidFill>
                <a:effectLst/>
                <a:latin typeface="Consolas" panose="020B0609020204030204" pitchFamily="49" charset="0"/>
              </a:rPr>
              <a:t>).split()</a:t>
            </a:r>
          </a:p>
          <a:p>
            <a:pPr marL="0" indent="0">
              <a:buNone/>
            </a:pP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word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words:</a:t>
            </a:r>
          </a:p>
          <a:p>
            <a:pPr marL="0" indent="0">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word.lower</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"no"</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break</a:t>
            </a:r>
            <a:endParaRPr lang="en-US" b="0" dirty="0">
              <a:solidFill>
                <a:srgbClr val="FFFFFF"/>
              </a:solidFill>
              <a:effectLst/>
              <a:latin typeface="Consolas" panose="020B0609020204030204" pitchFamily="49" charset="0"/>
            </a:endParaRPr>
          </a:p>
          <a:p>
            <a:pPr marL="0" indent="0">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(word)</a:t>
            </a:r>
          </a:p>
          <a:p>
            <a:pPr marL="0" indent="0">
              <a:buNone/>
            </a:pP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reached if no words or no break</a:t>
            </a:r>
            <a:endParaRPr lang="en-US" b="0" dirty="0">
              <a:solidFill>
                <a:srgbClr val="FFFFFF"/>
              </a:solidFill>
              <a:effectLst/>
              <a:latin typeface="Consolas" panose="020B0609020204030204" pitchFamily="49" charset="0"/>
            </a:endParaRPr>
          </a:p>
          <a:p>
            <a:pPr marL="0" indent="0">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"That was nice!"</a:t>
            </a:r>
            <a:r>
              <a:rPr lang="en-US" b="0" dirty="0">
                <a:solidFill>
                  <a:srgbClr val="FFFFFF"/>
                </a:solidFill>
                <a:effectLst/>
                <a:latin typeface="Consolas" panose="020B0609020204030204" pitchFamily="49" charset="0"/>
              </a:rPr>
              <a:t>)</a:t>
            </a:r>
          </a:p>
          <a:p>
            <a:pPr marL="0" indent="0">
              <a:buNone/>
            </a:pPr>
            <a:br>
              <a:rPr lang="en-US" b="0" dirty="0">
                <a:solidFill>
                  <a:srgbClr val="FFFFFF"/>
                </a:solidFill>
                <a:effectLst/>
                <a:latin typeface="Consolas" panose="020B0609020204030204" pitchFamily="49" charset="0"/>
              </a:rPr>
            </a:br>
            <a:endParaRPr lang="en-US" b="0" dirty="0">
              <a:solidFill>
                <a:srgbClr val="FFFFFF"/>
              </a:solidFill>
              <a:effectLst/>
              <a:latin typeface="Consolas" panose="020B0609020204030204" pitchFamily="49" charset="0"/>
            </a:endParaRPr>
          </a:p>
          <a:p>
            <a:endParaRPr lang="fi-FI" dirty="0"/>
          </a:p>
        </p:txBody>
      </p:sp>
    </p:spTree>
    <p:extLst>
      <p:ext uri="{BB962C8B-B14F-4D97-AF65-F5344CB8AC3E}">
        <p14:creationId xmlns:p14="http://schemas.microsoft.com/office/powerpoint/2010/main" val="3831233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FDA37-721E-4594-B5AB-D1FB67AB8C93}"/>
              </a:ext>
            </a:extLst>
          </p:cNvPr>
          <p:cNvSpPr>
            <a:spLocks noGrp="1"/>
          </p:cNvSpPr>
          <p:nvPr>
            <p:ph type="title"/>
          </p:nvPr>
        </p:nvSpPr>
        <p:spPr/>
        <p:txBody>
          <a:bodyPr/>
          <a:lstStyle/>
          <a:p>
            <a:r>
              <a:rPr lang="en-US" dirty="0"/>
              <a:t>Reverse loop</a:t>
            </a:r>
          </a:p>
        </p:txBody>
      </p:sp>
      <p:sp>
        <p:nvSpPr>
          <p:cNvPr id="3" name="Content Placeholder 2">
            <a:extLst>
              <a:ext uri="{FF2B5EF4-FFF2-40B4-BE49-F238E27FC236}">
                <a16:creationId xmlns:a16="http://schemas.microsoft.com/office/drawing/2014/main" id="{73694EBF-854B-4419-9657-F5A35E3969D9}"/>
              </a:ext>
            </a:extLst>
          </p:cNvPr>
          <p:cNvSpPr>
            <a:spLocks noGrp="1"/>
          </p:cNvSpPr>
          <p:nvPr>
            <p:ph idx="1"/>
          </p:nvPr>
        </p:nvSpPr>
        <p:spPr>
          <a:xfrm>
            <a:off x="1218883" y="1701796"/>
            <a:ext cx="10636169" cy="4823547"/>
          </a:xfrm>
        </p:spPr>
        <p:txBody>
          <a:bodyPr>
            <a:normAutofit fontScale="70000" lnSpcReduction="20000"/>
          </a:bodyPr>
          <a:lstStyle/>
          <a:p>
            <a:pPr marL="0" indent="0">
              <a:buNone/>
            </a:pPr>
            <a:r>
              <a:rPr lang="en-US" b="0" dirty="0">
                <a:solidFill>
                  <a:srgbClr val="FFFFFF"/>
                </a:solidFill>
                <a:effectLst/>
                <a:latin typeface="Consolas" panose="020B0609020204030204" pitchFamily="49" charset="0"/>
              </a:rPr>
              <a:t>names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"Bill"</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"James"</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"Paul"</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"Paula"</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"Jenny"</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"Kate"</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"Normal order:"</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name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names:</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(name)</a:t>
            </a: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"Reverse order:"</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name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reversed</a:t>
            </a:r>
            <a:r>
              <a:rPr lang="en-US" b="0" dirty="0">
                <a:solidFill>
                  <a:srgbClr val="FFFFFF"/>
                </a:solidFill>
                <a:effectLst/>
                <a:latin typeface="Consolas" panose="020B0609020204030204" pitchFamily="49" charset="0"/>
              </a:rPr>
              <a:t>(names):</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(name)</a:t>
            </a: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"This will also do the same, but less efficient:"</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name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names[::</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(name)</a:t>
            </a:r>
          </a:p>
          <a:p>
            <a:pPr marL="0" indent="0">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"Don't code like this:"</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(names)</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br>
              <a:rPr lang="en-US" dirty="0">
                <a:solidFill>
                  <a:srgbClr val="FFFFFF"/>
                </a:solidFill>
                <a:latin typeface="Consolas" panose="020B0609020204030204" pitchFamily="49" charset="0"/>
              </a:rPr>
            </a:br>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&gt;=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(names[</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i</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br>
              <a:rPr lang="en-US" b="0" dirty="0">
                <a:solidFill>
                  <a:srgbClr val="B5CEA8"/>
                </a:solidFill>
                <a:effectLst/>
                <a:latin typeface="Consolas" panose="020B0609020204030204" pitchFamily="49" charset="0"/>
              </a:rPr>
            </a:br>
            <a:r>
              <a:rPr lang="en-US" b="0" dirty="0">
                <a:solidFill>
                  <a:srgbClr val="7CA668"/>
                </a:solidFill>
                <a:effectLst/>
                <a:latin typeface="Consolas" panose="020B0609020204030204" pitchFamily="49" charset="0"/>
              </a:rPr>
              <a:t># this also works, but unreadable</a:t>
            </a:r>
            <a:br>
              <a:rPr lang="en-US" b="0" dirty="0">
                <a:solidFill>
                  <a:srgbClr val="7CA668"/>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range</a:t>
            </a:r>
            <a:r>
              <a:rPr lang="en-US" b="0" dirty="0">
                <a:solidFill>
                  <a:srgbClr val="FFFFFF"/>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(names)</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(names[</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3590512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C5FC-C172-4FAF-8E6C-DABA2A27A432}"/>
              </a:ext>
            </a:extLst>
          </p:cNvPr>
          <p:cNvSpPr>
            <a:spLocks noGrp="1"/>
          </p:cNvSpPr>
          <p:nvPr>
            <p:ph type="title"/>
          </p:nvPr>
        </p:nvSpPr>
        <p:spPr/>
        <p:txBody>
          <a:bodyPr/>
          <a:lstStyle/>
          <a:p>
            <a:r>
              <a:rPr lang="en-US" dirty="0"/>
              <a:t>Nested Loops</a:t>
            </a:r>
          </a:p>
        </p:txBody>
      </p:sp>
      <p:sp>
        <p:nvSpPr>
          <p:cNvPr id="3" name="Content Placeholder 2">
            <a:extLst>
              <a:ext uri="{FF2B5EF4-FFF2-40B4-BE49-F238E27FC236}">
                <a16:creationId xmlns:a16="http://schemas.microsoft.com/office/drawing/2014/main" id="{A9D48A5C-D49D-4FFA-A6AF-B36165161E11}"/>
              </a:ext>
            </a:extLst>
          </p:cNvPr>
          <p:cNvSpPr>
            <a:spLocks noGrp="1"/>
          </p:cNvSpPr>
          <p:nvPr>
            <p:ph idx="1"/>
          </p:nvPr>
        </p:nvSpPr>
        <p:spPr>
          <a:xfrm>
            <a:off x="1218883" y="1701796"/>
            <a:ext cx="10360501" cy="4967564"/>
          </a:xfrm>
        </p:spPr>
        <p:txBody>
          <a:bodyPr>
            <a:normAutofit/>
          </a:bodyPr>
          <a:lstStyle/>
          <a:p>
            <a:pPr marL="0" indent="0">
              <a:buNone/>
            </a:pPr>
            <a:r>
              <a:rPr lang="en-US" sz="2000" b="0" dirty="0">
                <a:solidFill>
                  <a:srgbClr val="FFFFFF"/>
                </a:solidFill>
                <a:effectLst/>
                <a:latin typeface="Consolas" panose="020B0609020204030204" pitchFamily="49" charset="0"/>
              </a:rPr>
              <a:t>N </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 </a:t>
            </a:r>
            <a:r>
              <a:rPr lang="en-US" sz="2000" b="0" dirty="0">
                <a:solidFill>
                  <a:srgbClr val="B5CEA8"/>
                </a:solidFill>
                <a:effectLst/>
                <a:latin typeface="Consolas" panose="020B0609020204030204" pitchFamily="49" charset="0"/>
              </a:rPr>
              <a:t>10</a:t>
            </a:r>
            <a:br>
              <a:rPr lang="en-US" sz="2000" b="0" dirty="0">
                <a:solidFill>
                  <a:srgbClr val="B5CEA8"/>
                </a:solidFill>
                <a:effectLst/>
                <a:latin typeface="Consolas" panose="020B0609020204030204" pitchFamily="49" charset="0"/>
              </a:rPr>
            </a:br>
            <a:r>
              <a:rPr lang="en-US" sz="2000" b="0" dirty="0">
                <a:solidFill>
                  <a:srgbClr val="C586C0"/>
                </a:solidFill>
                <a:effectLst/>
                <a:latin typeface="Consolas" panose="020B0609020204030204" pitchFamily="49" charset="0"/>
              </a:rPr>
              <a:t>for</a:t>
            </a:r>
            <a:r>
              <a:rPr lang="en-US" sz="2000" b="0" dirty="0">
                <a:solidFill>
                  <a:srgbClr val="FFFFFF"/>
                </a:solidFill>
                <a:effectLst/>
                <a:latin typeface="Consolas" panose="020B0609020204030204" pitchFamily="49" charset="0"/>
              </a:rPr>
              <a:t> y </a:t>
            </a:r>
            <a:r>
              <a:rPr lang="en-US" sz="2000" b="0" dirty="0">
                <a:solidFill>
                  <a:srgbClr val="C586C0"/>
                </a:solidFill>
                <a:effectLst/>
                <a:latin typeface="Consolas" panose="020B0609020204030204" pitchFamily="49" charset="0"/>
              </a:rPr>
              <a:t>in</a:t>
            </a:r>
            <a:r>
              <a:rPr lang="en-US" sz="2000" b="0" dirty="0">
                <a:solidFill>
                  <a:srgbClr val="FFFFFF"/>
                </a:solidFill>
                <a:effectLst/>
                <a:latin typeface="Consolas" panose="020B0609020204030204" pitchFamily="49" charset="0"/>
              </a:rPr>
              <a:t> </a:t>
            </a:r>
            <a:r>
              <a:rPr lang="en-US" sz="2000" b="0" dirty="0">
                <a:solidFill>
                  <a:srgbClr val="DCDCAA"/>
                </a:solidFill>
                <a:effectLst/>
                <a:latin typeface="Consolas" panose="020B0609020204030204" pitchFamily="49" charset="0"/>
              </a:rPr>
              <a:t>range</a:t>
            </a:r>
            <a:r>
              <a:rPr lang="en-US" sz="2000" b="0" dirty="0">
                <a:solidFill>
                  <a:srgbClr val="FFFFFF"/>
                </a:solidFill>
                <a:effectLst/>
                <a:latin typeface="Consolas" panose="020B0609020204030204" pitchFamily="49" charset="0"/>
              </a:rPr>
              <a:t>(</a:t>
            </a:r>
            <a:r>
              <a:rPr lang="en-US" sz="2000" b="0" dirty="0">
                <a:solidFill>
                  <a:srgbClr val="B5CEA8"/>
                </a:solidFill>
                <a:effectLst/>
                <a:latin typeface="Consolas" panose="020B0609020204030204" pitchFamily="49" charset="0"/>
              </a:rPr>
              <a:t>1</a:t>
            </a:r>
            <a:r>
              <a:rPr lang="en-US" sz="2000" b="0" dirty="0">
                <a:solidFill>
                  <a:srgbClr val="FFFFFF"/>
                </a:solidFill>
                <a:effectLst/>
                <a:latin typeface="Consolas" panose="020B0609020204030204" pitchFamily="49" charset="0"/>
              </a:rPr>
              <a:t>, N</a:t>
            </a:r>
            <a:r>
              <a:rPr lang="en-US" sz="2000" b="0" dirty="0">
                <a:solidFill>
                  <a:srgbClr val="D4D4D4"/>
                </a:solidFill>
                <a:effectLst/>
                <a:latin typeface="Consolas" panose="020B0609020204030204" pitchFamily="49" charset="0"/>
              </a:rPr>
              <a:t>+</a:t>
            </a:r>
            <a:r>
              <a:rPr lang="en-US" sz="2000" b="0" dirty="0">
                <a:solidFill>
                  <a:srgbClr val="B5CEA8"/>
                </a:solidFill>
                <a:effectLst/>
                <a:latin typeface="Consolas" panose="020B0609020204030204" pitchFamily="49" charset="0"/>
              </a:rPr>
              <a:t>1</a:t>
            </a:r>
            <a:r>
              <a:rPr lang="en-US" sz="2000" b="0" dirty="0">
                <a:solidFill>
                  <a:srgbClr val="FFFFFF"/>
                </a:solidFill>
                <a:effectLst/>
                <a:latin typeface="Consolas" panose="020B0609020204030204" pitchFamily="49" charset="0"/>
              </a:rPr>
              <a:t>):</a:t>
            </a:r>
            <a:br>
              <a:rPr lang="en-US" sz="2000" b="0" dirty="0">
                <a:solidFill>
                  <a:srgbClr val="FFFFFF"/>
                </a:solidFill>
                <a:effectLst/>
                <a:latin typeface="Consolas" panose="020B0609020204030204" pitchFamily="49" charset="0"/>
              </a:rPr>
            </a:br>
            <a:r>
              <a:rPr lang="en-US" sz="2000" b="0" dirty="0">
                <a:solidFill>
                  <a:srgbClr val="FFFFFF"/>
                </a:solidFill>
                <a:effectLst/>
                <a:latin typeface="Consolas" panose="020B0609020204030204" pitchFamily="49" charset="0"/>
              </a:rPr>
              <a:t>    </a:t>
            </a:r>
            <a:r>
              <a:rPr lang="en-US" sz="2000" b="0" dirty="0">
                <a:solidFill>
                  <a:srgbClr val="C586C0"/>
                </a:solidFill>
                <a:effectLst/>
                <a:latin typeface="Consolas" panose="020B0609020204030204" pitchFamily="49" charset="0"/>
              </a:rPr>
              <a:t>for</a:t>
            </a:r>
            <a:r>
              <a:rPr lang="en-US" sz="2000" b="0" dirty="0">
                <a:solidFill>
                  <a:srgbClr val="FFFFFF"/>
                </a:solidFill>
                <a:effectLst/>
                <a:latin typeface="Consolas" panose="020B0609020204030204" pitchFamily="49" charset="0"/>
              </a:rPr>
              <a:t> x </a:t>
            </a:r>
            <a:r>
              <a:rPr lang="en-US" sz="2000" b="0" dirty="0">
                <a:solidFill>
                  <a:srgbClr val="C586C0"/>
                </a:solidFill>
                <a:effectLst/>
                <a:latin typeface="Consolas" panose="020B0609020204030204" pitchFamily="49" charset="0"/>
              </a:rPr>
              <a:t>in</a:t>
            </a:r>
            <a:r>
              <a:rPr lang="en-US" sz="2000" b="0" dirty="0">
                <a:solidFill>
                  <a:srgbClr val="FFFFFF"/>
                </a:solidFill>
                <a:effectLst/>
                <a:latin typeface="Consolas" panose="020B0609020204030204" pitchFamily="49" charset="0"/>
              </a:rPr>
              <a:t> </a:t>
            </a:r>
            <a:r>
              <a:rPr lang="en-US" sz="2000" b="0" dirty="0">
                <a:solidFill>
                  <a:srgbClr val="DCDCAA"/>
                </a:solidFill>
                <a:effectLst/>
                <a:latin typeface="Consolas" panose="020B0609020204030204" pitchFamily="49" charset="0"/>
              </a:rPr>
              <a:t>range</a:t>
            </a:r>
            <a:r>
              <a:rPr lang="en-US" sz="2000" b="0" dirty="0">
                <a:solidFill>
                  <a:srgbClr val="FFFFFF"/>
                </a:solidFill>
                <a:effectLst/>
                <a:latin typeface="Consolas" panose="020B0609020204030204" pitchFamily="49" charset="0"/>
              </a:rPr>
              <a:t>(</a:t>
            </a:r>
            <a:r>
              <a:rPr lang="en-US" sz="2000" b="0" dirty="0">
                <a:solidFill>
                  <a:srgbClr val="B5CEA8"/>
                </a:solidFill>
                <a:effectLst/>
                <a:latin typeface="Consolas" panose="020B0609020204030204" pitchFamily="49" charset="0"/>
              </a:rPr>
              <a:t>1</a:t>
            </a:r>
            <a:r>
              <a:rPr lang="en-US" sz="2000" b="0" dirty="0">
                <a:solidFill>
                  <a:srgbClr val="FFFFFF"/>
                </a:solidFill>
                <a:effectLst/>
                <a:latin typeface="Consolas" panose="020B0609020204030204" pitchFamily="49" charset="0"/>
              </a:rPr>
              <a:t>, N</a:t>
            </a:r>
            <a:r>
              <a:rPr lang="en-US" sz="2000" b="0" dirty="0">
                <a:solidFill>
                  <a:srgbClr val="D4D4D4"/>
                </a:solidFill>
                <a:effectLst/>
                <a:latin typeface="Consolas" panose="020B0609020204030204" pitchFamily="49" charset="0"/>
              </a:rPr>
              <a:t>+</a:t>
            </a:r>
            <a:r>
              <a:rPr lang="en-US" sz="2000" b="0" dirty="0">
                <a:solidFill>
                  <a:srgbClr val="B5CEA8"/>
                </a:solidFill>
                <a:effectLst/>
                <a:latin typeface="Consolas" panose="020B0609020204030204" pitchFamily="49" charset="0"/>
              </a:rPr>
              <a:t>1</a:t>
            </a:r>
            <a:r>
              <a:rPr lang="en-US" sz="2000" b="0" dirty="0">
                <a:solidFill>
                  <a:srgbClr val="FFFFFF"/>
                </a:solidFill>
                <a:effectLst/>
                <a:latin typeface="Consolas" panose="020B0609020204030204" pitchFamily="49" charset="0"/>
              </a:rPr>
              <a:t>):</a:t>
            </a:r>
            <a:br>
              <a:rPr lang="en-US" sz="2000" b="0" dirty="0">
                <a:solidFill>
                  <a:srgbClr val="FFFFFF"/>
                </a:solidFill>
                <a:effectLst/>
                <a:latin typeface="Consolas" panose="020B0609020204030204" pitchFamily="49" charset="0"/>
              </a:rPr>
            </a:br>
            <a:r>
              <a:rPr lang="en-US" sz="2000" b="0" dirty="0">
                <a:solidFill>
                  <a:srgbClr val="FFFFFF"/>
                </a:solidFill>
                <a:effectLst/>
                <a:latin typeface="Consolas" panose="020B0609020204030204" pitchFamily="49" charset="0"/>
              </a:rPr>
              <a:t>        </a:t>
            </a:r>
            <a:r>
              <a:rPr lang="en-US" sz="2000" b="0" dirty="0">
                <a:solidFill>
                  <a:srgbClr val="DCDCAA"/>
                </a:solidFill>
                <a:effectLst/>
                <a:latin typeface="Consolas" panose="020B0609020204030204" pitchFamily="49" charset="0"/>
              </a:rPr>
              <a:t>print</a:t>
            </a:r>
            <a:r>
              <a:rPr lang="en-US" sz="2000" b="0" dirty="0">
                <a:solidFill>
                  <a:srgbClr val="FFFFFF"/>
                </a:solidFill>
                <a:effectLst/>
                <a:latin typeface="Consolas" panose="020B0609020204030204" pitchFamily="49" charset="0"/>
              </a:rPr>
              <a:t>(</a:t>
            </a:r>
            <a:r>
              <a:rPr lang="en-US" sz="2000" b="0" dirty="0">
                <a:solidFill>
                  <a:srgbClr val="CE9178"/>
                </a:solidFill>
                <a:effectLst/>
                <a:latin typeface="Consolas" panose="020B0609020204030204" pitchFamily="49" charset="0"/>
              </a:rPr>
              <a:t>"</a:t>
            </a:r>
            <a:r>
              <a:rPr lang="en-US" sz="2000" b="0" dirty="0">
                <a:solidFill>
                  <a:srgbClr val="569CD6"/>
                </a:solidFill>
                <a:effectLst/>
                <a:latin typeface="Consolas" panose="020B0609020204030204" pitchFamily="49" charset="0"/>
              </a:rPr>
              <a:t>%3d</a:t>
            </a:r>
            <a:r>
              <a:rPr lang="en-US" sz="2000" b="0" dirty="0">
                <a:solidFill>
                  <a:srgbClr val="CE9178"/>
                </a:solidFill>
                <a:effectLst/>
                <a:latin typeface="Consolas" panose="020B0609020204030204" pitchFamily="49" charset="0"/>
              </a:rPr>
              <a:t> "</a:t>
            </a:r>
            <a:r>
              <a:rPr lang="en-US" sz="2000" b="0" dirty="0">
                <a:solidFill>
                  <a:srgbClr val="FFFFFF"/>
                </a:solidFill>
                <a:effectLst/>
                <a:latin typeface="Consolas" panose="020B0609020204030204" pitchFamily="49" charset="0"/>
              </a:rPr>
              <a:t> </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 (x</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y), </a:t>
            </a:r>
            <a:r>
              <a:rPr lang="en-US" sz="2000" b="0" dirty="0">
                <a:solidFill>
                  <a:srgbClr val="9CDCFE"/>
                </a:solidFill>
                <a:effectLst/>
                <a:latin typeface="Consolas" panose="020B0609020204030204" pitchFamily="49" charset="0"/>
              </a:rPr>
              <a:t>end</a:t>
            </a:r>
            <a:r>
              <a:rPr lang="en-US" sz="2000" b="0" dirty="0">
                <a:solidFill>
                  <a:srgbClr val="D4D4D4"/>
                </a:solidFill>
                <a:effectLst/>
                <a:latin typeface="Consolas" panose="020B0609020204030204" pitchFamily="49" charset="0"/>
              </a:rPr>
              <a:t>=</a:t>
            </a:r>
            <a:r>
              <a:rPr lang="en-US" sz="2000" b="0" dirty="0">
                <a:solidFill>
                  <a:srgbClr val="CE9178"/>
                </a:solidFill>
                <a:effectLst/>
                <a:latin typeface="Consolas" panose="020B0609020204030204" pitchFamily="49" charset="0"/>
              </a:rPr>
              <a:t>""</a:t>
            </a:r>
            <a:r>
              <a:rPr lang="en-US" sz="2000" b="0" dirty="0">
                <a:solidFill>
                  <a:srgbClr val="FFFFFF"/>
                </a:solidFill>
                <a:effectLst/>
                <a:latin typeface="Consolas" panose="020B0609020204030204" pitchFamily="49" charset="0"/>
              </a:rPr>
              <a:t>)</a:t>
            </a:r>
            <a:br>
              <a:rPr lang="en-US" sz="2000" b="0" dirty="0">
                <a:solidFill>
                  <a:srgbClr val="FFFFFF"/>
                </a:solidFill>
                <a:effectLst/>
                <a:latin typeface="Consolas" panose="020B0609020204030204" pitchFamily="49" charset="0"/>
              </a:rPr>
            </a:br>
            <a:r>
              <a:rPr lang="en-US" sz="2000" b="0" dirty="0">
                <a:solidFill>
                  <a:srgbClr val="FFFFFF"/>
                </a:solidFill>
                <a:effectLst/>
                <a:latin typeface="Consolas" panose="020B0609020204030204" pitchFamily="49" charset="0"/>
              </a:rPr>
              <a:t>    </a:t>
            </a:r>
            <a:r>
              <a:rPr lang="en-US" sz="2000" b="0" dirty="0">
                <a:solidFill>
                  <a:srgbClr val="DCDCAA"/>
                </a:solidFill>
                <a:effectLst/>
                <a:latin typeface="Consolas" panose="020B0609020204030204" pitchFamily="49" charset="0"/>
              </a:rPr>
              <a:t>print</a:t>
            </a:r>
            <a:r>
              <a:rPr lang="en-US" sz="2000" b="0" dirty="0">
                <a:solidFill>
                  <a:srgbClr val="FFFFFF"/>
                </a:solidFill>
                <a:effectLst/>
                <a:latin typeface="Consolas" panose="020B0609020204030204" pitchFamily="49" charset="0"/>
              </a:rPr>
              <a:t>()</a:t>
            </a:r>
            <a:br>
              <a:rPr lang="en-US" sz="2000" dirty="0">
                <a:latin typeface="Courier New" panose="02070309020205020404" pitchFamily="49" charset="0"/>
                <a:cs typeface="Courier New" panose="02070309020205020404" pitchFamily="49" charset="0"/>
              </a:rPr>
            </a:b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#output: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1   2   3   4   5   6   7   8   9  10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2   4   6   8  10  12  14  16  18  20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3   6   9  12  15  18  21  24  27  30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4   8  12  16  20  24  28  32  36  40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5  10  15  20  25  30  35  40  45  50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6  12  18  24  30  36  42  48  54  60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7  14  21  28  35  42  49  56  63  70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8  16  24  32  40  48  56  64  72  80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9  18  27  36  45  54  63  72  81  90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10  20  30  40  50  60  70  80  90 100</a:t>
            </a:r>
          </a:p>
        </p:txBody>
      </p:sp>
    </p:spTree>
    <p:extLst>
      <p:ext uri="{BB962C8B-B14F-4D97-AF65-F5344CB8AC3E}">
        <p14:creationId xmlns:p14="http://schemas.microsoft.com/office/powerpoint/2010/main" val="3779797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BE3CE-26A6-44E9-AF18-2B185FDA0C38}"/>
              </a:ext>
            </a:extLst>
          </p:cNvPr>
          <p:cNvSpPr>
            <a:spLocks noGrp="1"/>
          </p:cNvSpPr>
          <p:nvPr>
            <p:ph type="title"/>
          </p:nvPr>
        </p:nvSpPr>
        <p:spPr/>
        <p:txBody>
          <a:bodyPr/>
          <a:lstStyle/>
          <a:p>
            <a:r>
              <a:rPr lang="en-US" dirty="0"/>
              <a:t>Break and continue </a:t>
            </a:r>
          </a:p>
        </p:txBody>
      </p:sp>
      <p:sp>
        <p:nvSpPr>
          <p:cNvPr id="3" name="Content Placeholder 2">
            <a:extLst>
              <a:ext uri="{FF2B5EF4-FFF2-40B4-BE49-F238E27FC236}">
                <a16:creationId xmlns:a16="http://schemas.microsoft.com/office/drawing/2014/main" id="{C36A5F2A-239C-4330-80C1-977522AE10CD}"/>
              </a:ext>
            </a:extLst>
          </p:cNvPr>
          <p:cNvSpPr>
            <a:spLocks noGrp="1"/>
          </p:cNvSpPr>
          <p:nvPr>
            <p:ph idx="1"/>
          </p:nvPr>
        </p:nvSpPr>
        <p:spPr/>
        <p:txBody>
          <a:bodyPr>
            <a:normAutofit/>
          </a:bodyPr>
          <a:lstStyle/>
          <a:p>
            <a:pPr>
              <a:defRPr/>
            </a:pPr>
            <a:r>
              <a:rPr lang="en-US" dirty="0">
                <a:latin typeface="Courier New" pitchFamily="49" charset="0"/>
              </a:rPr>
              <a:t>break</a:t>
            </a:r>
            <a:r>
              <a:rPr lang="en-US" dirty="0"/>
              <a:t> exits from for or while loop</a:t>
            </a:r>
          </a:p>
          <a:p>
            <a:pPr>
              <a:defRPr/>
            </a:pPr>
            <a:r>
              <a:rPr lang="en-US" dirty="0">
                <a:latin typeface="Courier New" pitchFamily="49" charset="0"/>
              </a:rPr>
              <a:t>continue</a:t>
            </a:r>
            <a:r>
              <a:rPr lang="en-US" dirty="0"/>
              <a:t> continues the nearest cycle of for or while loop (goes to beginning of loop)</a:t>
            </a:r>
          </a:p>
          <a:p>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"positive integer?"</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not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s.isdigit</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continue</a:t>
            </a:r>
            <a:br>
              <a:rPr lang="en-US" b="0" dirty="0">
                <a:solidFill>
                  <a:srgbClr val="C586C0"/>
                </a:solidFill>
                <a:effectLst/>
                <a:latin typeface="Consolas" panose="020B0609020204030204" pitchFamily="49" charset="0"/>
              </a:rPr>
            </a:br>
            <a:r>
              <a:rPr lang="en-US" b="0" dirty="0">
                <a:solidFill>
                  <a:srgbClr val="C586C0"/>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FFFFFF"/>
                </a:solidFill>
                <a:effectLst/>
                <a:latin typeface="Consolas" panose="020B0609020204030204" pitchFamily="49" charset="0"/>
              </a:rPr>
              <a:t>(s)</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D4D4D4"/>
                </a:solidFill>
                <a:effectLst/>
                <a:latin typeface="Consolas" panose="020B0609020204030204" pitchFamily="49" charset="0"/>
              </a:rPr>
              <a:t>&gt;</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break</a:t>
            </a:r>
            <a:endParaRPr lang="en-US" b="0" dirty="0">
              <a:solidFill>
                <a:srgbClr val="FFFFFF"/>
              </a:solidFill>
              <a:effectLst/>
              <a:latin typeface="Consolas" panose="020B0609020204030204" pitchFamily="49" charset="0"/>
            </a:endParaRPr>
          </a:p>
          <a:p>
            <a:endParaRPr lang="en-US" dirty="0"/>
          </a:p>
        </p:txBody>
      </p:sp>
    </p:spTree>
    <p:extLst>
      <p:ext uri="{BB962C8B-B14F-4D97-AF65-F5344CB8AC3E}">
        <p14:creationId xmlns:p14="http://schemas.microsoft.com/office/powerpoint/2010/main" val="4086399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51FA4-2189-4BC9-B77F-04B154301580}"/>
              </a:ext>
            </a:extLst>
          </p:cNvPr>
          <p:cNvSpPr>
            <a:spLocks noGrp="1"/>
          </p:cNvSpPr>
          <p:nvPr>
            <p:ph type="title"/>
          </p:nvPr>
        </p:nvSpPr>
        <p:spPr/>
        <p:txBody>
          <a:bodyPr/>
          <a:lstStyle/>
          <a:p>
            <a:r>
              <a:rPr lang="en-US" dirty="0"/>
              <a:t>Def - Function definitions</a:t>
            </a:r>
          </a:p>
        </p:txBody>
      </p:sp>
      <p:sp>
        <p:nvSpPr>
          <p:cNvPr id="3" name="Content Placeholder 2">
            <a:extLst>
              <a:ext uri="{FF2B5EF4-FFF2-40B4-BE49-F238E27FC236}">
                <a16:creationId xmlns:a16="http://schemas.microsoft.com/office/drawing/2014/main" id="{8F9B4EC6-0339-420C-AE98-7146353C2E0C}"/>
              </a:ext>
            </a:extLst>
          </p:cNvPr>
          <p:cNvSpPr>
            <a:spLocks noGrp="1"/>
          </p:cNvSpPr>
          <p:nvPr>
            <p:ph idx="1"/>
          </p:nvPr>
        </p:nvSpPr>
        <p:spPr>
          <a:xfrm>
            <a:off x="1218883" y="1701796"/>
            <a:ext cx="10360501" cy="4679531"/>
          </a:xfrm>
        </p:spPr>
        <p:txBody>
          <a:bodyPr>
            <a:normAutofit/>
          </a:bodyPr>
          <a:lstStyle/>
          <a:p>
            <a:pPr>
              <a:lnSpc>
                <a:spcPct val="80000"/>
              </a:lnSpc>
              <a:defRPr/>
            </a:pPr>
            <a:r>
              <a:rPr lang="en-US" sz="2400" dirty="0"/>
              <a:t>Syntax:</a:t>
            </a:r>
          </a:p>
          <a:p>
            <a:pPr marL="0" indent="0">
              <a:buNone/>
            </a:pPr>
            <a:r>
              <a:rPr lang="en-US" sz="2400" b="0" dirty="0">
                <a:solidFill>
                  <a:srgbClr val="569CD6"/>
                </a:solidFill>
                <a:effectLst/>
                <a:latin typeface="Consolas" panose="020B0609020204030204" pitchFamily="49" charset="0"/>
              </a:rPr>
              <a:t>def</a:t>
            </a:r>
            <a:r>
              <a:rPr lang="en-US" sz="2400" b="0" dirty="0">
                <a:solidFill>
                  <a:srgbClr val="FFFFFF"/>
                </a:solidFill>
                <a:effectLst/>
                <a:latin typeface="Consolas" panose="020B0609020204030204" pitchFamily="49" charset="0"/>
              </a:rPr>
              <a:t> </a:t>
            </a:r>
            <a:r>
              <a:rPr lang="en-US" sz="2400" b="0" dirty="0" err="1">
                <a:solidFill>
                  <a:srgbClr val="DCDCAA"/>
                </a:solidFill>
                <a:effectLst/>
                <a:latin typeface="Consolas" panose="020B0609020204030204" pitchFamily="49" charset="0"/>
              </a:rPr>
              <a:t>function_name</a:t>
            </a:r>
            <a:r>
              <a:rPr lang="en-US" sz="2400" b="0" dirty="0">
                <a:solidFill>
                  <a:srgbClr val="FFFFFF"/>
                </a:solidFill>
                <a:effectLst/>
                <a:latin typeface="Consolas" panose="020B0609020204030204" pitchFamily="49" charset="0"/>
              </a:rPr>
              <a:t>(</a:t>
            </a:r>
            <a:r>
              <a:rPr lang="en-US" sz="2400" b="0" dirty="0" err="1">
                <a:solidFill>
                  <a:srgbClr val="9CDCFE"/>
                </a:solidFill>
                <a:effectLst/>
                <a:latin typeface="Consolas" panose="020B0609020204030204" pitchFamily="49" charset="0"/>
              </a:rPr>
              <a:t>parameter_list</a:t>
            </a:r>
            <a:r>
              <a:rPr lang="en-US" sz="2400" b="0" dirty="0">
                <a:solidFill>
                  <a:srgbClr val="FFFFFF"/>
                </a:solidFill>
                <a:effectLst/>
                <a:latin typeface="Consolas" panose="020B0609020204030204" pitchFamily="49" charset="0"/>
              </a:rPr>
              <a:t>):</a:t>
            </a:r>
            <a:br>
              <a:rPr lang="en-US" sz="2400" b="0" dirty="0">
                <a:solidFill>
                  <a:srgbClr val="FFFFFF"/>
                </a:solidFill>
                <a:effectLst/>
                <a:latin typeface="Consolas" panose="020B0609020204030204" pitchFamily="49" charset="0"/>
              </a:rPr>
            </a:br>
            <a:r>
              <a:rPr lang="en-US" sz="2400" b="0" dirty="0">
                <a:solidFill>
                  <a:srgbClr val="FFFFFF"/>
                </a:solidFill>
                <a:effectLst/>
                <a:latin typeface="Consolas" panose="020B0609020204030204" pitchFamily="49" charset="0"/>
              </a:rPr>
              <a:t>    [</a:t>
            </a:r>
            <a:r>
              <a:rPr lang="en-US" sz="2400" b="0" dirty="0">
                <a:solidFill>
                  <a:srgbClr val="CE9178"/>
                </a:solidFill>
                <a:effectLst/>
                <a:latin typeface="Consolas" panose="020B0609020204030204" pitchFamily="49" charset="0"/>
              </a:rPr>
              <a:t>"documentation string"</a:t>
            </a:r>
            <a:r>
              <a:rPr lang="en-US" sz="2400" b="0" dirty="0">
                <a:solidFill>
                  <a:srgbClr val="FFFFFF"/>
                </a:solidFill>
                <a:effectLst/>
                <a:latin typeface="Consolas" panose="020B0609020204030204" pitchFamily="49" charset="0"/>
              </a:rPr>
              <a:t>] </a:t>
            </a:r>
            <a:br>
              <a:rPr lang="en-US" sz="2400" b="0" dirty="0">
                <a:solidFill>
                  <a:srgbClr val="FFFFFF"/>
                </a:solidFill>
                <a:effectLst/>
                <a:latin typeface="Consolas" panose="020B0609020204030204" pitchFamily="49" charset="0"/>
              </a:rPr>
            </a:br>
            <a:r>
              <a:rPr lang="en-US" sz="2400" b="0" dirty="0">
                <a:solidFill>
                  <a:srgbClr val="FFFFFF"/>
                </a:solidFill>
                <a:effectLst/>
                <a:latin typeface="Consolas" panose="020B0609020204030204" pitchFamily="49" charset="0"/>
              </a:rPr>
              <a:t>    </a:t>
            </a:r>
            <a:r>
              <a:rPr lang="en-US" sz="2400" b="0" dirty="0">
                <a:solidFill>
                  <a:srgbClr val="7CA668"/>
                </a:solidFill>
                <a:effectLst/>
                <a:latin typeface="Consolas" panose="020B0609020204030204" pitchFamily="49" charset="0"/>
              </a:rPr>
              <a:t># </a:t>
            </a:r>
            <a:r>
              <a:rPr lang="en-US" sz="2400" b="0" dirty="0" err="1">
                <a:solidFill>
                  <a:srgbClr val="7CA668"/>
                </a:solidFill>
                <a:effectLst/>
                <a:latin typeface="Consolas" panose="020B0609020204030204" pitchFamily="49" charset="0"/>
              </a:rPr>
              <a:t>function_body</a:t>
            </a:r>
            <a:br>
              <a:rPr lang="en-US" sz="2400" dirty="0">
                <a:solidFill>
                  <a:srgbClr val="FFFFFF"/>
                </a:solidFill>
                <a:latin typeface="Consolas" panose="020B0609020204030204" pitchFamily="49" charset="0"/>
              </a:rPr>
            </a:br>
            <a:r>
              <a:rPr lang="en-US" sz="2400" dirty="0">
                <a:solidFill>
                  <a:srgbClr val="FFFFFF"/>
                </a:solidFill>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FFFFFF"/>
                </a:solidFill>
                <a:effectLst/>
                <a:latin typeface="Consolas" panose="020B0609020204030204" pitchFamily="49" charset="0"/>
              </a:rPr>
              <a:t> value(s)</a:t>
            </a:r>
          </a:p>
          <a:p>
            <a:pPr>
              <a:lnSpc>
                <a:spcPct val="80000"/>
              </a:lnSpc>
              <a:defRPr/>
            </a:pPr>
            <a:r>
              <a:rPr lang="en-US" sz="2400" i="1" dirty="0"/>
              <a:t>return</a:t>
            </a:r>
            <a:r>
              <a:rPr lang="en-US" sz="2400" dirty="0"/>
              <a:t> keyword ends function/method. It can have one or many values (tuple) or no values at all (when it returns </a:t>
            </a:r>
            <a:r>
              <a:rPr lang="en-US" sz="2400" i="1" dirty="0"/>
              <a:t>None)</a:t>
            </a:r>
          </a:p>
          <a:p>
            <a:r>
              <a:rPr lang="en-US" sz="2400" b="0" dirty="0">
                <a:solidFill>
                  <a:srgbClr val="569CD6"/>
                </a:solidFill>
                <a:effectLst/>
                <a:latin typeface="Consolas" panose="020B0609020204030204" pitchFamily="49" charset="0"/>
              </a:rPr>
              <a:t>def</a:t>
            </a:r>
            <a:r>
              <a:rPr lang="en-US" sz="2400" b="0" dirty="0">
                <a:solidFill>
                  <a:srgbClr val="FFFFFF"/>
                </a:solidFill>
                <a:effectLst/>
                <a:latin typeface="Consolas" panose="020B0609020204030204" pitchFamily="49" charset="0"/>
              </a:rPr>
              <a:t> </a:t>
            </a:r>
            <a:r>
              <a:rPr lang="en-US" sz="2400" b="0" dirty="0" err="1">
                <a:solidFill>
                  <a:srgbClr val="DCDCAA"/>
                </a:solidFill>
                <a:effectLst/>
                <a:latin typeface="Consolas" panose="020B0609020204030204" pitchFamily="49" charset="0"/>
              </a:rPr>
              <a:t>is_palindrome</a:t>
            </a:r>
            <a:r>
              <a:rPr lang="en-US" sz="2400" b="0" dirty="0">
                <a:solidFill>
                  <a:srgbClr val="FFFFFF"/>
                </a:solidFill>
                <a:effectLst/>
                <a:latin typeface="Consolas" panose="020B0609020204030204" pitchFamily="49" charset="0"/>
              </a:rPr>
              <a:t>(</a:t>
            </a:r>
            <a:r>
              <a:rPr lang="en-US" sz="2400" b="0" dirty="0">
                <a:solidFill>
                  <a:srgbClr val="9CDCFE"/>
                </a:solidFill>
                <a:effectLst/>
                <a:latin typeface="Consolas" panose="020B0609020204030204" pitchFamily="49" charset="0"/>
              </a:rPr>
              <a:t>s</a:t>
            </a:r>
            <a:r>
              <a:rPr lang="en-US" sz="2400" b="0" dirty="0">
                <a:solidFill>
                  <a:srgbClr val="FFFFFF"/>
                </a:solidFill>
                <a:effectLst/>
                <a:latin typeface="Consolas" panose="020B0609020204030204" pitchFamily="49" charset="0"/>
              </a:rPr>
              <a:t>):</a:t>
            </a:r>
            <a:br>
              <a:rPr lang="en-US" sz="2400" b="0" dirty="0">
                <a:solidFill>
                  <a:srgbClr val="FFFFFF"/>
                </a:solidFill>
                <a:effectLst/>
                <a:latin typeface="Consolas" panose="020B0609020204030204" pitchFamily="49" charset="0"/>
              </a:rPr>
            </a:br>
            <a:r>
              <a:rPr lang="en-US" sz="2400" b="0" dirty="0">
                <a:solidFill>
                  <a:srgbClr val="FFFFFF"/>
                </a:solidFill>
                <a:effectLst/>
                <a:latin typeface="Consolas" panose="020B0609020204030204" pitchFamily="49" charset="0"/>
              </a:rPr>
              <a:t>    </a:t>
            </a:r>
            <a:r>
              <a:rPr lang="en-US" sz="2400" b="0" dirty="0">
                <a:solidFill>
                  <a:srgbClr val="CE9178"/>
                </a:solidFill>
                <a:effectLst/>
                <a:latin typeface="Consolas" panose="020B0609020204030204" pitchFamily="49" charset="0"/>
              </a:rPr>
              <a:t>"""returns True if s is palindrome"""</a:t>
            </a:r>
            <a:br>
              <a:rPr lang="en-US" sz="2400" dirty="0">
                <a:solidFill>
                  <a:srgbClr val="FFFFFF"/>
                </a:solidFill>
                <a:latin typeface="Consolas" panose="020B0609020204030204" pitchFamily="49" charset="0"/>
              </a:rPr>
            </a:br>
            <a:r>
              <a:rPr lang="en-US" sz="2400" dirty="0">
                <a:solidFill>
                  <a:srgbClr val="FFFFFF"/>
                </a:solidFill>
                <a:latin typeface="Consolas" panose="020B0609020204030204" pitchFamily="49" charset="0"/>
              </a:rPr>
              <a:t>    </a:t>
            </a:r>
            <a:r>
              <a:rPr lang="en-US" sz="2400" b="0" dirty="0">
                <a:solidFill>
                  <a:srgbClr val="FFFFFF"/>
                </a:solidFill>
                <a:effectLst/>
                <a:latin typeface="Consolas" panose="020B0609020204030204" pitchFamily="49" charset="0"/>
              </a:rPr>
              <a:t>s </a:t>
            </a:r>
            <a:r>
              <a:rPr lang="en-US" sz="2400" b="0" dirty="0">
                <a:solidFill>
                  <a:srgbClr val="D4D4D4"/>
                </a:solidFill>
                <a:effectLst/>
                <a:latin typeface="Consolas" panose="020B0609020204030204" pitchFamily="49" charset="0"/>
              </a:rPr>
              <a:t>=</a:t>
            </a:r>
            <a:r>
              <a:rPr lang="en-US" sz="2400" b="0" dirty="0">
                <a:solidFill>
                  <a:srgbClr val="FFFFFF"/>
                </a:solidFill>
                <a:effectLst/>
                <a:latin typeface="Consolas" panose="020B0609020204030204" pitchFamily="49" charset="0"/>
              </a:rPr>
              <a:t> </a:t>
            </a:r>
            <a:r>
              <a:rPr lang="en-US" sz="2400" b="0" dirty="0" err="1">
                <a:solidFill>
                  <a:srgbClr val="FFFFFF"/>
                </a:solidFill>
                <a:effectLst/>
                <a:latin typeface="Consolas" panose="020B0609020204030204" pitchFamily="49" charset="0"/>
              </a:rPr>
              <a:t>s.lower</a:t>
            </a:r>
            <a:r>
              <a:rPr lang="en-US" sz="2400" b="0" dirty="0">
                <a:solidFill>
                  <a:srgbClr val="FFFFFF"/>
                </a:solidFill>
                <a:effectLst/>
                <a:latin typeface="Consolas" panose="020B0609020204030204" pitchFamily="49" charset="0"/>
              </a:rPr>
              <a:t>()</a:t>
            </a:r>
            <a:br>
              <a:rPr lang="en-US" sz="2400" b="0" dirty="0">
                <a:solidFill>
                  <a:srgbClr val="FFFFFF"/>
                </a:solidFill>
                <a:effectLst/>
                <a:latin typeface="Consolas" panose="020B0609020204030204" pitchFamily="49" charset="0"/>
              </a:rPr>
            </a:br>
            <a:r>
              <a:rPr lang="en-US" sz="2400" b="0" dirty="0">
                <a:solidFill>
                  <a:srgbClr val="FFFFFF"/>
                </a:solidFill>
                <a:effectLst/>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FFFFFF"/>
                </a:solidFill>
                <a:effectLst/>
                <a:latin typeface="Consolas" panose="020B0609020204030204" pitchFamily="49" charset="0"/>
              </a:rPr>
              <a:t> s </a:t>
            </a:r>
            <a:r>
              <a:rPr lang="en-US" sz="2400" b="0" dirty="0">
                <a:solidFill>
                  <a:srgbClr val="D4D4D4"/>
                </a:solidFill>
                <a:effectLst/>
                <a:latin typeface="Consolas" panose="020B0609020204030204" pitchFamily="49" charset="0"/>
              </a:rPr>
              <a:t>==</a:t>
            </a:r>
            <a:r>
              <a:rPr lang="en-US" sz="2400" b="0" dirty="0">
                <a:solidFill>
                  <a:srgbClr val="FFFFFF"/>
                </a:solidFill>
                <a:effectLst/>
                <a:latin typeface="Consolas" panose="020B0609020204030204" pitchFamily="49" charset="0"/>
              </a:rPr>
              <a:t> s[::</a:t>
            </a:r>
            <a:r>
              <a:rPr lang="en-US" sz="2400" b="0" dirty="0">
                <a:solidFill>
                  <a:srgbClr val="D4D4D4"/>
                </a:solidFill>
                <a:effectLst/>
                <a:latin typeface="Consolas" panose="020B0609020204030204" pitchFamily="49" charset="0"/>
              </a:rPr>
              <a:t>-</a:t>
            </a:r>
            <a:r>
              <a:rPr lang="en-US" sz="2400" b="0" dirty="0">
                <a:solidFill>
                  <a:srgbClr val="B5CEA8"/>
                </a:solidFill>
                <a:effectLst/>
                <a:latin typeface="Consolas" panose="020B0609020204030204" pitchFamily="49" charset="0"/>
              </a:rPr>
              <a:t>1</a:t>
            </a:r>
            <a:r>
              <a:rPr lang="en-US" sz="2400" b="0" dirty="0">
                <a:solidFill>
                  <a:srgbClr val="FFFFFF"/>
                </a:solidFill>
                <a:effectLst/>
                <a:latin typeface="Consolas" panose="020B0609020204030204" pitchFamily="49" charset="0"/>
              </a:rPr>
              <a:t>]</a:t>
            </a:r>
          </a:p>
          <a:p>
            <a:endParaRPr lang="en-US" dirty="0"/>
          </a:p>
        </p:txBody>
      </p:sp>
    </p:spTree>
    <p:extLst>
      <p:ext uri="{BB962C8B-B14F-4D97-AF65-F5344CB8AC3E}">
        <p14:creationId xmlns:p14="http://schemas.microsoft.com/office/powerpoint/2010/main" val="318715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7AFB1-5E56-446C-9272-BA6CB0D4CE36}"/>
              </a:ext>
            </a:extLst>
          </p:cNvPr>
          <p:cNvSpPr>
            <a:spLocks noGrp="1"/>
          </p:cNvSpPr>
          <p:nvPr>
            <p:ph type="title"/>
          </p:nvPr>
        </p:nvSpPr>
        <p:spPr/>
        <p:txBody>
          <a:bodyPr/>
          <a:lstStyle/>
          <a:p>
            <a:r>
              <a:rPr lang="en-US" dirty="0"/>
              <a:t>Calling a Function</a:t>
            </a:r>
          </a:p>
        </p:txBody>
      </p:sp>
      <p:sp>
        <p:nvSpPr>
          <p:cNvPr id="3" name="Content Placeholder 2">
            <a:extLst>
              <a:ext uri="{FF2B5EF4-FFF2-40B4-BE49-F238E27FC236}">
                <a16:creationId xmlns:a16="http://schemas.microsoft.com/office/drawing/2014/main" id="{84A3AF8F-83F7-46A8-8266-5C9411227212}"/>
              </a:ext>
            </a:extLst>
          </p:cNvPr>
          <p:cNvSpPr>
            <a:spLocks noGrp="1"/>
          </p:cNvSpPr>
          <p:nvPr>
            <p:ph idx="1"/>
          </p:nvPr>
        </p:nvSpPr>
        <p:spPr/>
        <p:txBody>
          <a:bodyPr>
            <a:normAutofit fontScale="77500" lnSpcReduction="20000"/>
          </a:bodyPr>
          <a:lstStyle/>
          <a:p>
            <a:pPr marL="0" indent="0">
              <a:buNone/>
            </a:pPr>
            <a:r>
              <a:rPr lang="en-US" b="0" dirty="0">
                <a:solidFill>
                  <a:srgbClr val="FFFFFF"/>
                </a:solidFill>
                <a:effectLst/>
                <a:latin typeface="Consolas" panose="020B0609020204030204" pitchFamily="49" charset="0"/>
              </a:rPr>
              <a:t>value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function_name</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function_args</a:t>
            </a:r>
            <a:r>
              <a:rPr lang="en-US" b="0" dirty="0">
                <a:solidFill>
                  <a:srgbClr val="FFFFFF"/>
                </a:solidFill>
                <a:effectLst/>
                <a:latin typeface="Consolas" panose="020B0609020204030204" pitchFamily="49" charset="0"/>
              </a:rPr>
              <a:t>)</a:t>
            </a:r>
          </a:p>
          <a:p>
            <a:r>
              <a:rPr lang="en-US" b="0" dirty="0">
                <a:solidFill>
                  <a:srgbClr val="FFFFFF"/>
                </a:solidFill>
                <a:effectLst/>
              </a:rPr>
              <a:t>Examples</a:t>
            </a:r>
          </a:p>
          <a:p>
            <a:pPr marL="0" indent="0">
              <a:buNone/>
            </a:pPr>
            <a:r>
              <a:rPr lang="en-US" b="0" dirty="0">
                <a:solidFill>
                  <a:srgbClr val="FFFFFF"/>
                </a:solidFill>
                <a:effectLst/>
                <a:latin typeface="Consolas" panose="020B0609020204030204" pitchFamily="49" charset="0"/>
              </a:rPr>
              <a:t>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"Give me a word: "</a:t>
            </a:r>
            <a:r>
              <a:rPr lang="en-US" b="0" dirty="0">
                <a:solidFill>
                  <a:srgbClr val="FFFFFF"/>
                </a:solidFill>
                <a:effectLst/>
                <a:latin typeface="Consolas" panose="020B0609020204030204" pitchFamily="49" charset="0"/>
              </a:rPr>
              <a:t>)</a:t>
            </a:r>
          </a:p>
          <a:p>
            <a:pPr marL="0" indent="0">
              <a:buNone/>
            </a:pP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is_palindrome</a:t>
            </a:r>
            <a:r>
              <a:rPr lang="en-US" b="0" dirty="0">
                <a:solidFill>
                  <a:srgbClr val="FFFFFF"/>
                </a:solidFill>
                <a:effectLst/>
                <a:latin typeface="Consolas" panose="020B0609020204030204" pitchFamily="49" charset="0"/>
              </a:rPr>
              <a:t>(s):</a:t>
            </a:r>
          </a:p>
          <a:p>
            <a:pPr marL="0" indent="0">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 </a:t>
            </a:r>
            <a:r>
              <a:rPr lang="en-US" b="0" dirty="0">
                <a:solidFill>
                  <a:srgbClr val="CE9178"/>
                </a:solidFill>
                <a:effectLst/>
                <a:latin typeface="Consolas" panose="020B0609020204030204" pitchFamily="49" charset="0"/>
              </a:rPr>
              <a:t>"is palindrome"</a:t>
            </a:r>
            <a:r>
              <a:rPr lang="en-US" b="0" dirty="0">
                <a:solidFill>
                  <a:srgbClr val="FFFFFF"/>
                </a:solidFill>
                <a:effectLst/>
                <a:latin typeface="Consolas" panose="020B0609020204030204" pitchFamily="49" charset="0"/>
              </a:rPr>
              <a:t>)</a:t>
            </a:r>
          </a:p>
          <a:p>
            <a:pPr marL="0" indent="0">
              <a:buNone/>
            </a:pP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 </a:t>
            </a:r>
            <a:r>
              <a:rPr lang="en-US" b="0" dirty="0">
                <a:solidFill>
                  <a:srgbClr val="CE9178"/>
                </a:solidFill>
                <a:effectLst/>
                <a:latin typeface="Consolas" panose="020B0609020204030204" pitchFamily="49" charset="0"/>
              </a:rPr>
              <a:t>"is not a palindrome"</a:t>
            </a:r>
            <a:r>
              <a:rPr lang="en-US" b="0" dirty="0">
                <a:solidFill>
                  <a:srgbClr val="FFFFFF"/>
                </a:solidFill>
                <a:effectLst/>
                <a:latin typeface="Consolas" panose="020B0609020204030204" pitchFamily="49" charset="0"/>
              </a:rPr>
              <a:t>)</a:t>
            </a:r>
          </a:p>
          <a:p>
            <a:pPr marL="0" indent="0">
              <a:buNone/>
            </a:pPr>
            <a:r>
              <a:rPr lang="en-US" b="0" dirty="0">
                <a:solidFill>
                  <a:srgbClr val="7CA668"/>
                </a:solidFill>
                <a:effectLst/>
                <a:latin typeface="Consolas" panose="020B0609020204030204" pitchFamily="49" charset="0"/>
              </a:rPr>
              <a:t># functions can be also referenced via variable</a:t>
            </a:r>
            <a:endParaRPr lang="en-US" b="0" dirty="0">
              <a:solidFill>
                <a:srgbClr val="FFFFFF"/>
              </a:solidFill>
              <a:effectLst/>
              <a:latin typeface="Consolas" panose="020B0609020204030204" pitchFamily="49" charset="0"/>
            </a:endParaRPr>
          </a:p>
          <a:p>
            <a:pPr marL="0" indent="0">
              <a:buNone/>
            </a:pPr>
            <a:r>
              <a:rPr lang="en-US" b="0" dirty="0" err="1">
                <a:solidFill>
                  <a:srgbClr val="FFFFFF"/>
                </a:solidFill>
                <a:effectLst/>
                <a:latin typeface="Consolas" panose="020B0609020204030204" pitchFamily="49" charset="0"/>
              </a:rPr>
              <a:t>new_name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is_palindrome</a:t>
            </a:r>
            <a:endParaRPr lang="en-US" b="0" dirty="0">
              <a:solidFill>
                <a:srgbClr val="FFFFFF"/>
              </a:solidFill>
              <a:effectLst/>
              <a:latin typeface="Consolas" panose="020B0609020204030204" pitchFamily="49" charset="0"/>
            </a:endParaRPr>
          </a:p>
          <a:p>
            <a:pPr marL="0" indent="0">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new_name</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"word?"</a:t>
            </a:r>
            <a:r>
              <a:rPr lang="en-US" b="0" dirty="0">
                <a:solidFill>
                  <a:srgbClr val="FFFFFF"/>
                </a:solidFill>
                <a:effectLst/>
                <a:latin typeface="Consolas" panose="020B0609020204030204" pitchFamily="49" charset="0"/>
              </a:rPr>
              <a:t>)))</a:t>
            </a:r>
          </a:p>
          <a:p>
            <a:endParaRPr lang="en-US" dirty="0"/>
          </a:p>
        </p:txBody>
      </p:sp>
    </p:spTree>
    <p:extLst>
      <p:ext uri="{BB962C8B-B14F-4D97-AF65-F5344CB8AC3E}">
        <p14:creationId xmlns:p14="http://schemas.microsoft.com/office/powerpoint/2010/main" val="451989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A64F3-44C9-4AFB-971A-C890583730B5}"/>
              </a:ext>
            </a:extLst>
          </p:cNvPr>
          <p:cNvSpPr>
            <a:spLocks noGrp="1"/>
          </p:cNvSpPr>
          <p:nvPr>
            <p:ph type="title"/>
          </p:nvPr>
        </p:nvSpPr>
        <p:spPr/>
        <p:txBody>
          <a:bodyPr/>
          <a:lstStyle/>
          <a:p>
            <a:r>
              <a:rPr lang="en-US" dirty="0"/>
              <a:t>Different Kind of Functions</a:t>
            </a:r>
          </a:p>
        </p:txBody>
      </p:sp>
      <p:sp>
        <p:nvSpPr>
          <p:cNvPr id="3" name="Content Placeholder 2">
            <a:extLst>
              <a:ext uri="{FF2B5EF4-FFF2-40B4-BE49-F238E27FC236}">
                <a16:creationId xmlns:a16="http://schemas.microsoft.com/office/drawing/2014/main" id="{EBA1DCC9-D335-45FC-AF4B-7DAFD93EB0A4}"/>
              </a:ext>
            </a:extLst>
          </p:cNvPr>
          <p:cNvSpPr>
            <a:spLocks noGrp="1"/>
          </p:cNvSpPr>
          <p:nvPr>
            <p:ph idx="1"/>
          </p:nvPr>
        </p:nvSpPr>
        <p:spPr>
          <a:xfrm>
            <a:off x="1218883" y="1701796"/>
            <a:ext cx="10360501" cy="4967563"/>
          </a:xfrm>
        </p:spPr>
        <p:txBody>
          <a:bodyPr>
            <a:noAutofit/>
          </a:bodyPr>
          <a:lstStyle/>
          <a:p>
            <a:pPr marL="0" indent="0">
              <a:buNone/>
            </a:pPr>
            <a:r>
              <a:rPr lang="en-US" sz="1600" b="0" dirty="0">
                <a:solidFill>
                  <a:srgbClr val="7CA668"/>
                </a:solidFill>
                <a:effectLst/>
                <a:latin typeface="Consolas" panose="020B0609020204030204" pitchFamily="49" charset="0"/>
              </a:rPr>
              <a:t># function which takes arguments and returns something</a:t>
            </a:r>
            <a:br>
              <a:rPr lang="en-US" sz="1600" dirty="0">
                <a:solidFill>
                  <a:srgbClr val="FFFFFF"/>
                </a:solidFill>
                <a:latin typeface="Consolas" panose="020B0609020204030204" pitchFamily="49" charset="0"/>
              </a:rPr>
            </a:br>
            <a:r>
              <a:rPr lang="en-US" sz="1600" b="0" dirty="0">
                <a:solidFill>
                  <a:srgbClr val="569CD6"/>
                </a:solidFill>
                <a:effectLst/>
                <a:latin typeface="Consolas" panose="020B0609020204030204" pitchFamily="49" charset="0"/>
              </a:rPr>
              <a:t>def</a:t>
            </a:r>
            <a:r>
              <a:rPr lang="en-US" sz="1600" b="0" dirty="0">
                <a:solidFill>
                  <a:srgbClr val="FFFFFF"/>
                </a:solidFill>
                <a:effectLst/>
                <a:latin typeface="Consolas" panose="020B0609020204030204" pitchFamily="49" charset="0"/>
              </a:rPr>
              <a:t> </a:t>
            </a:r>
            <a:r>
              <a:rPr lang="en-US" sz="1600" b="0" dirty="0" err="1">
                <a:solidFill>
                  <a:srgbClr val="DCDCAA"/>
                </a:solidFill>
                <a:effectLst/>
                <a:latin typeface="Consolas" panose="020B0609020204030204" pitchFamily="49" charset="0"/>
              </a:rPr>
              <a:t>inches_to_cm</a:t>
            </a:r>
            <a:r>
              <a:rPr lang="en-US" sz="1600" b="0" dirty="0">
                <a:solidFill>
                  <a:srgbClr val="FFFFFF"/>
                </a:solidFill>
                <a:effectLst/>
                <a:latin typeface="Consolas" panose="020B0609020204030204" pitchFamily="49" charset="0"/>
              </a:rPr>
              <a:t>(</a:t>
            </a:r>
            <a:r>
              <a:rPr lang="en-US" sz="1600" b="0" dirty="0">
                <a:solidFill>
                  <a:srgbClr val="9CDCFE"/>
                </a:solidFill>
                <a:effectLst/>
                <a:latin typeface="Consolas" panose="020B0609020204030204" pitchFamily="49" charset="0"/>
              </a:rPr>
              <a:t>inch</a:t>
            </a:r>
            <a:r>
              <a:rPr lang="en-US" sz="1600" b="0" dirty="0">
                <a:solidFill>
                  <a:srgbClr val="FFFFFF"/>
                </a:solidFill>
                <a:effectLst/>
                <a:latin typeface="Consolas" panose="020B0609020204030204" pitchFamily="49" charset="0"/>
              </a:rPr>
              <a:t>):</a:t>
            </a:r>
            <a:br>
              <a:rPr lang="en-US" sz="1600" b="0" dirty="0">
                <a:solidFill>
                  <a:srgbClr val="FFFFFF"/>
                </a:solidFill>
                <a:effectLst/>
                <a:latin typeface="Consolas" panose="020B0609020204030204" pitchFamily="49" charset="0"/>
              </a:rPr>
            </a:br>
            <a:r>
              <a:rPr lang="en-US" sz="1600" b="0" dirty="0">
                <a:solidFill>
                  <a:srgbClr val="FFFFFF"/>
                </a:solidFill>
                <a:effectLst/>
                <a:latin typeface="Consolas" panose="020B0609020204030204" pitchFamily="49" charset="0"/>
              </a:rPr>
              <a:t>    </a:t>
            </a:r>
            <a:r>
              <a:rPr lang="en-US" sz="1600" b="0" dirty="0">
                <a:solidFill>
                  <a:srgbClr val="C586C0"/>
                </a:solidFill>
                <a:effectLst/>
                <a:latin typeface="Consolas" panose="020B0609020204030204" pitchFamily="49" charset="0"/>
              </a:rPr>
              <a:t>return</a:t>
            </a:r>
            <a:r>
              <a:rPr lang="en-US" sz="1600" b="0" dirty="0">
                <a:solidFill>
                  <a:srgbClr val="FFFFFF"/>
                </a:solidFill>
                <a:effectLst/>
                <a:latin typeface="Consolas" panose="020B0609020204030204" pitchFamily="49" charset="0"/>
              </a:rPr>
              <a:t> inch </a:t>
            </a:r>
            <a:r>
              <a:rPr lang="en-US" sz="1600" b="0" dirty="0">
                <a:solidFill>
                  <a:srgbClr val="D4D4D4"/>
                </a:solidFill>
                <a:effectLst/>
                <a:latin typeface="Consolas" panose="020B0609020204030204" pitchFamily="49" charset="0"/>
              </a:rPr>
              <a:t>*</a:t>
            </a:r>
            <a:r>
              <a:rPr lang="en-US" sz="1600" b="0" dirty="0">
                <a:solidFill>
                  <a:srgbClr val="FFFFFF"/>
                </a:solidFill>
                <a:effectLst/>
                <a:latin typeface="Consolas" panose="020B0609020204030204" pitchFamily="49" charset="0"/>
              </a:rPr>
              <a:t> </a:t>
            </a:r>
            <a:r>
              <a:rPr lang="en-US" sz="1600" b="0" dirty="0">
                <a:solidFill>
                  <a:srgbClr val="B5CEA8"/>
                </a:solidFill>
                <a:effectLst/>
                <a:latin typeface="Consolas" panose="020B0609020204030204" pitchFamily="49" charset="0"/>
              </a:rPr>
              <a:t>2.54</a:t>
            </a:r>
            <a:br>
              <a:rPr lang="en-US" sz="1600" b="0" dirty="0">
                <a:solidFill>
                  <a:srgbClr val="FFFFFF"/>
                </a:solidFill>
                <a:effectLst/>
                <a:latin typeface="Consolas" panose="020B0609020204030204" pitchFamily="49" charset="0"/>
              </a:rPr>
            </a:br>
            <a:br>
              <a:rPr lang="en-US" sz="1600" b="0" dirty="0">
                <a:solidFill>
                  <a:srgbClr val="FFFFFF"/>
                </a:solidFill>
                <a:effectLst/>
                <a:latin typeface="Consolas" panose="020B0609020204030204" pitchFamily="49" charset="0"/>
              </a:rPr>
            </a:br>
            <a:r>
              <a:rPr lang="en-US" sz="1600" b="0" dirty="0">
                <a:solidFill>
                  <a:srgbClr val="7CA668"/>
                </a:solidFill>
                <a:effectLst/>
                <a:latin typeface="Consolas" panose="020B0609020204030204" pitchFamily="49" charset="0"/>
              </a:rPr>
              <a:t># function which takes arguments, but doesn't return anything</a:t>
            </a:r>
            <a:br>
              <a:rPr lang="en-US" sz="1600" b="0" dirty="0">
                <a:solidFill>
                  <a:srgbClr val="7CA668"/>
                </a:solidFill>
                <a:effectLst/>
                <a:latin typeface="Consolas" panose="020B0609020204030204" pitchFamily="49" charset="0"/>
              </a:rPr>
            </a:br>
            <a:r>
              <a:rPr lang="en-US" sz="1600" b="0" dirty="0">
                <a:solidFill>
                  <a:srgbClr val="569CD6"/>
                </a:solidFill>
                <a:effectLst/>
                <a:latin typeface="Consolas" panose="020B0609020204030204" pitchFamily="49" charset="0"/>
              </a:rPr>
              <a:t>def</a:t>
            </a:r>
            <a:r>
              <a:rPr lang="en-US" sz="1600" b="0" dirty="0">
                <a:solidFill>
                  <a:srgbClr val="FFFFFF"/>
                </a:solidFill>
                <a:effectLst/>
                <a:latin typeface="Consolas" panose="020B0609020204030204" pitchFamily="49" charset="0"/>
              </a:rPr>
              <a:t> </a:t>
            </a:r>
            <a:r>
              <a:rPr lang="en-US" sz="1600" b="0" dirty="0" err="1">
                <a:solidFill>
                  <a:srgbClr val="DCDCAA"/>
                </a:solidFill>
                <a:effectLst/>
                <a:latin typeface="Consolas" panose="020B0609020204030204" pitchFamily="49" charset="0"/>
              </a:rPr>
              <a:t>print_many</a:t>
            </a:r>
            <a:r>
              <a:rPr lang="en-US" sz="1600" b="0" dirty="0">
                <a:solidFill>
                  <a:srgbClr val="FFFFFF"/>
                </a:solidFill>
                <a:effectLst/>
                <a:latin typeface="Consolas" panose="020B0609020204030204" pitchFamily="49" charset="0"/>
              </a:rPr>
              <a:t>(</a:t>
            </a:r>
            <a:r>
              <a:rPr lang="en-US" sz="1600" b="0" dirty="0">
                <a:solidFill>
                  <a:srgbClr val="9CDCFE"/>
                </a:solidFill>
                <a:effectLst/>
                <a:latin typeface="Consolas" panose="020B0609020204030204" pitchFamily="49" charset="0"/>
              </a:rPr>
              <a:t>s</a:t>
            </a:r>
            <a:r>
              <a:rPr lang="en-US" sz="1600" b="0" dirty="0">
                <a:solidFill>
                  <a:srgbClr val="FFFFFF"/>
                </a:solidFill>
                <a:effectLst/>
                <a:latin typeface="Consolas" panose="020B0609020204030204" pitchFamily="49" charset="0"/>
              </a:rPr>
              <a:t>, </a:t>
            </a:r>
            <a:r>
              <a:rPr lang="en-US" sz="1600" b="0" dirty="0">
                <a:solidFill>
                  <a:srgbClr val="9CDCFE"/>
                </a:solidFill>
                <a:effectLst/>
                <a:latin typeface="Consolas" panose="020B0609020204030204" pitchFamily="49" charset="0"/>
              </a:rPr>
              <a:t>n</a:t>
            </a:r>
            <a:r>
              <a:rPr lang="en-US" sz="1600" b="0" dirty="0">
                <a:solidFill>
                  <a:srgbClr val="FFFFFF"/>
                </a:solidFill>
                <a:effectLst/>
                <a:latin typeface="Consolas" panose="020B0609020204030204" pitchFamily="49" charset="0"/>
              </a:rPr>
              <a:t>):</a:t>
            </a:r>
            <a:br>
              <a:rPr lang="en-US" sz="1600" b="0" dirty="0">
                <a:solidFill>
                  <a:srgbClr val="FFFFFF"/>
                </a:solidFill>
                <a:effectLst/>
                <a:latin typeface="Consolas" panose="020B0609020204030204" pitchFamily="49" charset="0"/>
              </a:rPr>
            </a:br>
            <a:r>
              <a:rPr lang="en-US" sz="1600" b="0" dirty="0">
                <a:solidFill>
                  <a:srgbClr val="FFFFFF"/>
                </a:solidFill>
                <a:effectLst/>
                <a:latin typeface="Consolas" panose="020B0609020204030204" pitchFamily="49" charset="0"/>
              </a:rPr>
              <a:t>    </a:t>
            </a:r>
            <a:r>
              <a:rPr lang="en-US" sz="1600" b="0" dirty="0">
                <a:solidFill>
                  <a:srgbClr val="C586C0"/>
                </a:solidFill>
                <a:effectLst/>
                <a:latin typeface="Consolas" panose="020B0609020204030204" pitchFamily="49" charset="0"/>
              </a:rPr>
              <a:t>for</a:t>
            </a:r>
            <a:r>
              <a:rPr lang="en-US" sz="1600" b="0" dirty="0">
                <a:solidFill>
                  <a:srgbClr val="FFFFFF"/>
                </a:solidFill>
                <a:effectLst/>
                <a:latin typeface="Consolas" panose="020B0609020204030204" pitchFamily="49" charset="0"/>
              </a:rPr>
              <a:t> </a:t>
            </a:r>
            <a:r>
              <a:rPr lang="en-US" sz="1600" b="0" dirty="0" err="1">
                <a:solidFill>
                  <a:srgbClr val="FFFFFF"/>
                </a:solidFill>
                <a:effectLst/>
                <a:latin typeface="Consolas" panose="020B0609020204030204" pitchFamily="49" charset="0"/>
              </a:rPr>
              <a:t>i</a:t>
            </a:r>
            <a:r>
              <a:rPr lang="en-US" sz="1600" b="0" dirty="0">
                <a:solidFill>
                  <a:srgbClr val="FFFFFF"/>
                </a:solidFill>
                <a:effectLst/>
                <a:latin typeface="Consolas" panose="020B0609020204030204" pitchFamily="49" charset="0"/>
              </a:rPr>
              <a:t> </a:t>
            </a:r>
            <a:r>
              <a:rPr lang="en-US" sz="1600" b="0" dirty="0">
                <a:solidFill>
                  <a:srgbClr val="C586C0"/>
                </a:solidFill>
                <a:effectLst/>
                <a:latin typeface="Consolas" panose="020B0609020204030204" pitchFamily="49" charset="0"/>
              </a:rPr>
              <a:t>in</a:t>
            </a:r>
            <a:r>
              <a:rPr lang="en-US" sz="1600" b="0" dirty="0">
                <a:solidFill>
                  <a:srgbClr val="FFFFFF"/>
                </a:solidFill>
                <a:effectLst/>
                <a:latin typeface="Consolas" panose="020B0609020204030204" pitchFamily="49" charset="0"/>
              </a:rPr>
              <a:t> </a:t>
            </a:r>
            <a:r>
              <a:rPr lang="en-US" sz="1600" b="0" dirty="0">
                <a:solidFill>
                  <a:srgbClr val="DCDCAA"/>
                </a:solidFill>
                <a:effectLst/>
                <a:latin typeface="Consolas" panose="020B0609020204030204" pitchFamily="49" charset="0"/>
              </a:rPr>
              <a:t>range</a:t>
            </a:r>
            <a:r>
              <a:rPr lang="en-US" sz="1600" b="0" dirty="0">
                <a:solidFill>
                  <a:srgbClr val="FFFFFF"/>
                </a:solidFill>
                <a:effectLst/>
                <a:latin typeface="Consolas" panose="020B0609020204030204" pitchFamily="49" charset="0"/>
              </a:rPr>
              <a:t>(n):</a:t>
            </a:r>
            <a:br>
              <a:rPr lang="en-US" sz="1600" b="0" dirty="0">
                <a:solidFill>
                  <a:srgbClr val="FFFFFF"/>
                </a:solidFill>
                <a:effectLst/>
                <a:latin typeface="Consolas" panose="020B0609020204030204" pitchFamily="49" charset="0"/>
              </a:rPr>
            </a:br>
            <a:r>
              <a:rPr lang="en-US" sz="1600" b="0" dirty="0">
                <a:solidFill>
                  <a:srgbClr val="FFFFFF"/>
                </a:solidFill>
                <a:effectLst/>
                <a:latin typeface="Consolas" panose="020B0609020204030204" pitchFamily="49" charset="0"/>
              </a:rPr>
              <a:t>        </a:t>
            </a:r>
            <a:r>
              <a:rPr lang="en-US" sz="1600" b="0" dirty="0">
                <a:solidFill>
                  <a:srgbClr val="DCDCAA"/>
                </a:solidFill>
                <a:effectLst/>
                <a:latin typeface="Consolas" panose="020B0609020204030204" pitchFamily="49" charset="0"/>
              </a:rPr>
              <a:t>print</a:t>
            </a:r>
            <a:r>
              <a:rPr lang="en-US" sz="1600" b="0" dirty="0">
                <a:solidFill>
                  <a:srgbClr val="FFFFFF"/>
                </a:solidFill>
                <a:effectLst/>
                <a:latin typeface="Consolas" panose="020B0609020204030204" pitchFamily="49" charset="0"/>
              </a:rPr>
              <a:t>(s)</a:t>
            </a:r>
            <a:br>
              <a:rPr lang="en-US" sz="1600" b="0" dirty="0">
                <a:solidFill>
                  <a:srgbClr val="FFFFFF"/>
                </a:solidFill>
                <a:effectLst/>
                <a:latin typeface="Consolas" panose="020B0609020204030204" pitchFamily="49" charset="0"/>
              </a:rPr>
            </a:br>
            <a:br>
              <a:rPr lang="en-US" sz="1600" b="0" dirty="0">
                <a:solidFill>
                  <a:srgbClr val="FFFFFF"/>
                </a:solidFill>
                <a:effectLst/>
                <a:latin typeface="Consolas" panose="020B0609020204030204" pitchFamily="49" charset="0"/>
              </a:rPr>
            </a:br>
            <a:r>
              <a:rPr lang="en-US" sz="1600" b="0" dirty="0">
                <a:solidFill>
                  <a:srgbClr val="7CA668"/>
                </a:solidFill>
                <a:effectLst/>
                <a:latin typeface="Consolas" panose="020B0609020204030204" pitchFamily="49" charset="0"/>
              </a:rPr>
              <a:t># function which has no arguments, but has a return value</a:t>
            </a:r>
            <a:br>
              <a:rPr lang="en-US" sz="1600" b="0" dirty="0">
                <a:solidFill>
                  <a:srgbClr val="7CA668"/>
                </a:solidFill>
                <a:effectLst/>
                <a:latin typeface="Consolas" panose="020B0609020204030204" pitchFamily="49" charset="0"/>
              </a:rPr>
            </a:br>
            <a:r>
              <a:rPr lang="en-US" sz="1600" b="0" dirty="0">
                <a:solidFill>
                  <a:srgbClr val="569CD6"/>
                </a:solidFill>
                <a:effectLst/>
                <a:latin typeface="Consolas" panose="020B0609020204030204" pitchFamily="49" charset="0"/>
              </a:rPr>
              <a:t>def</a:t>
            </a:r>
            <a:r>
              <a:rPr lang="en-US" sz="1600" b="0" dirty="0">
                <a:solidFill>
                  <a:srgbClr val="FFFFFF"/>
                </a:solidFill>
                <a:effectLst/>
                <a:latin typeface="Consolas" panose="020B0609020204030204" pitchFamily="49" charset="0"/>
              </a:rPr>
              <a:t> </a:t>
            </a:r>
            <a:r>
              <a:rPr lang="en-US" sz="1600" b="0" dirty="0" err="1">
                <a:solidFill>
                  <a:srgbClr val="DCDCAA"/>
                </a:solidFill>
                <a:effectLst/>
                <a:latin typeface="Consolas" panose="020B0609020204030204" pitchFamily="49" charset="0"/>
              </a:rPr>
              <a:t>tell_secret</a:t>
            </a:r>
            <a:r>
              <a:rPr lang="en-US" sz="1600" b="0" dirty="0">
                <a:solidFill>
                  <a:srgbClr val="FFFFFF"/>
                </a:solidFill>
                <a:effectLst/>
                <a:latin typeface="Consolas" panose="020B0609020204030204" pitchFamily="49" charset="0"/>
              </a:rPr>
              <a:t>():</a:t>
            </a:r>
            <a:br>
              <a:rPr lang="en-US" sz="1600" b="0" dirty="0">
                <a:solidFill>
                  <a:srgbClr val="FFFFFF"/>
                </a:solidFill>
                <a:effectLst/>
                <a:latin typeface="Consolas" panose="020B0609020204030204" pitchFamily="49" charset="0"/>
              </a:rPr>
            </a:br>
            <a:r>
              <a:rPr lang="en-US" sz="1600" b="0" dirty="0">
                <a:solidFill>
                  <a:srgbClr val="FFFFFF"/>
                </a:solidFill>
                <a:effectLst/>
                <a:latin typeface="Consolas" panose="020B0609020204030204" pitchFamily="49" charset="0"/>
              </a:rPr>
              <a:t>    </a:t>
            </a:r>
            <a:r>
              <a:rPr lang="en-US" sz="1600" b="0" dirty="0">
                <a:solidFill>
                  <a:srgbClr val="C586C0"/>
                </a:solidFill>
                <a:effectLst/>
                <a:latin typeface="Consolas" panose="020B0609020204030204" pitchFamily="49" charset="0"/>
              </a:rPr>
              <a:t>return</a:t>
            </a:r>
            <a:r>
              <a:rPr lang="en-US" sz="1600" b="0" dirty="0">
                <a:solidFill>
                  <a:srgbClr val="FFFFFF"/>
                </a:solidFill>
                <a:effectLst/>
                <a:latin typeface="Consolas" panose="020B0609020204030204" pitchFamily="49" charset="0"/>
              </a:rPr>
              <a:t> </a:t>
            </a:r>
            <a:r>
              <a:rPr lang="en-US" sz="1600" b="0" dirty="0">
                <a:solidFill>
                  <a:srgbClr val="CE9178"/>
                </a:solidFill>
                <a:effectLst/>
                <a:latin typeface="Consolas" panose="020B0609020204030204" pitchFamily="49" charset="0"/>
              </a:rPr>
              <a:t>"The secret is you."</a:t>
            </a:r>
            <a:br>
              <a:rPr lang="en-US" sz="1600" dirty="0">
                <a:solidFill>
                  <a:srgbClr val="FFFFFF"/>
                </a:solidFill>
                <a:latin typeface="Consolas" panose="020B0609020204030204" pitchFamily="49" charset="0"/>
              </a:rPr>
            </a:br>
            <a:br>
              <a:rPr lang="en-US" sz="1600" b="0" dirty="0">
                <a:solidFill>
                  <a:srgbClr val="FFFFFF"/>
                </a:solidFill>
                <a:effectLst/>
                <a:latin typeface="Consolas" panose="020B0609020204030204" pitchFamily="49" charset="0"/>
              </a:rPr>
            </a:br>
            <a:r>
              <a:rPr lang="en-US" sz="1600" b="0" dirty="0">
                <a:solidFill>
                  <a:srgbClr val="7CA668"/>
                </a:solidFill>
                <a:effectLst/>
                <a:latin typeface="Consolas" panose="020B0609020204030204" pitchFamily="49" charset="0"/>
              </a:rPr>
              <a:t># function without parameters nor return value</a:t>
            </a:r>
            <a:br>
              <a:rPr lang="en-US" sz="1600" b="0" dirty="0">
                <a:solidFill>
                  <a:srgbClr val="7CA668"/>
                </a:solidFill>
                <a:effectLst/>
                <a:latin typeface="Consolas" panose="020B0609020204030204" pitchFamily="49" charset="0"/>
              </a:rPr>
            </a:br>
            <a:r>
              <a:rPr lang="en-US" sz="1600" b="0" dirty="0">
                <a:solidFill>
                  <a:srgbClr val="569CD6"/>
                </a:solidFill>
                <a:effectLst/>
                <a:latin typeface="Consolas" panose="020B0609020204030204" pitchFamily="49" charset="0"/>
              </a:rPr>
              <a:t>def</a:t>
            </a:r>
            <a:r>
              <a:rPr lang="en-US" sz="1600" b="0" dirty="0">
                <a:solidFill>
                  <a:srgbClr val="FFFFFF"/>
                </a:solidFill>
                <a:effectLst/>
                <a:latin typeface="Consolas" panose="020B0609020204030204" pitchFamily="49" charset="0"/>
              </a:rPr>
              <a:t> </a:t>
            </a:r>
            <a:r>
              <a:rPr lang="en-US" sz="1600" b="0" dirty="0" err="1">
                <a:solidFill>
                  <a:srgbClr val="DCDCAA"/>
                </a:solidFill>
                <a:effectLst/>
                <a:latin typeface="Consolas" panose="020B0609020204030204" pitchFamily="49" charset="0"/>
              </a:rPr>
              <a:t>the_end</a:t>
            </a:r>
            <a:r>
              <a:rPr lang="en-US" sz="1600" b="0" dirty="0">
                <a:solidFill>
                  <a:srgbClr val="FFFFFF"/>
                </a:solidFill>
                <a:effectLst/>
                <a:latin typeface="Consolas" panose="020B0609020204030204" pitchFamily="49" charset="0"/>
              </a:rPr>
              <a:t>():</a:t>
            </a:r>
            <a:br>
              <a:rPr lang="en-US" sz="1600" b="0" dirty="0">
                <a:solidFill>
                  <a:srgbClr val="FFFFFF"/>
                </a:solidFill>
                <a:effectLst/>
                <a:latin typeface="Consolas" panose="020B0609020204030204" pitchFamily="49" charset="0"/>
              </a:rPr>
            </a:br>
            <a:r>
              <a:rPr lang="en-US" sz="1600" b="0" dirty="0">
                <a:solidFill>
                  <a:srgbClr val="FFFFFF"/>
                </a:solidFill>
                <a:effectLst/>
                <a:latin typeface="Consolas" panose="020B0609020204030204" pitchFamily="49" charset="0"/>
              </a:rPr>
              <a:t>    </a:t>
            </a:r>
            <a:r>
              <a:rPr lang="en-US" sz="1600" b="0" dirty="0">
                <a:solidFill>
                  <a:srgbClr val="DCDCAA"/>
                </a:solidFill>
                <a:effectLst/>
                <a:latin typeface="Consolas" panose="020B0609020204030204" pitchFamily="49" charset="0"/>
              </a:rPr>
              <a:t>print</a:t>
            </a:r>
            <a:r>
              <a:rPr lang="en-US" sz="1600" b="0" dirty="0">
                <a:solidFill>
                  <a:srgbClr val="FFFFFF"/>
                </a:solidFill>
                <a:effectLst/>
                <a:latin typeface="Consolas" panose="020B0609020204030204" pitchFamily="49" charset="0"/>
              </a:rPr>
              <a:t>(</a:t>
            </a:r>
            <a:r>
              <a:rPr lang="en-US" sz="1600" b="0" dirty="0">
                <a:solidFill>
                  <a:srgbClr val="CE9178"/>
                </a:solidFill>
                <a:effectLst/>
                <a:latin typeface="Consolas" panose="020B0609020204030204" pitchFamily="49" charset="0"/>
              </a:rPr>
              <a:t>"This is the end."</a:t>
            </a:r>
            <a:r>
              <a:rPr lang="en-US" sz="1600" b="0" dirty="0">
                <a:solidFill>
                  <a:srgbClr val="FFFFFF"/>
                </a:solidFill>
                <a:effectLst/>
                <a:latin typeface="Consolas" panose="020B0609020204030204" pitchFamily="49" charset="0"/>
              </a:rPr>
              <a:t>)</a:t>
            </a:r>
            <a:br>
              <a:rPr lang="en-US" sz="1600" b="0" dirty="0">
                <a:solidFill>
                  <a:srgbClr val="FFFFFF"/>
                </a:solidFill>
                <a:effectLst/>
                <a:latin typeface="Consolas" panose="020B0609020204030204" pitchFamily="49" charset="0"/>
              </a:rPr>
            </a:br>
            <a:br>
              <a:rPr lang="en-US" sz="1600" b="0" dirty="0">
                <a:solidFill>
                  <a:srgbClr val="FFFFFF"/>
                </a:solidFill>
                <a:effectLst/>
                <a:latin typeface="Consolas" panose="020B0609020204030204" pitchFamily="49" charset="0"/>
              </a:rPr>
            </a:br>
            <a:r>
              <a:rPr lang="en-US" sz="1600" b="0" dirty="0">
                <a:solidFill>
                  <a:srgbClr val="DCDCAA"/>
                </a:solidFill>
                <a:effectLst/>
                <a:latin typeface="Consolas" panose="020B0609020204030204" pitchFamily="49" charset="0"/>
              </a:rPr>
              <a:t>print</a:t>
            </a:r>
            <a:r>
              <a:rPr lang="en-US" sz="1600" b="0" dirty="0">
                <a:solidFill>
                  <a:srgbClr val="FFFFFF"/>
                </a:solidFill>
                <a:effectLst/>
                <a:latin typeface="Consolas" panose="020B0609020204030204" pitchFamily="49" charset="0"/>
              </a:rPr>
              <a:t>(</a:t>
            </a:r>
            <a:r>
              <a:rPr lang="en-US" sz="1600" b="0" dirty="0" err="1">
                <a:solidFill>
                  <a:srgbClr val="FFFFFF"/>
                </a:solidFill>
                <a:effectLst/>
                <a:latin typeface="Consolas" panose="020B0609020204030204" pitchFamily="49" charset="0"/>
              </a:rPr>
              <a:t>inches_to_cm</a:t>
            </a:r>
            <a:r>
              <a:rPr lang="en-US" sz="1600" b="0" dirty="0">
                <a:solidFill>
                  <a:srgbClr val="FFFFFF"/>
                </a:solidFill>
                <a:effectLst/>
                <a:latin typeface="Consolas" panose="020B0609020204030204" pitchFamily="49" charset="0"/>
              </a:rPr>
              <a:t>(</a:t>
            </a:r>
            <a:r>
              <a:rPr lang="en-US" sz="1600" b="0" dirty="0">
                <a:solidFill>
                  <a:srgbClr val="B5CEA8"/>
                </a:solidFill>
                <a:effectLst/>
                <a:latin typeface="Consolas" panose="020B0609020204030204" pitchFamily="49" charset="0"/>
              </a:rPr>
              <a:t>10</a:t>
            </a:r>
            <a:r>
              <a:rPr lang="en-US" sz="1600" b="0" dirty="0">
                <a:solidFill>
                  <a:srgbClr val="FFFFFF"/>
                </a:solidFill>
                <a:effectLst/>
                <a:latin typeface="Consolas" panose="020B0609020204030204" pitchFamily="49" charset="0"/>
              </a:rPr>
              <a:t>))</a:t>
            </a:r>
            <a:br>
              <a:rPr lang="en-US" sz="1600" b="0" dirty="0">
                <a:solidFill>
                  <a:srgbClr val="FFFFFF"/>
                </a:solidFill>
                <a:effectLst/>
                <a:latin typeface="Consolas" panose="020B0609020204030204" pitchFamily="49" charset="0"/>
              </a:rPr>
            </a:br>
            <a:r>
              <a:rPr lang="en-US" sz="1600" b="0" dirty="0" err="1">
                <a:solidFill>
                  <a:srgbClr val="FFFFFF"/>
                </a:solidFill>
                <a:effectLst/>
                <a:latin typeface="Consolas" panose="020B0609020204030204" pitchFamily="49" charset="0"/>
              </a:rPr>
              <a:t>print_many</a:t>
            </a:r>
            <a:r>
              <a:rPr lang="en-US" sz="1600" b="0" dirty="0">
                <a:solidFill>
                  <a:srgbClr val="FFFFFF"/>
                </a:solidFill>
                <a:effectLst/>
                <a:latin typeface="Consolas" panose="020B0609020204030204" pitchFamily="49" charset="0"/>
              </a:rPr>
              <a:t>(</a:t>
            </a:r>
            <a:r>
              <a:rPr lang="en-US" sz="1600" b="0" dirty="0">
                <a:solidFill>
                  <a:srgbClr val="CE9178"/>
                </a:solidFill>
                <a:effectLst/>
                <a:latin typeface="Consolas" panose="020B0609020204030204" pitchFamily="49" charset="0"/>
              </a:rPr>
              <a:t>"hello"</a:t>
            </a:r>
            <a:r>
              <a:rPr lang="en-US" sz="1600" b="0" dirty="0">
                <a:solidFill>
                  <a:srgbClr val="FFFFFF"/>
                </a:solidFill>
                <a:effectLst/>
                <a:latin typeface="Consolas" panose="020B0609020204030204" pitchFamily="49" charset="0"/>
              </a:rPr>
              <a:t>, </a:t>
            </a:r>
            <a:r>
              <a:rPr lang="en-US" sz="1600" b="0" dirty="0">
                <a:solidFill>
                  <a:srgbClr val="B5CEA8"/>
                </a:solidFill>
                <a:effectLst/>
                <a:latin typeface="Consolas" panose="020B0609020204030204" pitchFamily="49" charset="0"/>
              </a:rPr>
              <a:t>5</a:t>
            </a:r>
            <a:r>
              <a:rPr lang="en-US" sz="1600" b="0" dirty="0">
                <a:solidFill>
                  <a:srgbClr val="FFFFFF"/>
                </a:solidFill>
                <a:effectLst/>
                <a:latin typeface="Consolas" panose="020B0609020204030204" pitchFamily="49" charset="0"/>
              </a:rPr>
              <a:t>)</a:t>
            </a:r>
            <a:br>
              <a:rPr lang="en-US" sz="1600" b="0" dirty="0">
                <a:solidFill>
                  <a:srgbClr val="FFFFFF"/>
                </a:solidFill>
                <a:effectLst/>
                <a:latin typeface="Consolas" panose="020B0609020204030204" pitchFamily="49" charset="0"/>
              </a:rPr>
            </a:br>
            <a:r>
              <a:rPr lang="en-US" sz="1600" b="0" dirty="0">
                <a:solidFill>
                  <a:srgbClr val="DCDCAA"/>
                </a:solidFill>
                <a:effectLst/>
                <a:latin typeface="Consolas" panose="020B0609020204030204" pitchFamily="49" charset="0"/>
              </a:rPr>
              <a:t>print</a:t>
            </a:r>
            <a:r>
              <a:rPr lang="en-US" sz="1600" b="0" dirty="0">
                <a:solidFill>
                  <a:srgbClr val="FFFFFF"/>
                </a:solidFill>
                <a:effectLst/>
                <a:latin typeface="Consolas" panose="020B0609020204030204" pitchFamily="49" charset="0"/>
              </a:rPr>
              <a:t>(</a:t>
            </a:r>
            <a:r>
              <a:rPr lang="en-US" sz="1600" b="0" dirty="0" err="1">
                <a:solidFill>
                  <a:srgbClr val="FFFFFF"/>
                </a:solidFill>
                <a:effectLst/>
                <a:latin typeface="Consolas" panose="020B0609020204030204" pitchFamily="49" charset="0"/>
              </a:rPr>
              <a:t>tell_secret</a:t>
            </a:r>
            <a:r>
              <a:rPr lang="en-US" sz="1600" b="0" dirty="0">
                <a:solidFill>
                  <a:srgbClr val="FFFFFF"/>
                </a:solidFill>
                <a:effectLst/>
                <a:latin typeface="Consolas" panose="020B0609020204030204" pitchFamily="49" charset="0"/>
              </a:rPr>
              <a:t>())</a:t>
            </a:r>
            <a:br>
              <a:rPr lang="en-US" sz="1600" b="0" dirty="0">
                <a:solidFill>
                  <a:srgbClr val="FFFFFF"/>
                </a:solidFill>
                <a:effectLst/>
                <a:latin typeface="Consolas" panose="020B0609020204030204" pitchFamily="49" charset="0"/>
              </a:rPr>
            </a:br>
            <a:r>
              <a:rPr lang="en-US" sz="1600" b="0" dirty="0" err="1">
                <a:solidFill>
                  <a:srgbClr val="FFFFFF"/>
                </a:solidFill>
                <a:effectLst/>
                <a:latin typeface="Consolas" panose="020B0609020204030204" pitchFamily="49" charset="0"/>
              </a:rPr>
              <a:t>the_end</a:t>
            </a:r>
            <a:r>
              <a:rPr lang="en-US" sz="1600"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1844417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485C-23AC-4868-999D-2DA3911BF6F5}"/>
              </a:ext>
            </a:extLst>
          </p:cNvPr>
          <p:cNvSpPr>
            <a:spLocks noGrp="1"/>
          </p:cNvSpPr>
          <p:nvPr>
            <p:ph type="title"/>
          </p:nvPr>
        </p:nvSpPr>
        <p:spPr/>
        <p:txBody>
          <a:bodyPr/>
          <a:lstStyle/>
          <a:p>
            <a:r>
              <a:rPr lang="en-US" dirty="0"/>
              <a:t>Default Arguments</a:t>
            </a:r>
          </a:p>
        </p:txBody>
      </p:sp>
      <p:sp>
        <p:nvSpPr>
          <p:cNvPr id="3" name="Content Placeholder 2">
            <a:extLst>
              <a:ext uri="{FF2B5EF4-FFF2-40B4-BE49-F238E27FC236}">
                <a16:creationId xmlns:a16="http://schemas.microsoft.com/office/drawing/2014/main" id="{05060760-5135-4D37-BFE7-C30D71D21214}"/>
              </a:ext>
            </a:extLst>
          </p:cNvPr>
          <p:cNvSpPr>
            <a:spLocks noGrp="1"/>
          </p:cNvSpPr>
          <p:nvPr>
            <p:ph idx="1"/>
          </p:nvPr>
        </p:nvSpPr>
        <p:spPr>
          <a:xfrm>
            <a:off x="1218883" y="1701797"/>
            <a:ext cx="10636169" cy="4881566"/>
          </a:xfrm>
        </p:spPr>
        <p:txBody>
          <a:bodyPr>
            <a:normAutofit fontScale="47500" lnSpcReduction="20000"/>
          </a:bodyPr>
          <a:lstStyle/>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ask</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question</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choices</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correct</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retries</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(question)</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choice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enumerate</a:t>
            </a:r>
            <a:r>
              <a:rPr lang="en-US" b="0" dirty="0">
                <a:solidFill>
                  <a:srgbClr val="FFFFFF"/>
                </a:solidFill>
                <a:effectLst/>
                <a:latin typeface="Consolas" panose="020B0609020204030204" pitchFamily="49" charset="0"/>
              </a:rPr>
              <a:t>(choices, </a:t>
            </a:r>
            <a:r>
              <a:rPr lang="en-US" b="0" dirty="0">
                <a:solidFill>
                  <a:srgbClr val="9CDCFE"/>
                </a:solidFill>
                <a:effectLst/>
                <a:latin typeface="Consolas" panose="020B0609020204030204" pitchFamily="49" charset="0"/>
              </a:rPr>
              <a:t>start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choice)</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retries </a:t>
            </a:r>
            <a:r>
              <a:rPr lang="en-US" b="0" dirty="0">
                <a:solidFill>
                  <a:srgbClr val="D4D4D4"/>
                </a:solidFill>
                <a:effectLst/>
                <a:latin typeface="Consolas" panose="020B0609020204030204" pitchFamily="49" charset="0"/>
              </a:rPr>
              <a:t>&gt;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try</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guess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except</a:t>
            </a:r>
            <a:r>
              <a:rPr lang="en-US" b="0" dirty="0">
                <a:solidFill>
                  <a:srgbClr val="FFFFFF"/>
                </a:solidFill>
                <a:effectLst/>
                <a:latin typeface="Consolas" panose="020B0609020204030204" pitchFamily="49" charset="0"/>
              </a:rPr>
              <a:t> </a:t>
            </a:r>
            <a:r>
              <a:rPr lang="en-US" b="0" dirty="0" err="1">
                <a:solidFill>
                  <a:srgbClr val="4EC9B0"/>
                </a:solidFill>
                <a:effectLst/>
                <a:latin typeface="Consolas" panose="020B0609020204030204" pitchFamily="49" charset="0"/>
              </a:rPr>
              <a:t>ValueError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continue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guess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correct: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"Correct!"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break</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"Wrong guess"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retries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"The correct reply was choice"</a:t>
            </a:r>
            <a:r>
              <a:rPr lang="en-US" b="0" dirty="0">
                <a:solidFill>
                  <a:srgbClr val="FFFFFF"/>
                </a:solidFill>
                <a:effectLst/>
                <a:latin typeface="Consolas" panose="020B0609020204030204" pitchFamily="49" charset="0"/>
              </a:rPr>
              <a:t>, correct, </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choices[correct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ask(</a:t>
            </a:r>
            <a:r>
              <a:rPr lang="en-US" b="0" dirty="0">
                <a:solidFill>
                  <a:srgbClr val="CE9178"/>
                </a:solidFill>
                <a:effectLst/>
                <a:latin typeface="Consolas" panose="020B0609020204030204" pitchFamily="49" charset="0"/>
              </a:rPr>
              <a:t>"What is the capital of Australia?"</a:t>
            </a:r>
            <a:r>
              <a:rPr lang="en-US" b="0" dirty="0">
                <a:solidFill>
                  <a:srgbClr val="FFFFFF"/>
                </a:solidFill>
                <a:effectLst/>
                <a:latin typeface="Consolas" panose="020B0609020204030204" pitchFamily="49" charset="0"/>
              </a:rPr>
              <a:t>, \</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"London"</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"Sydney"</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"Canberra"</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"Victoria"</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ask(</a:t>
            </a:r>
            <a:r>
              <a:rPr lang="en-US" b="0" dirty="0">
                <a:solidFill>
                  <a:srgbClr val="CE9178"/>
                </a:solidFill>
                <a:effectLst/>
                <a:latin typeface="Consolas" panose="020B0609020204030204" pitchFamily="49" charset="0"/>
              </a:rPr>
              <a:t>"When Finland gained independence?"</a:t>
            </a:r>
            <a:r>
              <a:rPr lang="en-US" b="0" dirty="0">
                <a:solidFill>
                  <a:srgbClr val="FFFFFF"/>
                </a:solidFill>
                <a:effectLst/>
                <a:latin typeface="Consolas" panose="020B0609020204030204" pitchFamily="49" charset="0"/>
              </a:rPr>
              <a:t>, \</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"1900"</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"1917"</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"1919"</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"1939"</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p>
          <a:p>
            <a:pPr marL="0" indent="0">
              <a:spcBef>
                <a:spcPts val="600"/>
              </a:spcBef>
              <a:buNone/>
            </a:pPr>
            <a:br>
              <a:rPr lang="en-US" b="0" dirty="0">
                <a:solidFill>
                  <a:srgbClr val="FFFFFF"/>
                </a:solidFill>
                <a:effectLst/>
                <a:latin typeface="Consolas" panose="020B0609020204030204" pitchFamily="49" charset="0"/>
              </a:rPr>
            </a:b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41411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E142-6502-4EBF-981B-C579CA4F8FA5}"/>
              </a:ext>
            </a:extLst>
          </p:cNvPr>
          <p:cNvSpPr>
            <a:spLocks noGrp="1"/>
          </p:cNvSpPr>
          <p:nvPr>
            <p:ph type="title"/>
          </p:nvPr>
        </p:nvSpPr>
        <p:spPr/>
        <p:txBody>
          <a:bodyPr/>
          <a:lstStyle/>
          <a:p>
            <a:r>
              <a:rPr lang="en-US" dirty="0"/>
              <a:t>Keyword Arguments</a:t>
            </a:r>
          </a:p>
        </p:txBody>
      </p:sp>
      <p:sp>
        <p:nvSpPr>
          <p:cNvPr id="3" name="Content Placeholder 2">
            <a:extLst>
              <a:ext uri="{FF2B5EF4-FFF2-40B4-BE49-F238E27FC236}">
                <a16:creationId xmlns:a16="http://schemas.microsoft.com/office/drawing/2014/main" id="{41346097-9341-4C6C-B83D-AAAB775AEAE6}"/>
              </a:ext>
            </a:extLst>
          </p:cNvPr>
          <p:cNvSpPr>
            <a:spLocks noGrp="1"/>
          </p:cNvSpPr>
          <p:nvPr>
            <p:ph idx="1"/>
          </p:nvPr>
        </p:nvSpPr>
        <p:spPr>
          <a:xfrm>
            <a:off x="1218883" y="1701796"/>
            <a:ext cx="10360501" cy="4751539"/>
          </a:xfrm>
        </p:spPr>
        <p:txBody>
          <a:bodyPr>
            <a:noAutofit/>
          </a:bodyPr>
          <a:lstStyle/>
          <a:p>
            <a:pPr>
              <a:lnSpc>
                <a:spcPct val="80000"/>
              </a:lnSpc>
              <a:defRPr/>
            </a:pPr>
            <a:r>
              <a:rPr lang="en-US" sz="2000" dirty="0"/>
              <a:t>When calling a function you can you can specify the name of the arguments with </a:t>
            </a:r>
            <a:r>
              <a:rPr lang="en-US" sz="2000" i="1" dirty="0"/>
              <a:t>name=value</a:t>
            </a:r>
            <a:r>
              <a:rPr lang="en-US" sz="2000" dirty="0"/>
              <a:t>. These are called </a:t>
            </a:r>
            <a:r>
              <a:rPr lang="en-US" sz="2000" i="1" dirty="0"/>
              <a:t>keyword arguments. </a:t>
            </a:r>
            <a:r>
              <a:rPr lang="en-US" sz="2000" dirty="0"/>
              <a:t>The keyword arguments can then appear in different order than using positional function arguments. This is especially useful if you have trouble remembering the order of arguments.</a:t>
            </a:r>
          </a:p>
          <a:p>
            <a:pPr marL="304746" lvl="1" indent="0">
              <a:buNone/>
            </a:pPr>
            <a:r>
              <a:rPr lang="en-US" sz="2000" b="0" dirty="0">
                <a:solidFill>
                  <a:srgbClr val="FFFFFF"/>
                </a:solidFill>
                <a:effectLst/>
                <a:latin typeface="Consolas" panose="020B0609020204030204" pitchFamily="49" charset="0"/>
              </a:rPr>
              <a:t>ask(</a:t>
            </a:r>
            <a:r>
              <a:rPr lang="en-US" sz="2000" b="0" dirty="0">
                <a:solidFill>
                  <a:srgbClr val="9CDCFE"/>
                </a:solidFill>
                <a:effectLst/>
                <a:latin typeface="Consolas" panose="020B0609020204030204" pitchFamily="49" charset="0"/>
              </a:rPr>
              <a:t>question</a:t>
            </a:r>
            <a:r>
              <a:rPr lang="en-US" sz="2000" b="0" dirty="0">
                <a:solidFill>
                  <a:srgbClr val="FFFFFF"/>
                </a:solidFill>
                <a:effectLst/>
                <a:latin typeface="Consolas" panose="020B0609020204030204" pitchFamily="49" charset="0"/>
              </a:rPr>
              <a:t> </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 </a:t>
            </a:r>
            <a:r>
              <a:rPr lang="en-US" sz="2000" b="0" dirty="0">
                <a:solidFill>
                  <a:srgbClr val="CE9178"/>
                </a:solidFill>
                <a:effectLst/>
                <a:latin typeface="Consolas" panose="020B0609020204030204" pitchFamily="49" charset="0"/>
              </a:rPr>
              <a:t>"What is the chemical symbol of Iron?"</a:t>
            </a:r>
            <a:r>
              <a:rPr lang="en-US" sz="2000" b="0" dirty="0">
                <a:solidFill>
                  <a:srgbClr val="FFFFFF"/>
                </a:solidFill>
                <a:effectLst/>
                <a:latin typeface="Consolas" panose="020B0609020204030204" pitchFamily="49" charset="0"/>
              </a:rPr>
              <a:t>, \</a:t>
            </a:r>
          </a:p>
          <a:p>
            <a:pPr marL="304746" lvl="1" indent="0">
              <a:buNone/>
            </a:pPr>
            <a:r>
              <a:rPr lang="en-US" sz="2000" b="0" dirty="0">
                <a:solidFill>
                  <a:srgbClr val="FFFFFF"/>
                </a:solidFill>
                <a:effectLst/>
                <a:latin typeface="Consolas" panose="020B0609020204030204" pitchFamily="49" charset="0"/>
              </a:rPr>
              <a:t>    </a:t>
            </a:r>
            <a:r>
              <a:rPr lang="en-US" sz="2000" b="0" dirty="0">
                <a:solidFill>
                  <a:srgbClr val="9CDCFE"/>
                </a:solidFill>
                <a:effectLst/>
                <a:latin typeface="Consolas" panose="020B0609020204030204" pitchFamily="49" charset="0"/>
              </a:rPr>
              <a:t>correct</a:t>
            </a:r>
            <a:r>
              <a:rPr lang="en-US" sz="2000" b="0" dirty="0">
                <a:solidFill>
                  <a:srgbClr val="D4D4D4"/>
                </a:solidFill>
                <a:effectLst/>
                <a:latin typeface="Consolas" panose="020B0609020204030204" pitchFamily="49" charset="0"/>
              </a:rPr>
              <a:t>=</a:t>
            </a:r>
            <a:r>
              <a:rPr lang="en-US" sz="2000" b="0" dirty="0">
                <a:solidFill>
                  <a:srgbClr val="B5CEA8"/>
                </a:solidFill>
                <a:effectLst/>
                <a:latin typeface="Consolas" panose="020B0609020204030204" pitchFamily="49" charset="0"/>
              </a:rPr>
              <a:t>1</a:t>
            </a:r>
            <a:r>
              <a:rPr lang="en-US" sz="2000" b="0" dirty="0">
                <a:solidFill>
                  <a:srgbClr val="FFFFFF"/>
                </a:solidFill>
                <a:effectLst/>
                <a:latin typeface="Consolas" panose="020B0609020204030204" pitchFamily="49" charset="0"/>
              </a:rPr>
              <a:t>, </a:t>
            </a:r>
            <a:r>
              <a:rPr lang="en-US" sz="2000" b="0" dirty="0">
                <a:solidFill>
                  <a:srgbClr val="9CDCFE"/>
                </a:solidFill>
                <a:effectLst/>
                <a:latin typeface="Consolas" panose="020B0609020204030204" pitchFamily="49" charset="0"/>
              </a:rPr>
              <a:t>choices</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a:t>
            </a:r>
            <a:r>
              <a:rPr lang="en-US" sz="2000" b="0" dirty="0">
                <a:solidFill>
                  <a:srgbClr val="CE9178"/>
                </a:solidFill>
                <a:effectLst/>
                <a:latin typeface="Consolas" panose="020B0609020204030204" pitchFamily="49" charset="0"/>
              </a:rPr>
              <a:t>"Fe"</a:t>
            </a:r>
            <a:r>
              <a:rPr lang="en-US" sz="2000" b="0" dirty="0">
                <a:solidFill>
                  <a:srgbClr val="FFFFFF"/>
                </a:solidFill>
                <a:effectLst/>
                <a:latin typeface="Consolas" panose="020B0609020204030204" pitchFamily="49" charset="0"/>
              </a:rPr>
              <a:t>, </a:t>
            </a:r>
            <a:r>
              <a:rPr lang="en-US" sz="2000" b="0" dirty="0">
                <a:solidFill>
                  <a:srgbClr val="CE9178"/>
                </a:solidFill>
                <a:effectLst/>
                <a:latin typeface="Consolas" panose="020B0609020204030204" pitchFamily="49" charset="0"/>
              </a:rPr>
              <a:t>"R"</a:t>
            </a:r>
            <a:r>
              <a:rPr lang="en-US" sz="2000" b="0" dirty="0">
                <a:solidFill>
                  <a:srgbClr val="FFFFFF"/>
                </a:solidFill>
                <a:effectLst/>
                <a:latin typeface="Consolas" panose="020B0609020204030204" pitchFamily="49" charset="0"/>
              </a:rPr>
              <a:t>, </a:t>
            </a:r>
            <a:r>
              <a:rPr lang="en-US" sz="2000" b="0" dirty="0">
                <a:solidFill>
                  <a:srgbClr val="CE9178"/>
                </a:solidFill>
                <a:effectLst/>
                <a:latin typeface="Consolas" panose="020B0609020204030204" pitchFamily="49" charset="0"/>
              </a:rPr>
              <a:t>"</a:t>
            </a:r>
            <a:r>
              <a:rPr lang="en-US" sz="2000" b="0" dirty="0" err="1">
                <a:solidFill>
                  <a:srgbClr val="CE9178"/>
                </a:solidFill>
                <a:effectLst/>
                <a:latin typeface="Consolas" panose="020B0609020204030204" pitchFamily="49" charset="0"/>
              </a:rPr>
              <a:t>Ir</a:t>
            </a:r>
            <a:r>
              <a:rPr lang="en-US" sz="2000" b="0" dirty="0">
                <a:solidFill>
                  <a:srgbClr val="CE9178"/>
                </a:solidFill>
                <a:effectLst/>
                <a:latin typeface="Consolas" panose="020B0609020204030204" pitchFamily="49" charset="0"/>
              </a:rPr>
              <a:t>"</a:t>
            </a:r>
            <a:r>
              <a:rPr lang="en-US" sz="2000" b="0" dirty="0">
                <a:solidFill>
                  <a:srgbClr val="FFFFFF"/>
                </a:solidFill>
                <a:effectLst/>
                <a:latin typeface="Consolas" panose="020B0609020204030204" pitchFamily="49" charset="0"/>
              </a:rPr>
              <a:t>, </a:t>
            </a:r>
            <a:r>
              <a:rPr lang="en-US" sz="2000" b="0" dirty="0">
                <a:solidFill>
                  <a:srgbClr val="CE9178"/>
                </a:solidFill>
                <a:effectLst/>
                <a:latin typeface="Consolas" panose="020B0609020204030204" pitchFamily="49" charset="0"/>
              </a:rPr>
              <a:t>"I"</a:t>
            </a:r>
            <a:r>
              <a:rPr lang="en-US" sz="2000" b="0" dirty="0">
                <a:solidFill>
                  <a:srgbClr val="FFFFFF"/>
                </a:solidFill>
                <a:effectLst/>
                <a:latin typeface="Consolas" panose="020B0609020204030204" pitchFamily="49" charset="0"/>
              </a:rPr>
              <a:t>))</a:t>
            </a:r>
          </a:p>
          <a:p>
            <a:pPr>
              <a:lnSpc>
                <a:spcPct val="80000"/>
              </a:lnSpc>
              <a:defRPr/>
            </a:pPr>
            <a:r>
              <a:rPr lang="en-US" sz="2000" dirty="0"/>
              <a:t>There can't be any positional arguments after keyword arguments, so the following does NOT work:</a:t>
            </a:r>
          </a:p>
          <a:p>
            <a:pPr marL="304746" lvl="1" indent="0">
              <a:buNone/>
            </a:pPr>
            <a:r>
              <a:rPr lang="en-US" sz="2000" b="0" dirty="0">
                <a:solidFill>
                  <a:srgbClr val="FFFFFF"/>
                </a:solidFill>
                <a:effectLst/>
                <a:latin typeface="Consolas" panose="020B0609020204030204" pitchFamily="49" charset="0"/>
              </a:rPr>
              <a:t>ask(</a:t>
            </a:r>
            <a:r>
              <a:rPr lang="en-US" sz="2000" b="0" dirty="0">
                <a:solidFill>
                  <a:srgbClr val="9CDCFE"/>
                </a:solidFill>
                <a:effectLst/>
                <a:latin typeface="Consolas" panose="020B0609020204030204" pitchFamily="49" charset="0"/>
              </a:rPr>
              <a:t>question</a:t>
            </a:r>
            <a:r>
              <a:rPr lang="en-US" sz="2000" b="0" dirty="0">
                <a:solidFill>
                  <a:srgbClr val="D4D4D4"/>
                </a:solidFill>
                <a:effectLst/>
                <a:latin typeface="Consolas" panose="020B0609020204030204" pitchFamily="49" charset="0"/>
              </a:rPr>
              <a:t>=</a:t>
            </a:r>
            <a:r>
              <a:rPr lang="en-US" sz="2000" b="0" dirty="0">
                <a:solidFill>
                  <a:srgbClr val="CE9178"/>
                </a:solidFill>
                <a:effectLst/>
                <a:latin typeface="Consolas" panose="020B0609020204030204" pitchFamily="49" charset="0"/>
              </a:rPr>
              <a:t>"How to delete a variable in Python?"</a:t>
            </a:r>
            <a:r>
              <a:rPr lang="en-US" sz="2000" b="0" dirty="0">
                <a:solidFill>
                  <a:srgbClr val="FFFFFF"/>
                </a:solidFill>
                <a:effectLst/>
                <a:latin typeface="Consolas" panose="020B0609020204030204" pitchFamily="49" charset="0"/>
              </a:rPr>
              <a:t>, \</a:t>
            </a:r>
          </a:p>
          <a:p>
            <a:pPr marL="304746" lvl="1" indent="0">
              <a:buNone/>
            </a:pPr>
            <a:r>
              <a:rPr lang="en-US" sz="2000" b="0" dirty="0">
                <a:solidFill>
                  <a:srgbClr val="FFFFFF"/>
                </a:solidFill>
                <a:effectLst/>
                <a:latin typeface="Consolas" panose="020B0609020204030204" pitchFamily="49" charset="0"/>
              </a:rPr>
              <a:t>    </a:t>
            </a:r>
            <a:r>
              <a:rPr lang="en-US" sz="2000" b="0" dirty="0">
                <a:solidFill>
                  <a:srgbClr val="9CDCFE"/>
                </a:solidFill>
                <a:effectLst/>
                <a:latin typeface="Consolas" panose="020B0609020204030204" pitchFamily="49" charset="0"/>
              </a:rPr>
              <a:t>retries</a:t>
            </a:r>
            <a:r>
              <a:rPr lang="en-US" sz="2000" b="0" dirty="0">
                <a:solidFill>
                  <a:srgbClr val="D4D4D4"/>
                </a:solidFill>
                <a:effectLst/>
                <a:latin typeface="Consolas" panose="020B0609020204030204" pitchFamily="49" charset="0"/>
              </a:rPr>
              <a:t>=</a:t>
            </a:r>
            <a:r>
              <a:rPr lang="en-US" sz="2000" b="0" dirty="0">
                <a:solidFill>
                  <a:srgbClr val="B5CEA8"/>
                </a:solidFill>
                <a:effectLst/>
                <a:latin typeface="Consolas" panose="020B0609020204030204" pitchFamily="49" charset="0"/>
              </a:rPr>
              <a:t>3</a:t>
            </a:r>
            <a:r>
              <a:rPr lang="en-US" sz="2000" b="0" dirty="0">
                <a:solidFill>
                  <a:srgbClr val="FFFFFF"/>
                </a:solidFill>
                <a:effectLst/>
                <a:latin typeface="Consolas" panose="020B0609020204030204" pitchFamily="49" charset="0"/>
              </a:rPr>
              <a:t>, </a:t>
            </a:r>
            <a:r>
              <a:rPr lang="en-US" sz="2000" b="0" dirty="0">
                <a:solidFill>
                  <a:srgbClr val="9CDCFE"/>
                </a:solidFill>
                <a:effectLst/>
                <a:latin typeface="Consolas" panose="020B0609020204030204" pitchFamily="49" charset="0"/>
              </a:rPr>
              <a:t>choices</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a:t>
            </a:r>
            <a:r>
              <a:rPr lang="en-US" sz="2000" b="0" dirty="0">
                <a:solidFill>
                  <a:srgbClr val="CE9178"/>
                </a:solidFill>
                <a:effectLst/>
                <a:latin typeface="Consolas" panose="020B0609020204030204" pitchFamily="49" charset="0"/>
              </a:rPr>
              <a:t>"delete"</a:t>
            </a:r>
            <a:r>
              <a:rPr lang="en-US" sz="2000" b="0" dirty="0">
                <a:solidFill>
                  <a:srgbClr val="FFFFFF"/>
                </a:solidFill>
                <a:effectLst/>
                <a:latin typeface="Consolas" panose="020B0609020204030204" pitchFamily="49" charset="0"/>
              </a:rPr>
              <a:t>, </a:t>
            </a:r>
            <a:r>
              <a:rPr lang="en-US" sz="2000" b="0" dirty="0">
                <a:solidFill>
                  <a:srgbClr val="CE9178"/>
                </a:solidFill>
                <a:effectLst/>
                <a:latin typeface="Consolas" panose="020B0609020204030204" pitchFamily="49" charset="0"/>
              </a:rPr>
              <a:t>"del"</a:t>
            </a:r>
            <a:r>
              <a:rPr lang="en-US" sz="2000" b="0" dirty="0">
                <a:solidFill>
                  <a:srgbClr val="FFFFFF"/>
                </a:solidFill>
                <a:effectLst/>
                <a:latin typeface="Consolas" panose="020B0609020204030204" pitchFamily="49" charset="0"/>
              </a:rPr>
              <a:t>, </a:t>
            </a:r>
            <a:r>
              <a:rPr lang="en-US" sz="2000" b="0" dirty="0">
                <a:solidFill>
                  <a:srgbClr val="CE9178"/>
                </a:solidFill>
                <a:effectLst/>
                <a:latin typeface="Consolas" panose="020B0609020204030204" pitchFamily="49" charset="0"/>
              </a:rPr>
              <a:t>"remove"</a:t>
            </a:r>
            <a:r>
              <a:rPr lang="en-US" sz="2000" b="0" dirty="0">
                <a:solidFill>
                  <a:srgbClr val="FFFFFF"/>
                </a:solidFill>
                <a:effectLst/>
                <a:latin typeface="Consolas" panose="020B0609020204030204" pitchFamily="49" charset="0"/>
              </a:rPr>
              <a:t>, </a:t>
            </a:r>
            <a:r>
              <a:rPr lang="en-US" sz="2000" b="0" dirty="0">
                <a:solidFill>
                  <a:srgbClr val="CE9178"/>
                </a:solidFill>
                <a:effectLst/>
                <a:latin typeface="Consolas" panose="020B0609020204030204" pitchFamily="49" charset="0"/>
              </a:rPr>
              <a:t>"destroy"</a:t>
            </a:r>
            <a:r>
              <a:rPr lang="en-US" sz="2000" b="0" dirty="0">
                <a:solidFill>
                  <a:srgbClr val="FFFFFF"/>
                </a:solidFill>
                <a:effectLst/>
                <a:latin typeface="Consolas" panose="020B0609020204030204" pitchFamily="49" charset="0"/>
              </a:rPr>
              <a:t>), </a:t>
            </a:r>
            <a:r>
              <a:rPr lang="en-US" sz="2000" b="0" dirty="0">
                <a:solidFill>
                  <a:srgbClr val="B5CEA8"/>
                </a:solidFill>
                <a:effectLst/>
                <a:latin typeface="Consolas" panose="020B0609020204030204" pitchFamily="49" charset="0"/>
              </a:rPr>
              <a:t>2</a:t>
            </a:r>
            <a:r>
              <a:rPr lang="en-US" sz="2000" b="0" dirty="0">
                <a:solidFill>
                  <a:srgbClr val="FFFFFF"/>
                </a:solidFill>
                <a:effectLst/>
                <a:latin typeface="Consolas" panose="020B0609020204030204" pitchFamily="49" charset="0"/>
              </a:rPr>
              <a:t>)</a:t>
            </a:r>
          </a:p>
          <a:p>
            <a:pPr>
              <a:lnSpc>
                <a:spcPct val="80000"/>
              </a:lnSpc>
              <a:defRPr/>
            </a:pPr>
            <a:r>
              <a:rPr lang="en-US" sz="2000" dirty="0"/>
              <a:t>But the following will work:</a:t>
            </a:r>
          </a:p>
          <a:p>
            <a:pPr marL="304746" lvl="1" indent="0">
              <a:buNone/>
            </a:pPr>
            <a:r>
              <a:rPr lang="fi-FI" sz="2000" b="0" dirty="0" err="1">
                <a:solidFill>
                  <a:srgbClr val="FFFFFF"/>
                </a:solidFill>
                <a:effectLst/>
                <a:latin typeface="Consolas" panose="020B0609020204030204" pitchFamily="49" charset="0"/>
              </a:rPr>
              <a:t>ask</a:t>
            </a:r>
            <a:r>
              <a:rPr lang="fi-FI" sz="2000" b="0" dirty="0">
                <a:solidFill>
                  <a:srgbClr val="FFFFFF"/>
                </a:solidFill>
                <a:effectLst/>
                <a:latin typeface="Consolas" panose="020B0609020204030204" pitchFamily="49" charset="0"/>
              </a:rPr>
              <a:t>(</a:t>
            </a:r>
            <a:r>
              <a:rPr lang="fi-FI" sz="2000" b="0" dirty="0">
                <a:solidFill>
                  <a:srgbClr val="CE9178"/>
                </a:solidFill>
                <a:effectLst/>
                <a:latin typeface="Consolas" panose="020B0609020204030204" pitchFamily="49" charset="0"/>
              </a:rPr>
              <a:t>"How to </a:t>
            </a:r>
            <a:r>
              <a:rPr lang="fi-FI" sz="2000" b="0" dirty="0" err="1">
                <a:solidFill>
                  <a:srgbClr val="CE9178"/>
                </a:solidFill>
                <a:effectLst/>
                <a:latin typeface="Consolas" panose="020B0609020204030204" pitchFamily="49" charset="0"/>
              </a:rPr>
              <a:t>delete</a:t>
            </a:r>
            <a:r>
              <a:rPr lang="fi-FI" sz="2000" b="0" dirty="0">
                <a:solidFill>
                  <a:srgbClr val="CE9178"/>
                </a:solidFill>
                <a:effectLst/>
                <a:latin typeface="Consolas" panose="020B0609020204030204" pitchFamily="49" charset="0"/>
              </a:rPr>
              <a:t> a </a:t>
            </a:r>
            <a:r>
              <a:rPr lang="fi-FI" sz="2000" b="0" dirty="0" err="1">
                <a:solidFill>
                  <a:srgbClr val="CE9178"/>
                </a:solidFill>
                <a:effectLst/>
                <a:latin typeface="Consolas" panose="020B0609020204030204" pitchFamily="49" charset="0"/>
              </a:rPr>
              <a:t>variable</a:t>
            </a:r>
            <a:r>
              <a:rPr lang="fi-FI" sz="2000" b="0" dirty="0">
                <a:solidFill>
                  <a:srgbClr val="CE9178"/>
                </a:solidFill>
                <a:effectLst/>
                <a:latin typeface="Consolas" panose="020B0609020204030204" pitchFamily="49" charset="0"/>
              </a:rPr>
              <a:t> in Python?"</a:t>
            </a:r>
            <a:r>
              <a:rPr lang="fi-FI" sz="2000" b="0" dirty="0">
                <a:solidFill>
                  <a:srgbClr val="FFFFFF"/>
                </a:solidFill>
                <a:effectLst/>
                <a:latin typeface="Consolas" panose="020B0609020204030204" pitchFamily="49" charset="0"/>
              </a:rPr>
              <a:t>, \</a:t>
            </a:r>
          </a:p>
          <a:p>
            <a:pPr marL="304746" lvl="1" indent="0">
              <a:buNone/>
            </a:pPr>
            <a:r>
              <a:rPr lang="fi-FI" sz="2000" b="0" dirty="0">
                <a:solidFill>
                  <a:srgbClr val="FFFFFF"/>
                </a:solidFill>
                <a:effectLst/>
                <a:latin typeface="Consolas" panose="020B0609020204030204" pitchFamily="49" charset="0"/>
              </a:rPr>
              <a:t>    (</a:t>
            </a:r>
            <a:r>
              <a:rPr lang="fi-FI" sz="2000" b="0" dirty="0">
                <a:solidFill>
                  <a:srgbClr val="CE9178"/>
                </a:solidFill>
                <a:effectLst/>
                <a:latin typeface="Consolas" panose="020B0609020204030204" pitchFamily="49" charset="0"/>
              </a:rPr>
              <a:t>"</a:t>
            </a:r>
            <a:r>
              <a:rPr lang="fi-FI" sz="2000" b="0" dirty="0" err="1">
                <a:solidFill>
                  <a:srgbClr val="CE9178"/>
                </a:solidFill>
                <a:effectLst/>
                <a:latin typeface="Consolas" panose="020B0609020204030204" pitchFamily="49" charset="0"/>
              </a:rPr>
              <a:t>delete</a:t>
            </a:r>
            <a:r>
              <a:rPr lang="fi-FI" sz="2000" b="0" dirty="0">
                <a:solidFill>
                  <a:srgbClr val="CE9178"/>
                </a:solidFill>
                <a:effectLst/>
                <a:latin typeface="Consolas" panose="020B0609020204030204" pitchFamily="49" charset="0"/>
              </a:rPr>
              <a:t>"</a:t>
            </a:r>
            <a:r>
              <a:rPr lang="fi-FI" sz="2000" b="0" dirty="0">
                <a:solidFill>
                  <a:srgbClr val="FFFFFF"/>
                </a:solidFill>
                <a:effectLst/>
                <a:latin typeface="Consolas" panose="020B0609020204030204" pitchFamily="49" charset="0"/>
              </a:rPr>
              <a:t>, </a:t>
            </a:r>
            <a:r>
              <a:rPr lang="fi-FI" sz="2000" b="0" dirty="0">
                <a:solidFill>
                  <a:srgbClr val="CE9178"/>
                </a:solidFill>
                <a:effectLst/>
                <a:latin typeface="Consolas" panose="020B0609020204030204" pitchFamily="49" charset="0"/>
              </a:rPr>
              <a:t>"del"</a:t>
            </a:r>
            <a:r>
              <a:rPr lang="fi-FI" sz="2000" b="0" dirty="0">
                <a:solidFill>
                  <a:srgbClr val="FFFFFF"/>
                </a:solidFill>
                <a:effectLst/>
                <a:latin typeface="Consolas" panose="020B0609020204030204" pitchFamily="49" charset="0"/>
              </a:rPr>
              <a:t>, </a:t>
            </a:r>
            <a:r>
              <a:rPr lang="fi-FI" sz="2000" b="0" dirty="0">
                <a:solidFill>
                  <a:srgbClr val="CE9178"/>
                </a:solidFill>
                <a:effectLst/>
                <a:latin typeface="Consolas" panose="020B0609020204030204" pitchFamily="49" charset="0"/>
              </a:rPr>
              <a:t>"</a:t>
            </a:r>
            <a:r>
              <a:rPr lang="fi-FI" sz="2000" b="0" dirty="0" err="1">
                <a:solidFill>
                  <a:srgbClr val="CE9178"/>
                </a:solidFill>
                <a:effectLst/>
                <a:latin typeface="Consolas" panose="020B0609020204030204" pitchFamily="49" charset="0"/>
              </a:rPr>
              <a:t>remove</a:t>
            </a:r>
            <a:r>
              <a:rPr lang="fi-FI" sz="2000" b="0" dirty="0">
                <a:solidFill>
                  <a:srgbClr val="CE9178"/>
                </a:solidFill>
                <a:effectLst/>
                <a:latin typeface="Consolas" panose="020B0609020204030204" pitchFamily="49" charset="0"/>
              </a:rPr>
              <a:t>"</a:t>
            </a:r>
            <a:r>
              <a:rPr lang="fi-FI" sz="2000" b="0" dirty="0">
                <a:solidFill>
                  <a:srgbClr val="FFFFFF"/>
                </a:solidFill>
                <a:effectLst/>
                <a:latin typeface="Consolas" panose="020B0609020204030204" pitchFamily="49" charset="0"/>
              </a:rPr>
              <a:t>, </a:t>
            </a:r>
            <a:r>
              <a:rPr lang="fi-FI" sz="2000" b="0" dirty="0">
                <a:solidFill>
                  <a:srgbClr val="CE9178"/>
                </a:solidFill>
                <a:effectLst/>
                <a:latin typeface="Consolas" panose="020B0609020204030204" pitchFamily="49" charset="0"/>
              </a:rPr>
              <a:t>"</a:t>
            </a:r>
            <a:r>
              <a:rPr lang="fi-FI" sz="2000" b="0" dirty="0" err="1">
                <a:solidFill>
                  <a:srgbClr val="CE9178"/>
                </a:solidFill>
                <a:effectLst/>
                <a:latin typeface="Consolas" panose="020B0609020204030204" pitchFamily="49" charset="0"/>
              </a:rPr>
              <a:t>destroy</a:t>
            </a:r>
            <a:r>
              <a:rPr lang="fi-FI" sz="2000" b="0" dirty="0">
                <a:solidFill>
                  <a:srgbClr val="CE9178"/>
                </a:solidFill>
                <a:effectLst/>
                <a:latin typeface="Consolas" panose="020B0609020204030204" pitchFamily="49" charset="0"/>
              </a:rPr>
              <a:t>"</a:t>
            </a:r>
            <a:r>
              <a:rPr lang="fi-FI" sz="2000" b="0" dirty="0">
                <a:solidFill>
                  <a:srgbClr val="FFFFFF"/>
                </a:solidFill>
                <a:effectLst/>
                <a:latin typeface="Consolas" panose="020B0609020204030204" pitchFamily="49" charset="0"/>
              </a:rPr>
              <a:t>), \</a:t>
            </a:r>
          </a:p>
          <a:p>
            <a:pPr marL="304746" lvl="1" indent="0">
              <a:buNone/>
            </a:pPr>
            <a:r>
              <a:rPr lang="fi-FI" sz="2000" b="0" dirty="0">
                <a:solidFill>
                  <a:srgbClr val="FFFFFF"/>
                </a:solidFill>
                <a:effectLst/>
                <a:latin typeface="Consolas" panose="020B0609020204030204" pitchFamily="49" charset="0"/>
              </a:rPr>
              <a:t>    </a:t>
            </a:r>
            <a:r>
              <a:rPr lang="fi-FI" sz="2000" b="0" dirty="0" err="1">
                <a:solidFill>
                  <a:srgbClr val="9CDCFE"/>
                </a:solidFill>
                <a:effectLst/>
                <a:latin typeface="Consolas" panose="020B0609020204030204" pitchFamily="49" charset="0"/>
              </a:rPr>
              <a:t>retries</a:t>
            </a:r>
            <a:r>
              <a:rPr lang="fi-FI" sz="2000" b="0" dirty="0">
                <a:solidFill>
                  <a:srgbClr val="D4D4D4"/>
                </a:solidFill>
                <a:effectLst/>
                <a:latin typeface="Consolas" panose="020B0609020204030204" pitchFamily="49" charset="0"/>
              </a:rPr>
              <a:t>=</a:t>
            </a:r>
            <a:r>
              <a:rPr lang="fi-FI" sz="2000" b="0" dirty="0">
                <a:solidFill>
                  <a:srgbClr val="B5CEA8"/>
                </a:solidFill>
                <a:effectLst/>
                <a:latin typeface="Consolas" panose="020B0609020204030204" pitchFamily="49" charset="0"/>
              </a:rPr>
              <a:t>3</a:t>
            </a:r>
            <a:r>
              <a:rPr lang="fi-FI" sz="2000" b="0" dirty="0">
                <a:solidFill>
                  <a:srgbClr val="FFFFFF"/>
                </a:solidFill>
                <a:effectLst/>
                <a:latin typeface="Consolas" panose="020B0609020204030204" pitchFamily="49" charset="0"/>
              </a:rPr>
              <a:t>, </a:t>
            </a:r>
            <a:r>
              <a:rPr lang="fi-FI" sz="2000" b="0" dirty="0" err="1">
                <a:solidFill>
                  <a:srgbClr val="9CDCFE"/>
                </a:solidFill>
                <a:effectLst/>
                <a:latin typeface="Consolas" panose="020B0609020204030204" pitchFamily="49" charset="0"/>
              </a:rPr>
              <a:t>correct</a:t>
            </a:r>
            <a:r>
              <a:rPr lang="fi-FI" sz="2000" b="0" dirty="0">
                <a:solidFill>
                  <a:srgbClr val="D4D4D4"/>
                </a:solidFill>
                <a:effectLst/>
                <a:latin typeface="Consolas" panose="020B0609020204030204" pitchFamily="49" charset="0"/>
              </a:rPr>
              <a:t>=</a:t>
            </a:r>
            <a:r>
              <a:rPr lang="fi-FI" sz="2000" b="0" dirty="0">
                <a:solidFill>
                  <a:srgbClr val="B5CEA8"/>
                </a:solidFill>
                <a:effectLst/>
                <a:latin typeface="Consolas" panose="020B0609020204030204" pitchFamily="49" charset="0"/>
              </a:rPr>
              <a:t>2</a:t>
            </a:r>
            <a:r>
              <a:rPr lang="fi-FI" sz="2000" b="0" dirty="0">
                <a:solidFill>
                  <a:srgbClr val="FFFFFF"/>
                </a:solidFill>
                <a:effectLst/>
                <a:latin typeface="Consolas" panose="020B0609020204030204" pitchFamily="49" charset="0"/>
              </a:rPr>
              <a:t>)</a:t>
            </a:r>
          </a:p>
          <a:p>
            <a:pPr>
              <a:lnSpc>
                <a:spcPct val="80000"/>
              </a:lnSpc>
              <a:buFont typeface="Wingdings" panose="05000000000000000000" pitchFamily="2" charset="2"/>
              <a:buNone/>
              <a:defRPr/>
            </a:pPr>
            <a:endParaRPr lang="en-US" sz="2000" dirty="0">
              <a:latin typeface="Courier New" pitchFamily="49" charset="0"/>
            </a:endParaRPr>
          </a:p>
          <a:p>
            <a:endParaRPr lang="en-US" sz="2000" dirty="0"/>
          </a:p>
        </p:txBody>
      </p:sp>
    </p:spTree>
    <p:extLst>
      <p:ext uri="{BB962C8B-B14F-4D97-AF65-F5344CB8AC3E}">
        <p14:creationId xmlns:p14="http://schemas.microsoft.com/office/powerpoint/2010/main" val="3125859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8299C-92E5-48D0-A4C2-7149DAC03316}"/>
              </a:ext>
            </a:extLst>
          </p:cNvPr>
          <p:cNvSpPr>
            <a:spLocks noGrp="1"/>
          </p:cNvSpPr>
          <p:nvPr>
            <p:ph type="title"/>
          </p:nvPr>
        </p:nvSpPr>
        <p:spPr/>
        <p:txBody>
          <a:bodyPr/>
          <a:lstStyle/>
          <a:p>
            <a:r>
              <a:rPr lang="en-US" dirty="0"/>
              <a:t>Variable Amount of Function Arguments</a:t>
            </a:r>
          </a:p>
        </p:txBody>
      </p:sp>
      <p:sp>
        <p:nvSpPr>
          <p:cNvPr id="3" name="Content Placeholder 2">
            <a:extLst>
              <a:ext uri="{FF2B5EF4-FFF2-40B4-BE49-F238E27FC236}">
                <a16:creationId xmlns:a16="http://schemas.microsoft.com/office/drawing/2014/main" id="{CC7467CA-1A9D-44B2-A3AE-3F421E68848F}"/>
              </a:ext>
            </a:extLst>
          </p:cNvPr>
          <p:cNvSpPr>
            <a:spLocks noGrp="1"/>
          </p:cNvSpPr>
          <p:nvPr>
            <p:ph idx="1"/>
          </p:nvPr>
        </p:nvSpPr>
        <p:spPr>
          <a:xfrm>
            <a:off x="1218883" y="1701797"/>
            <a:ext cx="10360501" cy="4881566"/>
          </a:xfrm>
        </p:spPr>
        <p:txBody>
          <a:bodyPr>
            <a:normAutofit lnSpcReduction="10000"/>
          </a:bodyPr>
          <a:lstStyle/>
          <a:p>
            <a:r>
              <a:rPr lang="en-US" dirty="0"/>
              <a:t>* before argument will return a tuple of 0..N arguments</a:t>
            </a:r>
          </a:p>
          <a:p>
            <a:pPr marL="0" indent="0">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mysum</a:t>
            </a:r>
            <a:r>
              <a:rPr lang="en-US" b="0" dirty="0">
                <a:solidFill>
                  <a:srgbClr val="FFFFFF"/>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total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endParaRPr lang="en-US" b="0" dirty="0">
              <a:solidFill>
                <a:srgbClr val="FFFFFF"/>
              </a:solidFill>
              <a:effectLst/>
              <a:latin typeface="Consolas" panose="020B0609020204030204" pitchFamily="49" charset="0"/>
            </a:endParaRPr>
          </a:p>
          <a:p>
            <a:pPr marL="0" indent="0">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n:</a:t>
            </a:r>
          </a:p>
          <a:p>
            <a:pPr marL="0" indent="0">
              <a:buNone/>
            </a:pPr>
            <a:r>
              <a:rPr lang="en-US" b="0" dirty="0">
                <a:solidFill>
                  <a:srgbClr val="FFFFFF"/>
                </a:solidFill>
                <a:effectLst/>
                <a:latin typeface="Consolas" panose="020B0609020204030204" pitchFamily="49" charset="0"/>
              </a:rPr>
              <a:t>        total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endParaRPr lang="en-US" b="0" dirty="0">
              <a:solidFill>
                <a:srgbClr val="FFFFFF"/>
              </a:solidFill>
              <a:effectLst/>
              <a:latin typeface="Consolas" panose="020B0609020204030204" pitchFamily="49" charset="0"/>
            </a:endParaRPr>
          </a:p>
          <a:p>
            <a:pPr marL="0" indent="0">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total</a:t>
            </a:r>
          </a:p>
          <a:p>
            <a:pPr marL="0" indent="0">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mysum</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a:t>
            </a:r>
          </a:p>
          <a:p>
            <a:pPr marL="0" indent="0">
              <a:buNone/>
            </a:pPr>
            <a:r>
              <a:rPr lang="en-US" b="0" dirty="0">
                <a:solidFill>
                  <a:srgbClr val="7CA668"/>
                </a:solidFill>
                <a:effectLst/>
                <a:latin typeface="Consolas" panose="020B0609020204030204" pitchFamily="49" charset="0"/>
              </a:rPr>
              <a:t># sum([1, 2, 10]) would do the same</a:t>
            </a:r>
            <a:br>
              <a:rPr lang="en-US" b="0" dirty="0">
                <a:solidFill>
                  <a:srgbClr val="FFFFFF"/>
                </a:solidFill>
                <a:effectLst/>
                <a:latin typeface="Consolas" panose="020B0609020204030204" pitchFamily="49" charset="0"/>
              </a:rPr>
            </a:b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765755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C00C-4F0E-448A-A2F6-7A95F14D01BE}"/>
              </a:ext>
            </a:extLst>
          </p:cNvPr>
          <p:cNvSpPr>
            <a:spLocks noGrp="1"/>
          </p:cNvSpPr>
          <p:nvPr>
            <p:ph type="title"/>
          </p:nvPr>
        </p:nvSpPr>
        <p:spPr/>
        <p:txBody>
          <a:bodyPr/>
          <a:lstStyle/>
          <a:p>
            <a:r>
              <a:rPr lang="en-US" dirty="0"/>
              <a:t>Variable Amount of Keyword Arguments</a:t>
            </a:r>
          </a:p>
        </p:txBody>
      </p:sp>
      <p:sp>
        <p:nvSpPr>
          <p:cNvPr id="3" name="Content Placeholder 2">
            <a:extLst>
              <a:ext uri="{FF2B5EF4-FFF2-40B4-BE49-F238E27FC236}">
                <a16:creationId xmlns:a16="http://schemas.microsoft.com/office/drawing/2014/main" id="{FC0B1225-B493-4345-84B7-D197F5EC83EB}"/>
              </a:ext>
            </a:extLst>
          </p:cNvPr>
          <p:cNvSpPr>
            <a:spLocks noGrp="1"/>
          </p:cNvSpPr>
          <p:nvPr>
            <p:ph idx="1"/>
          </p:nvPr>
        </p:nvSpPr>
        <p:spPr>
          <a:xfrm>
            <a:off x="1218883" y="1701797"/>
            <a:ext cx="10360501" cy="4881566"/>
          </a:xfrm>
        </p:spPr>
        <p:txBody>
          <a:bodyPr>
            <a:normAutofit/>
          </a:bodyPr>
          <a:lstStyle/>
          <a:p>
            <a:r>
              <a:rPr lang="en-US" sz="2400" dirty="0"/>
              <a:t>** before argument will return a dictionary of 0..N keyword arguments</a:t>
            </a:r>
            <a:br>
              <a:rPr lang="en-US" sz="2400" dirty="0"/>
            </a:br>
            <a:endParaRPr lang="en-US" sz="2400" dirty="0"/>
          </a:p>
          <a:p>
            <a:pPr marL="0" indent="0">
              <a:spcBef>
                <a:spcPts val="600"/>
              </a:spcBef>
              <a:buNone/>
            </a:pPr>
            <a:r>
              <a:rPr lang="en-US" sz="2400" b="0" dirty="0">
                <a:solidFill>
                  <a:srgbClr val="569CD6"/>
                </a:solidFill>
                <a:effectLst/>
                <a:latin typeface="Consolas" panose="020B0609020204030204" pitchFamily="49" charset="0"/>
              </a:rPr>
              <a:t>def</a:t>
            </a:r>
            <a:r>
              <a:rPr lang="en-US" sz="2400" b="0" dirty="0">
                <a:solidFill>
                  <a:srgbClr val="FFFFFF"/>
                </a:solidFill>
                <a:effectLst/>
                <a:latin typeface="Consolas" panose="020B0609020204030204" pitchFamily="49" charset="0"/>
              </a:rPr>
              <a:t> </a:t>
            </a:r>
            <a:r>
              <a:rPr lang="en-US" sz="2400" b="0" dirty="0">
                <a:solidFill>
                  <a:srgbClr val="DCDCAA"/>
                </a:solidFill>
                <a:effectLst/>
                <a:latin typeface="Consolas" panose="020B0609020204030204" pitchFamily="49" charset="0"/>
              </a:rPr>
              <a:t>login</a:t>
            </a:r>
            <a:r>
              <a:rPr lang="en-US" sz="2400" b="0" dirty="0">
                <a:solidFill>
                  <a:srgbClr val="FFFFFF"/>
                </a:solidFill>
                <a:effectLst/>
                <a:latin typeface="Consolas" panose="020B0609020204030204" pitchFamily="49" charset="0"/>
              </a:rPr>
              <a:t>(</a:t>
            </a:r>
            <a:r>
              <a:rPr lang="en-US" sz="2400" b="0" dirty="0">
                <a:solidFill>
                  <a:srgbClr val="D4D4D4"/>
                </a:solidFill>
                <a:effectLst/>
                <a:latin typeface="Consolas" panose="020B0609020204030204" pitchFamily="49" charset="0"/>
              </a:rPr>
              <a:t>**</a:t>
            </a:r>
            <a:r>
              <a:rPr lang="en-US" sz="2400" b="0" dirty="0">
                <a:solidFill>
                  <a:srgbClr val="9CDCFE"/>
                </a:solidFill>
                <a:effectLst/>
                <a:latin typeface="Consolas" panose="020B0609020204030204" pitchFamily="49" charset="0"/>
              </a:rPr>
              <a:t>parameters</a:t>
            </a:r>
            <a:r>
              <a:rPr lang="en-US" sz="2400" b="0" dirty="0">
                <a:solidFill>
                  <a:srgbClr val="FFFFFF"/>
                </a:solidFill>
                <a:effectLst/>
                <a:latin typeface="Consolas" panose="020B0609020204030204" pitchFamily="49" charset="0"/>
              </a:rPr>
              <a:t>):</a:t>
            </a:r>
          </a:p>
          <a:p>
            <a:pPr marL="0" indent="0">
              <a:spcBef>
                <a:spcPts val="600"/>
              </a:spcBef>
              <a:buNone/>
            </a:pPr>
            <a:r>
              <a:rPr lang="en-US" sz="2400" b="0" dirty="0">
                <a:solidFill>
                  <a:srgbClr val="FFFFFF"/>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FFFFFF"/>
                </a:solidFill>
                <a:effectLst/>
                <a:latin typeface="Consolas" panose="020B0609020204030204" pitchFamily="49" charset="0"/>
              </a:rPr>
              <a:t> </a:t>
            </a:r>
            <a:r>
              <a:rPr lang="en-US" sz="2400" b="0" dirty="0">
                <a:solidFill>
                  <a:srgbClr val="CE9178"/>
                </a:solidFill>
                <a:effectLst/>
                <a:latin typeface="Consolas" panose="020B0609020204030204" pitchFamily="49" charset="0"/>
              </a:rPr>
              <a:t>"user"</a:t>
            </a:r>
            <a:r>
              <a:rPr lang="en-US" sz="2400" b="0" dirty="0">
                <a:solidFill>
                  <a:srgbClr val="FFFFFF"/>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a:t>
            </a:r>
            <a:r>
              <a:rPr lang="en-US" sz="2400" b="0" dirty="0">
                <a:solidFill>
                  <a:srgbClr val="FFFFFF"/>
                </a:solidFill>
                <a:effectLst/>
                <a:latin typeface="Consolas" panose="020B0609020204030204" pitchFamily="49" charset="0"/>
              </a:rPr>
              <a:t> parameters:</a:t>
            </a:r>
          </a:p>
          <a:p>
            <a:pPr marL="0" indent="0">
              <a:spcBef>
                <a:spcPts val="600"/>
              </a:spcBef>
              <a:buNone/>
            </a:pPr>
            <a:r>
              <a:rPr lang="en-US" sz="2400" b="0" dirty="0">
                <a:solidFill>
                  <a:srgbClr val="FFFFFF"/>
                </a:solidFill>
                <a:effectLst/>
                <a:latin typeface="Consolas" panose="020B0609020204030204" pitchFamily="49" charset="0"/>
              </a:rPr>
              <a:t>        </a:t>
            </a:r>
            <a:r>
              <a:rPr lang="en-US" sz="2400" b="0" dirty="0">
                <a:solidFill>
                  <a:srgbClr val="DCDCAA"/>
                </a:solidFill>
                <a:effectLst/>
                <a:latin typeface="Consolas" panose="020B0609020204030204" pitchFamily="49" charset="0"/>
              </a:rPr>
              <a:t>print</a:t>
            </a:r>
            <a:r>
              <a:rPr lang="en-US" sz="2400" b="0" dirty="0">
                <a:solidFill>
                  <a:srgbClr val="FFFFFF"/>
                </a:solidFill>
                <a:effectLst/>
                <a:latin typeface="Consolas" panose="020B0609020204030204" pitchFamily="49" charset="0"/>
              </a:rPr>
              <a:t>(</a:t>
            </a:r>
            <a:r>
              <a:rPr lang="en-US" sz="2400" b="0" dirty="0">
                <a:solidFill>
                  <a:srgbClr val="CE9178"/>
                </a:solidFill>
                <a:effectLst/>
                <a:latin typeface="Consolas" panose="020B0609020204030204" pitchFamily="49" charset="0"/>
              </a:rPr>
              <a:t>"User name:"</a:t>
            </a:r>
            <a:r>
              <a:rPr lang="en-US" sz="2400" b="0" dirty="0">
                <a:solidFill>
                  <a:srgbClr val="FFFFFF"/>
                </a:solidFill>
                <a:effectLst/>
                <a:latin typeface="Consolas" panose="020B0609020204030204" pitchFamily="49" charset="0"/>
              </a:rPr>
              <a:t>, </a:t>
            </a:r>
            <a:r>
              <a:rPr lang="en-US" sz="2400" b="0" dirty="0" err="1">
                <a:solidFill>
                  <a:srgbClr val="FFFFFF"/>
                </a:solidFill>
                <a:effectLst/>
                <a:latin typeface="Consolas" panose="020B0609020204030204" pitchFamily="49" charset="0"/>
              </a:rPr>
              <a:t>parameters.get</a:t>
            </a:r>
            <a:r>
              <a:rPr lang="en-US" sz="2400" b="0" dirty="0">
                <a:solidFill>
                  <a:srgbClr val="FFFFFF"/>
                </a:solidFill>
                <a:effectLst/>
                <a:latin typeface="Consolas" panose="020B0609020204030204" pitchFamily="49" charset="0"/>
              </a:rPr>
              <a:t>(</a:t>
            </a:r>
            <a:r>
              <a:rPr lang="en-US" sz="2400" b="0" dirty="0">
                <a:solidFill>
                  <a:srgbClr val="CE9178"/>
                </a:solidFill>
                <a:effectLst/>
                <a:latin typeface="Consolas" panose="020B0609020204030204" pitchFamily="49" charset="0"/>
              </a:rPr>
              <a:t>"user"</a:t>
            </a:r>
            <a:r>
              <a:rPr lang="en-US" sz="2400" b="0" dirty="0">
                <a:solidFill>
                  <a:srgbClr val="FFFFFF"/>
                </a:solidFill>
                <a:effectLst/>
                <a:latin typeface="Consolas" panose="020B0609020204030204" pitchFamily="49" charset="0"/>
              </a:rPr>
              <a:t>))</a:t>
            </a:r>
          </a:p>
          <a:p>
            <a:pPr marL="0" indent="0">
              <a:spcBef>
                <a:spcPts val="600"/>
              </a:spcBef>
              <a:buNone/>
            </a:pPr>
            <a:r>
              <a:rPr lang="en-US" sz="2400" b="0" dirty="0">
                <a:solidFill>
                  <a:srgbClr val="FFFFFF"/>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FFFFFF"/>
                </a:solidFill>
                <a:effectLst/>
                <a:latin typeface="Consolas" panose="020B0609020204030204" pitchFamily="49" charset="0"/>
              </a:rPr>
              <a:t> </a:t>
            </a:r>
            <a:r>
              <a:rPr lang="en-US" sz="2400" b="0" dirty="0">
                <a:solidFill>
                  <a:srgbClr val="CE9178"/>
                </a:solidFill>
                <a:effectLst/>
                <a:latin typeface="Consolas" panose="020B0609020204030204" pitchFamily="49" charset="0"/>
              </a:rPr>
              <a:t>"password"</a:t>
            </a:r>
            <a:r>
              <a:rPr lang="en-US" sz="2400" b="0" dirty="0">
                <a:solidFill>
                  <a:srgbClr val="FFFFFF"/>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a:t>
            </a:r>
            <a:r>
              <a:rPr lang="en-US" sz="2400" b="0" dirty="0">
                <a:solidFill>
                  <a:srgbClr val="FFFFFF"/>
                </a:solidFill>
                <a:effectLst/>
                <a:latin typeface="Consolas" panose="020B0609020204030204" pitchFamily="49" charset="0"/>
              </a:rPr>
              <a:t> parameters:</a:t>
            </a:r>
          </a:p>
          <a:p>
            <a:pPr marL="0" indent="0">
              <a:spcBef>
                <a:spcPts val="600"/>
              </a:spcBef>
              <a:buNone/>
            </a:pPr>
            <a:r>
              <a:rPr lang="en-US" sz="2400" b="0" dirty="0">
                <a:solidFill>
                  <a:srgbClr val="FFFFFF"/>
                </a:solidFill>
                <a:effectLst/>
                <a:latin typeface="Consolas" panose="020B0609020204030204" pitchFamily="49" charset="0"/>
              </a:rPr>
              <a:t>        </a:t>
            </a:r>
            <a:r>
              <a:rPr lang="en-US" sz="2400" b="0" dirty="0">
                <a:solidFill>
                  <a:srgbClr val="DCDCAA"/>
                </a:solidFill>
                <a:effectLst/>
                <a:latin typeface="Consolas" panose="020B0609020204030204" pitchFamily="49" charset="0"/>
              </a:rPr>
              <a:t>print</a:t>
            </a:r>
            <a:r>
              <a:rPr lang="en-US" sz="2400" b="0" dirty="0">
                <a:solidFill>
                  <a:srgbClr val="FFFFFF"/>
                </a:solidFill>
                <a:effectLst/>
                <a:latin typeface="Consolas" panose="020B0609020204030204" pitchFamily="49" charset="0"/>
              </a:rPr>
              <a:t>(</a:t>
            </a:r>
            <a:r>
              <a:rPr lang="en-US" sz="2400" b="0" dirty="0">
                <a:solidFill>
                  <a:srgbClr val="CE9178"/>
                </a:solidFill>
                <a:effectLst/>
                <a:latin typeface="Consolas" panose="020B0609020204030204" pitchFamily="49" charset="0"/>
              </a:rPr>
              <a:t>"Password:"</a:t>
            </a:r>
            <a:r>
              <a:rPr lang="en-US" sz="2400" b="0" dirty="0">
                <a:solidFill>
                  <a:srgbClr val="FFFFFF"/>
                </a:solidFill>
                <a:effectLst/>
                <a:latin typeface="Consolas" panose="020B0609020204030204" pitchFamily="49" charset="0"/>
              </a:rPr>
              <a:t>, </a:t>
            </a:r>
            <a:r>
              <a:rPr lang="en-US" sz="2400" b="0" dirty="0" err="1">
                <a:solidFill>
                  <a:srgbClr val="FFFFFF"/>
                </a:solidFill>
                <a:effectLst/>
                <a:latin typeface="Consolas" panose="020B0609020204030204" pitchFamily="49" charset="0"/>
              </a:rPr>
              <a:t>parameters.get</a:t>
            </a:r>
            <a:r>
              <a:rPr lang="en-US" sz="2400" b="0" dirty="0">
                <a:solidFill>
                  <a:srgbClr val="FFFFFF"/>
                </a:solidFill>
                <a:effectLst/>
                <a:latin typeface="Consolas" panose="020B0609020204030204" pitchFamily="49" charset="0"/>
              </a:rPr>
              <a:t>(</a:t>
            </a:r>
            <a:r>
              <a:rPr lang="en-US" sz="2400" b="0" dirty="0">
                <a:solidFill>
                  <a:srgbClr val="CE9178"/>
                </a:solidFill>
                <a:effectLst/>
                <a:latin typeface="Consolas" panose="020B0609020204030204" pitchFamily="49" charset="0"/>
              </a:rPr>
              <a:t>"password"</a:t>
            </a:r>
            <a:r>
              <a:rPr lang="en-US" sz="2400" b="0" dirty="0">
                <a:solidFill>
                  <a:srgbClr val="FFFFFF"/>
                </a:solidFill>
                <a:effectLst/>
                <a:latin typeface="Consolas" panose="020B0609020204030204" pitchFamily="49" charset="0"/>
              </a:rPr>
              <a:t>))</a:t>
            </a:r>
          </a:p>
          <a:p>
            <a:pPr marL="0" indent="0">
              <a:spcBef>
                <a:spcPts val="600"/>
              </a:spcBef>
              <a:buNone/>
            </a:pPr>
            <a:br>
              <a:rPr lang="en-US" sz="2400" b="0" dirty="0">
                <a:solidFill>
                  <a:srgbClr val="FFFFFF"/>
                </a:solidFill>
                <a:effectLst/>
                <a:latin typeface="Consolas" panose="020B0609020204030204" pitchFamily="49" charset="0"/>
              </a:rPr>
            </a:br>
            <a:r>
              <a:rPr lang="en-US" sz="2400" b="0" dirty="0">
                <a:solidFill>
                  <a:srgbClr val="FFFFFF"/>
                </a:solidFill>
                <a:effectLst/>
                <a:latin typeface="Consolas" panose="020B0609020204030204" pitchFamily="49" charset="0"/>
              </a:rPr>
              <a:t>login(</a:t>
            </a:r>
            <a:r>
              <a:rPr lang="en-US" sz="2400" b="0" dirty="0">
                <a:solidFill>
                  <a:srgbClr val="9CDCFE"/>
                </a:solidFill>
                <a:effectLst/>
                <a:latin typeface="Consolas" panose="020B0609020204030204" pitchFamily="49" charset="0"/>
              </a:rPr>
              <a:t>user</a:t>
            </a:r>
            <a:r>
              <a:rPr lang="en-US" sz="2400" b="0" dirty="0">
                <a:solidFill>
                  <a:srgbClr val="D4D4D4"/>
                </a:solidFill>
                <a:effectLst/>
                <a:latin typeface="Consolas" panose="020B0609020204030204" pitchFamily="49" charset="0"/>
              </a:rPr>
              <a:t>=</a:t>
            </a:r>
            <a:r>
              <a:rPr lang="en-US" sz="2400" b="0" dirty="0">
                <a:solidFill>
                  <a:srgbClr val="CE9178"/>
                </a:solidFill>
                <a:effectLst/>
                <a:latin typeface="Consolas" panose="020B0609020204030204" pitchFamily="49" charset="0"/>
              </a:rPr>
              <a:t>"root"</a:t>
            </a:r>
            <a:r>
              <a:rPr lang="en-US" sz="2400" b="0" dirty="0">
                <a:solidFill>
                  <a:srgbClr val="FFFFFF"/>
                </a:solidFill>
                <a:effectLst/>
                <a:latin typeface="Consolas" panose="020B0609020204030204" pitchFamily="49" charset="0"/>
              </a:rPr>
              <a:t>, </a:t>
            </a:r>
            <a:r>
              <a:rPr lang="en-US" sz="2400" b="0" dirty="0">
                <a:solidFill>
                  <a:srgbClr val="9CDCFE"/>
                </a:solidFill>
                <a:effectLst/>
                <a:latin typeface="Consolas" panose="020B0609020204030204" pitchFamily="49" charset="0"/>
              </a:rPr>
              <a:t>password</a:t>
            </a:r>
            <a:r>
              <a:rPr lang="en-US" sz="2400" b="0" dirty="0">
                <a:solidFill>
                  <a:srgbClr val="D4D4D4"/>
                </a:solidFill>
                <a:effectLst/>
                <a:latin typeface="Consolas" panose="020B0609020204030204" pitchFamily="49" charset="0"/>
              </a:rPr>
              <a:t>=</a:t>
            </a:r>
            <a:r>
              <a:rPr lang="en-US" sz="2400" b="0" dirty="0">
                <a:solidFill>
                  <a:srgbClr val="CE9178"/>
                </a:solidFill>
                <a:effectLst/>
                <a:latin typeface="Consolas" panose="020B0609020204030204" pitchFamily="49" charset="0"/>
              </a:rPr>
              <a:t>"qwerty"</a:t>
            </a:r>
            <a:r>
              <a:rPr lang="en-US" sz="2400" b="0" dirty="0">
                <a:solidFill>
                  <a:srgbClr val="FFFFFF"/>
                </a:solidFill>
                <a:effectLst/>
                <a:latin typeface="Consolas" panose="020B0609020204030204" pitchFamily="49" charset="0"/>
              </a:rPr>
              <a:t>)</a:t>
            </a:r>
          </a:p>
          <a:p>
            <a:pPr marL="0" indent="0">
              <a:spcBef>
                <a:spcPts val="600"/>
              </a:spcBef>
              <a:buNone/>
            </a:pPr>
            <a:r>
              <a:rPr lang="en-US" sz="2400" b="0" dirty="0">
                <a:solidFill>
                  <a:srgbClr val="7CA668"/>
                </a:solidFill>
                <a:effectLst/>
                <a:latin typeface="Consolas" panose="020B0609020204030204" pitchFamily="49" charset="0"/>
              </a:rPr>
              <a:t># Note that the following will fail, because it has</a:t>
            </a:r>
            <a:endParaRPr lang="en-US" sz="2400" b="0" dirty="0">
              <a:solidFill>
                <a:srgbClr val="FFFFFF"/>
              </a:solidFill>
              <a:effectLst/>
              <a:latin typeface="Consolas" panose="020B0609020204030204" pitchFamily="49" charset="0"/>
            </a:endParaRPr>
          </a:p>
          <a:p>
            <a:pPr marL="0" indent="0">
              <a:spcBef>
                <a:spcPts val="600"/>
              </a:spcBef>
              <a:buNone/>
            </a:pPr>
            <a:r>
              <a:rPr lang="en-US" sz="2400" b="0" dirty="0">
                <a:solidFill>
                  <a:srgbClr val="7CA668"/>
                </a:solidFill>
                <a:effectLst/>
                <a:latin typeface="Consolas" panose="020B0609020204030204" pitchFamily="49" charset="0"/>
              </a:rPr>
              <a:t># no keyword arguments</a:t>
            </a:r>
            <a:endParaRPr lang="en-US" sz="2400" b="0" dirty="0">
              <a:solidFill>
                <a:srgbClr val="FFFFFF"/>
              </a:solidFill>
              <a:effectLst/>
              <a:latin typeface="Consolas" panose="020B0609020204030204" pitchFamily="49" charset="0"/>
            </a:endParaRPr>
          </a:p>
          <a:p>
            <a:pPr marL="0" indent="0">
              <a:spcBef>
                <a:spcPts val="600"/>
              </a:spcBef>
              <a:buNone/>
            </a:pPr>
            <a:r>
              <a:rPr lang="en-US" sz="2400" b="0" dirty="0">
                <a:solidFill>
                  <a:srgbClr val="7CA668"/>
                </a:solidFill>
                <a:effectLst/>
                <a:latin typeface="Consolas" panose="020B0609020204030204" pitchFamily="49" charset="0"/>
              </a:rPr>
              <a:t># login("root", "qwerty")</a:t>
            </a:r>
            <a:endParaRPr lang="en-US" sz="2400" b="0" dirty="0">
              <a:solidFill>
                <a:srgbClr val="FFFFFF"/>
              </a:solidFill>
              <a:effectLst/>
              <a:latin typeface="Consolas" panose="020B0609020204030204" pitchFamily="49" charset="0"/>
            </a:endParaRPr>
          </a:p>
          <a:p>
            <a:pPr marL="0" indent="0">
              <a:buNone/>
            </a:pPr>
            <a:endParaRPr lang="fi-FI" sz="1600"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633702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F00FC-8C60-416A-BE97-8ECB10D5B2CE}"/>
              </a:ext>
            </a:extLst>
          </p:cNvPr>
          <p:cNvSpPr>
            <a:spLocks noGrp="1"/>
          </p:cNvSpPr>
          <p:nvPr>
            <p:ph type="title"/>
          </p:nvPr>
        </p:nvSpPr>
        <p:spPr>
          <a:xfrm>
            <a:off x="1218883" y="274637"/>
            <a:ext cx="10636169" cy="1223963"/>
          </a:xfrm>
        </p:spPr>
        <p:txBody>
          <a:bodyPr/>
          <a:lstStyle/>
          <a:p>
            <a:r>
              <a:rPr lang="en-US" dirty="0"/>
              <a:t>Lambda - Small Anonymous Function with 1 expression</a:t>
            </a:r>
          </a:p>
        </p:txBody>
      </p:sp>
      <p:sp>
        <p:nvSpPr>
          <p:cNvPr id="3" name="Content Placeholder 2">
            <a:extLst>
              <a:ext uri="{FF2B5EF4-FFF2-40B4-BE49-F238E27FC236}">
                <a16:creationId xmlns:a16="http://schemas.microsoft.com/office/drawing/2014/main" id="{57841016-F810-431D-86C5-B51E789E8197}"/>
              </a:ext>
            </a:extLst>
          </p:cNvPr>
          <p:cNvSpPr>
            <a:spLocks noGrp="1"/>
          </p:cNvSpPr>
          <p:nvPr>
            <p:ph idx="1"/>
          </p:nvPr>
        </p:nvSpPr>
        <p:spPr>
          <a:xfrm>
            <a:off x="1218883" y="1701796"/>
            <a:ext cx="10360501" cy="4823547"/>
          </a:xfrm>
        </p:spPr>
        <p:txBody>
          <a:bodyPr>
            <a:normAutofit fontScale="70000" lnSpcReduction="20000"/>
          </a:bodyPr>
          <a:lstStyle/>
          <a:p>
            <a:r>
              <a:rPr lang="en-US" sz="3200" dirty="0">
                <a:cs typeface="Courier New" panose="02070309020205020404" pitchFamily="49" charset="0"/>
              </a:rPr>
              <a:t>Syntax:</a:t>
            </a:r>
            <a:br>
              <a:rPr lang="en-US" sz="3200" dirty="0">
                <a:cs typeface="Courier New" panose="02070309020205020404" pitchFamily="49" charset="0"/>
              </a:rPr>
            </a:br>
            <a:br>
              <a:rPr lang="en-US" sz="3200" dirty="0">
                <a:cs typeface="Courier New" panose="02070309020205020404" pitchFamily="49" charset="0"/>
              </a:rPr>
            </a:br>
            <a:r>
              <a:rPr lang="fi-FI" sz="3200" b="0" dirty="0">
                <a:solidFill>
                  <a:srgbClr val="569CD6"/>
                </a:solidFill>
                <a:effectLst/>
                <a:latin typeface="Consolas" panose="020B0609020204030204" pitchFamily="49" charset="0"/>
              </a:rPr>
              <a:t>lambda</a:t>
            </a:r>
            <a:r>
              <a:rPr lang="fi-FI" sz="3200" b="0" dirty="0">
                <a:solidFill>
                  <a:srgbClr val="FFFFFF"/>
                </a:solidFill>
                <a:effectLst/>
                <a:latin typeface="Consolas" panose="020B0609020204030204" pitchFamily="49" charset="0"/>
              </a:rPr>
              <a:t> </a:t>
            </a:r>
            <a:r>
              <a:rPr lang="fi-FI" sz="3200" b="0" dirty="0" err="1">
                <a:solidFill>
                  <a:srgbClr val="9CDCFE"/>
                </a:solidFill>
                <a:effectLst/>
                <a:latin typeface="Consolas" panose="020B0609020204030204" pitchFamily="49" charset="0"/>
              </a:rPr>
              <a:t>arguments</a:t>
            </a:r>
            <a:r>
              <a:rPr lang="fi-FI" sz="3200" b="0" dirty="0">
                <a:solidFill>
                  <a:srgbClr val="FFFFFF"/>
                </a:solidFill>
                <a:effectLst/>
                <a:latin typeface="Consolas" panose="020B0609020204030204" pitchFamily="49" charset="0"/>
              </a:rPr>
              <a:t>: </a:t>
            </a:r>
            <a:r>
              <a:rPr lang="fi-FI" sz="3200" b="0" dirty="0" err="1">
                <a:solidFill>
                  <a:srgbClr val="FFFFFF"/>
                </a:solidFill>
                <a:effectLst/>
                <a:latin typeface="Consolas" panose="020B0609020204030204" pitchFamily="49" charset="0"/>
              </a:rPr>
              <a:t>expression</a:t>
            </a:r>
            <a:br>
              <a:rPr lang="en-US" sz="3200" i="1" dirty="0">
                <a:latin typeface="Courier New" panose="02070309020205020404" pitchFamily="49" charset="0"/>
                <a:cs typeface="Courier New" panose="02070309020205020404" pitchFamily="49" charset="0"/>
              </a:rPr>
            </a:br>
            <a:endParaRPr lang="en-US" sz="3200" i="1" dirty="0">
              <a:latin typeface="Courier New" panose="02070309020205020404" pitchFamily="49" charset="0"/>
              <a:cs typeface="Courier New" panose="02070309020205020404" pitchFamily="49" charset="0"/>
            </a:endParaRPr>
          </a:p>
          <a:p>
            <a:pPr>
              <a:spcBef>
                <a:spcPts val="600"/>
              </a:spcBef>
            </a:pPr>
            <a:r>
              <a:rPr lang="en-US" sz="3200" dirty="0">
                <a:cs typeface="Courier New" panose="02070309020205020404" pitchFamily="49" charset="0"/>
              </a:rPr>
              <a:t>Almost same as creating:</a:t>
            </a:r>
            <a:br>
              <a:rPr lang="en-US" sz="3200" dirty="0">
                <a:cs typeface="Courier New" panose="02070309020205020404" pitchFamily="49" charset="0"/>
              </a:rPr>
            </a:br>
            <a:br>
              <a:rPr lang="en-US" sz="3200" dirty="0">
                <a:latin typeface="Courier New" panose="02070309020205020404" pitchFamily="49" charset="0"/>
                <a:cs typeface="Courier New" panose="02070309020205020404" pitchFamily="49" charset="0"/>
              </a:rPr>
            </a:br>
            <a:r>
              <a:rPr lang="en-US" sz="3200" b="0" dirty="0">
                <a:solidFill>
                  <a:srgbClr val="569CD6"/>
                </a:solidFill>
                <a:effectLst/>
                <a:latin typeface="Consolas" panose="020B0609020204030204" pitchFamily="49" charset="0"/>
              </a:rPr>
              <a:t>def</a:t>
            </a:r>
            <a:r>
              <a:rPr lang="en-US" sz="3200" b="0" dirty="0">
                <a:solidFill>
                  <a:srgbClr val="FFFFFF"/>
                </a:solidFill>
                <a:effectLst/>
                <a:latin typeface="Consolas" panose="020B0609020204030204" pitchFamily="49" charset="0"/>
              </a:rPr>
              <a:t> </a:t>
            </a:r>
            <a:r>
              <a:rPr lang="en-US" sz="3200" b="0" dirty="0">
                <a:solidFill>
                  <a:srgbClr val="DCDCAA"/>
                </a:solidFill>
                <a:effectLst/>
                <a:latin typeface="Consolas" panose="020B0609020204030204" pitchFamily="49" charset="0"/>
              </a:rPr>
              <a:t>anonymous</a:t>
            </a:r>
            <a:r>
              <a:rPr lang="en-US" sz="3200" b="0" dirty="0">
                <a:solidFill>
                  <a:srgbClr val="FFFFFF"/>
                </a:solidFill>
                <a:effectLst/>
                <a:latin typeface="Consolas" panose="020B0609020204030204" pitchFamily="49" charset="0"/>
              </a:rPr>
              <a:t>(</a:t>
            </a:r>
            <a:r>
              <a:rPr lang="en-US" sz="3200" b="0" dirty="0">
                <a:solidFill>
                  <a:srgbClr val="9CDCFE"/>
                </a:solidFill>
                <a:effectLst/>
                <a:latin typeface="Consolas" panose="020B0609020204030204" pitchFamily="49" charset="0"/>
              </a:rPr>
              <a:t>arguments</a:t>
            </a:r>
            <a:r>
              <a:rPr lang="en-US" sz="3200" b="0" dirty="0">
                <a:solidFill>
                  <a:srgbClr val="FFFFFF"/>
                </a:solidFill>
                <a:effectLst/>
                <a:latin typeface="Consolas" panose="020B0609020204030204" pitchFamily="49" charset="0"/>
              </a:rPr>
              <a:t>):</a:t>
            </a:r>
          </a:p>
          <a:p>
            <a:pPr marL="0" indent="0">
              <a:spcBef>
                <a:spcPts val="600"/>
              </a:spcBef>
              <a:buNone/>
            </a:pPr>
            <a:r>
              <a:rPr lang="en-US" sz="3200" b="0" dirty="0">
                <a:solidFill>
                  <a:srgbClr val="FFFFFF"/>
                </a:solidFill>
                <a:effectLst/>
                <a:latin typeface="Consolas" panose="020B0609020204030204" pitchFamily="49" charset="0"/>
              </a:rPr>
              <a:t>      </a:t>
            </a:r>
            <a:r>
              <a:rPr lang="en-US" sz="3200" b="0" dirty="0">
                <a:solidFill>
                  <a:srgbClr val="C586C0"/>
                </a:solidFill>
                <a:effectLst/>
                <a:latin typeface="Consolas" panose="020B0609020204030204" pitchFamily="49" charset="0"/>
              </a:rPr>
              <a:t>return</a:t>
            </a:r>
            <a:r>
              <a:rPr lang="en-US" sz="3200" b="0" dirty="0">
                <a:solidFill>
                  <a:srgbClr val="FFFFFF"/>
                </a:solidFill>
                <a:effectLst/>
                <a:latin typeface="Consolas" panose="020B0609020204030204" pitchFamily="49" charset="0"/>
              </a:rPr>
              <a:t> expression</a:t>
            </a:r>
            <a:br>
              <a:rPr lang="en-US" sz="3200" b="0" dirty="0">
                <a:solidFill>
                  <a:srgbClr val="FFFFFF"/>
                </a:solidFill>
                <a:effectLst/>
                <a:latin typeface="Consolas" panose="020B0609020204030204" pitchFamily="49" charset="0"/>
              </a:rPr>
            </a:br>
            <a:endParaRPr lang="en-US" sz="3200" b="0" dirty="0">
              <a:solidFill>
                <a:srgbClr val="FFFFFF"/>
              </a:solidFill>
              <a:effectLst/>
              <a:latin typeface="Consolas" panose="020B0609020204030204" pitchFamily="49" charset="0"/>
            </a:endParaRPr>
          </a:p>
          <a:p>
            <a:pPr>
              <a:spcBef>
                <a:spcPts val="600"/>
              </a:spcBef>
            </a:pPr>
            <a:r>
              <a:rPr lang="en-US" sz="3200" b="0" dirty="0">
                <a:solidFill>
                  <a:srgbClr val="FFFFFF"/>
                </a:solidFill>
                <a:effectLst/>
                <a:latin typeface="Consolas" panose="020B0609020204030204" pitchFamily="49" charset="0"/>
              </a:rPr>
              <a:t>f </a:t>
            </a:r>
            <a:r>
              <a:rPr lang="en-US" sz="3200" b="0" dirty="0">
                <a:solidFill>
                  <a:srgbClr val="D4D4D4"/>
                </a:solidFill>
                <a:effectLst/>
                <a:latin typeface="Consolas" panose="020B0609020204030204" pitchFamily="49" charset="0"/>
              </a:rPr>
              <a:t>=</a:t>
            </a:r>
            <a:r>
              <a:rPr lang="en-US" sz="3200" b="0" dirty="0">
                <a:solidFill>
                  <a:srgbClr val="FFFFFF"/>
                </a:solidFill>
                <a:effectLst/>
                <a:latin typeface="Consolas" panose="020B0609020204030204" pitchFamily="49" charset="0"/>
              </a:rPr>
              <a:t> </a:t>
            </a:r>
            <a:r>
              <a:rPr lang="en-US" sz="3200" b="0" dirty="0">
                <a:solidFill>
                  <a:srgbClr val="569CD6"/>
                </a:solidFill>
                <a:effectLst/>
                <a:latin typeface="Consolas" panose="020B0609020204030204" pitchFamily="49" charset="0"/>
              </a:rPr>
              <a:t>lambda</a:t>
            </a:r>
            <a:r>
              <a:rPr lang="en-US" sz="3200" b="0" dirty="0">
                <a:solidFill>
                  <a:srgbClr val="FFFFFF"/>
                </a:solidFill>
                <a:effectLst/>
                <a:latin typeface="Consolas" panose="020B0609020204030204" pitchFamily="49" charset="0"/>
              </a:rPr>
              <a:t> </a:t>
            </a:r>
            <a:r>
              <a:rPr lang="en-US" sz="3200" b="0" dirty="0">
                <a:solidFill>
                  <a:srgbClr val="9CDCFE"/>
                </a:solidFill>
                <a:effectLst/>
                <a:latin typeface="Consolas" panose="020B0609020204030204" pitchFamily="49" charset="0"/>
              </a:rPr>
              <a:t>x</a:t>
            </a:r>
            <a:r>
              <a:rPr lang="en-US" sz="3200" b="0" dirty="0">
                <a:solidFill>
                  <a:srgbClr val="FFFFFF"/>
                </a:solidFill>
                <a:effectLst/>
                <a:latin typeface="Consolas" panose="020B0609020204030204" pitchFamily="49" charset="0"/>
              </a:rPr>
              <a:t>: x</a:t>
            </a:r>
            <a:r>
              <a:rPr lang="en-US" sz="3200" b="0" dirty="0">
                <a:solidFill>
                  <a:srgbClr val="D4D4D4"/>
                </a:solidFill>
                <a:effectLst/>
                <a:latin typeface="Consolas" panose="020B0609020204030204" pitchFamily="49" charset="0"/>
              </a:rPr>
              <a:t>+</a:t>
            </a:r>
            <a:r>
              <a:rPr lang="en-US" sz="3200" b="0" dirty="0">
                <a:solidFill>
                  <a:srgbClr val="B5CEA8"/>
                </a:solidFill>
                <a:effectLst/>
                <a:latin typeface="Consolas" panose="020B0609020204030204" pitchFamily="49" charset="0"/>
              </a:rPr>
              <a:t>1</a:t>
            </a:r>
            <a:br>
              <a:rPr lang="en-US" sz="3200" dirty="0">
                <a:solidFill>
                  <a:srgbClr val="FFFFFF"/>
                </a:solidFill>
                <a:latin typeface="Consolas" panose="020B0609020204030204" pitchFamily="49" charset="0"/>
              </a:rPr>
            </a:br>
            <a:r>
              <a:rPr lang="en-US" sz="3200" b="0" dirty="0">
                <a:solidFill>
                  <a:srgbClr val="DCDCAA"/>
                </a:solidFill>
                <a:effectLst/>
                <a:latin typeface="Consolas" panose="020B0609020204030204" pitchFamily="49" charset="0"/>
              </a:rPr>
              <a:t>print</a:t>
            </a:r>
            <a:r>
              <a:rPr lang="en-US" sz="3200" b="0" dirty="0">
                <a:solidFill>
                  <a:srgbClr val="FFFFFF"/>
                </a:solidFill>
                <a:effectLst/>
                <a:latin typeface="Consolas" panose="020B0609020204030204" pitchFamily="49" charset="0"/>
              </a:rPr>
              <a:t>(f(</a:t>
            </a:r>
            <a:r>
              <a:rPr lang="en-US" sz="3200" b="0" dirty="0">
                <a:solidFill>
                  <a:srgbClr val="B5CEA8"/>
                </a:solidFill>
                <a:effectLst/>
                <a:latin typeface="Consolas" panose="020B0609020204030204" pitchFamily="49" charset="0"/>
              </a:rPr>
              <a:t>5</a:t>
            </a:r>
            <a:r>
              <a:rPr lang="en-US" sz="3200" b="0" dirty="0">
                <a:solidFill>
                  <a:srgbClr val="FFFFFF"/>
                </a:solidFill>
                <a:effectLst/>
                <a:latin typeface="Consolas" panose="020B0609020204030204" pitchFamily="49" charset="0"/>
              </a:rPr>
              <a:t>))  </a:t>
            </a:r>
            <a:r>
              <a:rPr lang="en-US" sz="3200" b="0" dirty="0">
                <a:solidFill>
                  <a:srgbClr val="7CA668"/>
                </a:solidFill>
                <a:effectLst/>
                <a:latin typeface="Consolas" panose="020B0609020204030204" pitchFamily="49" charset="0"/>
              </a:rPr>
              <a:t># 6</a:t>
            </a:r>
            <a:br>
              <a:rPr lang="en-US" sz="3200" b="0" dirty="0">
                <a:solidFill>
                  <a:srgbClr val="7CA668"/>
                </a:solidFill>
                <a:effectLst/>
                <a:latin typeface="Consolas" panose="020B0609020204030204" pitchFamily="49" charset="0"/>
              </a:rPr>
            </a:br>
            <a:endParaRPr lang="en-US" sz="3200" b="0" dirty="0">
              <a:solidFill>
                <a:srgbClr val="FFFFFF"/>
              </a:solidFill>
              <a:effectLst/>
              <a:latin typeface="Consolas" panose="020B0609020204030204" pitchFamily="49" charset="0"/>
            </a:endParaRPr>
          </a:p>
          <a:p>
            <a:pPr>
              <a:spcBef>
                <a:spcPts val="600"/>
              </a:spcBef>
            </a:pPr>
            <a:r>
              <a:rPr lang="en-US" sz="3200" b="0" dirty="0">
                <a:solidFill>
                  <a:srgbClr val="FFFFFF"/>
                </a:solidFill>
                <a:effectLst/>
                <a:latin typeface="Consolas" panose="020B0609020204030204" pitchFamily="49" charset="0"/>
              </a:rPr>
              <a:t>product </a:t>
            </a:r>
            <a:r>
              <a:rPr lang="en-US" sz="3200" b="0" dirty="0">
                <a:solidFill>
                  <a:srgbClr val="D4D4D4"/>
                </a:solidFill>
                <a:effectLst/>
                <a:latin typeface="Consolas" panose="020B0609020204030204" pitchFamily="49" charset="0"/>
              </a:rPr>
              <a:t>=</a:t>
            </a:r>
            <a:r>
              <a:rPr lang="en-US" sz="3200" b="0" dirty="0">
                <a:solidFill>
                  <a:srgbClr val="FFFFFF"/>
                </a:solidFill>
                <a:effectLst/>
                <a:latin typeface="Consolas" panose="020B0609020204030204" pitchFamily="49" charset="0"/>
              </a:rPr>
              <a:t> </a:t>
            </a:r>
            <a:r>
              <a:rPr lang="en-US" sz="3200" b="0" dirty="0">
                <a:solidFill>
                  <a:srgbClr val="569CD6"/>
                </a:solidFill>
                <a:effectLst/>
                <a:latin typeface="Consolas" panose="020B0609020204030204" pitchFamily="49" charset="0"/>
              </a:rPr>
              <a:t>lambda</a:t>
            </a:r>
            <a:r>
              <a:rPr lang="en-US" sz="3200" b="0" dirty="0">
                <a:solidFill>
                  <a:srgbClr val="FFFFFF"/>
                </a:solidFill>
                <a:effectLst/>
                <a:latin typeface="Consolas" panose="020B0609020204030204" pitchFamily="49" charset="0"/>
              </a:rPr>
              <a:t> </a:t>
            </a:r>
            <a:r>
              <a:rPr lang="en-US" sz="3200" b="0" dirty="0">
                <a:solidFill>
                  <a:srgbClr val="9CDCFE"/>
                </a:solidFill>
                <a:effectLst/>
                <a:latin typeface="Consolas" panose="020B0609020204030204" pitchFamily="49" charset="0"/>
              </a:rPr>
              <a:t>a</a:t>
            </a:r>
            <a:r>
              <a:rPr lang="en-US" sz="3200" b="0" dirty="0">
                <a:solidFill>
                  <a:srgbClr val="FFFFFF"/>
                </a:solidFill>
                <a:effectLst/>
                <a:latin typeface="Consolas" panose="020B0609020204030204" pitchFamily="49" charset="0"/>
              </a:rPr>
              <a:t>, </a:t>
            </a:r>
            <a:r>
              <a:rPr lang="en-US" sz="3200" b="0" dirty="0">
                <a:solidFill>
                  <a:srgbClr val="9CDCFE"/>
                </a:solidFill>
                <a:effectLst/>
                <a:latin typeface="Consolas" panose="020B0609020204030204" pitchFamily="49" charset="0"/>
              </a:rPr>
              <a:t>b</a:t>
            </a:r>
            <a:r>
              <a:rPr lang="en-US" sz="3200" b="0" dirty="0">
                <a:solidFill>
                  <a:srgbClr val="FFFFFF"/>
                </a:solidFill>
                <a:effectLst/>
                <a:latin typeface="Consolas" panose="020B0609020204030204" pitchFamily="49" charset="0"/>
              </a:rPr>
              <a:t>: a</a:t>
            </a:r>
            <a:r>
              <a:rPr lang="en-US" sz="3200" b="0" dirty="0">
                <a:solidFill>
                  <a:srgbClr val="D4D4D4"/>
                </a:solidFill>
                <a:effectLst/>
                <a:latin typeface="Consolas" panose="020B0609020204030204" pitchFamily="49" charset="0"/>
              </a:rPr>
              <a:t>*</a:t>
            </a:r>
            <a:r>
              <a:rPr lang="en-US" sz="3200" b="0" dirty="0">
                <a:solidFill>
                  <a:srgbClr val="FFFFFF"/>
                </a:solidFill>
                <a:effectLst/>
                <a:latin typeface="Consolas" panose="020B0609020204030204" pitchFamily="49" charset="0"/>
              </a:rPr>
              <a:t>b</a:t>
            </a:r>
            <a:br>
              <a:rPr lang="en-US" sz="3200" b="0" dirty="0">
                <a:solidFill>
                  <a:srgbClr val="FFFFFF"/>
                </a:solidFill>
                <a:effectLst/>
                <a:latin typeface="Consolas" panose="020B0609020204030204" pitchFamily="49" charset="0"/>
              </a:rPr>
            </a:br>
            <a:r>
              <a:rPr lang="en-US" sz="3200" b="0" dirty="0">
                <a:solidFill>
                  <a:srgbClr val="DCDCAA"/>
                </a:solidFill>
                <a:effectLst/>
                <a:latin typeface="Consolas" panose="020B0609020204030204" pitchFamily="49" charset="0"/>
              </a:rPr>
              <a:t>print</a:t>
            </a:r>
            <a:r>
              <a:rPr lang="en-US" sz="3200" b="0" dirty="0">
                <a:solidFill>
                  <a:srgbClr val="FFFFFF"/>
                </a:solidFill>
                <a:effectLst/>
                <a:latin typeface="Consolas" panose="020B0609020204030204" pitchFamily="49" charset="0"/>
              </a:rPr>
              <a:t>(product(</a:t>
            </a:r>
            <a:r>
              <a:rPr lang="en-US" sz="3200" b="0" dirty="0">
                <a:solidFill>
                  <a:srgbClr val="B5CEA8"/>
                </a:solidFill>
                <a:effectLst/>
                <a:latin typeface="Consolas" panose="020B0609020204030204" pitchFamily="49" charset="0"/>
              </a:rPr>
              <a:t>3</a:t>
            </a:r>
            <a:r>
              <a:rPr lang="en-US" sz="3200" b="0" dirty="0">
                <a:solidFill>
                  <a:srgbClr val="FFFFFF"/>
                </a:solidFill>
                <a:effectLst/>
                <a:latin typeface="Consolas" panose="020B0609020204030204" pitchFamily="49" charset="0"/>
              </a:rPr>
              <a:t>,</a:t>
            </a:r>
            <a:r>
              <a:rPr lang="en-US" sz="3200" b="0" dirty="0">
                <a:solidFill>
                  <a:srgbClr val="B5CEA8"/>
                </a:solidFill>
                <a:effectLst/>
                <a:latin typeface="Consolas" panose="020B0609020204030204" pitchFamily="49" charset="0"/>
              </a:rPr>
              <a:t>2</a:t>
            </a:r>
            <a:r>
              <a:rPr lang="en-US" sz="3200" b="0" dirty="0">
                <a:solidFill>
                  <a:srgbClr val="FFFFFF"/>
                </a:solidFill>
                <a:effectLst/>
                <a:latin typeface="Consolas" panose="020B0609020204030204" pitchFamily="49" charset="0"/>
              </a:rPr>
              <a:t>))  </a:t>
            </a:r>
            <a:r>
              <a:rPr lang="en-US" sz="3200" b="0" dirty="0">
                <a:solidFill>
                  <a:srgbClr val="7CA668"/>
                </a:solidFill>
                <a:effectLst/>
                <a:latin typeface="Consolas" panose="020B0609020204030204" pitchFamily="49" charset="0"/>
              </a:rPr>
              <a:t># 6</a:t>
            </a:r>
            <a:br>
              <a:rPr lang="en-US" sz="3200" b="0" dirty="0">
                <a:solidFill>
                  <a:srgbClr val="7CA668"/>
                </a:solidFill>
                <a:effectLst/>
                <a:latin typeface="Consolas" panose="020B0609020204030204" pitchFamily="49" charset="0"/>
              </a:rPr>
            </a:br>
            <a:endParaRPr lang="en-US" sz="3200" b="0" dirty="0">
              <a:solidFill>
                <a:srgbClr val="FFFFFF"/>
              </a:solidFill>
              <a:effectLst/>
              <a:latin typeface="Consolas" panose="020B0609020204030204" pitchFamily="49" charset="0"/>
            </a:endParaRPr>
          </a:p>
          <a:p>
            <a:pPr>
              <a:spcBef>
                <a:spcPts val="600"/>
              </a:spcBef>
            </a:pPr>
            <a:r>
              <a:rPr lang="en-US" sz="3200" b="0" dirty="0" err="1">
                <a:solidFill>
                  <a:srgbClr val="FFFFFF"/>
                </a:solidFill>
                <a:effectLst/>
                <a:latin typeface="Consolas" panose="020B0609020204030204" pitchFamily="49" charset="0"/>
              </a:rPr>
              <a:t>my_abs</a:t>
            </a:r>
            <a:r>
              <a:rPr lang="en-US" sz="3200" b="0" dirty="0">
                <a:solidFill>
                  <a:srgbClr val="FFFFFF"/>
                </a:solidFill>
                <a:effectLst/>
                <a:latin typeface="Consolas" panose="020B0609020204030204" pitchFamily="49" charset="0"/>
              </a:rPr>
              <a:t> </a:t>
            </a:r>
            <a:r>
              <a:rPr lang="en-US" sz="3200" b="0" dirty="0">
                <a:solidFill>
                  <a:srgbClr val="D4D4D4"/>
                </a:solidFill>
                <a:effectLst/>
                <a:latin typeface="Consolas" panose="020B0609020204030204" pitchFamily="49" charset="0"/>
              </a:rPr>
              <a:t>=</a:t>
            </a:r>
            <a:r>
              <a:rPr lang="en-US" sz="3200" b="0" dirty="0">
                <a:solidFill>
                  <a:srgbClr val="FFFFFF"/>
                </a:solidFill>
                <a:effectLst/>
                <a:latin typeface="Consolas" panose="020B0609020204030204" pitchFamily="49" charset="0"/>
              </a:rPr>
              <a:t> </a:t>
            </a:r>
            <a:r>
              <a:rPr lang="en-US" sz="3200" b="0" dirty="0">
                <a:solidFill>
                  <a:srgbClr val="569CD6"/>
                </a:solidFill>
                <a:effectLst/>
                <a:latin typeface="Consolas" panose="020B0609020204030204" pitchFamily="49" charset="0"/>
              </a:rPr>
              <a:t>lambda</a:t>
            </a:r>
            <a:r>
              <a:rPr lang="en-US" sz="3200" b="0" dirty="0">
                <a:solidFill>
                  <a:srgbClr val="FFFFFF"/>
                </a:solidFill>
                <a:effectLst/>
                <a:latin typeface="Consolas" panose="020B0609020204030204" pitchFamily="49" charset="0"/>
              </a:rPr>
              <a:t> </a:t>
            </a:r>
            <a:r>
              <a:rPr lang="en-US" sz="3200" b="0" dirty="0">
                <a:solidFill>
                  <a:srgbClr val="9CDCFE"/>
                </a:solidFill>
                <a:effectLst/>
                <a:latin typeface="Consolas" panose="020B0609020204030204" pitchFamily="49" charset="0"/>
              </a:rPr>
              <a:t>x</a:t>
            </a:r>
            <a:r>
              <a:rPr lang="en-US" sz="3200" b="0" dirty="0">
                <a:solidFill>
                  <a:srgbClr val="FFFFFF"/>
                </a:solidFill>
                <a:effectLst/>
                <a:latin typeface="Consolas" panose="020B0609020204030204" pitchFamily="49" charset="0"/>
              </a:rPr>
              <a:t>: x </a:t>
            </a:r>
            <a:r>
              <a:rPr lang="en-US" sz="3200" b="0" dirty="0">
                <a:solidFill>
                  <a:srgbClr val="C586C0"/>
                </a:solidFill>
                <a:effectLst/>
                <a:latin typeface="Consolas" panose="020B0609020204030204" pitchFamily="49" charset="0"/>
              </a:rPr>
              <a:t>if</a:t>
            </a:r>
            <a:r>
              <a:rPr lang="en-US" sz="3200" b="0" dirty="0">
                <a:solidFill>
                  <a:srgbClr val="FFFFFF"/>
                </a:solidFill>
                <a:effectLst/>
                <a:latin typeface="Consolas" panose="020B0609020204030204" pitchFamily="49" charset="0"/>
              </a:rPr>
              <a:t> x </a:t>
            </a:r>
            <a:r>
              <a:rPr lang="en-US" sz="3200" b="0" dirty="0">
                <a:solidFill>
                  <a:srgbClr val="D4D4D4"/>
                </a:solidFill>
                <a:effectLst/>
                <a:latin typeface="Consolas" panose="020B0609020204030204" pitchFamily="49" charset="0"/>
              </a:rPr>
              <a:t>&gt;=</a:t>
            </a:r>
            <a:r>
              <a:rPr lang="en-US" sz="3200" b="0" dirty="0">
                <a:solidFill>
                  <a:srgbClr val="FFFFFF"/>
                </a:solidFill>
                <a:effectLst/>
                <a:latin typeface="Consolas" panose="020B0609020204030204" pitchFamily="49" charset="0"/>
              </a:rPr>
              <a:t> </a:t>
            </a:r>
            <a:r>
              <a:rPr lang="en-US" sz="3200" b="0" dirty="0">
                <a:solidFill>
                  <a:srgbClr val="B5CEA8"/>
                </a:solidFill>
                <a:effectLst/>
                <a:latin typeface="Consolas" panose="020B0609020204030204" pitchFamily="49" charset="0"/>
              </a:rPr>
              <a:t>0</a:t>
            </a:r>
            <a:r>
              <a:rPr lang="en-US" sz="3200" b="0" dirty="0">
                <a:solidFill>
                  <a:srgbClr val="FFFFFF"/>
                </a:solidFill>
                <a:effectLst/>
                <a:latin typeface="Consolas" panose="020B0609020204030204" pitchFamily="49" charset="0"/>
              </a:rPr>
              <a:t> </a:t>
            </a:r>
            <a:r>
              <a:rPr lang="en-US" sz="3200" b="0" dirty="0">
                <a:solidFill>
                  <a:srgbClr val="C586C0"/>
                </a:solidFill>
                <a:effectLst/>
                <a:latin typeface="Consolas" panose="020B0609020204030204" pitchFamily="49" charset="0"/>
              </a:rPr>
              <a:t>else</a:t>
            </a:r>
            <a:r>
              <a:rPr lang="en-US" sz="3200" b="0" dirty="0">
                <a:solidFill>
                  <a:srgbClr val="FFFFFF"/>
                </a:solidFill>
                <a:effectLst/>
                <a:latin typeface="Consolas" panose="020B0609020204030204" pitchFamily="49" charset="0"/>
              </a:rPr>
              <a:t> </a:t>
            </a:r>
            <a:r>
              <a:rPr lang="en-US" sz="3200" b="0" dirty="0">
                <a:solidFill>
                  <a:srgbClr val="D4D4D4"/>
                </a:solidFill>
                <a:effectLst/>
                <a:latin typeface="Consolas" panose="020B0609020204030204" pitchFamily="49" charset="0"/>
              </a:rPr>
              <a:t>-</a:t>
            </a:r>
            <a:r>
              <a:rPr lang="en-US" sz="3200" b="0" dirty="0">
                <a:solidFill>
                  <a:srgbClr val="FFFFFF"/>
                </a:solidFill>
                <a:effectLst/>
                <a:latin typeface="Consolas" panose="020B0609020204030204" pitchFamily="49" charset="0"/>
              </a:rPr>
              <a:t>x</a:t>
            </a:r>
            <a:br>
              <a:rPr lang="en-US" sz="3200" b="0" dirty="0">
                <a:solidFill>
                  <a:srgbClr val="FFFFFF"/>
                </a:solidFill>
                <a:effectLst/>
                <a:latin typeface="Consolas" panose="020B0609020204030204" pitchFamily="49" charset="0"/>
              </a:rPr>
            </a:br>
            <a:r>
              <a:rPr lang="en-US" sz="3200" b="0" dirty="0">
                <a:solidFill>
                  <a:srgbClr val="DCDCAA"/>
                </a:solidFill>
                <a:effectLst/>
                <a:latin typeface="Consolas" panose="020B0609020204030204" pitchFamily="49" charset="0"/>
              </a:rPr>
              <a:t>print</a:t>
            </a:r>
            <a:r>
              <a:rPr lang="en-US" sz="3200" b="0" dirty="0">
                <a:solidFill>
                  <a:srgbClr val="FFFFFF"/>
                </a:solidFill>
                <a:effectLst/>
                <a:latin typeface="Consolas" panose="020B0609020204030204" pitchFamily="49" charset="0"/>
              </a:rPr>
              <a:t>(</a:t>
            </a:r>
            <a:r>
              <a:rPr lang="en-US" sz="3200" b="0" dirty="0" err="1">
                <a:solidFill>
                  <a:srgbClr val="FFFFFF"/>
                </a:solidFill>
                <a:effectLst/>
                <a:latin typeface="Consolas" panose="020B0609020204030204" pitchFamily="49" charset="0"/>
              </a:rPr>
              <a:t>my_abs</a:t>
            </a:r>
            <a:r>
              <a:rPr lang="en-US" sz="3200" b="0" dirty="0">
                <a:solidFill>
                  <a:srgbClr val="FFFFFF"/>
                </a:solidFill>
                <a:effectLst/>
                <a:latin typeface="Consolas" panose="020B0609020204030204" pitchFamily="49" charset="0"/>
              </a:rPr>
              <a:t>(</a:t>
            </a:r>
            <a:r>
              <a:rPr lang="en-US" sz="3200" b="0" dirty="0">
                <a:solidFill>
                  <a:srgbClr val="D4D4D4"/>
                </a:solidFill>
                <a:effectLst/>
                <a:latin typeface="Consolas" panose="020B0609020204030204" pitchFamily="49" charset="0"/>
              </a:rPr>
              <a:t>-</a:t>
            </a:r>
            <a:r>
              <a:rPr lang="en-US" sz="3200" b="0" dirty="0">
                <a:solidFill>
                  <a:srgbClr val="B5CEA8"/>
                </a:solidFill>
                <a:effectLst/>
                <a:latin typeface="Consolas" panose="020B0609020204030204" pitchFamily="49" charset="0"/>
              </a:rPr>
              <a:t>5</a:t>
            </a:r>
            <a:r>
              <a:rPr lang="en-US" sz="3200" b="0" dirty="0">
                <a:solidFill>
                  <a:srgbClr val="FFFFFF"/>
                </a:solidFill>
                <a:effectLst/>
                <a:latin typeface="Consolas" panose="020B0609020204030204" pitchFamily="49" charset="0"/>
              </a:rPr>
              <a:t>))  </a:t>
            </a:r>
            <a:r>
              <a:rPr lang="en-US" sz="3200" b="0" dirty="0">
                <a:solidFill>
                  <a:srgbClr val="7CA668"/>
                </a:solidFill>
                <a:effectLst/>
                <a:latin typeface="Consolas" panose="020B0609020204030204" pitchFamily="49" charset="0"/>
              </a:rPr>
              <a:t># 5</a:t>
            </a:r>
            <a:endParaRPr lang="en-US" sz="3200" b="0" dirty="0">
              <a:solidFill>
                <a:srgbClr val="FFFFFF"/>
              </a:solidFill>
              <a:effectLst/>
              <a:latin typeface="Consolas" panose="020B0609020204030204" pitchFamily="49" charset="0"/>
            </a:endParaRPr>
          </a:p>
          <a:p>
            <a:pPr marL="0" indent="0">
              <a:buNone/>
            </a:pPr>
            <a:endParaRPr lang="en-US" i="1" dirty="0">
              <a:latin typeface="Courier New" panose="02070309020205020404" pitchFamily="49" charset="0"/>
              <a:cs typeface="Courier New" panose="02070309020205020404" pitchFamily="49" charset="0"/>
            </a:endParaRPr>
          </a:p>
          <a:p>
            <a:endParaRPr lang="en-US"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98666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0289BC2-7607-4BE1-B197-2AF6989B935B}"/>
              </a:ext>
            </a:extLst>
          </p:cNvPr>
          <p:cNvSpPr>
            <a:spLocks noGrp="1"/>
          </p:cNvSpPr>
          <p:nvPr>
            <p:ph type="title"/>
          </p:nvPr>
        </p:nvSpPr>
        <p:spPr/>
        <p:txBody>
          <a:bodyPr/>
          <a:lstStyle/>
          <a:p>
            <a:r>
              <a:rPr lang="en-US" dirty="0"/>
              <a:t>Functions Returning Functions</a:t>
            </a:r>
          </a:p>
        </p:txBody>
      </p:sp>
      <p:sp>
        <p:nvSpPr>
          <p:cNvPr id="3" name="Sisällön paikkamerkki 2">
            <a:extLst>
              <a:ext uri="{FF2B5EF4-FFF2-40B4-BE49-F238E27FC236}">
                <a16:creationId xmlns:a16="http://schemas.microsoft.com/office/drawing/2014/main" id="{687A76A3-325A-4C6C-B05A-0BDCA449A27A}"/>
              </a:ext>
            </a:extLst>
          </p:cNvPr>
          <p:cNvSpPr>
            <a:spLocks noGrp="1"/>
          </p:cNvSpPr>
          <p:nvPr>
            <p:ph idx="1"/>
          </p:nvPr>
        </p:nvSpPr>
        <p:spPr>
          <a:xfrm>
            <a:off x="1218883" y="1701797"/>
            <a:ext cx="10360501" cy="4881566"/>
          </a:xfrm>
        </p:spPr>
        <p:txBody>
          <a:bodyPr>
            <a:normAutofit fontScale="70000" lnSpcReduction="20000"/>
          </a:bodyPr>
          <a:lstStyle/>
          <a:p>
            <a:r>
              <a:rPr lang="en-US" dirty="0"/>
              <a:t>Since Python functions are first-class objects, they can be used like variables or as return values.</a:t>
            </a:r>
          </a:p>
          <a:p>
            <a:pPr marL="0" indent="0">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make_adder</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n</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adder</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x</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x</a:t>
            </a:r>
            <a:r>
              <a:rPr lang="en-US" b="0" dirty="0" err="1">
                <a:solidFill>
                  <a:srgbClr val="D4D4D4"/>
                </a:solidFill>
                <a:effectLst/>
                <a:latin typeface="Consolas" panose="020B0609020204030204" pitchFamily="49" charset="0"/>
              </a:rPr>
              <a:t>+</a:t>
            </a:r>
            <a:r>
              <a:rPr lang="en-US" b="0" dirty="0" err="1">
                <a:solidFill>
                  <a:srgbClr val="FFFFFF"/>
                </a:solidFill>
                <a:effectLst/>
                <a:latin typeface="Consolas" panose="020B0609020204030204" pitchFamily="49" charset="0"/>
              </a:rPr>
              <a:t>n</a:t>
            </a:r>
            <a:endParaRPr lang="en-US" b="0" dirty="0">
              <a:solidFill>
                <a:srgbClr val="FFFFFF"/>
              </a:solidFill>
              <a:effectLst/>
              <a:latin typeface="Consolas" panose="020B0609020204030204" pitchFamily="49" charset="0"/>
            </a:endParaRPr>
          </a:p>
          <a:p>
            <a:pPr marL="0" indent="0">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adder</a:t>
            </a:r>
          </a:p>
          <a:p>
            <a:pPr marL="0" indent="0">
              <a:buNone/>
            </a:pPr>
            <a:br>
              <a:rPr lang="en-US" b="0" dirty="0">
                <a:solidFill>
                  <a:srgbClr val="FFFFFF"/>
                </a:solidFill>
                <a:effectLst/>
                <a:latin typeface="Consolas" panose="020B0609020204030204" pitchFamily="49" charset="0"/>
              </a:rPr>
            </a:br>
            <a:r>
              <a:rPr lang="en-US" b="0" dirty="0">
                <a:solidFill>
                  <a:srgbClr val="7CA668"/>
                </a:solidFill>
                <a:effectLst/>
                <a:latin typeface="Consolas" panose="020B0609020204030204" pitchFamily="49" charset="0"/>
              </a:rPr>
              <a:t># More concise version using lambda</a:t>
            </a:r>
            <a:endParaRPr lang="en-US" b="0" dirty="0">
              <a:solidFill>
                <a:srgbClr val="FFFFFF"/>
              </a:solidFill>
              <a:effectLst/>
              <a:latin typeface="Consolas" panose="020B0609020204030204" pitchFamily="49" charset="0"/>
            </a:endParaRPr>
          </a:p>
          <a:p>
            <a:pPr marL="0" indent="0">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make_adder</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n</a:t>
            </a:r>
            <a:r>
              <a:rPr lang="en-US" b="0" dirty="0">
                <a:solidFill>
                  <a:srgbClr val="FFFFFF"/>
                </a:solidFill>
                <a:effectLst/>
                <a:latin typeface="Consolas" panose="020B0609020204030204" pitchFamily="49" charset="0"/>
              </a:rPr>
              <a:t>):</a:t>
            </a:r>
          </a:p>
          <a:p>
            <a:pPr marL="0" indent="0">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lambda</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x</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x</a:t>
            </a:r>
            <a:r>
              <a:rPr lang="en-US" b="0" dirty="0" err="1">
                <a:solidFill>
                  <a:srgbClr val="D4D4D4"/>
                </a:solidFill>
                <a:effectLst/>
                <a:latin typeface="Consolas" panose="020B0609020204030204" pitchFamily="49" charset="0"/>
              </a:rPr>
              <a:t>+</a:t>
            </a:r>
            <a:r>
              <a:rPr lang="en-US" b="0" dirty="0" err="1">
                <a:solidFill>
                  <a:srgbClr val="FFFFFF"/>
                </a:solidFill>
                <a:effectLst/>
                <a:latin typeface="Consolas" panose="020B0609020204030204" pitchFamily="49" charset="0"/>
              </a:rPr>
              <a:t>n</a:t>
            </a:r>
            <a:endParaRPr lang="en-US" b="0" dirty="0">
              <a:solidFill>
                <a:srgbClr val="FFFFFF"/>
              </a:solidFill>
              <a:effectLst/>
              <a:latin typeface="Consolas" panose="020B0609020204030204" pitchFamily="49" charset="0"/>
            </a:endParaRPr>
          </a:p>
          <a:p>
            <a:pPr marL="0" indent="0">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inc2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make_adder</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p>
          <a:p>
            <a:pPr marL="0" indent="0">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(inc2(</a:t>
            </a:r>
            <a:r>
              <a:rPr lang="en-US" b="0" dirty="0">
                <a:solidFill>
                  <a:srgbClr val="B5CEA8"/>
                </a:solidFill>
                <a:effectLst/>
                <a:latin typeface="Consolas" panose="020B0609020204030204" pitchFamily="49" charset="0"/>
              </a:rPr>
              <a:t>4</a:t>
            </a:r>
            <a:r>
              <a:rPr lang="en-US" b="0" dirty="0">
                <a:solidFill>
                  <a:srgbClr val="FFFFFF"/>
                </a:solidFill>
                <a:effectLst/>
                <a:latin typeface="Consolas" panose="020B0609020204030204" pitchFamily="49" charset="0"/>
              </a:rPr>
              <a:t>))</a:t>
            </a:r>
          </a:p>
          <a:p>
            <a:endParaRPr lang="en-US" dirty="0"/>
          </a:p>
        </p:txBody>
      </p:sp>
    </p:spTree>
    <p:extLst>
      <p:ext uri="{BB962C8B-B14F-4D97-AF65-F5344CB8AC3E}">
        <p14:creationId xmlns:p14="http://schemas.microsoft.com/office/powerpoint/2010/main" val="880132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9767-1D5C-422A-815D-F068F3B6B66C}"/>
              </a:ext>
            </a:extLst>
          </p:cNvPr>
          <p:cNvSpPr>
            <a:spLocks noGrp="1"/>
          </p:cNvSpPr>
          <p:nvPr>
            <p:ph type="title"/>
          </p:nvPr>
        </p:nvSpPr>
        <p:spPr/>
        <p:txBody>
          <a:bodyPr/>
          <a:lstStyle/>
          <a:p>
            <a:r>
              <a:rPr lang="en-US" dirty="0"/>
              <a:t>List Comprehensions</a:t>
            </a:r>
          </a:p>
        </p:txBody>
      </p:sp>
      <p:sp>
        <p:nvSpPr>
          <p:cNvPr id="3" name="Content Placeholder 2">
            <a:extLst>
              <a:ext uri="{FF2B5EF4-FFF2-40B4-BE49-F238E27FC236}">
                <a16:creationId xmlns:a16="http://schemas.microsoft.com/office/drawing/2014/main" id="{A85C2468-83D8-4B38-B6D1-E9E88625FD38}"/>
              </a:ext>
            </a:extLst>
          </p:cNvPr>
          <p:cNvSpPr>
            <a:spLocks noGrp="1"/>
          </p:cNvSpPr>
          <p:nvPr>
            <p:ph idx="1"/>
          </p:nvPr>
        </p:nvSpPr>
        <p:spPr>
          <a:xfrm>
            <a:off x="1218883" y="1701796"/>
            <a:ext cx="10360501" cy="4679531"/>
          </a:xfrm>
        </p:spPr>
        <p:txBody>
          <a:bodyPr>
            <a:normAutofit/>
          </a:bodyPr>
          <a:lstStyle/>
          <a:p>
            <a:r>
              <a:rPr lang="en-US" dirty="0"/>
              <a:t>List comprehensions provide a concise way to create lists. </a:t>
            </a:r>
          </a:p>
          <a:p>
            <a:r>
              <a:rPr lang="en-US" dirty="0"/>
              <a:t>It consists of brackets containing an expression followed by a for clause, then 0… N for or if clauses. </a:t>
            </a:r>
          </a:p>
          <a:p>
            <a:pPr marL="304746" lvl="1" indent="0">
              <a:buNone/>
            </a:pPr>
            <a:r>
              <a:rPr lang="en-US" b="0" dirty="0">
                <a:solidFill>
                  <a:srgbClr val="FFFFFF"/>
                </a:solidFill>
                <a:effectLst/>
                <a:latin typeface="Consolas" panose="020B0609020204030204" pitchFamily="49" charset="0"/>
              </a:rPr>
              <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7</a:t>
            </a:r>
            <a:r>
              <a:rPr lang="en-US" b="0" dirty="0">
                <a:solidFill>
                  <a:srgbClr val="FFFFFF"/>
                </a:solidFill>
                <a:effectLst/>
                <a:latin typeface="Consolas" panose="020B0609020204030204" pitchFamily="49" charset="0"/>
              </a:rPr>
              <a:t>]</a:t>
            </a:r>
          </a:p>
          <a:p>
            <a:pPr marL="304746" lvl="1" indent="0">
              <a:buNone/>
            </a:pPr>
            <a:r>
              <a:rPr lang="en-US" b="0" dirty="0">
                <a:solidFill>
                  <a:srgbClr val="FFFFFF"/>
                </a:solidFill>
                <a:effectLst/>
                <a:latin typeface="Consolas" panose="020B0609020204030204" pitchFamily="49" charset="0"/>
              </a:rPr>
              <a:t>squared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[x</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x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x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a:t>
            </a:r>
          </a:p>
          <a:p>
            <a:pPr marL="304746" lvl="1" indent="0">
              <a:buNone/>
            </a:pPr>
            <a:r>
              <a:rPr lang="en-US" b="0" dirty="0">
                <a:solidFill>
                  <a:srgbClr val="FFFFFF"/>
                </a:solidFill>
                <a:effectLst/>
                <a:latin typeface="Consolas" panose="020B0609020204030204" pitchFamily="49" charset="0"/>
              </a:rPr>
              <a:t>odd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[x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x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x</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 </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p>
          <a:p>
            <a:pPr marL="304746" lvl="1" indent="0">
              <a:buNone/>
            </a:pPr>
            <a:r>
              <a:rPr lang="en-US" dirty="0">
                <a:solidFill>
                  <a:srgbClr val="FFFFFF"/>
                </a:solidFill>
                <a:latin typeface="Consolas" panose="020B0609020204030204" pitchFamily="49" charset="0"/>
              </a:rPr>
              <a:t>b</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'3'</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"100"</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"-15"</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CE9178"/>
                </a:solidFill>
                <a:effectLst/>
                <a:latin typeface="Consolas" panose="020B0609020204030204" pitchFamily="49" charset="0"/>
              </a:rPr>
              <a:t>"1234"</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"1000000"</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"987654"</a:t>
            </a:r>
            <a:r>
              <a:rPr lang="en-US" b="0" dirty="0">
                <a:solidFill>
                  <a:srgbClr val="FFFFFF"/>
                </a:solidFill>
                <a:effectLst/>
                <a:latin typeface="Consolas" panose="020B0609020204030204" pitchFamily="49" charset="0"/>
              </a:rPr>
              <a:t>]</a:t>
            </a:r>
          </a:p>
          <a:p>
            <a:pPr marL="304746" lvl="1" indent="0">
              <a:buNone/>
            </a:pPr>
            <a:r>
              <a:rPr lang="en-US" b="0" dirty="0" err="1">
                <a:solidFill>
                  <a:srgbClr val="FFFFFF"/>
                </a:solidFill>
                <a:effectLst/>
                <a:latin typeface="Consolas" panose="020B0609020204030204" pitchFamily="49" charset="0"/>
              </a:rPr>
              <a:t>int_list</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b]</a:t>
            </a:r>
          </a:p>
          <a:p>
            <a:pPr marL="304746" lvl="1" indent="0">
              <a:buNone/>
            </a:pPr>
            <a:r>
              <a:rPr lang="en-US" b="0" dirty="0" err="1">
                <a:solidFill>
                  <a:srgbClr val="FFFFFF"/>
                </a:solidFill>
                <a:effectLst/>
                <a:latin typeface="Consolas" panose="020B0609020204030204" pitchFamily="49" charset="0"/>
              </a:rPr>
              <a:t>big_ints</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dirty="0">
                <a:solidFill>
                  <a:srgbClr val="FFFFFF"/>
                </a:solidFill>
                <a:latin typeface="Consolas" panose="020B0609020204030204" pitchFamily="49" charset="0"/>
              </a:rPr>
              <a:t>b</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&gt;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a:t>
            </a:r>
          </a:p>
          <a:p>
            <a:pPr marL="0" indent="0">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2980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53DC6-187F-46AC-9002-750799C27706}"/>
              </a:ext>
            </a:extLst>
          </p:cNvPr>
          <p:cNvSpPr>
            <a:spLocks noGrp="1"/>
          </p:cNvSpPr>
          <p:nvPr>
            <p:ph type="title"/>
          </p:nvPr>
        </p:nvSpPr>
        <p:spPr>
          <a:xfrm>
            <a:off x="1218883" y="274637"/>
            <a:ext cx="10360501" cy="778099"/>
          </a:xfrm>
        </p:spPr>
        <p:txBody>
          <a:bodyPr/>
          <a:lstStyle/>
          <a:p>
            <a:r>
              <a:rPr lang="en-US" dirty="0"/>
              <a:t>Functional Programming - map, reduce, filter</a:t>
            </a:r>
          </a:p>
        </p:txBody>
      </p:sp>
      <p:sp>
        <p:nvSpPr>
          <p:cNvPr id="3" name="Content Placeholder 2">
            <a:extLst>
              <a:ext uri="{FF2B5EF4-FFF2-40B4-BE49-F238E27FC236}">
                <a16:creationId xmlns:a16="http://schemas.microsoft.com/office/drawing/2014/main" id="{9AD3AE5B-C9DB-4A78-A2E2-D0A26C42D7AC}"/>
              </a:ext>
            </a:extLst>
          </p:cNvPr>
          <p:cNvSpPr>
            <a:spLocks noGrp="1"/>
          </p:cNvSpPr>
          <p:nvPr>
            <p:ph idx="1"/>
          </p:nvPr>
        </p:nvSpPr>
        <p:spPr>
          <a:xfrm>
            <a:off x="1218148" y="1071282"/>
            <a:ext cx="10780920" cy="5670086"/>
          </a:xfrm>
        </p:spPr>
        <p:txBody>
          <a:bodyPr>
            <a:noAutofit/>
          </a:bodyPr>
          <a:lstStyle/>
          <a:p>
            <a:r>
              <a:rPr lang="en-US" sz="1800" b="1" dirty="0"/>
              <a:t>map(function, sequence) </a:t>
            </a:r>
            <a:r>
              <a:rPr lang="en-US" sz="1800" dirty="0"/>
              <a:t>applies function to all items of a sequence</a:t>
            </a:r>
          </a:p>
          <a:p>
            <a:r>
              <a:rPr lang="en-US" sz="1800" b="1" dirty="0"/>
              <a:t>filter(function, sequence) </a:t>
            </a:r>
            <a:r>
              <a:rPr lang="en-US" sz="1800" dirty="0"/>
              <a:t>creates a new sequence consisting of those items, which the function returned true</a:t>
            </a:r>
          </a:p>
          <a:p>
            <a:r>
              <a:rPr lang="en-US" sz="1800" b="1" dirty="0"/>
              <a:t>reduce(function, sequence) </a:t>
            </a:r>
            <a:r>
              <a:rPr lang="en-US" sz="1800" dirty="0"/>
              <a:t>reduce the sequence to one result by applying given function to list</a:t>
            </a:r>
            <a:br>
              <a:rPr lang="en-US" sz="1800" dirty="0"/>
            </a:br>
            <a:endParaRPr lang="en-US" sz="1800" dirty="0"/>
          </a:p>
          <a:p>
            <a:pPr marL="0" indent="0">
              <a:spcBef>
                <a:spcPts val="600"/>
              </a:spcBef>
              <a:buNone/>
            </a:pPr>
            <a:r>
              <a:rPr lang="fi-FI" sz="1800" b="0" dirty="0">
                <a:solidFill>
                  <a:srgbClr val="7CA668"/>
                </a:solidFill>
                <a:effectLst/>
                <a:latin typeface="Consolas" panose="020B0609020204030204" pitchFamily="49" charset="0"/>
              </a:rPr>
              <a:t># in Python 2 </a:t>
            </a:r>
            <a:r>
              <a:rPr lang="fi-FI" sz="1800" b="0" dirty="0" err="1">
                <a:solidFill>
                  <a:srgbClr val="7CA668"/>
                </a:solidFill>
                <a:effectLst/>
                <a:latin typeface="Consolas" panose="020B0609020204030204" pitchFamily="49" charset="0"/>
              </a:rPr>
              <a:t>reduce</a:t>
            </a:r>
            <a:r>
              <a:rPr lang="fi-FI" sz="1800" b="0" dirty="0">
                <a:solidFill>
                  <a:srgbClr val="7CA668"/>
                </a:solidFill>
                <a:effectLst/>
                <a:latin typeface="Consolas" panose="020B0609020204030204" pitchFamily="49" charset="0"/>
              </a:rPr>
              <a:t> in </a:t>
            </a:r>
            <a:r>
              <a:rPr lang="fi-FI" sz="1800" b="0" dirty="0" err="1">
                <a:solidFill>
                  <a:srgbClr val="7CA668"/>
                </a:solidFill>
                <a:effectLst/>
                <a:latin typeface="Consolas" panose="020B0609020204030204" pitchFamily="49" charset="0"/>
              </a:rPr>
              <a:t>built</a:t>
            </a:r>
            <a:r>
              <a:rPr lang="fi-FI" sz="1800" b="0" dirty="0">
                <a:solidFill>
                  <a:srgbClr val="7CA668"/>
                </a:solidFill>
                <a:effectLst/>
                <a:latin typeface="Consolas" panose="020B0609020204030204" pitchFamily="49" charset="0"/>
              </a:rPr>
              <a:t>-in </a:t>
            </a:r>
            <a:r>
              <a:rPr lang="fi-FI" sz="1800" b="0" dirty="0" err="1">
                <a:solidFill>
                  <a:srgbClr val="7CA668"/>
                </a:solidFill>
                <a:effectLst/>
                <a:latin typeface="Consolas" panose="020B0609020204030204" pitchFamily="49" charset="0"/>
              </a:rPr>
              <a:t>function</a:t>
            </a:r>
            <a:endParaRPr lang="fi-FI" sz="1800" b="0" dirty="0">
              <a:solidFill>
                <a:srgbClr val="FFFFFF"/>
              </a:solidFill>
              <a:effectLst/>
              <a:latin typeface="Consolas" panose="020B0609020204030204" pitchFamily="49" charset="0"/>
            </a:endParaRPr>
          </a:p>
          <a:p>
            <a:pPr marL="0" indent="0">
              <a:spcBef>
                <a:spcPts val="600"/>
              </a:spcBef>
              <a:buNone/>
            </a:pPr>
            <a:r>
              <a:rPr lang="fi-FI" sz="1800" b="0" dirty="0">
                <a:solidFill>
                  <a:srgbClr val="7CA668"/>
                </a:solidFill>
                <a:effectLst/>
                <a:latin typeface="Consolas" panose="020B0609020204030204" pitchFamily="49" charset="0"/>
              </a:rPr>
              <a:t># in Python 3 </a:t>
            </a:r>
            <a:r>
              <a:rPr lang="fi-FI" sz="1800" b="0" dirty="0" err="1">
                <a:solidFill>
                  <a:srgbClr val="7CA668"/>
                </a:solidFill>
                <a:effectLst/>
                <a:latin typeface="Consolas" panose="020B0609020204030204" pitchFamily="49" charset="0"/>
              </a:rPr>
              <a:t>you</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must</a:t>
            </a:r>
            <a:r>
              <a:rPr lang="fi-FI" sz="1800" b="0" dirty="0">
                <a:solidFill>
                  <a:srgbClr val="7CA668"/>
                </a:solidFill>
                <a:effectLst/>
                <a:latin typeface="Consolas" panose="020B0609020204030204" pitchFamily="49" charset="0"/>
              </a:rPr>
              <a:t> import </a:t>
            </a:r>
            <a:r>
              <a:rPr lang="fi-FI" sz="1800" b="0" dirty="0" err="1">
                <a:solidFill>
                  <a:srgbClr val="7CA668"/>
                </a:solidFill>
                <a:effectLst/>
                <a:latin typeface="Consolas" panose="020B0609020204030204" pitchFamily="49" charset="0"/>
              </a:rPr>
              <a:t>reduce</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from</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functools</a:t>
            </a:r>
            <a:endParaRPr lang="fi-FI" sz="1800" b="0" dirty="0">
              <a:solidFill>
                <a:srgbClr val="FFFFFF"/>
              </a:solidFill>
              <a:effectLst/>
              <a:latin typeface="Consolas" panose="020B0609020204030204" pitchFamily="49" charset="0"/>
            </a:endParaRPr>
          </a:p>
          <a:p>
            <a:pPr marL="0" indent="0">
              <a:spcBef>
                <a:spcPts val="600"/>
              </a:spcBef>
              <a:buNone/>
            </a:pPr>
            <a:r>
              <a:rPr lang="fi-FI" sz="1800" b="0" dirty="0" err="1">
                <a:solidFill>
                  <a:srgbClr val="C586C0"/>
                </a:solidFill>
                <a:effectLst/>
                <a:latin typeface="Consolas" panose="020B0609020204030204" pitchFamily="49" charset="0"/>
              </a:rPr>
              <a:t>from</a:t>
            </a:r>
            <a:r>
              <a:rPr lang="fi-FI" sz="1800" b="0" dirty="0">
                <a:solidFill>
                  <a:srgbClr val="FFFFFF"/>
                </a:solidFill>
                <a:effectLst/>
                <a:latin typeface="Consolas" panose="020B0609020204030204" pitchFamily="49" charset="0"/>
              </a:rPr>
              <a:t> </a:t>
            </a:r>
            <a:r>
              <a:rPr lang="fi-FI" sz="1800" b="0" dirty="0" err="1">
                <a:solidFill>
                  <a:srgbClr val="FFFFFF"/>
                </a:solidFill>
                <a:effectLst/>
                <a:latin typeface="Consolas" panose="020B0609020204030204" pitchFamily="49" charset="0"/>
              </a:rPr>
              <a:t>functools</a:t>
            </a:r>
            <a:r>
              <a:rPr lang="fi-FI" sz="1800" b="0" dirty="0">
                <a:solidFill>
                  <a:srgbClr val="FFFFFF"/>
                </a:solidFill>
                <a:effectLst/>
                <a:latin typeface="Consolas" panose="020B0609020204030204" pitchFamily="49" charset="0"/>
              </a:rPr>
              <a:t> </a:t>
            </a:r>
            <a:r>
              <a:rPr lang="fi-FI" sz="1800" b="0" dirty="0">
                <a:solidFill>
                  <a:srgbClr val="C586C0"/>
                </a:solidFill>
                <a:effectLst/>
                <a:latin typeface="Consolas" panose="020B0609020204030204" pitchFamily="49" charset="0"/>
              </a:rPr>
              <a:t>import</a:t>
            </a:r>
            <a:r>
              <a:rPr lang="fi-FI" sz="1800" b="0" dirty="0">
                <a:solidFill>
                  <a:srgbClr val="FFFFFF"/>
                </a:solidFill>
                <a:effectLst/>
                <a:latin typeface="Consolas" panose="020B0609020204030204" pitchFamily="49" charset="0"/>
              </a:rPr>
              <a:t> </a:t>
            </a:r>
            <a:r>
              <a:rPr lang="fi-FI" sz="1800" b="0" dirty="0" err="1">
                <a:solidFill>
                  <a:srgbClr val="9CDCFE"/>
                </a:solidFill>
                <a:effectLst/>
                <a:latin typeface="Consolas" panose="020B0609020204030204" pitchFamily="49" charset="0"/>
              </a:rPr>
              <a:t>reduce</a:t>
            </a:r>
            <a:endParaRPr lang="fi-FI" sz="1800" b="0" dirty="0">
              <a:solidFill>
                <a:srgbClr val="FFFFFF"/>
              </a:solidFill>
              <a:effectLst/>
              <a:latin typeface="Consolas" panose="020B0609020204030204" pitchFamily="49" charset="0"/>
            </a:endParaRPr>
          </a:p>
          <a:p>
            <a:pPr marL="0" indent="0">
              <a:spcBef>
                <a:spcPts val="600"/>
              </a:spcBef>
              <a:buNone/>
            </a:pPr>
            <a:r>
              <a:rPr lang="fi-FI" sz="1800" b="0" dirty="0">
                <a:solidFill>
                  <a:srgbClr val="FFFFFF"/>
                </a:solidFill>
                <a:effectLst/>
                <a:latin typeface="Consolas" panose="020B0609020204030204" pitchFamily="49" charset="0"/>
              </a:rPr>
              <a:t>a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err="1">
                <a:solidFill>
                  <a:srgbClr val="4EC9B0"/>
                </a:solidFill>
                <a:effectLst/>
                <a:latin typeface="Consolas" panose="020B0609020204030204" pitchFamily="49" charset="0"/>
              </a:rPr>
              <a:t>list</a:t>
            </a:r>
            <a:r>
              <a:rPr lang="fi-FI" sz="1800" b="0" dirty="0">
                <a:solidFill>
                  <a:srgbClr val="FFFFFF"/>
                </a:solidFill>
                <a:effectLst/>
                <a:latin typeface="Consolas" panose="020B0609020204030204" pitchFamily="49" charset="0"/>
              </a:rPr>
              <a:t>(</a:t>
            </a:r>
            <a:r>
              <a:rPr lang="fi-FI" sz="1800" b="0" dirty="0" err="1">
                <a:solidFill>
                  <a:srgbClr val="DCDCAA"/>
                </a:solidFill>
                <a:effectLst/>
                <a:latin typeface="Consolas" panose="020B0609020204030204" pitchFamily="49" charset="0"/>
              </a:rPr>
              <a:t>range</a:t>
            </a:r>
            <a:r>
              <a:rPr lang="fi-FI" sz="1800" b="0" dirty="0">
                <a:solidFill>
                  <a:srgbClr val="FFFFFF"/>
                </a:solidFill>
                <a:effectLst/>
                <a:latin typeface="Consolas" panose="020B0609020204030204" pitchFamily="49" charset="0"/>
              </a:rPr>
              <a:t>(</a:t>
            </a:r>
            <a:r>
              <a:rPr lang="fi-FI" sz="1800" b="0" dirty="0">
                <a:solidFill>
                  <a:srgbClr val="B5CEA8"/>
                </a:solidFill>
                <a:effectLst/>
                <a:latin typeface="Consolas" panose="020B0609020204030204" pitchFamily="49" charset="0"/>
              </a:rPr>
              <a:t>1</a:t>
            </a:r>
            <a:r>
              <a:rPr lang="fi-FI" sz="1800" b="0" dirty="0">
                <a:solidFill>
                  <a:srgbClr val="FFFFFF"/>
                </a:solidFill>
                <a:effectLst/>
                <a:latin typeface="Consolas" panose="020B0609020204030204" pitchFamily="49" charset="0"/>
              </a:rPr>
              <a:t>, </a:t>
            </a:r>
            <a:r>
              <a:rPr lang="fi-FI" sz="1800" b="0" dirty="0">
                <a:solidFill>
                  <a:srgbClr val="B5CEA8"/>
                </a:solidFill>
                <a:effectLst/>
                <a:latin typeface="Consolas" panose="020B0609020204030204" pitchFamily="49" charset="0"/>
              </a:rPr>
              <a:t>11</a:t>
            </a:r>
            <a:r>
              <a:rPr lang="fi-FI" sz="1800" b="0" dirty="0">
                <a:solidFill>
                  <a:srgbClr val="FFFFFF"/>
                </a:solidFill>
                <a:effectLst/>
                <a:latin typeface="Consolas" panose="020B0609020204030204" pitchFamily="49" charset="0"/>
              </a:rPr>
              <a:t>))</a:t>
            </a:r>
          </a:p>
          <a:p>
            <a:pPr marL="0" indent="0">
              <a:spcBef>
                <a:spcPts val="600"/>
              </a:spcBef>
              <a:buNone/>
            </a:pPr>
            <a:r>
              <a:rPr lang="fi-FI" sz="1800" b="0" dirty="0">
                <a:solidFill>
                  <a:srgbClr val="FFFFFF"/>
                </a:solidFill>
                <a:effectLst/>
                <a:latin typeface="Consolas" panose="020B0609020204030204" pitchFamily="49" charset="0"/>
              </a:rPr>
              <a:t>b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err="1">
                <a:solidFill>
                  <a:srgbClr val="4EC9B0"/>
                </a:solidFill>
                <a:effectLst/>
                <a:latin typeface="Consolas" panose="020B0609020204030204" pitchFamily="49" charset="0"/>
              </a:rPr>
              <a:t>list</a:t>
            </a:r>
            <a:r>
              <a:rPr lang="fi-FI" sz="1800" b="0" dirty="0">
                <a:solidFill>
                  <a:srgbClr val="FFFFFF"/>
                </a:solidFill>
                <a:effectLst/>
                <a:latin typeface="Consolas" panose="020B0609020204030204" pitchFamily="49" charset="0"/>
              </a:rPr>
              <a:t>(</a:t>
            </a:r>
            <a:r>
              <a:rPr lang="fi-FI" sz="1800" b="0" dirty="0" err="1">
                <a:solidFill>
                  <a:srgbClr val="DCDCAA"/>
                </a:solidFill>
                <a:effectLst/>
                <a:latin typeface="Consolas" panose="020B0609020204030204" pitchFamily="49" charset="0"/>
              </a:rPr>
              <a:t>map</a:t>
            </a:r>
            <a:r>
              <a:rPr lang="fi-FI" sz="1800" b="0" dirty="0">
                <a:solidFill>
                  <a:srgbClr val="FFFFFF"/>
                </a:solidFill>
                <a:effectLst/>
                <a:latin typeface="Consolas" panose="020B0609020204030204" pitchFamily="49" charset="0"/>
              </a:rPr>
              <a:t>(</a:t>
            </a:r>
            <a:r>
              <a:rPr lang="fi-FI" sz="1800" b="0" dirty="0">
                <a:solidFill>
                  <a:srgbClr val="569CD6"/>
                </a:solidFill>
                <a:effectLst/>
                <a:latin typeface="Consolas" panose="020B0609020204030204" pitchFamily="49" charset="0"/>
              </a:rPr>
              <a:t>lambda</a:t>
            </a:r>
            <a:r>
              <a:rPr lang="fi-FI" sz="1800" b="0" dirty="0">
                <a:solidFill>
                  <a:srgbClr val="FFFFFF"/>
                </a:solidFill>
                <a:effectLst/>
                <a:latin typeface="Consolas" panose="020B0609020204030204" pitchFamily="49" charset="0"/>
              </a:rPr>
              <a:t> </a:t>
            </a:r>
            <a:r>
              <a:rPr lang="fi-FI" sz="1800" b="0" dirty="0">
                <a:solidFill>
                  <a:srgbClr val="9CDCFE"/>
                </a:solidFill>
                <a:effectLst/>
                <a:latin typeface="Consolas" panose="020B0609020204030204" pitchFamily="49" charset="0"/>
              </a:rPr>
              <a:t>x</a:t>
            </a:r>
            <a:r>
              <a:rPr lang="fi-FI" sz="1800" b="0" dirty="0">
                <a:solidFill>
                  <a:srgbClr val="FFFFFF"/>
                </a:solidFill>
                <a:effectLst/>
                <a:latin typeface="Consolas" panose="020B0609020204030204" pitchFamily="49" charset="0"/>
              </a:rPr>
              <a:t>: x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x, a))  </a:t>
            </a:r>
            <a:r>
              <a:rPr lang="fi-FI" sz="1800" b="0" dirty="0">
                <a:solidFill>
                  <a:srgbClr val="7CA668"/>
                </a:solidFill>
                <a:effectLst/>
                <a:latin typeface="Consolas" panose="020B0609020204030204" pitchFamily="49" charset="0"/>
              </a:rPr>
              <a:t># square </a:t>
            </a:r>
            <a:r>
              <a:rPr lang="fi-FI" sz="1800" b="0" dirty="0" err="1">
                <a:solidFill>
                  <a:srgbClr val="7CA668"/>
                </a:solidFill>
                <a:effectLst/>
                <a:latin typeface="Consolas" panose="020B0609020204030204" pitchFamily="49" charset="0"/>
              </a:rPr>
              <a:t>items</a:t>
            </a:r>
            <a:endParaRPr lang="fi-FI" sz="1800" b="0" dirty="0">
              <a:solidFill>
                <a:srgbClr val="FFFFFF"/>
              </a:solidFill>
              <a:effectLst/>
              <a:latin typeface="Consolas" panose="020B0609020204030204" pitchFamily="49" charset="0"/>
            </a:endParaRPr>
          </a:p>
          <a:p>
            <a:pPr marL="0" indent="0">
              <a:spcBef>
                <a:spcPts val="600"/>
              </a:spcBef>
              <a:buNone/>
            </a:pPr>
            <a:r>
              <a:rPr lang="fi-FI" sz="1800" b="0" dirty="0">
                <a:solidFill>
                  <a:srgbClr val="FFFFFF"/>
                </a:solidFill>
                <a:effectLst/>
                <a:latin typeface="Consolas" panose="020B0609020204030204" pitchFamily="49" charset="0"/>
              </a:rPr>
              <a:t>c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err="1">
                <a:solidFill>
                  <a:srgbClr val="4EC9B0"/>
                </a:solidFill>
                <a:effectLst/>
                <a:latin typeface="Consolas" panose="020B0609020204030204" pitchFamily="49" charset="0"/>
              </a:rPr>
              <a:t>list</a:t>
            </a:r>
            <a:r>
              <a:rPr lang="fi-FI" sz="1800" b="0" dirty="0">
                <a:solidFill>
                  <a:srgbClr val="FFFFFF"/>
                </a:solidFill>
                <a:effectLst/>
                <a:latin typeface="Consolas" panose="020B0609020204030204" pitchFamily="49" charset="0"/>
              </a:rPr>
              <a:t>(</a:t>
            </a:r>
            <a:r>
              <a:rPr lang="fi-FI" sz="1800" b="0" dirty="0" err="1">
                <a:solidFill>
                  <a:srgbClr val="DCDCAA"/>
                </a:solidFill>
                <a:effectLst/>
                <a:latin typeface="Consolas" panose="020B0609020204030204" pitchFamily="49" charset="0"/>
              </a:rPr>
              <a:t>filter</a:t>
            </a:r>
            <a:r>
              <a:rPr lang="fi-FI" sz="1800" b="0" dirty="0">
                <a:solidFill>
                  <a:srgbClr val="FFFFFF"/>
                </a:solidFill>
                <a:effectLst/>
                <a:latin typeface="Consolas" panose="020B0609020204030204" pitchFamily="49" charset="0"/>
              </a:rPr>
              <a:t>(</a:t>
            </a:r>
            <a:r>
              <a:rPr lang="fi-FI" sz="1800" b="0" dirty="0">
                <a:solidFill>
                  <a:srgbClr val="569CD6"/>
                </a:solidFill>
                <a:effectLst/>
                <a:latin typeface="Consolas" panose="020B0609020204030204" pitchFamily="49" charset="0"/>
              </a:rPr>
              <a:t>lambda</a:t>
            </a:r>
            <a:r>
              <a:rPr lang="fi-FI" sz="1800" b="0" dirty="0">
                <a:solidFill>
                  <a:srgbClr val="FFFFFF"/>
                </a:solidFill>
                <a:effectLst/>
                <a:latin typeface="Consolas" panose="020B0609020204030204" pitchFamily="49" charset="0"/>
              </a:rPr>
              <a:t> </a:t>
            </a:r>
            <a:r>
              <a:rPr lang="fi-FI" sz="1800" b="0" dirty="0">
                <a:solidFill>
                  <a:srgbClr val="9CDCFE"/>
                </a:solidFill>
                <a:effectLst/>
                <a:latin typeface="Consolas" panose="020B0609020204030204" pitchFamily="49" charset="0"/>
              </a:rPr>
              <a:t>x</a:t>
            </a:r>
            <a:r>
              <a:rPr lang="fi-FI" sz="1800" b="0" dirty="0">
                <a:solidFill>
                  <a:srgbClr val="FFFFFF"/>
                </a:solidFill>
                <a:effectLst/>
                <a:latin typeface="Consolas" panose="020B0609020204030204" pitchFamily="49" charset="0"/>
              </a:rPr>
              <a:t>: x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a:solidFill>
                  <a:srgbClr val="B5CEA8"/>
                </a:solidFill>
                <a:effectLst/>
                <a:latin typeface="Consolas" panose="020B0609020204030204" pitchFamily="49" charset="0"/>
              </a:rPr>
              <a:t>2</a:t>
            </a:r>
            <a:r>
              <a:rPr lang="fi-FI" sz="1800" b="0" dirty="0">
                <a:solidFill>
                  <a:srgbClr val="FFFFFF"/>
                </a:solidFill>
                <a:effectLst/>
                <a:latin typeface="Consolas" panose="020B0609020204030204" pitchFamily="49" charset="0"/>
              </a:rPr>
              <a:t>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a:solidFill>
                  <a:srgbClr val="B5CEA8"/>
                </a:solidFill>
                <a:effectLst/>
                <a:latin typeface="Consolas" panose="020B0609020204030204" pitchFamily="49" charset="0"/>
              </a:rPr>
              <a:t>0</a:t>
            </a:r>
            <a:r>
              <a:rPr lang="fi-FI" sz="1800" b="0" dirty="0">
                <a:solidFill>
                  <a:srgbClr val="FFFFFF"/>
                </a:solidFill>
                <a:effectLst/>
                <a:latin typeface="Consolas" panose="020B0609020204030204" pitchFamily="49" charset="0"/>
              </a:rPr>
              <a:t>, a))  </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select</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even</a:t>
            </a:r>
            <a:endParaRPr lang="fi-FI" sz="1800" b="0" dirty="0">
              <a:solidFill>
                <a:srgbClr val="FFFFFF"/>
              </a:solidFill>
              <a:effectLst/>
              <a:latin typeface="Consolas" panose="020B0609020204030204" pitchFamily="49" charset="0"/>
            </a:endParaRPr>
          </a:p>
          <a:p>
            <a:pPr marL="0" indent="0">
              <a:spcBef>
                <a:spcPts val="600"/>
              </a:spcBef>
              <a:buNone/>
            </a:pPr>
            <a:r>
              <a:rPr lang="fi-FI" sz="1800" b="0" dirty="0">
                <a:solidFill>
                  <a:srgbClr val="FFFFFF"/>
                </a:solidFill>
                <a:effectLst/>
                <a:latin typeface="Consolas" panose="020B0609020204030204" pitchFamily="49" charset="0"/>
              </a:rPr>
              <a:t>d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err="1">
                <a:solidFill>
                  <a:srgbClr val="9CDCFE"/>
                </a:solidFill>
                <a:effectLst/>
                <a:latin typeface="Consolas" panose="020B0609020204030204" pitchFamily="49" charset="0"/>
              </a:rPr>
              <a:t>reduce</a:t>
            </a:r>
            <a:r>
              <a:rPr lang="fi-FI" sz="1800" b="0" dirty="0">
                <a:solidFill>
                  <a:srgbClr val="FFFFFF"/>
                </a:solidFill>
                <a:effectLst/>
                <a:latin typeface="Consolas" panose="020B0609020204030204" pitchFamily="49" charset="0"/>
              </a:rPr>
              <a:t>(</a:t>
            </a:r>
            <a:r>
              <a:rPr lang="fi-FI" sz="1800" b="0" dirty="0">
                <a:solidFill>
                  <a:srgbClr val="569CD6"/>
                </a:solidFill>
                <a:effectLst/>
                <a:latin typeface="Consolas" panose="020B0609020204030204" pitchFamily="49" charset="0"/>
              </a:rPr>
              <a:t>lambda</a:t>
            </a:r>
            <a:r>
              <a:rPr lang="fi-FI" sz="1800" b="0" dirty="0">
                <a:solidFill>
                  <a:srgbClr val="FFFFFF"/>
                </a:solidFill>
                <a:effectLst/>
                <a:latin typeface="Consolas" panose="020B0609020204030204" pitchFamily="49" charset="0"/>
              </a:rPr>
              <a:t> </a:t>
            </a:r>
            <a:r>
              <a:rPr lang="fi-FI" sz="1800" b="0" dirty="0">
                <a:solidFill>
                  <a:srgbClr val="9CDCFE"/>
                </a:solidFill>
                <a:effectLst/>
                <a:latin typeface="Consolas" panose="020B0609020204030204" pitchFamily="49" charset="0"/>
              </a:rPr>
              <a:t>x</a:t>
            </a:r>
            <a:r>
              <a:rPr lang="fi-FI" sz="1800" b="0" dirty="0">
                <a:solidFill>
                  <a:srgbClr val="FFFFFF"/>
                </a:solidFill>
                <a:effectLst/>
                <a:latin typeface="Consolas" panose="020B0609020204030204" pitchFamily="49" charset="0"/>
              </a:rPr>
              <a:t>, </a:t>
            </a:r>
            <a:r>
              <a:rPr lang="fi-FI" sz="1800" b="0" dirty="0">
                <a:solidFill>
                  <a:srgbClr val="9CDCFE"/>
                </a:solidFill>
                <a:effectLst/>
                <a:latin typeface="Consolas" panose="020B0609020204030204" pitchFamily="49" charset="0"/>
              </a:rPr>
              <a:t>y</a:t>
            </a:r>
            <a:r>
              <a:rPr lang="fi-FI" sz="1800" b="0" dirty="0">
                <a:solidFill>
                  <a:srgbClr val="FFFFFF"/>
                </a:solidFill>
                <a:effectLst/>
                <a:latin typeface="Consolas" panose="020B0609020204030204" pitchFamily="49" charset="0"/>
              </a:rPr>
              <a:t>: x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y, a)  </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calculate</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sum</a:t>
            </a:r>
            <a:endParaRPr lang="fi-FI" sz="1800" b="0" dirty="0">
              <a:solidFill>
                <a:srgbClr val="FFFFFF"/>
              </a:solidFill>
              <a:effectLst/>
              <a:latin typeface="Consolas" panose="020B0609020204030204" pitchFamily="49" charset="0"/>
            </a:endParaRPr>
          </a:p>
          <a:p>
            <a:pPr marL="0" indent="0">
              <a:spcBef>
                <a:spcPts val="600"/>
              </a:spcBef>
              <a:buNone/>
            </a:pP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chain</a:t>
            </a:r>
            <a:r>
              <a:rPr lang="fi-FI" sz="1800" b="0" dirty="0">
                <a:solidFill>
                  <a:srgbClr val="7CA668"/>
                </a:solidFill>
                <a:effectLst/>
                <a:latin typeface="Consolas" panose="020B0609020204030204" pitchFamily="49" charset="0"/>
              </a:rPr>
              <a:t> b, c, d</a:t>
            </a:r>
            <a:endParaRPr lang="fi-FI" sz="1800" b="0" dirty="0">
              <a:solidFill>
                <a:srgbClr val="FFFFFF"/>
              </a:solidFill>
              <a:effectLst/>
              <a:latin typeface="Consolas" panose="020B0609020204030204" pitchFamily="49" charset="0"/>
            </a:endParaRPr>
          </a:p>
          <a:p>
            <a:pPr marL="0" indent="0">
              <a:spcBef>
                <a:spcPts val="600"/>
              </a:spcBef>
              <a:buNone/>
            </a:pPr>
            <a:r>
              <a:rPr lang="fi-FI" sz="1800" b="0" dirty="0">
                <a:solidFill>
                  <a:srgbClr val="FFFFFF"/>
                </a:solidFill>
                <a:effectLst/>
                <a:latin typeface="Consolas" panose="020B0609020204030204" pitchFamily="49" charset="0"/>
              </a:rPr>
              <a:t>e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err="1">
                <a:solidFill>
                  <a:srgbClr val="9CDCFE"/>
                </a:solidFill>
                <a:effectLst/>
                <a:latin typeface="Consolas" panose="020B0609020204030204" pitchFamily="49" charset="0"/>
              </a:rPr>
              <a:t>reduce</a:t>
            </a:r>
            <a:r>
              <a:rPr lang="fi-FI" sz="1800" b="0" dirty="0">
                <a:solidFill>
                  <a:srgbClr val="FFFFFF"/>
                </a:solidFill>
                <a:effectLst/>
                <a:latin typeface="Consolas" panose="020B0609020204030204" pitchFamily="49" charset="0"/>
              </a:rPr>
              <a:t>(</a:t>
            </a:r>
            <a:r>
              <a:rPr lang="fi-FI" sz="1800" b="0" dirty="0">
                <a:solidFill>
                  <a:srgbClr val="569CD6"/>
                </a:solidFill>
                <a:effectLst/>
                <a:latin typeface="Consolas" panose="020B0609020204030204" pitchFamily="49" charset="0"/>
              </a:rPr>
              <a:t>lambda</a:t>
            </a:r>
            <a:r>
              <a:rPr lang="fi-FI" sz="1800" b="0" dirty="0">
                <a:solidFill>
                  <a:srgbClr val="FFFFFF"/>
                </a:solidFill>
                <a:effectLst/>
                <a:latin typeface="Consolas" panose="020B0609020204030204" pitchFamily="49" charset="0"/>
              </a:rPr>
              <a:t> </a:t>
            </a:r>
            <a:r>
              <a:rPr lang="fi-FI" sz="1800" b="0" dirty="0">
                <a:solidFill>
                  <a:srgbClr val="9CDCFE"/>
                </a:solidFill>
                <a:effectLst/>
                <a:latin typeface="Consolas" panose="020B0609020204030204" pitchFamily="49" charset="0"/>
              </a:rPr>
              <a:t>x</a:t>
            </a:r>
            <a:r>
              <a:rPr lang="fi-FI" sz="1800" b="0" dirty="0">
                <a:solidFill>
                  <a:srgbClr val="FFFFFF"/>
                </a:solidFill>
                <a:effectLst/>
                <a:latin typeface="Consolas" panose="020B0609020204030204" pitchFamily="49" charset="0"/>
              </a:rPr>
              <a:t>, </a:t>
            </a:r>
            <a:r>
              <a:rPr lang="fi-FI" sz="1800" b="0" dirty="0">
                <a:solidFill>
                  <a:srgbClr val="9CDCFE"/>
                </a:solidFill>
                <a:effectLst/>
                <a:latin typeface="Consolas" panose="020B0609020204030204" pitchFamily="49" charset="0"/>
              </a:rPr>
              <a:t>y</a:t>
            </a:r>
            <a:r>
              <a:rPr lang="fi-FI" sz="1800" b="0" dirty="0">
                <a:solidFill>
                  <a:srgbClr val="FFFFFF"/>
                </a:solidFill>
                <a:effectLst/>
                <a:latin typeface="Consolas" panose="020B0609020204030204" pitchFamily="49" charset="0"/>
              </a:rPr>
              <a:t>: x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y,</a:t>
            </a:r>
          </a:p>
          <a:p>
            <a:pPr marL="0" indent="0">
              <a:spcBef>
                <a:spcPts val="600"/>
              </a:spcBef>
              <a:buNone/>
            </a:pPr>
            <a:r>
              <a:rPr lang="fi-FI" sz="1800" b="0" dirty="0">
                <a:solidFill>
                  <a:srgbClr val="FFFFFF"/>
                </a:solidFill>
                <a:effectLst/>
                <a:latin typeface="Consolas" panose="020B0609020204030204" pitchFamily="49" charset="0"/>
              </a:rPr>
              <a:t>           </a:t>
            </a:r>
            <a:r>
              <a:rPr lang="fi-FI" sz="1800" b="0" dirty="0" err="1">
                <a:solidFill>
                  <a:srgbClr val="DCDCAA"/>
                </a:solidFill>
                <a:effectLst/>
                <a:latin typeface="Consolas" panose="020B0609020204030204" pitchFamily="49" charset="0"/>
              </a:rPr>
              <a:t>map</a:t>
            </a:r>
            <a:r>
              <a:rPr lang="fi-FI" sz="1800" b="0" dirty="0">
                <a:solidFill>
                  <a:srgbClr val="FFFFFF"/>
                </a:solidFill>
                <a:effectLst/>
                <a:latin typeface="Consolas" panose="020B0609020204030204" pitchFamily="49" charset="0"/>
              </a:rPr>
              <a:t>(</a:t>
            </a:r>
            <a:r>
              <a:rPr lang="fi-FI" sz="1800" b="0" dirty="0">
                <a:solidFill>
                  <a:srgbClr val="569CD6"/>
                </a:solidFill>
                <a:effectLst/>
                <a:latin typeface="Consolas" panose="020B0609020204030204" pitchFamily="49" charset="0"/>
              </a:rPr>
              <a:t>lambda</a:t>
            </a:r>
            <a:r>
              <a:rPr lang="fi-FI" sz="1800" b="0" dirty="0">
                <a:solidFill>
                  <a:srgbClr val="FFFFFF"/>
                </a:solidFill>
                <a:effectLst/>
                <a:latin typeface="Consolas" panose="020B0609020204030204" pitchFamily="49" charset="0"/>
              </a:rPr>
              <a:t> </a:t>
            </a:r>
            <a:r>
              <a:rPr lang="fi-FI" sz="1800" b="0" dirty="0">
                <a:solidFill>
                  <a:srgbClr val="9CDCFE"/>
                </a:solidFill>
                <a:effectLst/>
                <a:latin typeface="Consolas" panose="020B0609020204030204" pitchFamily="49" charset="0"/>
              </a:rPr>
              <a:t>x</a:t>
            </a:r>
            <a:r>
              <a:rPr lang="fi-FI" sz="1800" b="0" dirty="0">
                <a:solidFill>
                  <a:srgbClr val="FFFFFF"/>
                </a:solidFill>
                <a:effectLst/>
                <a:latin typeface="Consolas" panose="020B0609020204030204" pitchFamily="49" charset="0"/>
              </a:rPr>
              <a:t>: x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x, </a:t>
            </a:r>
            <a:r>
              <a:rPr lang="fi-FI" sz="1800" b="0" dirty="0" err="1">
                <a:solidFill>
                  <a:srgbClr val="DCDCAA"/>
                </a:solidFill>
                <a:effectLst/>
                <a:latin typeface="Consolas" panose="020B0609020204030204" pitchFamily="49" charset="0"/>
              </a:rPr>
              <a:t>filter</a:t>
            </a:r>
            <a:r>
              <a:rPr lang="fi-FI" sz="1800" b="0" dirty="0">
                <a:solidFill>
                  <a:srgbClr val="FFFFFF"/>
                </a:solidFill>
                <a:effectLst/>
                <a:latin typeface="Consolas" panose="020B0609020204030204" pitchFamily="49" charset="0"/>
              </a:rPr>
              <a:t>(</a:t>
            </a:r>
            <a:r>
              <a:rPr lang="fi-FI" sz="1800" b="0" dirty="0">
                <a:solidFill>
                  <a:srgbClr val="569CD6"/>
                </a:solidFill>
                <a:effectLst/>
                <a:latin typeface="Consolas" panose="020B0609020204030204" pitchFamily="49" charset="0"/>
              </a:rPr>
              <a:t>lambda</a:t>
            </a:r>
            <a:r>
              <a:rPr lang="fi-FI" sz="1800" b="0" dirty="0">
                <a:solidFill>
                  <a:srgbClr val="FFFFFF"/>
                </a:solidFill>
                <a:effectLst/>
                <a:latin typeface="Consolas" panose="020B0609020204030204" pitchFamily="49" charset="0"/>
              </a:rPr>
              <a:t> </a:t>
            </a:r>
            <a:r>
              <a:rPr lang="fi-FI" sz="1800" b="0" dirty="0">
                <a:solidFill>
                  <a:srgbClr val="9CDCFE"/>
                </a:solidFill>
                <a:effectLst/>
                <a:latin typeface="Consolas" panose="020B0609020204030204" pitchFamily="49" charset="0"/>
              </a:rPr>
              <a:t>x</a:t>
            </a:r>
            <a:r>
              <a:rPr lang="fi-FI" sz="1800" b="0" dirty="0">
                <a:solidFill>
                  <a:srgbClr val="FFFFFF"/>
                </a:solidFill>
                <a:effectLst/>
                <a:latin typeface="Consolas" panose="020B0609020204030204" pitchFamily="49" charset="0"/>
              </a:rPr>
              <a:t>: x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a:solidFill>
                  <a:srgbClr val="B5CEA8"/>
                </a:solidFill>
                <a:effectLst/>
                <a:latin typeface="Consolas" panose="020B0609020204030204" pitchFamily="49" charset="0"/>
              </a:rPr>
              <a:t>2</a:t>
            </a:r>
            <a:r>
              <a:rPr lang="fi-FI" sz="1800" b="0" dirty="0">
                <a:solidFill>
                  <a:srgbClr val="FFFFFF"/>
                </a:solidFill>
                <a:effectLst/>
                <a:latin typeface="Consolas" panose="020B0609020204030204" pitchFamily="49" charset="0"/>
              </a:rPr>
              <a:t>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a:solidFill>
                  <a:srgbClr val="B5CEA8"/>
                </a:solidFill>
                <a:effectLst/>
                <a:latin typeface="Consolas" panose="020B0609020204030204" pitchFamily="49" charset="0"/>
              </a:rPr>
              <a:t>0</a:t>
            </a:r>
            <a:r>
              <a:rPr lang="fi-FI" sz="1800" b="0" dirty="0">
                <a:solidFill>
                  <a:srgbClr val="FFFFFF"/>
                </a:solidFill>
                <a:effectLst/>
                <a:latin typeface="Consolas" panose="020B0609020204030204" pitchFamily="49" charset="0"/>
              </a:rPr>
              <a:t>, a)))</a:t>
            </a:r>
          </a:p>
          <a:p>
            <a:pPr marL="0" indent="0">
              <a:spcBef>
                <a:spcPts val="600"/>
              </a:spcBef>
              <a:buNone/>
            </a:pP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same</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with</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list</a:t>
            </a:r>
            <a:r>
              <a:rPr lang="fi-FI" sz="1800" b="0" dirty="0">
                <a:solidFill>
                  <a:srgbClr val="7CA668"/>
                </a:solidFill>
                <a:effectLst/>
                <a:latin typeface="Consolas" panose="020B0609020204030204" pitchFamily="49" charset="0"/>
              </a:rPr>
              <a:t> </a:t>
            </a:r>
            <a:r>
              <a:rPr lang="fi-FI" sz="1800" b="0" dirty="0" err="1">
                <a:solidFill>
                  <a:srgbClr val="7CA668"/>
                </a:solidFill>
                <a:effectLst/>
                <a:latin typeface="Consolas" panose="020B0609020204030204" pitchFamily="49" charset="0"/>
              </a:rPr>
              <a:t>comprehension</a:t>
            </a:r>
            <a:endParaRPr lang="fi-FI" sz="1800" b="0" dirty="0">
              <a:solidFill>
                <a:srgbClr val="FFFFFF"/>
              </a:solidFill>
              <a:effectLst/>
              <a:latin typeface="Consolas" panose="020B0609020204030204" pitchFamily="49" charset="0"/>
            </a:endParaRPr>
          </a:p>
          <a:p>
            <a:pPr marL="0" indent="0">
              <a:spcBef>
                <a:spcPts val="600"/>
              </a:spcBef>
              <a:buNone/>
            </a:pPr>
            <a:r>
              <a:rPr lang="fi-FI" sz="1800" b="0" dirty="0" err="1">
                <a:solidFill>
                  <a:srgbClr val="DCDCAA"/>
                </a:solidFill>
                <a:effectLst/>
                <a:latin typeface="Consolas" panose="020B0609020204030204" pitchFamily="49" charset="0"/>
              </a:rPr>
              <a:t>sum</a:t>
            </a:r>
            <a:r>
              <a:rPr lang="fi-FI" sz="1800" b="0" dirty="0">
                <a:solidFill>
                  <a:srgbClr val="FFFFFF"/>
                </a:solidFill>
                <a:effectLst/>
                <a:latin typeface="Consolas" panose="020B0609020204030204" pitchFamily="49" charset="0"/>
              </a:rPr>
              <a:t>([x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x </a:t>
            </a:r>
            <a:r>
              <a:rPr lang="fi-FI" sz="1800" b="0" dirty="0">
                <a:solidFill>
                  <a:srgbClr val="C586C0"/>
                </a:solidFill>
                <a:effectLst/>
                <a:latin typeface="Consolas" panose="020B0609020204030204" pitchFamily="49" charset="0"/>
              </a:rPr>
              <a:t>for</a:t>
            </a:r>
            <a:r>
              <a:rPr lang="fi-FI" sz="1800" b="0" dirty="0">
                <a:solidFill>
                  <a:srgbClr val="FFFFFF"/>
                </a:solidFill>
                <a:effectLst/>
                <a:latin typeface="Consolas" panose="020B0609020204030204" pitchFamily="49" charset="0"/>
              </a:rPr>
              <a:t> x </a:t>
            </a:r>
            <a:r>
              <a:rPr lang="fi-FI" sz="1800" b="0" dirty="0">
                <a:solidFill>
                  <a:srgbClr val="C586C0"/>
                </a:solidFill>
                <a:effectLst/>
                <a:latin typeface="Consolas" panose="020B0609020204030204" pitchFamily="49" charset="0"/>
              </a:rPr>
              <a:t>in</a:t>
            </a:r>
            <a:r>
              <a:rPr lang="fi-FI" sz="1800" b="0" dirty="0">
                <a:solidFill>
                  <a:srgbClr val="FFFFFF"/>
                </a:solidFill>
                <a:effectLst/>
                <a:latin typeface="Consolas" panose="020B0609020204030204" pitchFamily="49" charset="0"/>
              </a:rPr>
              <a:t> a </a:t>
            </a:r>
            <a:r>
              <a:rPr lang="fi-FI" sz="1800" b="0" dirty="0" err="1">
                <a:solidFill>
                  <a:srgbClr val="C586C0"/>
                </a:solidFill>
                <a:effectLst/>
                <a:latin typeface="Consolas" panose="020B0609020204030204" pitchFamily="49" charset="0"/>
              </a:rPr>
              <a:t>if</a:t>
            </a:r>
            <a:r>
              <a:rPr lang="fi-FI" sz="1800" b="0" dirty="0">
                <a:solidFill>
                  <a:srgbClr val="FFFFFF"/>
                </a:solidFill>
                <a:effectLst/>
                <a:latin typeface="Consolas" panose="020B0609020204030204" pitchFamily="49" charset="0"/>
              </a:rPr>
              <a:t> x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a:solidFill>
                  <a:srgbClr val="B5CEA8"/>
                </a:solidFill>
                <a:effectLst/>
                <a:latin typeface="Consolas" panose="020B0609020204030204" pitchFamily="49" charset="0"/>
              </a:rPr>
              <a:t>2</a:t>
            </a:r>
            <a:r>
              <a:rPr lang="fi-FI" sz="1800" b="0" dirty="0">
                <a:solidFill>
                  <a:srgbClr val="FFFFFF"/>
                </a:solidFill>
                <a:effectLst/>
                <a:latin typeface="Consolas" panose="020B0609020204030204" pitchFamily="49" charset="0"/>
              </a:rPr>
              <a:t>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a:solidFill>
                  <a:srgbClr val="B5CEA8"/>
                </a:solidFill>
                <a:effectLst/>
                <a:latin typeface="Consolas" panose="020B0609020204030204" pitchFamily="49" charset="0"/>
              </a:rPr>
              <a:t>0</a:t>
            </a:r>
            <a:r>
              <a:rPr lang="fi-FI" sz="1800"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725891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78972-DE2B-4DCF-AB11-21F178F5EE50}"/>
              </a:ext>
            </a:extLst>
          </p:cNvPr>
          <p:cNvSpPr>
            <a:spLocks noGrp="1"/>
          </p:cNvSpPr>
          <p:nvPr>
            <p:ph type="title"/>
          </p:nvPr>
        </p:nvSpPr>
        <p:spPr/>
        <p:txBody>
          <a:bodyPr/>
          <a:lstStyle/>
          <a:p>
            <a:r>
              <a:rPr lang="en-US" dirty="0">
                <a:hlinkClick r:id="rId2"/>
              </a:rPr>
              <a:t>Recursion</a:t>
            </a:r>
            <a:endParaRPr lang="en-US" dirty="0"/>
          </a:p>
        </p:txBody>
      </p:sp>
      <p:sp>
        <p:nvSpPr>
          <p:cNvPr id="3" name="Content Placeholder 2">
            <a:extLst>
              <a:ext uri="{FF2B5EF4-FFF2-40B4-BE49-F238E27FC236}">
                <a16:creationId xmlns:a16="http://schemas.microsoft.com/office/drawing/2014/main" id="{A3345CC5-2CE6-4886-A444-E07900D2EEA2}"/>
              </a:ext>
            </a:extLst>
          </p:cNvPr>
          <p:cNvSpPr>
            <a:spLocks noGrp="1"/>
          </p:cNvSpPr>
          <p:nvPr>
            <p:ph idx="1"/>
          </p:nvPr>
        </p:nvSpPr>
        <p:spPr>
          <a:xfrm>
            <a:off x="1218883" y="1701796"/>
            <a:ext cx="10360501" cy="4751539"/>
          </a:xfrm>
        </p:spPr>
        <p:txBody>
          <a:bodyPr>
            <a:noAutofit/>
          </a:bodyPr>
          <a:lstStyle/>
          <a:p>
            <a:r>
              <a:rPr lang="en-US" sz="2400" dirty="0"/>
              <a:t>A function calling itself. Useful for some algorithms.</a:t>
            </a:r>
          </a:p>
          <a:p>
            <a:pPr marL="0" indent="0">
              <a:spcBef>
                <a:spcPts val="600"/>
              </a:spcBef>
              <a:buNone/>
            </a:pPr>
            <a:r>
              <a:rPr lang="en-US" sz="2400" b="0" dirty="0">
                <a:solidFill>
                  <a:srgbClr val="7CA668"/>
                </a:solidFill>
                <a:effectLst/>
                <a:latin typeface="Consolas" panose="020B0609020204030204" pitchFamily="49" charset="0"/>
              </a:rPr>
              <a:t># Example of loop using tail recursion</a:t>
            </a:r>
            <a:endParaRPr lang="en-US" sz="2400" b="0" dirty="0">
              <a:solidFill>
                <a:srgbClr val="FFFFFF"/>
              </a:solidFill>
              <a:effectLst/>
              <a:latin typeface="Consolas" panose="020B0609020204030204" pitchFamily="49" charset="0"/>
            </a:endParaRPr>
          </a:p>
          <a:p>
            <a:pPr marL="0" indent="0">
              <a:spcBef>
                <a:spcPts val="600"/>
              </a:spcBef>
              <a:buNone/>
            </a:pPr>
            <a:r>
              <a:rPr lang="en-US" sz="2400" b="0" dirty="0">
                <a:solidFill>
                  <a:srgbClr val="569CD6"/>
                </a:solidFill>
                <a:effectLst/>
                <a:latin typeface="Consolas" panose="020B0609020204030204" pitchFamily="49" charset="0"/>
              </a:rPr>
              <a:t>def</a:t>
            </a:r>
            <a:r>
              <a:rPr lang="en-US" sz="2400" b="0" dirty="0">
                <a:solidFill>
                  <a:srgbClr val="FFFFFF"/>
                </a:solidFill>
                <a:effectLst/>
                <a:latin typeface="Consolas" panose="020B0609020204030204" pitchFamily="49" charset="0"/>
              </a:rPr>
              <a:t> </a:t>
            </a:r>
            <a:r>
              <a:rPr lang="en-US" sz="2400" b="0" dirty="0">
                <a:solidFill>
                  <a:srgbClr val="DCDCAA"/>
                </a:solidFill>
                <a:effectLst/>
                <a:latin typeface="Consolas" panose="020B0609020204030204" pitchFamily="49" charset="0"/>
              </a:rPr>
              <a:t>f</a:t>
            </a:r>
            <a:r>
              <a:rPr lang="en-US" sz="2400" b="0" dirty="0">
                <a:solidFill>
                  <a:srgbClr val="FFFFFF"/>
                </a:solidFill>
                <a:effectLst/>
                <a:latin typeface="Consolas" panose="020B0609020204030204" pitchFamily="49" charset="0"/>
              </a:rPr>
              <a:t>(</a:t>
            </a:r>
            <a:r>
              <a:rPr lang="en-US" sz="2400" b="0" dirty="0">
                <a:solidFill>
                  <a:srgbClr val="9CDCFE"/>
                </a:solidFill>
                <a:effectLst/>
                <a:latin typeface="Consolas" panose="020B0609020204030204" pitchFamily="49" charset="0"/>
              </a:rPr>
              <a:t>n</a:t>
            </a:r>
            <a:r>
              <a:rPr lang="en-US" sz="2400" b="0" dirty="0">
                <a:solidFill>
                  <a:srgbClr val="FFFFFF"/>
                </a:solidFill>
                <a:effectLst/>
                <a:latin typeface="Consolas" panose="020B0609020204030204" pitchFamily="49" charset="0"/>
              </a:rPr>
              <a:t>):</a:t>
            </a:r>
          </a:p>
          <a:p>
            <a:pPr marL="0" indent="0">
              <a:spcBef>
                <a:spcPts val="600"/>
              </a:spcBef>
              <a:buNone/>
            </a:pPr>
            <a:r>
              <a:rPr lang="en-US" sz="2400" b="0" dirty="0">
                <a:solidFill>
                  <a:srgbClr val="FFFFFF"/>
                </a:solidFill>
                <a:effectLst/>
                <a:latin typeface="Consolas" panose="020B0609020204030204" pitchFamily="49" charset="0"/>
              </a:rPr>
              <a:t>    </a:t>
            </a:r>
            <a:r>
              <a:rPr lang="en-US" sz="2400" b="0" dirty="0">
                <a:solidFill>
                  <a:srgbClr val="DCDCAA"/>
                </a:solidFill>
                <a:effectLst/>
                <a:latin typeface="Consolas" panose="020B0609020204030204" pitchFamily="49" charset="0"/>
              </a:rPr>
              <a:t>print</a:t>
            </a:r>
            <a:r>
              <a:rPr lang="en-US" sz="2400" b="0" dirty="0">
                <a:solidFill>
                  <a:srgbClr val="FFFFFF"/>
                </a:solidFill>
                <a:effectLst/>
                <a:latin typeface="Consolas" panose="020B0609020204030204" pitchFamily="49" charset="0"/>
              </a:rPr>
              <a:t>(n)</a:t>
            </a:r>
          </a:p>
          <a:p>
            <a:pPr marL="0" indent="0">
              <a:spcBef>
                <a:spcPts val="600"/>
              </a:spcBef>
              <a:buNone/>
            </a:pPr>
            <a:r>
              <a:rPr lang="en-US" sz="2400" b="0" dirty="0">
                <a:solidFill>
                  <a:srgbClr val="FFFFFF"/>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FFFFFF"/>
                </a:solidFill>
                <a:effectLst/>
                <a:latin typeface="Consolas" panose="020B0609020204030204" pitchFamily="49" charset="0"/>
              </a:rPr>
              <a:t> n </a:t>
            </a:r>
            <a:r>
              <a:rPr lang="en-US" sz="2400" b="0" dirty="0">
                <a:solidFill>
                  <a:srgbClr val="D4D4D4"/>
                </a:solidFill>
                <a:effectLst/>
                <a:latin typeface="Consolas" panose="020B0609020204030204" pitchFamily="49" charset="0"/>
              </a:rPr>
              <a:t>&gt;</a:t>
            </a:r>
            <a:r>
              <a:rPr lang="en-US" sz="2400" b="0" dirty="0">
                <a:solidFill>
                  <a:srgbClr val="FFFFFF"/>
                </a:solidFill>
                <a:effectLst/>
                <a:latin typeface="Consolas" panose="020B0609020204030204" pitchFamily="49" charset="0"/>
              </a:rPr>
              <a:t> </a:t>
            </a:r>
            <a:r>
              <a:rPr lang="en-US" sz="2400" b="0" dirty="0">
                <a:solidFill>
                  <a:srgbClr val="B5CEA8"/>
                </a:solidFill>
                <a:effectLst/>
                <a:latin typeface="Consolas" panose="020B0609020204030204" pitchFamily="49" charset="0"/>
              </a:rPr>
              <a:t>0</a:t>
            </a:r>
            <a:r>
              <a:rPr lang="en-US" sz="2400" b="0" dirty="0">
                <a:solidFill>
                  <a:srgbClr val="FFFFFF"/>
                </a:solidFill>
                <a:effectLst/>
                <a:latin typeface="Consolas" panose="020B0609020204030204" pitchFamily="49" charset="0"/>
              </a:rPr>
              <a:t>: f(n</a:t>
            </a:r>
            <a:r>
              <a:rPr lang="en-US" sz="2400" b="0" dirty="0">
                <a:solidFill>
                  <a:srgbClr val="D4D4D4"/>
                </a:solidFill>
                <a:effectLst/>
                <a:latin typeface="Consolas" panose="020B0609020204030204" pitchFamily="49" charset="0"/>
              </a:rPr>
              <a:t>-</a:t>
            </a:r>
            <a:r>
              <a:rPr lang="en-US" sz="2400" b="0" dirty="0">
                <a:solidFill>
                  <a:srgbClr val="B5CEA8"/>
                </a:solidFill>
                <a:effectLst/>
                <a:latin typeface="Consolas" panose="020B0609020204030204" pitchFamily="49" charset="0"/>
              </a:rPr>
              <a:t>1</a:t>
            </a:r>
            <a:r>
              <a:rPr lang="en-US" sz="2400" b="0" dirty="0">
                <a:solidFill>
                  <a:srgbClr val="FFFFFF"/>
                </a:solidFill>
                <a:effectLst/>
                <a:latin typeface="Consolas" panose="020B0609020204030204" pitchFamily="49" charset="0"/>
              </a:rPr>
              <a:t>)</a:t>
            </a:r>
            <a:br>
              <a:rPr lang="en-US" sz="2400" b="0" dirty="0">
                <a:solidFill>
                  <a:srgbClr val="FFFFFF"/>
                </a:solidFill>
                <a:effectLst/>
                <a:latin typeface="Consolas" panose="020B0609020204030204" pitchFamily="49" charset="0"/>
              </a:rPr>
            </a:br>
            <a:r>
              <a:rPr lang="en-US" sz="2400" b="0" dirty="0">
                <a:solidFill>
                  <a:srgbClr val="FFFFFF"/>
                </a:solidFill>
                <a:effectLst/>
                <a:latin typeface="Consolas" panose="020B0609020204030204" pitchFamily="49" charset="0"/>
              </a:rPr>
              <a:t>f(</a:t>
            </a:r>
            <a:r>
              <a:rPr lang="en-US" sz="2400" b="0" dirty="0">
                <a:solidFill>
                  <a:srgbClr val="B5CEA8"/>
                </a:solidFill>
                <a:effectLst/>
                <a:latin typeface="Consolas" panose="020B0609020204030204" pitchFamily="49" charset="0"/>
              </a:rPr>
              <a:t>10</a:t>
            </a:r>
            <a:r>
              <a:rPr lang="en-US" sz="2400" b="0" dirty="0">
                <a:solidFill>
                  <a:srgbClr val="FFFFFF"/>
                </a:solidFill>
                <a:effectLst/>
                <a:latin typeface="Consolas" panose="020B0609020204030204" pitchFamily="49" charset="0"/>
              </a:rPr>
              <a:t>)  </a:t>
            </a:r>
            <a:r>
              <a:rPr lang="en-US" sz="2400" b="0" dirty="0">
                <a:solidFill>
                  <a:srgbClr val="7CA668"/>
                </a:solidFill>
                <a:effectLst/>
                <a:latin typeface="Consolas" panose="020B0609020204030204" pitchFamily="49" charset="0"/>
              </a:rPr>
              <a:t># print from 10 to 0</a:t>
            </a:r>
            <a:endParaRPr lang="en-US" sz="2400" b="0" dirty="0">
              <a:solidFill>
                <a:srgbClr val="FFFFFF"/>
              </a:solidFill>
              <a:effectLst/>
              <a:latin typeface="Consolas" panose="020B0609020204030204" pitchFamily="49" charset="0"/>
            </a:endParaRPr>
          </a:p>
          <a:p>
            <a:pPr marL="0" indent="0">
              <a:spcBef>
                <a:spcPts val="600"/>
              </a:spcBef>
              <a:buNone/>
            </a:pPr>
            <a:br>
              <a:rPr lang="en-US" sz="2400" b="0" dirty="0">
                <a:solidFill>
                  <a:srgbClr val="FFFFFF"/>
                </a:solidFill>
                <a:effectLst/>
                <a:latin typeface="Consolas" panose="020B0609020204030204" pitchFamily="49" charset="0"/>
              </a:rPr>
            </a:br>
            <a:r>
              <a:rPr lang="en-US" sz="2400" b="0" dirty="0">
                <a:solidFill>
                  <a:srgbClr val="569CD6"/>
                </a:solidFill>
                <a:effectLst/>
                <a:latin typeface="Consolas" panose="020B0609020204030204" pitchFamily="49" charset="0"/>
              </a:rPr>
              <a:t>def</a:t>
            </a:r>
            <a:r>
              <a:rPr lang="en-US" sz="2400" b="0" dirty="0">
                <a:solidFill>
                  <a:srgbClr val="FFFFFF"/>
                </a:solidFill>
                <a:effectLst/>
                <a:latin typeface="Consolas" panose="020B0609020204030204" pitchFamily="49" charset="0"/>
              </a:rPr>
              <a:t> </a:t>
            </a:r>
            <a:r>
              <a:rPr lang="en-US" sz="2400" b="0" dirty="0">
                <a:solidFill>
                  <a:srgbClr val="DCDCAA"/>
                </a:solidFill>
                <a:effectLst/>
                <a:latin typeface="Consolas" panose="020B0609020204030204" pitchFamily="49" charset="0"/>
              </a:rPr>
              <a:t>factorial</a:t>
            </a:r>
            <a:r>
              <a:rPr lang="en-US" sz="2400" b="0" dirty="0">
                <a:solidFill>
                  <a:srgbClr val="FFFFFF"/>
                </a:solidFill>
                <a:effectLst/>
                <a:latin typeface="Consolas" panose="020B0609020204030204" pitchFamily="49" charset="0"/>
              </a:rPr>
              <a:t>(</a:t>
            </a:r>
            <a:r>
              <a:rPr lang="en-US" sz="2400" b="0" dirty="0">
                <a:solidFill>
                  <a:srgbClr val="9CDCFE"/>
                </a:solidFill>
                <a:effectLst/>
                <a:latin typeface="Consolas" panose="020B0609020204030204" pitchFamily="49" charset="0"/>
              </a:rPr>
              <a:t>n</a:t>
            </a:r>
            <a:r>
              <a:rPr lang="en-US" sz="2400" b="0" dirty="0">
                <a:solidFill>
                  <a:srgbClr val="FFFFFF"/>
                </a:solidFill>
                <a:effectLst/>
                <a:latin typeface="Consolas" panose="020B0609020204030204" pitchFamily="49" charset="0"/>
              </a:rPr>
              <a:t>):</a:t>
            </a:r>
          </a:p>
          <a:p>
            <a:pPr marL="0" indent="0">
              <a:spcBef>
                <a:spcPts val="600"/>
              </a:spcBef>
              <a:buNone/>
            </a:pPr>
            <a:r>
              <a:rPr lang="en-US" sz="2400" b="0" dirty="0">
                <a:solidFill>
                  <a:srgbClr val="FFFFFF"/>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FFFFFF"/>
                </a:solidFill>
                <a:effectLst/>
                <a:latin typeface="Consolas" panose="020B0609020204030204" pitchFamily="49" charset="0"/>
              </a:rPr>
              <a:t> n </a:t>
            </a:r>
            <a:r>
              <a:rPr lang="en-US" sz="2400" b="0" dirty="0">
                <a:solidFill>
                  <a:srgbClr val="D4D4D4"/>
                </a:solidFill>
                <a:effectLst/>
                <a:latin typeface="Consolas" panose="020B0609020204030204" pitchFamily="49" charset="0"/>
              </a:rPr>
              <a:t>==</a:t>
            </a:r>
            <a:r>
              <a:rPr lang="en-US" sz="2400" b="0" dirty="0">
                <a:solidFill>
                  <a:srgbClr val="FFFFFF"/>
                </a:solidFill>
                <a:effectLst/>
                <a:latin typeface="Consolas" panose="020B0609020204030204" pitchFamily="49" charset="0"/>
              </a:rPr>
              <a:t> </a:t>
            </a:r>
            <a:r>
              <a:rPr lang="en-US" sz="2400" b="0" dirty="0">
                <a:solidFill>
                  <a:srgbClr val="B5CEA8"/>
                </a:solidFill>
                <a:effectLst/>
                <a:latin typeface="Consolas" panose="020B0609020204030204" pitchFamily="49" charset="0"/>
              </a:rPr>
              <a:t>0</a:t>
            </a:r>
            <a:r>
              <a:rPr lang="en-US" sz="2400" b="0" dirty="0">
                <a:solidFill>
                  <a:srgbClr val="FFFFFF"/>
                </a:solidFill>
                <a:effectLst/>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FFFFFF"/>
                </a:solidFill>
                <a:effectLst/>
                <a:latin typeface="Consolas" panose="020B0609020204030204" pitchFamily="49" charset="0"/>
              </a:rPr>
              <a:t> </a:t>
            </a:r>
            <a:r>
              <a:rPr lang="en-US" sz="2400" b="0" dirty="0">
                <a:solidFill>
                  <a:srgbClr val="B5CEA8"/>
                </a:solidFill>
                <a:effectLst/>
                <a:latin typeface="Consolas" panose="020B0609020204030204" pitchFamily="49" charset="0"/>
              </a:rPr>
              <a:t>1</a:t>
            </a:r>
            <a:endParaRPr lang="en-US" sz="2400" b="0" dirty="0">
              <a:solidFill>
                <a:srgbClr val="FFFFFF"/>
              </a:solidFill>
              <a:effectLst/>
              <a:latin typeface="Consolas" panose="020B0609020204030204" pitchFamily="49" charset="0"/>
            </a:endParaRPr>
          </a:p>
          <a:p>
            <a:pPr marL="0" indent="0">
              <a:spcBef>
                <a:spcPts val="600"/>
              </a:spcBef>
              <a:buNone/>
            </a:pPr>
            <a:r>
              <a:rPr lang="en-US" sz="2400" b="0" dirty="0">
                <a:solidFill>
                  <a:srgbClr val="FFFFFF"/>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FFFFFF"/>
                </a:solidFill>
                <a:effectLst/>
                <a:latin typeface="Consolas" panose="020B0609020204030204" pitchFamily="49" charset="0"/>
              </a:rPr>
              <a:t> n </a:t>
            </a:r>
            <a:r>
              <a:rPr lang="en-US" sz="2400" b="0" dirty="0">
                <a:solidFill>
                  <a:srgbClr val="D4D4D4"/>
                </a:solidFill>
                <a:effectLst/>
                <a:latin typeface="Consolas" panose="020B0609020204030204" pitchFamily="49" charset="0"/>
              </a:rPr>
              <a:t>&gt;</a:t>
            </a:r>
            <a:r>
              <a:rPr lang="en-US" sz="2400" b="0" dirty="0">
                <a:solidFill>
                  <a:srgbClr val="FFFFFF"/>
                </a:solidFill>
                <a:effectLst/>
                <a:latin typeface="Consolas" panose="020B0609020204030204" pitchFamily="49" charset="0"/>
              </a:rPr>
              <a:t> </a:t>
            </a:r>
            <a:r>
              <a:rPr lang="en-US" sz="2400" b="0" dirty="0">
                <a:solidFill>
                  <a:srgbClr val="B5CEA8"/>
                </a:solidFill>
                <a:effectLst/>
                <a:latin typeface="Consolas" panose="020B0609020204030204" pitchFamily="49" charset="0"/>
              </a:rPr>
              <a:t>0</a:t>
            </a:r>
            <a:r>
              <a:rPr lang="en-US" sz="2400" b="0" dirty="0">
                <a:solidFill>
                  <a:srgbClr val="FFFFFF"/>
                </a:solidFill>
                <a:effectLst/>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FFFFFF"/>
                </a:solidFill>
                <a:effectLst/>
                <a:latin typeface="Consolas" panose="020B0609020204030204" pitchFamily="49" charset="0"/>
              </a:rPr>
              <a:t> n </a:t>
            </a:r>
            <a:r>
              <a:rPr lang="en-US" sz="2400" b="0" dirty="0">
                <a:solidFill>
                  <a:srgbClr val="D4D4D4"/>
                </a:solidFill>
                <a:effectLst/>
                <a:latin typeface="Consolas" panose="020B0609020204030204" pitchFamily="49" charset="0"/>
              </a:rPr>
              <a:t>* </a:t>
            </a:r>
            <a:r>
              <a:rPr lang="en-US" sz="2400" b="0" dirty="0">
                <a:solidFill>
                  <a:srgbClr val="FFFFFF"/>
                </a:solidFill>
                <a:effectLst/>
                <a:latin typeface="Consolas" panose="020B0609020204030204" pitchFamily="49" charset="0"/>
              </a:rPr>
              <a:t>factorial(n</a:t>
            </a:r>
            <a:r>
              <a:rPr lang="en-US" sz="2400" b="0" dirty="0">
                <a:solidFill>
                  <a:srgbClr val="D4D4D4"/>
                </a:solidFill>
                <a:effectLst/>
                <a:latin typeface="Consolas" panose="020B0609020204030204" pitchFamily="49" charset="0"/>
              </a:rPr>
              <a:t>-</a:t>
            </a:r>
            <a:r>
              <a:rPr lang="en-US" sz="2400" b="0" dirty="0">
                <a:solidFill>
                  <a:srgbClr val="B5CEA8"/>
                </a:solidFill>
                <a:effectLst/>
                <a:latin typeface="Consolas" panose="020B0609020204030204" pitchFamily="49" charset="0"/>
              </a:rPr>
              <a:t>1</a:t>
            </a:r>
            <a:r>
              <a:rPr lang="en-US" sz="2400" b="0" dirty="0">
                <a:solidFill>
                  <a:srgbClr val="FFFFFF"/>
                </a:solidFill>
                <a:effectLst/>
                <a:latin typeface="Consolas" panose="020B0609020204030204" pitchFamily="49" charset="0"/>
              </a:rPr>
              <a:t>)</a:t>
            </a:r>
            <a:br>
              <a:rPr lang="en-US" sz="2400" b="0" dirty="0">
                <a:solidFill>
                  <a:srgbClr val="FFFFFF"/>
                </a:solidFill>
                <a:effectLst/>
                <a:latin typeface="Consolas" panose="020B0609020204030204" pitchFamily="49" charset="0"/>
              </a:rPr>
            </a:br>
            <a:br>
              <a:rPr lang="en-US" sz="2400" b="0" dirty="0">
                <a:solidFill>
                  <a:srgbClr val="FFFFFF"/>
                </a:solidFill>
                <a:effectLst/>
                <a:latin typeface="Consolas" panose="020B0609020204030204" pitchFamily="49" charset="0"/>
              </a:rPr>
            </a:br>
            <a:r>
              <a:rPr lang="en-US" sz="2400" b="0" dirty="0">
                <a:solidFill>
                  <a:srgbClr val="DCDCAA"/>
                </a:solidFill>
                <a:effectLst/>
                <a:latin typeface="Consolas" panose="020B0609020204030204" pitchFamily="49" charset="0"/>
              </a:rPr>
              <a:t>print</a:t>
            </a:r>
            <a:r>
              <a:rPr lang="en-US" sz="2400" b="0" dirty="0">
                <a:solidFill>
                  <a:srgbClr val="FFFFFF"/>
                </a:solidFill>
                <a:effectLst/>
                <a:latin typeface="Consolas" panose="020B0609020204030204" pitchFamily="49" charset="0"/>
              </a:rPr>
              <a:t>(factorial(</a:t>
            </a:r>
            <a:r>
              <a:rPr lang="en-US" sz="2400" b="0" dirty="0">
                <a:solidFill>
                  <a:srgbClr val="B5CEA8"/>
                </a:solidFill>
                <a:effectLst/>
                <a:latin typeface="Consolas" panose="020B0609020204030204" pitchFamily="49" charset="0"/>
              </a:rPr>
              <a:t>6</a:t>
            </a:r>
            <a:r>
              <a:rPr lang="en-US" sz="2400" b="0" dirty="0">
                <a:solidFill>
                  <a:srgbClr val="FFFFFF"/>
                </a:solidFill>
                <a:effectLst/>
                <a:latin typeface="Consolas" panose="020B0609020204030204" pitchFamily="49" charset="0"/>
              </a:rPr>
              <a:t>))  </a:t>
            </a:r>
            <a:r>
              <a:rPr lang="en-US" sz="2400" b="0" dirty="0">
                <a:solidFill>
                  <a:srgbClr val="7CA668"/>
                </a:solidFill>
                <a:effectLst/>
                <a:latin typeface="Consolas" panose="020B0609020204030204" pitchFamily="49" charset="0"/>
              </a:rPr>
              <a:t># 6*5*4*3*2*1 = 720</a:t>
            </a:r>
            <a:endParaRPr lang="en-US" sz="2400" b="0" dirty="0">
              <a:solidFill>
                <a:srgbClr val="FFFFFF"/>
              </a:solidFill>
              <a:effectLst/>
              <a:latin typeface="Consolas" panose="020B0609020204030204" pitchFamily="49" charset="0"/>
            </a:endParaRPr>
          </a:p>
          <a:p>
            <a:pPr marL="0" indent="0">
              <a:spcBef>
                <a:spcPts val="600"/>
              </a:spcBef>
              <a:buNone/>
            </a:pPr>
            <a:br>
              <a:rPr lang="en-US" sz="2400" b="0" dirty="0">
                <a:solidFill>
                  <a:srgbClr val="FFFFFF"/>
                </a:solidFill>
                <a:effectLst/>
                <a:latin typeface="Consolas" panose="020B0609020204030204" pitchFamily="49" charset="0"/>
              </a:rPr>
            </a:br>
            <a:endParaRPr lang="en-US" sz="2400"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11595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532D3-E4C3-432C-8018-BE86285CE06F}"/>
              </a:ext>
            </a:extLst>
          </p:cNvPr>
          <p:cNvSpPr>
            <a:spLocks noGrp="1"/>
          </p:cNvSpPr>
          <p:nvPr>
            <p:ph type="title"/>
          </p:nvPr>
        </p:nvSpPr>
        <p:spPr/>
        <p:txBody>
          <a:bodyPr/>
          <a:lstStyle/>
          <a:p>
            <a:r>
              <a:rPr lang="en-US" dirty="0"/>
              <a:t>Exceptions</a:t>
            </a:r>
          </a:p>
        </p:txBody>
      </p:sp>
      <p:sp>
        <p:nvSpPr>
          <p:cNvPr id="3" name="Content Placeholder 2">
            <a:extLst>
              <a:ext uri="{FF2B5EF4-FFF2-40B4-BE49-F238E27FC236}">
                <a16:creationId xmlns:a16="http://schemas.microsoft.com/office/drawing/2014/main" id="{7D52A1E1-8FC5-4968-A76C-5FF3C65A49A6}"/>
              </a:ext>
            </a:extLst>
          </p:cNvPr>
          <p:cNvSpPr>
            <a:spLocks noGrp="1"/>
          </p:cNvSpPr>
          <p:nvPr>
            <p:ph idx="1"/>
          </p:nvPr>
        </p:nvSpPr>
        <p:spPr>
          <a:xfrm>
            <a:off x="1218883" y="1701796"/>
            <a:ext cx="10360501" cy="4751539"/>
          </a:xfrm>
        </p:spPr>
        <p:txBody>
          <a:bodyPr>
            <a:normAutofit lnSpcReduction="10000"/>
          </a:bodyPr>
          <a:lstStyle/>
          <a:p>
            <a:r>
              <a:rPr lang="en-US" dirty="0"/>
              <a:t>Even if a statement or expression is syntactically correct, it may cause an error when an attempt is made to execute it. Errors detected during execution are called </a:t>
            </a:r>
            <a:r>
              <a:rPr lang="en-US" i="1" dirty="0"/>
              <a:t>exceptions.</a:t>
            </a:r>
          </a:p>
          <a:p>
            <a:r>
              <a:rPr lang="en-US" dirty="0"/>
              <a:t>Common Python exceptions:</a:t>
            </a:r>
          </a:p>
          <a:p>
            <a:pPr lvl="1"/>
            <a:r>
              <a:rPr lang="en-US" dirty="0">
                <a:latin typeface="Courier New" panose="02070309020205020404" pitchFamily="49" charset="0"/>
                <a:cs typeface="Courier New" panose="02070309020205020404" pitchFamily="49" charset="0"/>
              </a:rPr>
              <a:t>IndexError</a:t>
            </a:r>
            <a:r>
              <a:rPr lang="en-US" dirty="0"/>
              <a:t> index out of range</a:t>
            </a:r>
          </a:p>
          <a:p>
            <a:pPr lvl="1"/>
            <a:r>
              <a:rPr lang="en-US" dirty="0" err="1">
                <a:latin typeface="Courier New" panose="02070309020205020404" pitchFamily="49" charset="0"/>
                <a:cs typeface="Courier New" panose="02070309020205020404" pitchFamily="49" charset="0"/>
              </a:rPr>
              <a:t>NameError</a:t>
            </a:r>
            <a:r>
              <a:rPr lang="en-US" dirty="0"/>
              <a:t> name not defined</a:t>
            </a:r>
          </a:p>
          <a:p>
            <a:pPr lvl="1"/>
            <a:r>
              <a:rPr lang="en-US" dirty="0" err="1">
                <a:latin typeface="Courier New" panose="02070309020205020404" pitchFamily="49" charset="0"/>
                <a:cs typeface="Courier New" panose="02070309020205020404" pitchFamily="49" charset="0"/>
              </a:rPr>
              <a:t>OSError</a:t>
            </a:r>
            <a:r>
              <a:rPr lang="en-US" dirty="0"/>
              <a:t> operating system related error e.g. error accessing a file</a:t>
            </a:r>
          </a:p>
          <a:p>
            <a:pPr lvl="1"/>
            <a:r>
              <a:rPr lang="en-US" dirty="0" err="1">
                <a:latin typeface="Courier New" panose="02070309020205020404" pitchFamily="49" charset="0"/>
                <a:cs typeface="Courier New" panose="02070309020205020404" pitchFamily="49" charset="0"/>
              </a:rPr>
              <a:t>SyntaxError</a:t>
            </a:r>
            <a:r>
              <a:rPr lang="en-US" dirty="0"/>
              <a:t> erroneous syntax</a:t>
            </a:r>
          </a:p>
          <a:p>
            <a:pPr lvl="1"/>
            <a:r>
              <a:rPr lang="en-US" dirty="0" err="1">
                <a:latin typeface="Courier New" panose="02070309020205020404" pitchFamily="49" charset="0"/>
                <a:cs typeface="Courier New" panose="02070309020205020404" pitchFamily="49" charset="0"/>
              </a:rPr>
              <a:t>TypeError</a:t>
            </a:r>
            <a:r>
              <a:rPr lang="en-US" dirty="0">
                <a:latin typeface="Courier New" panose="02070309020205020404" pitchFamily="49" charset="0"/>
                <a:cs typeface="Courier New" panose="02070309020205020404" pitchFamily="49" charset="0"/>
              </a:rPr>
              <a:t> </a:t>
            </a:r>
            <a:r>
              <a:rPr lang="en-US" dirty="0"/>
              <a:t>cannot concanate different types</a:t>
            </a:r>
          </a:p>
          <a:p>
            <a:pPr lvl="1"/>
            <a:r>
              <a:rPr lang="en-US" dirty="0">
                <a:latin typeface="Courier New" panose="02070309020205020404" pitchFamily="49" charset="0"/>
                <a:cs typeface="Courier New" panose="02070309020205020404" pitchFamily="49" charset="0"/>
              </a:rPr>
              <a:t>ValueError </a:t>
            </a:r>
            <a:r>
              <a:rPr lang="en-US" dirty="0"/>
              <a:t>invalid type</a:t>
            </a:r>
          </a:p>
          <a:p>
            <a:pPr lvl="1"/>
            <a:r>
              <a:rPr lang="en-US" dirty="0" err="1">
                <a:latin typeface="Courier New" panose="02070309020205020404" pitchFamily="49" charset="0"/>
                <a:cs typeface="Courier New" panose="02070309020205020404" pitchFamily="49" charset="0"/>
              </a:rPr>
              <a:t>ZeroDivisionError</a:t>
            </a:r>
            <a:r>
              <a:rPr lang="en-US" dirty="0"/>
              <a:t> division by zero</a:t>
            </a:r>
          </a:p>
        </p:txBody>
      </p:sp>
    </p:spTree>
    <p:extLst>
      <p:ext uri="{BB962C8B-B14F-4D97-AF65-F5344CB8AC3E}">
        <p14:creationId xmlns:p14="http://schemas.microsoft.com/office/powerpoint/2010/main" val="10432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D448F-E05B-4C72-830A-C31CA28993C3}"/>
              </a:ext>
            </a:extLst>
          </p:cNvPr>
          <p:cNvSpPr>
            <a:spLocks noGrp="1"/>
          </p:cNvSpPr>
          <p:nvPr>
            <p:ph type="title"/>
          </p:nvPr>
        </p:nvSpPr>
        <p:spPr/>
        <p:txBody>
          <a:bodyPr/>
          <a:lstStyle/>
          <a:p>
            <a:r>
              <a:rPr lang="en-US" dirty="0"/>
              <a:t>This Is What Happens without Exception Handling</a:t>
            </a:r>
          </a:p>
        </p:txBody>
      </p:sp>
      <p:sp>
        <p:nvSpPr>
          <p:cNvPr id="3" name="Content Placeholder 2">
            <a:extLst>
              <a:ext uri="{FF2B5EF4-FFF2-40B4-BE49-F238E27FC236}">
                <a16:creationId xmlns:a16="http://schemas.microsoft.com/office/drawing/2014/main" id="{05A5882A-8557-4047-9084-545FAB876772}"/>
              </a:ext>
            </a:extLst>
          </p:cNvPr>
          <p:cNvSpPr>
            <a:spLocks noGrp="1"/>
          </p:cNvSpPr>
          <p:nvPr>
            <p:ph idx="1"/>
          </p:nvPr>
        </p:nvSpPr>
        <p:spPr>
          <a:xfrm>
            <a:off x="1218883" y="1701796"/>
            <a:ext cx="10360501" cy="4751539"/>
          </a:xfrm>
        </p:spPr>
        <p:txBody>
          <a:bodyPr>
            <a:normAutofit fontScale="92500" lnSpcReduction="10000"/>
          </a:bodyPr>
          <a:lstStyle/>
          <a:p>
            <a:pPr marL="0" indent="0">
              <a:buNone/>
            </a:pPr>
            <a:r>
              <a:rPr lang="en-US" dirty="0">
                <a:latin typeface="Courier New" panose="02070309020205020404" pitchFamily="49" charset="0"/>
                <a:cs typeface="Courier New" panose="02070309020205020404" pitchFamily="49" charset="0"/>
              </a:rPr>
              <a:t>&gt;&gt;&gt; int("not a number")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Traceback (most recent call last):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File "&lt;stdin&gt;", line 1, in &lt;module&gt;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ValueError</a:t>
            </a:r>
            <a:r>
              <a:rPr lang="en-US" dirty="0">
                <a:latin typeface="Courier New" panose="02070309020205020404" pitchFamily="49" charset="0"/>
                <a:cs typeface="Courier New" panose="02070309020205020404" pitchFamily="49" charset="0"/>
              </a:rPr>
              <a:t>: invalid literal for int() with base 10: 'not a number'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&gt;&gt;&gt; 2/0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Traceback (most recent call last):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File "&lt;stdin&gt;", line 1, in &lt;module&gt;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ZeroDivisionError</a:t>
            </a:r>
            <a:r>
              <a:rPr lang="en-US" dirty="0">
                <a:latin typeface="Courier New" panose="02070309020205020404" pitchFamily="49" charset="0"/>
                <a:cs typeface="Courier New" panose="02070309020205020404" pitchFamily="49" charset="0"/>
              </a:rPr>
              <a:t>: division by zero</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&gt;&gt;&gt; a = [1, 2,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&gt;&gt;&gt; a[3]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Traceback (most recent call last):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File "&lt;stdin&gt;", line 1, in &lt;module&gt;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IndexError</a:t>
            </a:r>
            <a:r>
              <a:rPr lang="en-US" dirty="0">
                <a:latin typeface="Courier New" panose="02070309020205020404" pitchFamily="49" charset="0"/>
                <a:cs typeface="Courier New" panose="02070309020205020404" pitchFamily="49" charset="0"/>
              </a:rPr>
              <a:t>: list index out of range</a:t>
            </a:r>
          </a:p>
        </p:txBody>
      </p:sp>
    </p:spTree>
    <p:extLst>
      <p:ext uri="{BB962C8B-B14F-4D97-AF65-F5344CB8AC3E}">
        <p14:creationId xmlns:p14="http://schemas.microsoft.com/office/powerpoint/2010/main" val="600165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D6795-8D08-4D29-B527-1B55D7CA5812}"/>
              </a:ext>
            </a:extLst>
          </p:cNvPr>
          <p:cNvSpPr>
            <a:spLocks noGrp="1"/>
          </p:cNvSpPr>
          <p:nvPr>
            <p:ph type="title"/>
          </p:nvPr>
        </p:nvSpPr>
        <p:spPr/>
        <p:txBody>
          <a:bodyPr/>
          <a:lstStyle/>
          <a:p>
            <a:r>
              <a:rPr lang="en-US" dirty="0"/>
              <a:t>Handling Exceptions</a:t>
            </a:r>
          </a:p>
        </p:txBody>
      </p:sp>
      <p:sp>
        <p:nvSpPr>
          <p:cNvPr id="3" name="Content Placeholder 2">
            <a:extLst>
              <a:ext uri="{FF2B5EF4-FFF2-40B4-BE49-F238E27FC236}">
                <a16:creationId xmlns:a16="http://schemas.microsoft.com/office/drawing/2014/main" id="{C36FB99A-3E47-4238-A76A-47B261C312D8}"/>
              </a:ext>
            </a:extLst>
          </p:cNvPr>
          <p:cNvSpPr>
            <a:spLocks noGrp="1"/>
          </p:cNvSpPr>
          <p:nvPr>
            <p:ph idx="1"/>
          </p:nvPr>
        </p:nvSpPr>
        <p:spPr>
          <a:xfrm>
            <a:off x="1218883" y="1701796"/>
            <a:ext cx="10360501" cy="4967564"/>
          </a:xfrm>
        </p:spPr>
        <p:txBody>
          <a:bodyPr>
            <a:normAutofit fontScale="77500" lnSpcReduction="20000"/>
          </a:bodyPr>
          <a:lstStyle/>
          <a:p>
            <a:pPr marL="0" indent="0">
              <a:spcBef>
                <a:spcPts val="600"/>
              </a:spcBef>
              <a:buNone/>
            </a:pPr>
            <a:r>
              <a:rPr lang="en-US" b="0" dirty="0">
                <a:solidFill>
                  <a:srgbClr val="C586C0"/>
                </a:solidFill>
                <a:effectLst/>
                <a:latin typeface="Consolas" panose="020B0609020204030204" pitchFamily="49" charset="0"/>
              </a:rPr>
              <a:t>try</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if an exception is fired in this block go to</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the corresponding exception handler</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586C0"/>
                </a:solidFill>
                <a:effectLst/>
                <a:latin typeface="Consolas" panose="020B0609020204030204" pitchFamily="49" charset="0"/>
              </a:rPr>
              <a:t>except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ExceptionClass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handle this exception type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586C0"/>
                </a:solidFill>
                <a:effectLst/>
                <a:latin typeface="Consolas" panose="020B0609020204030204" pitchFamily="49" charset="0"/>
              </a:rPr>
              <a:t>except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AnotherExceptionClass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handle this exception type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586C0"/>
                </a:solidFill>
                <a:effectLst/>
                <a:latin typeface="Consolas" panose="020B0609020204030204" pitchFamily="49" charset="0"/>
              </a:rPr>
              <a:t>except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catch all exceptions, NOT recommended!</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executed if no exceptions </a:t>
            </a:r>
            <a:r>
              <a:rPr lang="en-US" b="0" dirty="0" err="1">
                <a:solidFill>
                  <a:srgbClr val="7CA668"/>
                </a:solidFill>
                <a:effectLst/>
                <a:latin typeface="Consolas" panose="020B0609020204030204" pitchFamily="49" charset="0"/>
              </a:rPr>
              <a:t>occured</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586C0"/>
                </a:solidFill>
                <a:effectLst/>
                <a:latin typeface="Consolas" panose="020B0609020204030204" pitchFamily="49" charset="0"/>
              </a:rPr>
              <a:t>finally</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executed at the end, no matter what happens</a:t>
            </a:r>
            <a:br>
              <a:rPr lang="en-US" b="0" dirty="0">
                <a:solidFill>
                  <a:srgbClr val="7CA668"/>
                </a:solidFill>
                <a:effectLst/>
                <a:latin typeface="Consolas" panose="020B0609020204030204" pitchFamily="49" charset="0"/>
              </a:rPr>
            </a:br>
            <a:br>
              <a:rPr lang="en-US" b="0" dirty="0">
                <a:solidFill>
                  <a:srgbClr val="7CA668"/>
                </a:solidFill>
                <a:effectLst/>
                <a:latin typeface="Consolas" panose="020B0609020204030204" pitchFamily="49" charset="0"/>
              </a:rPr>
            </a:br>
            <a:r>
              <a:rPr lang="fi-FI" b="0" dirty="0" err="1">
                <a:solidFill>
                  <a:srgbClr val="C586C0"/>
                </a:solidFill>
                <a:effectLst/>
                <a:latin typeface="Consolas" panose="020B0609020204030204" pitchFamily="49" charset="0"/>
              </a:rPr>
              <a:t>raise</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ExceptionClass</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message</a:t>
            </a:r>
            <a:r>
              <a:rPr lang="fi-FI"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trigger exception manually</a:t>
            </a:r>
            <a:endParaRPr lang="fi-FI" b="0" dirty="0">
              <a:solidFill>
                <a:srgbClr val="FFFFFF"/>
              </a:solidFill>
              <a:effectLst/>
              <a:latin typeface="Consolas" panose="020B0609020204030204" pitchFamily="49" charset="0"/>
            </a:endParaRPr>
          </a:p>
          <a:p>
            <a:pPr marL="0" indent="0">
              <a:spcBef>
                <a:spcPts val="600"/>
              </a:spcBef>
              <a:buNone/>
            </a:pPr>
            <a:r>
              <a:rPr lang="fi-FI" b="0" dirty="0" err="1">
                <a:solidFill>
                  <a:srgbClr val="C586C0"/>
                </a:solidFill>
                <a:effectLst/>
                <a:latin typeface="Consolas" panose="020B0609020204030204" pitchFamily="49" charset="0"/>
              </a:rPr>
              <a:t>raise</a:t>
            </a:r>
            <a:r>
              <a:rPr lang="fi-FI" b="0" dirty="0">
                <a:solidFill>
                  <a:srgbClr val="FFFFFF"/>
                </a:solidFill>
                <a:effectLst/>
                <a:latin typeface="Consolas" panose="020B0609020204030204" pitchFamily="49" charset="0"/>
              </a:rPr>
              <a:t> </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raise</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exception</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again</a:t>
            </a:r>
            <a:endParaRPr lang="fi-FI" b="0" dirty="0">
              <a:solidFill>
                <a:srgbClr val="FFFFFF"/>
              </a:solidFill>
              <a:effectLst/>
              <a:latin typeface="Consolas" panose="020B0609020204030204" pitchFamily="49" charset="0"/>
            </a:endParaRPr>
          </a:p>
          <a:p>
            <a:pPr marL="0" indent="0">
              <a:buNone/>
            </a:pPr>
            <a:endParaRPr lang="fi-FI" b="0" dirty="0">
              <a:solidFill>
                <a:srgbClr val="FFFFFF"/>
              </a:solidFill>
              <a:effectLst/>
              <a:latin typeface="Consolas" panose="020B0609020204030204" pitchFamily="49" charset="0"/>
            </a:endParaRPr>
          </a:p>
          <a:p>
            <a:pPr marL="0" indent="0">
              <a:spcBef>
                <a:spcPts val="600"/>
              </a:spcBef>
              <a:buNone/>
            </a:pPr>
            <a:endParaRPr lang="en-US" b="0" dirty="0">
              <a:solidFill>
                <a:srgbClr val="FFFFFF"/>
              </a:solidFill>
              <a:effectLst/>
              <a:latin typeface="Consolas" panose="020B0609020204030204" pitchFamily="49" charset="0"/>
            </a:endParaRP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609632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A632D-064D-41C1-9121-84073D3D0643}"/>
              </a:ext>
            </a:extLst>
          </p:cNvPr>
          <p:cNvSpPr>
            <a:spLocks noGrp="1"/>
          </p:cNvSpPr>
          <p:nvPr>
            <p:ph type="title"/>
          </p:nvPr>
        </p:nvSpPr>
        <p:spPr/>
        <p:txBody>
          <a:bodyPr/>
          <a:lstStyle/>
          <a:p>
            <a:r>
              <a:rPr lang="en-US" dirty="0"/>
              <a:t>Try Except Example</a:t>
            </a:r>
          </a:p>
        </p:txBody>
      </p:sp>
      <p:sp>
        <p:nvSpPr>
          <p:cNvPr id="3" name="Content Placeholder 2">
            <a:extLst>
              <a:ext uri="{FF2B5EF4-FFF2-40B4-BE49-F238E27FC236}">
                <a16:creationId xmlns:a16="http://schemas.microsoft.com/office/drawing/2014/main" id="{0495B425-C115-4BAE-AD8C-C7B456FF4D03}"/>
              </a:ext>
            </a:extLst>
          </p:cNvPr>
          <p:cNvSpPr>
            <a:spLocks noGrp="1"/>
          </p:cNvSpPr>
          <p:nvPr>
            <p:ph idx="1"/>
          </p:nvPr>
        </p:nvSpPr>
        <p:spPr>
          <a:xfrm>
            <a:off x="1218883" y="1701797"/>
            <a:ext cx="10360501" cy="4881566"/>
          </a:xfrm>
        </p:spPr>
        <p:txBody>
          <a:bodyPr>
            <a:normAutofit fontScale="77500" lnSpcReduction="20000"/>
          </a:bodyPr>
          <a:lstStyle/>
          <a:p>
            <a:pPr marL="0" indent="0">
              <a:spcBef>
                <a:spcPts val="600"/>
              </a:spcBef>
              <a:buNone/>
            </a:pPr>
            <a:r>
              <a:rPr lang="fi-FI" b="0" dirty="0">
                <a:solidFill>
                  <a:srgbClr val="C586C0"/>
                </a:solidFill>
                <a:effectLst/>
                <a:latin typeface="Consolas" panose="020B0609020204030204" pitchFamily="49" charset="0"/>
              </a:rPr>
              <a:t>import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sys</a:t>
            </a:r>
            <a:endParaRPr lang="fi-FI" b="0" dirty="0">
              <a:solidFill>
                <a:srgbClr val="FFFFFF"/>
              </a:solidFill>
              <a:effectLst/>
              <a:latin typeface="Consolas" panose="020B0609020204030204" pitchFamily="49" charset="0"/>
            </a:endParaRPr>
          </a:p>
          <a:p>
            <a:pPr marL="0" indent="0">
              <a:spcBef>
                <a:spcPts val="600"/>
              </a:spcBef>
              <a:buNone/>
            </a:pPr>
            <a:r>
              <a:rPr lang="fi-FI" b="0" dirty="0" err="1">
                <a:solidFill>
                  <a:srgbClr val="C586C0"/>
                </a:solidFill>
                <a:effectLst/>
                <a:latin typeface="Consolas" panose="020B0609020204030204" pitchFamily="49" charset="0"/>
              </a:rPr>
              <a:t>try</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C586C0"/>
                </a:solidFill>
                <a:effectLst/>
                <a:latin typeface="Consolas" panose="020B0609020204030204" pitchFamily="49" charset="0"/>
              </a:rPr>
              <a:t>with</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open</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'myfile.txt'</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f:</a:t>
            </a:r>
          </a:p>
          <a:p>
            <a:pPr marL="0" indent="0">
              <a:spcBef>
                <a:spcPts val="600"/>
              </a:spcBef>
              <a:buNone/>
            </a:pPr>
            <a:r>
              <a:rPr lang="fi-FI" b="0" dirty="0">
                <a:solidFill>
                  <a:srgbClr val="FFFFFF"/>
                </a:solidFill>
                <a:effectLst/>
                <a:latin typeface="Consolas" panose="020B0609020204030204" pitchFamily="49" charset="0"/>
              </a:rPr>
              <a:t>        s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f.readline</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i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4EC9B0"/>
                </a:solidFill>
                <a:effectLst/>
                <a:latin typeface="Consolas" panose="020B0609020204030204" pitchFamily="49" charset="0"/>
              </a:rPr>
              <a:t>int</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s.strip</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(i)</a:t>
            </a:r>
          </a:p>
          <a:p>
            <a:pPr marL="0" indent="0">
              <a:spcBef>
                <a:spcPts val="600"/>
              </a:spcBef>
              <a:buNone/>
            </a:pPr>
            <a:r>
              <a:rPr lang="fi-FI" b="0" dirty="0" err="1">
                <a:solidFill>
                  <a:srgbClr val="C586C0"/>
                </a:solidFill>
                <a:effectLst/>
                <a:latin typeface="Consolas" panose="020B0609020204030204" pitchFamily="49" charset="0"/>
              </a:rPr>
              <a:t>except</a:t>
            </a:r>
            <a:r>
              <a:rPr lang="fi-FI" b="0" dirty="0">
                <a:solidFill>
                  <a:srgbClr val="FFFFFF"/>
                </a:solidFill>
                <a:effectLst/>
                <a:latin typeface="Consolas" panose="020B0609020204030204" pitchFamily="49" charset="0"/>
              </a:rPr>
              <a:t> </a:t>
            </a:r>
            <a:r>
              <a:rPr lang="fi-FI" b="0" dirty="0" err="1">
                <a:solidFill>
                  <a:srgbClr val="4EC9B0"/>
                </a:solidFill>
                <a:effectLst/>
                <a:latin typeface="Consolas" panose="020B0609020204030204" pitchFamily="49" charset="0"/>
              </a:rPr>
              <a:t>OSError</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err</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"OS </a:t>
            </a:r>
            <a:r>
              <a:rPr lang="fi-FI" b="0" dirty="0" err="1">
                <a:solidFill>
                  <a:srgbClr val="CE9178"/>
                </a:solidFill>
                <a:effectLst/>
                <a:latin typeface="Consolas" panose="020B0609020204030204" pitchFamily="49" charset="0"/>
              </a:rPr>
              <a:t>error</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err</a:t>
            </a:r>
            <a:r>
              <a:rPr lang="fi-FI" b="0" dirty="0">
                <a:solidFill>
                  <a:srgbClr val="FFFFFF"/>
                </a:solidFill>
                <a:effectLst/>
                <a:latin typeface="Consolas" panose="020B0609020204030204" pitchFamily="49" charset="0"/>
              </a:rPr>
              <a:t>)</a:t>
            </a:r>
          </a:p>
          <a:p>
            <a:pPr marL="0" indent="0">
              <a:spcBef>
                <a:spcPts val="600"/>
              </a:spcBef>
              <a:buNone/>
            </a:pPr>
            <a:r>
              <a:rPr lang="fi-FI" b="0" dirty="0" err="1">
                <a:solidFill>
                  <a:srgbClr val="C586C0"/>
                </a:solidFill>
                <a:effectLst/>
                <a:latin typeface="Consolas" panose="020B0609020204030204" pitchFamily="49" charset="0"/>
              </a:rPr>
              <a:t>except</a:t>
            </a:r>
            <a:r>
              <a:rPr lang="fi-FI" b="0" dirty="0">
                <a:solidFill>
                  <a:srgbClr val="FFFFFF"/>
                </a:solidFill>
                <a:effectLst/>
                <a:latin typeface="Consolas" panose="020B0609020204030204" pitchFamily="49" charset="0"/>
              </a:rPr>
              <a:t> </a:t>
            </a:r>
            <a:r>
              <a:rPr lang="fi-FI" b="0" dirty="0" err="1">
                <a:solidFill>
                  <a:srgbClr val="4EC9B0"/>
                </a:solidFill>
                <a:effectLst/>
                <a:latin typeface="Consolas" panose="020B0609020204030204" pitchFamily="49" charset="0"/>
              </a:rPr>
              <a:t>ValueError</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Could</a:t>
            </a:r>
            <a:r>
              <a:rPr lang="fi-FI" b="0" dirty="0">
                <a:solidFill>
                  <a:srgbClr val="CE9178"/>
                </a:solidFill>
                <a:effectLst/>
                <a:latin typeface="Consolas" panose="020B0609020204030204" pitchFamily="49" charset="0"/>
              </a:rPr>
              <a:t> </a:t>
            </a:r>
            <a:r>
              <a:rPr lang="fi-FI" b="0" dirty="0" err="1">
                <a:solidFill>
                  <a:srgbClr val="CE9178"/>
                </a:solidFill>
                <a:effectLst/>
                <a:latin typeface="Consolas" panose="020B0609020204030204" pitchFamily="49" charset="0"/>
              </a:rPr>
              <a:t>not</a:t>
            </a:r>
            <a:r>
              <a:rPr lang="fi-FI" b="0" dirty="0">
                <a:solidFill>
                  <a:srgbClr val="CE9178"/>
                </a:solidFill>
                <a:effectLst/>
                <a:latin typeface="Consolas" panose="020B0609020204030204" pitchFamily="49" charset="0"/>
              </a:rPr>
              <a:t> </a:t>
            </a:r>
            <a:r>
              <a:rPr lang="fi-FI" b="0" dirty="0" err="1">
                <a:solidFill>
                  <a:srgbClr val="CE9178"/>
                </a:solidFill>
                <a:effectLst/>
                <a:latin typeface="Consolas" panose="020B0609020204030204" pitchFamily="49" charset="0"/>
              </a:rPr>
              <a:t>convert</a:t>
            </a:r>
            <a:r>
              <a:rPr lang="fi-FI" b="0" dirty="0">
                <a:solidFill>
                  <a:srgbClr val="CE9178"/>
                </a:solidFill>
                <a:effectLst/>
                <a:latin typeface="Consolas" panose="020B0609020204030204" pitchFamily="49" charset="0"/>
              </a:rPr>
              <a:t> data to an </a:t>
            </a:r>
            <a:r>
              <a:rPr lang="fi-FI" b="0" dirty="0" err="1">
                <a:solidFill>
                  <a:srgbClr val="CE9178"/>
                </a:solidFill>
                <a:effectLst/>
                <a:latin typeface="Consolas" panose="020B0609020204030204" pitchFamily="49" charset="0"/>
              </a:rPr>
              <a:t>integer</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a:t>
            </a:r>
          </a:p>
          <a:p>
            <a:pPr marL="0" indent="0">
              <a:spcBef>
                <a:spcPts val="600"/>
              </a:spcBef>
              <a:buNone/>
            </a:pPr>
            <a:r>
              <a:rPr lang="fi-FI" b="0" dirty="0" err="1">
                <a:solidFill>
                  <a:srgbClr val="C586C0"/>
                </a:solidFill>
                <a:effectLst/>
                <a:latin typeface="Consolas" panose="020B0609020204030204" pitchFamily="49" charset="0"/>
              </a:rPr>
              <a:t>except</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Unexpected</a:t>
            </a:r>
            <a:r>
              <a:rPr lang="fi-FI" b="0" dirty="0">
                <a:solidFill>
                  <a:srgbClr val="CE9178"/>
                </a:solidFill>
                <a:effectLst/>
                <a:latin typeface="Consolas" panose="020B0609020204030204" pitchFamily="49" charset="0"/>
              </a:rPr>
              <a:t> </a:t>
            </a:r>
            <a:r>
              <a:rPr lang="fi-FI" b="0" dirty="0" err="1">
                <a:solidFill>
                  <a:srgbClr val="CE9178"/>
                </a:solidFill>
                <a:effectLst/>
                <a:latin typeface="Consolas" panose="020B0609020204030204" pitchFamily="49" charset="0"/>
              </a:rPr>
              <a:t>error</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sys.exc_info</a:t>
            </a:r>
            <a:r>
              <a:rPr lang="fi-FI" b="0" dirty="0">
                <a:solidFill>
                  <a:srgbClr val="FFFFFF"/>
                </a:solidFill>
                <a:effectLst/>
                <a:latin typeface="Consolas" panose="020B0609020204030204" pitchFamily="49" charset="0"/>
              </a:rPr>
              <a:t>()[</a:t>
            </a:r>
            <a:r>
              <a:rPr lang="fi-FI" b="0" dirty="0">
                <a:solidFill>
                  <a:srgbClr val="B5CEA8"/>
                </a:solidFill>
                <a:effectLst/>
                <a:latin typeface="Consolas" panose="020B0609020204030204" pitchFamily="49" charset="0"/>
              </a:rPr>
              <a:t>0</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C586C0"/>
                </a:solidFill>
                <a:effectLst/>
                <a:latin typeface="Consolas" panose="020B0609020204030204" pitchFamily="49" charset="0"/>
              </a:rPr>
              <a:t>raise</a:t>
            </a:r>
            <a:endParaRPr lang="fi-FI" b="0" dirty="0">
              <a:solidFill>
                <a:srgbClr val="FFFFFF"/>
              </a:solidFill>
              <a:effectLst/>
              <a:latin typeface="Consolas" panose="020B0609020204030204" pitchFamily="49" charset="0"/>
            </a:endParaRPr>
          </a:p>
          <a:p>
            <a:br>
              <a:rPr lang="fi-FI" b="0" dirty="0">
                <a:solidFill>
                  <a:srgbClr val="FFFFFF"/>
                </a:solidFill>
                <a:effectLst/>
                <a:latin typeface="Consolas" panose="020B0609020204030204" pitchFamily="49" charset="0"/>
              </a:rPr>
            </a:br>
            <a:endParaRPr lang="fi-FI"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97774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917A9-E119-400A-A120-F6B43C47D44E}"/>
              </a:ext>
            </a:extLst>
          </p:cNvPr>
          <p:cNvSpPr>
            <a:spLocks noGrp="1"/>
          </p:cNvSpPr>
          <p:nvPr>
            <p:ph type="title"/>
          </p:nvPr>
        </p:nvSpPr>
        <p:spPr/>
        <p:txBody>
          <a:bodyPr/>
          <a:lstStyle/>
          <a:p>
            <a:r>
              <a:rPr lang="en-US" dirty="0"/>
              <a:t>Exception Else Example</a:t>
            </a:r>
          </a:p>
        </p:txBody>
      </p:sp>
      <p:sp>
        <p:nvSpPr>
          <p:cNvPr id="3" name="Content Placeholder 2">
            <a:extLst>
              <a:ext uri="{FF2B5EF4-FFF2-40B4-BE49-F238E27FC236}">
                <a16:creationId xmlns:a16="http://schemas.microsoft.com/office/drawing/2014/main" id="{650BC047-A1C3-4A63-81A2-9AB7DE9247EF}"/>
              </a:ext>
            </a:extLst>
          </p:cNvPr>
          <p:cNvSpPr>
            <a:spLocks noGrp="1"/>
          </p:cNvSpPr>
          <p:nvPr>
            <p:ph idx="1"/>
          </p:nvPr>
        </p:nvSpPr>
        <p:spPr>
          <a:xfrm>
            <a:off x="909837" y="1701797"/>
            <a:ext cx="10801200" cy="4881566"/>
          </a:xfrm>
        </p:spPr>
        <p:txBody>
          <a:bodyPr>
            <a:normAutofit/>
          </a:bodyPr>
          <a:lstStyle/>
          <a:p>
            <a:pPr marL="0" indent="0">
              <a:spcBef>
                <a:spcPts val="600"/>
              </a:spcBef>
              <a:buNone/>
            </a:pPr>
            <a:r>
              <a:rPr lang="fi-FI" b="0" dirty="0">
                <a:solidFill>
                  <a:srgbClr val="C586C0"/>
                </a:solidFill>
                <a:effectLst/>
                <a:latin typeface="Consolas" panose="020B0609020204030204" pitchFamily="49" charset="0"/>
              </a:rPr>
              <a:t>import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sys</a:t>
            </a:r>
            <a:endParaRPr lang="fi-FI" b="0" dirty="0">
              <a:solidFill>
                <a:srgbClr val="FFFFFF"/>
              </a:solidFill>
              <a:effectLst/>
              <a:latin typeface="Consolas" panose="020B0609020204030204" pitchFamily="49" charset="0"/>
            </a:endParaRPr>
          </a:p>
          <a:p>
            <a:pPr marL="0" indent="0">
              <a:spcBef>
                <a:spcPts val="600"/>
              </a:spcBef>
              <a:buNone/>
            </a:pPr>
            <a:r>
              <a:rPr lang="fi-FI" b="0" dirty="0">
                <a:solidFill>
                  <a:srgbClr val="C586C0"/>
                </a:solidFill>
                <a:effectLst/>
                <a:latin typeface="Consolas" panose="020B0609020204030204" pitchFamily="49" charset="0"/>
              </a:rPr>
              <a:t>for</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arg</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in</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sys.argv</a:t>
            </a:r>
            <a:r>
              <a:rPr lang="fi-FI" b="0" dirty="0">
                <a:solidFill>
                  <a:srgbClr val="FFFFFF"/>
                </a:solidFill>
                <a:effectLst/>
                <a:latin typeface="Consolas" panose="020B0609020204030204" pitchFamily="49" charset="0"/>
              </a:rPr>
              <a:t>[</a:t>
            </a:r>
            <a:r>
              <a:rPr lang="fi-FI" b="0" dirty="0">
                <a:solidFill>
                  <a:srgbClr val="B5CEA8"/>
                </a:solidFill>
                <a:effectLst/>
                <a:latin typeface="Consolas" panose="020B0609020204030204" pitchFamily="49" charset="0"/>
              </a:rPr>
              <a:t>1</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C586C0"/>
                </a:solidFill>
                <a:effectLst/>
                <a:latin typeface="Consolas" panose="020B0609020204030204" pitchFamily="49" charset="0"/>
              </a:rPr>
              <a:t>try</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f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open</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arg</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'r'</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C586C0"/>
                </a:solidFill>
                <a:effectLst/>
                <a:latin typeface="Consolas" panose="020B0609020204030204" pitchFamily="49" charset="0"/>
              </a:rPr>
              <a:t>except</a:t>
            </a:r>
            <a:r>
              <a:rPr lang="fi-FI" b="0" dirty="0">
                <a:solidFill>
                  <a:srgbClr val="FFFFFF"/>
                </a:solidFill>
                <a:effectLst/>
                <a:latin typeface="Consolas" panose="020B0609020204030204" pitchFamily="49" charset="0"/>
              </a:rPr>
              <a:t> </a:t>
            </a:r>
            <a:r>
              <a:rPr lang="fi-FI" b="0" dirty="0" err="1">
                <a:solidFill>
                  <a:srgbClr val="4EC9B0"/>
                </a:solidFill>
                <a:effectLst/>
                <a:latin typeface="Consolas" panose="020B0609020204030204" pitchFamily="49" charset="0"/>
              </a:rPr>
              <a:t>OSError</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cannot</a:t>
            </a:r>
            <a:r>
              <a:rPr lang="fi-FI" b="0" dirty="0">
                <a:solidFill>
                  <a:srgbClr val="CE9178"/>
                </a:solidFill>
                <a:effectLst/>
                <a:latin typeface="Consolas" panose="020B0609020204030204" pitchFamily="49" charset="0"/>
              </a:rPr>
              <a:t> open'</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arg</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C586C0"/>
                </a:solidFill>
                <a:effectLst/>
                <a:latin typeface="Consolas" panose="020B0609020204030204" pitchFamily="49" charset="0"/>
              </a:rPr>
              <a:t>else</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arg</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has</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len</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f.readlines</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lines</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a:t>
            </a:r>
          </a:p>
          <a:p>
            <a:pPr marL="0" indent="0">
              <a:spcBef>
                <a:spcPts val="600"/>
              </a:spcBef>
              <a:buNone/>
            </a:pP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f.close</a:t>
            </a:r>
            <a:r>
              <a:rPr lang="fi-FI" b="0" dirty="0">
                <a:solidFill>
                  <a:srgbClr val="FFFFFF"/>
                </a:solidFill>
                <a:effectLst/>
                <a:latin typeface="Consolas" panose="020B0609020204030204" pitchFamily="49" charset="0"/>
              </a:rPr>
              <a:t>()</a:t>
            </a:r>
          </a:p>
          <a:p>
            <a:pPr marL="0" indent="0">
              <a:spcBef>
                <a:spcPts val="600"/>
              </a:spcBef>
              <a:buNone/>
            </a:pPr>
            <a:endParaRPr lang="fi-FI"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330961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03F99-FB2A-42C8-8C5E-AF8C9BB51BFC}"/>
              </a:ext>
            </a:extLst>
          </p:cNvPr>
          <p:cNvSpPr>
            <a:spLocks noGrp="1"/>
          </p:cNvSpPr>
          <p:nvPr>
            <p:ph type="title"/>
          </p:nvPr>
        </p:nvSpPr>
        <p:spPr/>
        <p:txBody>
          <a:bodyPr/>
          <a:lstStyle/>
          <a:p>
            <a:r>
              <a:rPr lang="en-US" dirty="0"/>
              <a:t>Safe Way to Ask Floating Point Numbers from User</a:t>
            </a:r>
          </a:p>
        </p:txBody>
      </p:sp>
      <p:sp>
        <p:nvSpPr>
          <p:cNvPr id="3" name="Content Placeholder 2">
            <a:extLst>
              <a:ext uri="{FF2B5EF4-FFF2-40B4-BE49-F238E27FC236}">
                <a16:creationId xmlns:a16="http://schemas.microsoft.com/office/drawing/2014/main" id="{7ED251FA-DECA-4DDD-8B2E-88ED912A7DD0}"/>
              </a:ext>
            </a:extLst>
          </p:cNvPr>
          <p:cNvSpPr>
            <a:spLocks noGrp="1"/>
          </p:cNvSpPr>
          <p:nvPr>
            <p:ph idx="1"/>
          </p:nvPr>
        </p:nvSpPr>
        <p:spPr>
          <a:xfrm>
            <a:off x="1218883" y="1701796"/>
            <a:ext cx="10360501" cy="5039571"/>
          </a:xfrm>
        </p:spPr>
        <p:txBody>
          <a:bodyPr>
            <a:normAutofit/>
          </a:bodyPr>
          <a:lstStyle/>
          <a:p>
            <a:pPr marL="0" indent="0">
              <a:spcBef>
                <a:spcPts val="600"/>
              </a:spcBef>
              <a:buNone/>
            </a:pPr>
            <a:r>
              <a:rPr lang="en-US" sz="1800" b="0" dirty="0">
                <a:solidFill>
                  <a:srgbClr val="569CD6"/>
                </a:solidFill>
                <a:effectLst/>
                <a:latin typeface="Consolas" panose="020B0609020204030204" pitchFamily="49" charset="0"/>
              </a:rPr>
              <a:t>def</a:t>
            </a:r>
            <a:r>
              <a:rPr lang="fi-FI" sz="1800" b="0" dirty="0">
                <a:solidFill>
                  <a:srgbClr val="FFFFFF"/>
                </a:solidFill>
                <a:effectLst/>
                <a:latin typeface="Consolas" panose="020B0609020204030204" pitchFamily="49" charset="0"/>
              </a:rPr>
              <a:t> </a:t>
            </a:r>
            <a:r>
              <a:rPr lang="fi-FI" sz="1800" b="0" dirty="0" err="1">
                <a:solidFill>
                  <a:srgbClr val="DCDCAA"/>
                </a:solidFill>
                <a:effectLst/>
                <a:latin typeface="Consolas" panose="020B0609020204030204" pitchFamily="49" charset="0"/>
              </a:rPr>
              <a:t>ask_float</a:t>
            </a:r>
            <a:r>
              <a:rPr lang="fi-FI" sz="1800" b="0" dirty="0">
                <a:solidFill>
                  <a:srgbClr val="FFFFFF"/>
                </a:solidFill>
                <a:effectLst/>
                <a:latin typeface="Consolas" panose="020B0609020204030204" pitchFamily="49" charset="0"/>
              </a:rPr>
              <a:t>(</a:t>
            </a:r>
            <a:r>
              <a:rPr lang="fi-FI" sz="1800" b="0" dirty="0" err="1">
                <a:solidFill>
                  <a:srgbClr val="9CDCFE"/>
                </a:solidFill>
                <a:effectLst/>
                <a:latin typeface="Consolas" panose="020B0609020204030204" pitchFamily="49" charset="0"/>
              </a:rPr>
              <a:t>question</a:t>
            </a:r>
            <a:r>
              <a:rPr lang="fi-FI" sz="1800" b="0" dirty="0">
                <a:solidFill>
                  <a:srgbClr val="FFFFFF"/>
                </a:solidFill>
                <a:effectLst/>
                <a:latin typeface="Consolas" panose="020B0609020204030204" pitchFamily="49" charset="0"/>
              </a:rPr>
              <a:t>):</a:t>
            </a:r>
          </a:p>
          <a:p>
            <a:pPr marL="0" indent="0">
              <a:spcBef>
                <a:spcPts val="600"/>
              </a:spcBef>
              <a:buNone/>
            </a:pPr>
            <a:r>
              <a:rPr lang="fi-FI" sz="1800" b="0" dirty="0">
                <a:solidFill>
                  <a:srgbClr val="FFFFFF"/>
                </a:solidFill>
                <a:effectLst/>
                <a:latin typeface="Consolas" panose="020B0609020204030204" pitchFamily="49" charset="0"/>
              </a:rPr>
              <a:t>    </a:t>
            </a:r>
            <a:r>
              <a:rPr lang="en-US" sz="1800" b="0" dirty="0">
                <a:solidFill>
                  <a:srgbClr val="CE9178"/>
                </a:solidFill>
                <a:effectLst/>
                <a:latin typeface="Consolas" panose="020B0609020204030204" pitchFamily="49" charset="0"/>
              </a:rPr>
              <a:t>"""display the question string and wait for standard input</a:t>
            </a:r>
            <a:endParaRPr lang="en-US" sz="1800" b="0" dirty="0">
              <a:solidFill>
                <a:srgbClr val="FFFFFF"/>
              </a:solidFill>
              <a:effectLst/>
              <a:latin typeface="Consolas" panose="020B0609020204030204" pitchFamily="49" charset="0"/>
            </a:endParaRPr>
          </a:p>
          <a:p>
            <a:pPr marL="0" indent="0">
              <a:spcBef>
                <a:spcPts val="600"/>
              </a:spcBef>
              <a:buNone/>
            </a:pPr>
            <a:r>
              <a:rPr lang="en-US" sz="1800" b="0" dirty="0">
                <a:solidFill>
                  <a:srgbClr val="CE9178"/>
                </a:solidFill>
                <a:effectLst/>
                <a:latin typeface="Consolas" panose="020B0609020204030204" pitchFamily="49" charset="0"/>
              </a:rPr>
              <a:t>    keep asking the question until user provides a valid floating</a:t>
            </a:r>
            <a:endParaRPr lang="en-US" sz="1800" b="0" dirty="0">
              <a:solidFill>
                <a:srgbClr val="FFFFFF"/>
              </a:solidFill>
              <a:effectLst/>
              <a:latin typeface="Consolas" panose="020B0609020204030204" pitchFamily="49" charset="0"/>
            </a:endParaRPr>
          </a:p>
          <a:p>
            <a:pPr marL="0" indent="0">
              <a:spcBef>
                <a:spcPts val="600"/>
              </a:spcBef>
              <a:buNone/>
            </a:pPr>
            <a:r>
              <a:rPr lang="en-US" sz="1800" b="0" dirty="0">
                <a:solidFill>
                  <a:srgbClr val="CE9178"/>
                </a:solidFill>
                <a:effectLst/>
                <a:latin typeface="Consolas" panose="020B0609020204030204" pitchFamily="49" charset="0"/>
              </a:rPr>
              <a:t>    point number. Return the number"""</a:t>
            </a:r>
            <a:endParaRPr lang="en-US" sz="1800" b="0" dirty="0">
              <a:solidFill>
                <a:srgbClr val="FFFFFF"/>
              </a:solidFill>
              <a:effectLst/>
              <a:latin typeface="Consolas" panose="020B0609020204030204" pitchFamily="49" charset="0"/>
            </a:endParaRPr>
          </a:p>
          <a:p>
            <a:pPr marL="0" indent="0">
              <a:spcBef>
                <a:spcPts val="600"/>
              </a:spcBef>
              <a:buNone/>
            </a:pPr>
            <a:r>
              <a:rPr lang="fi-FI" sz="1800" b="0" dirty="0">
                <a:solidFill>
                  <a:srgbClr val="FFFFFF"/>
                </a:solidFill>
                <a:effectLst/>
                <a:latin typeface="Consolas" panose="020B0609020204030204" pitchFamily="49" charset="0"/>
              </a:rPr>
              <a:t>    </a:t>
            </a:r>
            <a:r>
              <a:rPr lang="fi-FI" sz="1800" b="0" dirty="0" err="1">
                <a:solidFill>
                  <a:srgbClr val="C586C0"/>
                </a:solidFill>
                <a:effectLst/>
                <a:latin typeface="Consolas" panose="020B0609020204030204" pitchFamily="49" charset="0"/>
              </a:rPr>
              <a:t>while</a:t>
            </a:r>
            <a:r>
              <a:rPr lang="fi-FI" sz="1800" b="0" dirty="0">
                <a:solidFill>
                  <a:srgbClr val="FFFFFF"/>
                </a:solidFill>
                <a:effectLst/>
                <a:latin typeface="Consolas" panose="020B0609020204030204" pitchFamily="49" charset="0"/>
              </a:rPr>
              <a:t> </a:t>
            </a:r>
            <a:r>
              <a:rPr lang="fi-FI" sz="1800" b="0" dirty="0" err="1">
                <a:solidFill>
                  <a:srgbClr val="569CD6"/>
                </a:solidFill>
                <a:effectLst/>
                <a:latin typeface="Consolas" panose="020B0609020204030204" pitchFamily="49" charset="0"/>
              </a:rPr>
              <a:t>True</a:t>
            </a:r>
            <a:r>
              <a:rPr lang="fi-FI" sz="1800" b="0" dirty="0">
                <a:solidFill>
                  <a:srgbClr val="FFFFFF"/>
                </a:solidFill>
                <a:effectLst/>
                <a:latin typeface="Consolas" panose="020B0609020204030204" pitchFamily="49" charset="0"/>
              </a:rPr>
              <a:t>:</a:t>
            </a:r>
          </a:p>
          <a:p>
            <a:pPr marL="0" indent="0">
              <a:spcBef>
                <a:spcPts val="600"/>
              </a:spcBef>
              <a:buNone/>
            </a:pPr>
            <a:r>
              <a:rPr lang="fi-FI" sz="1800" b="0" dirty="0">
                <a:solidFill>
                  <a:srgbClr val="FFFFFF"/>
                </a:solidFill>
                <a:effectLst/>
                <a:latin typeface="Consolas" panose="020B0609020204030204" pitchFamily="49" charset="0"/>
              </a:rPr>
              <a:t>        </a:t>
            </a:r>
            <a:r>
              <a:rPr lang="fi-FI" sz="1800" b="0" dirty="0" err="1">
                <a:solidFill>
                  <a:srgbClr val="C586C0"/>
                </a:solidFill>
                <a:effectLst/>
                <a:latin typeface="Consolas" panose="020B0609020204030204" pitchFamily="49" charset="0"/>
              </a:rPr>
              <a:t>try</a:t>
            </a:r>
            <a:r>
              <a:rPr lang="fi-FI" sz="1800" b="0" dirty="0">
                <a:solidFill>
                  <a:srgbClr val="FFFFFF"/>
                </a:solidFill>
                <a:effectLst/>
                <a:latin typeface="Consolas" panose="020B0609020204030204" pitchFamily="49" charset="0"/>
              </a:rPr>
              <a:t>:</a:t>
            </a:r>
          </a:p>
          <a:p>
            <a:pPr marL="0" indent="0">
              <a:spcBef>
                <a:spcPts val="600"/>
              </a:spcBef>
              <a:buNone/>
            </a:pPr>
            <a:r>
              <a:rPr lang="fi-FI" sz="1800" b="0" dirty="0">
                <a:solidFill>
                  <a:srgbClr val="FFFFFF"/>
                </a:solidFill>
                <a:effectLst/>
                <a:latin typeface="Consolas" panose="020B0609020204030204" pitchFamily="49" charset="0"/>
              </a:rPr>
              <a:t>            </a:t>
            </a:r>
            <a:r>
              <a:rPr lang="fi-FI" sz="1800" b="0" dirty="0" err="1">
                <a:solidFill>
                  <a:srgbClr val="C586C0"/>
                </a:solidFill>
                <a:effectLst/>
                <a:latin typeface="Consolas" panose="020B0609020204030204" pitchFamily="49" charset="0"/>
              </a:rPr>
              <a:t>return</a:t>
            </a:r>
            <a:r>
              <a:rPr lang="fi-FI" sz="1800" b="0" dirty="0">
                <a:solidFill>
                  <a:srgbClr val="FFFFFF"/>
                </a:solidFill>
                <a:effectLst/>
                <a:latin typeface="Consolas" panose="020B0609020204030204" pitchFamily="49" charset="0"/>
              </a:rPr>
              <a:t> </a:t>
            </a:r>
            <a:r>
              <a:rPr lang="fi-FI" sz="1800" b="0" dirty="0" err="1">
                <a:solidFill>
                  <a:srgbClr val="4EC9B0"/>
                </a:solidFill>
                <a:effectLst/>
                <a:latin typeface="Consolas" panose="020B0609020204030204" pitchFamily="49" charset="0"/>
              </a:rPr>
              <a:t>float</a:t>
            </a:r>
            <a:r>
              <a:rPr lang="fi-FI" sz="1800" b="0" dirty="0">
                <a:solidFill>
                  <a:srgbClr val="FFFFFF"/>
                </a:solidFill>
                <a:effectLst/>
                <a:latin typeface="Consolas" panose="020B0609020204030204" pitchFamily="49" charset="0"/>
              </a:rPr>
              <a:t>(</a:t>
            </a:r>
            <a:r>
              <a:rPr lang="fi-FI" sz="1800" b="0" dirty="0">
                <a:solidFill>
                  <a:srgbClr val="DCDCAA"/>
                </a:solidFill>
                <a:effectLst/>
                <a:latin typeface="Consolas" panose="020B0609020204030204" pitchFamily="49" charset="0"/>
              </a:rPr>
              <a:t>input</a:t>
            </a:r>
            <a:r>
              <a:rPr lang="fi-FI" sz="1800" b="0" dirty="0">
                <a:solidFill>
                  <a:srgbClr val="FFFFFF"/>
                </a:solidFill>
                <a:effectLst/>
                <a:latin typeface="Consolas" panose="020B0609020204030204" pitchFamily="49" charset="0"/>
              </a:rPr>
              <a:t>(</a:t>
            </a:r>
            <a:r>
              <a:rPr lang="fi-FI" sz="1800" b="0" dirty="0" err="1">
                <a:solidFill>
                  <a:srgbClr val="FFFFFF"/>
                </a:solidFill>
                <a:effectLst/>
                <a:latin typeface="Consolas" panose="020B0609020204030204" pitchFamily="49" charset="0"/>
              </a:rPr>
              <a:t>question</a:t>
            </a:r>
            <a:r>
              <a:rPr lang="fi-FI" sz="1800" b="0" dirty="0">
                <a:solidFill>
                  <a:srgbClr val="FFFFFF"/>
                </a:solidFill>
                <a:effectLst/>
                <a:latin typeface="Consolas" panose="020B0609020204030204" pitchFamily="49" charset="0"/>
              </a:rPr>
              <a:t>))</a:t>
            </a:r>
          </a:p>
          <a:p>
            <a:pPr marL="0" indent="0">
              <a:spcBef>
                <a:spcPts val="600"/>
              </a:spcBef>
              <a:buNone/>
            </a:pPr>
            <a:r>
              <a:rPr lang="fi-FI" sz="1800" b="0" dirty="0">
                <a:solidFill>
                  <a:srgbClr val="FFFFFF"/>
                </a:solidFill>
                <a:effectLst/>
                <a:latin typeface="Consolas" panose="020B0609020204030204" pitchFamily="49" charset="0"/>
              </a:rPr>
              <a:t>        </a:t>
            </a:r>
            <a:r>
              <a:rPr lang="fi-FI" sz="1800" b="0" dirty="0" err="1">
                <a:solidFill>
                  <a:srgbClr val="C586C0"/>
                </a:solidFill>
                <a:effectLst/>
                <a:latin typeface="Consolas" panose="020B0609020204030204" pitchFamily="49" charset="0"/>
              </a:rPr>
              <a:t>except</a:t>
            </a:r>
            <a:r>
              <a:rPr lang="fi-FI" sz="1800" b="0" dirty="0">
                <a:solidFill>
                  <a:srgbClr val="FFFFFF"/>
                </a:solidFill>
                <a:effectLst/>
                <a:latin typeface="Consolas" panose="020B0609020204030204" pitchFamily="49" charset="0"/>
              </a:rPr>
              <a:t> </a:t>
            </a:r>
            <a:r>
              <a:rPr lang="fi-FI" sz="1800" b="0" dirty="0" err="1">
                <a:solidFill>
                  <a:srgbClr val="4EC9B0"/>
                </a:solidFill>
                <a:effectLst/>
                <a:latin typeface="Consolas" panose="020B0609020204030204" pitchFamily="49" charset="0"/>
              </a:rPr>
              <a:t>ValueError</a:t>
            </a:r>
            <a:r>
              <a:rPr lang="fi-FI" sz="1800" b="0" dirty="0">
                <a:solidFill>
                  <a:srgbClr val="FFFFFF"/>
                </a:solidFill>
                <a:effectLst/>
                <a:latin typeface="Consolas" panose="020B0609020204030204" pitchFamily="49" charset="0"/>
              </a:rPr>
              <a:t>:</a:t>
            </a:r>
          </a:p>
          <a:p>
            <a:pPr marL="0" indent="0">
              <a:spcBef>
                <a:spcPts val="600"/>
              </a:spcBef>
              <a:buNone/>
            </a:pPr>
            <a:r>
              <a:rPr lang="en-US" sz="1800" b="0" dirty="0">
                <a:solidFill>
                  <a:srgbClr val="FFFFFF"/>
                </a:solidFill>
                <a:effectLst/>
                <a:latin typeface="Consolas" panose="020B0609020204030204" pitchFamily="49" charset="0"/>
              </a:rPr>
              <a:t>            </a:t>
            </a:r>
            <a:r>
              <a:rPr lang="en-US" sz="1800" b="0" dirty="0">
                <a:solidFill>
                  <a:srgbClr val="DCDCAA"/>
                </a:solidFill>
                <a:effectLst/>
                <a:latin typeface="Consolas" panose="020B0609020204030204" pitchFamily="49" charset="0"/>
              </a:rPr>
              <a:t>print</a:t>
            </a:r>
            <a:r>
              <a:rPr lang="en-US" sz="1800" b="0" dirty="0">
                <a:solidFill>
                  <a:srgbClr val="FFFFFF"/>
                </a:solidFill>
                <a:effectLst/>
                <a:latin typeface="Consolas" panose="020B0609020204030204" pitchFamily="49" charset="0"/>
              </a:rPr>
              <a:t>(</a:t>
            </a:r>
            <a:r>
              <a:rPr lang="en-US" sz="1800" b="0" dirty="0">
                <a:solidFill>
                  <a:srgbClr val="CE9178"/>
                </a:solidFill>
                <a:effectLst/>
                <a:latin typeface="Consolas" panose="020B0609020204030204" pitchFamily="49" charset="0"/>
              </a:rPr>
              <a:t>"Please give a valid floating point number"</a:t>
            </a:r>
            <a:r>
              <a:rPr lang="en-US" sz="1800" b="0" dirty="0">
                <a:solidFill>
                  <a:srgbClr val="FFFFFF"/>
                </a:solidFill>
                <a:effectLst/>
                <a:latin typeface="Consolas" panose="020B0609020204030204" pitchFamily="49" charset="0"/>
              </a:rPr>
              <a:t>)</a:t>
            </a:r>
            <a:br>
              <a:rPr lang="fi-FI" sz="1800" b="0" dirty="0">
                <a:solidFill>
                  <a:srgbClr val="FFFFFF"/>
                </a:solidFill>
                <a:effectLst/>
                <a:latin typeface="Consolas" panose="020B0609020204030204" pitchFamily="49" charset="0"/>
              </a:rPr>
            </a:br>
            <a:br>
              <a:rPr lang="fi-FI" sz="1800" b="0" dirty="0">
                <a:solidFill>
                  <a:srgbClr val="FFFFFF"/>
                </a:solidFill>
                <a:effectLst/>
                <a:latin typeface="Consolas" panose="020B0609020204030204" pitchFamily="49" charset="0"/>
              </a:rPr>
            </a:br>
            <a:r>
              <a:rPr lang="fi-FI" sz="1800" b="0" dirty="0" err="1">
                <a:solidFill>
                  <a:srgbClr val="569CD6"/>
                </a:solidFill>
                <a:effectLst/>
                <a:latin typeface="Consolas" panose="020B0609020204030204" pitchFamily="49" charset="0"/>
              </a:rPr>
              <a:t>def</a:t>
            </a:r>
            <a:r>
              <a:rPr lang="fi-FI" sz="1800" b="0" dirty="0">
                <a:solidFill>
                  <a:srgbClr val="FFFFFF"/>
                </a:solidFill>
                <a:effectLst/>
                <a:latin typeface="Consolas" panose="020B0609020204030204" pitchFamily="49" charset="0"/>
              </a:rPr>
              <a:t> </a:t>
            </a:r>
            <a:r>
              <a:rPr lang="fi-FI" sz="1800" b="0" dirty="0" err="1">
                <a:solidFill>
                  <a:srgbClr val="DCDCAA"/>
                </a:solidFill>
                <a:effectLst/>
                <a:latin typeface="Consolas" panose="020B0609020204030204" pitchFamily="49" charset="0"/>
              </a:rPr>
              <a:t>lbs_to_kg</a:t>
            </a:r>
            <a:r>
              <a:rPr lang="fi-FI" sz="1800" b="0" dirty="0">
                <a:solidFill>
                  <a:srgbClr val="FFFFFF"/>
                </a:solidFill>
                <a:effectLst/>
                <a:latin typeface="Consolas" panose="020B0609020204030204" pitchFamily="49" charset="0"/>
              </a:rPr>
              <a:t>(</a:t>
            </a:r>
            <a:r>
              <a:rPr lang="fi-FI" sz="1800" b="0" dirty="0" err="1">
                <a:solidFill>
                  <a:srgbClr val="9CDCFE"/>
                </a:solidFill>
                <a:effectLst/>
                <a:latin typeface="Consolas" panose="020B0609020204030204" pitchFamily="49" charset="0"/>
              </a:rPr>
              <a:t>lbs</a:t>
            </a:r>
            <a:r>
              <a:rPr lang="fi-FI" sz="1800" b="0" dirty="0">
                <a:solidFill>
                  <a:srgbClr val="FFFFFF"/>
                </a:solidFill>
                <a:effectLst/>
                <a:latin typeface="Consolas" panose="020B0609020204030204" pitchFamily="49" charset="0"/>
              </a:rPr>
              <a:t>):</a:t>
            </a:r>
          </a:p>
          <a:p>
            <a:pPr marL="0" indent="0">
              <a:spcBef>
                <a:spcPts val="600"/>
              </a:spcBef>
              <a:buNone/>
            </a:pPr>
            <a:r>
              <a:rPr lang="en-US" sz="1800" b="0" dirty="0">
                <a:solidFill>
                  <a:srgbClr val="FFFFFF"/>
                </a:solidFill>
                <a:effectLst/>
                <a:latin typeface="Consolas" panose="020B0609020204030204" pitchFamily="49" charset="0"/>
              </a:rPr>
              <a:t>    </a:t>
            </a:r>
            <a:r>
              <a:rPr lang="en-US" sz="1800" b="0" dirty="0">
                <a:solidFill>
                  <a:srgbClr val="CE9178"/>
                </a:solidFill>
                <a:effectLst/>
                <a:latin typeface="Consolas" panose="020B0609020204030204" pitchFamily="49" charset="0"/>
              </a:rPr>
              <a:t>"""Convert pounds (</a:t>
            </a:r>
            <a:r>
              <a:rPr lang="en-US" sz="1800" b="0" dirty="0" err="1">
                <a:solidFill>
                  <a:srgbClr val="CE9178"/>
                </a:solidFill>
                <a:effectLst/>
                <a:latin typeface="Consolas" panose="020B0609020204030204" pitchFamily="49" charset="0"/>
              </a:rPr>
              <a:t>lbs</a:t>
            </a:r>
            <a:r>
              <a:rPr lang="en-US" sz="1800" b="0" dirty="0">
                <a:solidFill>
                  <a:srgbClr val="CE9178"/>
                </a:solidFill>
                <a:effectLst/>
                <a:latin typeface="Consolas" panose="020B0609020204030204" pitchFamily="49" charset="0"/>
              </a:rPr>
              <a:t>) to kilograms (kg)"""</a:t>
            </a:r>
            <a:endParaRPr lang="en-US" sz="1800" b="0" dirty="0">
              <a:solidFill>
                <a:srgbClr val="FFFFFF"/>
              </a:solidFill>
              <a:effectLst/>
              <a:latin typeface="Consolas" panose="020B0609020204030204" pitchFamily="49" charset="0"/>
            </a:endParaRPr>
          </a:p>
          <a:p>
            <a:pPr marL="0" indent="0">
              <a:spcBef>
                <a:spcPts val="600"/>
              </a:spcBef>
              <a:buNone/>
            </a:pPr>
            <a:r>
              <a:rPr lang="fi-FI" sz="1800" b="0" dirty="0">
                <a:solidFill>
                  <a:srgbClr val="FFFFFF"/>
                </a:solidFill>
                <a:effectLst/>
                <a:latin typeface="Consolas" panose="020B0609020204030204" pitchFamily="49" charset="0"/>
              </a:rPr>
              <a:t>    </a:t>
            </a:r>
            <a:r>
              <a:rPr lang="fi-FI" sz="1800" b="0" dirty="0" err="1">
                <a:solidFill>
                  <a:srgbClr val="C586C0"/>
                </a:solidFill>
                <a:effectLst/>
                <a:latin typeface="Consolas" panose="020B0609020204030204" pitchFamily="49" charset="0"/>
              </a:rPr>
              <a:t>return</a:t>
            </a:r>
            <a:r>
              <a:rPr lang="fi-FI" sz="1800" b="0" dirty="0">
                <a:solidFill>
                  <a:srgbClr val="FFFFFF"/>
                </a:solidFill>
                <a:effectLst/>
                <a:latin typeface="Consolas" panose="020B0609020204030204" pitchFamily="49" charset="0"/>
              </a:rPr>
              <a:t> </a:t>
            </a:r>
            <a:r>
              <a:rPr lang="fi-FI" sz="1800" b="0" dirty="0" err="1">
                <a:solidFill>
                  <a:srgbClr val="FFFFFF"/>
                </a:solidFill>
                <a:effectLst/>
                <a:latin typeface="Consolas" panose="020B0609020204030204" pitchFamily="49" charset="0"/>
              </a:rPr>
              <a:t>lbs</a:t>
            </a:r>
            <a:r>
              <a:rPr lang="fi-FI" sz="1800" b="0" dirty="0">
                <a:solidFill>
                  <a:srgbClr val="FFFFFF"/>
                </a:solidFill>
                <a:effectLst/>
                <a:latin typeface="Consolas" panose="020B0609020204030204" pitchFamily="49" charset="0"/>
              </a:rPr>
              <a:t> </a:t>
            </a:r>
            <a:r>
              <a:rPr lang="fi-FI" sz="1800" b="0" dirty="0">
                <a:solidFill>
                  <a:srgbClr val="D4D4D4"/>
                </a:solidFill>
                <a:effectLst/>
                <a:latin typeface="Consolas" panose="020B0609020204030204" pitchFamily="49" charset="0"/>
              </a:rPr>
              <a:t>*</a:t>
            </a:r>
            <a:r>
              <a:rPr lang="fi-FI" sz="1800" b="0" dirty="0">
                <a:solidFill>
                  <a:srgbClr val="FFFFFF"/>
                </a:solidFill>
                <a:effectLst/>
                <a:latin typeface="Consolas" panose="020B0609020204030204" pitchFamily="49" charset="0"/>
              </a:rPr>
              <a:t> </a:t>
            </a:r>
            <a:r>
              <a:rPr lang="fi-FI" sz="1800" b="0" dirty="0">
                <a:solidFill>
                  <a:srgbClr val="B5CEA8"/>
                </a:solidFill>
                <a:effectLst/>
                <a:latin typeface="Consolas" panose="020B0609020204030204" pitchFamily="49" charset="0"/>
              </a:rPr>
              <a:t>0.45359237</a:t>
            </a:r>
            <a:br>
              <a:rPr lang="fi-FI"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0" dirty="0" err="1">
                <a:solidFill>
                  <a:srgbClr val="FFFFFF"/>
                </a:solidFill>
                <a:effectLst/>
                <a:latin typeface="Consolas" panose="020B0609020204030204" pitchFamily="49" charset="0"/>
              </a:rPr>
              <a:t>lbs</a:t>
            </a:r>
            <a:r>
              <a:rPr lang="en-US" sz="1800" b="0" dirty="0">
                <a:solidFill>
                  <a:srgbClr val="FFFFFF"/>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ask_float</a:t>
            </a:r>
            <a:r>
              <a:rPr lang="en-US" sz="1800" b="0" dirty="0">
                <a:solidFill>
                  <a:srgbClr val="FFFFFF"/>
                </a:solidFill>
                <a:effectLst/>
                <a:latin typeface="Consolas" panose="020B0609020204030204" pitchFamily="49" charset="0"/>
              </a:rPr>
              <a:t>(</a:t>
            </a:r>
            <a:r>
              <a:rPr lang="en-US" sz="1800" b="0" dirty="0">
                <a:solidFill>
                  <a:srgbClr val="CE9178"/>
                </a:solidFill>
                <a:effectLst/>
                <a:latin typeface="Consolas" panose="020B0609020204030204" pitchFamily="49" charset="0"/>
              </a:rPr>
              <a:t>"How many pounds (</a:t>
            </a:r>
            <a:r>
              <a:rPr lang="en-US" sz="1800" b="0" dirty="0" err="1">
                <a:solidFill>
                  <a:srgbClr val="CE9178"/>
                </a:solidFill>
                <a:effectLst/>
                <a:latin typeface="Consolas" panose="020B0609020204030204" pitchFamily="49" charset="0"/>
              </a:rPr>
              <a:t>lbs</a:t>
            </a:r>
            <a:r>
              <a:rPr lang="en-US" sz="1800" b="0" dirty="0">
                <a:solidFill>
                  <a:srgbClr val="CE9178"/>
                </a:solidFill>
                <a:effectLst/>
                <a:latin typeface="Consolas" panose="020B0609020204030204" pitchFamily="49" charset="0"/>
              </a:rPr>
              <a:t>) ?"</a:t>
            </a:r>
            <a:r>
              <a:rPr lang="en-US" sz="1800" b="0" dirty="0">
                <a:solidFill>
                  <a:srgbClr val="FFFFFF"/>
                </a:solidFill>
                <a:effectLst/>
                <a:latin typeface="Consolas" panose="020B0609020204030204" pitchFamily="49" charset="0"/>
              </a:rPr>
              <a:t>)</a:t>
            </a:r>
          </a:p>
          <a:p>
            <a:pPr marL="0" indent="0">
              <a:spcBef>
                <a:spcPts val="600"/>
              </a:spcBef>
              <a:buNone/>
            </a:pPr>
            <a:r>
              <a:rPr lang="fi-FI" sz="1800" b="0" dirty="0" err="1">
                <a:solidFill>
                  <a:srgbClr val="DCDCAA"/>
                </a:solidFill>
                <a:effectLst/>
                <a:latin typeface="Consolas" panose="020B0609020204030204" pitchFamily="49" charset="0"/>
              </a:rPr>
              <a:t>print</a:t>
            </a:r>
            <a:r>
              <a:rPr lang="fi-FI" sz="1800" b="0" dirty="0">
                <a:solidFill>
                  <a:srgbClr val="FFFFFF"/>
                </a:solidFill>
                <a:effectLst/>
                <a:latin typeface="Consolas" panose="020B0609020204030204" pitchFamily="49" charset="0"/>
              </a:rPr>
              <a:t>(</a:t>
            </a:r>
            <a:r>
              <a:rPr lang="fi-FI" sz="1800" b="0" dirty="0">
                <a:solidFill>
                  <a:srgbClr val="569CD6"/>
                </a:solidFill>
                <a:effectLst/>
                <a:latin typeface="Consolas" panose="020B0609020204030204" pitchFamily="49" charset="0"/>
              </a:rPr>
              <a:t>f</a:t>
            </a:r>
            <a:r>
              <a:rPr lang="fi-FI" sz="1800" b="0" dirty="0">
                <a:solidFill>
                  <a:srgbClr val="CE9178"/>
                </a:solidFill>
                <a:effectLst/>
                <a:latin typeface="Consolas" panose="020B0609020204030204" pitchFamily="49" charset="0"/>
              </a:rPr>
              <a:t>"</a:t>
            </a:r>
            <a:r>
              <a:rPr lang="fi-FI" sz="1800" b="0" dirty="0">
                <a:solidFill>
                  <a:srgbClr val="569CD6"/>
                </a:solidFill>
                <a:effectLst/>
                <a:latin typeface="Consolas" panose="020B0609020204030204" pitchFamily="49" charset="0"/>
              </a:rPr>
              <a:t>{</a:t>
            </a:r>
            <a:r>
              <a:rPr lang="fi-FI" sz="1800" b="0" dirty="0" err="1">
                <a:solidFill>
                  <a:srgbClr val="FFFFFF"/>
                </a:solidFill>
                <a:effectLst/>
                <a:latin typeface="Consolas" panose="020B0609020204030204" pitchFamily="49" charset="0"/>
              </a:rPr>
              <a:t>lbs_to_kg</a:t>
            </a:r>
            <a:r>
              <a:rPr lang="fi-FI" sz="1800" b="0" dirty="0">
                <a:solidFill>
                  <a:srgbClr val="FFFFFF"/>
                </a:solidFill>
                <a:effectLst/>
                <a:latin typeface="Consolas" panose="020B0609020204030204" pitchFamily="49" charset="0"/>
              </a:rPr>
              <a:t>(</a:t>
            </a:r>
            <a:r>
              <a:rPr lang="fi-FI" sz="1800" b="0" dirty="0" err="1">
                <a:solidFill>
                  <a:srgbClr val="FFFFFF"/>
                </a:solidFill>
                <a:effectLst/>
                <a:latin typeface="Consolas" panose="020B0609020204030204" pitchFamily="49" charset="0"/>
              </a:rPr>
              <a:t>lbs</a:t>
            </a:r>
            <a:r>
              <a:rPr lang="fi-FI" sz="1800" b="0" dirty="0">
                <a:solidFill>
                  <a:srgbClr val="FFFFFF"/>
                </a:solidFill>
                <a:effectLst/>
                <a:latin typeface="Consolas" panose="020B0609020204030204" pitchFamily="49" charset="0"/>
              </a:rPr>
              <a:t>)</a:t>
            </a:r>
            <a:r>
              <a:rPr lang="fi-FI" sz="1800" b="0" dirty="0">
                <a:solidFill>
                  <a:srgbClr val="569CD6"/>
                </a:solidFill>
                <a:effectLst/>
                <a:latin typeface="Consolas" panose="020B0609020204030204" pitchFamily="49" charset="0"/>
              </a:rPr>
              <a:t>:.2f}</a:t>
            </a:r>
            <a:r>
              <a:rPr lang="fi-FI" sz="1800" b="0" dirty="0">
                <a:solidFill>
                  <a:srgbClr val="CE9178"/>
                </a:solidFill>
                <a:effectLst/>
                <a:latin typeface="Consolas" panose="020B0609020204030204" pitchFamily="49" charset="0"/>
              </a:rPr>
              <a:t> kg"</a:t>
            </a:r>
            <a:r>
              <a:rPr lang="fi-FI" sz="1800"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3772520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FCA8FAF-00A6-44D2-9FD7-31972F6B94E4}"/>
              </a:ext>
            </a:extLst>
          </p:cNvPr>
          <p:cNvSpPr>
            <a:spLocks noGrp="1"/>
          </p:cNvSpPr>
          <p:nvPr>
            <p:ph type="title"/>
          </p:nvPr>
        </p:nvSpPr>
        <p:spPr/>
        <p:txBody>
          <a:bodyPr/>
          <a:lstStyle/>
          <a:p>
            <a:r>
              <a:rPr lang="en-US" dirty="0"/>
              <a:t>Object Oriented Programming (OOP)</a:t>
            </a:r>
          </a:p>
        </p:txBody>
      </p:sp>
      <p:sp>
        <p:nvSpPr>
          <p:cNvPr id="8" name="Sisällön paikkamerkki 7">
            <a:extLst>
              <a:ext uri="{FF2B5EF4-FFF2-40B4-BE49-F238E27FC236}">
                <a16:creationId xmlns:a16="http://schemas.microsoft.com/office/drawing/2014/main" id="{CDCDEDBF-EF90-40BF-8053-B45409CC4448}"/>
              </a:ext>
            </a:extLst>
          </p:cNvPr>
          <p:cNvSpPr>
            <a:spLocks noGrp="1"/>
          </p:cNvSpPr>
          <p:nvPr>
            <p:ph sz="half" idx="1"/>
          </p:nvPr>
        </p:nvSpPr>
        <p:spPr>
          <a:xfrm>
            <a:off x="981844" y="1706880"/>
            <a:ext cx="5472607" cy="4962480"/>
          </a:xfrm>
        </p:spPr>
        <p:txBody>
          <a:bodyPr>
            <a:normAutofit fontScale="62500" lnSpcReduction="20000"/>
          </a:bodyPr>
          <a:lstStyle/>
          <a:p>
            <a:r>
              <a:rPr lang="en-US" b="1" dirty="0"/>
              <a:t>Child class / Child Class </a:t>
            </a:r>
            <a:r>
              <a:rPr lang="en-US" dirty="0"/>
              <a:t>= inherited from a parent class</a:t>
            </a:r>
          </a:p>
          <a:p>
            <a:r>
              <a:rPr lang="en-US" b="1" dirty="0"/>
              <a:t>Class</a:t>
            </a:r>
            <a:r>
              <a:rPr lang="en-US" dirty="0"/>
              <a:t> = definition of data and methods, a blueprint for class of objects</a:t>
            </a:r>
          </a:p>
          <a:p>
            <a:r>
              <a:rPr lang="en-US" b="1" dirty="0"/>
              <a:t>Encapsulation </a:t>
            </a:r>
            <a:r>
              <a:rPr lang="en-US" dirty="0"/>
              <a:t>= hiding data</a:t>
            </a:r>
          </a:p>
          <a:p>
            <a:r>
              <a:rPr lang="en-US" b="1" dirty="0"/>
              <a:t>Inheritance</a:t>
            </a:r>
            <a:r>
              <a:rPr lang="en-US" dirty="0"/>
              <a:t> = copying features from parent and its parents</a:t>
            </a:r>
          </a:p>
          <a:p>
            <a:r>
              <a:rPr lang="en-US" b="1" dirty="0"/>
              <a:t>Member or attribute of object </a:t>
            </a:r>
            <a:r>
              <a:rPr lang="en-US" dirty="0"/>
              <a:t>= feature of an object</a:t>
            </a:r>
          </a:p>
          <a:p>
            <a:r>
              <a:rPr lang="en-US" b="1" dirty="0"/>
              <a:t>Method</a:t>
            </a:r>
            <a:r>
              <a:rPr lang="en-US" dirty="0"/>
              <a:t> = function attached to an instance of a class</a:t>
            </a:r>
          </a:p>
          <a:p>
            <a:r>
              <a:rPr lang="en-US" b="1" dirty="0"/>
              <a:t>Method Overloading</a:t>
            </a:r>
            <a:r>
              <a:rPr lang="en-US" dirty="0"/>
              <a:t> = Method with same name, but with different number or type of parameters</a:t>
            </a:r>
          </a:p>
          <a:p>
            <a:r>
              <a:rPr lang="en-US" b="1" dirty="0"/>
              <a:t>Object</a:t>
            </a:r>
            <a:r>
              <a:rPr lang="en-US" dirty="0"/>
              <a:t> = Instance of a Class, a collection of data</a:t>
            </a:r>
          </a:p>
          <a:p>
            <a:r>
              <a:rPr lang="en-US" b="1" dirty="0"/>
              <a:t>Operator Overloading </a:t>
            </a:r>
            <a:r>
              <a:rPr lang="en-US" dirty="0"/>
              <a:t>= Change meaning of an operator</a:t>
            </a:r>
          </a:p>
        </p:txBody>
      </p:sp>
      <p:graphicFrame>
        <p:nvGraphicFramePr>
          <p:cNvPr id="10" name="Sisällön paikkamerkki 9">
            <a:extLst>
              <a:ext uri="{FF2B5EF4-FFF2-40B4-BE49-F238E27FC236}">
                <a16:creationId xmlns:a16="http://schemas.microsoft.com/office/drawing/2014/main" id="{A6DA9B99-B864-46B9-B8B7-3EBFD040BE67}"/>
              </a:ext>
            </a:extLst>
          </p:cNvPr>
          <p:cNvGraphicFramePr>
            <a:graphicFrameLocks noGrp="1"/>
          </p:cNvGraphicFramePr>
          <p:nvPr>
            <p:ph sz="half" idx="2"/>
            <p:extLst>
              <p:ext uri="{D42A27DB-BD31-4B8C-83A1-F6EECF244321}">
                <p14:modId xmlns:p14="http://schemas.microsoft.com/office/powerpoint/2010/main" val="2359113929"/>
              </p:ext>
            </p:extLst>
          </p:nvPr>
        </p:nvGraphicFramePr>
        <p:xfrm>
          <a:off x="6598468" y="1706563"/>
          <a:ext cx="5078412" cy="4465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kstiruutu 10">
            <a:extLst>
              <a:ext uri="{FF2B5EF4-FFF2-40B4-BE49-F238E27FC236}">
                <a16:creationId xmlns:a16="http://schemas.microsoft.com/office/drawing/2014/main" id="{D2D807EC-FE9D-4FB9-B50E-0733F6B0FC54}"/>
              </a:ext>
            </a:extLst>
          </p:cNvPr>
          <p:cNvSpPr txBox="1"/>
          <p:nvPr/>
        </p:nvSpPr>
        <p:spPr>
          <a:xfrm>
            <a:off x="6814492" y="1706563"/>
            <a:ext cx="1574405" cy="954107"/>
          </a:xfrm>
          <a:prstGeom prst="rect">
            <a:avLst/>
          </a:prstGeom>
          <a:noFill/>
        </p:spPr>
        <p:txBody>
          <a:bodyPr wrap="none" rtlCol="0">
            <a:spAutoFit/>
          </a:bodyPr>
          <a:lstStyle/>
          <a:p>
            <a:r>
              <a:rPr lang="en-US" sz="2800" dirty="0"/>
              <a:t>Class</a:t>
            </a:r>
            <a:br>
              <a:rPr lang="en-US" sz="2800" dirty="0"/>
            </a:br>
            <a:r>
              <a:rPr lang="en-US" sz="2800" dirty="0"/>
              <a:t>Hierarchy</a:t>
            </a:r>
          </a:p>
        </p:txBody>
      </p:sp>
    </p:spTree>
    <p:extLst>
      <p:ext uri="{BB962C8B-B14F-4D97-AF65-F5344CB8AC3E}">
        <p14:creationId xmlns:p14="http://schemas.microsoft.com/office/powerpoint/2010/main" val="27857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0DA97-FC15-4279-988D-907235037D9B}"/>
              </a:ext>
            </a:extLst>
          </p:cNvPr>
          <p:cNvSpPr>
            <a:spLocks noGrp="1"/>
          </p:cNvSpPr>
          <p:nvPr>
            <p:ph type="title"/>
          </p:nvPr>
        </p:nvSpPr>
        <p:spPr/>
        <p:txBody>
          <a:bodyPr/>
          <a:lstStyle/>
          <a:p>
            <a:r>
              <a:rPr lang="en-US" dirty="0"/>
              <a:t>Object Oriented Programming in Python</a:t>
            </a:r>
          </a:p>
        </p:txBody>
      </p:sp>
      <p:sp>
        <p:nvSpPr>
          <p:cNvPr id="3" name="Content Placeholder 2">
            <a:extLst>
              <a:ext uri="{FF2B5EF4-FFF2-40B4-BE49-F238E27FC236}">
                <a16:creationId xmlns:a16="http://schemas.microsoft.com/office/drawing/2014/main" id="{3FAAFE1C-2AD3-485B-AB5B-25437B9AEC36}"/>
              </a:ext>
            </a:extLst>
          </p:cNvPr>
          <p:cNvSpPr>
            <a:spLocks noGrp="1"/>
          </p:cNvSpPr>
          <p:nvPr>
            <p:ph idx="1"/>
          </p:nvPr>
        </p:nvSpPr>
        <p:spPr>
          <a:xfrm>
            <a:off x="1218883" y="1701797"/>
            <a:ext cx="10360501" cy="4881566"/>
          </a:xfrm>
        </p:spPr>
        <p:txBody>
          <a:bodyPr>
            <a:normAutofit fontScale="77500" lnSpcReduction="20000"/>
          </a:bodyPr>
          <a:lstStyle/>
          <a:p>
            <a:r>
              <a:rPr lang="en-US" dirty="0"/>
              <a:t>Python uses class-based object-oriented programming, which supports multiple inheritance and operator overloading.</a:t>
            </a:r>
          </a:p>
          <a:p>
            <a:r>
              <a:rPr lang="en-US" dirty="0"/>
              <a:t>Python functions are first-class objects, meaning they can be stored in data structures.</a:t>
            </a:r>
          </a:p>
          <a:p>
            <a:r>
              <a:rPr lang="en-US" dirty="0">
                <a:latin typeface="Courier New" panose="02070309020205020404" pitchFamily="49" charset="0"/>
                <a:cs typeface="Courier New" panose="02070309020205020404" pitchFamily="49" charset="0"/>
              </a:rPr>
              <a:t>class SubClassName(ParentClass1, ParentClass2…):</a:t>
            </a:r>
          </a:p>
          <a:p>
            <a:r>
              <a:rPr lang="en-US" dirty="0"/>
              <a:t>Everything is by default public:</a:t>
            </a:r>
            <a:br>
              <a:rPr lang="en-US" dirty="0"/>
            </a:br>
            <a:r>
              <a:rPr lang="en-US" dirty="0"/>
              <a:t>_ in front of name = protected</a:t>
            </a:r>
            <a:br>
              <a:rPr lang="en-US" dirty="0"/>
            </a:br>
            <a:r>
              <a:rPr lang="en-US" dirty="0"/>
              <a:t>__ in front of name = private</a:t>
            </a:r>
          </a:p>
          <a:p>
            <a:r>
              <a:rPr lang="en-US" dirty="0"/>
              <a:t>Special methods use __specialname__:</a:t>
            </a:r>
          </a:p>
          <a:p>
            <a:pPr lvl="1"/>
            <a:r>
              <a:rPr lang="en-US" dirty="0">
                <a:latin typeface="Courier New" panose="02070309020205020404" pitchFamily="49" charset="0"/>
                <a:cs typeface="Courier New" panose="02070309020205020404" pitchFamily="49" charset="0"/>
              </a:rPr>
              <a:t>__init__(self, parameters) </a:t>
            </a:r>
            <a:r>
              <a:rPr lang="en-US" dirty="0"/>
              <a:t>constructor</a:t>
            </a:r>
          </a:p>
          <a:p>
            <a:pPr lvl="1"/>
            <a:r>
              <a:rPr lang="en-US" dirty="0">
                <a:latin typeface="Courier New" panose="02070309020205020404" pitchFamily="49" charset="0"/>
                <a:cs typeface="Courier New" panose="02070309020205020404" pitchFamily="49" charset="0"/>
              </a:rPr>
              <a:t>__str__(self) </a:t>
            </a:r>
            <a:r>
              <a:rPr lang="en-US" dirty="0"/>
              <a:t>return string representation of the object</a:t>
            </a:r>
          </a:p>
          <a:p>
            <a:r>
              <a:rPr lang="en-US" dirty="0"/>
              <a:t>Creation of new objects doesn't use any new keyword:</a:t>
            </a:r>
          </a:p>
          <a:p>
            <a:pPr marL="377886" lvl="1" indent="0">
              <a:buNone/>
            </a:pPr>
            <a:r>
              <a:rPr lang="en-US" dirty="0">
                <a:latin typeface="Courier New" panose="02070309020205020404" pitchFamily="49" charset="0"/>
                <a:cs typeface="Courier New" panose="02070309020205020404" pitchFamily="49" charset="0"/>
              </a:rPr>
              <a:t>new_object = ClassName(parameters)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changing and reading public attributes is trivial</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new_object.attribute = new_value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print(new_object.attribute)</a:t>
            </a:r>
            <a:endParaRPr lang="en-US" dirty="0"/>
          </a:p>
          <a:p>
            <a:pPr lvl="1"/>
            <a:endParaRPr lang="en-US" dirty="0"/>
          </a:p>
          <a:p>
            <a:endParaRPr lang="en-US" dirty="0"/>
          </a:p>
        </p:txBody>
      </p:sp>
    </p:spTree>
    <p:extLst>
      <p:ext uri="{BB962C8B-B14F-4D97-AF65-F5344CB8AC3E}">
        <p14:creationId xmlns:p14="http://schemas.microsoft.com/office/powerpoint/2010/main" val="2451393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C4305-835F-42CB-8413-6F72FAD3B503}"/>
              </a:ext>
            </a:extLst>
          </p:cNvPr>
          <p:cNvSpPr>
            <a:spLocks noGrp="1"/>
          </p:cNvSpPr>
          <p:nvPr>
            <p:ph type="title"/>
          </p:nvPr>
        </p:nvSpPr>
        <p:spPr/>
        <p:txBody>
          <a:bodyPr/>
          <a:lstStyle/>
          <a:p>
            <a:r>
              <a:rPr lang="en-US" dirty="0"/>
              <a:t>Class Definition and Inheritance</a:t>
            </a:r>
          </a:p>
        </p:txBody>
      </p:sp>
      <p:sp>
        <p:nvSpPr>
          <p:cNvPr id="3" name="Content Placeholder 2">
            <a:extLst>
              <a:ext uri="{FF2B5EF4-FFF2-40B4-BE49-F238E27FC236}">
                <a16:creationId xmlns:a16="http://schemas.microsoft.com/office/drawing/2014/main" id="{CBF6A1F9-FE8B-44C9-ADB3-577CBF3E9F9E}"/>
              </a:ext>
            </a:extLst>
          </p:cNvPr>
          <p:cNvSpPr>
            <a:spLocks noGrp="1"/>
          </p:cNvSpPr>
          <p:nvPr>
            <p:ph idx="1"/>
          </p:nvPr>
        </p:nvSpPr>
        <p:spPr>
          <a:xfrm>
            <a:off x="1218883" y="1701796"/>
            <a:ext cx="10360501" cy="4967563"/>
          </a:xfrm>
        </p:spPr>
        <p:txBody>
          <a:bodyPr>
            <a:normAutofit fontScale="62500" lnSpcReduction="20000"/>
          </a:bodyPr>
          <a:lstStyle/>
          <a:p>
            <a:pPr marL="0" indent="0">
              <a:spcBef>
                <a:spcPts val="600"/>
              </a:spcBef>
              <a:buNone/>
            </a:pP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Person</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__init__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age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.name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name</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.age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age</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__str__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"Person</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.name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.age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Student</a:t>
            </a:r>
            <a:r>
              <a:rPr lang="en-US" b="0" dirty="0">
                <a:solidFill>
                  <a:srgbClr val="FFFFFF"/>
                </a:solidFill>
                <a:effectLst/>
                <a:latin typeface="Consolas" panose="020B0609020204030204" pitchFamily="49" charset="0"/>
              </a:rPr>
              <a:t>(</a:t>
            </a:r>
            <a:r>
              <a:rPr lang="en-US" b="0" dirty="0">
                <a:solidFill>
                  <a:srgbClr val="4EC9B0"/>
                </a:solidFill>
                <a:effectLst/>
                <a:latin typeface="Consolas" panose="020B0609020204030204" pitchFamily="49" charset="0"/>
              </a:rPr>
              <a:t>Person</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__init__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age</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id_no</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in Python2 super(Student, self).__init__(</a:t>
            </a:r>
            <a:r>
              <a:rPr lang="en-US" b="0" dirty="0" err="1">
                <a:solidFill>
                  <a:srgbClr val="7CA668"/>
                </a:solidFill>
                <a:effectLst/>
                <a:latin typeface="Consolas" panose="020B0609020204030204" pitchFamily="49" charset="0"/>
              </a:rPr>
              <a:t>name,age</a:t>
            </a:r>
            <a:r>
              <a:rPr lang="en-US" b="0" dirty="0">
                <a:solidFill>
                  <a:srgbClr val="7CA668"/>
                </a:solidFill>
                <a:effectLst/>
                <a:latin typeface="Consolas" panose="020B0609020204030204" pitchFamily="49" charset="0"/>
              </a:rPr>
              <a:t>)</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super</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__init__</a:t>
            </a:r>
            <a:r>
              <a:rPr lang="en-US" b="0" dirty="0">
                <a:solidFill>
                  <a:srgbClr val="FFFFFF"/>
                </a:solidFill>
                <a:effectLst/>
                <a:latin typeface="Consolas" panose="020B0609020204030204" pitchFamily="49" charset="0"/>
              </a:rPr>
              <a:t>(name, age)</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.id_no</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id_no</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__str__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"Student</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.name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.age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.id_no</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jack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Student(</a:t>
            </a:r>
            <a:r>
              <a:rPr lang="en-US" b="0" dirty="0">
                <a:solidFill>
                  <a:srgbClr val="CE9178"/>
                </a:solidFill>
                <a:effectLst/>
                <a:latin typeface="Consolas" panose="020B0609020204030204" pitchFamily="49" charset="0"/>
              </a:rPr>
              <a:t>"Jack Student"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25</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"10100"</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jack.age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(jack)  </a:t>
            </a:r>
            <a:r>
              <a:rPr lang="en-US" b="0" dirty="0">
                <a:solidFill>
                  <a:srgbClr val="7CA668"/>
                </a:solidFill>
                <a:effectLst/>
                <a:latin typeface="Consolas" panose="020B0609020204030204" pitchFamily="49" charset="0"/>
              </a:rPr>
              <a:t># Student('Jack Student', 26, '10100')</a:t>
            </a:r>
            <a:br>
              <a:rPr lang="en-US" b="0" dirty="0">
                <a:solidFill>
                  <a:srgbClr val="FFFFFF"/>
                </a:solidFill>
                <a:effectLst/>
                <a:latin typeface="Consolas" panose="020B0609020204030204" pitchFamily="49" charset="0"/>
              </a:rPr>
            </a:b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38120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70E83-C2D1-4F88-9832-9DB560711760}"/>
              </a:ext>
            </a:extLst>
          </p:cNvPr>
          <p:cNvSpPr>
            <a:spLocks noGrp="1"/>
          </p:cNvSpPr>
          <p:nvPr>
            <p:ph type="title"/>
          </p:nvPr>
        </p:nvSpPr>
        <p:spPr/>
        <p:txBody>
          <a:bodyPr/>
          <a:lstStyle/>
          <a:p>
            <a:r>
              <a:rPr lang="en-US" dirty="0"/>
              <a:t>Empty Classes Can be Useful</a:t>
            </a:r>
          </a:p>
        </p:txBody>
      </p:sp>
      <p:sp>
        <p:nvSpPr>
          <p:cNvPr id="3" name="Content Placeholder 2">
            <a:extLst>
              <a:ext uri="{FF2B5EF4-FFF2-40B4-BE49-F238E27FC236}">
                <a16:creationId xmlns:a16="http://schemas.microsoft.com/office/drawing/2014/main" id="{01626924-36C3-4FCF-866F-A9EEED41066B}"/>
              </a:ext>
            </a:extLst>
          </p:cNvPr>
          <p:cNvSpPr>
            <a:spLocks noGrp="1"/>
          </p:cNvSpPr>
          <p:nvPr>
            <p:ph idx="1"/>
          </p:nvPr>
        </p:nvSpPr>
        <p:spPr>
          <a:xfrm>
            <a:off x="1218883" y="1701796"/>
            <a:ext cx="10360501" cy="5039572"/>
          </a:xfrm>
        </p:spPr>
        <p:txBody>
          <a:bodyPr>
            <a:normAutofit fontScale="55000" lnSpcReduction="20000"/>
          </a:bodyPr>
          <a:lstStyle/>
          <a:p>
            <a:pPr marL="0" indent="0">
              <a:spcBef>
                <a:spcPts val="600"/>
              </a:spcBef>
              <a:buNone/>
            </a:pP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Person</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pass</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empty class acts as a dictionary like container</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jack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Person() </a:t>
            </a:r>
            <a:r>
              <a:rPr lang="en-US" b="0" dirty="0">
                <a:solidFill>
                  <a:srgbClr val="7CA668"/>
                </a:solidFill>
                <a:effectLst/>
                <a:latin typeface="Consolas" panose="020B0609020204030204" pitchFamily="49" charset="0"/>
              </a:rPr>
              <a:t># create new instance of class Person, notice now new keyword</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jack.name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"Jack Smith"</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jack.age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24</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bob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Person()</a:t>
            </a:r>
          </a:p>
          <a:p>
            <a:pPr marL="0" indent="0">
              <a:spcBef>
                <a:spcPts val="600"/>
              </a:spcBef>
              <a:buNone/>
            </a:pPr>
            <a:r>
              <a:rPr lang="en-US" b="0" dirty="0">
                <a:solidFill>
                  <a:srgbClr val="FFFFFF"/>
                </a:solidFill>
                <a:effectLst/>
                <a:latin typeface="Consolas" panose="020B0609020204030204" pitchFamily="49" charset="0"/>
              </a:rPr>
              <a:t>bob.name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"Bob Paxton"</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bob.age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66</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jill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Person()</a:t>
            </a:r>
          </a:p>
          <a:p>
            <a:pPr marL="0" indent="0">
              <a:spcBef>
                <a:spcPts val="600"/>
              </a:spcBef>
              <a:buNone/>
            </a:pPr>
            <a:r>
              <a:rPr lang="en-US" b="0" dirty="0">
                <a:solidFill>
                  <a:srgbClr val="FFFFFF"/>
                </a:solidFill>
                <a:effectLst/>
                <a:latin typeface="Consolas" panose="020B0609020204030204" pitchFamily="49" charset="0"/>
              </a:rPr>
              <a:t>jill.name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"Jill Taylor"</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jill.age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21</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jill.address</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"Example Street 12"</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persons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[jack, bob, jill]</a:t>
            </a:r>
          </a:p>
          <a:p>
            <a:pPr marL="0" indent="0">
              <a:spcBef>
                <a:spcPts val="600"/>
              </a:spcBef>
              <a:buNone/>
            </a:pP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person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persons:</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person.age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(person.name, </a:t>
            </a:r>
            <a:r>
              <a:rPr lang="en-US" b="0" dirty="0" err="1">
                <a:solidFill>
                  <a:srgbClr val="FFFFFF"/>
                </a:solidFill>
                <a:effectLst/>
                <a:latin typeface="Consolas" panose="020B0609020204030204" pitchFamily="49" charset="0"/>
              </a:rPr>
              <a:t>person.age</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end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hasattr</a:t>
            </a:r>
            <a:r>
              <a:rPr lang="en-US" b="0" dirty="0">
                <a:solidFill>
                  <a:srgbClr val="FFFFFF"/>
                </a:solidFill>
                <a:effectLst/>
                <a:latin typeface="Consolas" panose="020B0609020204030204" pitchFamily="49" charset="0"/>
              </a:rPr>
              <a:t>(person, </a:t>
            </a:r>
            <a:r>
              <a:rPr lang="en-US" b="0" dirty="0">
                <a:solidFill>
                  <a:srgbClr val="CE9178"/>
                </a:solidFill>
                <a:effectLst/>
                <a:latin typeface="Consolas" panose="020B0609020204030204" pitchFamily="49" charset="0"/>
              </a:rPr>
              <a:t>"address"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person.address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94167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012CAF6-0938-410A-80C1-DAFBEAEDE24A}"/>
              </a:ext>
            </a:extLst>
          </p:cNvPr>
          <p:cNvSpPr>
            <a:spLocks noGrp="1"/>
          </p:cNvSpPr>
          <p:nvPr>
            <p:ph type="title"/>
          </p:nvPr>
        </p:nvSpPr>
        <p:spPr/>
        <p:txBody>
          <a:bodyPr/>
          <a:lstStyle/>
          <a:p>
            <a:r>
              <a:rPr lang="en-US" dirty="0">
                <a:hlinkClick r:id="rId2"/>
              </a:rPr>
              <a:t>Using Slots to Speed Up Classes</a:t>
            </a:r>
            <a:endParaRPr lang="en-US" dirty="0"/>
          </a:p>
        </p:txBody>
      </p:sp>
      <p:sp>
        <p:nvSpPr>
          <p:cNvPr id="3" name="Sisällön paikkamerkki 2">
            <a:extLst>
              <a:ext uri="{FF2B5EF4-FFF2-40B4-BE49-F238E27FC236}">
                <a16:creationId xmlns:a16="http://schemas.microsoft.com/office/drawing/2014/main" id="{4F61EA87-E631-41C7-9976-E5D1F97FA992}"/>
              </a:ext>
            </a:extLst>
          </p:cNvPr>
          <p:cNvSpPr>
            <a:spLocks noGrp="1"/>
          </p:cNvSpPr>
          <p:nvPr>
            <p:ph idx="1"/>
          </p:nvPr>
        </p:nvSpPr>
        <p:spPr/>
        <p:txBody>
          <a:bodyPr/>
          <a:lstStyle/>
          <a:p>
            <a:r>
              <a:rPr lang="en-US" dirty="0"/>
              <a:t>By default Python uses a dictionary to store an object’s instance attributes. This allows the ultimate flexibility by setting arbitrary new attributes at runtime, but it can also consume quite a lot of RAM and be quite slow.</a:t>
            </a:r>
          </a:p>
          <a:p>
            <a:r>
              <a:rPr lang="en-US" dirty="0"/>
              <a:t>If small memory use and fast execution is your main consideration and you know all your instance attributes in advance, consider defining them at class level using:</a:t>
            </a:r>
            <a:br>
              <a:rPr lang="en-US" dirty="0"/>
            </a:br>
            <a:r>
              <a:rPr lang="en-US" dirty="0">
                <a:latin typeface="Courier New" panose="02070309020205020404" pitchFamily="49" charset="0"/>
                <a:cs typeface="Courier New" panose="02070309020205020404" pitchFamily="49" charset="0"/>
              </a:rPr>
              <a:t>__slots__ = ['attribute1', 'attribute2']</a:t>
            </a:r>
          </a:p>
        </p:txBody>
      </p:sp>
    </p:spTree>
    <p:extLst>
      <p:ext uri="{BB962C8B-B14F-4D97-AF65-F5344CB8AC3E}">
        <p14:creationId xmlns:p14="http://schemas.microsoft.com/office/powerpoint/2010/main" val="62193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1B91115-8AD9-468F-B616-F92F142894F1}"/>
              </a:ext>
            </a:extLst>
          </p:cNvPr>
          <p:cNvSpPr>
            <a:spLocks noGrp="1"/>
          </p:cNvSpPr>
          <p:nvPr>
            <p:ph type="title"/>
          </p:nvPr>
        </p:nvSpPr>
        <p:spPr/>
        <p:txBody>
          <a:bodyPr/>
          <a:lstStyle/>
          <a:p>
            <a:r>
              <a:rPr lang="en-US" dirty="0"/>
              <a:t>Slots Example</a:t>
            </a:r>
          </a:p>
        </p:txBody>
      </p:sp>
      <p:sp>
        <p:nvSpPr>
          <p:cNvPr id="3" name="Sisällön paikkamerkki 2">
            <a:extLst>
              <a:ext uri="{FF2B5EF4-FFF2-40B4-BE49-F238E27FC236}">
                <a16:creationId xmlns:a16="http://schemas.microsoft.com/office/drawing/2014/main" id="{66146898-6B3E-4890-BFC5-3C6A1C7F0C4E}"/>
              </a:ext>
            </a:extLst>
          </p:cNvPr>
          <p:cNvSpPr>
            <a:spLocks noGrp="1"/>
          </p:cNvSpPr>
          <p:nvPr>
            <p:ph idx="1"/>
          </p:nvPr>
        </p:nvSpPr>
        <p:spPr>
          <a:xfrm>
            <a:off x="1218883" y="1701796"/>
            <a:ext cx="10360501" cy="4967563"/>
          </a:xfrm>
        </p:spPr>
        <p:txBody>
          <a:bodyPr>
            <a:normAutofit fontScale="62500" lnSpcReduction="20000"/>
          </a:bodyPr>
          <a:lstStyle/>
          <a:p>
            <a:pPr marL="0" indent="0">
              <a:spcBef>
                <a:spcPts val="600"/>
              </a:spcBef>
              <a:buNone/>
            </a:pP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err="1">
                <a:solidFill>
                  <a:srgbClr val="4EC9B0"/>
                </a:solidFill>
                <a:effectLst/>
                <a:latin typeface="Consolas" panose="020B0609020204030204" pitchFamily="49" charset="0"/>
              </a:rPr>
              <a:t>MyClass</a:t>
            </a:r>
            <a:r>
              <a:rPr lang="en-US" b="0" dirty="0">
                <a:solidFill>
                  <a:srgbClr val="FFFFFF"/>
                </a:solidFill>
                <a:effectLst/>
                <a:latin typeface="Consolas" panose="020B0609020204030204" pitchFamily="49" charset="0"/>
              </a:rPr>
              <a:t>(</a:t>
            </a:r>
            <a:r>
              <a:rPr lang="en-US" b="0" dirty="0">
                <a:solidFill>
                  <a:srgbClr val="4EC9B0"/>
                </a:solidFill>
                <a:effectLst/>
                <a:latin typeface="Consolas" panose="020B0609020204030204" pitchFamily="49" charset="0"/>
              </a:rPr>
              <a:t>object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__init__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identifier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.name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name</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.identifier</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identifier</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m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MyClass</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"name"</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"id"</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m.age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100  </a:t>
            </a:r>
            <a:r>
              <a:rPr lang="en-US" b="0" dirty="0">
                <a:solidFill>
                  <a:srgbClr val="7CA668"/>
                </a:solidFill>
                <a:effectLst/>
                <a:latin typeface="Consolas" panose="020B0609020204030204" pitchFamily="49" charset="0"/>
              </a:rPr>
              <a:t># You can add new identifiers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m.age</a:t>
            </a:r>
            <a:r>
              <a:rPr lang="en-US" b="0" dirty="0">
                <a:solidFill>
                  <a:srgbClr val="FFFFFF"/>
                </a:solidFill>
                <a:effectLst/>
                <a:latin typeface="Consolas" panose="020B0609020204030204" pitchFamily="49" charset="0"/>
              </a:rPr>
              <a:t>)</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7CA668"/>
                </a:solidFill>
                <a:effectLst/>
                <a:latin typeface="Consolas" panose="020B0609020204030204" pitchFamily="49" charset="0"/>
              </a:rPr>
              <a:t># Same with slots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MyClass2</a:t>
            </a:r>
            <a:r>
              <a:rPr lang="en-US" b="0" dirty="0">
                <a:solidFill>
                  <a:srgbClr val="FFFFFF"/>
                </a:solidFill>
                <a:effectLst/>
                <a:latin typeface="Consolas" panose="020B0609020204030204" pitchFamily="49" charset="0"/>
              </a:rPr>
              <a:t>(</a:t>
            </a:r>
            <a:r>
              <a:rPr lang="en-US" b="0" dirty="0">
                <a:solidFill>
                  <a:srgbClr val="4EC9B0"/>
                </a:solidFill>
                <a:effectLst/>
                <a:latin typeface="Consolas" panose="020B0609020204030204" pitchFamily="49" charset="0"/>
              </a:rPr>
              <a:t>object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__slots__</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'name'</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'identifier'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__init__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identifier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.name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name</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.identifier</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identifier</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m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MyClass2(</a:t>
            </a:r>
            <a:r>
              <a:rPr lang="en-US" b="0" dirty="0">
                <a:solidFill>
                  <a:srgbClr val="CE9178"/>
                </a:solidFill>
                <a:effectLst/>
                <a:latin typeface="Consolas" panose="020B0609020204030204" pitchFamily="49" charset="0"/>
              </a:rPr>
              <a:t>"name"</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"id"</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m.age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100</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will fail!</a:t>
            </a: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4002174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ABC6573-FBB8-4BD8-BC0C-2A87F5848EC7}"/>
              </a:ext>
            </a:extLst>
          </p:cNvPr>
          <p:cNvSpPr>
            <a:spLocks noGrp="1"/>
          </p:cNvSpPr>
          <p:nvPr>
            <p:ph type="title"/>
          </p:nvPr>
        </p:nvSpPr>
        <p:spPr/>
        <p:txBody>
          <a:bodyPr/>
          <a:lstStyle/>
          <a:p>
            <a:r>
              <a:rPr lang="en-US" dirty="0"/>
              <a:t>Operator Overloading</a:t>
            </a:r>
          </a:p>
        </p:txBody>
      </p:sp>
      <p:sp>
        <p:nvSpPr>
          <p:cNvPr id="3" name="Sisällön paikkamerkki 2">
            <a:extLst>
              <a:ext uri="{FF2B5EF4-FFF2-40B4-BE49-F238E27FC236}">
                <a16:creationId xmlns:a16="http://schemas.microsoft.com/office/drawing/2014/main" id="{49E8427C-8C63-4F27-96B4-98A015FEE8AE}"/>
              </a:ext>
            </a:extLst>
          </p:cNvPr>
          <p:cNvSpPr>
            <a:spLocks noGrp="1"/>
          </p:cNvSpPr>
          <p:nvPr>
            <p:ph idx="1"/>
          </p:nvPr>
        </p:nvSpPr>
        <p:spPr>
          <a:xfrm>
            <a:off x="1218883" y="1701797"/>
            <a:ext cx="10360501" cy="4881566"/>
          </a:xfrm>
        </p:spPr>
        <p:txBody>
          <a:bodyPr>
            <a:normAutofit fontScale="55000" lnSpcReduction="20000"/>
          </a:bodyPr>
          <a:lstStyle/>
          <a:p>
            <a:pPr marL="0" indent="0">
              <a:spcBef>
                <a:spcPts val="600"/>
              </a:spcBef>
              <a:buNone/>
            </a:pP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Complex</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__init__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real</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imag</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.real</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real</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.imag</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imag</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__add__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other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Complex(</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.real</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other.real</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.imag</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other.imag</a:t>
            </a:r>
            <a:r>
              <a:rPr lang="en-US" b="0" dirty="0">
                <a:solidFill>
                  <a:srgbClr val="FFFFFF"/>
                </a:solidFill>
                <a:effectLst/>
                <a:latin typeface="Consolas" panose="020B0609020204030204" pitchFamily="49" charset="0"/>
              </a:rPr>
              <a:t>)</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__str__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f</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.real</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.imag</a:t>
            </a:r>
            <a:r>
              <a:rPr lang="en-US" b="0" dirty="0">
                <a:solidFill>
                  <a:srgbClr val="569CD6"/>
                </a:solidFill>
                <a:effectLst/>
                <a:latin typeface="Consolas" panose="020B0609020204030204" pitchFamily="49" charset="0"/>
              </a:rPr>
              <a:t>}</a:t>
            </a:r>
            <a:r>
              <a:rPr lang="en-US" b="0" dirty="0" err="1">
                <a:solidFill>
                  <a:srgbClr val="CE9178"/>
                </a:solidFill>
                <a:effectLst/>
                <a:latin typeface="Consolas" panose="020B0609020204030204" pitchFamily="49" charset="0"/>
              </a:rPr>
              <a:t>i</a:t>
            </a:r>
            <a:r>
              <a:rPr lang="en-US" b="0" dirty="0">
                <a:solidFill>
                  <a:srgbClr val="CE9178"/>
                </a:solidFill>
                <a:effectLst/>
                <a:latin typeface="Consolas" panose="020B0609020204030204" pitchFamily="49" charset="0"/>
              </a:rPr>
              <a:t>"</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a:t>
            </a:r>
            <a:r>
              <a:rPr lang="en-US" b="0" dirty="0" err="1">
                <a:solidFill>
                  <a:srgbClr val="DCDCAA"/>
                </a:solidFill>
                <a:effectLst/>
                <a:latin typeface="Consolas" panose="020B0609020204030204" pitchFamily="49" charset="0"/>
              </a:rPr>
              <a:t>repr</a:t>
            </a:r>
            <a:r>
              <a:rPr lang="en-US" b="0" dirty="0">
                <a:solidFill>
                  <a:srgbClr val="DCDCAA"/>
                </a:solidFill>
                <a:effectLst/>
                <a:latin typeface="Consolas" panose="020B0609020204030204" pitchFamily="49" charset="0"/>
              </a:rPr>
              <a:t>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"Complex</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.real</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.imag</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Complex(</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y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Complex(</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4</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y</a:t>
            </a:r>
          </a:p>
          <a:p>
            <a:pPr marL="0" indent="0">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(x)  </a:t>
            </a:r>
            <a:r>
              <a:rPr lang="en-US" b="0" dirty="0">
                <a:solidFill>
                  <a:srgbClr val="7CA668"/>
                </a:solidFill>
                <a:effectLst/>
                <a:latin typeface="Consolas" panose="020B0609020204030204" pitchFamily="49" charset="0"/>
              </a:rPr>
              <a:t># calling __str__ for human readable version</a:t>
            </a:r>
            <a:endParaRPr lang="en-US" b="0" dirty="0">
              <a:solidFill>
                <a:srgbClr val="FFFFFF"/>
              </a:solidFill>
              <a:effectLst/>
              <a:latin typeface="Consolas" panose="020B0609020204030204" pitchFamily="49" charset="0"/>
            </a:endParaRPr>
          </a:p>
          <a:p>
            <a:pPr marL="0" indent="0">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DCDCAA"/>
                </a:solidFill>
                <a:effectLst/>
                <a:latin typeface="Consolas" panose="020B0609020204030204" pitchFamily="49" charset="0"/>
              </a:rPr>
              <a:t>repr</a:t>
            </a:r>
            <a:r>
              <a:rPr lang="en-US" b="0" dirty="0">
                <a:solidFill>
                  <a:srgbClr val="FFFFFF"/>
                </a:solidFill>
                <a:effectLst/>
                <a:latin typeface="Consolas" panose="020B0609020204030204" pitchFamily="49" charset="0"/>
              </a:rPr>
              <a:t>(x))  </a:t>
            </a:r>
            <a:r>
              <a:rPr lang="en-US" b="0" dirty="0">
                <a:solidFill>
                  <a:srgbClr val="7CA668"/>
                </a:solidFill>
                <a:effectLst/>
                <a:latin typeface="Consolas" panose="020B0609020204030204" pitchFamily="49" charset="0"/>
              </a:rPr>
              <a:t># calling __</a:t>
            </a:r>
            <a:r>
              <a:rPr lang="en-US" b="0" dirty="0" err="1">
                <a:solidFill>
                  <a:srgbClr val="7CA668"/>
                </a:solidFill>
                <a:effectLst/>
                <a:latin typeface="Consolas" panose="020B0609020204030204" pitchFamily="49" charset="0"/>
              </a:rPr>
              <a:t>repr</a:t>
            </a:r>
            <a:r>
              <a:rPr lang="en-US" b="0" dirty="0">
                <a:solidFill>
                  <a:srgbClr val="7CA668"/>
                </a:solidFill>
                <a:effectLst/>
                <a:latin typeface="Consolas" panose="020B0609020204030204" pitchFamily="49" charset="0"/>
              </a:rPr>
              <a:t>__ for string which allows to recreate object</a:t>
            </a:r>
            <a:endParaRPr lang="en-US" b="0" dirty="0">
              <a:solidFill>
                <a:srgbClr val="FFFFFF"/>
              </a:solidFill>
              <a:effectLst/>
              <a:latin typeface="Consolas" panose="020B0609020204030204" pitchFamily="49" charset="0"/>
            </a:endParaRPr>
          </a:p>
          <a:p>
            <a:pPr marL="0" indent="0">
              <a:spcBef>
                <a:spcPts val="600"/>
              </a:spcBef>
              <a:buNone/>
            </a:pPr>
            <a:endParaRPr lang="en-US" dirty="0"/>
          </a:p>
        </p:txBody>
      </p:sp>
    </p:spTree>
    <p:extLst>
      <p:ext uri="{BB962C8B-B14F-4D97-AF65-F5344CB8AC3E}">
        <p14:creationId xmlns:p14="http://schemas.microsoft.com/office/powerpoint/2010/main" val="229588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C02B366-6EF5-49DB-8BF5-C6109C84DAC9}"/>
              </a:ext>
            </a:extLst>
          </p:cNvPr>
          <p:cNvSpPr>
            <a:spLocks noGrp="1"/>
          </p:cNvSpPr>
          <p:nvPr>
            <p:ph type="title"/>
          </p:nvPr>
        </p:nvSpPr>
        <p:spPr/>
        <p:txBody>
          <a:bodyPr/>
          <a:lstStyle/>
          <a:p>
            <a:r>
              <a:rPr lang="en-US" dirty="0"/>
              <a:t>Type Hints = Static Type Checking for Python</a:t>
            </a:r>
          </a:p>
        </p:txBody>
      </p:sp>
      <p:sp>
        <p:nvSpPr>
          <p:cNvPr id="3" name="Sisällön paikkamerkki 2">
            <a:extLst>
              <a:ext uri="{FF2B5EF4-FFF2-40B4-BE49-F238E27FC236}">
                <a16:creationId xmlns:a16="http://schemas.microsoft.com/office/drawing/2014/main" id="{616E3778-AAF1-4860-AFAA-75D32EDFCE75}"/>
              </a:ext>
            </a:extLst>
          </p:cNvPr>
          <p:cNvSpPr>
            <a:spLocks noGrp="1"/>
          </p:cNvSpPr>
          <p:nvPr>
            <p:ph idx="1"/>
          </p:nvPr>
        </p:nvSpPr>
        <p:spPr>
          <a:xfrm>
            <a:off x="1218883" y="1701797"/>
            <a:ext cx="10360501" cy="4881566"/>
          </a:xfrm>
        </p:spPr>
        <p:txBody>
          <a:bodyPr>
            <a:normAutofit fontScale="85000" lnSpcReduction="20000"/>
          </a:bodyPr>
          <a:lstStyle/>
          <a:p>
            <a:r>
              <a:rPr lang="en-US" dirty="0"/>
              <a:t>Python 3.6 introduced type hints. They don't affect run-time at all, but can improve code documentation and readability. </a:t>
            </a:r>
          </a:p>
          <a:p>
            <a:r>
              <a:rPr lang="en-US" dirty="0">
                <a:hlinkClick r:id="rId2"/>
              </a:rPr>
              <a:t>Mypy</a:t>
            </a:r>
            <a:r>
              <a:rPr lang="en-US" dirty="0"/>
              <a:t>, a popular Python type checker, will check the type hints:</a:t>
            </a:r>
            <a:br>
              <a:rPr lang="en-US" dirty="0"/>
            </a:br>
            <a:r>
              <a:rPr lang="en-US" dirty="0">
                <a:latin typeface="Courier New" panose="02070309020205020404" pitchFamily="49" charset="0"/>
                <a:cs typeface="Courier New" panose="02070309020205020404" pitchFamily="49" charset="0"/>
              </a:rPr>
              <a:t>pip3 install mypy</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myxy test.py</a:t>
            </a:r>
          </a:p>
          <a:p>
            <a:r>
              <a:rPr lang="en-US" dirty="0">
                <a:latin typeface="Courier New" panose="02070309020205020404" pitchFamily="49" charset="0"/>
                <a:cs typeface="Courier New" panose="02070309020205020404" pitchFamily="49" charset="0"/>
              </a:rPr>
              <a:t>variable: type  # weight: int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variable: type = value  # x: float = 13.5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collection: CollectionName[type…]  # List[str]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def func(arg1: type, arg2: type = val) -&gt; returnval:</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def square(x: float) -&gt; float:  </a:t>
            </a:r>
          </a:p>
          <a:p>
            <a:r>
              <a:rPr lang="en-US" dirty="0"/>
              <a:t>Built-in types: int, float, bool, str</a:t>
            </a:r>
          </a:p>
          <a:p>
            <a:r>
              <a:rPr lang="en-US" dirty="0"/>
              <a:t>The following must be imported from </a:t>
            </a:r>
            <a:r>
              <a:rPr lang="en-US" dirty="0">
                <a:hlinkClick r:id="rId3"/>
              </a:rPr>
              <a:t>typing module</a:t>
            </a:r>
            <a:r>
              <a:rPr lang="en-US" dirty="0"/>
              <a:t>:</a:t>
            </a:r>
          </a:p>
          <a:p>
            <a:pPr lvl="1"/>
            <a:r>
              <a:rPr lang="en-US" dirty="0"/>
              <a:t>Collections: List, Tuple, Set, Dict, Sequence	</a:t>
            </a:r>
          </a:p>
          <a:p>
            <a:pPr lvl="1"/>
            <a:r>
              <a:rPr lang="en-US" dirty="0"/>
              <a:t>Special: Any, Optional, Generic, Union, Callable, Iterator, Mapping, TypeVar</a:t>
            </a:r>
          </a:p>
        </p:txBody>
      </p:sp>
    </p:spTree>
    <p:extLst>
      <p:ext uri="{BB962C8B-B14F-4D97-AF65-F5344CB8AC3E}">
        <p14:creationId xmlns:p14="http://schemas.microsoft.com/office/powerpoint/2010/main" val="386237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965E074-F1AE-44F9-9B4E-49F81390E22E}"/>
              </a:ext>
            </a:extLst>
          </p:cNvPr>
          <p:cNvSpPr>
            <a:spLocks noGrp="1"/>
          </p:cNvSpPr>
          <p:nvPr>
            <p:ph type="title"/>
          </p:nvPr>
        </p:nvSpPr>
        <p:spPr/>
        <p:txBody>
          <a:bodyPr/>
          <a:lstStyle/>
          <a:p>
            <a:r>
              <a:rPr lang="en-US" dirty="0"/>
              <a:t>Using Type Hints</a:t>
            </a:r>
          </a:p>
        </p:txBody>
      </p:sp>
      <p:sp>
        <p:nvSpPr>
          <p:cNvPr id="3" name="Sisällön paikkamerkki 2">
            <a:extLst>
              <a:ext uri="{FF2B5EF4-FFF2-40B4-BE49-F238E27FC236}">
                <a16:creationId xmlns:a16="http://schemas.microsoft.com/office/drawing/2014/main" id="{177C4D86-A3E5-4B57-804B-7561CA3F2FCA}"/>
              </a:ext>
            </a:extLst>
          </p:cNvPr>
          <p:cNvSpPr>
            <a:spLocks noGrp="1"/>
          </p:cNvSpPr>
          <p:nvPr>
            <p:ph idx="1"/>
          </p:nvPr>
        </p:nvSpPr>
        <p:spPr>
          <a:xfrm>
            <a:off x="1218883" y="1701796"/>
            <a:ext cx="10360501" cy="4881567"/>
          </a:xfrm>
        </p:spPr>
        <p:txBody>
          <a:bodyPr>
            <a:normAutofit fontScale="55000" lnSpcReduction="20000"/>
          </a:bodyPr>
          <a:lstStyle/>
          <a:p>
            <a:pPr marL="0" indent="0">
              <a:spcBef>
                <a:spcPts val="6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typing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List, Dict, Tuple, Union, Any</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is_negative</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x</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float</a:t>
            </a:r>
            <a:r>
              <a:rPr lang="en-US" b="0" dirty="0">
                <a:solidFill>
                  <a:srgbClr val="FFFFFF"/>
                </a:solidFill>
                <a:effectLst/>
                <a:latin typeface="Consolas" panose="020B0609020204030204" pitchFamily="49" charset="0"/>
              </a:rPr>
              <a:t>) -&gt; </a:t>
            </a:r>
            <a:r>
              <a:rPr lang="en-US" b="0" dirty="0">
                <a:solidFill>
                  <a:srgbClr val="4EC9B0"/>
                </a:solidFill>
                <a:effectLst/>
                <a:latin typeface="Consolas" panose="020B0609020204030204" pitchFamily="49" charset="0"/>
              </a:rPr>
              <a:t>bool</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&lt;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print_many</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a:t>
            </a:r>
            <a:r>
              <a:rPr lang="en-US" b="0" dirty="0">
                <a:solidFill>
                  <a:srgbClr val="FFFFFF"/>
                </a:solidFill>
                <a:effectLst/>
                <a:latin typeface="Consolas" panose="020B0609020204030204" pitchFamily="49" charset="0"/>
              </a:rPr>
              <a:t>: Union[</a:t>
            </a:r>
            <a:r>
              <a:rPr lang="en-US" b="0" dirty="0">
                <a:solidFill>
                  <a:srgbClr val="4EC9B0"/>
                </a:solidFill>
                <a:effectLst/>
                <a:latin typeface="Consolas" panose="020B0609020204030204" pitchFamily="49" charset="0"/>
              </a:rPr>
              <a:t>str</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float</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n</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 -&gt; </a:t>
            </a:r>
            <a:r>
              <a:rPr lang="en-US" b="0" dirty="0">
                <a:solidFill>
                  <a:srgbClr val="569CD6"/>
                </a:solidFill>
                <a:effectLst/>
                <a:latin typeface="Consolas" panose="020B0609020204030204" pitchFamily="49" charset="0"/>
              </a:rPr>
              <a:t>None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range</a:t>
            </a:r>
            <a:r>
              <a:rPr lang="en-US" b="0" dirty="0">
                <a:solidFill>
                  <a:srgbClr val="FFFFFF"/>
                </a:solidFill>
                <a:effectLst/>
                <a:latin typeface="Consolas" panose="020B0609020204030204" pitchFamily="49" charset="0"/>
              </a:rPr>
              <a:t>(n):</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multiply_list</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a</a:t>
            </a:r>
            <a:r>
              <a:rPr lang="en-US" b="0" dirty="0">
                <a:solidFill>
                  <a:srgbClr val="FFFFFF"/>
                </a:solidFill>
                <a:effectLst/>
                <a:latin typeface="Consolas" panose="020B0609020204030204" pitchFamily="49" charset="0"/>
              </a:rPr>
              <a:t>: List[</a:t>
            </a:r>
            <a:r>
              <a:rPr lang="en-US" b="0" dirty="0">
                <a:solidFill>
                  <a:srgbClr val="4EC9B0"/>
                </a:solidFill>
                <a:effectLst/>
                <a:latin typeface="Consolas" panose="020B0609020204030204" pitchFamily="49" charset="0"/>
              </a:rPr>
              <a:t>float</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n</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float</a:t>
            </a:r>
            <a:r>
              <a:rPr lang="en-US" b="0" dirty="0">
                <a:solidFill>
                  <a:srgbClr val="FFFFFF"/>
                </a:solidFill>
                <a:effectLst/>
                <a:latin typeface="Consolas" panose="020B0609020204030204" pitchFamily="49" charset="0"/>
              </a:rPr>
              <a:t>) -&gt; List[</a:t>
            </a:r>
            <a:r>
              <a:rPr lang="en-US" b="0" dirty="0">
                <a:solidFill>
                  <a:srgbClr val="4EC9B0"/>
                </a:solidFill>
                <a:effectLst/>
                <a:latin typeface="Consolas" panose="020B0609020204030204" pitchFamily="49" charset="0"/>
              </a:rPr>
              <a:t>float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[n</a:t>
            </a:r>
            <a:r>
              <a:rPr lang="en-US" b="0" dirty="0">
                <a:solidFill>
                  <a:srgbClr val="D4D4D4"/>
                </a:solidFill>
                <a:effectLst/>
                <a:latin typeface="Consolas" panose="020B0609020204030204" pitchFamily="49" charset="0"/>
              </a:rPr>
              <a:t>*</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d: Dict[</a:t>
            </a:r>
            <a:r>
              <a:rPr lang="en-US" b="0" dirty="0">
                <a:solidFill>
                  <a:srgbClr val="4EC9B0"/>
                </a:solidFill>
                <a:effectLst/>
                <a:latin typeface="Consolas" panose="020B0609020204030204" pitchFamily="49" charset="0"/>
              </a:rPr>
              <a:t>str</a:t>
            </a:r>
            <a:r>
              <a:rPr lang="en-US" b="0" dirty="0">
                <a:solidFill>
                  <a:srgbClr val="FFFFFF"/>
                </a:solidFill>
                <a:effectLst/>
                <a:latin typeface="Consolas" panose="020B0609020204030204" pitchFamily="49" charset="0"/>
              </a:rPr>
              <a:t>, Any]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"key"</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"value"</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"key2"</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"tuple"</a:t>
            </a:r>
            <a:r>
              <a:rPr lang="en-US" b="0" dirty="0">
                <a:solidFill>
                  <a:srgbClr val="FFFFFF"/>
                </a:solidFill>
                <a:effectLst/>
                <a:latin typeface="Consolas" panose="020B0609020204030204" pitchFamily="49" charset="0"/>
              </a:rPr>
              <a:t>, ), </a:t>
            </a:r>
            <a:r>
              <a:rPr lang="en-US" b="0" dirty="0">
                <a:solidFill>
                  <a:srgbClr val="CE9178"/>
                </a:solidFill>
                <a:effectLst/>
                <a:latin typeface="Consolas" panose="020B0609020204030204" pitchFamily="49" charset="0"/>
              </a:rPr>
              <a:t>"key3"</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13</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7CA668"/>
                </a:solidFill>
                <a:effectLst/>
                <a:latin typeface="Consolas" panose="020B0609020204030204" pitchFamily="49" charset="0"/>
              </a:rPr>
              <a:t>#d[123] = "bug"</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is_negative</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4</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7CA668"/>
                </a:solidFill>
                <a:effectLst/>
                <a:latin typeface="Consolas" panose="020B0609020204030204" pitchFamily="49" charset="0"/>
              </a:rPr>
              <a:t>#print(is_negative("bug"))</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print_many</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7CA668"/>
                </a:solidFill>
                <a:effectLst/>
                <a:latin typeface="Consolas" panose="020B0609020204030204" pitchFamily="49" charset="0"/>
              </a:rPr>
              <a:t>#print_many("bug", 3.5)</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multiply_list</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2.5</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2.5</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7CA668"/>
                </a:solidFill>
                <a:effectLst/>
                <a:latin typeface="Consolas" panose="020B0609020204030204" pitchFamily="49" charset="0"/>
              </a:rPr>
              <a:t>#print(multiply_list([1, "bug", 3.14], 5))</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7CA668"/>
                </a:solidFill>
                <a:effectLst/>
                <a:latin typeface="Consolas" panose="020B0609020204030204" pitchFamily="49" charset="0"/>
              </a:rPr>
              <a:t>#print(multiply_list([1, "cat", 3.14], "bug"))</a:t>
            </a: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3245015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BE50542-3D02-4800-8F73-2C52F312F7CD}"/>
              </a:ext>
            </a:extLst>
          </p:cNvPr>
          <p:cNvSpPr>
            <a:spLocks noGrp="1"/>
          </p:cNvSpPr>
          <p:nvPr>
            <p:ph type="title"/>
          </p:nvPr>
        </p:nvSpPr>
        <p:spPr/>
        <p:txBody>
          <a:bodyPr/>
          <a:lstStyle/>
          <a:p>
            <a:r>
              <a:rPr lang="en-US" dirty="0">
                <a:hlinkClick r:id="rId2"/>
              </a:rPr>
              <a:t>Data Classes</a:t>
            </a:r>
            <a:r>
              <a:rPr lang="en-US" dirty="0"/>
              <a:t> and </a:t>
            </a:r>
            <a:r>
              <a:rPr lang="en-US" dirty="0">
                <a:hlinkClick r:id="rId3"/>
              </a:rPr>
              <a:t>Type Checking Annotations</a:t>
            </a:r>
            <a:endParaRPr lang="en-US" dirty="0"/>
          </a:p>
        </p:txBody>
      </p:sp>
      <p:sp>
        <p:nvSpPr>
          <p:cNvPr id="3" name="Sisällön paikkamerkki 2">
            <a:extLst>
              <a:ext uri="{FF2B5EF4-FFF2-40B4-BE49-F238E27FC236}">
                <a16:creationId xmlns:a16="http://schemas.microsoft.com/office/drawing/2014/main" id="{48B83578-4DEF-40E9-9F27-B319C108A5C0}"/>
              </a:ext>
            </a:extLst>
          </p:cNvPr>
          <p:cNvSpPr>
            <a:spLocks noGrp="1"/>
          </p:cNvSpPr>
          <p:nvPr>
            <p:ph idx="1"/>
          </p:nvPr>
        </p:nvSpPr>
        <p:spPr>
          <a:xfrm>
            <a:off x="1218883" y="1701797"/>
            <a:ext cx="10360501" cy="4607524"/>
          </a:xfrm>
        </p:spPr>
        <p:txBody>
          <a:bodyPr>
            <a:normAutofit fontScale="77500" lnSpcReduction="20000"/>
          </a:bodyPr>
          <a:lstStyle/>
          <a:p>
            <a:pPr marL="0" indent="0">
              <a:spcBef>
                <a:spcPts val="6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dataclasses</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dataclass</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@dataclass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Person</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name: </a:t>
            </a:r>
            <a:r>
              <a:rPr lang="en-US" b="0" dirty="0">
                <a:solidFill>
                  <a:srgbClr val="4EC9B0"/>
                </a:solidFill>
                <a:effectLst/>
                <a:latin typeface="Consolas" panose="020B0609020204030204" pitchFamily="49" charset="0"/>
              </a:rPr>
              <a:t>str</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age: </a:t>
            </a:r>
            <a:r>
              <a:rPr lang="en-US" b="0" dirty="0">
                <a:solidFill>
                  <a:srgbClr val="4EC9B0"/>
                </a:solidFill>
                <a:effectLst/>
                <a:latin typeface="Consolas" panose="020B0609020204030204" pitchFamily="49" charset="0"/>
              </a:rPr>
              <a:t>int</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@dataclass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Student</a:t>
            </a:r>
            <a:r>
              <a:rPr lang="en-US" b="0" dirty="0">
                <a:solidFill>
                  <a:srgbClr val="FFFFFF"/>
                </a:solidFill>
                <a:effectLst/>
                <a:latin typeface="Consolas" panose="020B0609020204030204" pitchFamily="49" charset="0"/>
              </a:rPr>
              <a:t>(</a:t>
            </a:r>
            <a:r>
              <a:rPr lang="en-US" b="0" dirty="0">
                <a:solidFill>
                  <a:srgbClr val="4EC9B0"/>
                </a:solidFill>
                <a:effectLst/>
                <a:latin typeface="Consolas" panose="020B0609020204030204" pitchFamily="49" charset="0"/>
              </a:rPr>
              <a:t>Person</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id_no</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str</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jack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Student(</a:t>
            </a:r>
            <a:r>
              <a:rPr lang="en-US" b="0" dirty="0">
                <a:solidFill>
                  <a:srgbClr val="CE9178"/>
                </a:solidFill>
                <a:effectLst/>
                <a:latin typeface="Consolas" panose="020B0609020204030204" pitchFamily="49" charset="0"/>
              </a:rPr>
              <a:t>"Jack Student"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25</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"10100"</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jack.age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(jack)</a:t>
            </a:r>
            <a:br>
              <a:rPr lang="en-US" b="0" dirty="0">
                <a:solidFill>
                  <a:srgbClr val="FFFFFF"/>
                </a:solidFill>
                <a:effectLst/>
                <a:latin typeface="Consolas" panose="020B0609020204030204" pitchFamily="49" charset="0"/>
              </a:rPr>
            </a:br>
            <a:r>
              <a:rPr lang="en-US" b="0" dirty="0">
                <a:solidFill>
                  <a:srgbClr val="7CA668"/>
                </a:solidFill>
                <a:effectLst/>
                <a:latin typeface="Consolas" panose="020B0609020204030204" pitchFamily="49" charset="0"/>
              </a:rPr>
              <a:t># Student(name='Jack Student', age=26, </a:t>
            </a:r>
            <a:r>
              <a:rPr lang="en-US" b="0" dirty="0" err="1">
                <a:solidFill>
                  <a:srgbClr val="7CA668"/>
                </a:solidFill>
                <a:effectLst/>
                <a:latin typeface="Consolas" panose="020B0609020204030204" pitchFamily="49" charset="0"/>
              </a:rPr>
              <a:t>id_no</a:t>
            </a:r>
            <a:r>
              <a:rPr lang="en-US" b="0" dirty="0">
                <a:solidFill>
                  <a:srgbClr val="7CA668"/>
                </a:solidFill>
                <a:effectLst/>
                <a:latin typeface="Consolas" panose="020B0609020204030204" pitchFamily="49" charset="0"/>
              </a:rPr>
              <a:t>='10100')</a:t>
            </a:r>
            <a:endParaRPr lang="en-US" b="0" dirty="0">
              <a:solidFill>
                <a:srgbClr val="FFFFFF"/>
              </a:solidFill>
              <a:effectLst/>
              <a:latin typeface="Consolas" panose="020B0609020204030204" pitchFamily="49" charset="0"/>
            </a:endParaRP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16558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C19A05D-96C6-4BB5-A9FD-710571407287}"/>
              </a:ext>
            </a:extLst>
          </p:cNvPr>
          <p:cNvSpPr>
            <a:spLocks noGrp="1"/>
          </p:cNvSpPr>
          <p:nvPr>
            <p:ph type="title"/>
          </p:nvPr>
        </p:nvSpPr>
        <p:spPr/>
        <p:txBody>
          <a:bodyPr/>
          <a:lstStyle/>
          <a:p>
            <a:r>
              <a:rPr lang="en-US" dirty="0"/>
              <a:t>Operator Overloading with Data Classes and Forward Referencing</a:t>
            </a:r>
          </a:p>
        </p:txBody>
      </p:sp>
      <p:sp>
        <p:nvSpPr>
          <p:cNvPr id="3" name="Sisällön paikkamerkki 2">
            <a:extLst>
              <a:ext uri="{FF2B5EF4-FFF2-40B4-BE49-F238E27FC236}">
                <a16:creationId xmlns:a16="http://schemas.microsoft.com/office/drawing/2014/main" id="{96C0DFAB-E05D-412E-8394-C08D74E16DA2}"/>
              </a:ext>
            </a:extLst>
          </p:cNvPr>
          <p:cNvSpPr>
            <a:spLocks noGrp="1"/>
          </p:cNvSpPr>
          <p:nvPr>
            <p:ph idx="1"/>
          </p:nvPr>
        </p:nvSpPr>
        <p:spPr>
          <a:xfrm>
            <a:off x="1218883" y="1701796"/>
            <a:ext cx="10564161" cy="4967563"/>
          </a:xfrm>
        </p:spPr>
        <p:txBody>
          <a:bodyPr>
            <a:noAutofit/>
          </a:bodyPr>
          <a:lstStyle/>
          <a:p>
            <a:pPr marL="0" indent="0">
              <a:spcBef>
                <a:spcPts val="600"/>
              </a:spcBef>
              <a:buNone/>
            </a:pPr>
            <a:r>
              <a:rPr lang="en-US" sz="2000" b="0" dirty="0">
                <a:solidFill>
                  <a:srgbClr val="C586C0"/>
                </a:solidFill>
                <a:effectLst/>
                <a:latin typeface="Consolas" panose="020B0609020204030204" pitchFamily="49" charset="0"/>
              </a:rPr>
              <a:t>from</a:t>
            </a:r>
            <a:r>
              <a:rPr lang="en-US" sz="2000" b="0" dirty="0">
                <a:solidFill>
                  <a:srgbClr val="FFFFFF"/>
                </a:solidFill>
                <a:effectLst/>
                <a:latin typeface="Consolas" panose="020B0609020204030204" pitchFamily="49" charset="0"/>
              </a:rPr>
              <a:t> </a:t>
            </a:r>
            <a:r>
              <a:rPr lang="en-US" sz="2000" b="0" dirty="0">
                <a:solidFill>
                  <a:srgbClr val="9CDCFE"/>
                </a:solidFill>
                <a:effectLst/>
                <a:latin typeface="Consolas" panose="020B0609020204030204" pitchFamily="49" charset="0"/>
              </a:rPr>
              <a:t>__future__</a:t>
            </a:r>
            <a:r>
              <a:rPr lang="en-US" sz="2000" b="0" dirty="0">
                <a:solidFill>
                  <a:srgbClr val="FFFFFF"/>
                </a:solidFill>
                <a:effectLst/>
                <a:latin typeface="Consolas" panose="020B0609020204030204" pitchFamily="49" charset="0"/>
              </a:rPr>
              <a:t> </a:t>
            </a:r>
            <a:r>
              <a:rPr lang="en-US" sz="2000" b="0" dirty="0">
                <a:solidFill>
                  <a:srgbClr val="C586C0"/>
                </a:solidFill>
                <a:effectLst/>
                <a:latin typeface="Consolas" panose="020B0609020204030204" pitchFamily="49" charset="0"/>
              </a:rPr>
              <a:t>import</a:t>
            </a:r>
            <a:r>
              <a:rPr lang="en-US" sz="2000" b="0" dirty="0">
                <a:solidFill>
                  <a:srgbClr val="FFFFFF"/>
                </a:solidFill>
                <a:effectLst/>
                <a:latin typeface="Consolas" panose="020B0609020204030204" pitchFamily="49" charset="0"/>
              </a:rPr>
              <a:t> annotations  </a:t>
            </a:r>
            <a:r>
              <a:rPr lang="en-US" sz="2000" b="0" dirty="0">
                <a:solidFill>
                  <a:srgbClr val="7CA668"/>
                </a:solidFill>
                <a:effectLst/>
                <a:latin typeface="Consolas" panose="020B0609020204030204" pitchFamily="49" charset="0"/>
              </a:rPr>
              <a:t># for forward references</a:t>
            </a:r>
            <a:endParaRPr lang="en-US" sz="2000" b="0" dirty="0">
              <a:solidFill>
                <a:srgbClr val="FFFFFF"/>
              </a:solidFill>
              <a:effectLst/>
              <a:latin typeface="Consolas" panose="020B0609020204030204" pitchFamily="49" charset="0"/>
            </a:endParaRPr>
          </a:p>
          <a:p>
            <a:pPr marL="0" indent="0">
              <a:spcBef>
                <a:spcPts val="600"/>
              </a:spcBef>
              <a:buNone/>
            </a:pPr>
            <a:r>
              <a:rPr lang="en-US" sz="2000" b="0" dirty="0">
                <a:solidFill>
                  <a:srgbClr val="C586C0"/>
                </a:solidFill>
                <a:effectLst/>
                <a:latin typeface="Consolas" panose="020B0609020204030204" pitchFamily="49" charset="0"/>
              </a:rPr>
              <a:t>from</a:t>
            </a:r>
            <a:r>
              <a:rPr lang="en-US" sz="2000" b="0" dirty="0">
                <a:solidFill>
                  <a:srgbClr val="FFFFFF"/>
                </a:solidFill>
                <a:effectLst/>
                <a:latin typeface="Consolas" panose="020B0609020204030204" pitchFamily="49" charset="0"/>
              </a:rPr>
              <a:t> </a:t>
            </a:r>
            <a:r>
              <a:rPr lang="en-US" sz="2000" b="0" dirty="0" err="1">
                <a:solidFill>
                  <a:srgbClr val="FFFFFF"/>
                </a:solidFill>
                <a:effectLst/>
                <a:latin typeface="Consolas" panose="020B0609020204030204" pitchFamily="49" charset="0"/>
              </a:rPr>
              <a:t>dataclasses</a:t>
            </a:r>
            <a:r>
              <a:rPr lang="en-US" sz="2000" b="0" dirty="0">
                <a:solidFill>
                  <a:srgbClr val="FFFFFF"/>
                </a:solidFill>
                <a:effectLst/>
                <a:latin typeface="Consolas" panose="020B0609020204030204" pitchFamily="49" charset="0"/>
              </a:rPr>
              <a:t> </a:t>
            </a:r>
            <a:r>
              <a:rPr lang="en-US" sz="2000" b="0" dirty="0">
                <a:solidFill>
                  <a:srgbClr val="C586C0"/>
                </a:solidFill>
                <a:effectLst/>
                <a:latin typeface="Consolas" panose="020B0609020204030204" pitchFamily="49" charset="0"/>
              </a:rPr>
              <a:t>import</a:t>
            </a:r>
            <a:r>
              <a:rPr lang="en-US" sz="2000" b="0" dirty="0">
                <a:solidFill>
                  <a:srgbClr val="FFFFFF"/>
                </a:solidFill>
                <a:effectLst/>
                <a:latin typeface="Consolas" panose="020B0609020204030204" pitchFamily="49" charset="0"/>
              </a:rPr>
              <a:t> </a:t>
            </a:r>
            <a:r>
              <a:rPr lang="en-US" sz="2000" b="0" dirty="0" err="1">
                <a:solidFill>
                  <a:srgbClr val="FFFFFF"/>
                </a:solidFill>
                <a:effectLst/>
                <a:latin typeface="Consolas" panose="020B0609020204030204" pitchFamily="49" charset="0"/>
              </a:rPr>
              <a:t>dataclass</a:t>
            </a:r>
            <a:endParaRPr lang="en-US" sz="2000" b="0" dirty="0">
              <a:solidFill>
                <a:srgbClr val="FFFFFF"/>
              </a:solidFill>
              <a:effectLst/>
              <a:latin typeface="Consolas" panose="020B0609020204030204" pitchFamily="49" charset="0"/>
            </a:endParaRPr>
          </a:p>
          <a:p>
            <a:pPr marL="0" indent="0">
              <a:spcBef>
                <a:spcPts val="600"/>
              </a:spcBef>
              <a:buNone/>
            </a:pPr>
            <a:br>
              <a:rPr lang="en-US" sz="2000" b="0" dirty="0">
                <a:solidFill>
                  <a:srgbClr val="FFFFFF"/>
                </a:solidFill>
                <a:effectLst/>
                <a:latin typeface="Consolas" panose="020B0609020204030204" pitchFamily="49" charset="0"/>
              </a:rPr>
            </a:br>
            <a:r>
              <a:rPr lang="en-US" sz="2000" b="0" dirty="0">
                <a:solidFill>
                  <a:srgbClr val="DCDCAA"/>
                </a:solidFill>
                <a:effectLst/>
                <a:latin typeface="Consolas" panose="020B0609020204030204" pitchFamily="49" charset="0"/>
              </a:rPr>
              <a:t>@dataclass</a:t>
            </a:r>
            <a:endParaRPr lang="en-US" sz="2000" b="0" dirty="0">
              <a:solidFill>
                <a:srgbClr val="FFFFFF"/>
              </a:solidFill>
              <a:effectLst/>
              <a:latin typeface="Consolas" panose="020B0609020204030204" pitchFamily="49" charset="0"/>
            </a:endParaRPr>
          </a:p>
          <a:p>
            <a:pPr marL="0" indent="0">
              <a:spcBef>
                <a:spcPts val="600"/>
              </a:spcBef>
              <a:buNone/>
            </a:pPr>
            <a:r>
              <a:rPr lang="en-US" sz="2000" b="0" dirty="0">
                <a:solidFill>
                  <a:srgbClr val="569CD6"/>
                </a:solidFill>
                <a:effectLst/>
                <a:latin typeface="Consolas" panose="020B0609020204030204" pitchFamily="49" charset="0"/>
              </a:rPr>
              <a:t>class</a:t>
            </a:r>
            <a:r>
              <a:rPr lang="en-US" sz="2000" b="0" dirty="0">
                <a:solidFill>
                  <a:srgbClr val="FFFFFF"/>
                </a:solidFill>
                <a:effectLst/>
                <a:latin typeface="Consolas" panose="020B0609020204030204" pitchFamily="49" charset="0"/>
              </a:rPr>
              <a:t> </a:t>
            </a:r>
            <a:r>
              <a:rPr lang="en-US" sz="2000" b="0" dirty="0">
                <a:solidFill>
                  <a:srgbClr val="4EC9B0"/>
                </a:solidFill>
                <a:effectLst/>
                <a:latin typeface="Consolas" panose="020B0609020204030204" pitchFamily="49" charset="0"/>
              </a:rPr>
              <a:t>Complex</a:t>
            </a:r>
            <a:r>
              <a:rPr lang="en-US" sz="2000" b="0" dirty="0">
                <a:solidFill>
                  <a:srgbClr val="FFFFFF"/>
                </a:solidFill>
                <a:effectLst/>
                <a:latin typeface="Consolas" panose="020B0609020204030204" pitchFamily="49" charset="0"/>
              </a:rPr>
              <a:t>:</a:t>
            </a:r>
          </a:p>
          <a:p>
            <a:pPr marL="0" indent="0">
              <a:spcBef>
                <a:spcPts val="600"/>
              </a:spcBef>
              <a:buNone/>
            </a:pPr>
            <a:r>
              <a:rPr lang="en-US" sz="2000" b="0" dirty="0">
                <a:solidFill>
                  <a:srgbClr val="FFFFFF"/>
                </a:solidFill>
                <a:effectLst/>
                <a:latin typeface="Consolas" panose="020B0609020204030204" pitchFamily="49" charset="0"/>
              </a:rPr>
              <a:t>    real: </a:t>
            </a:r>
            <a:r>
              <a:rPr lang="en-US" sz="2000" b="0" dirty="0">
                <a:solidFill>
                  <a:srgbClr val="4EC9B0"/>
                </a:solidFill>
                <a:effectLst/>
                <a:latin typeface="Consolas" panose="020B0609020204030204" pitchFamily="49" charset="0"/>
              </a:rPr>
              <a:t>float</a:t>
            </a:r>
            <a:endParaRPr lang="en-US" sz="2000" b="0" dirty="0">
              <a:solidFill>
                <a:srgbClr val="FFFFFF"/>
              </a:solidFill>
              <a:effectLst/>
              <a:latin typeface="Consolas" panose="020B0609020204030204" pitchFamily="49" charset="0"/>
            </a:endParaRPr>
          </a:p>
          <a:p>
            <a:pPr marL="0" indent="0">
              <a:spcBef>
                <a:spcPts val="600"/>
              </a:spcBef>
              <a:buNone/>
            </a:pPr>
            <a:r>
              <a:rPr lang="en-US" sz="2000" b="0" dirty="0">
                <a:solidFill>
                  <a:srgbClr val="FFFFFF"/>
                </a:solidFill>
                <a:effectLst/>
                <a:latin typeface="Consolas" panose="020B0609020204030204" pitchFamily="49" charset="0"/>
              </a:rPr>
              <a:t>    </a:t>
            </a:r>
            <a:r>
              <a:rPr lang="en-US" sz="2000" b="0" dirty="0" err="1">
                <a:solidFill>
                  <a:srgbClr val="FFFFFF"/>
                </a:solidFill>
                <a:effectLst/>
                <a:latin typeface="Consolas" panose="020B0609020204030204" pitchFamily="49" charset="0"/>
              </a:rPr>
              <a:t>imag</a:t>
            </a:r>
            <a:r>
              <a:rPr lang="en-US" sz="2000" b="0" dirty="0">
                <a:solidFill>
                  <a:srgbClr val="FFFFFF"/>
                </a:solidFill>
                <a:effectLst/>
                <a:latin typeface="Consolas" panose="020B0609020204030204" pitchFamily="49" charset="0"/>
              </a:rPr>
              <a:t>: </a:t>
            </a:r>
            <a:r>
              <a:rPr lang="en-US" sz="2000" b="0" dirty="0">
                <a:solidFill>
                  <a:srgbClr val="4EC9B0"/>
                </a:solidFill>
                <a:effectLst/>
                <a:latin typeface="Consolas" panose="020B0609020204030204" pitchFamily="49" charset="0"/>
              </a:rPr>
              <a:t>float</a:t>
            </a:r>
            <a:endParaRPr lang="en-US" sz="2000" b="0" dirty="0">
              <a:solidFill>
                <a:srgbClr val="FFFFFF"/>
              </a:solidFill>
              <a:effectLst/>
              <a:latin typeface="Consolas" panose="020B0609020204030204" pitchFamily="49" charset="0"/>
            </a:endParaRPr>
          </a:p>
          <a:p>
            <a:pPr marL="0" indent="0">
              <a:spcBef>
                <a:spcPts val="600"/>
              </a:spcBef>
              <a:buNone/>
            </a:pPr>
            <a:br>
              <a:rPr lang="en-US" sz="2000" b="0" dirty="0">
                <a:solidFill>
                  <a:srgbClr val="FFFFFF"/>
                </a:solidFill>
                <a:effectLst/>
                <a:latin typeface="Consolas" panose="020B0609020204030204" pitchFamily="49" charset="0"/>
              </a:rPr>
            </a:br>
            <a:r>
              <a:rPr lang="en-US" sz="2000" b="0" dirty="0">
                <a:solidFill>
                  <a:srgbClr val="FFFFFF"/>
                </a:solidFill>
                <a:effectLst/>
                <a:latin typeface="Consolas" panose="020B0609020204030204" pitchFamily="49" charset="0"/>
              </a:rPr>
              <a:t>    </a:t>
            </a:r>
            <a:r>
              <a:rPr lang="en-US" sz="2000" b="0" dirty="0">
                <a:solidFill>
                  <a:srgbClr val="569CD6"/>
                </a:solidFill>
                <a:effectLst/>
                <a:latin typeface="Consolas" panose="020B0609020204030204" pitchFamily="49" charset="0"/>
              </a:rPr>
              <a:t>def</a:t>
            </a:r>
            <a:r>
              <a:rPr lang="en-US" sz="2000" b="0" dirty="0">
                <a:solidFill>
                  <a:srgbClr val="FFFFFF"/>
                </a:solidFill>
                <a:effectLst/>
                <a:latin typeface="Consolas" panose="020B0609020204030204" pitchFamily="49" charset="0"/>
              </a:rPr>
              <a:t> </a:t>
            </a:r>
            <a:r>
              <a:rPr lang="en-US" sz="2000" b="0" dirty="0">
                <a:solidFill>
                  <a:srgbClr val="DCDCAA"/>
                </a:solidFill>
                <a:effectLst/>
                <a:latin typeface="Consolas" panose="020B0609020204030204" pitchFamily="49" charset="0"/>
              </a:rPr>
              <a:t>__add__</a:t>
            </a:r>
            <a:r>
              <a:rPr lang="en-US" sz="2000" b="0" dirty="0">
                <a:solidFill>
                  <a:srgbClr val="FFFFFF"/>
                </a:solidFill>
                <a:effectLst/>
                <a:latin typeface="Consolas" panose="020B0609020204030204" pitchFamily="49" charset="0"/>
              </a:rPr>
              <a:t>(</a:t>
            </a:r>
            <a:r>
              <a:rPr lang="en-US" sz="2000" b="0" dirty="0">
                <a:solidFill>
                  <a:srgbClr val="9CDCFE"/>
                </a:solidFill>
                <a:effectLst/>
                <a:latin typeface="Consolas" panose="020B0609020204030204" pitchFamily="49" charset="0"/>
              </a:rPr>
              <a:t>self</a:t>
            </a:r>
            <a:r>
              <a:rPr lang="en-US" sz="2000" b="0" dirty="0">
                <a:solidFill>
                  <a:srgbClr val="FFFFFF"/>
                </a:solidFill>
                <a:effectLst/>
                <a:latin typeface="Consolas" panose="020B0609020204030204" pitchFamily="49" charset="0"/>
              </a:rPr>
              <a:t>, </a:t>
            </a:r>
            <a:r>
              <a:rPr lang="en-US" sz="2000" b="0" dirty="0">
                <a:solidFill>
                  <a:srgbClr val="9CDCFE"/>
                </a:solidFill>
                <a:effectLst/>
                <a:latin typeface="Consolas" panose="020B0609020204030204" pitchFamily="49" charset="0"/>
              </a:rPr>
              <a:t>other</a:t>
            </a:r>
            <a:r>
              <a:rPr lang="en-US" sz="2000" b="0" dirty="0">
                <a:solidFill>
                  <a:srgbClr val="FFFFFF"/>
                </a:solidFill>
                <a:effectLst/>
                <a:latin typeface="Consolas" panose="020B0609020204030204" pitchFamily="49" charset="0"/>
              </a:rPr>
              <a:t>: Complex) -&gt; Complex:</a:t>
            </a:r>
          </a:p>
          <a:p>
            <a:pPr marL="0" indent="0">
              <a:spcBef>
                <a:spcPts val="600"/>
              </a:spcBef>
              <a:buNone/>
            </a:pPr>
            <a:r>
              <a:rPr lang="en-US" sz="2000" b="0" dirty="0">
                <a:solidFill>
                  <a:srgbClr val="FFFFFF"/>
                </a:solidFill>
                <a:effectLst/>
                <a:latin typeface="Consolas" panose="020B0609020204030204" pitchFamily="49" charset="0"/>
              </a:rPr>
              <a:t>        </a:t>
            </a:r>
            <a:r>
              <a:rPr lang="en-US" sz="2000" b="0" dirty="0">
                <a:solidFill>
                  <a:srgbClr val="C586C0"/>
                </a:solidFill>
                <a:effectLst/>
                <a:latin typeface="Consolas" panose="020B0609020204030204" pitchFamily="49" charset="0"/>
              </a:rPr>
              <a:t>return</a:t>
            </a:r>
            <a:r>
              <a:rPr lang="en-US" sz="2000" b="0" dirty="0">
                <a:solidFill>
                  <a:srgbClr val="FFFFFF"/>
                </a:solidFill>
                <a:effectLst/>
                <a:latin typeface="Consolas" panose="020B0609020204030204" pitchFamily="49" charset="0"/>
              </a:rPr>
              <a:t> Complex(</a:t>
            </a:r>
            <a:r>
              <a:rPr lang="en-US" sz="2000" b="0" dirty="0" err="1">
                <a:solidFill>
                  <a:srgbClr val="9CDCFE"/>
                </a:solidFill>
                <a:effectLst/>
                <a:latin typeface="Consolas" panose="020B0609020204030204" pitchFamily="49" charset="0"/>
              </a:rPr>
              <a:t>self</a:t>
            </a:r>
            <a:r>
              <a:rPr lang="en-US" sz="2000" b="0" dirty="0" err="1">
                <a:solidFill>
                  <a:srgbClr val="FFFFFF"/>
                </a:solidFill>
                <a:effectLst/>
                <a:latin typeface="Consolas" panose="020B0609020204030204" pitchFamily="49" charset="0"/>
              </a:rPr>
              <a:t>.real</a:t>
            </a:r>
            <a:r>
              <a:rPr lang="en-US" sz="2000" b="0" dirty="0">
                <a:solidFill>
                  <a:srgbClr val="FFFFFF"/>
                </a:solidFill>
                <a:effectLst/>
                <a:latin typeface="Consolas" panose="020B0609020204030204" pitchFamily="49" charset="0"/>
              </a:rPr>
              <a:t> </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 </a:t>
            </a:r>
            <a:r>
              <a:rPr lang="en-US" sz="2000" b="0" dirty="0" err="1">
                <a:solidFill>
                  <a:srgbClr val="FFFFFF"/>
                </a:solidFill>
                <a:effectLst/>
                <a:latin typeface="Consolas" panose="020B0609020204030204" pitchFamily="49" charset="0"/>
              </a:rPr>
              <a:t>other.real</a:t>
            </a:r>
            <a:r>
              <a:rPr lang="en-US" sz="2000" b="0" dirty="0">
                <a:solidFill>
                  <a:srgbClr val="FFFFFF"/>
                </a:solidFill>
                <a:effectLst/>
                <a:latin typeface="Consolas" panose="020B0609020204030204" pitchFamily="49" charset="0"/>
              </a:rPr>
              <a:t>, </a:t>
            </a:r>
            <a:r>
              <a:rPr lang="en-US" sz="2000" b="0" dirty="0" err="1">
                <a:solidFill>
                  <a:srgbClr val="9CDCFE"/>
                </a:solidFill>
                <a:effectLst/>
                <a:latin typeface="Consolas" panose="020B0609020204030204" pitchFamily="49" charset="0"/>
              </a:rPr>
              <a:t>self</a:t>
            </a:r>
            <a:r>
              <a:rPr lang="en-US" sz="2000" b="0" dirty="0" err="1">
                <a:solidFill>
                  <a:srgbClr val="FFFFFF"/>
                </a:solidFill>
                <a:effectLst/>
                <a:latin typeface="Consolas" panose="020B0609020204030204" pitchFamily="49" charset="0"/>
              </a:rPr>
              <a:t>.imag</a:t>
            </a:r>
            <a:r>
              <a:rPr lang="en-US" sz="2000" b="0" dirty="0">
                <a:solidFill>
                  <a:srgbClr val="FFFFFF"/>
                </a:solidFill>
                <a:effectLst/>
                <a:latin typeface="Consolas" panose="020B0609020204030204" pitchFamily="49" charset="0"/>
              </a:rPr>
              <a:t> </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 </a:t>
            </a:r>
            <a:r>
              <a:rPr lang="en-US" sz="2000" b="0" dirty="0" err="1">
                <a:solidFill>
                  <a:srgbClr val="FFFFFF"/>
                </a:solidFill>
                <a:effectLst/>
                <a:latin typeface="Consolas" panose="020B0609020204030204" pitchFamily="49" charset="0"/>
              </a:rPr>
              <a:t>other.imag</a:t>
            </a:r>
            <a:r>
              <a:rPr lang="en-US" sz="2000" b="0" dirty="0">
                <a:solidFill>
                  <a:srgbClr val="FFFFFF"/>
                </a:solidFill>
                <a:effectLst/>
                <a:latin typeface="Consolas" panose="020B0609020204030204" pitchFamily="49" charset="0"/>
              </a:rPr>
              <a:t>)</a:t>
            </a:r>
          </a:p>
          <a:p>
            <a:pPr marL="0" indent="0">
              <a:spcBef>
                <a:spcPts val="600"/>
              </a:spcBef>
              <a:buNone/>
            </a:pPr>
            <a:br>
              <a:rPr lang="en-US" sz="2000" b="0" dirty="0">
                <a:solidFill>
                  <a:srgbClr val="FFFFFF"/>
                </a:solidFill>
                <a:effectLst/>
                <a:latin typeface="Consolas" panose="020B0609020204030204" pitchFamily="49" charset="0"/>
              </a:rPr>
            </a:br>
            <a:r>
              <a:rPr lang="en-US" sz="2000" b="0" dirty="0">
                <a:solidFill>
                  <a:srgbClr val="FFFFFF"/>
                </a:solidFill>
                <a:effectLst/>
                <a:latin typeface="Consolas" panose="020B0609020204030204" pitchFamily="49" charset="0"/>
              </a:rPr>
              <a:t>x </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 Complex(</a:t>
            </a:r>
            <a:r>
              <a:rPr lang="en-US" sz="2000" b="0" dirty="0">
                <a:solidFill>
                  <a:srgbClr val="B5CEA8"/>
                </a:solidFill>
                <a:effectLst/>
                <a:latin typeface="Consolas" panose="020B0609020204030204" pitchFamily="49" charset="0"/>
              </a:rPr>
              <a:t>1</a:t>
            </a:r>
            <a:r>
              <a:rPr lang="en-US" sz="2000" b="0" dirty="0">
                <a:solidFill>
                  <a:srgbClr val="FFFFFF"/>
                </a:solidFill>
                <a:effectLst/>
                <a:latin typeface="Consolas" panose="020B0609020204030204" pitchFamily="49" charset="0"/>
              </a:rPr>
              <a:t>, </a:t>
            </a:r>
            <a:r>
              <a:rPr lang="en-US" sz="2000" b="0" dirty="0">
                <a:solidFill>
                  <a:srgbClr val="B5CEA8"/>
                </a:solidFill>
                <a:effectLst/>
                <a:latin typeface="Consolas" panose="020B0609020204030204" pitchFamily="49" charset="0"/>
              </a:rPr>
              <a:t>2</a:t>
            </a:r>
            <a:r>
              <a:rPr lang="en-US" sz="2000" b="0" dirty="0">
                <a:solidFill>
                  <a:srgbClr val="FFFFFF"/>
                </a:solidFill>
                <a:effectLst/>
                <a:latin typeface="Consolas" panose="020B0609020204030204" pitchFamily="49" charset="0"/>
              </a:rPr>
              <a:t>)</a:t>
            </a:r>
          </a:p>
          <a:p>
            <a:pPr marL="0" indent="0">
              <a:spcBef>
                <a:spcPts val="600"/>
              </a:spcBef>
              <a:buNone/>
            </a:pPr>
            <a:r>
              <a:rPr lang="en-US" sz="2000" b="0" dirty="0">
                <a:solidFill>
                  <a:srgbClr val="FFFFFF"/>
                </a:solidFill>
                <a:effectLst/>
                <a:latin typeface="Consolas" panose="020B0609020204030204" pitchFamily="49" charset="0"/>
              </a:rPr>
              <a:t>y </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 Complex(</a:t>
            </a:r>
            <a:r>
              <a:rPr lang="en-US" sz="2000" b="0" dirty="0">
                <a:solidFill>
                  <a:srgbClr val="B5CEA8"/>
                </a:solidFill>
                <a:effectLst/>
                <a:latin typeface="Consolas" panose="020B0609020204030204" pitchFamily="49" charset="0"/>
              </a:rPr>
              <a:t>2</a:t>
            </a:r>
            <a:r>
              <a:rPr lang="en-US" sz="2000" b="0" dirty="0">
                <a:solidFill>
                  <a:srgbClr val="FFFFFF"/>
                </a:solidFill>
                <a:effectLst/>
                <a:latin typeface="Consolas" panose="020B0609020204030204" pitchFamily="49" charset="0"/>
              </a:rPr>
              <a:t>, </a:t>
            </a:r>
            <a:r>
              <a:rPr lang="en-US" sz="2000" b="0" dirty="0">
                <a:solidFill>
                  <a:srgbClr val="B5CEA8"/>
                </a:solidFill>
                <a:effectLst/>
                <a:latin typeface="Consolas" panose="020B0609020204030204" pitchFamily="49" charset="0"/>
              </a:rPr>
              <a:t>4</a:t>
            </a:r>
            <a:r>
              <a:rPr lang="en-US" sz="2000" b="0" dirty="0">
                <a:solidFill>
                  <a:srgbClr val="FFFFFF"/>
                </a:solidFill>
                <a:effectLst/>
                <a:latin typeface="Consolas" panose="020B0609020204030204" pitchFamily="49" charset="0"/>
              </a:rPr>
              <a:t>)</a:t>
            </a:r>
          </a:p>
          <a:p>
            <a:pPr marL="0" indent="0">
              <a:spcBef>
                <a:spcPts val="600"/>
              </a:spcBef>
              <a:buNone/>
            </a:pPr>
            <a:r>
              <a:rPr lang="en-US" sz="2000" b="0" dirty="0">
                <a:solidFill>
                  <a:srgbClr val="FFFFFF"/>
                </a:solidFill>
                <a:effectLst/>
                <a:latin typeface="Consolas" panose="020B0609020204030204" pitchFamily="49" charset="0"/>
              </a:rPr>
              <a:t>x </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 x </a:t>
            </a:r>
            <a:r>
              <a:rPr lang="en-US" sz="2000" b="0" dirty="0">
                <a:solidFill>
                  <a:srgbClr val="D4D4D4"/>
                </a:solidFill>
                <a:effectLst/>
                <a:latin typeface="Consolas" panose="020B0609020204030204" pitchFamily="49" charset="0"/>
              </a:rPr>
              <a:t>+</a:t>
            </a:r>
            <a:r>
              <a:rPr lang="en-US" sz="2000" b="0" dirty="0">
                <a:solidFill>
                  <a:srgbClr val="FFFFFF"/>
                </a:solidFill>
                <a:effectLst/>
                <a:latin typeface="Consolas" panose="020B0609020204030204" pitchFamily="49" charset="0"/>
              </a:rPr>
              <a:t> y</a:t>
            </a:r>
          </a:p>
          <a:p>
            <a:pPr marL="0" indent="0">
              <a:spcBef>
                <a:spcPts val="600"/>
              </a:spcBef>
              <a:buNone/>
            </a:pPr>
            <a:r>
              <a:rPr lang="en-US" sz="2000" b="0" dirty="0">
                <a:solidFill>
                  <a:srgbClr val="DCDCAA"/>
                </a:solidFill>
                <a:effectLst/>
                <a:latin typeface="Consolas" panose="020B0609020204030204" pitchFamily="49" charset="0"/>
              </a:rPr>
              <a:t>print</a:t>
            </a:r>
            <a:r>
              <a:rPr lang="en-US" sz="2000" b="0" dirty="0">
                <a:solidFill>
                  <a:srgbClr val="FFFFFF"/>
                </a:solidFill>
                <a:effectLst/>
                <a:latin typeface="Consolas" panose="020B0609020204030204" pitchFamily="49" charset="0"/>
              </a:rPr>
              <a:t>(x)</a:t>
            </a:r>
          </a:p>
          <a:p>
            <a:pPr marL="0" indent="0">
              <a:spcBef>
                <a:spcPts val="600"/>
              </a:spcBef>
              <a:buNone/>
            </a:pPr>
            <a:endParaRPr lang="en-US" sz="2000"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67032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8649A-B5F8-4D3C-8938-25E228F2168B}"/>
              </a:ext>
            </a:extLst>
          </p:cNvPr>
          <p:cNvSpPr>
            <a:spLocks noGrp="1"/>
          </p:cNvSpPr>
          <p:nvPr>
            <p:ph type="title"/>
          </p:nvPr>
        </p:nvSpPr>
        <p:spPr/>
        <p:txBody>
          <a:bodyPr/>
          <a:lstStyle/>
          <a:p>
            <a:r>
              <a:rPr lang="en-US" dirty="0"/>
              <a:t>Iterators</a:t>
            </a:r>
          </a:p>
        </p:txBody>
      </p:sp>
      <p:sp>
        <p:nvSpPr>
          <p:cNvPr id="3" name="Content Placeholder 2">
            <a:extLst>
              <a:ext uri="{FF2B5EF4-FFF2-40B4-BE49-F238E27FC236}">
                <a16:creationId xmlns:a16="http://schemas.microsoft.com/office/drawing/2014/main" id="{65EAE406-D018-452C-980B-ABE7DBDB4DFD}"/>
              </a:ext>
            </a:extLst>
          </p:cNvPr>
          <p:cNvSpPr>
            <a:spLocks noGrp="1"/>
          </p:cNvSpPr>
          <p:nvPr>
            <p:ph idx="1"/>
          </p:nvPr>
        </p:nvSpPr>
        <p:spPr/>
        <p:txBody>
          <a:bodyPr>
            <a:normAutofit fontScale="92500" lnSpcReduction="10000"/>
          </a:bodyPr>
          <a:lstStyle/>
          <a:p>
            <a:r>
              <a:rPr lang="en-US" dirty="0"/>
              <a:t>iterator is an object that can be iterated upon, meaning that you can traverse through all the values</a:t>
            </a:r>
          </a:p>
          <a:p>
            <a:r>
              <a:rPr lang="en-US" dirty="0"/>
              <a:t>an iterator is an object which implements the iterator protocol, which consist of the methods </a:t>
            </a:r>
            <a:r>
              <a:rPr lang="en-US" b="1" dirty="0"/>
              <a:t>__iter__() </a:t>
            </a:r>
            <a:r>
              <a:rPr lang="en-US" dirty="0"/>
              <a:t>and </a:t>
            </a:r>
            <a:r>
              <a:rPr lang="en-US" b="1" dirty="0"/>
              <a:t>__next__()</a:t>
            </a:r>
            <a:r>
              <a:rPr lang="en-US" dirty="0"/>
              <a:t>.</a:t>
            </a:r>
          </a:p>
          <a:p>
            <a:r>
              <a:rPr lang="en-US" dirty="0"/>
              <a:t>Lists, tuples, dictionaries, and sets are all iterable objects. They are iterable containers which you can get an iterator from.</a:t>
            </a:r>
          </a:p>
          <a:p>
            <a:r>
              <a:rPr lang="en-US" dirty="0"/>
              <a:t>All these objects have a </a:t>
            </a:r>
            <a:r>
              <a:rPr lang="en-US" b="1" dirty="0"/>
              <a:t>iter() </a:t>
            </a:r>
            <a:r>
              <a:rPr lang="en-US" dirty="0"/>
              <a:t>method which is used to get an iterator</a:t>
            </a:r>
          </a:p>
          <a:p>
            <a:r>
              <a:rPr lang="en-US" dirty="0">
                <a:latin typeface="Courier New" panose="02070309020205020404" pitchFamily="49" charset="0"/>
                <a:cs typeface="Courier New" panose="02070309020205020404" pitchFamily="49" charset="0"/>
              </a:rPr>
              <a:t>foods = ("carrot", "apple", "pear")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my_interator = iter(foods)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print(next(my_iterator))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print(next(my_iterator))</a:t>
            </a:r>
          </a:p>
          <a:p>
            <a:endParaRPr lang="en-US" dirty="0"/>
          </a:p>
        </p:txBody>
      </p:sp>
    </p:spTree>
    <p:extLst>
      <p:ext uri="{BB962C8B-B14F-4D97-AF65-F5344CB8AC3E}">
        <p14:creationId xmlns:p14="http://schemas.microsoft.com/office/powerpoint/2010/main" val="1178193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E1B20-67D6-4BBB-86B2-C5F9BCF36BD5}"/>
              </a:ext>
            </a:extLst>
          </p:cNvPr>
          <p:cNvSpPr>
            <a:spLocks noGrp="1"/>
          </p:cNvSpPr>
          <p:nvPr>
            <p:ph type="title"/>
          </p:nvPr>
        </p:nvSpPr>
        <p:spPr/>
        <p:txBody>
          <a:bodyPr/>
          <a:lstStyle/>
          <a:p>
            <a:r>
              <a:rPr lang="en-US" dirty="0"/>
              <a:t>Creating Your Own Iterator</a:t>
            </a:r>
          </a:p>
        </p:txBody>
      </p:sp>
      <p:sp>
        <p:nvSpPr>
          <p:cNvPr id="3" name="Content Placeholder 2">
            <a:extLst>
              <a:ext uri="{FF2B5EF4-FFF2-40B4-BE49-F238E27FC236}">
                <a16:creationId xmlns:a16="http://schemas.microsoft.com/office/drawing/2014/main" id="{7F859309-C6C9-4C2E-9410-95D1148CBFC3}"/>
              </a:ext>
            </a:extLst>
          </p:cNvPr>
          <p:cNvSpPr>
            <a:spLocks noGrp="1"/>
          </p:cNvSpPr>
          <p:nvPr>
            <p:ph idx="1"/>
          </p:nvPr>
        </p:nvSpPr>
        <p:spPr>
          <a:xfrm>
            <a:off x="1218883" y="1701796"/>
            <a:ext cx="9628057" cy="4967563"/>
          </a:xfrm>
        </p:spPr>
        <p:txBody>
          <a:bodyPr>
            <a:normAutofit fontScale="62500" lnSpcReduction="20000"/>
          </a:bodyPr>
          <a:lstStyle/>
          <a:p>
            <a:pPr marL="0" indent="0">
              <a:spcBef>
                <a:spcPts val="600"/>
              </a:spcBef>
              <a:buNone/>
            </a:pP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Reverse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"""Iterator for looping over a sequence backwards."""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__init__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data</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.data</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data</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.index</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(data)</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a:t>
            </a:r>
            <a:r>
              <a:rPr lang="en-US" b="0" dirty="0" err="1">
                <a:solidFill>
                  <a:srgbClr val="DCDCAA"/>
                </a:solidFill>
                <a:effectLst/>
                <a:latin typeface="Consolas" panose="020B0609020204030204" pitchFamily="49" charset="0"/>
              </a:rPr>
              <a:t>iter</a:t>
            </a:r>
            <a:r>
              <a:rPr lang="en-US" b="0" dirty="0">
                <a:solidFill>
                  <a:srgbClr val="DCDCAA"/>
                </a:solidFill>
                <a:effectLst/>
                <a:latin typeface="Consolas" panose="020B0609020204030204" pitchFamily="49" charset="0"/>
              </a:rPr>
              <a:t>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self</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__next__</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.index</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raise</a:t>
            </a:r>
            <a:r>
              <a:rPr lang="en-US" b="0" dirty="0">
                <a:solidFill>
                  <a:srgbClr val="FFFFFF"/>
                </a:solidFill>
                <a:effectLst/>
                <a:latin typeface="Consolas" panose="020B0609020204030204" pitchFamily="49" charset="0"/>
              </a:rPr>
              <a:t> </a:t>
            </a:r>
            <a:r>
              <a:rPr lang="en-US" b="0" dirty="0" err="1">
                <a:solidFill>
                  <a:srgbClr val="4EC9B0"/>
                </a:solidFill>
                <a:effectLst/>
                <a:latin typeface="Consolas" panose="020B0609020204030204" pitchFamily="49" charset="0"/>
              </a:rPr>
              <a:t>StopIteration</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.index</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.index</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.data</a:t>
            </a:r>
            <a:r>
              <a:rPr lang="en-US" b="0" dirty="0">
                <a:solidFill>
                  <a:srgbClr val="FFFFFF"/>
                </a:solidFill>
                <a:effectLst/>
                <a:latin typeface="Consolas" panose="020B0609020204030204" pitchFamily="49" charset="0"/>
              </a:rPr>
              <a:t>[</a:t>
            </a:r>
            <a:r>
              <a:rPr lang="en-US" b="0" dirty="0" err="1">
                <a:solidFill>
                  <a:srgbClr val="9CDCFE"/>
                </a:solidFill>
                <a:effectLst/>
                <a:latin typeface="Consolas" panose="020B0609020204030204" pitchFamily="49" charset="0"/>
              </a:rPr>
              <a:t>self</a:t>
            </a:r>
            <a:r>
              <a:rPr lang="en-US" b="0" dirty="0" err="1">
                <a:solidFill>
                  <a:srgbClr val="FFFFFF"/>
                </a:solidFill>
                <a:effectLst/>
                <a:latin typeface="Consolas" panose="020B0609020204030204" pitchFamily="49" charset="0"/>
              </a:rPr>
              <a:t>.index</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p>
          <a:p>
            <a:pPr marL="0" indent="0">
              <a:spcBef>
                <a:spcPts val="600"/>
              </a:spcBef>
              <a:buNone/>
            </a:pPr>
            <a:r>
              <a:rPr lang="en-US" b="0" dirty="0">
                <a:solidFill>
                  <a:srgbClr val="FFFFFF"/>
                </a:solidFill>
                <a:effectLst/>
                <a:latin typeface="Consolas" panose="020B0609020204030204" pitchFamily="49" charset="0"/>
              </a:rPr>
              <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100</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30</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Reverse(a):</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681394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47B78-E796-4A54-A9EE-069343FAEC7F}"/>
              </a:ext>
            </a:extLst>
          </p:cNvPr>
          <p:cNvSpPr>
            <a:spLocks noGrp="1"/>
          </p:cNvSpPr>
          <p:nvPr>
            <p:ph type="title"/>
          </p:nvPr>
        </p:nvSpPr>
        <p:spPr/>
        <p:txBody>
          <a:bodyPr/>
          <a:lstStyle/>
          <a:p>
            <a:r>
              <a:rPr lang="en-US" dirty="0"/>
              <a:t>Generators</a:t>
            </a:r>
          </a:p>
        </p:txBody>
      </p:sp>
      <p:sp>
        <p:nvSpPr>
          <p:cNvPr id="3" name="Content Placeholder 2">
            <a:extLst>
              <a:ext uri="{FF2B5EF4-FFF2-40B4-BE49-F238E27FC236}">
                <a16:creationId xmlns:a16="http://schemas.microsoft.com/office/drawing/2014/main" id="{2DDEF8E8-276B-4EB8-A893-EB0D6ADD4AAC}"/>
              </a:ext>
            </a:extLst>
          </p:cNvPr>
          <p:cNvSpPr>
            <a:spLocks noGrp="1"/>
          </p:cNvSpPr>
          <p:nvPr>
            <p:ph idx="1"/>
          </p:nvPr>
        </p:nvSpPr>
        <p:spPr>
          <a:xfrm>
            <a:off x="1218883" y="1701796"/>
            <a:ext cx="10360501" cy="4751539"/>
          </a:xfrm>
        </p:spPr>
        <p:txBody>
          <a:bodyPr>
            <a:normAutofit lnSpcReduction="10000"/>
          </a:bodyPr>
          <a:lstStyle/>
          <a:p>
            <a:r>
              <a:rPr lang="en-US" dirty="0"/>
              <a:t>Generators provide an easier way to do iterators using the </a:t>
            </a:r>
            <a:r>
              <a:rPr lang="en-US" b="1" dirty="0"/>
              <a:t>yield</a:t>
            </a:r>
            <a:r>
              <a:rPr lang="en-US" dirty="0"/>
              <a:t> keyword instead of return in function definitions</a:t>
            </a:r>
          </a:p>
          <a:p>
            <a:r>
              <a:rPr lang="en-US" dirty="0"/>
              <a:t>Generator functions allow you to declare a function that behaves like an iterator, i.e. it can be used in a for loop</a:t>
            </a:r>
          </a:p>
          <a:p>
            <a:r>
              <a:rPr lang="en-US" dirty="0"/>
              <a:t>You can use generators to build objects and then iterate them using next(generator_object) just like you were using iterator objects</a:t>
            </a:r>
          </a:p>
          <a:p>
            <a:r>
              <a:rPr lang="en-US" dirty="0"/>
              <a:t>Generators can also be used like list comprehensions:</a:t>
            </a:r>
            <a:br>
              <a:rPr lang="en-US" dirty="0"/>
            </a:br>
            <a:r>
              <a:rPr lang="en-US" dirty="0">
                <a:latin typeface="Courier New" panose="02070309020205020404" pitchFamily="49" charset="0"/>
                <a:cs typeface="Courier New" panose="02070309020205020404" pitchFamily="49" charset="0"/>
              </a:rPr>
              <a:t># list comprehension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doubles = [2 * n for n in range(50)]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same as the list comprehension above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doubles = list(2 * n for n in range(50))</a:t>
            </a:r>
          </a:p>
          <a:p>
            <a:endParaRPr lang="en-US" dirty="0"/>
          </a:p>
        </p:txBody>
      </p:sp>
    </p:spTree>
    <p:extLst>
      <p:ext uri="{BB962C8B-B14F-4D97-AF65-F5344CB8AC3E}">
        <p14:creationId xmlns:p14="http://schemas.microsoft.com/office/powerpoint/2010/main" val="981248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B2BD2-C2E2-471C-AA65-836636D4FA6E}"/>
              </a:ext>
            </a:extLst>
          </p:cNvPr>
          <p:cNvSpPr>
            <a:spLocks noGrp="1"/>
          </p:cNvSpPr>
          <p:nvPr>
            <p:ph type="title"/>
          </p:nvPr>
        </p:nvSpPr>
        <p:spPr/>
        <p:txBody>
          <a:bodyPr/>
          <a:lstStyle/>
          <a:p>
            <a:r>
              <a:rPr lang="en-US" dirty="0"/>
              <a:t>Generator Examples</a:t>
            </a:r>
          </a:p>
        </p:txBody>
      </p:sp>
      <p:sp>
        <p:nvSpPr>
          <p:cNvPr id="3" name="Content Placeholder 2">
            <a:extLst>
              <a:ext uri="{FF2B5EF4-FFF2-40B4-BE49-F238E27FC236}">
                <a16:creationId xmlns:a16="http://schemas.microsoft.com/office/drawing/2014/main" id="{083B7979-1EA2-4B8B-A902-3E2B98AE56E8}"/>
              </a:ext>
            </a:extLst>
          </p:cNvPr>
          <p:cNvSpPr>
            <a:spLocks noGrp="1"/>
          </p:cNvSpPr>
          <p:nvPr>
            <p:ph idx="1"/>
          </p:nvPr>
        </p:nvSpPr>
        <p:spPr>
          <a:xfrm>
            <a:off x="1218883" y="1701797"/>
            <a:ext cx="10360501" cy="4881566"/>
          </a:xfrm>
        </p:spPr>
        <p:txBody>
          <a:bodyPr>
            <a:normAutofit fontScale="70000" lnSpcReduction="20000"/>
          </a:bodyPr>
          <a:lstStyle/>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reverse</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data</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"""Generator iterating backwards"""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index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range</a:t>
            </a:r>
            <a:r>
              <a:rPr lang="en-US" b="0" dirty="0">
                <a:solidFill>
                  <a:srgbClr val="FFFFFF"/>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(data)</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yield</a:t>
            </a:r>
            <a:r>
              <a:rPr lang="en-US" b="0" dirty="0">
                <a:solidFill>
                  <a:srgbClr val="FFFFFF"/>
                </a:solidFill>
                <a:effectLst/>
                <a:latin typeface="Consolas" panose="020B0609020204030204" pitchFamily="49" charset="0"/>
              </a:rPr>
              <a:t> data[index]</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char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reverse(</a:t>
            </a:r>
            <a:r>
              <a:rPr lang="en-US" b="0" dirty="0">
                <a:solidFill>
                  <a:srgbClr val="CE9178"/>
                </a:solidFill>
                <a:effectLst/>
                <a:latin typeface="Consolas" panose="020B0609020204030204" pitchFamily="49" charset="0"/>
              </a:rPr>
              <a:t>'spam'</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(char)</a:t>
            </a:r>
          </a:p>
          <a:p>
            <a:pPr marL="0" indent="0">
              <a:spcBef>
                <a:spcPts val="600"/>
              </a:spcBef>
              <a:buNone/>
            </a:pPr>
            <a:r>
              <a:rPr lang="en-US" b="0" dirty="0">
                <a:solidFill>
                  <a:srgbClr val="FFFFFF"/>
                </a:solidFill>
                <a:effectLst/>
                <a:latin typeface="Consolas" panose="020B0609020204030204" pitchFamily="49" charset="0"/>
              </a:rPr>
              <a:t>    </a:t>
            </a:r>
          </a:p>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fib</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 b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yield</a:t>
            </a:r>
            <a:r>
              <a:rPr lang="en-US" b="0" dirty="0">
                <a:solidFill>
                  <a:srgbClr val="FFFFFF"/>
                </a:solidFill>
                <a:effectLst/>
                <a:latin typeface="Consolas" panose="020B0609020204030204" pitchFamily="49" charset="0"/>
              </a:rPr>
              <a:t> a</a:t>
            </a:r>
          </a:p>
          <a:p>
            <a:pPr marL="0" indent="0">
              <a:spcBef>
                <a:spcPts val="600"/>
              </a:spcBef>
              <a:buNone/>
            </a:pPr>
            <a:r>
              <a:rPr lang="en-US" b="0" dirty="0">
                <a:solidFill>
                  <a:srgbClr val="FFFFFF"/>
                </a:solidFill>
                <a:effectLst/>
                <a:latin typeface="Consolas" panose="020B0609020204030204" pitchFamily="49" charset="0"/>
              </a:rPr>
              <a:t>        a, b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b, a </a:t>
            </a:r>
            <a:r>
              <a:rPr lang="en-US" b="0" dirty="0">
                <a:solidFill>
                  <a:srgbClr val="D4D4D4"/>
                </a:solidFill>
                <a:effectLst/>
                <a:latin typeface="Consolas" panose="020B0609020204030204" pitchFamily="49" charset="0"/>
              </a:rPr>
              <a:t>+ </a:t>
            </a:r>
            <a:r>
              <a:rPr lang="en-US" b="0" dirty="0">
                <a:solidFill>
                  <a:srgbClr val="FFFFFF"/>
                </a:solidFill>
                <a:effectLst/>
                <a:latin typeface="Consolas" panose="020B0609020204030204" pitchFamily="49" charset="0"/>
              </a:rPr>
              <a:t>b</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f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fib()</a:t>
            </a:r>
          </a:p>
          <a:p>
            <a:pPr marL="0" indent="0">
              <a:spcBef>
                <a:spcPts val="600"/>
              </a:spcBef>
              <a:buNone/>
            </a:pP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x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range</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2000</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next</a:t>
            </a:r>
            <a:r>
              <a:rPr lang="en-US" b="0" dirty="0">
                <a:solidFill>
                  <a:srgbClr val="FFFFFF"/>
                </a:solidFill>
                <a:effectLst/>
                <a:latin typeface="Consolas" panose="020B0609020204030204" pitchFamily="49" charset="0"/>
              </a:rPr>
              <a:t>(f))</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465893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ADF5BEB-1249-4BC1-840C-A526B9DA7821}"/>
              </a:ext>
            </a:extLst>
          </p:cNvPr>
          <p:cNvSpPr>
            <a:spLocks noGrp="1"/>
          </p:cNvSpPr>
          <p:nvPr>
            <p:ph type="title"/>
          </p:nvPr>
        </p:nvSpPr>
        <p:spPr/>
        <p:txBody>
          <a:bodyPr/>
          <a:lstStyle/>
          <a:p>
            <a:r>
              <a:rPr lang="en-US" dirty="0"/>
              <a:t>Python Scopes</a:t>
            </a:r>
          </a:p>
        </p:txBody>
      </p:sp>
      <p:graphicFrame>
        <p:nvGraphicFramePr>
          <p:cNvPr id="4" name="Sisällön paikkamerkki 3">
            <a:extLst>
              <a:ext uri="{FF2B5EF4-FFF2-40B4-BE49-F238E27FC236}">
                <a16:creationId xmlns:a16="http://schemas.microsoft.com/office/drawing/2014/main" id="{88218B72-4930-4C2E-844C-094E5123AE02}"/>
              </a:ext>
            </a:extLst>
          </p:cNvPr>
          <p:cNvGraphicFramePr>
            <a:graphicFrameLocks noGrp="1"/>
          </p:cNvGraphicFramePr>
          <p:nvPr>
            <p:ph sz="half" idx="1"/>
            <p:extLst>
              <p:ext uri="{D42A27DB-BD31-4B8C-83A1-F6EECF244321}">
                <p14:modId xmlns:p14="http://schemas.microsoft.com/office/powerpoint/2010/main" val="1980071942"/>
              </p:ext>
            </p:extLst>
          </p:nvPr>
        </p:nvGraphicFramePr>
        <p:xfrm>
          <a:off x="1219200" y="1706563"/>
          <a:ext cx="5078413" cy="4465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isällön paikkamerkki 4">
            <a:extLst>
              <a:ext uri="{FF2B5EF4-FFF2-40B4-BE49-F238E27FC236}">
                <a16:creationId xmlns:a16="http://schemas.microsoft.com/office/drawing/2014/main" id="{9EF22190-5D34-4D2B-B799-7D8F572F9AB8}"/>
              </a:ext>
            </a:extLst>
          </p:cNvPr>
          <p:cNvSpPr>
            <a:spLocks noGrp="1"/>
          </p:cNvSpPr>
          <p:nvPr>
            <p:ph sz="half" idx="2"/>
          </p:nvPr>
        </p:nvSpPr>
        <p:spPr/>
        <p:txBody>
          <a:bodyPr/>
          <a:lstStyle/>
          <a:p>
            <a:r>
              <a:rPr lang="en-US" dirty="0"/>
              <a:t>Any name declared inside a function is local, unless preceded with keyword </a:t>
            </a:r>
            <a:r>
              <a:rPr lang="en-US" b="1" dirty="0"/>
              <a:t>nonlocal</a:t>
            </a:r>
            <a:r>
              <a:rPr lang="en-US" dirty="0"/>
              <a:t> (enclosing scope) or </a:t>
            </a:r>
            <a:r>
              <a:rPr lang="en-US" b="1" dirty="0"/>
              <a:t>global</a:t>
            </a:r>
          </a:p>
          <a:p>
            <a:r>
              <a:rPr lang="en-US" b="1" dirty="0"/>
              <a:t>Local </a:t>
            </a:r>
            <a:r>
              <a:rPr lang="en-US" dirty="0"/>
              <a:t>is usually better than </a:t>
            </a:r>
            <a:r>
              <a:rPr lang="en-US" b="1" dirty="0"/>
              <a:t>Global</a:t>
            </a:r>
            <a:r>
              <a:rPr lang="en-US" dirty="0"/>
              <a:t>.</a:t>
            </a:r>
            <a:endParaRPr lang="en-US" b="1" dirty="0"/>
          </a:p>
          <a:p>
            <a:pPr lvl="1"/>
            <a:r>
              <a:rPr lang="en-US" dirty="0"/>
              <a:t>Faster</a:t>
            </a:r>
          </a:p>
          <a:p>
            <a:pPr lvl="1"/>
            <a:r>
              <a:rPr lang="en-US" dirty="0"/>
              <a:t>Less pollution of global name-space</a:t>
            </a:r>
          </a:p>
          <a:p>
            <a:pPr lvl="1"/>
            <a:endParaRPr lang="en-US" dirty="0"/>
          </a:p>
        </p:txBody>
      </p:sp>
    </p:spTree>
    <p:extLst>
      <p:ext uri="{BB962C8B-B14F-4D97-AF65-F5344CB8AC3E}">
        <p14:creationId xmlns:p14="http://schemas.microsoft.com/office/powerpoint/2010/main" val="4291886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tsikko 4">
            <a:extLst>
              <a:ext uri="{FF2B5EF4-FFF2-40B4-BE49-F238E27FC236}">
                <a16:creationId xmlns:a16="http://schemas.microsoft.com/office/drawing/2014/main" id="{A90D070E-6921-40F3-9C7A-7447D5BD9CDD}"/>
              </a:ext>
            </a:extLst>
          </p:cNvPr>
          <p:cNvSpPr>
            <a:spLocks noGrp="1"/>
          </p:cNvSpPr>
          <p:nvPr>
            <p:ph type="title"/>
          </p:nvPr>
        </p:nvSpPr>
        <p:spPr/>
        <p:txBody>
          <a:bodyPr/>
          <a:lstStyle/>
          <a:p>
            <a:r>
              <a:rPr lang="en-US" dirty="0"/>
              <a:t>Local vs Global</a:t>
            </a:r>
          </a:p>
        </p:txBody>
      </p:sp>
      <p:sp>
        <p:nvSpPr>
          <p:cNvPr id="6" name="Sisällön paikkamerkki 5">
            <a:extLst>
              <a:ext uri="{FF2B5EF4-FFF2-40B4-BE49-F238E27FC236}">
                <a16:creationId xmlns:a16="http://schemas.microsoft.com/office/drawing/2014/main" id="{C9A6486F-52D4-4DAE-B96F-3EEBB80E31A7}"/>
              </a:ext>
            </a:extLst>
          </p:cNvPr>
          <p:cNvSpPr>
            <a:spLocks noGrp="1"/>
          </p:cNvSpPr>
          <p:nvPr>
            <p:ph idx="1"/>
          </p:nvPr>
        </p:nvSpPr>
        <p:spPr/>
        <p:txBody>
          <a:bodyPr>
            <a:normAutofit fontScale="77500" lnSpcReduction="20000"/>
          </a:bodyPr>
          <a:lstStyle/>
          <a:p>
            <a:pPr marL="0" indent="0">
              <a:spcBef>
                <a:spcPts val="600"/>
              </a:spcBef>
              <a:buNone/>
            </a:pPr>
            <a:r>
              <a:rPr lang="en-US" b="0" dirty="0">
                <a:solidFill>
                  <a:srgbClr val="FFFFFF"/>
                </a:solidFill>
                <a:effectLst/>
                <a:latin typeface="Consolas" panose="020B0609020204030204" pitchFamily="49" charset="0"/>
              </a:rPr>
              <a:t>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global x</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f</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x</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this parameter x is local</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this is local x</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y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this is local y</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y</a:t>
            </a:r>
          </a:p>
          <a:p>
            <a:pPr marL="0" indent="0">
              <a:spcBef>
                <a:spcPts val="600"/>
              </a:spcBef>
              <a:buNone/>
            </a:pP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"x ="</a:t>
            </a:r>
            <a:r>
              <a:rPr lang="en-US" b="0" dirty="0">
                <a:solidFill>
                  <a:srgbClr val="FFFFFF"/>
                </a:solidFill>
                <a:effectLst/>
                <a:latin typeface="Consolas" panose="020B0609020204030204" pitchFamily="49" charset="0"/>
              </a:rPr>
              <a:t>, x)</a:t>
            </a:r>
          </a:p>
          <a:p>
            <a:pPr marL="0" indent="0">
              <a:spcBef>
                <a:spcPts val="600"/>
              </a:spcBef>
              <a:buNone/>
            </a:pPr>
            <a:r>
              <a:rPr lang="en-US" b="0" dirty="0">
                <a:solidFill>
                  <a:srgbClr val="FFFFFF"/>
                </a:solidFill>
                <a:effectLst/>
                <a:latin typeface="Consolas" panose="020B0609020204030204" pitchFamily="49" charset="0"/>
              </a:rPr>
              <a:t>y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f(</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this is global y</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"y ="</a:t>
            </a:r>
            <a:r>
              <a:rPr lang="en-US" b="0" dirty="0">
                <a:solidFill>
                  <a:srgbClr val="FFFFFF"/>
                </a:solidFill>
                <a:effectLst/>
                <a:latin typeface="Consolas" panose="020B0609020204030204" pitchFamily="49" charset="0"/>
              </a:rPr>
              <a:t>, y)</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"x ="</a:t>
            </a:r>
            <a:r>
              <a:rPr lang="en-US" b="0" dirty="0">
                <a:solidFill>
                  <a:srgbClr val="FFFFFF"/>
                </a:solidFill>
                <a:effectLst/>
                <a:latin typeface="Consolas" panose="020B0609020204030204" pitchFamily="49" charset="0"/>
              </a:rPr>
              <a:t>, x)</a:t>
            </a:r>
          </a:p>
          <a:p>
            <a:pPr marL="0" indent="0">
              <a:spcBef>
                <a:spcPts val="600"/>
              </a:spcBef>
              <a:buNone/>
            </a:pPr>
            <a:r>
              <a:rPr lang="en-US" b="0" dirty="0">
                <a:solidFill>
                  <a:srgbClr val="FFFFFF"/>
                </a:solidFill>
                <a:effectLst/>
                <a:latin typeface="Consolas" panose="020B0609020204030204" pitchFamily="49" charset="0"/>
              </a:rPr>
              <a:t>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this is global x</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"x ="</a:t>
            </a:r>
            <a:r>
              <a:rPr lang="en-US" b="0" dirty="0">
                <a:solidFill>
                  <a:srgbClr val="FFFFFF"/>
                </a:solidFill>
                <a:effectLst/>
                <a:latin typeface="Consolas" panose="020B0609020204030204" pitchFamily="49" charset="0"/>
              </a:rPr>
              <a:t>, x)</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293169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62FE1B7-BB84-4132-8A67-6CCDD3FE9F76}"/>
              </a:ext>
            </a:extLst>
          </p:cNvPr>
          <p:cNvSpPr>
            <a:spLocks noGrp="1"/>
          </p:cNvSpPr>
          <p:nvPr>
            <p:ph type="title"/>
          </p:nvPr>
        </p:nvSpPr>
        <p:spPr/>
        <p:txBody>
          <a:bodyPr/>
          <a:lstStyle/>
          <a:p>
            <a:r>
              <a:rPr lang="en-US" dirty="0"/>
              <a:t>Local vs Nonlocal vs Global</a:t>
            </a:r>
          </a:p>
        </p:txBody>
      </p:sp>
      <p:sp>
        <p:nvSpPr>
          <p:cNvPr id="3" name="Sisällön paikkamerkki 2">
            <a:extLst>
              <a:ext uri="{FF2B5EF4-FFF2-40B4-BE49-F238E27FC236}">
                <a16:creationId xmlns:a16="http://schemas.microsoft.com/office/drawing/2014/main" id="{FFD3A73E-3C84-4287-A216-0E5E51BC6767}"/>
              </a:ext>
            </a:extLst>
          </p:cNvPr>
          <p:cNvSpPr>
            <a:spLocks noGrp="1"/>
          </p:cNvSpPr>
          <p:nvPr>
            <p:ph idx="1"/>
          </p:nvPr>
        </p:nvSpPr>
        <p:spPr>
          <a:xfrm>
            <a:off x="1218883" y="1701796"/>
            <a:ext cx="10360501" cy="5039571"/>
          </a:xfrm>
        </p:spPr>
        <p:txBody>
          <a:bodyPr>
            <a:normAutofit fontScale="55000" lnSpcReduction="20000"/>
          </a:bodyPr>
          <a:lstStyle/>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scope_test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do_local</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spam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"local spam"</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do_nonlocal</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nonlocal</a:t>
            </a:r>
            <a:r>
              <a:rPr lang="en-US" b="0" dirty="0">
                <a:solidFill>
                  <a:srgbClr val="FFFFFF"/>
                </a:solidFill>
                <a:effectLst/>
                <a:latin typeface="Consolas" panose="020B0609020204030204" pitchFamily="49" charset="0"/>
              </a:rPr>
              <a:t> spam</a:t>
            </a:r>
          </a:p>
          <a:p>
            <a:pPr marL="0" indent="0">
              <a:spcBef>
                <a:spcPts val="600"/>
              </a:spcBef>
              <a:buNone/>
            </a:pPr>
            <a:r>
              <a:rPr lang="en-US" b="0" dirty="0">
                <a:solidFill>
                  <a:srgbClr val="FFFFFF"/>
                </a:solidFill>
                <a:effectLst/>
                <a:latin typeface="Consolas" panose="020B0609020204030204" pitchFamily="49" charset="0"/>
              </a:rPr>
              <a:t>        spam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"nonlocal spam"</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do_global</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global</a:t>
            </a:r>
            <a:r>
              <a:rPr lang="en-US" b="0" dirty="0">
                <a:solidFill>
                  <a:srgbClr val="FFFFFF"/>
                </a:solidFill>
                <a:effectLst/>
                <a:latin typeface="Consolas" panose="020B0609020204030204" pitchFamily="49" charset="0"/>
              </a:rPr>
              <a:t> spam</a:t>
            </a:r>
          </a:p>
          <a:p>
            <a:pPr marL="0" indent="0">
              <a:spcBef>
                <a:spcPts val="600"/>
              </a:spcBef>
              <a:buNone/>
            </a:pPr>
            <a:r>
              <a:rPr lang="en-US" b="0" dirty="0">
                <a:solidFill>
                  <a:srgbClr val="FFFFFF"/>
                </a:solidFill>
                <a:effectLst/>
                <a:latin typeface="Consolas" panose="020B0609020204030204" pitchFamily="49" charset="0"/>
              </a:rPr>
              <a:t>        spam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"global spam"</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spam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"test spam"</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do_local</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"After local assignment:"</a:t>
            </a:r>
            <a:r>
              <a:rPr lang="en-US" b="0" dirty="0">
                <a:solidFill>
                  <a:srgbClr val="FFFFFF"/>
                </a:solidFill>
                <a:effectLst/>
                <a:latin typeface="Consolas" panose="020B0609020204030204" pitchFamily="49" charset="0"/>
              </a:rPr>
              <a:t>, spam)</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do_nonlocal</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"After nonlocal assignment:"</a:t>
            </a:r>
            <a:r>
              <a:rPr lang="en-US" b="0" dirty="0">
                <a:solidFill>
                  <a:srgbClr val="FFFFFF"/>
                </a:solidFill>
                <a:effectLst/>
                <a:latin typeface="Consolas" panose="020B0609020204030204" pitchFamily="49" charset="0"/>
              </a:rPr>
              <a:t>, spam)</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do_global</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"After global assignment:"</a:t>
            </a:r>
            <a:r>
              <a:rPr lang="en-US" b="0" dirty="0">
                <a:solidFill>
                  <a:srgbClr val="FFFFFF"/>
                </a:solidFill>
                <a:effectLst/>
                <a:latin typeface="Consolas" panose="020B0609020204030204" pitchFamily="49" charset="0"/>
              </a:rPr>
              <a:t>, spam)</a:t>
            </a:r>
          </a:p>
          <a:p>
            <a:pPr marL="0" indent="0">
              <a:spcBef>
                <a:spcPts val="600"/>
              </a:spcBef>
              <a:buNone/>
            </a:pPr>
            <a:br>
              <a:rPr lang="en-US" b="0" dirty="0">
                <a:solidFill>
                  <a:srgbClr val="FFFFFF"/>
                </a:solidFill>
                <a:effectLst/>
                <a:latin typeface="Consolas" panose="020B0609020204030204" pitchFamily="49" charset="0"/>
              </a:rPr>
            </a:br>
            <a:r>
              <a:rPr lang="en-US" b="0" dirty="0" err="1">
                <a:solidFill>
                  <a:srgbClr val="FFFFFF"/>
                </a:solidFill>
                <a:effectLst/>
                <a:latin typeface="Consolas" panose="020B0609020204030204" pitchFamily="49" charset="0"/>
              </a:rPr>
              <a:t>scope_test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 global scope:"</a:t>
            </a:r>
            <a:r>
              <a:rPr lang="en-US" b="0" dirty="0">
                <a:solidFill>
                  <a:srgbClr val="FFFFFF"/>
                </a:solidFill>
                <a:effectLst/>
                <a:latin typeface="Consolas" panose="020B0609020204030204" pitchFamily="49" charset="0"/>
              </a:rPr>
              <a:t>, spam)</a:t>
            </a:r>
          </a:p>
        </p:txBody>
      </p:sp>
    </p:spTree>
    <p:extLst>
      <p:ext uri="{BB962C8B-B14F-4D97-AF65-F5344CB8AC3E}">
        <p14:creationId xmlns:p14="http://schemas.microsoft.com/office/powerpoint/2010/main" val="1996365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9B375-F8BD-449A-9507-BDEF799FB6D9}"/>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F548C159-B48B-45E9-B9D1-8EDB31B809E5}"/>
              </a:ext>
            </a:extLst>
          </p:cNvPr>
          <p:cNvSpPr>
            <a:spLocks noGrp="1"/>
          </p:cNvSpPr>
          <p:nvPr>
            <p:ph idx="1"/>
          </p:nvPr>
        </p:nvSpPr>
        <p:spPr>
          <a:xfrm>
            <a:off x="1218883" y="1701796"/>
            <a:ext cx="10360501" cy="4967563"/>
          </a:xfrm>
        </p:spPr>
        <p:txBody>
          <a:bodyPr>
            <a:normAutofit fontScale="92500" lnSpcReduction="10000"/>
          </a:bodyPr>
          <a:lstStyle/>
          <a:p>
            <a:r>
              <a:rPr lang="en-US" dirty="0"/>
              <a:t>Every Python file (.py) is automatically a module, with its own name space.</a:t>
            </a:r>
          </a:p>
          <a:p>
            <a:r>
              <a:rPr lang="en-US" dirty="0"/>
              <a:t>Before writing your own code, study / search the standard module.</a:t>
            </a:r>
          </a:p>
          <a:p>
            <a:r>
              <a:rPr lang="en-US" dirty="0"/>
              <a:t>Name your Python file / module, using only the following characters:</a:t>
            </a:r>
            <a:br>
              <a:rPr lang="en-US" dirty="0"/>
            </a:br>
            <a:r>
              <a:rPr lang="en-US" dirty="0"/>
              <a:t>a-z, 0-9 and _ (do NOT use space, ÄÖ, capital letters etc.)</a:t>
            </a:r>
          </a:p>
          <a:p>
            <a:r>
              <a:rPr lang="en-US" dirty="0"/>
              <a:t>Do NOT create Python files, which have the same name as:</a:t>
            </a:r>
          </a:p>
          <a:p>
            <a:pPr lvl="1"/>
            <a:r>
              <a:rPr lang="en-US" dirty="0"/>
              <a:t>keyword in python e.g. while, for, if, def, class, global</a:t>
            </a:r>
          </a:p>
          <a:p>
            <a:pPr lvl="1"/>
            <a:r>
              <a:rPr lang="en-US" dirty="0"/>
              <a:t>built-in function in python e.g. list, min, max, print, input, filter, map</a:t>
            </a:r>
          </a:p>
          <a:p>
            <a:pPr lvl="1"/>
            <a:r>
              <a:rPr lang="en-US" dirty="0"/>
              <a:t>a module in standard library e.g. os, sys, math, cgi, socket, re, random</a:t>
            </a:r>
          </a:p>
          <a:p>
            <a:r>
              <a:rPr lang="en-US" dirty="0"/>
              <a:t>If you by mistake create a Python file with same name as inbuilt function or module in standard library, you are risking to mask / override that name.</a:t>
            </a:r>
          </a:p>
          <a:p>
            <a:pPr lvl="1"/>
            <a:endParaRPr lang="en-US" dirty="0"/>
          </a:p>
        </p:txBody>
      </p:sp>
    </p:spTree>
    <p:extLst>
      <p:ext uri="{BB962C8B-B14F-4D97-AF65-F5344CB8AC3E}">
        <p14:creationId xmlns:p14="http://schemas.microsoft.com/office/powerpoint/2010/main" val="83711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E477BCB-07C1-4834-BA21-235EDCF4307D}"/>
              </a:ext>
            </a:extLst>
          </p:cNvPr>
          <p:cNvSpPr>
            <a:spLocks noGrp="1"/>
          </p:cNvSpPr>
          <p:nvPr>
            <p:ph type="title"/>
          </p:nvPr>
        </p:nvSpPr>
        <p:spPr/>
        <p:txBody>
          <a:bodyPr/>
          <a:lstStyle/>
          <a:p>
            <a:r>
              <a:rPr lang="en-US" dirty="0"/>
              <a:t>Python Main Program</a:t>
            </a:r>
          </a:p>
        </p:txBody>
      </p:sp>
      <p:sp>
        <p:nvSpPr>
          <p:cNvPr id="3" name="Sisällön paikkamerkki 2">
            <a:extLst>
              <a:ext uri="{FF2B5EF4-FFF2-40B4-BE49-F238E27FC236}">
                <a16:creationId xmlns:a16="http://schemas.microsoft.com/office/drawing/2014/main" id="{2E0CFFB4-858E-40A5-9903-E6936CC69F9F}"/>
              </a:ext>
            </a:extLst>
          </p:cNvPr>
          <p:cNvSpPr>
            <a:spLocks noGrp="1"/>
          </p:cNvSpPr>
          <p:nvPr>
            <p:ph idx="1"/>
          </p:nvPr>
        </p:nvSpPr>
        <p:spPr>
          <a:xfrm>
            <a:off x="1218883" y="1701796"/>
            <a:ext cx="10360501" cy="4823547"/>
          </a:xfrm>
        </p:spPr>
        <p:txBody>
          <a:bodyPr>
            <a:normAutofit/>
          </a:bodyPr>
          <a:lstStyle/>
          <a:p>
            <a:r>
              <a:rPr lang="en-US" dirty="0"/>
              <a:t>If you import a Python file you created, it will run it as well.</a:t>
            </a:r>
          </a:p>
          <a:p>
            <a:pPr marL="0" indent="0">
              <a:spcBef>
                <a:spcPts val="600"/>
              </a:spcBef>
              <a:buNone/>
            </a:pPr>
            <a:r>
              <a:rPr lang="en-US" dirty="0"/>
              <a:t>If you are planning to make a library and not a main program file, then consider using:</a:t>
            </a:r>
            <a:br>
              <a:rPr lang="fi-FI" dirty="0"/>
            </a:b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__name__</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"__main__"</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main()</a:t>
            </a:r>
          </a:p>
          <a:p>
            <a:r>
              <a:rPr lang="en-US" dirty="0"/>
              <a:t>The above code is run only if the current file is invoked as main the program. In other words if above code was inside mycode.py, main() will be executed if:</a:t>
            </a:r>
            <a:br>
              <a:rPr lang="en-US" dirty="0"/>
            </a:br>
            <a:r>
              <a:rPr lang="en-US" dirty="0">
                <a:latin typeface="Courier New" panose="02070309020205020404" pitchFamily="49" charset="0"/>
                <a:cs typeface="Courier New" panose="02070309020205020404" pitchFamily="49" charset="0"/>
              </a:rPr>
              <a:t>python mycode.py</a:t>
            </a:r>
            <a:br>
              <a:rPr lang="en-US" dirty="0"/>
            </a:br>
            <a:r>
              <a:rPr lang="en-US" dirty="0"/>
              <a:t>but main will not be executed if you just "import </a:t>
            </a:r>
            <a:r>
              <a:rPr lang="en-US" dirty="0" err="1"/>
              <a:t>mycode</a:t>
            </a:r>
            <a:r>
              <a:rPr lang="en-US" dirty="0"/>
              <a:t>" from another file</a:t>
            </a:r>
          </a:p>
          <a:p>
            <a:pPr marL="0" indent="0">
              <a:buNone/>
            </a:pPr>
            <a:endParaRPr lang="fi-FI" dirty="0"/>
          </a:p>
        </p:txBody>
      </p:sp>
    </p:spTree>
    <p:extLst>
      <p:ext uri="{BB962C8B-B14F-4D97-AF65-F5344CB8AC3E}">
        <p14:creationId xmlns:p14="http://schemas.microsoft.com/office/powerpoint/2010/main" val="1302351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5CBF3-DD03-47B4-B3A7-A3AD55323526}"/>
              </a:ext>
            </a:extLst>
          </p:cNvPr>
          <p:cNvSpPr>
            <a:spLocks noGrp="1"/>
          </p:cNvSpPr>
          <p:nvPr>
            <p:ph type="title"/>
          </p:nvPr>
        </p:nvSpPr>
        <p:spPr>
          <a:xfrm>
            <a:off x="1218883" y="274637"/>
            <a:ext cx="10360501" cy="778099"/>
          </a:xfrm>
        </p:spPr>
        <p:txBody>
          <a:bodyPr/>
          <a:lstStyle/>
          <a:p>
            <a:r>
              <a:rPr lang="en-US" dirty="0"/>
              <a:t>Example of a module - myutil.py</a:t>
            </a:r>
          </a:p>
        </p:txBody>
      </p:sp>
      <p:sp>
        <p:nvSpPr>
          <p:cNvPr id="3" name="Content Placeholder 2">
            <a:extLst>
              <a:ext uri="{FF2B5EF4-FFF2-40B4-BE49-F238E27FC236}">
                <a16:creationId xmlns:a16="http://schemas.microsoft.com/office/drawing/2014/main" id="{E0CB61EB-7A5B-4B68-9D96-6FEAB84D3595}"/>
              </a:ext>
            </a:extLst>
          </p:cNvPr>
          <p:cNvSpPr>
            <a:spLocks noGrp="1"/>
          </p:cNvSpPr>
          <p:nvPr>
            <p:ph idx="1"/>
          </p:nvPr>
        </p:nvSpPr>
        <p:spPr>
          <a:xfrm>
            <a:off x="1218883" y="1268760"/>
            <a:ext cx="10360501" cy="5400600"/>
          </a:xfrm>
        </p:spPr>
        <p:txBody>
          <a:bodyPr>
            <a:normAutofit fontScale="47500" lnSpcReduction="20000"/>
          </a:bodyPr>
          <a:lstStyle/>
          <a:p>
            <a:pPr marL="0" indent="0">
              <a:spcBef>
                <a:spcPts val="600"/>
              </a:spcBef>
              <a:buNone/>
            </a:pPr>
            <a:r>
              <a:rPr lang="en-US" b="0" dirty="0">
                <a:solidFill>
                  <a:srgbClr val="CE9178"/>
                </a:solidFill>
                <a:effectLst/>
                <a:latin typeface="Consolas" panose="020B0609020204030204" pitchFamily="49" charset="0"/>
              </a:rPr>
              <a:t>"""Miscellaneous utility functions"""</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ask_float</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question</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"""Display the question string and wait for standard input.</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E9178"/>
                </a:solidFill>
                <a:effectLst/>
                <a:latin typeface="Consolas" panose="020B0609020204030204" pitchFamily="49" charset="0"/>
              </a:rPr>
              <a:t>    Keep asking the question until user provides a valid floating point number.</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E9178"/>
                </a:solidFill>
                <a:effectLst/>
                <a:latin typeface="Consolas" panose="020B0609020204030204" pitchFamily="49" charset="0"/>
              </a:rPr>
              <a:t>    Return the number."""</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try</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float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(question))</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except</a:t>
            </a:r>
            <a:r>
              <a:rPr lang="en-US" b="0" dirty="0">
                <a:solidFill>
                  <a:srgbClr val="FFFFFF"/>
                </a:solidFill>
                <a:effectLst/>
                <a:latin typeface="Consolas" panose="020B0609020204030204" pitchFamily="49" charset="0"/>
              </a:rPr>
              <a:t> </a:t>
            </a:r>
            <a:r>
              <a:rPr lang="en-US" b="0" dirty="0" err="1">
                <a:solidFill>
                  <a:srgbClr val="4EC9B0"/>
                </a:solidFill>
                <a:effectLst/>
                <a:latin typeface="Consolas" panose="020B0609020204030204" pitchFamily="49" charset="0"/>
              </a:rPr>
              <a:t>ValueError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"You didn't give me a number"</a:t>
            </a:r>
            <a:r>
              <a:rPr lang="en-US" b="0" dirty="0">
                <a:solidFill>
                  <a:srgbClr val="FFFFFF"/>
                </a:solidFill>
                <a:effectLst/>
                <a:latin typeface="Consolas" panose="020B0609020204030204" pitchFamily="49" charset="0"/>
              </a:rPr>
              <a:t>)</a:t>
            </a:r>
          </a:p>
          <a:p>
            <a:pPr marL="0" indent="0">
              <a:spcBef>
                <a:spcPts val="600"/>
              </a:spcBef>
              <a:buNone/>
            </a:pP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lbs_to_kg</a:t>
            </a:r>
            <a:r>
              <a:rPr lang="en-US" b="0" dirty="0">
                <a:solidFill>
                  <a:srgbClr val="FFFFFF"/>
                </a:solidFill>
                <a:effectLst/>
                <a:latin typeface="Consolas" panose="020B0609020204030204" pitchFamily="49" charset="0"/>
              </a:rPr>
              <a:t>(</a:t>
            </a:r>
            <a:r>
              <a:rPr lang="en-US" b="0" dirty="0" err="1">
                <a:solidFill>
                  <a:srgbClr val="9CDCFE"/>
                </a:solidFill>
                <a:effectLst/>
                <a:latin typeface="Consolas" panose="020B0609020204030204" pitchFamily="49" charset="0"/>
              </a:rPr>
              <a:t>lbs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"""Convert pounds (</a:t>
            </a:r>
            <a:r>
              <a:rPr lang="en-US" b="0" dirty="0" err="1">
                <a:solidFill>
                  <a:srgbClr val="CE9178"/>
                </a:solidFill>
                <a:effectLst/>
                <a:latin typeface="Consolas" panose="020B0609020204030204" pitchFamily="49" charset="0"/>
              </a:rPr>
              <a:t>lbs</a:t>
            </a:r>
            <a:r>
              <a:rPr lang="en-US" b="0" dirty="0">
                <a:solidFill>
                  <a:srgbClr val="CE9178"/>
                </a:solidFill>
                <a:effectLst/>
                <a:latin typeface="Consolas" panose="020B0609020204030204" pitchFamily="49" charset="0"/>
              </a:rPr>
              <a:t>) to kilograms (kg)"""</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lbs</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0.45359237</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main</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"""Main program to test the module"""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lbs_to_kg</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ask_float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"Give me pounds?"</a:t>
            </a:r>
            <a:r>
              <a:rPr lang="en-US" b="0" dirty="0">
                <a:solidFill>
                  <a:srgbClr val="FFFFFF"/>
                </a:solidFill>
                <a:effectLst/>
                <a:latin typeface="Consolas" panose="020B0609020204030204" pitchFamily="49" charset="0"/>
              </a:rPr>
              <a:t>)))</a:t>
            </a:r>
          </a:p>
          <a:p>
            <a:pPr marL="0" indent="0">
              <a:spcBef>
                <a:spcPts val="600"/>
              </a:spcBef>
              <a:buNone/>
            </a:pP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__name__</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"__main__"</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main()</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92714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B3381-8A12-4390-AB41-D3CDEAC42A10}"/>
              </a:ext>
            </a:extLst>
          </p:cNvPr>
          <p:cNvSpPr>
            <a:spLocks noGrp="1"/>
          </p:cNvSpPr>
          <p:nvPr>
            <p:ph type="title"/>
          </p:nvPr>
        </p:nvSpPr>
        <p:spPr>
          <a:xfrm>
            <a:off x="1218883" y="274637"/>
            <a:ext cx="10360501" cy="706091"/>
          </a:xfrm>
        </p:spPr>
        <p:txBody>
          <a:bodyPr/>
          <a:lstStyle/>
          <a:p>
            <a:r>
              <a:rPr lang="en-US" dirty="0"/>
              <a:t>Using myutil.py from Another Python Module / File</a:t>
            </a:r>
          </a:p>
        </p:txBody>
      </p:sp>
      <p:sp>
        <p:nvSpPr>
          <p:cNvPr id="3" name="Content Placeholder 2">
            <a:extLst>
              <a:ext uri="{FF2B5EF4-FFF2-40B4-BE49-F238E27FC236}">
                <a16:creationId xmlns:a16="http://schemas.microsoft.com/office/drawing/2014/main" id="{CB037BCA-0887-4D21-B9C7-F9F835CD4C93}"/>
              </a:ext>
            </a:extLst>
          </p:cNvPr>
          <p:cNvSpPr>
            <a:spLocks noGrp="1"/>
          </p:cNvSpPr>
          <p:nvPr>
            <p:ph idx="1"/>
          </p:nvPr>
        </p:nvSpPr>
        <p:spPr>
          <a:xfrm>
            <a:off x="1218883" y="1268760"/>
            <a:ext cx="10360501" cy="5400600"/>
          </a:xfrm>
        </p:spPr>
        <p:txBody>
          <a:bodyPr>
            <a:normAutofit fontScale="92500" lnSpcReduction="10000"/>
          </a:bodyPr>
          <a:lstStyle/>
          <a:p>
            <a:pPr marL="0" indent="0">
              <a:spcBef>
                <a:spcPts val="600"/>
              </a:spcBef>
              <a:buNone/>
            </a:pPr>
            <a:r>
              <a:rPr lang="en-US" sz="1400" b="0" dirty="0">
                <a:solidFill>
                  <a:srgbClr val="C586C0"/>
                </a:solidFill>
                <a:effectLst/>
                <a:latin typeface="Consolas" panose="020B0609020204030204" pitchFamily="49" charset="0"/>
              </a:rPr>
              <a:t>import</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myutil</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7CA668"/>
                </a:solidFill>
                <a:effectLst/>
                <a:latin typeface="Consolas" panose="020B0609020204030204" pitchFamily="49" charset="0"/>
              </a:rPr>
              <a:t># NOTICE: no .</a:t>
            </a:r>
            <a:r>
              <a:rPr lang="en-US" sz="1400" b="0" dirty="0" err="1">
                <a:solidFill>
                  <a:srgbClr val="7CA668"/>
                </a:solidFill>
                <a:effectLst/>
                <a:latin typeface="Consolas" panose="020B0609020204030204" pitchFamily="49" charset="0"/>
              </a:rPr>
              <a:t>py</a:t>
            </a:r>
            <a:r>
              <a:rPr lang="en-US" sz="1400" b="0" dirty="0">
                <a:solidFill>
                  <a:srgbClr val="7CA668"/>
                </a:solidFill>
                <a:effectLst/>
                <a:latin typeface="Consolas" panose="020B0609020204030204" pitchFamily="49" charset="0"/>
              </a:rPr>
              <a:t> needed here, just the part before .</a:t>
            </a:r>
            <a:r>
              <a:rPr lang="en-US" sz="1400" b="0" dirty="0" err="1">
                <a:solidFill>
                  <a:srgbClr val="7CA668"/>
                </a:solidFill>
                <a:effectLst/>
                <a:latin typeface="Consolas" panose="020B0609020204030204" pitchFamily="49" charset="0"/>
              </a:rPr>
              <a:t>py</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7CA668"/>
                </a:solidFill>
                <a:effectLst/>
                <a:latin typeface="Consolas" panose="020B0609020204030204" pitchFamily="49" charset="0"/>
              </a:rPr>
              <a:t># if you import like this each module has its own name space</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7CA668"/>
                </a:solidFill>
                <a:effectLst/>
                <a:latin typeface="Consolas" panose="020B0609020204030204" pitchFamily="49" charset="0"/>
              </a:rPr>
              <a:t># and must be prefixed like below</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FFFFFF"/>
                </a:solidFill>
                <a:effectLst/>
                <a:latin typeface="Consolas" panose="020B0609020204030204" pitchFamily="49" charset="0"/>
              </a:rPr>
              <a:t>x </a:t>
            </a:r>
            <a:r>
              <a:rPr lang="en-US" sz="1400" b="0" dirty="0">
                <a:solidFill>
                  <a:srgbClr val="D4D4D4"/>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myutil.ask_float</a:t>
            </a:r>
            <a:r>
              <a:rPr lang="en-US" sz="1400" b="0" dirty="0">
                <a:solidFill>
                  <a:srgbClr val="FFFFFF"/>
                </a:solidFill>
                <a:effectLst/>
                <a:latin typeface="Consolas" panose="020B0609020204030204" pitchFamily="49" charset="0"/>
              </a:rPr>
              <a:t>(</a:t>
            </a:r>
            <a:r>
              <a:rPr lang="en-US" sz="1400" b="0" dirty="0">
                <a:solidFill>
                  <a:srgbClr val="CE9178"/>
                </a:solidFill>
                <a:effectLst/>
                <a:latin typeface="Consolas" panose="020B0609020204030204" pitchFamily="49" charset="0"/>
              </a:rPr>
              <a:t>"Give me a float?"</a:t>
            </a:r>
            <a:r>
              <a:rPr lang="en-US" sz="1400" b="0" dirty="0">
                <a:solidFill>
                  <a:srgbClr val="FFFFFF"/>
                </a:solidFill>
                <a:effectLst/>
                <a:latin typeface="Consolas" panose="020B0609020204030204" pitchFamily="49" charset="0"/>
              </a:rPr>
              <a:t>)</a:t>
            </a:r>
          </a:p>
          <a:p>
            <a:pPr marL="0" indent="0">
              <a:spcBef>
                <a:spcPts val="600"/>
              </a:spcBef>
              <a:buNone/>
            </a:pPr>
            <a:r>
              <a:rPr lang="en-US" sz="1400" b="0" dirty="0">
                <a:solidFill>
                  <a:srgbClr val="DCDCAA"/>
                </a:solidFill>
                <a:effectLst/>
                <a:latin typeface="Consolas" panose="020B0609020204030204" pitchFamily="49" charset="0"/>
              </a:rPr>
              <a:t>print</a:t>
            </a:r>
            <a:r>
              <a:rPr lang="en-US" sz="1400" b="0" dirty="0">
                <a:solidFill>
                  <a:srgbClr val="FFFFFF"/>
                </a:solidFill>
                <a:effectLst/>
                <a:latin typeface="Consolas" panose="020B0609020204030204" pitchFamily="49" charset="0"/>
              </a:rPr>
              <a:t>(x)</a:t>
            </a:r>
          </a:p>
          <a:p>
            <a:pPr marL="0" indent="0">
              <a:spcBef>
                <a:spcPts val="600"/>
              </a:spcBef>
              <a:buNone/>
            </a:pPr>
            <a:br>
              <a:rPr lang="en-US" sz="1400" b="0" dirty="0">
                <a:solidFill>
                  <a:srgbClr val="FFFFFF"/>
                </a:solidFill>
                <a:effectLst/>
                <a:latin typeface="Consolas" panose="020B0609020204030204" pitchFamily="49" charset="0"/>
              </a:rPr>
            </a:br>
            <a:r>
              <a:rPr lang="en-US" sz="1400" b="0" dirty="0">
                <a:solidFill>
                  <a:srgbClr val="C586C0"/>
                </a:solidFill>
                <a:effectLst/>
                <a:latin typeface="Consolas" panose="020B0609020204030204" pitchFamily="49" charset="0"/>
              </a:rPr>
              <a:t>from</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myutil</a:t>
            </a:r>
            <a:r>
              <a:rPr lang="en-US" sz="1400" b="0" dirty="0">
                <a:solidFill>
                  <a:srgbClr val="FFFFFF"/>
                </a:solidFill>
                <a:effectLst/>
                <a:latin typeface="Consolas" panose="020B0609020204030204" pitchFamily="49" charset="0"/>
              </a:rPr>
              <a:t> </a:t>
            </a:r>
            <a:r>
              <a:rPr lang="en-US" sz="1400" b="0" dirty="0">
                <a:solidFill>
                  <a:srgbClr val="C586C0"/>
                </a:solidFill>
                <a:effectLst/>
                <a:latin typeface="Consolas" panose="020B0609020204030204" pitchFamily="49" charset="0"/>
              </a:rPr>
              <a:t>import</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ask_float</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lbs_to_kg</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7CA668"/>
                </a:solidFill>
                <a:effectLst/>
                <a:latin typeface="Consolas" panose="020B0609020204030204" pitchFamily="49" charset="0"/>
              </a:rPr>
              <a:t># if you import like this then the name is copied to the local name space</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7CA668"/>
                </a:solidFill>
                <a:effectLst/>
                <a:latin typeface="Consolas" panose="020B0609020204030204" pitchFamily="49" charset="0"/>
              </a:rPr>
              <a:t># and no prefix is required</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FFFFFF"/>
                </a:solidFill>
                <a:effectLst/>
                <a:latin typeface="Consolas" panose="020B0609020204030204" pitchFamily="49" charset="0"/>
              </a:rPr>
              <a:t>x </a:t>
            </a:r>
            <a:r>
              <a:rPr lang="en-US" sz="1400" b="0" dirty="0">
                <a:solidFill>
                  <a:srgbClr val="D4D4D4"/>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ask_float</a:t>
            </a:r>
            <a:r>
              <a:rPr lang="en-US" sz="1400" b="0" dirty="0">
                <a:solidFill>
                  <a:srgbClr val="FFFFFF"/>
                </a:solidFill>
                <a:effectLst/>
                <a:latin typeface="Consolas" panose="020B0609020204030204" pitchFamily="49" charset="0"/>
              </a:rPr>
              <a:t>(</a:t>
            </a:r>
            <a:r>
              <a:rPr lang="en-US" sz="1400" b="0" dirty="0">
                <a:solidFill>
                  <a:srgbClr val="CE9178"/>
                </a:solidFill>
                <a:effectLst/>
                <a:latin typeface="Consolas" panose="020B0609020204030204" pitchFamily="49" charset="0"/>
              </a:rPr>
              <a:t>"Give me a float?"</a:t>
            </a:r>
            <a:r>
              <a:rPr lang="en-US" sz="1400" b="0" dirty="0">
                <a:solidFill>
                  <a:srgbClr val="FFFFFF"/>
                </a:solidFill>
                <a:effectLst/>
                <a:latin typeface="Consolas" panose="020B0609020204030204" pitchFamily="49" charset="0"/>
              </a:rPr>
              <a:t>)</a:t>
            </a:r>
          </a:p>
          <a:p>
            <a:pPr marL="0" indent="0">
              <a:spcBef>
                <a:spcPts val="600"/>
              </a:spcBef>
              <a:buNone/>
            </a:pPr>
            <a:r>
              <a:rPr lang="en-US" sz="1400" b="0" dirty="0">
                <a:solidFill>
                  <a:srgbClr val="DCDCAA"/>
                </a:solidFill>
                <a:effectLst/>
                <a:latin typeface="Consolas" panose="020B0609020204030204" pitchFamily="49" charset="0"/>
              </a:rPr>
              <a:t>print</a:t>
            </a:r>
            <a:r>
              <a:rPr lang="en-US" sz="1400" b="0" dirty="0">
                <a:solidFill>
                  <a:srgbClr val="FFFFFF"/>
                </a:solidFill>
                <a:effectLst/>
                <a:latin typeface="Consolas" panose="020B0609020204030204" pitchFamily="49" charset="0"/>
              </a:rPr>
              <a:t>(</a:t>
            </a:r>
            <a:r>
              <a:rPr lang="en-US" sz="1400" b="0" dirty="0" err="1">
                <a:solidFill>
                  <a:srgbClr val="FFFFFF"/>
                </a:solidFill>
                <a:effectLst/>
                <a:latin typeface="Consolas" panose="020B0609020204030204" pitchFamily="49" charset="0"/>
              </a:rPr>
              <a:t>lbs_to_kg</a:t>
            </a:r>
            <a:r>
              <a:rPr lang="en-US" sz="1400" b="0" dirty="0">
                <a:solidFill>
                  <a:srgbClr val="FFFFFF"/>
                </a:solidFill>
                <a:effectLst/>
                <a:latin typeface="Consolas" panose="020B0609020204030204" pitchFamily="49" charset="0"/>
              </a:rPr>
              <a:t>(x))</a:t>
            </a:r>
          </a:p>
          <a:p>
            <a:pPr marL="0" indent="0">
              <a:spcBef>
                <a:spcPts val="600"/>
              </a:spcBef>
              <a:buNone/>
            </a:pPr>
            <a:br>
              <a:rPr lang="en-US" sz="1400" b="0" dirty="0">
                <a:solidFill>
                  <a:srgbClr val="FFFFFF"/>
                </a:solidFill>
                <a:effectLst/>
                <a:latin typeface="Consolas" panose="020B0609020204030204" pitchFamily="49" charset="0"/>
              </a:rPr>
            </a:br>
            <a:r>
              <a:rPr lang="en-US" sz="1400" b="0" dirty="0">
                <a:solidFill>
                  <a:srgbClr val="C586C0"/>
                </a:solidFill>
                <a:effectLst/>
                <a:latin typeface="Consolas" panose="020B0609020204030204" pitchFamily="49" charset="0"/>
              </a:rPr>
              <a:t>from</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myutil</a:t>
            </a:r>
            <a:r>
              <a:rPr lang="en-US" sz="1400" b="0" dirty="0">
                <a:solidFill>
                  <a:srgbClr val="FFFFFF"/>
                </a:solidFill>
                <a:effectLst/>
                <a:latin typeface="Consolas" panose="020B0609020204030204" pitchFamily="49" charset="0"/>
              </a:rPr>
              <a:t> </a:t>
            </a:r>
            <a:r>
              <a:rPr lang="en-US" sz="1400" b="0" dirty="0">
                <a:solidFill>
                  <a:srgbClr val="C586C0"/>
                </a:solidFill>
                <a:effectLst/>
                <a:latin typeface="Consolas" panose="020B0609020204030204" pitchFamily="49" charset="0"/>
              </a:rPr>
              <a:t>import</a:t>
            </a:r>
            <a:r>
              <a:rPr lang="en-US" sz="1400" b="0" dirty="0">
                <a:solidFill>
                  <a:srgbClr val="FFFFFF"/>
                </a:solidFill>
                <a:effectLst/>
                <a:latin typeface="Consolas" panose="020B0609020204030204" pitchFamily="49" charset="0"/>
              </a:rPr>
              <a:t> </a:t>
            </a:r>
            <a:r>
              <a:rPr lang="en-US" sz="1400" b="0" dirty="0">
                <a:solidFill>
                  <a:srgbClr val="D4D4D4"/>
                </a:solidFill>
                <a:effectLst/>
                <a:latin typeface="Consolas" panose="020B0609020204030204" pitchFamily="49" charset="0"/>
              </a:rPr>
              <a:t>*</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7CA668"/>
                </a:solidFill>
                <a:effectLst/>
                <a:latin typeface="Consolas" panose="020B0609020204030204" pitchFamily="49" charset="0"/>
              </a:rPr>
              <a:t># Copy all names from the module to current name space</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7CA668"/>
                </a:solidFill>
                <a:effectLst/>
                <a:latin typeface="Consolas" panose="020B0609020204030204" pitchFamily="49" charset="0"/>
              </a:rPr>
              <a:t># WARNING: Do NOT use this often, because local name space becomes polluted!</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FFFFFF"/>
                </a:solidFill>
                <a:effectLst/>
                <a:latin typeface="Consolas" panose="020B0609020204030204" pitchFamily="49" charset="0"/>
              </a:rPr>
              <a:t>x </a:t>
            </a:r>
            <a:r>
              <a:rPr lang="en-US" sz="1400" b="0" dirty="0">
                <a:solidFill>
                  <a:srgbClr val="D4D4D4"/>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ask_float</a:t>
            </a:r>
            <a:r>
              <a:rPr lang="en-US" sz="1400" b="0" dirty="0">
                <a:solidFill>
                  <a:srgbClr val="FFFFFF"/>
                </a:solidFill>
                <a:effectLst/>
                <a:latin typeface="Consolas" panose="020B0609020204030204" pitchFamily="49" charset="0"/>
              </a:rPr>
              <a:t>(</a:t>
            </a:r>
            <a:r>
              <a:rPr lang="en-US" sz="1400" b="0" dirty="0">
                <a:solidFill>
                  <a:srgbClr val="CE9178"/>
                </a:solidFill>
                <a:effectLst/>
                <a:latin typeface="Consolas" panose="020B0609020204030204" pitchFamily="49" charset="0"/>
              </a:rPr>
              <a:t>"Give me a float?"</a:t>
            </a:r>
            <a:r>
              <a:rPr lang="en-US" sz="1400" b="0" dirty="0">
                <a:solidFill>
                  <a:srgbClr val="FFFFFF"/>
                </a:solidFill>
                <a:effectLst/>
                <a:latin typeface="Consolas" panose="020B0609020204030204" pitchFamily="49" charset="0"/>
              </a:rPr>
              <a:t>)</a:t>
            </a:r>
          </a:p>
          <a:p>
            <a:pPr marL="0" indent="0">
              <a:spcBef>
                <a:spcPts val="600"/>
              </a:spcBef>
              <a:buNone/>
            </a:pPr>
            <a:r>
              <a:rPr lang="en-US" sz="1400" b="0" dirty="0">
                <a:solidFill>
                  <a:srgbClr val="DCDCAA"/>
                </a:solidFill>
                <a:effectLst/>
                <a:latin typeface="Consolas" panose="020B0609020204030204" pitchFamily="49" charset="0"/>
              </a:rPr>
              <a:t>print</a:t>
            </a:r>
            <a:r>
              <a:rPr lang="en-US" sz="1400" b="0" dirty="0">
                <a:solidFill>
                  <a:srgbClr val="FFFFFF"/>
                </a:solidFill>
                <a:effectLst/>
                <a:latin typeface="Consolas" panose="020B0609020204030204" pitchFamily="49" charset="0"/>
              </a:rPr>
              <a:t>(x)</a:t>
            </a:r>
          </a:p>
          <a:p>
            <a:pPr marL="0" indent="0">
              <a:spcBef>
                <a:spcPts val="600"/>
              </a:spcBef>
              <a:buNone/>
            </a:pPr>
            <a:br>
              <a:rPr lang="en-US" sz="1400" b="0" dirty="0">
                <a:solidFill>
                  <a:srgbClr val="FFFFFF"/>
                </a:solidFill>
                <a:effectLst/>
                <a:latin typeface="Consolas" panose="020B0609020204030204" pitchFamily="49" charset="0"/>
              </a:rPr>
            </a:br>
            <a:r>
              <a:rPr lang="en-US" sz="1400" b="0" dirty="0">
                <a:solidFill>
                  <a:srgbClr val="C586C0"/>
                </a:solidFill>
                <a:effectLst/>
                <a:latin typeface="Consolas" panose="020B0609020204030204" pitchFamily="49" charset="0"/>
              </a:rPr>
              <a:t>from</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myutil</a:t>
            </a:r>
            <a:r>
              <a:rPr lang="en-US" sz="1400" b="0" dirty="0">
                <a:solidFill>
                  <a:srgbClr val="FFFFFF"/>
                </a:solidFill>
                <a:effectLst/>
                <a:latin typeface="Consolas" panose="020B0609020204030204" pitchFamily="49" charset="0"/>
              </a:rPr>
              <a:t> </a:t>
            </a:r>
            <a:r>
              <a:rPr lang="en-US" sz="1400" b="0" dirty="0">
                <a:solidFill>
                  <a:srgbClr val="C586C0"/>
                </a:solidFill>
                <a:effectLst/>
                <a:latin typeface="Consolas" panose="020B0609020204030204" pitchFamily="49" charset="0"/>
              </a:rPr>
              <a:t>import</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ask_float</a:t>
            </a:r>
            <a:r>
              <a:rPr lang="en-US" sz="1400" b="0" dirty="0">
                <a:solidFill>
                  <a:srgbClr val="FFFFFF"/>
                </a:solidFill>
                <a:effectLst/>
                <a:latin typeface="Consolas" panose="020B0609020204030204" pitchFamily="49" charset="0"/>
              </a:rPr>
              <a:t> </a:t>
            </a:r>
            <a:r>
              <a:rPr lang="en-US" sz="1400" b="0" dirty="0">
                <a:solidFill>
                  <a:srgbClr val="C586C0"/>
                </a:solidFill>
                <a:effectLst/>
                <a:latin typeface="Consolas" panose="020B0609020204030204" pitchFamily="49" charset="0"/>
              </a:rPr>
              <a:t>as</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ask_number</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7CA668"/>
                </a:solidFill>
                <a:effectLst/>
                <a:latin typeface="Consolas" panose="020B0609020204030204" pitchFamily="49" charset="0"/>
              </a:rPr>
              <a:t># import with a new name</a:t>
            </a:r>
            <a:endParaRPr lang="en-US" sz="1400" b="0" dirty="0">
              <a:solidFill>
                <a:srgbClr val="FFFFFF"/>
              </a:solidFill>
              <a:effectLst/>
              <a:latin typeface="Consolas" panose="020B0609020204030204" pitchFamily="49" charset="0"/>
            </a:endParaRPr>
          </a:p>
          <a:p>
            <a:pPr marL="0" indent="0">
              <a:spcBef>
                <a:spcPts val="600"/>
              </a:spcBef>
              <a:buNone/>
            </a:pPr>
            <a:r>
              <a:rPr lang="en-US" sz="1400" b="0" dirty="0">
                <a:solidFill>
                  <a:srgbClr val="FFFFFF"/>
                </a:solidFill>
                <a:effectLst/>
                <a:latin typeface="Consolas" panose="020B0609020204030204" pitchFamily="49" charset="0"/>
              </a:rPr>
              <a:t>x </a:t>
            </a:r>
            <a:r>
              <a:rPr lang="en-US" sz="1400" b="0" dirty="0">
                <a:solidFill>
                  <a:srgbClr val="D4D4D4"/>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ask_number</a:t>
            </a:r>
            <a:r>
              <a:rPr lang="en-US" sz="1400" b="0" dirty="0">
                <a:solidFill>
                  <a:srgbClr val="FFFFFF"/>
                </a:solidFill>
                <a:effectLst/>
                <a:latin typeface="Consolas" panose="020B0609020204030204" pitchFamily="49" charset="0"/>
              </a:rPr>
              <a:t>(</a:t>
            </a:r>
            <a:r>
              <a:rPr lang="en-US" sz="1400" b="0" dirty="0">
                <a:solidFill>
                  <a:srgbClr val="CE9178"/>
                </a:solidFill>
                <a:effectLst/>
                <a:latin typeface="Consolas" panose="020B0609020204030204" pitchFamily="49" charset="0"/>
              </a:rPr>
              <a:t>"Give me a float?"</a:t>
            </a:r>
            <a:r>
              <a:rPr lang="en-US" sz="1400" b="0" dirty="0">
                <a:solidFill>
                  <a:srgbClr val="FFFFFF"/>
                </a:solidFill>
                <a:effectLst/>
                <a:latin typeface="Consolas" panose="020B0609020204030204" pitchFamily="49" charset="0"/>
              </a:rPr>
              <a:t>)</a:t>
            </a:r>
          </a:p>
          <a:p>
            <a:pPr marL="0" indent="0">
              <a:spcBef>
                <a:spcPts val="600"/>
              </a:spcBef>
              <a:buNone/>
            </a:pPr>
            <a:r>
              <a:rPr lang="en-US" sz="1400" b="0" dirty="0">
                <a:solidFill>
                  <a:srgbClr val="DCDCAA"/>
                </a:solidFill>
                <a:effectLst/>
                <a:latin typeface="Consolas" panose="020B0609020204030204" pitchFamily="49" charset="0"/>
              </a:rPr>
              <a:t>print</a:t>
            </a:r>
            <a:r>
              <a:rPr lang="en-US" sz="1400" b="0" dirty="0">
                <a:solidFill>
                  <a:srgbClr val="FFFFFF"/>
                </a:solidFill>
                <a:effectLst/>
                <a:latin typeface="Consolas" panose="020B0609020204030204" pitchFamily="49" charset="0"/>
              </a:rPr>
              <a:t>(x)</a:t>
            </a:r>
          </a:p>
        </p:txBody>
      </p:sp>
    </p:spTree>
    <p:extLst>
      <p:ext uri="{BB962C8B-B14F-4D97-AF65-F5344CB8AC3E}">
        <p14:creationId xmlns:p14="http://schemas.microsoft.com/office/powerpoint/2010/main" val="423655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AE68758-F6EC-463C-9E22-781ECCF7D95C}"/>
              </a:ext>
            </a:extLst>
          </p:cNvPr>
          <p:cNvSpPr>
            <a:spLocks noGrp="1"/>
          </p:cNvSpPr>
          <p:nvPr>
            <p:ph type="title"/>
          </p:nvPr>
        </p:nvSpPr>
        <p:spPr/>
        <p:txBody>
          <a:bodyPr/>
          <a:lstStyle/>
          <a:p>
            <a:r>
              <a:rPr lang="en-US" dirty="0"/>
              <a:t>Python Packages</a:t>
            </a:r>
          </a:p>
        </p:txBody>
      </p:sp>
      <p:sp>
        <p:nvSpPr>
          <p:cNvPr id="3" name="Sisällön paikkamerkki 2">
            <a:extLst>
              <a:ext uri="{FF2B5EF4-FFF2-40B4-BE49-F238E27FC236}">
                <a16:creationId xmlns:a16="http://schemas.microsoft.com/office/drawing/2014/main" id="{4A041F6D-35F6-4299-89A9-0A56C28F78DD}"/>
              </a:ext>
            </a:extLst>
          </p:cNvPr>
          <p:cNvSpPr>
            <a:spLocks noGrp="1"/>
          </p:cNvSpPr>
          <p:nvPr>
            <p:ph idx="1"/>
          </p:nvPr>
        </p:nvSpPr>
        <p:spPr>
          <a:xfrm>
            <a:off x="1218883" y="1701797"/>
            <a:ext cx="10360501" cy="4881566"/>
          </a:xfrm>
        </p:spPr>
        <p:txBody>
          <a:bodyPr>
            <a:normAutofit/>
          </a:bodyPr>
          <a:lstStyle/>
          <a:p>
            <a:r>
              <a:rPr lang="en-US" dirty="0"/>
              <a:t>A directory with Python code and __init__.py is a package</a:t>
            </a:r>
          </a:p>
          <a:p>
            <a:r>
              <a:rPr lang="en-US" dirty="0"/>
              <a:t>Packages can contain subfolders and </a:t>
            </a:r>
            <a:r>
              <a:rPr lang="en-US" dirty="0" err="1"/>
              <a:t>subpackages</a:t>
            </a:r>
            <a:r>
              <a:rPr lang="en-US" dirty="0"/>
              <a:t>.</a:t>
            </a:r>
          </a:p>
          <a:p>
            <a:r>
              <a:rPr lang="en-US" dirty="0"/>
              <a:t>Folders without __init__.py are ignored, but __init__.py can be empty</a:t>
            </a:r>
          </a:p>
          <a:p>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package.module</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package.module.func</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from package import module</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module.func</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from </a:t>
            </a:r>
            <a:r>
              <a:rPr lang="en-US" dirty="0" err="1">
                <a:latin typeface="Courier New" panose="02070309020205020404" pitchFamily="49" charset="0"/>
                <a:cs typeface="Courier New" panose="02070309020205020404" pitchFamily="49" charset="0"/>
              </a:rPr>
              <a:t>package.module</a:t>
            </a:r>
            <a:r>
              <a:rPr lang="en-US" dirty="0">
                <a:latin typeface="Courier New" panose="02070309020205020404" pitchFamily="49" charset="0"/>
                <a:cs typeface="Courier New" panose="02070309020205020404" pitchFamily="49" charset="0"/>
              </a:rPr>
              <a:t> import func</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func()</a:t>
            </a:r>
          </a:p>
          <a:p>
            <a:endParaRPr lang="en-US" dirty="0"/>
          </a:p>
        </p:txBody>
      </p:sp>
    </p:spTree>
    <p:extLst>
      <p:ext uri="{BB962C8B-B14F-4D97-AF65-F5344CB8AC3E}">
        <p14:creationId xmlns:p14="http://schemas.microsoft.com/office/powerpoint/2010/main" val="282278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7B22F72-7685-4106-8764-120C2E39F427}"/>
              </a:ext>
            </a:extLst>
          </p:cNvPr>
          <p:cNvSpPr>
            <a:spLocks noGrp="1"/>
          </p:cNvSpPr>
          <p:nvPr>
            <p:ph type="title"/>
          </p:nvPr>
        </p:nvSpPr>
        <p:spPr/>
        <p:txBody>
          <a:bodyPr/>
          <a:lstStyle/>
          <a:p>
            <a:r>
              <a:rPr lang="en-US" dirty="0"/>
              <a:t>Using Packages</a:t>
            </a:r>
          </a:p>
        </p:txBody>
      </p:sp>
      <p:sp>
        <p:nvSpPr>
          <p:cNvPr id="3" name="Sisällön paikkamerkki 2">
            <a:extLst>
              <a:ext uri="{FF2B5EF4-FFF2-40B4-BE49-F238E27FC236}">
                <a16:creationId xmlns:a16="http://schemas.microsoft.com/office/drawing/2014/main" id="{0FB74B40-CAA7-4675-880B-B0A8E28F90D9}"/>
              </a:ext>
            </a:extLst>
          </p:cNvPr>
          <p:cNvSpPr>
            <a:spLocks noGrp="1"/>
          </p:cNvSpPr>
          <p:nvPr>
            <p:ph idx="1"/>
          </p:nvPr>
        </p:nvSpPr>
        <p:spPr>
          <a:xfrm>
            <a:off x="1218883" y="1701797"/>
            <a:ext cx="10360501" cy="4881566"/>
          </a:xfrm>
        </p:spPr>
        <p:txBody>
          <a:bodyPr>
            <a:normAutofit fontScale="62500" lnSpcReduction="20000"/>
          </a:bodyPr>
          <a:lstStyle/>
          <a:p>
            <a:pPr marL="0" indent="0">
              <a:spcBef>
                <a:spcPts val="600"/>
              </a:spcBef>
              <a:buNone/>
            </a:pPr>
            <a:r>
              <a:rPr lang="en-US" b="0" dirty="0">
                <a:solidFill>
                  <a:srgbClr val="7CA668"/>
                </a:solidFill>
                <a:effectLst/>
                <a:latin typeface="Consolas" panose="020B0609020204030204" pitchFamily="49" charset="0"/>
              </a:rPr>
              <a:t># mypackage/mymath.py</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7CA668"/>
                </a:solidFill>
                <a:effectLst/>
                <a:latin typeface="Consolas" panose="020B0609020204030204" pitchFamily="49" charset="0"/>
              </a:rPr>
              <a:t># </a:t>
            </a:r>
            <a:r>
              <a:rPr lang="en-US" b="0" dirty="0" err="1">
                <a:solidFill>
                  <a:srgbClr val="7CA668"/>
                </a:solidFill>
                <a:effectLst/>
                <a:latin typeface="Consolas" panose="020B0609020204030204" pitchFamily="49" charset="0"/>
              </a:rPr>
              <a:t>mypackage</a:t>
            </a:r>
            <a:r>
              <a:rPr lang="en-US" b="0" dirty="0">
                <a:solidFill>
                  <a:srgbClr val="7CA668"/>
                </a:solidFill>
                <a:effectLst/>
                <a:latin typeface="Consolas" panose="020B0609020204030204" pitchFamily="49" charset="0"/>
              </a:rPr>
              <a:t>/__</a:t>
            </a:r>
            <a:r>
              <a:rPr lang="en-US" b="0" dirty="0" err="1">
                <a:solidFill>
                  <a:srgbClr val="7CA668"/>
                </a:solidFill>
                <a:effectLst/>
                <a:latin typeface="Consolas" panose="020B0609020204030204" pitchFamily="49" charset="0"/>
              </a:rPr>
              <a:t>init.</a:t>
            </a:r>
            <a:r>
              <a:rPr lang="en-US" b="0" dirty="0">
                <a:solidFill>
                  <a:srgbClr val="7CA668"/>
                </a:solidFill>
                <a:effectLst/>
                <a:latin typeface="Consolas" panose="020B0609020204030204" pitchFamily="49" charset="0"/>
              </a:rPr>
              <a:t>__ also present</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average</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a</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"""return arithmetic mean of given list a of numbers"""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sum</a:t>
            </a:r>
            <a:r>
              <a:rPr lang="en-US" b="0" dirty="0">
                <a:solidFill>
                  <a:srgbClr val="FFFFFF"/>
                </a:solidFill>
                <a:effectLst/>
                <a:latin typeface="Consolas" panose="020B0609020204030204" pitchFamily="49" charset="0"/>
              </a:rPr>
              <a:t>(a)</a:t>
            </a:r>
            <a:r>
              <a:rPr lang="en-US" b="0" dirty="0">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(a)</a:t>
            </a:r>
          </a:p>
          <a:p>
            <a:pPr marL="0" indent="0">
              <a:spcBef>
                <a:spcPts val="600"/>
              </a:spcBef>
              <a:buNone/>
            </a:pPr>
            <a:r>
              <a:rPr lang="en-US" b="0" dirty="0">
                <a:solidFill>
                  <a:srgbClr val="FFFFFF"/>
                </a:solidFill>
                <a:effectLst/>
                <a:latin typeface="Consolas" panose="020B0609020204030204" pitchFamily="49" charset="0"/>
              </a:rPr>
              <a:t>    </a:t>
            </a:r>
            <a:br>
              <a:rPr lang="en-US" b="0" dirty="0">
                <a:solidFill>
                  <a:srgbClr val="FFFFFF"/>
                </a:solidFill>
                <a:effectLst/>
                <a:latin typeface="Consolas" panose="020B0609020204030204" pitchFamily="49" charset="0"/>
              </a:rPr>
            </a:b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7CA668"/>
                </a:solidFill>
                <a:effectLst/>
                <a:latin typeface="Consolas" panose="020B0609020204030204" pitchFamily="49" charset="0"/>
              </a:rPr>
              <a:t># from root folder using_package_import.py</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mypackage.mymath</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numbers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3.14</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"Average:"</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mypackage.mymath.average</a:t>
            </a:r>
            <a:r>
              <a:rPr lang="en-US" b="0" dirty="0">
                <a:solidFill>
                  <a:srgbClr val="FFFFFF"/>
                </a:solidFill>
                <a:effectLst/>
                <a:latin typeface="Consolas" panose="020B0609020204030204" pitchFamily="49" charset="0"/>
              </a:rPr>
              <a:t>(numbers))</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mypackage</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mymath</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"Average:"</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mymath.average</a:t>
            </a:r>
            <a:r>
              <a:rPr lang="en-US" b="0" dirty="0">
                <a:solidFill>
                  <a:srgbClr val="FFFFFF"/>
                </a:solidFill>
                <a:effectLst/>
                <a:latin typeface="Consolas" panose="020B0609020204030204" pitchFamily="49" charset="0"/>
              </a:rPr>
              <a:t>(numbers))</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mypackage.mymath</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average</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"Average:"</a:t>
            </a:r>
            <a:r>
              <a:rPr lang="en-US" b="0" dirty="0">
                <a:solidFill>
                  <a:srgbClr val="FFFFFF"/>
                </a:solidFill>
                <a:effectLst/>
                <a:latin typeface="Consolas" panose="020B0609020204030204" pitchFamily="49" charset="0"/>
              </a:rPr>
              <a:t>, average(numbers))</a:t>
            </a:r>
          </a:p>
        </p:txBody>
      </p:sp>
    </p:spTree>
    <p:extLst>
      <p:ext uri="{BB962C8B-B14F-4D97-AF65-F5344CB8AC3E}">
        <p14:creationId xmlns:p14="http://schemas.microsoft.com/office/powerpoint/2010/main" val="398038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A2B7D74-513E-4CAF-B7F3-306C252BD76B}"/>
              </a:ext>
            </a:extLst>
          </p:cNvPr>
          <p:cNvSpPr>
            <a:spLocks noGrp="1"/>
          </p:cNvSpPr>
          <p:nvPr>
            <p:ph type="title"/>
          </p:nvPr>
        </p:nvSpPr>
        <p:spPr/>
        <p:txBody>
          <a:bodyPr/>
          <a:lstStyle/>
          <a:p>
            <a:r>
              <a:rPr lang="en-US" dirty="0"/>
              <a:t>Closure</a:t>
            </a:r>
          </a:p>
        </p:txBody>
      </p:sp>
      <p:sp>
        <p:nvSpPr>
          <p:cNvPr id="3" name="Sisällön paikkamerkki 2">
            <a:extLst>
              <a:ext uri="{FF2B5EF4-FFF2-40B4-BE49-F238E27FC236}">
                <a16:creationId xmlns:a16="http://schemas.microsoft.com/office/drawing/2014/main" id="{38BDD39D-8AB3-4D8C-8340-F3DF2A60AF28}"/>
              </a:ext>
            </a:extLst>
          </p:cNvPr>
          <p:cNvSpPr>
            <a:spLocks noGrp="1"/>
          </p:cNvSpPr>
          <p:nvPr>
            <p:ph idx="1"/>
          </p:nvPr>
        </p:nvSpPr>
        <p:spPr>
          <a:xfrm>
            <a:off x="1218883" y="1701796"/>
            <a:ext cx="10360501" cy="4679531"/>
          </a:xfrm>
        </p:spPr>
        <p:txBody>
          <a:bodyPr>
            <a:normAutofit fontScale="92500" lnSpcReduction="20000"/>
          </a:bodyPr>
          <a:lstStyle/>
          <a:p>
            <a:r>
              <a:rPr lang="en-US" dirty="0"/>
              <a:t>What is a closure? (you need to satisfy all three below)</a:t>
            </a:r>
          </a:p>
          <a:p>
            <a:pPr marL="835086" lvl="1" indent="-457200">
              <a:buFont typeface="+mj-lt"/>
              <a:buAutoNum type="arabicPeriod"/>
            </a:pPr>
            <a:r>
              <a:rPr lang="en-US" dirty="0"/>
              <a:t>Closure is a nested function (inner function inside an outer function). </a:t>
            </a:r>
          </a:p>
          <a:p>
            <a:pPr marL="835086" lvl="1" indent="-457200">
              <a:buFont typeface="+mj-lt"/>
              <a:buAutoNum type="arabicPeriod"/>
            </a:pPr>
            <a:r>
              <a:rPr lang="en-US" dirty="0"/>
              <a:t>The nested inner function must refer to a value defined in the enclosing function.</a:t>
            </a:r>
          </a:p>
          <a:p>
            <a:pPr marL="835086" lvl="1" indent="-457200">
              <a:buFont typeface="+mj-lt"/>
              <a:buAutoNum type="arabicPeriod"/>
            </a:pPr>
            <a:r>
              <a:rPr lang="en-US" dirty="0"/>
              <a:t>The enclosing function must return the nested inner function.</a:t>
            </a:r>
          </a:p>
          <a:p>
            <a:r>
              <a:rPr lang="en-US" dirty="0"/>
              <a:t>A closure is an instance of a function, a value, whose non-local variables have been bound either to values or to storage locations</a:t>
            </a:r>
          </a:p>
          <a:p>
            <a:r>
              <a:rPr lang="en-US" dirty="0"/>
              <a:t>A closure is a value like any other value. It does not need to be assigned to a variable and can instead be used directly or so called "anonymous closure".</a:t>
            </a:r>
          </a:p>
          <a:p>
            <a:r>
              <a:rPr lang="en-US" dirty="0"/>
              <a:t>Closures can avoid the use of global values and provides some form of data hiding. It can also provide an elegant solution to the problem, instead of making a class. If you need a lot of attributes and functionality class is usually better solution.</a:t>
            </a:r>
          </a:p>
          <a:p>
            <a:endParaRPr lang="fi-FI" dirty="0"/>
          </a:p>
        </p:txBody>
      </p:sp>
    </p:spTree>
    <p:extLst>
      <p:ext uri="{BB962C8B-B14F-4D97-AF65-F5344CB8AC3E}">
        <p14:creationId xmlns:p14="http://schemas.microsoft.com/office/powerpoint/2010/main" val="114038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AACB68E-8A53-4E1C-9B20-0DF424F5B34F}"/>
              </a:ext>
            </a:extLst>
          </p:cNvPr>
          <p:cNvSpPr>
            <a:spLocks noGrp="1"/>
          </p:cNvSpPr>
          <p:nvPr>
            <p:ph type="title"/>
          </p:nvPr>
        </p:nvSpPr>
        <p:spPr/>
        <p:txBody>
          <a:bodyPr/>
          <a:lstStyle/>
          <a:p>
            <a:r>
              <a:rPr lang="en-US" dirty="0"/>
              <a:t>Closure Example</a:t>
            </a:r>
          </a:p>
        </p:txBody>
      </p:sp>
      <p:sp>
        <p:nvSpPr>
          <p:cNvPr id="3" name="Sisällön paikkamerkki 2">
            <a:extLst>
              <a:ext uri="{FF2B5EF4-FFF2-40B4-BE49-F238E27FC236}">
                <a16:creationId xmlns:a16="http://schemas.microsoft.com/office/drawing/2014/main" id="{1978CF3D-C9B6-493A-8180-58CD40A48C6C}"/>
              </a:ext>
            </a:extLst>
          </p:cNvPr>
          <p:cNvSpPr>
            <a:spLocks noGrp="1"/>
          </p:cNvSpPr>
          <p:nvPr>
            <p:ph idx="1"/>
          </p:nvPr>
        </p:nvSpPr>
        <p:spPr/>
        <p:txBody>
          <a:bodyPr>
            <a:normAutofit fontScale="92500" lnSpcReduction="10000"/>
          </a:bodyPr>
          <a:lstStyle/>
          <a:p>
            <a:pPr marL="0" indent="0">
              <a:spcBef>
                <a:spcPts val="600"/>
              </a:spcBef>
              <a:buNone/>
            </a:pPr>
            <a:r>
              <a:rPr lang="en-US" b="0" dirty="0">
                <a:solidFill>
                  <a:srgbClr val="7CA668"/>
                </a:solidFill>
                <a:effectLst/>
                <a:latin typeface="Consolas" panose="020B0609020204030204" pitchFamily="49" charset="0"/>
              </a:rPr>
              <a:t># Example of a closure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make_multiplier</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x</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outer / enclosing function</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multiplier</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y</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inner / nested function</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x</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y</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multiplier</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mul10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make_multiplier</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mul10 is the closure </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(mul10(</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50</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(mul10(</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#100</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mul2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make_multiplier</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mul2 is the closure </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(mul2(</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20</a:t>
            </a: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378535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4C06087-9B53-47BF-B809-08AC9092B580}"/>
              </a:ext>
            </a:extLst>
          </p:cNvPr>
          <p:cNvSpPr>
            <a:spLocks noGrp="1"/>
          </p:cNvSpPr>
          <p:nvPr>
            <p:ph type="title"/>
          </p:nvPr>
        </p:nvSpPr>
        <p:spPr/>
        <p:txBody>
          <a:bodyPr/>
          <a:lstStyle/>
          <a:p>
            <a:r>
              <a:rPr lang="en-US" dirty="0"/>
              <a:t>Decorators</a:t>
            </a:r>
          </a:p>
        </p:txBody>
      </p:sp>
      <p:sp>
        <p:nvSpPr>
          <p:cNvPr id="3" name="Sisällön paikkamerkki 2">
            <a:extLst>
              <a:ext uri="{FF2B5EF4-FFF2-40B4-BE49-F238E27FC236}">
                <a16:creationId xmlns:a16="http://schemas.microsoft.com/office/drawing/2014/main" id="{424ADE7C-632A-4BE7-AAA7-0DE51913040C}"/>
              </a:ext>
            </a:extLst>
          </p:cNvPr>
          <p:cNvSpPr>
            <a:spLocks noGrp="1"/>
          </p:cNvSpPr>
          <p:nvPr>
            <p:ph idx="1"/>
          </p:nvPr>
        </p:nvSpPr>
        <p:spPr/>
        <p:txBody>
          <a:bodyPr>
            <a:normAutofit fontScale="70000" lnSpcReduction="20000"/>
          </a:bodyPr>
          <a:lstStyle/>
          <a:p>
            <a:r>
              <a:rPr lang="en-US" dirty="0"/>
              <a:t>Decorators to add functionality to an existing code, using closures.</a:t>
            </a:r>
          </a:p>
          <a:p>
            <a:r>
              <a:rPr lang="en-US" dirty="0"/>
              <a:t>This is also called metaprogramming because a part of the program tries to modify another part of the program at compile time.</a:t>
            </a:r>
          </a:p>
          <a:p>
            <a:r>
              <a:rPr lang="en-US" dirty="0"/>
              <a:t>Defining and using decorators</a:t>
            </a:r>
            <a:br>
              <a:rPr lang="en-US" dirty="0"/>
            </a:br>
            <a:endParaRPr lang="en-US" dirty="0"/>
          </a:p>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decorator_name</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func</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inner</a:t>
            </a:r>
            <a:r>
              <a:rPr lang="en-US" b="0" dirty="0">
                <a:solidFill>
                  <a:srgbClr val="FFFFFF"/>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args</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kwargs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decorator does its job here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inner</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7CA668"/>
                </a:solidFill>
                <a:effectLst/>
                <a:latin typeface="Consolas" panose="020B0609020204030204" pitchFamily="49" charset="0"/>
              </a:rPr>
              <a:t># decorator will modify a function</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@decorator_name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something_else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function body</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pass</a:t>
            </a:r>
            <a:endParaRPr lang="fi-FI" dirty="0"/>
          </a:p>
        </p:txBody>
      </p:sp>
    </p:spTree>
    <p:extLst>
      <p:ext uri="{BB962C8B-B14F-4D97-AF65-F5344CB8AC3E}">
        <p14:creationId xmlns:p14="http://schemas.microsoft.com/office/powerpoint/2010/main" val="251767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BD0FA3E-CBA6-4B57-938B-647347B3A283}"/>
              </a:ext>
            </a:extLst>
          </p:cNvPr>
          <p:cNvSpPr>
            <a:spLocks noGrp="1"/>
          </p:cNvSpPr>
          <p:nvPr>
            <p:ph type="title"/>
          </p:nvPr>
        </p:nvSpPr>
        <p:spPr/>
        <p:txBody>
          <a:bodyPr/>
          <a:lstStyle/>
          <a:p>
            <a:r>
              <a:rPr lang="en-US" dirty="0"/>
              <a:t>Decorator Example</a:t>
            </a:r>
          </a:p>
        </p:txBody>
      </p:sp>
      <p:sp>
        <p:nvSpPr>
          <p:cNvPr id="3" name="Sisällön paikkamerkki 2">
            <a:extLst>
              <a:ext uri="{FF2B5EF4-FFF2-40B4-BE49-F238E27FC236}">
                <a16:creationId xmlns:a16="http://schemas.microsoft.com/office/drawing/2014/main" id="{8C7E118D-8F3A-4235-81EA-BBCE0831D996}"/>
              </a:ext>
            </a:extLst>
          </p:cNvPr>
          <p:cNvSpPr>
            <a:spLocks noGrp="1"/>
          </p:cNvSpPr>
          <p:nvPr>
            <p:ph idx="1"/>
          </p:nvPr>
        </p:nvSpPr>
        <p:spPr>
          <a:xfrm>
            <a:off x="1218883" y="1701797"/>
            <a:ext cx="10360501" cy="4823548"/>
          </a:xfrm>
        </p:spPr>
        <p:txBody>
          <a:bodyPr>
            <a:normAutofit fontScale="62500" lnSpcReduction="20000"/>
          </a:bodyPr>
          <a:lstStyle/>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safe_divide</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func</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inner</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a</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b</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"Trying to divide"</a:t>
            </a:r>
            <a:r>
              <a:rPr lang="en-US" b="0" dirty="0">
                <a:solidFill>
                  <a:srgbClr val="FFFFFF"/>
                </a:solidFill>
                <a:effectLst/>
                <a:latin typeface="Consolas" panose="020B0609020204030204" pitchFamily="49" charset="0"/>
              </a:rPr>
              <a:t>, a, </a:t>
            </a:r>
            <a:r>
              <a:rPr lang="en-US" b="0" dirty="0">
                <a:solidFill>
                  <a:srgbClr val="CE9178"/>
                </a:solidFill>
                <a:effectLst/>
                <a:latin typeface="Consolas" panose="020B0609020204030204" pitchFamily="49" charset="0"/>
              </a:rPr>
              <a:t>"by"</a:t>
            </a:r>
            <a:r>
              <a:rPr lang="en-US" b="0" dirty="0">
                <a:solidFill>
                  <a:srgbClr val="FFFFFF"/>
                </a:solidFill>
                <a:effectLst/>
                <a:latin typeface="Consolas" panose="020B0609020204030204" pitchFamily="49" charset="0"/>
              </a:rPr>
              <a:t>, b)</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b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"Division by Zero"</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func(a, b)</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inner</a:t>
            </a:r>
          </a:p>
          <a:p>
            <a:pPr marL="0" indent="0">
              <a:spcBef>
                <a:spcPts val="600"/>
              </a:spcBef>
              <a:buNone/>
            </a:pP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@safe_divide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divide</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a</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b</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b)</a:t>
            </a:r>
          </a:p>
          <a:p>
            <a:pPr marL="0" indent="0">
              <a:spcBef>
                <a:spcPts val="600"/>
              </a:spcBef>
              <a:buNone/>
            </a:pPr>
            <a:br>
              <a:rPr lang="en-US" b="0" dirty="0">
                <a:solidFill>
                  <a:srgbClr val="FFFFFF"/>
                </a:solidFill>
                <a:effectLst/>
                <a:latin typeface="Consolas" panose="020B0609020204030204" pitchFamily="49" charset="0"/>
              </a:rPr>
            </a:b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divide(</a:t>
            </a:r>
            <a:r>
              <a:rPr lang="en-US" b="0" dirty="0">
                <a:solidFill>
                  <a:srgbClr val="B5CEA8"/>
                </a:solidFill>
                <a:effectLst/>
                <a:latin typeface="Consolas" panose="020B0609020204030204" pitchFamily="49" charset="0"/>
              </a:rPr>
              <a:t>7</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divide(</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1017629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93F4C-6159-4C05-BDAF-D59607024CEA}"/>
              </a:ext>
            </a:extLst>
          </p:cNvPr>
          <p:cNvSpPr>
            <a:spLocks noGrp="1"/>
          </p:cNvSpPr>
          <p:nvPr>
            <p:ph type="title"/>
          </p:nvPr>
        </p:nvSpPr>
        <p:spPr/>
        <p:txBody>
          <a:bodyPr/>
          <a:lstStyle/>
          <a:p>
            <a:r>
              <a:rPr lang="en-US" dirty="0"/>
              <a:t>Useful Python Built-In Functions A-D</a:t>
            </a:r>
          </a:p>
        </p:txBody>
      </p:sp>
      <p:sp>
        <p:nvSpPr>
          <p:cNvPr id="3" name="Content Placeholder 2">
            <a:extLst>
              <a:ext uri="{FF2B5EF4-FFF2-40B4-BE49-F238E27FC236}">
                <a16:creationId xmlns:a16="http://schemas.microsoft.com/office/drawing/2014/main" id="{4B44D440-092E-40E5-9495-CADD480065FB}"/>
              </a:ext>
            </a:extLst>
          </p:cNvPr>
          <p:cNvSpPr>
            <a:spLocks noGrp="1"/>
          </p:cNvSpPr>
          <p:nvPr>
            <p:ph idx="1"/>
          </p:nvPr>
        </p:nvSpPr>
        <p:spPr>
          <a:xfrm>
            <a:off x="1218883" y="1701796"/>
            <a:ext cx="10360501" cy="4881567"/>
          </a:xfrm>
        </p:spPr>
        <p:txBody>
          <a:bodyPr>
            <a:normAutofit fontScale="62500" lnSpcReduction="20000"/>
          </a:bodyPr>
          <a:lstStyle/>
          <a:p>
            <a:r>
              <a:rPr lang="en-US" sz="2400" b="1" dirty="0"/>
              <a:t>abs(</a:t>
            </a:r>
            <a:r>
              <a:rPr lang="en-US" sz="2400" b="1" i="1" dirty="0"/>
              <a:t>x</a:t>
            </a:r>
            <a:r>
              <a:rPr lang="en-US" sz="2400" b="1" dirty="0"/>
              <a:t>) </a:t>
            </a:r>
            <a:r>
              <a:rPr lang="en-US" sz="2400" dirty="0"/>
              <a:t>return absolute value of </a:t>
            </a:r>
            <a:r>
              <a:rPr lang="en-US" sz="2400" i="1" dirty="0"/>
              <a:t>x </a:t>
            </a:r>
            <a:r>
              <a:rPr lang="en-US" sz="2400" dirty="0"/>
              <a:t>e.g. </a:t>
            </a:r>
            <a:r>
              <a:rPr lang="en-US" sz="2400" dirty="0">
                <a:latin typeface="Courier New" panose="02070309020205020404" pitchFamily="49" charset="0"/>
                <a:cs typeface="Courier New" panose="02070309020205020404" pitchFamily="49" charset="0"/>
              </a:rPr>
              <a:t>abs(-5)# 5</a:t>
            </a:r>
          </a:p>
          <a:p>
            <a:r>
              <a:rPr lang="en-US" sz="2400" b="1" dirty="0">
                <a:cs typeface="Courier New" panose="02070309020205020404" pitchFamily="49" charset="0"/>
              </a:rPr>
              <a:t>bool(</a:t>
            </a:r>
            <a:r>
              <a:rPr lang="en-US" sz="2400" b="1" i="1" dirty="0">
                <a:cs typeface="Courier New" panose="02070309020205020404" pitchFamily="49" charset="0"/>
              </a:rPr>
              <a:t>x</a:t>
            </a:r>
            <a:r>
              <a:rPr lang="en-US" sz="2400" b="1" dirty="0">
                <a:cs typeface="Courier New" panose="02070309020205020404" pitchFamily="49" charset="0"/>
              </a:rPr>
              <a:t>) </a:t>
            </a:r>
            <a:r>
              <a:rPr lang="en-US" sz="2400" dirty="0">
                <a:cs typeface="Courier New" panose="02070309020205020404" pitchFamily="49" charset="0"/>
              </a:rPr>
              <a:t>return Boolean value of </a:t>
            </a:r>
            <a:r>
              <a:rPr lang="en-US" sz="2400" i="1" dirty="0">
                <a:cs typeface="Courier New" panose="02070309020205020404" pitchFamily="49" charset="0"/>
              </a:rPr>
              <a:t>x</a:t>
            </a:r>
            <a:r>
              <a:rPr lang="en-US" sz="2400" dirty="0">
                <a:cs typeface="Courier New" panose="02070309020205020404" pitchFamily="49" charset="0"/>
              </a:rPr>
              <a:t> e.g. </a:t>
            </a:r>
            <a:r>
              <a:rPr lang="en-US" sz="2400" dirty="0">
                <a:latin typeface="Courier New" panose="02070309020205020404" pitchFamily="49" charset="0"/>
                <a:cs typeface="Courier New" panose="02070309020205020404" pitchFamily="49" charset="0"/>
              </a:rPr>
              <a:t>bool(0) # False bool(1) # True</a:t>
            </a:r>
          </a:p>
          <a:p>
            <a:r>
              <a:rPr lang="en-US" sz="2400" b="1" dirty="0">
                <a:cs typeface="Courier New" panose="02070309020205020404" pitchFamily="49" charset="0"/>
              </a:rPr>
              <a:t>bytearray(</a:t>
            </a:r>
            <a:r>
              <a:rPr lang="en-US" sz="2400" b="1" i="1" dirty="0">
                <a:cs typeface="Courier New" panose="02070309020205020404" pitchFamily="49" charset="0"/>
              </a:rPr>
              <a:t>[source[, encoding[, errors]]]</a:t>
            </a:r>
            <a:r>
              <a:rPr lang="en-US" sz="2400" b="1" dirty="0">
                <a:cs typeface="Courier New" panose="02070309020205020404" pitchFamily="49" charset="0"/>
              </a:rPr>
              <a:t>)  </a:t>
            </a:r>
            <a:r>
              <a:rPr lang="en-US" sz="2400" dirty="0">
                <a:cs typeface="Courier New" panose="02070309020205020404" pitchFamily="49" charset="0"/>
              </a:rPr>
              <a:t>return a new array of bytes. The bytearray class is a mutable sequence of integers in the range 0 &lt;= x &lt; 256. e.g. </a:t>
            </a:r>
            <a:r>
              <a:rPr lang="en-US" sz="2400" dirty="0">
                <a:latin typeface="Courier New" panose="02070309020205020404" pitchFamily="49" charset="0"/>
                <a:cs typeface="Courier New" panose="02070309020205020404" pitchFamily="49" charset="0"/>
              </a:rPr>
              <a:t>bytearray((65, 66, 66, 65))</a:t>
            </a:r>
            <a:endParaRPr lang="en-US" sz="2400" b="1" dirty="0">
              <a:latin typeface="Courier New" panose="02070309020205020404" pitchFamily="49" charset="0"/>
              <a:cs typeface="Courier New" panose="02070309020205020404" pitchFamily="49" charset="0"/>
            </a:endParaRPr>
          </a:p>
          <a:p>
            <a:r>
              <a:rPr lang="en-US" sz="2400" b="1" dirty="0">
                <a:cs typeface="Courier New" panose="02070309020205020404" pitchFamily="49" charset="0"/>
              </a:rPr>
              <a:t>bytes(</a:t>
            </a:r>
            <a:r>
              <a:rPr lang="en-US" sz="2400" b="1" i="1" dirty="0">
                <a:cs typeface="Courier New" panose="02070309020205020404" pitchFamily="49" charset="0"/>
              </a:rPr>
              <a:t>[source[, encoding[, errors]]]</a:t>
            </a:r>
            <a:r>
              <a:rPr lang="en-US" sz="2400" b="1" dirty="0">
                <a:cs typeface="Courier New" panose="02070309020205020404" pitchFamily="49" charset="0"/>
              </a:rPr>
              <a:t>) </a:t>
            </a:r>
            <a:r>
              <a:rPr lang="en-US" sz="2400" dirty="0">
                <a:cs typeface="Courier New" panose="02070309020205020404" pitchFamily="49" charset="0"/>
              </a:rPr>
              <a:t>return a new bytes object, which is an immutable sequence of integers 0 &lt;= x &lt;= 255.  e.g. </a:t>
            </a:r>
            <a:r>
              <a:rPr lang="en-US" sz="2400" dirty="0">
                <a:latin typeface="Courier New" panose="02070309020205020404" pitchFamily="49" charset="0"/>
                <a:cs typeface="Courier New" panose="02070309020205020404" pitchFamily="49" charset="0"/>
              </a:rPr>
              <a:t>bytes("hello", encoding="utf-8")b'hello'</a:t>
            </a:r>
            <a:endParaRPr lang="en-US" sz="2400" b="1" dirty="0">
              <a:latin typeface="Courier New" panose="02070309020205020404" pitchFamily="49" charset="0"/>
              <a:cs typeface="Courier New" panose="02070309020205020404" pitchFamily="49" charset="0"/>
            </a:endParaRPr>
          </a:p>
          <a:p>
            <a:r>
              <a:rPr lang="en-US" sz="2400" b="1" dirty="0"/>
              <a:t>chr(</a:t>
            </a:r>
            <a:r>
              <a:rPr lang="en-US" sz="2400" b="1" i="1" dirty="0"/>
              <a:t>i</a:t>
            </a:r>
            <a:r>
              <a:rPr lang="en-US" sz="2400" b="1" dirty="0"/>
              <a:t>)</a:t>
            </a:r>
            <a:r>
              <a:rPr lang="en-US" sz="2400" dirty="0"/>
              <a:t> return Unicode character with code point </a:t>
            </a:r>
            <a:r>
              <a:rPr lang="en-US" sz="2400" i="1" dirty="0"/>
              <a:t>i </a:t>
            </a:r>
            <a:r>
              <a:rPr lang="en-US" sz="2400" dirty="0"/>
              <a:t>e.g. </a:t>
            </a:r>
            <a:r>
              <a:rPr lang="en-US" sz="2400" dirty="0">
                <a:latin typeface="Courier New" panose="02070309020205020404" pitchFamily="49" charset="0"/>
                <a:cs typeface="Courier New" panose="02070309020205020404" pitchFamily="49" charset="0"/>
              </a:rPr>
              <a:t>chr(8364) # €</a:t>
            </a:r>
            <a:endParaRPr lang="en-US" sz="2400" dirty="0"/>
          </a:p>
          <a:p>
            <a:r>
              <a:rPr lang="en-US" sz="2400" b="1" dirty="0"/>
              <a:t>complex(</a:t>
            </a:r>
            <a:r>
              <a:rPr lang="en-US" sz="2400" b="1" i="1" dirty="0"/>
              <a:t>[real[, imag]</a:t>
            </a:r>
            <a:r>
              <a:rPr lang="en-US" sz="2400" b="1" dirty="0"/>
              <a:t>])</a:t>
            </a:r>
            <a:r>
              <a:rPr lang="en-US" sz="2400" dirty="0"/>
              <a:t> return a complex number with the value </a:t>
            </a:r>
            <a:r>
              <a:rPr lang="en-US" sz="2400" i="1" dirty="0"/>
              <a:t>real</a:t>
            </a:r>
            <a:r>
              <a:rPr lang="en-US" sz="2400" dirty="0"/>
              <a:t> + </a:t>
            </a:r>
            <a:r>
              <a:rPr lang="en-US" sz="2400" i="1" dirty="0"/>
              <a:t>imag</a:t>
            </a:r>
            <a:r>
              <a:rPr lang="en-US" sz="2400" dirty="0"/>
              <a:t>*1j or convert a string or number to a complex number. E.g. </a:t>
            </a:r>
            <a:r>
              <a:rPr lang="en-US" sz="2400" dirty="0">
                <a:latin typeface="Courier New" panose="02070309020205020404" pitchFamily="49" charset="0"/>
                <a:cs typeface="Courier New" panose="02070309020205020404" pitchFamily="49" charset="0"/>
              </a:rPr>
              <a:t>complex(3,-2) # 3-2j</a:t>
            </a:r>
          </a:p>
          <a:p>
            <a:r>
              <a:rPr lang="en-US" sz="2400" b="1" dirty="0">
                <a:cs typeface="Courier New" panose="02070309020205020404" pitchFamily="49" charset="0"/>
              </a:rPr>
              <a:t>class </a:t>
            </a:r>
            <a:r>
              <a:rPr lang="en-US" sz="2400" b="1" dirty="0" err="1">
                <a:cs typeface="Courier New" panose="02070309020205020404" pitchFamily="49" charset="0"/>
              </a:rPr>
              <a:t>dict</a:t>
            </a:r>
            <a:r>
              <a:rPr lang="en-US" sz="2400" b="1" dirty="0">
                <a:cs typeface="Courier New" panose="02070309020205020404" pitchFamily="49" charset="0"/>
              </a:rPr>
              <a:t>(**kwarg) </a:t>
            </a:r>
            <a:r>
              <a:rPr lang="en-US" sz="2400" dirty="0">
                <a:cs typeface="Courier New" panose="02070309020205020404" pitchFamily="49" charset="0"/>
              </a:rPr>
              <a:t>return a new dictionary e.g. </a:t>
            </a:r>
            <a:r>
              <a:rPr lang="en-US" sz="2400" dirty="0" err="1">
                <a:latin typeface="Courier New" panose="02070309020205020404" pitchFamily="49" charset="0"/>
                <a:cs typeface="Courier New" panose="02070309020205020404" pitchFamily="49" charset="0"/>
              </a:rPr>
              <a:t>dict</a:t>
            </a:r>
            <a:r>
              <a:rPr lang="en-US" sz="2400" dirty="0">
                <a:latin typeface="Courier New" panose="02070309020205020404" pitchFamily="49" charset="0"/>
                <a:cs typeface="Courier New" panose="02070309020205020404" pitchFamily="49" charset="0"/>
              </a:rPr>
              <a:t>(one=1, two=2, three=3)</a:t>
            </a:r>
            <a:endParaRPr lang="en-US" sz="2400" b="1" dirty="0">
              <a:latin typeface="Courier New" panose="02070309020205020404" pitchFamily="49" charset="0"/>
              <a:cs typeface="Courier New" panose="02070309020205020404" pitchFamily="49" charset="0"/>
            </a:endParaRPr>
          </a:p>
          <a:p>
            <a:r>
              <a:rPr lang="en-US" sz="2400" b="1" dirty="0">
                <a:cs typeface="Courier New" panose="02070309020205020404" pitchFamily="49" charset="0"/>
              </a:rPr>
              <a:t>class </a:t>
            </a:r>
            <a:r>
              <a:rPr lang="en-US" sz="2400" b="1" dirty="0" err="1">
                <a:cs typeface="Courier New" panose="02070309020205020404" pitchFamily="49" charset="0"/>
              </a:rPr>
              <a:t>dict</a:t>
            </a:r>
            <a:r>
              <a:rPr lang="en-US" sz="2400" b="1" dirty="0">
                <a:cs typeface="Courier New" panose="02070309020205020404" pitchFamily="49" charset="0"/>
              </a:rPr>
              <a:t>(mapping, **kwarg) </a:t>
            </a:r>
            <a:r>
              <a:rPr lang="en-US" sz="2400" dirty="0">
                <a:cs typeface="Courier New" panose="02070309020205020404" pitchFamily="49" charset="0"/>
              </a:rPr>
              <a:t>return a new dictionary e.g. </a:t>
            </a:r>
            <a:r>
              <a:rPr lang="en-US" sz="2400" dirty="0" err="1">
                <a:latin typeface="Courier New" panose="02070309020205020404" pitchFamily="49" charset="0"/>
                <a:cs typeface="Courier New" panose="02070309020205020404" pitchFamily="49" charset="0"/>
              </a:rPr>
              <a:t>dict</a:t>
            </a:r>
            <a:r>
              <a:rPr lang="en-US" sz="2400" dirty="0">
                <a:latin typeface="Courier New" panose="02070309020205020404" pitchFamily="49" charset="0"/>
                <a:cs typeface="Courier New" panose="02070309020205020404" pitchFamily="49" charset="0"/>
              </a:rPr>
              <a:t>({'three': 3, 'one': 1, 'two': 2})</a:t>
            </a:r>
          </a:p>
          <a:p>
            <a:r>
              <a:rPr lang="en-US" sz="2400" b="1" dirty="0">
                <a:cs typeface="Courier New" panose="02070309020205020404" pitchFamily="49" charset="0"/>
              </a:rPr>
              <a:t>class </a:t>
            </a:r>
            <a:r>
              <a:rPr lang="en-US" sz="2400" b="1" dirty="0" err="1">
                <a:cs typeface="Courier New" panose="02070309020205020404" pitchFamily="49" charset="0"/>
              </a:rPr>
              <a:t>dict</a:t>
            </a:r>
            <a:r>
              <a:rPr lang="en-US" sz="2400" b="1" dirty="0">
                <a:cs typeface="Courier New" panose="02070309020205020404" pitchFamily="49" charset="0"/>
              </a:rPr>
              <a:t>(iterable, **kwarg) </a:t>
            </a:r>
            <a:r>
              <a:rPr lang="en-US" sz="2400" dirty="0">
                <a:cs typeface="Courier New" panose="02070309020205020404" pitchFamily="49" charset="0"/>
              </a:rPr>
              <a:t>return a new dictionary e.g. </a:t>
            </a:r>
            <a:r>
              <a:rPr lang="en-US" sz="2400" dirty="0" err="1">
                <a:latin typeface="Courier New" panose="02070309020205020404" pitchFamily="49" charset="0"/>
                <a:cs typeface="Courier New" panose="02070309020205020404" pitchFamily="49" charset="0"/>
              </a:rPr>
              <a:t>dict</a:t>
            </a:r>
            <a:r>
              <a:rPr lang="en-US" sz="2400" dirty="0">
                <a:latin typeface="Courier New" panose="02070309020205020404" pitchFamily="49" charset="0"/>
                <a:cs typeface="Courier New" panose="02070309020205020404" pitchFamily="49" charset="0"/>
              </a:rPr>
              <a:t>([('two', 2), ('one', 1), ('three', 3)])</a:t>
            </a:r>
          </a:p>
          <a:p>
            <a:r>
              <a:rPr lang="en-US" sz="2400" b="1" dirty="0"/>
              <a:t>dir(</a:t>
            </a:r>
            <a:r>
              <a:rPr lang="en-US" sz="2400" b="1" i="1" dirty="0"/>
              <a:t>[object]</a:t>
            </a:r>
            <a:r>
              <a:rPr lang="en-US" sz="2400" b="1" dirty="0"/>
              <a:t>) </a:t>
            </a:r>
            <a:r>
              <a:rPr lang="en-US" sz="2400" dirty="0"/>
              <a:t>without argument return the list of names in current scope, otherwise return list of names in given </a:t>
            </a:r>
            <a:r>
              <a:rPr lang="en-US" sz="2400" i="1" dirty="0"/>
              <a:t>object</a:t>
            </a:r>
            <a:br>
              <a:rPr lang="en-US" sz="2400" i="1" dirty="0"/>
            </a:br>
            <a:endParaRPr lang="en-US" sz="2400" i="1" dirty="0"/>
          </a:p>
        </p:txBody>
      </p:sp>
    </p:spTree>
    <p:extLst>
      <p:ext uri="{BB962C8B-B14F-4D97-AF65-F5344CB8AC3E}">
        <p14:creationId xmlns:p14="http://schemas.microsoft.com/office/powerpoint/2010/main" val="351746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C94C2-D47E-4977-AE51-77D58BF77910}"/>
              </a:ext>
            </a:extLst>
          </p:cNvPr>
          <p:cNvSpPr>
            <a:spLocks noGrp="1"/>
          </p:cNvSpPr>
          <p:nvPr>
            <p:ph type="title"/>
          </p:nvPr>
        </p:nvSpPr>
        <p:spPr/>
        <p:txBody>
          <a:bodyPr/>
          <a:lstStyle/>
          <a:p>
            <a:r>
              <a:rPr lang="en-US" dirty="0"/>
              <a:t>Useful Python Built-In Functions E-F</a:t>
            </a:r>
          </a:p>
        </p:txBody>
      </p:sp>
      <p:sp>
        <p:nvSpPr>
          <p:cNvPr id="3" name="Content Placeholder 2">
            <a:extLst>
              <a:ext uri="{FF2B5EF4-FFF2-40B4-BE49-F238E27FC236}">
                <a16:creationId xmlns:a16="http://schemas.microsoft.com/office/drawing/2014/main" id="{4DFC4BF9-7D98-441B-85B1-882D62418DC1}"/>
              </a:ext>
            </a:extLst>
          </p:cNvPr>
          <p:cNvSpPr>
            <a:spLocks noGrp="1"/>
          </p:cNvSpPr>
          <p:nvPr>
            <p:ph idx="1"/>
          </p:nvPr>
        </p:nvSpPr>
        <p:spPr>
          <a:xfrm>
            <a:off x="1218883" y="1701797"/>
            <a:ext cx="10360501" cy="4881566"/>
          </a:xfrm>
        </p:spPr>
        <p:txBody>
          <a:bodyPr>
            <a:normAutofit fontScale="62500" lnSpcReduction="20000"/>
          </a:bodyPr>
          <a:lstStyle/>
          <a:p>
            <a:r>
              <a:rPr lang="en-US" b="1" dirty="0"/>
              <a:t>enumerate(</a:t>
            </a:r>
            <a:r>
              <a:rPr lang="en-US" b="1" i="1" dirty="0"/>
              <a:t>iterable, start=0</a:t>
            </a:r>
            <a:r>
              <a:rPr lang="en-US" b="1" dirty="0"/>
              <a:t>) </a:t>
            </a:r>
            <a:r>
              <a:rPr lang="en-US" dirty="0"/>
              <a:t>Return an enumerate object. Example:</a:t>
            </a:r>
            <a:br>
              <a:rPr lang="en-US" dirty="0"/>
            </a:br>
            <a:r>
              <a:rPr lang="en-US" dirty="0">
                <a:latin typeface="Courier New" panose="02070309020205020404" pitchFamily="49" charset="0"/>
                <a:cs typeface="Courier New" panose="02070309020205020404" pitchFamily="49" charset="0"/>
              </a:rPr>
              <a:t>seasons = ['Spring', 'Summer', 'Fall', 'Winter']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list(enumerate(seasons, start=1))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 'Spring'), (2, 'Summer'), (3, 'Fall'), (4, 'Winter')]</a:t>
            </a:r>
          </a:p>
          <a:p>
            <a:r>
              <a:rPr lang="en-US" b="1" dirty="0"/>
              <a:t>eval(</a:t>
            </a:r>
            <a:r>
              <a:rPr lang="en-US" b="1" i="1" dirty="0"/>
              <a:t>expression, globals=None, locals=None</a:t>
            </a:r>
            <a:r>
              <a:rPr lang="en-US" b="1" dirty="0"/>
              <a:t>) </a:t>
            </a:r>
            <a:r>
              <a:rPr lang="en-US" dirty="0"/>
              <a:t>evaluates the given </a:t>
            </a:r>
            <a:r>
              <a:rPr lang="en-US" i="1" dirty="0"/>
              <a:t>expression </a:t>
            </a:r>
            <a:r>
              <a:rPr lang="en-US" dirty="0"/>
              <a:t>and returns value.</a:t>
            </a:r>
            <a:r>
              <a:rPr lang="en-US" b="1" dirty="0"/>
              <a:t> </a:t>
            </a:r>
            <a:r>
              <a:rPr lang="en-US" dirty="0"/>
              <a:t>E.g. </a:t>
            </a:r>
            <a:r>
              <a:rPr lang="en-US" dirty="0">
                <a:latin typeface="Courier New" panose="02070309020205020404" pitchFamily="49" charset="0"/>
                <a:cs typeface="Courier New" panose="02070309020205020404" pitchFamily="49" charset="0"/>
              </a:rPr>
              <a:t>x = 1;  result = eval('x+1')</a:t>
            </a:r>
            <a:endParaRPr lang="en-US" dirty="0"/>
          </a:p>
          <a:p>
            <a:r>
              <a:rPr lang="en-US" b="1" dirty="0"/>
              <a:t>filter(</a:t>
            </a:r>
            <a:r>
              <a:rPr lang="en-US" b="1" i="1" dirty="0"/>
              <a:t>function, iterable</a:t>
            </a:r>
            <a:r>
              <a:rPr lang="en-US" b="1" dirty="0"/>
              <a:t>) </a:t>
            </a:r>
            <a:r>
              <a:rPr lang="en-US" dirty="0"/>
              <a:t>Construct an iterator from those elements of </a:t>
            </a:r>
            <a:r>
              <a:rPr lang="en-US" i="1" dirty="0"/>
              <a:t>iterable</a:t>
            </a:r>
            <a:r>
              <a:rPr lang="en-US" dirty="0"/>
              <a:t> for which </a:t>
            </a:r>
            <a:r>
              <a:rPr lang="en-US" i="1" dirty="0"/>
              <a:t>function</a:t>
            </a:r>
            <a:r>
              <a:rPr lang="en-US" dirty="0"/>
              <a:t> returns true. iterable may be either a sequence, a container which supports iteration, or an iterator. If </a:t>
            </a:r>
            <a:r>
              <a:rPr lang="en-US" i="1" dirty="0"/>
              <a:t>function</a:t>
            </a:r>
            <a:r>
              <a:rPr lang="en-US" dirty="0"/>
              <a:t> is None, the identity function is assumed, that is, all elements of </a:t>
            </a:r>
            <a:r>
              <a:rPr lang="en-US" i="1" dirty="0"/>
              <a:t>iterable</a:t>
            </a:r>
            <a:r>
              <a:rPr lang="en-US" dirty="0"/>
              <a:t> that are false are removed. E.g.</a:t>
            </a:r>
            <a:br>
              <a:rPr lang="en-US" dirty="0"/>
            </a:br>
            <a:r>
              <a:rPr lang="en-US" dirty="0">
                <a:latin typeface="Courier New" panose="02070309020205020404" pitchFamily="49" charset="0"/>
                <a:cs typeface="Courier New" panose="02070309020205020404" pitchFamily="49" charset="0"/>
              </a:rPr>
              <a:t>tuple(filter(lambda x&gt;=0, (1, -4, 2, 0, -10))) # (1, 2, 0)</a:t>
            </a:r>
          </a:p>
          <a:p>
            <a:r>
              <a:rPr lang="en-US" b="1" dirty="0"/>
              <a:t>class float([</a:t>
            </a:r>
            <a:r>
              <a:rPr lang="en-US" b="1" i="1" dirty="0"/>
              <a:t>x</a:t>
            </a:r>
            <a:r>
              <a:rPr lang="en-US" b="1" dirty="0"/>
              <a:t>]) </a:t>
            </a:r>
            <a:r>
              <a:rPr lang="en-US" dirty="0"/>
              <a:t>return a floating point number constructed from a number or string </a:t>
            </a:r>
            <a:r>
              <a:rPr lang="en-US" b="1" i="1" dirty="0"/>
              <a:t>x</a:t>
            </a:r>
            <a:r>
              <a:rPr lang="en-US" dirty="0"/>
              <a:t>. e.g. </a:t>
            </a:r>
            <a:r>
              <a:rPr lang="en-US" dirty="0">
                <a:latin typeface="Courier New" panose="02070309020205020404" pitchFamily="49" charset="0"/>
                <a:cs typeface="Courier New" panose="02070309020205020404" pitchFamily="49" charset="0"/>
              </a:rPr>
              <a:t>float("1.23e3") # 1230.0</a:t>
            </a:r>
          </a:p>
          <a:p>
            <a:r>
              <a:rPr lang="en-US" b="1" dirty="0"/>
              <a:t>format(</a:t>
            </a:r>
            <a:r>
              <a:rPr lang="en-US" b="1" i="1" dirty="0"/>
              <a:t>value[, format_spec]</a:t>
            </a:r>
            <a:r>
              <a:rPr lang="en-US" b="1" dirty="0"/>
              <a:t>) C</a:t>
            </a:r>
            <a:r>
              <a:rPr lang="en-US" dirty="0"/>
              <a:t>onvert a value to a “formatted” representation, as controlled by e.g.</a:t>
            </a:r>
            <a:br>
              <a:rPr lang="en-US" dirty="0"/>
            </a:br>
            <a:r>
              <a:rPr lang="en-US" dirty="0">
                <a:latin typeface="Courier New" panose="02070309020205020404" pitchFamily="49" charset="0"/>
                <a:cs typeface="Courier New" panose="02070309020205020404" pitchFamily="49" charset="0"/>
              </a:rPr>
              <a:t>"{:3}, {:.3f}".format(20, 2.34567) # ' 20, 2.346'</a:t>
            </a:r>
          </a:p>
          <a:p>
            <a:r>
              <a:rPr lang="en-US" b="1" dirty="0">
                <a:cs typeface="Courier New" panose="02070309020205020404" pitchFamily="49" charset="0"/>
              </a:rPr>
              <a:t>class frozenset(</a:t>
            </a:r>
            <a:r>
              <a:rPr lang="en-US" b="1" i="1" dirty="0">
                <a:cs typeface="Courier New" panose="02070309020205020404" pitchFamily="49" charset="0"/>
              </a:rPr>
              <a:t>[iterable]</a:t>
            </a:r>
            <a:r>
              <a:rPr lang="en-US" b="1" dirty="0">
                <a:cs typeface="Courier New" panose="02070309020205020404" pitchFamily="49" charset="0"/>
              </a:rPr>
              <a:t>) </a:t>
            </a:r>
            <a:r>
              <a:rPr lang="en-US" dirty="0">
                <a:cs typeface="Courier New" panose="02070309020205020404" pitchFamily="49" charset="0"/>
              </a:rPr>
              <a:t>Return a new frozenset object, optionally with elements taken from </a:t>
            </a:r>
            <a:r>
              <a:rPr lang="en-US" i="1" dirty="0">
                <a:cs typeface="Courier New" panose="02070309020205020404" pitchFamily="49" charset="0"/>
              </a:rPr>
              <a:t>iterable</a:t>
            </a:r>
            <a:r>
              <a:rPr lang="en-US" dirty="0">
                <a:cs typeface="Courier New" panose="02070309020205020404" pitchFamily="49" charset="0"/>
              </a:rPr>
              <a:t>.</a:t>
            </a:r>
            <a:br>
              <a:rPr lang="en-US" dirty="0">
                <a:cs typeface="Courier New" panose="02070309020205020404" pitchFamily="49" charset="0"/>
              </a:rPr>
            </a:br>
            <a:r>
              <a:rPr lang="en-US" dirty="0">
                <a:latin typeface="Courier New" panose="02070309020205020404" pitchFamily="49" charset="0"/>
                <a:cs typeface="Courier New" panose="02070309020205020404" pitchFamily="49" charset="0"/>
              </a:rPr>
              <a:t>a = frozenset((1, 10, 0)) </a:t>
            </a:r>
          </a:p>
        </p:txBody>
      </p:sp>
    </p:spTree>
    <p:extLst>
      <p:ext uri="{BB962C8B-B14F-4D97-AF65-F5344CB8AC3E}">
        <p14:creationId xmlns:p14="http://schemas.microsoft.com/office/powerpoint/2010/main" val="1238424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535E1-70E4-4C9A-96C7-4469980A2438}"/>
              </a:ext>
            </a:extLst>
          </p:cNvPr>
          <p:cNvSpPr>
            <a:spLocks noGrp="1"/>
          </p:cNvSpPr>
          <p:nvPr>
            <p:ph type="title"/>
          </p:nvPr>
        </p:nvSpPr>
        <p:spPr/>
        <p:txBody>
          <a:bodyPr/>
          <a:lstStyle/>
          <a:p>
            <a:r>
              <a:rPr lang="en-US" dirty="0"/>
              <a:t>Useful Python Built-In Functions G-L</a:t>
            </a:r>
          </a:p>
        </p:txBody>
      </p:sp>
      <p:sp>
        <p:nvSpPr>
          <p:cNvPr id="3" name="Content Placeholder 2">
            <a:extLst>
              <a:ext uri="{FF2B5EF4-FFF2-40B4-BE49-F238E27FC236}">
                <a16:creationId xmlns:a16="http://schemas.microsoft.com/office/drawing/2014/main" id="{0951DA37-CD54-4CBF-99F8-9F97681516EC}"/>
              </a:ext>
            </a:extLst>
          </p:cNvPr>
          <p:cNvSpPr>
            <a:spLocks noGrp="1"/>
          </p:cNvSpPr>
          <p:nvPr>
            <p:ph idx="1"/>
          </p:nvPr>
        </p:nvSpPr>
        <p:spPr>
          <a:xfrm>
            <a:off x="1218883" y="1701797"/>
            <a:ext cx="10360501" cy="4881566"/>
          </a:xfrm>
        </p:spPr>
        <p:txBody>
          <a:bodyPr>
            <a:normAutofit fontScale="62500" lnSpcReduction="20000"/>
          </a:bodyPr>
          <a:lstStyle/>
          <a:p>
            <a:r>
              <a:rPr lang="en-US" b="1" dirty="0"/>
              <a:t>globals()</a:t>
            </a:r>
            <a:r>
              <a:rPr lang="en-US" dirty="0"/>
              <a:t> return a dictionary representing the current global symbol table.</a:t>
            </a:r>
          </a:p>
          <a:p>
            <a:r>
              <a:rPr lang="en-US" b="1" dirty="0"/>
              <a:t>help([</a:t>
            </a:r>
            <a:r>
              <a:rPr lang="en-US" b="1" i="1" dirty="0"/>
              <a:t>object</a:t>
            </a:r>
            <a:r>
              <a:rPr lang="en-US" b="1" dirty="0"/>
              <a:t>]) </a:t>
            </a:r>
            <a:r>
              <a:rPr lang="en-US" dirty="0"/>
              <a:t>Invoke the built-in interactive help system.</a:t>
            </a:r>
          </a:p>
          <a:p>
            <a:r>
              <a:rPr lang="en-US" b="1" dirty="0"/>
              <a:t>Input([prompt]) </a:t>
            </a:r>
            <a:r>
              <a:rPr lang="en-US" dirty="0"/>
              <a:t>Wait for standard input and return it after new line. if the prompt argument is present, it is written to standard output without a trailing newline.</a:t>
            </a:r>
          </a:p>
          <a:p>
            <a:r>
              <a:rPr lang="en-US" b="1" dirty="0"/>
              <a:t>class int([</a:t>
            </a:r>
            <a:r>
              <a:rPr lang="en-US" b="1" i="1" dirty="0"/>
              <a:t>x</a:t>
            </a:r>
            <a:r>
              <a:rPr lang="en-US" b="1" dirty="0"/>
              <a:t>])</a:t>
            </a:r>
            <a:br>
              <a:rPr lang="en-US" b="1" dirty="0"/>
            </a:br>
            <a:r>
              <a:rPr lang="en-US" b="1" dirty="0"/>
              <a:t>class int(</a:t>
            </a:r>
            <a:r>
              <a:rPr lang="en-US" b="1" i="1" dirty="0"/>
              <a:t>x</a:t>
            </a:r>
            <a:r>
              <a:rPr lang="en-US" b="1" dirty="0"/>
              <a:t>, </a:t>
            </a:r>
            <a:r>
              <a:rPr lang="en-US" b="1" i="1" dirty="0"/>
              <a:t>base</a:t>
            </a:r>
            <a:r>
              <a:rPr lang="en-US" b="1" dirty="0"/>
              <a:t>=10) </a:t>
            </a:r>
            <a:r>
              <a:rPr lang="en-US" dirty="0"/>
              <a:t>Return an integer object constructed from a number or string x, or return 0 if no arguments are given.  </a:t>
            </a:r>
            <a:r>
              <a:rPr lang="en-US" dirty="0">
                <a:latin typeface="Courier New" panose="02070309020205020404" pitchFamily="49" charset="0"/>
                <a:cs typeface="Courier New" panose="02070309020205020404" pitchFamily="49" charset="0"/>
              </a:rPr>
              <a:t>E.g. int('1101', 2) #13</a:t>
            </a:r>
          </a:p>
          <a:p>
            <a:r>
              <a:rPr lang="en-US" b="1" dirty="0"/>
              <a:t>isinstance(object, classinfo) </a:t>
            </a:r>
            <a:r>
              <a:rPr lang="en-US" dirty="0"/>
              <a:t>return True if object is an instance of classinfo. E.g. </a:t>
            </a:r>
            <a:r>
              <a:rPr lang="en-US" dirty="0">
                <a:latin typeface="Courier New" panose="02070309020205020404" pitchFamily="49" charset="0"/>
                <a:cs typeface="Courier New" panose="02070309020205020404" pitchFamily="49" charset="0"/>
              </a:rPr>
              <a:t>isinstance('my string', str)</a:t>
            </a:r>
          </a:p>
          <a:p>
            <a:r>
              <a:rPr lang="en-US" b="1" dirty="0"/>
              <a:t>len(s) </a:t>
            </a:r>
            <a:r>
              <a:rPr lang="en-US" dirty="0"/>
              <a:t>Return the length (the number of items) of an object. The argument may be a sequence (such as a string, bytes, tuple, list, or range) or a collection (such as a dictionary, set, or frozen set). E.g. </a:t>
            </a:r>
            <a:r>
              <a:rPr lang="en-US" dirty="0">
                <a:latin typeface="Courier New" panose="02070309020205020404" pitchFamily="49" charset="0"/>
                <a:cs typeface="Courier New" panose="02070309020205020404" pitchFamily="49" charset="0"/>
              </a:rPr>
              <a:t>len({1, 2, 100}) # 3</a:t>
            </a:r>
          </a:p>
          <a:p>
            <a:r>
              <a:rPr lang="en-US" b="1" dirty="0"/>
              <a:t>class list([iterable]) </a:t>
            </a:r>
            <a:r>
              <a:rPr lang="en-US" dirty="0"/>
              <a:t>Rather than being a function, list is actually a mutable sequence type, as documented in Lists and Sequence Types — list, tuple, range. E.g. </a:t>
            </a:r>
            <a:r>
              <a:rPr lang="en-US" dirty="0">
                <a:latin typeface="Courier New" panose="02070309020205020404" pitchFamily="49" charset="0"/>
                <a:cs typeface="Courier New" panose="02070309020205020404" pitchFamily="49" charset="0"/>
              </a:rPr>
              <a:t>list(range(10,0, -1) # [10, 9, 8, 7, 6, 5, 4, 3, 2, 1]</a:t>
            </a:r>
          </a:p>
          <a:p>
            <a:r>
              <a:rPr lang="en-US" b="1" dirty="0"/>
              <a:t>locals() </a:t>
            </a:r>
            <a:r>
              <a:rPr lang="en-US" dirty="0"/>
              <a:t>return dictionary representing the local symbol table. </a:t>
            </a:r>
          </a:p>
          <a:p>
            <a:endParaRPr lang="en-US" dirty="0"/>
          </a:p>
        </p:txBody>
      </p:sp>
    </p:spTree>
    <p:extLst>
      <p:ext uri="{BB962C8B-B14F-4D97-AF65-F5344CB8AC3E}">
        <p14:creationId xmlns:p14="http://schemas.microsoft.com/office/powerpoint/2010/main" val="102187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1A8C0-8436-4595-B5D8-532E9D3ADBB7}"/>
              </a:ext>
            </a:extLst>
          </p:cNvPr>
          <p:cNvSpPr>
            <a:spLocks noGrp="1"/>
          </p:cNvSpPr>
          <p:nvPr>
            <p:ph type="title"/>
          </p:nvPr>
        </p:nvSpPr>
        <p:spPr/>
        <p:txBody>
          <a:bodyPr/>
          <a:lstStyle/>
          <a:p>
            <a:r>
              <a:rPr lang="en-US" dirty="0"/>
              <a:t>Useful Python Built-In Functions M-N</a:t>
            </a:r>
          </a:p>
        </p:txBody>
      </p:sp>
      <p:sp>
        <p:nvSpPr>
          <p:cNvPr id="3" name="Content Placeholder 2">
            <a:extLst>
              <a:ext uri="{FF2B5EF4-FFF2-40B4-BE49-F238E27FC236}">
                <a16:creationId xmlns:a16="http://schemas.microsoft.com/office/drawing/2014/main" id="{8EE4CC6C-6EAC-45D9-B282-8BEF27696BA2}"/>
              </a:ext>
            </a:extLst>
          </p:cNvPr>
          <p:cNvSpPr>
            <a:spLocks noGrp="1"/>
          </p:cNvSpPr>
          <p:nvPr>
            <p:ph idx="1"/>
          </p:nvPr>
        </p:nvSpPr>
        <p:spPr/>
        <p:txBody>
          <a:bodyPr>
            <a:normAutofit fontScale="77500" lnSpcReduction="20000"/>
          </a:bodyPr>
          <a:lstStyle/>
          <a:p>
            <a:r>
              <a:rPr lang="en-US" b="1" dirty="0"/>
              <a:t>map(</a:t>
            </a:r>
            <a:r>
              <a:rPr lang="en-US" b="1" i="1" dirty="0"/>
              <a:t>function, iterable, ...</a:t>
            </a:r>
            <a:r>
              <a:rPr lang="en-US" b="1" dirty="0"/>
              <a:t>) </a:t>
            </a:r>
            <a:r>
              <a:rPr lang="en-US" dirty="0"/>
              <a:t>return an iterator that applies function to every item of iterable, yielding the results. E.g.</a:t>
            </a:r>
            <a:br>
              <a:rPr lang="en-US" dirty="0"/>
            </a:br>
            <a:r>
              <a:rPr lang="en-US" dirty="0">
                <a:latin typeface="Courier New" panose="02070309020205020404" pitchFamily="49" charset="0"/>
                <a:cs typeface="Courier New" panose="02070309020205020404" pitchFamily="49" charset="0"/>
              </a:rPr>
              <a:t>a = [1, 2, 100, 0, 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list(map(lambda x: x**3, a))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[1, 8, 1000000, 0, 125]</a:t>
            </a:r>
          </a:p>
          <a:p>
            <a:r>
              <a:rPr lang="en-US" b="1" dirty="0"/>
              <a:t>max(</a:t>
            </a:r>
            <a:r>
              <a:rPr lang="en-US" b="1" i="1" dirty="0"/>
              <a:t>iterable, *[, key, default]</a:t>
            </a:r>
            <a:r>
              <a:rPr lang="en-US" b="1" dirty="0"/>
              <a:t>)</a:t>
            </a:r>
          </a:p>
          <a:p>
            <a:r>
              <a:rPr lang="en-US" b="1" dirty="0"/>
              <a:t>max(</a:t>
            </a:r>
            <a:r>
              <a:rPr lang="en-US" b="1" i="1" dirty="0"/>
              <a:t>arg1, arg2, *args[, key]</a:t>
            </a:r>
            <a:r>
              <a:rPr lang="en-US" b="1" dirty="0"/>
              <a:t>) </a:t>
            </a:r>
            <a:r>
              <a:rPr lang="en-US" dirty="0"/>
              <a:t>Return the largest item in an iterable or the largest of two or more arguments. E.g. </a:t>
            </a:r>
            <a:r>
              <a:rPr lang="en-US" dirty="0">
                <a:latin typeface="Courier New" panose="02070309020205020404" pitchFamily="49" charset="0"/>
                <a:cs typeface="Courier New" panose="02070309020205020404" pitchFamily="49" charset="0"/>
              </a:rPr>
              <a:t>max(4, 0, -5) # 4</a:t>
            </a:r>
          </a:p>
          <a:p>
            <a:r>
              <a:rPr lang="en-US" b="1" dirty="0"/>
              <a:t>min(</a:t>
            </a:r>
            <a:r>
              <a:rPr lang="en-US" b="1" i="1" dirty="0"/>
              <a:t>iterable, *[, key, default]</a:t>
            </a:r>
            <a:r>
              <a:rPr lang="en-US" b="1" dirty="0"/>
              <a:t>)</a:t>
            </a:r>
          </a:p>
          <a:p>
            <a:r>
              <a:rPr lang="en-US" b="1" dirty="0"/>
              <a:t>min(</a:t>
            </a:r>
            <a:r>
              <a:rPr lang="en-US" b="1" i="1" dirty="0"/>
              <a:t>arg1, arg2, *args[, key]</a:t>
            </a:r>
            <a:r>
              <a:rPr lang="en-US" b="1" dirty="0"/>
              <a:t>) </a:t>
            </a:r>
            <a:r>
              <a:rPr lang="en-US" dirty="0"/>
              <a:t>Return the smallest item in an iterable or </a:t>
            </a:r>
            <a:r>
              <a:rPr lang="en-US" i="1" dirty="0"/>
              <a:t>the smallest of two or more </a:t>
            </a:r>
            <a:r>
              <a:rPr lang="en-US" dirty="0"/>
              <a:t>arguments. E.g. </a:t>
            </a:r>
            <a:r>
              <a:rPr lang="en-US" dirty="0">
                <a:latin typeface="Courier New" panose="02070309020205020404" pitchFamily="49" charset="0"/>
                <a:cs typeface="Courier New" panose="02070309020205020404" pitchFamily="49" charset="0"/>
              </a:rPr>
              <a:t>min(4, 0, -5) # 5</a:t>
            </a:r>
          </a:p>
          <a:p>
            <a:r>
              <a:rPr lang="en-US" b="1" dirty="0">
                <a:cs typeface="Courier New" panose="02070309020205020404" pitchFamily="49" charset="0"/>
              </a:rPr>
              <a:t>next(</a:t>
            </a:r>
            <a:r>
              <a:rPr lang="en-US" b="1" i="1" dirty="0">
                <a:cs typeface="Courier New" panose="02070309020205020404" pitchFamily="49" charset="0"/>
              </a:rPr>
              <a:t>iterator[, default]</a:t>
            </a:r>
            <a:r>
              <a:rPr lang="en-US" b="1" dirty="0">
                <a:cs typeface="Courier New" panose="02070309020205020404" pitchFamily="49" charset="0"/>
              </a:rPr>
              <a:t>) </a:t>
            </a:r>
            <a:r>
              <a:rPr lang="en-US" dirty="0">
                <a:cs typeface="Courier New" panose="02070309020205020404" pitchFamily="49" charset="0"/>
              </a:rPr>
              <a:t>Retrieve the next item from the iterator by calling its __next__() method.</a:t>
            </a:r>
          </a:p>
          <a:p>
            <a:endParaRPr lang="en-US" dirty="0">
              <a:latin typeface="Courier New" panose="02070309020205020404" pitchFamily="49" charset="0"/>
              <a:cs typeface="Courier New" panose="02070309020205020404" pitchFamily="49" charset="0"/>
            </a:endParaRPr>
          </a:p>
          <a:p>
            <a:endParaRPr lang="en-US" dirty="0"/>
          </a:p>
          <a:p>
            <a:endParaRPr lang="en-US" dirty="0"/>
          </a:p>
        </p:txBody>
      </p:sp>
    </p:spTree>
    <p:extLst>
      <p:ext uri="{BB962C8B-B14F-4D97-AF65-F5344CB8AC3E}">
        <p14:creationId xmlns:p14="http://schemas.microsoft.com/office/powerpoint/2010/main" val="240927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9BE7D-F25D-4B99-BD03-7BE852D0547B}"/>
              </a:ext>
            </a:extLst>
          </p:cNvPr>
          <p:cNvSpPr>
            <a:spLocks noGrp="1"/>
          </p:cNvSpPr>
          <p:nvPr>
            <p:ph type="title"/>
          </p:nvPr>
        </p:nvSpPr>
        <p:spPr/>
        <p:txBody>
          <a:bodyPr/>
          <a:lstStyle/>
          <a:p>
            <a:r>
              <a:rPr lang="en-US" dirty="0"/>
              <a:t>Useful Python Built-In Functions O</a:t>
            </a:r>
          </a:p>
        </p:txBody>
      </p:sp>
      <p:sp>
        <p:nvSpPr>
          <p:cNvPr id="3" name="Content Placeholder 2">
            <a:extLst>
              <a:ext uri="{FF2B5EF4-FFF2-40B4-BE49-F238E27FC236}">
                <a16:creationId xmlns:a16="http://schemas.microsoft.com/office/drawing/2014/main" id="{2B671CD0-392D-4131-801A-EAF9C1DCB859}"/>
              </a:ext>
            </a:extLst>
          </p:cNvPr>
          <p:cNvSpPr>
            <a:spLocks noGrp="1"/>
          </p:cNvSpPr>
          <p:nvPr>
            <p:ph idx="1"/>
          </p:nvPr>
        </p:nvSpPr>
        <p:spPr/>
        <p:txBody>
          <a:bodyPr>
            <a:normAutofit fontScale="85000" lnSpcReduction="20000"/>
          </a:bodyPr>
          <a:lstStyle/>
          <a:p>
            <a:r>
              <a:rPr lang="en-US" b="1" dirty="0"/>
              <a:t>open(</a:t>
            </a:r>
            <a:r>
              <a:rPr lang="en-US" b="1" i="1" dirty="0"/>
              <a:t>file, mode='r', buffering=-1, encoding=None, errors=None, newline=None, closefd=True, opener=None</a:t>
            </a:r>
            <a:r>
              <a:rPr lang="en-US" b="1" dirty="0"/>
              <a:t>) </a:t>
            </a:r>
            <a:r>
              <a:rPr lang="en-US" dirty="0"/>
              <a:t>Open </a:t>
            </a:r>
            <a:r>
              <a:rPr lang="en-US" i="1" dirty="0"/>
              <a:t>file</a:t>
            </a:r>
            <a:r>
              <a:rPr lang="en-US" dirty="0"/>
              <a:t> and return a corresponding file object. If the file cannot be opened, an OSError is raised. Modes are:</a:t>
            </a:r>
          </a:p>
          <a:p>
            <a:pPr lvl="1"/>
            <a:r>
              <a:rPr lang="en-US" dirty="0"/>
              <a:t>'r'	open for reading (default)</a:t>
            </a:r>
          </a:p>
          <a:p>
            <a:pPr lvl="1"/>
            <a:r>
              <a:rPr lang="en-US" dirty="0"/>
              <a:t>'w'	open for writing, truncating the file first</a:t>
            </a:r>
          </a:p>
          <a:p>
            <a:pPr lvl="1"/>
            <a:r>
              <a:rPr lang="en-US" dirty="0"/>
              <a:t>'x'	open for exclusive creation, failing if the file already exists</a:t>
            </a:r>
          </a:p>
          <a:p>
            <a:pPr lvl="1"/>
            <a:r>
              <a:rPr lang="en-US" dirty="0"/>
              <a:t>'a'	open for writing, appending to the end of the file if it exists</a:t>
            </a:r>
          </a:p>
          <a:p>
            <a:pPr lvl="1"/>
            <a:r>
              <a:rPr lang="en-US" dirty="0"/>
              <a:t>'b'	binary mode</a:t>
            </a:r>
          </a:p>
          <a:p>
            <a:pPr lvl="1"/>
            <a:r>
              <a:rPr lang="en-US" dirty="0"/>
              <a:t>'t'	text mode (default)</a:t>
            </a:r>
          </a:p>
          <a:p>
            <a:pPr lvl="1"/>
            <a:r>
              <a:rPr lang="en-US" dirty="0"/>
              <a:t>'+'	open a disk file for updating (reading and writing)</a:t>
            </a:r>
          </a:p>
          <a:p>
            <a:r>
              <a:rPr lang="en-US" b="1" dirty="0"/>
              <a:t>ord(c) </a:t>
            </a:r>
            <a:r>
              <a:rPr lang="en-US" dirty="0"/>
              <a:t>Return an integer representing the Unicode code point of that given character (one character string). E.g. </a:t>
            </a:r>
            <a:r>
              <a:rPr lang="en-US" dirty="0">
                <a:latin typeface="Courier New" panose="02070309020205020404" pitchFamily="49" charset="0"/>
                <a:cs typeface="Courier New" panose="02070309020205020404" pitchFamily="49" charset="0"/>
              </a:rPr>
              <a:t>ord('€') # returns 8364</a:t>
            </a:r>
          </a:p>
          <a:p>
            <a:pPr lvl="1"/>
            <a:endParaRPr lang="en-US" dirty="0"/>
          </a:p>
        </p:txBody>
      </p:sp>
    </p:spTree>
    <p:extLst>
      <p:ext uri="{BB962C8B-B14F-4D97-AF65-F5344CB8AC3E}">
        <p14:creationId xmlns:p14="http://schemas.microsoft.com/office/powerpoint/2010/main" val="407037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A719E-7FF2-4E4B-A2E1-0CAB3933D757}"/>
              </a:ext>
            </a:extLst>
          </p:cNvPr>
          <p:cNvSpPr>
            <a:spLocks noGrp="1"/>
          </p:cNvSpPr>
          <p:nvPr>
            <p:ph type="title"/>
          </p:nvPr>
        </p:nvSpPr>
        <p:spPr/>
        <p:txBody>
          <a:bodyPr/>
          <a:lstStyle/>
          <a:p>
            <a:r>
              <a:rPr lang="en-US" dirty="0"/>
              <a:t>Useful Python Built-In Functions P-R</a:t>
            </a:r>
          </a:p>
        </p:txBody>
      </p:sp>
      <p:sp>
        <p:nvSpPr>
          <p:cNvPr id="3" name="Content Placeholder 2">
            <a:extLst>
              <a:ext uri="{FF2B5EF4-FFF2-40B4-BE49-F238E27FC236}">
                <a16:creationId xmlns:a16="http://schemas.microsoft.com/office/drawing/2014/main" id="{1EB7CDE4-89E8-4078-B09E-EF139371A198}"/>
              </a:ext>
            </a:extLst>
          </p:cNvPr>
          <p:cNvSpPr>
            <a:spLocks noGrp="1"/>
          </p:cNvSpPr>
          <p:nvPr>
            <p:ph idx="1"/>
          </p:nvPr>
        </p:nvSpPr>
        <p:spPr>
          <a:xfrm>
            <a:off x="1218883" y="1701797"/>
            <a:ext cx="10360501" cy="4881566"/>
          </a:xfrm>
        </p:spPr>
        <p:txBody>
          <a:bodyPr>
            <a:normAutofit fontScale="70000" lnSpcReduction="20000"/>
          </a:bodyPr>
          <a:lstStyle/>
          <a:p>
            <a:r>
              <a:rPr lang="en-US" b="1" dirty="0"/>
              <a:t>pow(x, y[, z]) </a:t>
            </a:r>
            <a:r>
              <a:rPr lang="en-US" dirty="0"/>
              <a:t>return x to the power y; if z is present, return x to the power y, modulo z . E.g.</a:t>
            </a:r>
            <a:br>
              <a:rPr lang="en-US" dirty="0"/>
            </a:br>
            <a:r>
              <a:rPr lang="en-US" dirty="0">
                <a:latin typeface="Courier New" panose="02070309020205020404" pitchFamily="49" charset="0"/>
                <a:cs typeface="Courier New" panose="02070309020205020404" pitchFamily="49" charset="0"/>
              </a:rPr>
              <a:t>pow(3,5) # 243 pow(3,5,16) = 3</a:t>
            </a:r>
          </a:p>
          <a:p>
            <a:r>
              <a:rPr lang="en-US" b="1" dirty="0"/>
              <a:t>print(*objects, sep=' ', end='\n', file=sys.stdout, flush=False) </a:t>
            </a:r>
            <a:r>
              <a:rPr lang="en-US" dirty="0"/>
              <a:t>Print objects to the text stream file, separated by sep and followed by end. sep, end, file and flush, if present, must be given as keyword arguments. E.g.</a:t>
            </a:r>
            <a:br>
              <a:rPr lang="en-US" dirty="0"/>
            </a:br>
            <a:r>
              <a:rPr lang="en-US" dirty="0">
                <a:latin typeface="Courier New" panose="02070309020205020404" pitchFamily="49" charset="0"/>
                <a:cs typeface="Courier New" panose="02070309020205020404" pitchFamily="49" charset="0"/>
              </a:rPr>
              <a:t>print("love", "hate", sep=' &amp; ') # love &amp; hate</a:t>
            </a:r>
          </a:p>
          <a:p>
            <a:r>
              <a:rPr lang="en-US" b="1" dirty="0"/>
              <a:t>range(</a:t>
            </a:r>
            <a:r>
              <a:rPr lang="en-US" b="1" i="1" dirty="0"/>
              <a:t>stop</a:t>
            </a:r>
            <a:r>
              <a:rPr lang="en-US" b="1" dirty="0"/>
              <a:t>)</a:t>
            </a:r>
            <a:br>
              <a:rPr lang="en-US" b="1" dirty="0"/>
            </a:br>
            <a:r>
              <a:rPr lang="en-US" b="1" dirty="0"/>
              <a:t>range(</a:t>
            </a:r>
            <a:r>
              <a:rPr lang="en-US" b="1" i="1" dirty="0"/>
              <a:t>start, stop[, step=1]</a:t>
            </a:r>
            <a:r>
              <a:rPr lang="en-US" b="1" dirty="0"/>
              <a:t>) </a:t>
            </a:r>
            <a:r>
              <a:rPr lang="en-US" dirty="0"/>
              <a:t>Range is actually an immutable sequence type going from 0 to </a:t>
            </a:r>
            <a:r>
              <a:rPr lang="en-US" i="1" dirty="0"/>
              <a:t>sto</a:t>
            </a:r>
            <a:r>
              <a:rPr lang="en-US" dirty="0"/>
              <a:t>p or from </a:t>
            </a:r>
            <a:r>
              <a:rPr lang="en-US" i="1" dirty="0"/>
              <a:t>start</a:t>
            </a:r>
            <a:r>
              <a:rPr lang="en-US" dirty="0"/>
              <a:t> to </a:t>
            </a:r>
            <a:r>
              <a:rPr lang="en-US" i="1" dirty="0"/>
              <a:t>stop</a:t>
            </a:r>
            <a:r>
              <a:rPr lang="en-US" dirty="0"/>
              <a:t> (not including stop) with </a:t>
            </a:r>
            <a:r>
              <a:rPr lang="en-US" i="1" dirty="0"/>
              <a:t>step</a:t>
            </a:r>
            <a:r>
              <a:rPr lang="en-US" dirty="0"/>
              <a:t> stepping. E.g.</a:t>
            </a:r>
            <a:br>
              <a:rPr lang="en-US" dirty="0"/>
            </a:br>
            <a:r>
              <a:rPr lang="en-US" dirty="0">
                <a:latin typeface="Courier New" panose="02070309020205020404" pitchFamily="49" charset="0"/>
                <a:cs typeface="Courier New" panose="02070309020205020404" pitchFamily="49" charset="0"/>
              </a:rPr>
              <a:t>tuple(range(20, 0, -2))  # (20, 18, 16, 14, 12, 10, 8, 6, 4, 2)</a:t>
            </a:r>
          </a:p>
          <a:p>
            <a:r>
              <a:rPr lang="en-US" b="1" dirty="0"/>
              <a:t>repr(object) </a:t>
            </a:r>
            <a:r>
              <a:rPr lang="en-US" dirty="0"/>
              <a:t>return a string containing a printable representation of an object. E.g. </a:t>
            </a:r>
            <a:r>
              <a:rPr lang="en-US" dirty="0">
                <a:latin typeface="Courier New" panose="02070309020205020404" pitchFamily="49" charset="0"/>
                <a:cs typeface="Courier New" panose="02070309020205020404" pitchFamily="49" charset="0"/>
              </a:rPr>
              <a:t>repr(3.14) # '3.14'</a:t>
            </a:r>
            <a:endParaRPr lang="en-US" dirty="0"/>
          </a:p>
          <a:p>
            <a:r>
              <a:rPr lang="en-US" b="1" dirty="0"/>
              <a:t>reversed(</a:t>
            </a:r>
            <a:r>
              <a:rPr lang="en-US" b="1" i="1" dirty="0"/>
              <a:t>seq</a:t>
            </a:r>
            <a:r>
              <a:rPr lang="en-US" b="1" dirty="0"/>
              <a:t>) </a:t>
            </a:r>
            <a:r>
              <a:rPr lang="en-US" dirty="0"/>
              <a:t>Return a reverse iterator. E.g. </a:t>
            </a:r>
            <a:r>
              <a:rPr lang="en-US" dirty="0">
                <a:latin typeface="Courier New" panose="02070309020205020404" pitchFamily="49" charset="0"/>
                <a:cs typeface="Courier New" panose="02070309020205020404" pitchFamily="49" charset="0"/>
              </a:rPr>
              <a:t>a = [1, 2, 100]; list(reversed(a)) # [100, 2, 1]</a:t>
            </a:r>
          </a:p>
          <a:p>
            <a:r>
              <a:rPr lang="en-US" b="1" dirty="0"/>
              <a:t>round(</a:t>
            </a:r>
            <a:r>
              <a:rPr lang="en-US" b="1" i="1" dirty="0"/>
              <a:t>number[, ndigits]</a:t>
            </a:r>
            <a:r>
              <a:rPr lang="en-US" b="1" dirty="0"/>
              <a:t>) </a:t>
            </a:r>
            <a:r>
              <a:rPr lang="en-US" dirty="0"/>
              <a:t>Return number rounded to ndigits precision after the decimal point. If ndigits is omitted or is None, it returns the nearest integer to its input. E.g. </a:t>
            </a:r>
            <a:r>
              <a:rPr lang="en-US" dirty="0">
                <a:latin typeface="Courier New" panose="02070309020205020404" pitchFamily="49" charset="0"/>
                <a:cs typeface="Courier New" panose="02070309020205020404" pitchFamily="49" charset="0"/>
              </a:rPr>
              <a:t>round(123.4567, 3) # 123.457</a:t>
            </a:r>
          </a:p>
        </p:txBody>
      </p:sp>
    </p:spTree>
    <p:extLst>
      <p:ext uri="{BB962C8B-B14F-4D97-AF65-F5344CB8AC3E}">
        <p14:creationId xmlns:p14="http://schemas.microsoft.com/office/powerpoint/2010/main" val="3963963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49BF3-C995-45E0-96FD-5E85B0730374}"/>
              </a:ext>
            </a:extLst>
          </p:cNvPr>
          <p:cNvSpPr>
            <a:spLocks noGrp="1"/>
          </p:cNvSpPr>
          <p:nvPr>
            <p:ph type="title"/>
          </p:nvPr>
        </p:nvSpPr>
        <p:spPr/>
        <p:txBody>
          <a:bodyPr/>
          <a:lstStyle/>
          <a:p>
            <a:r>
              <a:rPr lang="en-US" dirty="0"/>
              <a:t>Useful Python Built-In Functions S</a:t>
            </a:r>
          </a:p>
        </p:txBody>
      </p:sp>
      <p:sp>
        <p:nvSpPr>
          <p:cNvPr id="3" name="Content Placeholder 2">
            <a:extLst>
              <a:ext uri="{FF2B5EF4-FFF2-40B4-BE49-F238E27FC236}">
                <a16:creationId xmlns:a16="http://schemas.microsoft.com/office/drawing/2014/main" id="{819776BB-47FA-40AB-B603-34985B9C94F2}"/>
              </a:ext>
            </a:extLst>
          </p:cNvPr>
          <p:cNvSpPr>
            <a:spLocks noGrp="1"/>
          </p:cNvSpPr>
          <p:nvPr>
            <p:ph idx="1"/>
          </p:nvPr>
        </p:nvSpPr>
        <p:spPr>
          <a:xfrm>
            <a:off x="1218883" y="1701796"/>
            <a:ext cx="10360501" cy="4967563"/>
          </a:xfrm>
        </p:spPr>
        <p:txBody>
          <a:bodyPr>
            <a:normAutofit fontScale="62500" lnSpcReduction="20000"/>
          </a:bodyPr>
          <a:lstStyle/>
          <a:p>
            <a:r>
              <a:rPr lang="en-US" b="1" dirty="0"/>
              <a:t>class set([iterable]) </a:t>
            </a:r>
            <a:r>
              <a:rPr lang="en-US" dirty="0"/>
              <a:t>Return a new set object, optionally with elements taken from iterable. E.g.</a:t>
            </a:r>
            <a:br>
              <a:rPr lang="en-US" dirty="0"/>
            </a:br>
            <a:r>
              <a:rPr lang="en-US" dirty="0">
                <a:latin typeface="Courier New" panose="02070309020205020404" pitchFamily="49" charset="0"/>
                <a:cs typeface="Courier New" panose="02070309020205020404" pitchFamily="49" charset="0"/>
              </a:rPr>
              <a:t>a=set([2, 1,2,3])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a{1, 2,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b = {3, 5, 7}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c = a.union(b)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c{1, 2, 3, 5, 7}</a:t>
            </a:r>
          </a:p>
          <a:p>
            <a:r>
              <a:rPr lang="en-US" b="1" dirty="0"/>
              <a:t>sorted(iterable, *, key=None, reverse=False) </a:t>
            </a:r>
            <a:r>
              <a:rPr lang="en-US" dirty="0"/>
              <a:t>Return a new sorted list from the items in iterable. E.g.</a:t>
            </a:r>
            <a:br>
              <a:rPr lang="en-US" dirty="0"/>
            </a:br>
            <a:r>
              <a:rPr lang="en-US" dirty="0">
                <a:latin typeface="Courier New" panose="02070309020205020404" pitchFamily="49" charset="0"/>
                <a:cs typeface="Courier New" panose="02070309020205020404" pitchFamily="49" charset="0"/>
              </a:rPr>
              <a:t>a = (1, 100, 5, 10)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tuple(sorted(a)) # (1, 5, 10, 100) </a:t>
            </a:r>
          </a:p>
          <a:p>
            <a:r>
              <a:rPr lang="en-US" b="1" dirty="0"/>
              <a:t>class str(object='')</a:t>
            </a:r>
            <a:br>
              <a:rPr lang="en-US" b="1" dirty="0"/>
            </a:br>
            <a:r>
              <a:rPr lang="en-US" b="1" dirty="0"/>
              <a:t>class str(object=b'', encoding='utf-8', errors='strict') </a:t>
            </a:r>
            <a:r>
              <a:rPr lang="en-US" dirty="0"/>
              <a:t>Return a str version of object. str is the built-in string class. E.g.</a:t>
            </a:r>
            <a:br>
              <a:rPr lang="en-US" dirty="0"/>
            </a:br>
            <a:r>
              <a:rPr lang="en-US" dirty="0">
                <a:latin typeface="Courier New" panose="02070309020205020404" pitchFamily="49" charset="0"/>
                <a:cs typeface="Courier New" panose="02070309020205020404" pitchFamily="49" charset="0"/>
              </a:rPr>
              <a:t>s = b'testi' # bytes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print(str(s, encoding='utf-8')) # 'testi' string</a:t>
            </a:r>
            <a:endParaRPr lang="en-US" dirty="0"/>
          </a:p>
          <a:p>
            <a:r>
              <a:rPr lang="en-US" dirty="0"/>
              <a:t>sum(iterable[, start]) Sums start and the items of an iterable from left to right and returns the total. start defaults to 0. E.g.</a:t>
            </a:r>
            <a:br>
              <a:rPr lang="en-US" dirty="0"/>
            </a:br>
            <a:r>
              <a:rPr lang="en-US" dirty="0">
                <a:latin typeface="Courier New" panose="02070309020205020404" pitchFamily="49" charset="0"/>
                <a:cs typeface="Courier New" panose="02070309020205020404" pitchFamily="49" charset="0"/>
              </a:rPr>
              <a:t>sum((1, 2, 3), 10) # 16</a:t>
            </a:r>
            <a:endParaRPr lang="en-US" dirty="0"/>
          </a:p>
          <a:p>
            <a:r>
              <a:rPr lang="en-US" b="1" dirty="0"/>
              <a:t>super([type[, object-or-type]]) </a:t>
            </a:r>
            <a:r>
              <a:rPr lang="en-US" dirty="0"/>
              <a:t>Return a proxy object that delegates method calls to a parent or sibling class of type. E.g. </a:t>
            </a:r>
            <a:r>
              <a:rPr lang="en-US" dirty="0">
                <a:latin typeface="Courier New" panose="02070309020205020404" pitchFamily="49" charset="0"/>
                <a:cs typeface="Courier New" panose="02070309020205020404" pitchFamily="49" charset="0"/>
              </a:rPr>
              <a:t>super().method(arg)</a:t>
            </a:r>
          </a:p>
        </p:txBody>
      </p:sp>
    </p:spTree>
    <p:extLst>
      <p:ext uri="{BB962C8B-B14F-4D97-AF65-F5344CB8AC3E}">
        <p14:creationId xmlns:p14="http://schemas.microsoft.com/office/powerpoint/2010/main" val="3144464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1535B-6C8D-4E6E-A416-B0F8A84E2BE9}"/>
              </a:ext>
            </a:extLst>
          </p:cNvPr>
          <p:cNvSpPr>
            <a:spLocks noGrp="1"/>
          </p:cNvSpPr>
          <p:nvPr>
            <p:ph type="title"/>
          </p:nvPr>
        </p:nvSpPr>
        <p:spPr/>
        <p:txBody>
          <a:bodyPr/>
          <a:lstStyle/>
          <a:p>
            <a:r>
              <a:rPr lang="en-US" dirty="0"/>
              <a:t>Useful Python Built-In Functions T-Z</a:t>
            </a:r>
          </a:p>
        </p:txBody>
      </p:sp>
      <p:sp>
        <p:nvSpPr>
          <p:cNvPr id="3" name="Content Placeholder 2">
            <a:extLst>
              <a:ext uri="{FF2B5EF4-FFF2-40B4-BE49-F238E27FC236}">
                <a16:creationId xmlns:a16="http://schemas.microsoft.com/office/drawing/2014/main" id="{E52C0BB8-A9F7-4893-BE71-DAE8063E9C9B}"/>
              </a:ext>
            </a:extLst>
          </p:cNvPr>
          <p:cNvSpPr>
            <a:spLocks noGrp="1"/>
          </p:cNvSpPr>
          <p:nvPr>
            <p:ph idx="1"/>
          </p:nvPr>
        </p:nvSpPr>
        <p:spPr>
          <a:xfrm>
            <a:off x="1218883" y="1701796"/>
            <a:ext cx="10360501" cy="4967563"/>
          </a:xfrm>
        </p:spPr>
        <p:txBody>
          <a:bodyPr>
            <a:normAutofit fontScale="77500" lnSpcReduction="20000"/>
          </a:bodyPr>
          <a:lstStyle/>
          <a:p>
            <a:r>
              <a:rPr lang="en-US" b="1" dirty="0"/>
              <a:t>tuple([iterable]) </a:t>
            </a:r>
            <a:r>
              <a:rPr lang="en-US" dirty="0"/>
              <a:t>Tuple is actually an immutable sequence type. E.g.</a:t>
            </a:r>
            <a:br>
              <a:rPr lang="en-US" dirty="0"/>
            </a:br>
            <a:r>
              <a:rPr lang="en-US" dirty="0">
                <a:latin typeface="Courier New" panose="02070309020205020404" pitchFamily="49" charset="0"/>
                <a:cs typeface="Courier New" panose="02070309020205020404" pitchFamily="49" charset="0"/>
              </a:rPr>
              <a:t>tuple(["one", "two", "three"]) # ('one', 'two', 'three')</a:t>
            </a:r>
            <a:endParaRPr lang="en-US" dirty="0"/>
          </a:p>
          <a:p>
            <a:r>
              <a:rPr lang="en-US" b="1" dirty="0"/>
              <a:t>class type(object)</a:t>
            </a:r>
            <a:br>
              <a:rPr lang="en-US" b="1" dirty="0"/>
            </a:br>
            <a:r>
              <a:rPr lang="en-US" b="1" dirty="0"/>
              <a:t>class type(name, bases, </a:t>
            </a:r>
            <a:r>
              <a:rPr lang="en-US" b="1" dirty="0" err="1"/>
              <a:t>dict</a:t>
            </a:r>
            <a:r>
              <a:rPr lang="en-US" b="1" dirty="0"/>
              <a:t>) </a:t>
            </a:r>
            <a:r>
              <a:rPr lang="en-US" dirty="0"/>
              <a:t>With one argument, return the type of an object. With three arguments return a new object. E.g.</a:t>
            </a:r>
            <a:br>
              <a:rPr lang="en-US" dirty="0"/>
            </a:br>
            <a:r>
              <a:rPr lang="en-US" dirty="0">
                <a:latin typeface="Courier New" panose="02070309020205020404" pitchFamily="49" charset="0"/>
                <a:cs typeface="Courier New" panose="02070309020205020404" pitchFamily="49" charset="0"/>
              </a:rPr>
              <a:t>type("cat") # &lt;class 'str'&gt;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type('Student', (object,), {"name": "Jill Student", "age": 21, 'id': "13"})</a:t>
            </a:r>
            <a:endParaRPr lang="en-US" dirty="0"/>
          </a:p>
          <a:p>
            <a:r>
              <a:rPr lang="en-US" dirty="0"/>
              <a:t>vars([object]) Return the __</a:t>
            </a:r>
            <a:r>
              <a:rPr lang="en-US" dirty="0" err="1"/>
              <a:t>dict</a:t>
            </a:r>
            <a:r>
              <a:rPr lang="en-US" dirty="0"/>
              <a:t>__ attribute for a module, class, instance, or any other object with a __</a:t>
            </a:r>
            <a:r>
              <a:rPr lang="en-US" dirty="0" err="1"/>
              <a:t>dict</a:t>
            </a:r>
            <a:r>
              <a:rPr lang="en-US" dirty="0"/>
              <a:t>__ attribute. Vars without arguments acts like locals(). E.g.</a:t>
            </a:r>
            <a:br>
              <a:rPr lang="en-US" dirty="0"/>
            </a:br>
            <a:r>
              <a:rPr lang="en-US" dirty="0">
                <a:latin typeface="Courier New" panose="02070309020205020404" pitchFamily="49" charset="0"/>
                <a:cs typeface="Courier New" panose="02070309020205020404" pitchFamily="49" charset="0"/>
              </a:rPr>
              <a:t>vars(jill)</a:t>
            </a:r>
          </a:p>
          <a:p>
            <a:r>
              <a:rPr lang="en-US" b="1" dirty="0"/>
              <a:t>zip(*iterables) </a:t>
            </a:r>
            <a:r>
              <a:rPr lang="en-US" dirty="0"/>
              <a:t>Make an iterator that aggregates elements from each of the iterables.</a:t>
            </a:r>
            <a:br>
              <a:rPr lang="en-US" dirty="0"/>
            </a:br>
            <a:r>
              <a:rPr lang="es-ES" dirty="0">
                <a:latin typeface="Courier New" panose="02070309020205020404" pitchFamily="49" charset="0"/>
                <a:cs typeface="Courier New" panose="02070309020205020404" pitchFamily="49" charset="0"/>
              </a:rPr>
              <a:t>x = [1, 2, 3]</a:t>
            </a:r>
            <a:br>
              <a:rPr lang="es-ES" dirty="0">
                <a:latin typeface="Courier New" panose="02070309020205020404" pitchFamily="49" charset="0"/>
                <a:cs typeface="Courier New" panose="02070309020205020404" pitchFamily="49" charset="0"/>
              </a:rPr>
            </a:br>
            <a:r>
              <a:rPr lang="es-ES" dirty="0">
                <a:latin typeface="Courier New" panose="02070309020205020404" pitchFamily="49" charset="0"/>
                <a:cs typeface="Courier New" panose="02070309020205020404" pitchFamily="49" charset="0"/>
              </a:rPr>
              <a:t>y = ['a', 'b', 'c']</a:t>
            </a:r>
            <a:br>
              <a:rPr lang="es-ES" dirty="0">
                <a:latin typeface="Courier New" panose="02070309020205020404" pitchFamily="49" charset="0"/>
                <a:cs typeface="Courier New" panose="02070309020205020404" pitchFamily="49" charset="0"/>
              </a:rPr>
            </a:br>
            <a:r>
              <a:rPr lang="es-ES" dirty="0">
                <a:latin typeface="Courier New" panose="02070309020205020404" pitchFamily="49" charset="0"/>
                <a:cs typeface="Courier New" panose="02070309020205020404" pitchFamily="49" charset="0"/>
              </a:rPr>
              <a:t>list(zip(x, y)) # [(1, 'a'), (2, 'b'), (3, 'c')]</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1739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3AE0-12DA-4D0A-90E0-096E81CC3E8C}"/>
              </a:ext>
            </a:extLst>
          </p:cNvPr>
          <p:cNvSpPr>
            <a:spLocks noGrp="1"/>
          </p:cNvSpPr>
          <p:nvPr>
            <p:ph type="title"/>
          </p:nvPr>
        </p:nvSpPr>
        <p:spPr/>
        <p:txBody>
          <a:bodyPr/>
          <a:lstStyle/>
          <a:p>
            <a:r>
              <a:rPr lang="en-US" dirty="0"/>
              <a:t>Regular Expressions - re module</a:t>
            </a:r>
          </a:p>
        </p:txBody>
      </p:sp>
      <p:sp>
        <p:nvSpPr>
          <p:cNvPr id="3" name="Content Placeholder 2">
            <a:extLst>
              <a:ext uri="{FF2B5EF4-FFF2-40B4-BE49-F238E27FC236}">
                <a16:creationId xmlns:a16="http://schemas.microsoft.com/office/drawing/2014/main" id="{0BD45F29-871E-49FE-A70D-1290F85A934F}"/>
              </a:ext>
            </a:extLst>
          </p:cNvPr>
          <p:cNvSpPr>
            <a:spLocks noGrp="1"/>
          </p:cNvSpPr>
          <p:nvPr>
            <p:ph idx="1"/>
          </p:nvPr>
        </p:nvSpPr>
        <p:spPr/>
        <p:txBody>
          <a:bodyPr>
            <a:normAutofit fontScale="85000" lnSpcReduction="20000"/>
          </a:bodyPr>
          <a:lstStyle/>
          <a:p>
            <a:r>
              <a:rPr lang="en-US" dirty="0">
                <a:latin typeface="Courier New" panose="02070309020205020404" pitchFamily="49" charset="0"/>
                <a:cs typeface="Courier New" panose="02070309020205020404" pitchFamily="49" charset="0"/>
              </a:rPr>
              <a:t>import re</a:t>
            </a:r>
          </a:p>
          <a:p>
            <a:r>
              <a:rPr lang="en-US" dirty="0">
                <a:latin typeface="Courier New" panose="02070309020205020404" pitchFamily="49" charset="0"/>
                <a:cs typeface="Courier New" panose="02070309020205020404" pitchFamily="49" charset="0"/>
              </a:rPr>
              <a:t>re.search(pattern, string, flags=0) </a:t>
            </a:r>
            <a:r>
              <a:rPr lang="en-US" dirty="0"/>
              <a:t>scan the string to find first match</a:t>
            </a:r>
          </a:p>
          <a:p>
            <a:r>
              <a:rPr lang="en-US" dirty="0">
                <a:latin typeface="Courier New" panose="02070309020205020404" pitchFamily="49" charset="0"/>
                <a:cs typeface="Courier New" panose="02070309020205020404" pitchFamily="49" charset="0"/>
              </a:rPr>
              <a:t>re.match(pattern, string, flags=0) </a:t>
            </a:r>
            <a:r>
              <a:rPr lang="en-US" dirty="0"/>
              <a:t>match from beginning of string</a:t>
            </a:r>
          </a:p>
          <a:p>
            <a:r>
              <a:rPr lang="en-US" dirty="0">
                <a:latin typeface="Courier New" panose="02070309020205020404" pitchFamily="49" charset="0"/>
                <a:cs typeface="Courier New" panose="02070309020205020404" pitchFamily="49" charset="0"/>
              </a:rPr>
              <a:t>re.fullmatch(pattern, string, flags=0) </a:t>
            </a:r>
            <a:r>
              <a:rPr lang="en-US" dirty="0"/>
              <a:t>match entire string</a:t>
            </a:r>
          </a:p>
          <a:p>
            <a:r>
              <a:rPr lang="en-US" dirty="0">
                <a:latin typeface="Courier New" panose="02070309020205020404" pitchFamily="49" charset="0"/>
                <a:cs typeface="Courier New" panose="02070309020205020404" pitchFamily="49" charset="0"/>
              </a:rPr>
              <a:t>re.split(pattern, string, maxsplit=0, flags=0) </a:t>
            </a:r>
            <a:r>
              <a:rPr lang="en-US" dirty="0"/>
              <a:t>split string by occurences of string into list of string</a:t>
            </a:r>
          </a:p>
          <a:p>
            <a:r>
              <a:rPr lang="en-US" dirty="0">
                <a:latin typeface="Courier New" panose="02070309020205020404" pitchFamily="49" charset="0"/>
                <a:cs typeface="Courier New" panose="02070309020205020404" pitchFamily="49" charset="0"/>
              </a:rPr>
              <a:t>re.findall(pattern, string, flags=0) </a:t>
            </a:r>
            <a:r>
              <a:rPr lang="en-US" dirty="0"/>
              <a:t>return all non-overlapping matches of pattern in a string as a list of strings</a:t>
            </a:r>
          </a:p>
          <a:p>
            <a:r>
              <a:rPr lang="en-US" dirty="0">
                <a:latin typeface="Courier New" panose="02070309020205020404" pitchFamily="49" charset="0"/>
                <a:cs typeface="Courier New" panose="02070309020205020404" pitchFamily="49" charset="0"/>
              </a:rPr>
              <a:t>re.sub(pattern, repl, string, count=0, flags=0) </a:t>
            </a:r>
            <a:r>
              <a:rPr lang="en-US" dirty="0"/>
              <a:t>replace all non-overlapping occurences of pattern in a string with repl</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850466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0DB37-D918-47F2-A155-FB1A33D788F1}"/>
              </a:ext>
            </a:extLst>
          </p:cNvPr>
          <p:cNvSpPr>
            <a:spLocks noGrp="1"/>
          </p:cNvSpPr>
          <p:nvPr>
            <p:ph type="title"/>
          </p:nvPr>
        </p:nvSpPr>
        <p:spPr/>
        <p:txBody>
          <a:bodyPr/>
          <a:lstStyle/>
          <a:p>
            <a:r>
              <a:rPr lang="en-US" dirty="0"/>
              <a:t>Using Regular Expressions</a:t>
            </a:r>
          </a:p>
        </p:txBody>
      </p:sp>
      <p:sp>
        <p:nvSpPr>
          <p:cNvPr id="3" name="Content Placeholder 2">
            <a:extLst>
              <a:ext uri="{FF2B5EF4-FFF2-40B4-BE49-F238E27FC236}">
                <a16:creationId xmlns:a16="http://schemas.microsoft.com/office/drawing/2014/main" id="{17E9974C-736C-427F-AA90-C64C3C76BC3C}"/>
              </a:ext>
            </a:extLst>
          </p:cNvPr>
          <p:cNvSpPr>
            <a:spLocks noGrp="1"/>
          </p:cNvSpPr>
          <p:nvPr>
            <p:ph idx="1"/>
          </p:nvPr>
        </p:nvSpPr>
        <p:spPr>
          <a:xfrm>
            <a:off x="909837" y="1701796"/>
            <a:ext cx="11017224" cy="4967563"/>
          </a:xfrm>
        </p:spPr>
        <p:txBody>
          <a:bodyPr>
            <a:normAutofit fontScale="85000" lnSpcReduction="10000"/>
          </a:bodyPr>
          <a:lstStyle/>
          <a:p>
            <a:pPr marL="0" indent="0">
              <a:spcBef>
                <a:spcPts val="1200"/>
              </a:spcBef>
              <a:buNone/>
            </a:pPr>
            <a:r>
              <a:rPr lang="fi-FI" b="0" dirty="0">
                <a:solidFill>
                  <a:srgbClr val="C586C0"/>
                </a:solidFill>
                <a:effectLst/>
                <a:latin typeface="Consolas" panose="020B0609020204030204" pitchFamily="49" charset="0"/>
              </a:rPr>
              <a:t>import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re</a:t>
            </a:r>
            <a:endParaRPr lang="fi-FI" b="0" dirty="0">
              <a:solidFill>
                <a:srgbClr val="FFFFFF"/>
              </a:solidFill>
              <a:effectLst/>
              <a:latin typeface="Consolas" panose="020B0609020204030204" pitchFamily="49" charset="0"/>
            </a:endParaRPr>
          </a:p>
          <a:p>
            <a:pPr marL="0" indent="0">
              <a:spcBef>
                <a:spcPts val="1200"/>
              </a:spcBef>
              <a:buNone/>
            </a:pPr>
            <a:r>
              <a:rPr lang="fi-FI" b="0" dirty="0">
                <a:solidFill>
                  <a:srgbClr val="FFFFFF"/>
                </a:solidFill>
                <a:effectLst/>
                <a:latin typeface="Consolas" panose="020B0609020204030204" pitchFamily="49" charset="0"/>
              </a:rPr>
              <a:t>m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re.search</a:t>
            </a:r>
            <a:r>
              <a:rPr lang="fi-FI" b="0" dirty="0">
                <a:solidFill>
                  <a:srgbClr val="FFFFFF"/>
                </a:solidFill>
                <a:effectLst/>
                <a:latin typeface="Consolas" panose="020B0609020204030204" pitchFamily="49" charset="0"/>
              </a:rPr>
              <a:t>(</a:t>
            </a:r>
            <a:r>
              <a:rPr lang="fi-FI" b="0" dirty="0">
                <a:solidFill>
                  <a:srgbClr val="569CD6"/>
                </a:solidFill>
                <a:effectLst/>
                <a:latin typeface="Consolas" panose="020B0609020204030204" pitchFamily="49" charset="0"/>
              </a:rPr>
              <a:t>r</a:t>
            </a:r>
            <a:r>
              <a:rPr lang="fi-FI" b="0" dirty="0">
                <a:solidFill>
                  <a:srgbClr val="D16969"/>
                </a:solidFill>
                <a:effectLst/>
                <a:latin typeface="Consolas" panose="020B0609020204030204" pitchFamily="49" charset="0"/>
              </a:rPr>
              <a:t>"\d</a:t>
            </a:r>
            <a:r>
              <a:rPr lang="fi-FI" b="0" dirty="0">
                <a:solidFill>
                  <a:srgbClr val="D4D4D4"/>
                </a:solidFill>
                <a:effectLst/>
                <a:latin typeface="Consolas" panose="020B0609020204030204" pitchFamily="49" charset="0"/>
              </a:rPr>
              <a:t>{5}</a:t>
            </a:r>
            <a:r>
              <a:rPr lang="fi-FI" b="0" dirty="0">
                <a:solidFill>
                  <a:srgbClr val="D16969"/>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Zip</a:t>
            </a:r>
            <a:r>
              <a:rPr lang="fi-FI" b="0" dirty="0">
                <a:solidFill>
                  <a:srgbClr val="CE9178"/>
                </a:solidFill>
                <a:effectLst/>
                <a:latin typeface="Consolas" panose="020B0609020204030204" pitchFamily="49" charset="0"/>
              </a:rPr>
              <a:t> </a:t>
            </a:r>
            <a:r>
              <a:rPr lang="fi-FI" b="0" dirty="0" err="1">
                <a:solidFill>
                  <a:srgbClr val="CE9178"/>
                </a:solidFill>
                <a:effectLst/>
                <a:latin typeface="Consolas" panose="020B0609020204030204" pitchFamily="49" charset="0"/>
              </a:rPr>
              <a:t>code</a:t>
            </a:r>
            <a:r>
              <a:rPr lang="fi-FI" b="0" dirty="0">
                <a:solidFill>
                  <a:srgbClr val="CE9178"/>
                </a:solidFill>
                <a:effectLst/>
                <a:latin typeface="Consolas" panose="020B0609020204030204" pitchFamily="49" charset="0"/>
              </a:rPr>
              <a:t> is: 12345"</a:t>
            </a:r>
            <a:r>
              <a:rPr lang="fi-FI" b="0" dirty="0">
                <a:solidFill>
                  <a:srgbClr val="FFFFFF"/>
                </a:solidFill>
                <a:effectLst/>
                <a:latin typeface="Consolas" panose="020B0609020204030204" pitchFamily="49" charset="0"/>
              </a:rPr>
              <a:t>)</a:t>
            </a:r>
          </a:p>
          <a:p>
            <a:pPr marL="0" indent="0">
              <a:spcBef>
                <a:spcPts val="1200"/>
              </a:spcBef>
              <a:buNone/>
            </a:pPr>
            <a:r>
              <a:rPr lang="fi-FI" b="0" dirty="0">
                <a:solidFill>
                  <a:srgbClr val="FFFFFF"/>
                </a:solidFill>
                <a:effectLst/>
                <a:latin typeface="Consolas" panose="020B0609020204030204" pitchFamily="49" charset="0"/>
              </a:rPr>
              <a:t>m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re.match</a:t>
            </a:r>
            <a:r>
              <a:rPr lang="fi-FI" b="0" dirty="0">
                <a:solidFill>
                  <a:srgbClr val="FFFFFF"/>
                </a:solidFill>
                <a:effectLst/>
                <a:latin typeface="Consolas" panose="020B0609020204030204" pitchFamily="49" charset="0"/>
              </a:rPr>
              <a:t>(</a:t>
            </a:r>
            <a:r>
              <a:rPr lang="fi-FI" b="0" dirty="0">
                <a:solidFill>
                  <a:srgbClr val="569CD6"/>
                </a:solidFill>
                <a:effectLst/>
                <a:latin typeface="Consolas" panose="020B0609020204030204" pitchFamily="49" charset="0"/>
              </a:rPr>
              <a:t>r</a:t>
            </a:r>
            <a:r>
              <a:rPr lang="fi-FI" b="0" dirty="0">
                <a:solidFill>
                  <a:srgbClr val="D16969"/>
                </a:solidFill>
                <a:effectLst/>
                <a:latin typeface="Consolas" panose="020B0609020204030204" pitchFamily="49" charset="0"/>
              </a:rPr>
              <a:t>"^\d</a:t>
            </a:r>
            <a:r>
              <a:rPr lang="fi-FI" b="0" dirty="0">
                <a:solidFill>
                  <a:srgbClr val="D4D4D4"/>
                </a:solidFill>
                <a:effectLst/>
                <a:latin typeface="Consolas" panose="020B0609020204030204" pitchFamily="49" charset="0"/>
              </a:rPr>
              <a:t>{5}</a:t>
            </a:r>
            <a:r>
              <a:rPr lang="fi-FI" b="0" dirty="0">
                <a:solidFill>
                  <a:srgbClr val="D16969"/>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"123456"</a:t>
            </a:r>
            <a:r>
              <a:rPr lang="fi-FI" b="0" dirty="0">
                <a:solidFill>
                  <a:srgbClr val="FFFFFF"/>
                </a:solidFill>
                <a:effectLst/>
                <a:latin typeface="Consolas" panose="020B0609020204030204" pitchFamily="49" charset="0"/>
              </a:rPr>
              <a:t>)</a:t>
            </a:r>
          </a:p>
          <a:p>
            <a:pPr marL="0" indent="0">
              <a:buNone/>
            </a:pPr>
            <a:r>
              <a:rPr lang="fi-FI" b="0" dirty="0">
                <a:solidFill>
                  <a:srgbClr val="FFFFFF"/>
                </a:solidFill>
                <a:effectLst/>
                <a:latin typeface="Consolas" panose="020B0609020204030204" pitchFamily="49" charset="0"/>
              </a:rPr>
              <a:t>m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re.fullmatch</a:t>
            </a:r>
            <a:r>
              <a:rPr lang="fi-FI" b="0" dirty="0">
                <a:solidFill>
                  <a:srgbClr val="FFFFFF"/>
                </a:solidFill>
                <a:effectLst/>
                <a:latin typeface="Consolas" panose="020B0609020204030204" pitchFamily="49" charset="0"/>
              </a:rPr>
              <a:t>(</a:t>
            </a:r>
            <a:r>
              <a:rPr lang="fi-FI" b="0" dirty="0">
                <a:solidFill>
                  <a:srgbClr val="569CD6"/>
                </a:solidFill>
                <a:effectLst/>
                <a:latin typeface="Consolas" panose="020B0609020204030204" pitchFamily="49" charset="0"/>
              </a:rPr>
              <a:t>r</a:t>
            </a:r>
            <a:r>
              <a:rPr lang="fi-FI" b="0" dirty="0">
                <a:solidFill>
                  <a:srgbClr val="D16969"/>
                </a:solidFill>
                <a:effectLst/>
                <a:latin typeface="Consolas" panose="020B0609020204030204" pitchFamily="49" charset="0"/>
              </a:rPr>
              <a:t>"\d</a:t>
            </a:r>
            <a:r>
              <a:rPr lang="fi-FI" b="0" dirty="0">
                <a:solidFill>
                  <a:srgbClr val="D4D4D4"/>
                </a:solidFill>
                <a:effectLst/>
                <a:latin typeface="Consolas" panose="020B0609020204030204" pitchFamily="49" charset="0"/>
              </a:rPr>
              <a:t>{5}</a:t>
            </a:r>
            <a:r>
              <a:rPr lang="fi-FI" b="0" dirty="0">
                <a:solidFill>
                  <a:srgbClr val="D16969"/>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"12345"</a:t>
            </a:r>
            <a:r>
              <a:rPr lang="fi-FI" b="0" dirty="0">
                <a:solidFill>
                  <a:srgbClr val="FFFFFF"/>
                </a:solidFill>
                <a:effectLst/>
                <a:latin typeface="Consolas" panose="020B0609020204030204" pitchFamily="49" charset="0"/>
              </a:rPr>
              <a:t>)</a:t>
            </a:r>
          </a:p>
          <a:p>
            <a:pPr marL="0" indent="0">
              <a:buNone/>
            </a:pP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m.string</a:t>
            </a:r>
            <a:r>
              <a:rPr lang="fi-FI" b="0" dirty="0">
                <a:solidFill>
                  <a:srgbClr val="FFFFFF"/>
                </a:solidFill>
                <a:effectLst/>
                <a:latin typeface="Consolas" panose="020B0609020204030204" pitchFamily="49" charset="0"/>
              </a:rPr>
              <a:t>)</a:t>
            </a:r>
          </a:p>
          <a:p>
            <a:pPr marL="0" indent="0">
              <a:spcBef>
                <a:spcPts val="1200"/>
              </a:spcBef>
              <a:buNone/>
            </a:pP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re.findall</a:t>
            </a:r>
            <a:r>
              <a:rPr lang="fi-FI" b="0" dirty="0">
                <a:solidFill>
                  <a:srgbClr val="FFFFFF"/>
                </a:solidFill>
                <a:effectLst/>
                <a:latin typeface="Consolas" panose="020B0609020204030204" pitchFamily="49" charset="0"/>
              </a:rPr>
              <a:t>(</a:t>
            </a:r>
            <a:r>
              <a:rPr lang="fi-FI" b="0" dirty="0">
                <a:solidFill>
                  <a:srgbClr val="569CD6"/>
                </a:solidFill>
                <a:effectLst/>
                <a:latin typeface="Consolas" panose="020B0609020204030204" pitchFamily="49" charset="0"/>
              </a:rPr>
              <a:t>r</a:t>
            </a:r>
            <a:r>
              <a:rPr lang="fi-FI" b="0" dirty="0">
                <a:solidFill>
                  <a:srgbClr val="D16969"/>
                </a:solidFill>
                <a:effectLst/>
                <a:latin typeface="Consolas" panose="020B0609020204030204" pitchFamily="49" charset="0"/>
              </a:rPr>
              <a:t>"\d</a:t>
            </a:r>
            <a:r>
              <a:rPr lang="fi-FI" b="0" dirty="0">
                <a:solidFill>
                  <a:srgbClr val="D4D4D4"/>
                </a:solidFill>
                <a:effectLst/>
                <a:latin typeface="Consolas" panose="020B0609020204030204" pitchFamily="49" charset="0"/>
              </a:rPr>
              <a:t>{5}</a:t>
            </a:r>
            <a:r>
              <a:rPr lang="fi-FI" b="0" dirty="0">
                <a:solidFill>
                  <a:srgbClr val="D16969"/>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zip</a:t>
            </a:r>
            <a:r>
              <a:rPr lang="fi-FI" b="0" dirty="0">
                <a:solidFill>
                  <a:srgbClr val="CE9178"/>
                </a:solidFill>
                <a:effectLst/>
                <a:latin typeface="Consolas" panose="020B0609020204030204" pitchFamily="49" charset="0"/>
              </a:rPr>
              <a:t> </a:t>
            </a:r>
            <a:r>
              <a:rPr lang="fi-FI" b="0" dirty="0" err="1">
                <a:solidFill>
                  <a:srgbClr val="CE9178"/>
                </a:solidFill>
                <a:effectLst/>
                <a:latin typeface="Consolas" panose="020B0609020204030204" pitchFamily="49" charset="0"/>
              </a:rPr>
              <a:t>codes</a:t>
            </a:r>
            <a:r>
              <a:rPr lang="fi-FI" b="0" dirty="0">
                <a:solidFill>
                  <a:srgbClr val="CE9178"/>
                </a:solidFill>
                <a:effectLst/>
                <a:latin typeface="Consolas" panose="020B0609020204030204" pitchFamily="49" charset="0"/>
              </a:rPr>
              <a:t>: 11100, 11130 and 00200"</a:t>
            </a:r>
            <a:r>
              <a:rPr lang="fi-FI" b="0" dirty="0">
                <a:solidFill>
                  <a:srgbClr val="FFFFFF"/>
                </a:solidFill>
                <a:effectLst/>
                <a:latin typeface="Consolas" panose="020B0609020204030204" pitchFamily="49" charset="0"/>
              </a:rPr>
              <a:t>))</a:t>
            </a:r>
          </a:p>
          <a:p>
            <a:pPr marL="0" indent="0">
              <a:spcBef>
                <a:spcPts val="1200"/>
              </a:spcBef>
              <a:buNone/>
            </a:pPr>
            <a:r>
              <a:rPr lang="fi-FI" b="0" dirty="0" err="1">
                <a:solidFill>
                  <a:srgbClr val="FFFFFF"/>
                </a:solidFill>
                <a:effectLst/>
                <a:latin typeface="Consolas" panose="020B0609020204030204" pitchFamily="49" charset="0"/>
              </a:rPr>
              <a:t>numbers</a:t>
            </a:r>
            <a:r>
              <a:rPr lang="fi-FI" b="0" dirty="0">
                <a:solidFill>
                  <a:srgbClr val="FFFFFF"/>
                </a:solidFill>
                <a:effectLst/>
                <a:latin typeface="Consolas" panose="020B0609020204030204" pitchFamily="49" charset="0"/>
              </a:rPr>
              <a:t>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re.split</a:t>
            </a:r>
            <a:r>
              <a:rPr lang="fi-FI" b="0" dirty="0">
                <a:solidFill>
                  <a:srgbClr val="FFFFFF"/>
                </a:solidFill>
                <a:effectLst/>
                <a:latin typeface="Consolas" panose="020B0609020204030204" pitchFamily="49" charset="0"/>
              </a:rPr>
              <a:t>(</a:t>
            </a:r>
            <a:r>
              <a:rPr lang="fi-FI" b="0" dirty="0">
                <a:solidFill>
                  <a:srgbClr val="569CD6"/>
                </a:solidFill>
                <a:effectLst/>
                <a:latin typeface="Consolas" panose="020B0609020204030204" pitchFamily="49" charset="0"/>
              </a:rPr>
              <a:t>r</a:t>
            </a:r>
            <a:r>
              <a:rPr lang="fi-FI" b="0" dirty="0">
                <a:solidFill>
                  <a:srgbClr val="D16969"/>
                </a:solidFill>
                <a:effectLst/>
                <a:latin typeface="Consolas" panose="020B0609020204030204" pitchFamily="49" charset="0"/>
              </a:rPr>
              <a:t>", "</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"1, 2, 100, -5"</a:t>
            </a:r>
            <a:r>
              <a:rPr lang="fi-FI" b="0" dirty="0">
                <a:solidFill>
                  <a:srgbClr val="FFFFFF"/>
                </a:solidFill>
                <a:effectLst/>
                <a:latin typeface="Consolas" panose="020B0609020204030204" pitchFamily="49" charset="0"/>
              </a:rPr>
              <a:t>)</a:t>
            </a:r>
          </a:p>
          <a:p>
            <a:pPr marL="0" indent="0">
              <a:spcBef>
                <a:spcPts val="1200"/>
              </a:spcBef>
              <a:buNone/>
            </a:pPr>
            <a:r>
              <a:rPr lang="fi-FI" b="0" dirty="0">
                <a:solidFill>
                  <a:srgbClr val="FFFFFF"/>
                </a:solidFill>
                <a:effectLst/>
                <a:latin typeface="Consolas" panose="020B0609020204030204" pitchFamily="49" charset="0"/>
              </a:rPr>
              <a:t>s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 "</a:t>
            </a:r>
            <a:r>
              <a:rPr lang="fi-FI" b="0" dirty="0">
                <a:solidFill>
                  <a:srgbClr val="FFFFFF"/>
                </a:solidFill>
                <a:effectLst/>
                <a:latin typeface="Consolas" panose="020B0609020204030204" pitchFamily="49" charset="0"/>
              </a:rPr>
              <a:t>.join(</a:t>
            </a:r>
            <a:r>
              <a:rPr lang="fi-FI" b="0" dirty="0" err="1">
                <a:solidFill>
                  <a:srgbClr val="FFFFFF"/>
                </a:solidFill>
                <a:effectLst/>
                <a:latin typeface="Consolas" panose="020B0609020204030204" pitchFamily="49" charset="0"/>
              </a:rPr>
              <a:t>numbers</a:t>
            </a:r>
            <a:r>
              <a:rPr lang="fi-FI" b="0" dirty="0">
                <a:solidFill>
                  <a:srgbClr val="FFFFFF"/>
                </a:solidFill>
                <a:effectLst/>
                <a:latin typeface="Consolas" panose="020B0609020204030204" pitchFamily="49" charset="0"/>
              </a:rPr>
              <a:t>)</a:t>
            </a:r>
          </a:p>
          <a:p>
            <a:pPr marL="0" indent="0">
              <a:spcBef>
                <a:spcPts val="1200"/>
              </a:spcBef>
              <a:buNone/>
            </a:pP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(s)</a:t>
            </a:r>
          </a:p>
          <a:p>
            <a:pPr marL="0" indent="0">
              <a:spcBef>
                <a:spcPts val="1200"/>
              </a:spcBef>
              <a:buNone/>
            </a:pP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re.sub</a:t>
            </a:r>
            <a:r>
              <a:rPr lang="fi-FI" b="0" dirty="0">
                <a:solidFill>
                  <a:srgbClr val="FFFFFF"/>
                </a:solidFill>
                <a:effectLst/>
                <a:latin typeface="Consolas" panose="020B0609020204030204" pitchFamily="49" charset="0"/>
              </a:rPr>
              <a:t>(</a:t>
            </a:r>
            <a:r>
              <a:rPr lang="fi-FI" b="0" dirty="0">
                <a:solidFill>
                  <a:srgbClr val="569CD6"/>
                </a:solidFill>
                <a:effectLst/>
                <a:latin typeface="Consolas" panose="020B0609020204030204" pitchFamily="49" charset="0"/>
              </a:rPr>
              <a:t>r</a:t>
            </a:r>
            <a:r>
              <a:rPr lang="fi-FI" b="0" dirty="0">
                <a:solidFill>
                  <a:srgbClr val="D16969"/>
                </a:solidFill>
                <a:effectLst/>
                <a:latin typeface="Consolas" panose="020B0609020204030204" pitchFamily="49" charset="0"/>
              </a:rPr>
              <a:t>"\d</a:t>
            </a:r>
            <a:r>
              <a:rPr lang="fi-FI" b="0" dirty="0">
                <a:solidFill>
                  <a:srgbClr val="D4D4D4"/>
                </a:solidFill>
                <a:effectLst/>
                <a:latin typeface="Consolas" panose="020B0609020204030204" pitchFamily="49" charset="0"/>
              </a:rPr>
              <a:t>{5}</a:t>
            </a:r>
            <a:r>
              <a:rPr lang="fi-FI" b="0" dirty="0">
                <a:solidFill>
                  <a:srgbClr val="D16969"/>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xxxxx</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Censored</a:t>
            </a:r>
            <a:r>
              <a:rPr lang="fi-FI" b="0" dirty="0">
                <a:solidFill>
                  <a:srgbClr val="CE9178"/>
                </a:solidFill>
                <a:effectLst/>
                <a:latin typeface="Consolas" panose="020B0609020204030204" pitchFamily="49" charset="0"/>
              </a:rPr>
              <a:t>: 12345 and 00200"</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endParaRPr lang="fi-FI"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396062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5F2D7-0A4E-4227-9E24-49D2379066FB}"/>
              </a:ext>
            </a:extLst>
          </p:cNvPr>
          <p:cNvSpPr>
            <a:spLocks noGrp="1"/>
          </p:cNvSpPr>
          <p:nvPr>
            <p:ph type="title"/>
          </p:nvPr>
        </p:nvSpPr>
        <p:spPr/>
        <p:txBody>
          <a:bodyPr/>
          <a:lstStyle/>
          <a:p>
            <a:r>
              <a:rPr lang="en-US" dirty="0"/>
              <a:t>Pre-Compiling Regular Expressions and Using Groups</a:t>
            </a:r>
          </a:p>
        </p:txBody>
      </p:sp>
      <p:sp>
        <p:nvSpPr>
          <p:cNvPr id="3" name="Content Placeholder 2">
            <a:extLst>
              <a:ext uri="{FF2B5EF4-FFF2-40B4-BE49-F238E27FC236}">
                <a16:creationId xmlns:a16="http://schemas.microsoft.com/office/drawing/2014/main" id="{F5F64597-4AD9-4898-ABB3-6AC4E73D74E4}"/>
              </a:ext>
            </a:extLst>
          </p:cNvPr>
          <p:cNvSpPr>
            <a:spLocks noGrp="1"/>
          </p:cNvSpPr>
          <p:nvPr>
            <p:ph idx="1"/>
          </p:nvPr>
        </p:nvSpPr>
        <p:spPr/>
        <p:txBody>
          <a:bodyPr>
            <a:normAutofit lnSpcReduction="10000"/>
          </a:bodyPr>
          <a:lstStyle/>
          <a:p>
            <a:pPr marL="0" indent="0">
              <a:buNone/>
            </a:pPr>
            <a:r>
              <a:rPr lang="en-US" dirty="0"/>
              <a:t>&gt;&gt;&gt; zip_re = re.compile(r"\d{5}") # faster for re-use</a:t>
            </a:r>
            <a:br>
              <a:rPr lang="en-US" dirty="0"/>
            </a:br>
            <a:r>
              <a:rPr lang="en-US" dirty="0"/>
              <a:t>&gt;&gt;&gt; zip_re.findall("Here are some zip codes: 11100 and 11130")</a:t>
            </a:r>
            <a:br>
              <a:rPr lang="en-US" dirty="0"/>
            </a:br>
            <a:r>
              <a:rPr lang="en-US" dirty="0"/>
              <a:t>['11100', '11130']</a:t>
            </a:r>
            <a:br>
              <a:rPr lang="en-US" dirty="0"/>
            </a:br>
            <a:r>
              <a:rPr lang="en-US" dirty="0"/>
              <a:t>&gt;&gt;&gt; phone_re = re.compile(r"(\d{2,4})-(\d{1,10})")</a:t>
            </a:r>
            <a:br>
              <a:rPr lang="en-US" dirty="0"/>
            </a:br>
            <a:r>
              <a:rPr lang="en-US" dirty="0"/>
              <a:t>&gt;&gt;&gt; phone_re.match("050-1234567").groups()</a:t>
            </a:r>
            <a:br>
              <a:rPr lang="en-US" dirty="0"/>
            </a:br>
            <a:r>
              <a:rPr lang="en-US" dirty="0"/>
              <a:t>('050', '1234567')</a:t>
            </a:r>
            <a:br>
              <a:rPr lang="en-US" dirty="0"/>
            </a:br>
            <a:r>
              <a:rPr lang="en-US" dirty="0"/>
              <a:t>&gt;&gt;&gt; phone_re.match("050-1234567").group(0)</a:t>
            </a:r>
            <a:br>
              <a:rPr lang="en-US" dirty="0"/>
            </a:br>
            <a:r>
              <a:rPr lang="en-US" dirty="0"/>
              <a:t>'050-1234567'</a:t>
            </a:r>
            <a:br>
              <a:rPr lang="en-US" dirty="0"/>
            </a:br>
            <a:r>
              <a:rPr lang="en-US" dirty="0"/>
              <a:t>&gt;&gt;&gt; phone_re.match("050-1234567").group(1)</a:t>
            </a:r>
            <a:br>
              <a:rPr lang="en-US" dirty="0"/>
            </a:br>
            <a:r>
              <a:rPr lang="en-US" dirty="0"/>
              <a:t>'050'</a:t>
            </a:r>
            <a:br>
              <a:rPr lang="en-US" dirty="0"/>
            </a:br>
            <a:r>
              <a:rPr lang="en-US" dirty="0"/>
              <a:t>&gt;&gt;&gt; phone_re.match("050-1234567").group(2)</a:t>
            </a:r>
            <a:br>
              <a:rPr lang="en-US" dirty="0"/>
            </a:br>
            <a:r>
              <a:rPr lang="en-US" dirty="0"/>
              <a:t>'1234567'</a:t>
            </a:r>
          </a:p>
        </p:txBody>
      </p:sp>
    </p:spTree>
    <p:extLst>
      <p:ext uri="{BB962C8B-B14F-4D97-AF65-F5344CB8AC3E}">
        <p14:creationId xmlns:p14="http://schemas.microsoft.com/office/powerpoint/2010/main" val="708762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3E1BA-0FD2-4EFE-9FAA-2CF4CB975349}"/>
              </a:ext>
            </a:extLst>
          </p:cNvPr>
          <p:cNvSpPr>
            <a:spLocks noGrp="1"/>
          </p:cNvSpPr>
          <p:nvPr>
            <p:ph type="title"/>
          </p:nvPr>
        </p:nvSpPr>
        <p:spPr/>
        <p:txBody>
          <a:bodyPr/>
          <a:lstStyle/>
          <a:p>
            <a:r>
              <a:rPr lang="en-US" dirty="0"/>
              <a:t>Handling Files</a:t>
            </a:r>
          </a:p>
        </p:txBody>
      </p:sp>
      <p:sp>
        <p:nvSpPr>
          <p:cNvPr id="3" name="Content Placeholder 2">
            <a:extLst>
              <a:ext uri="{FF2B5EF4-FFF2-40B4-BE49-F238E27FC236}">
                <a16:creationId xmlns:a16="http://schemas.microsoft.com/office/drawing/2014/main" id="{AA0F61B4-9374-4C3E-B1B9-14C43F008138}"/>
              </a:ext>
            </a:extLst>
          </p:cNvPr>
          <p:cNvSpPr>
            <a:spLocks noGrp="1"/>
          </p:cNvSpPr>
          <p:nvPr>
            <p:ph idx="1"/>
          </p:nvPr>
        </p:nvSpPr>
        <p:spPr>
          <a:xfrm>
            <a:off x="1218883" y="1701796"/>
            <a:ext cx="10708177" cy="4967564"/>
          </a:xfrm>
        </p:spPr>
        <p:txBody>
          <a:bodyPr>
            <a:normAutofit fontScale="85000" lnSpcReduction="20000"/>
          </a:bodyPr>
          <a:lstStyle/>
          <a:p>
            <a:r>
              <a:rPr lang="en-US" dirty="0"/>
              <a:t>By default files are opened for text mode. In other words binary data, such as image files, audio/video files etc. will not work. Use "b" for binary mode.</a:t>
            </a:r>
          </a:p>
          <a:p>
            <a:r>
              <a:rPr lang="en-US" dirty="0"/>
              <a:t>Basic pattern is as follows:</a:t>
            </a:r>
            <a:br>
              <a:rPr lang="en-US" dirty="0"/>
            </a:br>
            <a:r>
              <a:rPr lang="fi-FI" b="0" dirty="0">
                <a:solidFill>
                  <a:srgbClr val="7CA668"/>
                </a:solidFill>
                <a:effectLst/>
                <a:latin typeface="Consolas" panose="020B0609020204030204" pitchFamily="49" charset="0"/>
              </a:rPr>
              <a:t># open </a:t>
            </a:r>
            <a:r>
              <a:rPr lang="fi-FI" b="0" dirty="0" err="1">
                <a:solidFill>
                  <a:srgbClr val="7CA668"/>
                </a:solidFill>
                <a:effectLst/>
                <a:latin typeface="Consolas" panose="020B0609020204030204" pitchFamily="49" charset="0"/>
              </a:rPr>
              <a:t>file</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mode</a:t>
            </a:r>
            <a:r>
              <a:rPr lang="fi-FI" b="0" dirty="0">
                <a:solidFill>
                  <a:srgbClr val="7CA668"/>
                </a:solidFill>
                <a:effectLst/>
                <a:latin typeface="Consolas" panose="020B0609020204030204" pitchFamily="49" charset="0"/>
              </a:rPr>
              <a:t> = "r/w/a/</a:t>
            </a:r>
            <a:r>
              <a:rPr lang="fi-FI" b="0" dirty="0" err="1">
                <a:solidFill>
                  <a:srgbClr val="7CA668"/>
                </a:solidFill>
                <a:effectLst/>
                <a:latin typeface="Consolas" panose="020B0609020204030204" pitchFamily="49" charset="0"/>
              </a:rPr>
              <a:t>rb</a:t>
            </a:r>
            <a:r>
              <a:rPr lang="fi-FI" b="0" dirty="0">
                <a:solidFill>
                  <a:srgbClr val="7CA668"/>
                </a:solidFill>
                <a:effectLst/>
                <a:latin typeface="Consolas" panose="020B0609020204030204" pitchFamily="49" charset="0"/>
              </a:rPr>
              <a:t>/</a:t>
            </a:r>
            <a:r>
              <a:rPr lang="fi-FI" b="0" dirty="0" err="1">
                <a:solidFill>
                  <a:srgbClr val="7CA668"/>
                </a:solidFill>
                <a:effectLst/>
                <a:latin typeface="Consolas" panose="020B0609020204030204" pitchFamily="49" charset="0"/>
              </a:rPr>
              <a:t>wb</a:t>
            </a:r>
            <a:r>
              <a:rPr lang="fi-FI" b="0" dirty="0">
                <a:solidFill>
                  <a:srgbClr val="7CA668"/>
                </a:solidFill>
                <a:effectLst/>
                <a:latin typeface="Consolas" panose="020B0609020204030204" pitchFamily="49" charset="0"/>
              </a:rPr>
              <a:t>/ab/r+/</a:t>
            </a:r>
            <a:r>
              <a:rPr lang="fi-FI" b="0" dirty="0" err="1">
                <a:solidFill>
                  <a:srgbClr val="7CA668"/>
                </a:solidFill>
                <a:effectLst/>
                <a:latin typeface="Consolas" panose="020B0609020204030204" pitchFamily="49" charset="0"/>
              </a:rPr>
              <a:t>rb</a:t>
            </a:r>
            <a:r>
              <a:rPr lang="fi-FI" b="0" dirty="0">
                <a:solidFill>
                  <a:srgbClr val="7CA668"/>
                </a:solidFill>
                <a:effectLst/>
                <a:latin typeface="Consolas" panose="020B0609020204030204" pitchFamily="49" charset="0"/>
              </a:rPr>
              <a:t>+/w+/</a:t>
            </a:r>
            <a:r>
              <a:rPr lang="fi-FI" b="0" dirty="0" err="1">
                <a:solidFill>
                  <a:srgbClr val="7CA668"/>
                </a:solidFill>
                <a:effectLst/>
                <a:latin typeface="Consolas" panose="020B0609020204030204" pitchFamily="49" charset="0"/>
              </a:rPr>
              <a:t>wb</a:t>
            </a:r>
            <a:r>
              <a:rPr lang="fi-FI" b="0" dirty="0">
                <a:solidFill>
                  <a:srgbClr val="7CA668"/>
                </a:solidFill>
                <a:effectLst/>
                <a:latin typeface="Consolas" panose="020B0609020204030204" pitchFamily="49" charset="0"/>
              </a:rPr>
              <a:t>+/a+/ab+"</a:t>
            </a:r>
            <a:br>
              <a:rPr lang="fi-FI" b="0" dirty="0">
                <a:solidFill>
                  <a:srgbClr val="7CA668"/>
                </a:solidFill>
                <a:effectLst/>
                <a:latin typeface="Consolas" panose="020B0609020204030204" pitchFamily="49" charset="0"/>
              </a:rPr>
            </a:br>
            <a:r>
              <a:rPr lang="fi-FI" b="0" dirty="0">
                <a:solidFill>
                  <a:srgbClr val="FFFFFF"/>
                </a:solidFill>
                <a:effectLst/>
                <a:latin typeface="Consolas" panose="020B0609020204030204" pitchFamily="49" charset="0"/>
              </a:rPr>
              <a:t>f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open</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filepath</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mode</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do</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your</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file</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processing</a:t>
            </a:r>
            <a:r>
              <a:rPr lang="fi-FI" b="0" dirty="0">
                <a:solidFill>
                  <a:srgbClr val="7CA668"/>
                </a:solidFill>
                <a:effectLst/>
                <a:latin typeface="Consolas" panose="020B0609020204030204" pitchFamily="49" charset="0"/>
              </a:rPr>
              <a:t> d = </a:t>
            </a:r>
            <a:r>
              <a:rPr lang="fi-FI" b="0" dirty="0" err="1">
                <a:solidFill>
                  <a:srgbClr val="7CA668"/>
                </a:solidFill>
                <a:effectLst/>
                <a:latin typeface="Consolas" panose="020B0609020204030204" pitchFamily="49" charset="0"/>
              </a:rPr>
              <a:t>f.read</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f.write</a:t>
            </a:r>
            <a:r>
              <a:rPr lang="fi-FI" b="0" dirty="0">
                <a:solidFill>
                  <a:srgbClr val="7CA668"/>
                </a:solidFill>
                <a:effectLst/>
                <a:latin typeface="Consolas" panose="020B0609020204030204" pitchFamily="49" charset="0"/>
              </a:rPr>
              <a:t>(d)</a:t>
            </a:r>
            <a:br>
              <a:rPr lang="fi-FI" b="0" dirty="0">
                <a:solidFill>
                  <a:srgbClr val="7CA668"/>
                </a:solidFill>
                <a:effectLst/>
                <a:latin typeface="Consolas" panose="020B0609020204030204" pitchFamily="49" charset="0"/>
              </a:rPr>
            </a:br>
            <a:r>
              <a:rPr lang="fi-FI" b="0" dirty="0" err="1">
                <a:solidFill>
                  <a:srgbClr val="FFFFFF"/>
                </a:solidFill>
                <a:effectLst/>
                <a:latin typeface="Consolas" panose="020B0609020204030204" pitchFamily="49" charset="0"/>
              </a:rPr>
              <a:t>f.close</a:t>
            </a:r>
            <a:r>
              <a:rPr lang="fi-FI" b="0" dirty="0">
                <a:solidFill>
                  <a:srgbClr val="FFFFFF"/>
                </a:solidFill>
                <a:effectLst/>
                <a:latin typeface="Consolas" panose="020B0609020204030204" pitchFamily="49" charset="0"/>
              </a:rPr>
              <a:t>() </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closing</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file</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starts</a:t>
            </a:r>
            <a:r>
              <a:rPr lang="fi-FI" b="0" dirty="0">
                <a:solidFill>
                  <a:srgbClr val="7CA668"/>
                </a:solidFill>
                <a:effectLst/>
                <a:latin typeface="Consolas" panose="020B0609020204030204" pitchFamily="49" charset="0"/>
              </a:rPr>
              <a:t> to </a:t>
            </a:r>
            <a:r>
              <a:rPr lang="fi-FI" b="0" dirty="0" err="1">
                <a:solidFill>
                  <a:srgbClr val="7CA668"/>
                </a:solidFill>
                <a:effectLst/>
                <a:latin typeface="Consolas" panose="020B0609020204030204" pitchFamily="49" charset="0"/>
              </a:rPr>
              <a:t>flush</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the</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results</a:t>
            </a:r>
            <a:endParaRPr lang="fi-FI" b="0" dirty="0">
              <a:solidFill>
                <a:srgbClr val="FFFFFF"/>
              </a:solidFill>
              <a:effectLst/>
              <a:latin typeface="Consolas" panose="020B0609020204030204" pitchFamily="49" charset="0"/>
            </a:endParaRPr>
          </a:p>
          <a:p>
            <a:r>
              <a:rPr lang="en-US" dirty="0"/>
              <a:t>But the following is even better:</a:t>
            </a:r>
            <a:br>
              <a:rPr lang="en-US" dirty="0"/>
            </a:br>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"testi.txt"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"mode"</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process file</a:t>
            </a:r>
            <a:br>
              <a:rPr lang="en-US" b="0" dirty="0">
                <a:solidFill>
                  <a:srgbClr val="7CA668"/>
                </a:solidFill>
                <a:effectLst/>
                <a:latin typeface="Consolas" panose="020B0609020204030204" pitchFamily="49" charset="0"/>
              </a:rPr>
            </a:br>
            <a:r>
              <a:rPr lang="en-US" b="0" dirty="0">
                <a:solidFill>
                  <a:srgbClr val="7CA668"/>
                </a:solidFill>
                <a:effectLst/>
                <a:latin typeface="Consolas" panose="020B0609020204030204" pitchFamily="49" charset="0"/>
              </a:rPr>
              <a:t>    # file is closed automatically outside with</a:t>
            </a:r>
            <a:endParaRPr lang="en-US" b="0" dirty="0">
              <a:solidFill>
                <a:srgbClr val="FFFFFF"/>
              </a:solidFill>
              <a:effectLst/>
              <a:latin typeface="Consolas" panose="020B0609020204030204" pitchFamily="49" charset="0"/>
            </a:endParaRPr>
          </a:p>
          <a:p>
            <a:r>
              <a:rPr lang="en-US" dirty="0"/>
              <a:t>If file opening fails raise OSError or subclass of it (Python 3.3 or earlier used IOError):</a:t>
            </a:r>
          </a:p>
          <a:p>
            <a:pPr lvl="1"/>
            <a:r>
              <a:rPr lang="en-US" b="1" dirty="0" err="1"/>
              <a:t>FileNotFoundError</a:t>
            </a:r>
            <a:r>
              <a:rPr lang="en-US" dirty="0"/>
              <a:t> - If file path cannot be found</a:t>
            </a:r>
          </a:p>
          <a:p>
            <a:pPr lvl="1"/>
            <a:r>
              <a:rPr lang="en-US" b="1" dirty="0" err="1"/>
              <a:t>PermissionError</a:t>
            </a:r>
            <a:r>
              <a:rPr lang="en-US" b="1" dirty="0"/>
              <a:t> </a:t>
            </a:r>
            <a:r>
              <a:rPr lang="en-US" dirty="0"/>
              <a:t>- If lacking permissions to open file</a:t>
            </a:r>
            <a:br>
              <a:rPr lang="en-US" dirty="0"/>
            </a:br>
            <a:endParaRPr lang="en-US" dirty="0"/>
          </a:p>
        </p:txBody>
      </p:sp>
    </p:spTree>
    <p:extLst>
      <p:ext uri="{BB962C8B-B14F-4D97-AF65-F5344CB8AC3E}">
        <p14:creationId xmlns:p14="http://schemas.microsoft.com/office/powerpoint/2010/main" val="3603393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75D1D-EBB9-44BD-8154-014FCD9B3C51}"/>
              </a:ext>
            </a:extLst>
          </p:cNvPr>
          <p:cNvSpPr>
            <a:spLocks noGrp="1"/>
          </p:cNvSpPr>
          <p:nvPr>
            <p:ph type="title"/>
          </p:nvPr>
        </p:nvSpPr>
        <p:spPr/>
        <p:txBody>
          <a:bodyPr/>
          <a:lstStyle/>
          <a:p>
            <a:r>
              <a:rPr lang="en-US" dirty="0"/>
              <a:t>Reading a File</a:t>
            </a:r>
          </a:p>
        </p:txBody>
      </p:sp>
      <p:sp>
        <p:nvSpPr>
          <p:cNvPr id="3" name="Content Placeholder 2">
            <a:extLst>
              <a:ext uri="{FF2B5EF4-FFF2-40B4-BE49-F238E27FC236}">
                <a16:creationId xmlns:a16="http://schemas.microsoft.com/office/drawing/2014/main" id="{F6D6F431-5733-4B28-8EE1-6EEDD7B61F2A}"/>
              </a:ext>
            </a:extLst>
          </p:cNvPr>
          <p:cNvSpPr>
            <a:spLocks noGrp="1"/>
          </p:cNvSpPr>
          <p:nvPr>
            <p:ph idx="1"/>
          </p:nvPr>
        </p:nvSpPr>
        <p:spPr>
          <a:xfrm>
            <a:off x="1218883" y="1701796"/>
            <a:ext cx="10360501" cy="4679531"/>
          </a:xfrm>
        </p:spPr>
        <p:txBody>
          <a:bodyPr>
            <a:normAutofit lnSpcReduction="10000"/>
          </a:bodyPr>
          <a:lstStyle/>
          <a:p>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"test.txt"</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f.read</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endParaRPr lang="en-US" b="0" dirty="0">
              <a:solidFill>
                <a:srgbClr val="FFFFFF"/>
              </a:solidFill>
              <a:effectLst/>
              <a:latin typeface="Consolas" panose="020B0609020204030204" pitchFamily="49" charset="0"/>
            </a:endParaRPr>
          </a:p>
          <a:p>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"test.txt"</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line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line.rstrip</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endParaRPr lang="en-US" b="0" dirty="0">
              <a:solidFill>
                <a:srgbClr val="FFFFFF"/>
              </a:solidFill>
              <a:effectLst/>
              <a:latin typeface="Consolas" panose="020B0609020204030204" pitchFamily="49" charset="0"/>
            </a:endParaRPr>
          </a:p>
          <a:p>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"test.txt"</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lines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f.readlines</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line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enumerate</a:t>
            </a:r>
            <a:r>
              <a:rPr lang="en-US" b="0" dirty="0">
                <a:solidFill>
                  <a:srgbClr val="FFFFFF"/>
                </a:solidFill>
                <a:effectLst/>
                <a:latin typeface="Consolas" panose="020B0609020204030204" pitchFamily="49" charset="0"/>
              </a:rPr>
              <a:t>(lines, </a:t>
            </a:r>
            <a:r>
              <a:rPr lang="en-US" b="0" dirty="0">
                <a:solidFill>
                  <a:srgbClr val="9CDCFE"/>
                </a:solidFill>
                <a:effectLst/>
                <a:latin typeface="Consolas" panose="020B0609020204030204" pitchFamily="49" charset="0"/>
              </a:rPr>
              <a:t>start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line.rstrip</a:t>
            </a:r>
            <a:r>
              <a:rPr lang="en-US" b="0" dirty="0">
                <a:solidFill>
                  <a:srgbClr val="FFFFFF"/>
                </a:solidFill>
                <a:effectLst/>
                <a:latin typeface="Consolas" panose="020B0609020204030204" pitchFamily="49" charset="0"/>
              </a:rPr>
              <a:t>())</a:t>
            </a:r>
          </a:p>
          <a:p>
            <a:pPr marL="0" indent="0">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019772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8D5B1-2017-4CAB-9676-395B4B852C72}"/>
              </a:ext>
            </a:extLst>
          </p:cNvPr>
          <p:cNvSpPr>
            <a:spLocks noGrp="1"/>
          </p:cNvSpPr>
          <p:nvPr>
            <p:ph type="title"/>
          </p:nvPr>
        </p:nvSpPr>
        <p:spPr/>
        <p:txBody>
          <a:bodyPr/>
          <a:lstStyle/>
          <a:p>
            <a:r>
              <a:rPr lang="en-US" dirty="0"/>
              <a:t>Write to a File (Creates New File if Doesn't Exist)</a:t>
            </a:r>
          </a:p>
        </p:txBody>
      </p:sp>
      <p:sp>
        <p:nvSpPr>
          <p:cNvPr id="3" name="Content Placeholder 2">
            <a:extLst>
              <a:ext uri="{FF2B5EF4-FFF2-40B4-BE49-F238E27FC236}">
                <a16:creationId xmlns:a16="http://schemas.microsoft.com/office/drawing/2014/main" id="{C4DA1B92-5C70-4075-B877-32990940DEBB}"/>
              </a:ext>
            </a:extLst>
          </p:cNvPr>
          <p:cNvSpPr>
            <a:spLocks noGrp="1"/>
          </p:cNvSpPr>
          <p:nvPr>
            <p:ph idx="1"/>
          </p:nvPr>
        </p:nvSpPr>
        <p:spPr>
          <a:xfrm>
            <a:off x="1218883" y="1701797"/>
            <a:ext cx="10360501" cy="4881566"/>
          </a:xfrm>
        </p:spPr>
        <p:txBody>
          <a:bodyPr>
            <a:normAutofit fontScale="92500" lnSpcReduction="20000"/>
          </a:bodyPr>
          <a:lstStyle/>
          <a:p>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"test.txt"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"w"</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f.write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"Hello</a:t>
            </a:r>
            <a:r>
              <a:rPr lang="en-US" b="0" dirty="0">
                <a:solidFill>
                  <a:srgbClr val="569CD6"/>
                </a:solidFill>
                <a:effectLst/>
                <a:latin typeface="Consolas" panose="020B0609020204030204" pitchFamily="49" charset="0"/>
              </a:rPr>
              <a:t>\n</a:t>
            </a:r>
            <a:r>
              <a:rPr lang="en-US" b="0" dirty="0">
                <a:solidFill>
                  <a:srgbClr val="CE9178"/>
                </a:solidFill>
                <a:effectLst/>
                <a:latin typeface="Consolas" panose="020B0609020204030204" pitchFamily="49" charset="0"/>
              </a:rPr>
              <a:t>2nd line</a:t>
            </a:r>
            <a:r>
              <a:rPr lang="en-US" b="0" dirty="0">
                <a:solidFill>
                  <a:srgbClr val="569CD6"/>
                </a:solidFill>
                <a:effectLst/>
                <a:latin typeface="Consolas" panose="020B0609020204030204" pitchFamily="49" charset="0"/>
              </a:rPr>
              <a:t>\n</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p>
          <a:p>
            <a:r>
              <a:rPr lang="fi-FI" b="0" dirty="0" err="1">
                <a:solidFill>
                  <a:srgbClr val="C586C0"/>
                </a:solidFill>
                <a:effectLst/>
                <a:latin typeface="Consolas" panose="020B0609020204030204" pitchFamily="49" charset="0"/>
              </a:rPr>
              <a:t>with</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open</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"test.txt"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"w"</a:t>
            </a:r>
            <a:r>
              <a:rPr lang="fi-FI" b="0" dirty="0">
                <a:solidFill>
                  <a:srgbClr val="FFFFFF"/>
                </a:solidFill>
                <a:effectLst/>
                <a:latin typeface="Consolas" panose="020B0609020204030204" pitchFamily="49" charset="0"/>
              </a:rPr>
              <a:t>, </a:t>
            </a:r>
            <a:r>
              <a:rPr lang="fi-FI" b="0" dirty="0" err="1">
                <a:solidFill>
                  <a:srgbClr val="9CDCFE"/>
                </a:solidFill>
                <a:effectLst/>
                <a:latin typeface="Consolas" panose="020B0609020204030204" pitchFamily="49" charset="0"/>
              </a:rPr>
              <a:t>encoding</a:t>
            </a:r>
            <a:r>
              <a:rPr lang="fi-FI" b="0" dirty="0">
                <a:solidFill>
                  <a:srgbClr val="D4D4D4"/>
                </a:solidFill>
                <a:effectLst/>
                <a:latin typeface="Consolas" panose="020B0609020204030204" pitchFamily="49" charset="0"/>
              </a:rPr>
              <a:t>=</a:t>
            </a:r>
            <a:r>
              <a:rPr lang="fi-FI" b="0" dirty="0">
                <a:solidFill>
                  <a:srgbClr val="CE9178"/>
                </a:solidFill>
                <a:effectLst/>
                <a:latin typeface="Consolas" panose="020B0609020204030204" pitchFamily="49" charset="0"/>
              </a:rPr>
              <a:t>"utf-8"</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f:</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f.writelines</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Hello</a:t>
            </a:r>
            <a:r>
              <a:rPr lang="fi-FI" b="0" dirty="0">
                <a:solidFill>
                  <a:srgbClr val="CE9178"/>
                </a:solidFill>
                <a:effectLst/>
                <a:latin typeface="Consolas" panose="020B0609020204030204" pitchFamily="49" charset="0"/>
              </a:rPr>
              <a:t> ÄÖ</a:t>
            </a:r>
            <a:r>
              <a:rPr lang="fi-FI" b="0" dirty="0">
                <a:solidFill>
                  <a:srgbClr val="569CD6"/>
                </a:solidFill>
                <a:effectLst/>
                <a:latin typeface="Consolas" panose="020B0609020204030204" pitchFamily="49" charset="0"/>
              </a:rPr>
              <a:t>\n</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"2nd </a:t>
            </a:r>
            <a:r>
              <a:rPr lang="fi-FI" b="0" dirty="0" err="1">
                <a:solidFill>
                  <a:srgbClr val="CE9178"/>
                </a:solidFill>
                <a:effectLst/>
                <a:latin typeface="Consolas" panose="020B0609020204030204" pitchFamily="49" charset="0"/>
              </a:rPr>
              <a:t>line</a:t>
            </a:r>
            <a:r>
              <a:rPr lang="fi-FI" b="0" dirty="0">
                <a:solidFill>
                  <a:srgbClr val="569CD6"/>
                </a:solidFill>
                <a:effectLst/>
                <a:latin typeface="Consolas" panose="020B0609020204030204" pitchFamily="49" charset="0"/>
              </a:rPr>
              <a:t>\n</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a:t>
            </a:r>
          </a:p>
          <a:p>
            <a:r>
              <a:rPr lang="fi-FI" b="0" dirty="0" err="1">
                <a:solidFill>
                  <a:srgbClr val="C586C0"/>
                </a:solidFill>
                <a:effectLst/>
                <a:latin typeface="Consolas" panose="020B0609020204030204" pitchFamily="49" charset="0"/>
              </a:rPr>
              <a:t>with</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open</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"test.txt"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"w"</a:t>
            </a:r>
            <a:r>
              <a:rPr lang="fi-FI" b="0" dirty="0">
                <a:solidFill>
                  <a:srgbClr val="FFFFFF"/>
                </a:solidFill>
                <a:effectLst/>
                <a:latin typeface="Consolas" panose="020B0609020204030204" pitchFamily="49" charset="0"/>
              </a:rPr>
              <a:t>, </a:t>
            </a:r>
            <a:r>
              <a:rPr lang="fi-FI" b="0" dirty="0" err="1">
                <a:solidFill>
                  <a:srgbClr val="9CDCFE"/>
                </a:solidFill>
                <a:effectLst/>
                <a:latin typeface="Consolas" panose="020B0609020204030204" pitchFamily="49" charset="0"/>
              </a:rPr>
              <a:t>encoding</a:t>
            </a:r>
            <a:r>
              <a:rPr lang="fi-FI" b="0" dirty="0">
                <a:solidFill>
                  <a:srgbClr val="D4D4D4"/>
                </a:solidFill>
                <a:effectLst/>
                <a:latin typeface="Consolas" panose="020B0609020204030204" pitchFamily="49" charset="0"/>
              </a:rPr>
              <a:t>=</a:t>
            </a:r>
            <a:r>
              <a:rPr lang="fi-FI" b="0" dirty="0">
                <a:solidFill>
                  <a:srgbClr val="CE9178"/>
                </a:solidFill>
                <a:effectLst/>
                <a:latin typeface="Consolas" panose="020B0609020204030204" pitchFamily="49" charset="0"/>
              </a:rPr>
              <a:t>"utf-8"</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f:</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Hello</a:t>
            </a:r>
            <a:r>
              <a:rPr lang="fi-FI" b="0" dirty="0">
                <a:solidFill>
                  <a:srgbClr val="CE9178"/>
                </a:solidFill>
                <a:effectLst/>
                <a:latin typeface="Consolas" panose="020B0609020204030204" pitchFamily="49" charset="0"/>
              </a:rPr>
              <a:t> ÄÖ"</a:t>
            </a:r>
            <a:r>
              <a:rPr lang="fi-FI" b="0" dirty="0">
                <a:solidFill>
                  <a:srgbClr val="FFFFFF"/>
                </a:solidFill>
                <a:effectLst/>
                <a:latin typeface="Consolas" panose="020B0609020204030204" pitchFamily="49" charset="0"/>
              </a:rPr>
              <a:t>, </a:t>
            </a:r>
            <a:r>
              <a:rPr lang="fi-FI" b="0" dirty="0" err="1">
                <a:solidFill>
                  <a:srgbClr val="9CDCFE"/>
                </a:solidFill>
                <a:effectLst/>
                <a:latin typeface="Consolas" panose="020B0609020204030204" pitchFamily="49" charset="0"/>
              </a:rPr>
              <a:t>file</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f)</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az-Cyrl-AZ" b="0" dirty="0">
                <a:solidFill>
                  <a:srgbClr val="CE9178"/>
                </a:solidFill>
                <a:effectLst/>
                <a:latin typeface="Consolas" panose="020B0609020204030204" pitchFamily="49" charset="0"/>
              </a:rPr>
              <a:t>привет! </a:t>
            </a:r>
            <a:r>
              <a:rPr lang="zh-CN" altLang="fi-FI" b="0" dirty="0">
                <a:solidFill>
                  <a:srgbClr val="CE9178"/>
                </a:solidFill>
                <a:effectLst/>
                <a:latin typeface="Consolas" panose="020B0609020204030204" pitchFamily="49" charset="0"/>
              </a:rPr>
              <a:t>你好</a:t>
            </a:r>
            <a:r>
              <a:rPr lang="fi-FI" altLang="zh-CN" b="0" dirty="0">
                <a:solidFill>
                  <a:srgbClr val="CE9178"/>
                </a:solidFill>
                <a:effectLst/>
                <a:latin typeface="Consolas" panose="020B0609020204030204" pitchFamily="49" charset="0"/>
              </a:rPr>
              <a:t>!"</a:t>
            </a:r>
            <a:r>
              <a:rPr lang="fi-FI" altLang="zh-CN" b="0" dirty="0">
                <a:solidFill>
                  <a:srgbClr val="FFFFFF"/>
                </a:solidFill>
                <a:effectLst/>
                <a:latin typeface="Consolas" panose="020B0609020204030204" pitchFamily="49" charset="0"/>
              </a:rPr>
              <a:t>, </a:t>
            </a:r>
            <a:r>
              <a:rPr lang="fi-FI" b="0" dirty="0" err="1">
                <a:solidFill>
                  <a:srgbClr val="9CDCFE"/>
                </a:solidFill>
                <a:effectLst/>
                <a:latin typeface="Consolas" panose="020B0609020204030204" pitchFamily="49" charset="0"/>
              </a:rPr>
              <a:t>file</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f)</a:t>
            </a:r>
          </a:p>
          <a:p>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"test.txt"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"w"</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encoding</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"utf-8"</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line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"Give me a line?"</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not</a:t>
            </a:r>
            <a:r>
              <a:rPr lang="en-US" b="0" dirty="0">
                <a:solidFill>
                  <a:srgbClr val="FFFFFF"/>
                </a:solidFill>
                <a:effectLst/>
                <a:latin typeface="Consolas" panose="020B0609020204030204" pitchFamily="49" charset="0"/>
              </a:rPr>
              <a:t> line: </a:t>
            </a:r>
            <a:r>
              <a:rPr lang="en-US" b="0" dirty="0">
                <a:solidFill>
                  <a:srgbClr val="C586C0"/>
                </a:solidFill>
                <a:effectLst/>
                <a:latin typeface="Consolas" panose="020B0609020204030204" pitchFamily="49" charset="0"/>
              </a:rPr>
              <a:t>break</a:t>
            </a:r>
            <a:br>
              <a:rPr lang="en-US" b="0" dirty="0">
                <a:solidFill>
                  <a:srgbClr val="C586C0"/>
                </a:solidFill>
                <a:effectLst/>
                <a:latin typeface="Consolas" panose="020B0609020204030204" pitchFamily="49" charset="0"/>
              </a:rPr>
            </a:br>
            <a:r>
              <a:rPr lang="en-US" b="0" dirty="0">
                <a:solidFill>
                  <a:srgbClr val="C586C0"/>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(line,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print(line, file=f, flush=True)</a:t>
            </a:r>
            <a:br>
              <a:rPr lang="en-US" dirty="0">
                <a:solidFill>
                  <a:srgbClr val="FFFFFF"/>
                </a:solidFill>
                <a:latin typeface="Consolas" panose="020B0609020204030204" pitchFamily="49" charset="0"/>
              </a:rPr>
            </a:br>
            <a:r>
              <a:rPr lang="en-US" dirty="0">
                <a:solidFill>
                  <a:srgbClr val="FFFFFF"/>
                </a:solidFill>
                <a:latin typeface="Consolas" panose="020B0609020204030204" pitchFamily="49" charset="0"/>
              </a:rPr>
              <a:t>        </a:t>
            </a:r>
            <a:r>
              <a:rPr lang="en-US" b="0" dirty="0">
                <a:solidFill>
                  <a:srgbClr val="7CA668"/>
                </a:solidFill>
                <a:effectLst/>
                <a:latin typeface="Consolas" panose="020B0609020204030204" pitchFamily="49" charset="0"/>
              </a:rPr>
              <a:t># alternative: you can use </a:t>
            </a:r>
            <a:r>
              <a:rPr lang="en-US" b="0" dirty="0" err="1">
                <a:solidFill>
                  <a:srgbClr val="7CA668"/>
                </a:solidFill>
                <a:effectLst/>
                <a:latin typeface="Consolas" panose="020B0609020204030204" pitchFamily="49" charset="0"/>
              </a:rPr>
              <a:t>f.flush</a:t>
            </a:r>
            <a:r>
              <a:rPr lang="en-US" b="0" dirty="0">
                <a:solidFill>
                  <a:srgbClr val="7CA668"/>
                </a:solidFill>
                <a:effectLst/>
                <a:latin typeface="Consolas" panose="020B0609020204030204" pitchFamily="49" charset="0"/>
              </a:rPr>
              <a:t>()</a:t>
            </a: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90268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6F72-950D-47AB-898B-DC5295E4C837}"/>
              </a:ext>
            </a:extLst>
          </p:cNvPr>
          <p:cNvSpPr>
            <a:spLocks noGrp="1"/>
          </p:cNvSpPr>
          <p:nvPr>
            <p:ph type="title"/>
          </p:nvPr>
        </p:nvSpPr>
        <p:spPr/>
        <p:txBody>
          <a:bodyPr/>
          <a:lstStyle/>
          <a:p>
            <a:r>
              <a:rPr lang="en-US" dirty="0"/>
              <a:t>Append to a File</a:t>
            </a:r>
          </a:p>
        </p:txBody>
      </p:sp>
      <p:sp>
        <p:nvSpPr>
          <p:cNvPr id="3" name="Content Placeholder 2">
            <a:extLst>
              <a:ext uri="{FF2B5EF4-FFF2-40B4-BE49-F238E27FC236}">
                <a16:creationId xmlns:a16="http://schemas.microsoft.com/office/drawing/2014/main" id="{745F5B68-A5C0-4BD2-9C99-9BC0538E494A}"/>
              </a:ext>
            </a:extLst>
          </p:cNvPr>
          <p:cNvSpPr>
            <a:spLocks noGrp="1"/>
          </p:cNvSpPr>
          <p:nvPr>
            <p:ph idx="1"/>
          </p:nvPr>
        </p:nvSpPr>
        <p:spPr>
          <a:xfrm>
            <a:off x="1218883" y="1701796"/>
            <a:ext cx="10360501" cy="4679531"/>
          </a:xfrm>
        </p:spPr>
        <p:txBody>
          <a:bodyPr>
            <a:normAutofit/>
          </a:bodyPr>
          <a:lstStyle/>
          <a:p>
            <a:r>
              <a:rPr lang="en-US" dirty="0">
                <a:cs typeface="Courier New" panose="02070309020205020404" pitchFamily="49" charset="0"/>
              </a:rPr>
              <a:t>Append data to the end of file:</a:t>
            </a:r>
            <a:br>
              <a:rPr lang="en-US" dirty="0">
                <a:latin typeface="Courier New" panose="02070309020205020404" pitchFamily="49" charset="0"/>
                <a:cs typeface="Courier New" panose="02070309020205020404" pitchFamily="49" charset="0"/>
              </a:rPr>
            </a:br>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"test.txt"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"a"</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f.write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"one more line</a:t>
            </a:r>
            <a:r>
              <a:rPr lang="en-US" b="0" dirty="0">
                <a:solidFill>
                  <a:srgbClr val="569CD6"/>
                </a:solidFill>
                <a:effectLst/>
                <a:latin typeface="Consolas" panose="020B0609020204030204" pitchFamily="49" charset="0"/>
              </a:rPr>
              <a:t>\n</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endParaRPr lang="en-US" b="0" dirty="0">
              <a:solidFill>
                <a:srgbClr val="FFFFFF"/>
              </a:solidFill>
              <a:effectLst/>
              <a:latin typeface="Consolas" panose="020B0609020204030204" pitchFamily="49" charset="0"/>
            </a:endParaRPr>
          </a:p>
          <a:p>
            <a:r>
              <a:rPr lang="en-US" dirty="0">
                <a:cs typeface="Courier New" panose="02070309020205020404" pitchFamily="49" charset="0"/>
              </a:rPr>
              <a:t>Append data to the beginning of file:</a:t>
            </a:r>
            <a:br>
              <a:rPr lang="en-US" dirty="0">
                <a:cs typeface="Courier New" panose="02070309020205020404" pitchFamily="49" charset="0"/>
              </a:rPr>
            </a:br>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"test.txt"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"r+"</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d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f.read</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f.seek</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seek to start of file</a:t>
            </a:r>
            <a:br>
              <a:rPr lang="en-US" dirty="0">
                <a:solidFill>
                  <a:srgbClr val="FFFFFF"/>
                </a:solidFill>
                <a:latin typeface="Consolas" panose="020B0609020204030204" pitchFamily="49" charset="0"/>
              </a:rPr>
            </a:br>
            <a:r>
              <a:rPr lang="en-US" dirty="0">
                <a:solidFill>
                  <a:srgbClr val="FFFFFF"/>
                </a:solidFill>
                <a:latin typeface="Consolas" panose="020B0609020204030204" pitchFamily="49" charset="0"/>
              </a:rPr>
              <a:t>    </a:t>
            </a:r>
            <a:r>
              <a:rPr lang="en-US" b="0" dirty="0" err="1">
                <a:solidFill>
                  <a:srgbClr val="FFFFFF"/>
                </a:solidFill>
                <a:effectLst/>
                <a:latin typeface="Consolas" panose="020B0609020204030204" pitchFamily="49" charset="0"/>
              </a:rPr>
              <a:t>f.write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"new line to start</a:t>
            </a:r>
            <a:r>
              <a:rPr lang="en-US" b="0" dirty="0">
                <a:solidFill>
                  <a:srgbClr val="569CD6"/>
                </a:solidFill>
                <a:effectLst/>
                <a:latin typeface="Consolas" panose="020B0609020204030204" pitchFamily="49" charset="0"/>
              </a:rPr>
              <a:t>\n</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f.write</a:t>
            </a:r>
            <a:r>
              <a:rPr lang="en-US" b="0" dirty="0">
                <a:solidFill>
                  <a:srgbClr val="FFFFFF"/>
                </a:solidFill>
                <a:effectLst/>
                <a:latin typeface="Consolas" panose="020B0609020204030204" pitchFamily="49" charset="0"/>
              </a:rPr>
              <a:t>(d)  </a:t>
            </a:r>
            <a:r>
              <a:rPr lang="en-US" b="0" dirty="0">
                <a:solidFill>
                  <a:srgbClr val="7CA668"/>
                </a:solidFill>
                <a:effectLst/>
                <a:latin typeface="Consolas" panose="020B0609020204030204" pitchFamily="49" charset="0"/>
              </a:rPr>
              <a:t># write old contents of file</a:t>
            </a: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11754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11D5F-6BCB-4E17-AA90-B112469BF658}"/>
              </a:ext>
            </a:extLst>
          </p:cNvPr>
          <p:cNvSpPr>
            <a:spLocks noGrp="1"/>
          </p:cNvSpPr>
          <p:nvPr>
            <p:ph type="title"/>
          </p:nvPr>
        </p:nvSpPr>
        <p:spPr/>
        <p:txBody>
          <a:bodyPr/>
          <a:lstStyle/>
          <a:p>
            <a:r>
              <a:rPr lang="en-US" dirty="0"/>
              <a:t>Reading and Copying Data from URLs</a:t>
            </a:r>
          </a:p>
        </p:txBody>
      </p:sp>
      <p:sp>
        <p:nvSpPr>
          <p:cNvPr id="3" name="Content Placeholder 2">
            <a:extLst>
              <a:ext uri="{FF2B5EF4-FFF2-40B4-BE49-F238E27FC236}">
                <a16:creationId xmlns:a16="http://schemas.microsoft.com/office/drawing/2014/main" id="{EFCE3966-4E5B-4398-8381-808B466C133A}"/>
              </a:ext>
            </a:extLst>
          </p:cNvPr>
          <p:cNvSpPr>
            <a:spLocks noGrp="1"/>
          </p:cNvSpPr>
          <p:nvPr>
            <p:ph idx="1"/>
          </p:nvPr>
        </p:nvSpPr>
        <p:spPr>
          <a:xfrm>
            <a:off x="1218883" y="1701796"/>
            <a:ext cx="10564161" cy="4967563"/>
          </a:xfrm>
        </p:spPr>
        <p:txBody>
          <a:bodyPr>
            <a:normAutofit fontScale="92500" lnSpcReduction="10000"/>
          </a:bodyPr>
          <a:lstStyle/>
          <a:p>
            <a:r>
              <a:rPr lang="en-US" dirty="0">
                <a:cs typeface="Courier New" panose="02070309020205020404" pitchFamily="49" charset="0"/>
              </a:rPr>
              <a:t>Reading data over HTTP from URLs work just like files. Note that returned data is always binary (bytes)</a:t>
            </a:r>
          </a:p>
          <a:p>
            <a:r>
              <a:rPr lang="fi-FI" b="0" dirty="0" err="1">
                <a:solidFill>
                  <a:srgbClr val="C586C0"/>
                </a:solidFill>
                <a:effectLst/>
                <a:latin typeface="Consolas" panose="020B0609020204030204" pitchFamily="49" charset="0"/>
              </a:rPr>
              <a:t>from</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urllib.request</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import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urlopen</a:t>
            </a:r>
            <a:br>
              <a:rPr lang="fi-FI" b="0" dirty="0">
                <a:solidFill>
                  <a:srgbClr val="FFFFFF"/>
                </a:solidFill>
                <a:effectLst/>
                <a:latin typeface="Consolas" panose="020B0609020204030204" pitchFamily="49" charset="0"/>
              </a:rPr>
            </a:br>
            <a:r>
              <a:rPr lang="fi-FI" b="0" dirty="0" err="1">
                <a:solidFill>
                  <a:srgbClr val="FFFFFF"/>
                </a:solidFill>
                <a:effectLst/>
                <a:latin typeface="Consolas" panose="020B0609020204030204" pitchFamily="49" charset="0"/>
              </a:rPr>
              <a:t>url</a:t>
            </a:r>
            <a:r>
              <a:rPr lang="fi-FI" b="0" dirty="0">
                <a:solidFill>
                  <a:srgbClr val="FFFFFF"/>
                </a:solidFill>
                <a:effectLst/>
                <a:latin typeface="Consolas" panose="020B0609020204030204" pitchFamily="49" charset="0"/>
              </a:rPr>
              <a:t>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hlinkClick r:id="rId2"/>
              </a:rPr>
              <a:t>https://yle.fi/uutiset</a:t>
            </a:r>
            <a:br>
              <a:rPr lang="fi-FI" dirty="0">
                <a:solidFill>
                  <a:srgbClr val="FFFFFF"/>
                </a:solidFill>
                <a:latin typeface="Consolas" panose="020B0609020204030204" pitchFamily="49" charset="0"/>
              </a:rPr>
            </a:br>
            <a:r>
              <a:rPr lang="fi-FI" b="0" dirty="0" err="1">
                <a:solidFill>
                  <a:srgbClr val="C586C0"/>
                </a:solidFill>
                <a:effectLst/>
                <a:latin typeface="Consolas" panose="020B0609020204030204" pitchFamily="49" charset="0"/>
              </a:rPr>
              <a:t>with</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urlopen</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url</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response</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data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response.read</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decode</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"utf-8"</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(data[:</a:t>
            </a:r>
            <a:r>
              <a:rPr lang="fi-FI" b="0" dirty="0">
                <a:solidFill>
                  <a:srgbClr val="B5CEA8"/>
                </a:solidFill>
                <a:effectLst/>
                <a:latin typeface="Consolas" panose="020B0609020204030204" pitchFamily="49" charset="0"/>
              </a:rPr>
              <a:t>1000</a:t>
            </a:r>
            <a:r>
              <a:rPr lang="fi-FI" b="0" dirty="0">
                <a:solidFill>
                  <a:srgbClr val="FFFFFF"/>
                </a:solidFill>
                <a:effectLst/>
                <a:latin typeface="Consolas" panose="020B0609020204030204" pitchFamily="49" charset="0"/>
              </a:rPr>
              <a:t>]) </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display</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only</a:t>
            </a:r>
            <a:r>
              <a:rPr lang="fi-FI" b="0" dirty="0">
                <a:solidFill>
                  <a:srgbClr val="7CA668"/>
                </a:solidFill>
                <a:effectLst/>
                <a:latin typeface="Consolas" panose="020B0609020204030204" pitchFamily="49" charset="0"/>
              </a:rPr>
              <a:t> 1000 </a:t>
            </a:r>
            <a:r>
              <a:rPr lang="fi-FI" b="0" dirty="0" err="1">
                <a:solidFill>
                  <a:srgbClr val="7CA668"/>
                </a:solidFill>
                <a:effectLst/>
                <a:latin typeface="Consolas" panose="020B0609020204030204" pitchFamily="49" charset="0"/>
              </a:rPr>
              <a:t>first</a:t>
            </a:r>
            <a:r>
              <a:rPr lang="fi-FI" b="0" dirty="0">
                <a:solidFill>
                  <a:srgbClr val="7CA668"/>
                </a:solidFill>
                <a:effectLst/>
                <a:latin typeface="Consolas" panose="020B0609020204030204" pitchFamily="49" charset="0"/>
              </a:rPr>
              <a:t> </a:t>
            </a:r>
            <a:r>
              <a:rPr lang="fi-FI" b="0" dirty="0" err="1">
                <a:solidFill>
                  <a:srgbClr val="7CA668"/>
                </a:solidFill>
                <a:effectLst/>
                <a:latin typeface="Consolas" panose="020B0609020204030204" pitchFamily="49" charset="0"/>
              </a:rPr>
              <a:t>characters</a:t>
            </a:r>
            <a:endParaRPr lang="fi-FI" b="0" dirty="0">
              <a:solidFill>
                <a:srgbClr val="FFFFFF"/>
              </a:solidFill>
              <a:effectLst/>
              <a:latin typeface="Consolas" panose="020B0609020204030204" pitchFamily="49" charset="0"/>
            </a:endParaRPr>
          </a:p>
          <a:p>
            <a:r>
              <a:rPr lang="fi-FI" b="0" dirty="0" err="1">
                <a:solidFill>
                  <a:srgbClr val="C586C0"/>
                </a:solidFill>
                <a:effectLst/>
                <a:latin typeface="Consolas" panose="020B0609020204030204" pitchFamily="49" charset="0"/>
              </a:rPr>
              <a:t>from</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urllib.request</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import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urlopen</a:t>
            </a:r>
            <a:br>
              <a:rPr lang="fi-FI" b="0" dirty="0">
                <a:solidFill>
                  <a:srgbClr val="FFFFFF"/>
                </a:solidFill>
                <a:effectLst/>
                <a:latin typeface="Consolas" panose="020B0609020204030204" pitchFamily="49" charset="0"/>
              </a:rPr>
            </a:br>
            <a:r>
              <a:rPr lang="fi-FI" b="0" dirty="0" err="1">
                <a:solidFill>
                  <a:srgbClr val="FFFFFF"/>
                </a:solidFill>
                <a:effectLst/>
                <a:latin typeface="Consolas" panose="020B0609020204030204" pitchFamily="49" charset="0"/>
              </a:rPr>
              <a:t>url</a:t>
            </a:r>
            <a:r>
              <a:rPr lang="fi-FI" b="0" dirty="0">
                <a:solidFill>
                  <a:srgbClr val="FFFFFF"/>
                </a:solidFill>
                <a:effectLst/>
                <a:latin typeface="Consolas" panose="020B0609020204030204" pitchFamily="49" charset="0"/>
              </a:rPr>
              <a:t>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hlinkClick r:id="rId3"/>
              </a:rPr>
              <a:t>https://bit.ly/2T7BDAP</a:t>
            </a:r>
            <a:br>
              <a:rPr lang="fi-FI" b="0" dirty="0">
                <a:solidFill>
                  <a:srgbClr val="CE9178"/>
                </a:solidFill>
                <a:effectLst/>
                <a:latin typeface="Consolas" panose="020B0609020204030204" pitchFamily="49" charset="0"/>
              </a:rPr>
            </a:br>
            <a:r>
              <a:rPr lang="fi-FI" b="0" dirty="0" err="1">
                <a:solidFill>
                  <a:srgbClr val="C586C0"/>
                </a:solidFill>
                <a:effectLst/>
                <a:latin typeface="Consolas" panose="020B0609020204030204" pitchFamily="49" charset="0"/>
              </a:rPr>
              <a:t>with</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urlopen</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url</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response</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data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response.read</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C586C0"/>
                </a:solidFill>
                <a:effectLst/>
                <a:latin typeface="Consolas" panose="020B0609020204030204" pitchFamily="49" charset="0"/>
              </a:rPr>
              <a:t>with</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open</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"cat.jpg"</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wb</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f:</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f.write</a:t>
            </a:r>
            <a:r>
              <a:rPr lang="fi-FI" b="0" dirty="0">
                <a:solidFill>
                  <a:srgbClr val="FFFFFF"/>
                </a:solidFill>
                <a:effectLst/>
                <a:latin typeface="Consolas" panose="020B0609020204030204" pitchFamily="49" charset="0"/>
              </a:rPr>
              <a:t>(data) </a:t>
            </a:r>
          </a:p>
          <a:p>
            <a:pPr marL="0" indent="0">
              <a:buNone/>
            </a:pPr>
            <a:endParaRPr lang="fi-FI"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842479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95E8-EC0D-4B05-8C9F-916DE87BCCEE}"/>
              </a:ext>
            </a:extLst>
          </p:cNvPr>
          <p:cNvSpPr>
            <a:spLocks noGrp="1"/>
          </p:cNvSpPr>
          <p:nvPr>
            <p:ph type="title"/>
          </p:nvPr>
        </p:nvSpPr>
        <p:spPr/>
        <p:txBody>
          <a:bodyPr/>
          <a:lstStyle/>
          <a:p>
            <a:r>
              <a:rPr lang="en-US" dirty="0"/>
              <a:t>Using </a:t>
            </a:r>
            <a:r>
              <a:rPr lang="en-US" dirty="0">
                <a:hlinkClick r:id="rId2"/>
              </a:rPr>
              <a:t>JavaScript Object Notation (JSON)</a:t>
            </a:r>
            <a:endParaRPr lang="en-US" dirty="0"/>
          </a:p>
        </p:txBody>
      </p:sp>
      <p:sp>
        <p:nvSpPr>
          <p:cNvPr id="3" name="Content Placeholder 2">
            <a:extLst>
              <a:ext uri="{FF2B5EF4-FFF2-40B4-BE49-F238E27FC236}">
                <a16:creationId xmlns:a16="http://schemas.microsoft.com/office/drawing/2014/main" id="{3C601356-CA32-4FE4-90D3-D7FD8A38F3E7}"/>
              </a:ext>
            </a:extLst>
          </p:cNvPr>
          <p:cNvSpPr>
            <a:spLocks noGrp="1"/>
          </p:cNvSpPr>
          <p:nvPr>
            <p:ph idx="1"/>
          </p:nvPr>
        </p:nvSpPr>
        <p:spPr>
          <a:xfrm>
            <a:off x="1218883" y="1701796"/>
            <a:ext cx="10708177" cy="4967564"/>
          </a:xfrm>
        </p:spPr>
        <p:txBody>
          <a:bodyPr>
            <a:normAutofit fontScale="70000" lnSpcReduction="20000"/>
          </a:bodyPr>
          <a:lstStyle/>
          <a:p>
            <a:r>
              <a:rPr lang="fi-FI" b="0" dirty="0">
                <a:solidFill>
                  <a:srgbClr val="C586C0"/>
                </a:solidFill>
                <a:effectLst/>
                <a:latin typeface="Consolas" panose="020B0609020204030204" pitchFamily="49" charset="0"/>
              </a:rPr>
              <a:t>import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json</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d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name</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example</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number</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123</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list</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1</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2</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3</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err="1">
                <a:solidFill>
                  <a:srgbClr val="C586C0"/>
                </a:solidFill>
                <a:effectLst/>
                <a:latin typeface="Consolas" panose="020B0609020204030204" pitchFamily="49" charset="0"/>
              </a:rPr>
              <a:t>with</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open</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mydata.json</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"w"</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f:</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json.dump</a:t>
            </a:r>
            <a:r>
              <a:rPr lang="fi-FI" b="0" dirty="0">
                <a:solidFill>
                  <a:srgbClr val="FFFFFF"/>
                </a:solidFill>
                <a:effectLst/>
                <a:latin typeface="Consolas" panose="020B0609020204030204" pitchFamily="49" charset="0"/>
              </a:rPr>
              <a:t>(d, f)</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json</a:t>
            </a:r>
            <a:r>
              <a:rPr lang="fi-FI" b="0" dirty="0">
                <a:solidFill>
                  <a:srgbClr val="CE9178"/>
                </a:solidFill>
                <a:effectLst/>
                <a:latin typeface="Consolas" panose="020B0609020204030204" pitchFamily="49" charset="0"/>
              </a:rPr>
              <a:t> data </a:t>
            </a:r>
            <a:r>
              <a:rPr lang="fi-FI" b="0" dirty="0" err="1">
                <a:solidFill>
                  <a:srgbClr val="CE9178"/>
                </a:solidFill>
                <a:effectLst/>
                <a:latin typeface="Consolas" panose="020B0609020204030204" pitchFamily="49" charset="0"/>
              </a:rPr>
              <a:t>saved</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endParaRPr lang="fi-FI" b="0" dirty="0">
              <a:solidFill>
                <a:srgbClr val="FFFFFF"/>
              </a:solidFill>
              <a:effectLst/>
              <a:latin typeface="Consolas" panose="020B0609020204030204" pitchFamily="49" charset="0"/>
            </a:endParaRPr>
          </a:p>
          <a:p>
            <a:r>
              <a:rPr lang="fi-FI" b="0" dirty="0" err="1">
                <a:solidFill>
                  <a:srgbClr val="C586C0"/>
                </a:solidFill>
                <a:effectLst/>
                <a:latin typeface="Consolas" panose="020B0609020204030204" pitchFamily="49" charset="0"/>
              </a:rPr>
              <a:t>with</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open</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mydata.json</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"r"</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f:</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obj</a:t>
            </a:r>
            <a:r>
              <a:rPr lang="fi-FI" b="0" dirty="0">
                <a:solidFill>
                  <a:srgbClr val="FFFFFF"/>
                </a:solidFill>
                <a:effectLst/>
                <a:latin typeface="Consolas" panose="020B0609020204030204" pitchFamily="49" charset="0"/>
              </a:rPr>
              <a:t>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json.load</a:t>
            </a:r>
            <a:r>
              <a:rPr lang="fi-FI" b="0" dirty="0">
                <a:solidFill>
                  <a:srgbClr val="FFFFFF"/>
                </a:solidFill>
                <a:effectLst/>
                <a:latin typeface="Consolas" panose="020B0609020204030204" pitchFamily="49" charset="0"/>
              </a:rPr>
              <a:t>(f)</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DCDCAA"/>
                </a:solidFill>
                <a:effectLst/>
                <a:latin typeface="Consolas" panose="020B0609020204030204" pitchFamily="49" charset="0"/>
              </a:rPr>
              <a:t>print</a:t>
            </a:r>
            <a:r>
              <a:rPr lang="fi-FI" b="0" dirty="0">
                <a:solidFill>
                  <a:srgbClr val="FFFFFF"/>
                </a:solidFill>
                <a:effectLst/>
                <a:latin typeface="Consolas" panose="020B0609020204030204" pitchFamily="49" charset="0"/>
              </a:rPr>
              <a:t>(</a:t>
            </a:r>
            <a:r>
              <a:rPr lang="fi-FI" b="0" dirty="0" err="1">
                <a:solidFill>
                  <a:srgbClr val="FFFFFF"/>
                </a:solidFill>
                <a:effectLst/>
                <a:latin typeface="Consolas" panose="020B0609020204030204" pitchFamily="49" charset="0"/>
              </a:rPr>
              <a:t>obj</a:t>
            </a:r>
            <a:r>
              <a:rPr lang="fi-FI" b="0" dirty="0">
                <a:solidFill>
                  <a:srgbClr val="FFFFFF"/>
                </a:solidFill>
                <a:effectLst/>
                <a:latin typeface="Consolas" panose="020B0609020204030204" pitchFamily="49" charset="0"/>
              </a:rPr>
              <a:t>)</a:t>
            </a:r>
            <a:endParaRPr lang="en-US" b="0" dirty="0">
              <a:solidFill>
                <a:srgbClr val="FFFFFF"/>
              </a:solidFill>
              <a:effectLst/>
              <a:latin typeface="Consolas" panose="020B0609020204030204" pitchFamily="49" charset="0"/>
            </a:endParaRPr>
          </a:p>
          <a:p>
            <a:r>
              <a:rPr lang="en-US" b="0" dirty="0">
                <a:solidFill>
                  <a:srgbClr val="FFFFFF"/>
                </a:solidFill>
                <a:effectLst/>
                <a:latin typeface="Consolas" panose="020B0609020204030204" pitchFamily="49" charset="0"/>
              </a:rPr>
              <a:t>d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"name"</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"example ÄÖ"</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"number"</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123</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"list"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a:t>
            </a:r>
            <a:br>
              <a:rPr lang="en-US" b="0" dirty="0">
                <a:solidFill>
                  <a:srgbClr val="FFFFFF"/>
                </a:solidFill>
                <a:effectLst/>
                <a:latin typeface="Consolas" panose="020B0609020204030204" pitchFamily="49" charset="0"/>
              </a:rPr>
            </a:br>
            <a:r>
              <a:rPr lang="en-US" b="0" dirty="0">
                <a:solidFill>
                  <a:srgbClr val="7CA668"/>
                </a:solidFill>
                <a:effectLst/>
                <a:latin typeface="Consolas" panose="020B0609020204030204" pitchFamily="49" charset="0"/>
              </a:rPr>
              <a:t># s is string in JSON format containing data from d</a:t>
            </a:r>
            <a:br>
              <a:rPr lang="en-US" dirty="0">
                <a:solidFill>
                  <a:srgbClr val="FFFFFF"/>
                </a:solidFill>
                <a:latin typeface="Consolas" panose="020B0609020204030204" pitchFamily="49" charset="0"/>
              </a:rPr>
            </a:br>
            <a:r>
              <a:rPr lang="en-US" b="0" dirty="0">
                <a:solidFill>
                  <a:srgbClr val="FFFFFF"/>
                </a:solidFill>
                <a:effectLst/>
                <a:latin typeface="Consolas" panose="020B0609020204030204" pitchFamily="49" charset="0"/>
              </a:rPr>
              <a:t>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json.dumps</a:t>
            </a:r>
            <a:r>
              <a:rPr lang="en-US" b="0" dirty="0">
                <a:solidFill>
                  <a:srgbClr val="FFFFFF"/>
                </a:solidFill>
                <a:effectLst/>
                <a:latin typeface="Consolas" panose="020B0609020204030204" pitchFamily="49" charset="0"/>
              </a:rPr>
              <a:t>(d)</a:t>
            </a: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a:t>
            </a:r>
            <a:br>
              <a:rPr lang="en-US" b="0" dirty="0">
                <a:solidFill>
                  <a:srgbClr val="FFFFFF"/>
                </a:solidFill>
                <a:effectLst/>
                <a:latin typeface="Consolas" panose="020B0609020204030204" pitchFamily="49" charset="0"/>
              </a:rPr>
            </a:br>
            <a:endParaRPr lang="en-US" b="0" dirty="0">
              <a:solidFill>
                <a:srgbClr val="FFFFFF"/>
              </a:solidFill>
              <a:effectLst/>
              <a:latin typeface="Consolas" panose="020B0609020204030204" pitchFamily="49" charset="0"/>
            </a:endParaRPr>
          </a:p>
          <a:p>
            <a:r>
              <a:rPr lang="en-US" b="0" dirty="0">
                <a:solidFill>
                  <a:srgbClr val="7CA668"/>
                </a:solidFill>
                <a:effectLst/>
                <a:latin typeface="Consolas" panose="020B0609020204030204" pitchFamily="49" charset="0"/>
              </a:rPr>
              <a:t># input string in JSON </a:t>
            </a:r>
            <a:r>
              <a:rPr lang="en-US" b="0" dirty="0">
                <a:solidFill>
                  <a:srgbClr val="FFFFFF"/>
                </a:solidFill>
                <a:effectLst/>
                <a:latin typeface="Consolas" panose="020B0609020204030204" pitchFamily="49" charset="0"/>
              </a:rPr>
              <a:t>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'{"list": [1, 2, 3], "number": 123, "name": "example </a:t>
            </a:r>
            <a:r>
              <a:rPr lang="en-US" b="0" dirty="0">
                <a:solidFill>
                  <a:srgbClr val="569CD6"/>
                </a:solidFill>
                <a:effectLst/>
                <a:latin typeface="Consolas" panose="020B0609020204030204" pitchFamily="49" charset="0"/>
              </a:rPr>
              <a:t>\u00c4\u00d6</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obj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json.loads</a:t>
            </a:r>
            <a:r>
              <a:rPr lang="en-US" b="0" dirty="0">
                <a:solidFill>
                  <a:srgbClr val="FFFFFF"/>
                </a:solidFill>
                <a:effectLst/>
                <a:latin typeface="Consolas" panose="020B0609020204030204" pitchFamily="49" charset="0"/>
              </a:rPr>
              <a:t>(s)</a:t>
            </a: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(obj)</a:t>
            </a: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37100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9278D-2B36-4E83-A459-A3E42C63A0BE}"/>
              </a:ext>
            </a:extLst>
          </p:cNvPr>
          <p:cNvSpPr>
            <a:spLocks noGrp="1"/>
          </p:cNvSpPr>
          <p:nvPr>
            <p:ph type="title"/>
          </p:nvPr>
        </p:nvSpPr>
        <p:spPr/>
        <p:txBody>
          <a:bodyPr/>
          <a:lstStyle/>
          <a:p>
            <a:r>
              <a:rPr lang="en-US" dirty="0"/>
              <a:t>Serialization Using Pickle</a:t>
            </a:r>
          </a:p>
        </p:txBody>
      </p:sp>
      <p:sp>
        <p:nvSpPr>
          <p:cNvPr id="3" name="Content Placeholder 2">
            <a:extLst>
              <a:ext uri="{FF2B5EF4-FFF2-40B4-BE49-F238E27FC236}">
                <a16:creationId xmlns:a16="http://schemas.microsoft.com/office/drawing/2014/main" id="{AEDFE4E9-D2C3-4F3E-8846-97C3908CB0CE}"/>
              </a:ext>
            </a:extLst>
          </p:cNvPr>
          <p:cNvSpPr>
            <a:spLocks noGrp="1"/>
          </p:cNvSpPr>
          <p:nvPr>
            <p:ph idx="1"/>
          </p:nvPr>
        </p:nvSpPr>
        <p:spPr>
          <a:xfrm>
            <a:off x="1218883" y="1701797"/>
            <a:ext cx="10360501" cy="4881566"/>
          </a:xfrm>
        </p:spPr>
        <p:txBody>
          <a:bodyPr>
            <a:normAutofit fontScale="92500" lnSpcReduction="10000"/>
          </a:bodyPr>
          <a:lstStyle/>
          <a:p>
            <a:r>
              <a:rPr lang="en-US" dirty="0"/>
              <a:t>The </a:t>
            </a:r>
            <a:r>
              <a:rPr lang="en-US" dirty="0">
                <a:hlinkClick r:id="rId2"/>
              </a:rPr>
              <a:t>pickle module</a:t>
            </a:r>
            <a:r>
              <a:rPr lang="en-US" dirty="0"/>
              <a:t> implements binary protocols for serializing and de-serializing a Python object structure. “Pickling” is the process whereby a Python object hierarchy is converted into a byte stream, and “unpickling” is the inverse operation.</a:t>
            </a:r>
          </a:p>
          <a:p>
            <a:r>
              <a:rPr lang="fi-FI" b="0" dirty="0">
                <a:solidFill>
                  <a:srgbClr val="C586C0"/>
                </a:solidFill>
                <a:effectLst/>
                <a:latin typeface="Consolas" panose="020B0609020204030204" pitchFamily="49" charset="0"/>
              </a:rPr>
              <a:t>import</a:t>
            </a: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pickle</a:t>
            </a:r>
            <a:br>
              <a:rPr lang="fi-FI" dirty="0">
                <a:solidFill>
                  <a:srgbClr val="FFFFFF"/>
                </a:solidFill>
                <a:latin typeface="Consolas" panose="020B0609020204030204" pitchFamily="49" charset="0"/>
              </a:rPr>
            </a:br>
            <a:r>
              <a:rPr lang="fi-FI" b="0" dirty="0">
                <a:solidFill>
                  <a:srgbClr val="FFFFFF"/>
                </a:solidFill>
                <a:effectLst/>
                <a:latin typeface="Consolas" panose="020B0609020204030204" pitchFamily="49" charset="0"/>
              </a:rPr>
              <a:t>d </a:t>
            </a:r>
            <a:r>
              <a:rPr lang="fi-FI" b="0" dirty="0">
                <a:solidFill>
                  <a:srgbClr val="D4D4D4"/>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name</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"ÄÖ"</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number</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123</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list</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1</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2</a:t>
            </a:r>
            <a:r>
              <a:rPr lang="fi-FI" b="0" dirty="0">
                <a:solidFill>
                  <a:srgbClr val="FFFFFF"/>
                </a:solidFill>
                <a:effectLst/>
                <a:latin typeface="Consolas" panose="020B0609020204030204" pitchFamily="49" charset="0"/>
              </a:rPr>
              <a:t>, </a:t>
            </a:r>
            <a:r>
              <a:rPr lang="fi-FI" b="0" dirty="0">
                <a:solidFill>
                  <a:srgbClr val="B5CEA8"/>
                </a:solidFill>
                <a:effectLst/>
                <a:latin typeface="Consolas" panose="020B0609020204030204" pitchFamily="49" charset="0"/>
              </a:rPr>
              <a:t>3</a:t>
            </a:r>
            <a:r>
              <a:rPr lang="fi-FI" b="0" dirty="0">
                <a:solidFill>
                  <a:srgbClr val="FFFFFF"/>
                </a:solidFill>
                <a:effectLst/>
                <a:latin typeface="Consolas" panose="020B0609020204030204" pitchFamily="49" charset="0"/>
              </a:rPr>
              <a:t>]}</a:t>
            </a:r>
            <a:br>
              <a:rPr lang="fi-FI" b="0" dirty="0">
                <a:solidFill>
                  <a:srgbClr val="FFFFFF"/>
                </a:solidFill>
                <a:effectLst/>
                <a:latin typeface="Consolas" panose="020B0609020204030204" pitchFamily="49" charset="0"/>
              </a:rPr>
            </a:br>
            <a:r>
              <a:rPr lang="fi-FI" b="0" dirty="0" err="1">
                <a:solidFill>
                  <a:srgbClr val="C586C0"/>
                </a:solidFill>
                <a:effectLst/>
                <a:latin typeface="Consolas" panose="020B0609020204030204" pitchFamily="49" charset="0"/>
              </a:rPr>
              <a:t>with</a:t>
            </a:r>
            <a:r>
              <a:rPr lang="fi-FI" b="0" dirty="0">
                <a:solidFill>
                  <a:srgbClr val="FFFFFF"/>
                </a:solidFill>
                <a:effectLst/>
                <a:latin typeface="Consolas" panose="020B0609020204030204" pitchFamily="49" charset="0"/>
              </a:rPr>
              <a:t> </a:t>
            </a:r>
            <a:r>
              <a:rPr lang="fi-FI" b="0" dirty="0">
                <a:solidFill>
                  <a:srgbClr val="DCDCAA"/>
                </a:solidFill>
                <a:effectLst/>
                <a:latin typeface="Consolas" panose="020B0609020204030204" pitchFamily="49" charset="0"/>
              </a:rPr>
              <a:t>open</a:t>
            </a:r>
            <a:r>
              <a:rPr lang="fi-FI" b="0" dirty="0">
                <a:solidFill>
                  <a:srgbClr val="FFFFFF"/>
                </a:solidFill>
                <a:effectLst/>
                <a:latin typeface="Consolas" panose="020B0609020204030204" pitchFamily="49" charset="0"/>
              </a:rPr>
              <a:t>(</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mydata.</a:t>
            </a:r>
            <a:r>
              <a:rPr lang="fi-FI" dirty="0" err="1">
                <a:solidFill>
                  <a:srgbClr val="CE9178"/>
                </a:solidFill>
                <a:latin typeface="Consolas" panose="020B0609020204030204" pitchFamily="49" charset="0"/>
              </a:rPr>
              <a:t>pickle</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E9178"/>
                </a:solidFill>
                <a:effectLst/>
                <a:latin typeface="Consolas" panose="020B0609020204030204" pitchFamily="49" charset="0"/>
              </a:rPr>
              <a:t>"</a:t>
            </a:r>
            <a:r>
              <a:rPr lang="fi-FI" b="0" dirty="0" err="1">
                <a:solidFill>
                  <a:srgbClr val="CE9178"/>
                </a:solidFill>
                <a:effectLst/>
                <a:latin typeface="Consolas" panose="020B0609020204030204" pitchFamily="49" charset="0"/>
              </a:rPr>
              <a:t>wb</a:t>
            </a:r>
            <a:r>
              <a:rPr lang="fi-FI" b="0" dirty="0">
                <a:solidFill>
                  <a:srgbClr val="CE9178"/>
                </a:solidFill>
                <a:effectLst/>
                <a:latin typeface="Consolas" panose="020B0609020204030204" pitchFamily="49" charset="0"/>
              </a:rPr>
              <a:t>"</a:t>
            </a:r>
            <a:r>
              <a:rPr lang="fi-FI" b="0" dirty="0">
                <a:solidFill>
                  <a:srgbClr val="FFFFFF"/>
                </a:solidFill>
                <a:effectLst/>
                <a:latin typeface="Consolas" panose="020B0609020204030204" pitchFamily="49" charset="0"/>
              </a:rPr>
              <a:t>) </a:t>
            </a:r>
            <a:r>
              <a:rPr lang="fi-FI" b="0" dirty="0">
                <a:solidFill>
                  <a:srgbClr val="C586C0"/>
                </a:solidFill>
                <a:effectLst/>
                <a:latin typeface="Consolas" panose="020B0609020204030204" pitchFamily="49" charset="0"/>
              </a:rPr>
              <a:t>as</a:t>
            </a:r>
            <a:r>
              <a:rPr lang="fi-FI" b="0" dirty="0">
                <a:solidFill>
                  <a:srgbClr val="FFFFFF"/>
                </a:solidFill>
                <a:effectLst/>
                <a:latin typeface="Consolas" panose="020B0609020204030204" pitchFamily="49" charset="0"/>
              </a:rPr>
              <a:t> f:</a:t>
            </a:r>
            <a:br>
              <a:rPr lang="fi-FI" b="0" dirty="0">
                <a:solidFill>
                  <a:srgbClr val="FFFFFF"/>
                </a:solidFill>
                <a:effectLst/>
                <a:latin typeface="Consolas" panose="020B0609020204030204" pitchFamily="49" charset="0"/>
              </a:rPr>
            </a:br>
            <a:r>
              <a:rPr lang="fi-FI" b="0" dirty="0">
                <a:solidFill>
                  <a:srgbClr val="FFFFFF"/>
                </a:solidFill>
                <a:effectLst/>
                <a:latin typeface="Consolas" panose="020B0609020204030204" pitchFamily="49" charset="0"/>
              </a:rPr>
              <a:t>    </a:t>
            </a:r>
            <a:r>
              <a:rPr lang="fi-FI" b="0" dirty="0" err="1">
                <a:solidFill>
                  <a:srgbClr val="FFFFFF"/>
                </a:solidFill>
                <a:effectLst/>
                <a:latin typeface="Consolas" panose="020B0609020204030204" pitchFamily="49" charset="0"/>
              </a:rPr>
              <a:t>pickle.dump</a:t>
            </a:r>
            <a:r>
              <a:rPr lang="fi-FI" b="0" dirty="0">
                <a:solidFill>
                  <a:srgbClr val="FFFFFF"/>
                </a:solidFill>
                <a:effectLst/>
                <a:latin typeface="Consolas" panose="020B0609020204030204" pitchFamily="49" charset="0"/>
              </a:rPr>
              <a:t>(d, f)</a:t>
            </a:r>
            <a:br>
              <a:rPr lang="fi-FI" b="0" dirty="0">
                <a:solidFill>
                  <a:srgbClr val="FFFFFF"/>
                </a:solidFill>
                <a:effectLst/>
                <a:latin typeface="Consolas" panose="020B0609020204030204" pitchFamily="49" charset="0"/>
              </a:rPr>
            </a:br>
            <a:endParaRPr lang="fi-FI" b="0" dirty="0">
              <a:solidFill>
                <a:srgbClr val="FFFFFF"/>
              </a:solidFill>
              <a:effectLst/>
              <a:latin typeface="Consolas" panose="020B0609020204030204" pitchFamily="49" charset="0"/>
            </a:endParaRPr>
          </a:p>
          <a:p>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pickle</a:t>
            </a: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mydata.pickle</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rb</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obj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pickle.load</a:t>
            </a:r>
            <a:r>
              <a:rPr lang="en-US" b="0" dirty="0">
                <a:solidFill>
                  <a:srgbClr val="FFFFFF"/>
                </a:solidFill>
                <a:effectLst/>
                <a:latin typeface="Consolas" panose="020B0609020204030204" pitchFamily="49" charset="0"/>
              </a:rPr>
              <a:t>(f)</a:t>
            </a: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(obj)</a:t>
            </a:r>
          </a:p>
          <a:p>
            <a:pPr marL="0" indent="0">
              <a:buNone/>
            </a:pPr>
            <a:endParaRPr lang="en-US" b="0" dirty="0">
              <a:solidFill>
                <a:srgbClr val="FFFFFF"/>
              </a:solidFill>
              <a:effectLst/>
              <a:latin typeface="Consolas" panose="020B0609020204030204" pitchFamily="49" charset="0"/>
            </a:endParaRPr>
          </a:p>
          <a:p>
            <a:pPr marL="0" indent="0">
              <a:buNone/>
            </a:pPr>
            <a:endParaRPr lang="en-US" dirty="0"/>
          </a:p>
        </p:txBody>
      </p:sp>
    </p:spTree>
    <p:extLst>
      <p:ext uri="{BB962C8B-B14F-4D97-AF65-F5344CB8AC3E}">
        <p14:creationId xmlns:p14="http://schemas.microsoft.com/office/powerpoint/2010/main" val="1153634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1DB5-475E-4E74-AD29-3063CBABE337}"/>
              </a:ext>
            </a:extLst>
          </p:cNvPr>
          <p:cNvSpPr>
            <a:spLocks noGrp="1"/>
          </p:cNvSpPr>
          <p:nvPr>
            <p:ph type="title"/>
          </p:nvPr>
        </p:nvSpPr>
        <p:spPr/>
        <p:txBody>
          <a:bodyPr/>
          <a:lstStyle/>
          <a:p>
            <a:r>
              <a:rPr lang="en-US" dirty="0"/>
              <a:t>Using math Library</a:t>
            </a:r>
          </a:p>
        </p:txBody>
      </p:sp>
      <p:sp>
        <p:nvSpPr>
          <p:cNvPr id="3" name="Content Placeholder 2">
            <a:extLst>
              <a:ext uri="{FF2B5EF4-FFF2-40B4-BE49-F238E27FC236}">
                <a16:creationId xmlns:a16="http://schemas.microsoft.com/office/drawing/2014/main" id="{DBDB4B1C-A0DD-4C60-AB20-7CF95A57F22D}"/>
              </a:ext>
            </a:extLst>
          </p:cNvPr>
          <p:cNvSpPr>
            <a:spLocks noGrp="1"/>
          </p:cNvSpPr>
          <p:nvPr>
            <p:ph idx="1"/>
          </p:nvPr>
        </p:nvSpPr>
        <p:spPr>
          <a:xfrm>
            <a:off x="1218883" y="1701797"/>
            <a:ext cx="10780185" cy="4881566"/>
          </a:xfrm>
        </p:spPr>
        <p:txBody>
          <a:bodyPr>
            <a:normAutofit fontScale="92500" lnSpcReduction="20000"/>
          </a:bodyPr>
          <a:lstStyle/>
          <a:p>
            <a:pPr marL="0" indent="0">
              <a:spcBef>
                <a:spcPts val="600"/>
              </a:spcBef>
              <a:buNone/>
            </a:pP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math</a:t>
            </a:r>
          </a:p>
          <a:p>
            <a:pPr marL="0" indent="0">
              <a:spcBef>
                <a:spcPts val="600"/>
              </a:spcBef>
              <a:buNone/>
            </a:pPr>
            <a:r>
              <a:rPr lang="en-US" b="0" dirty="0">
                <a:solidFill>
                  <a:srgbClr val="FFFFFF"/>
                </a:solidFill>
                <a:effectLst/>
                <a:latin typeface="Consolas" panose="020B0609020204030204" pitchFamily="49" charset="0"/>
              </a:rPr>
              <a:t>x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1234.5678</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"X rounded:"</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round</a:t>
            </a:r>
            <a:r>
              <a:rPr lang="en-US" b="0" dirty="0">
                <a:solidFill>
                  <a:srgbClr val="FFFFFF"/>
                </a:solidFill>
                <a:effectLst/>
                <a:latin typeface="Consolas" panose="020B0609020204030204" pitchFamily="49" charset="0"/>
              </a:rPr>
              <a:t>(x))</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"X rounded down:"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math.floor</a:t>
            </a:r>
            <a:r>
              <a:rPr lang="en-US" b="0" dirty="0">
                <a:solidFill>
                  <a:srgbClr val="FFFFFF"/>
                </a:solidFill>
                <a:effectLst/>
                <a:latin typeface="Consolas" panose="020B0609020204030204" pitchFamily="49" charset="0"/>
              </a:rPr>
              <a:t>(x))</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"X rounded up:"</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math.ceil</a:t>
            </a:r>
            <a:r>
              <a:rPr lang="en-US" b="0" dirty="0">
                <a:solidFill>
                  <a:srgbClr val="FFFFFF"/>
                </a:solidFill>
                <a:effectLst/>
                <a:latin typeface="Consolas" panose="020B0609020204030204" pitchFamily="49" charset="0"/>
              </a:rPr>
              <a:t>(x))</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"10 base logarithm of 2 is"</a:t>
            </a:r>
            <a:r>
              <a:rPr lang="en-US" b="0" dirty="0">
                <a:solidFill>
                  <a:srgbClr val="FFFFFF"/>
                </a:solidFill>
                <a:effectLst/>
                <a:latin typeface="Consolas" panose="020B0609020204030204" pitchFamily="49" charset="0"/>
              </a:rPr>
              <a:t>, math.log10(</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"Square root of 2 is"</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math.sqrt</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"e to power of 2 is"</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math.exp</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"sin(0)"</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math.sin</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"cos(0)"</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math.cos</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"tan(0)"</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math.tan</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"180 degrees in radians is"</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math.radians</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180</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"PI in degrees is"</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math.degrees</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math.pi</a:t>
            </a:r>
            <a:r>
              <a:rPr lang="en-US" b="0" dirty="0">
                <a:solidFill>
                  <a:srgbClr val="FFFFFF"/>
                </a:solidFill>
                <a:effectLst/>
                <a:latin typeface="Consolas" panose="020B0609020204030204" pitchFamily="49" charset="0"/>
              </a:rPr>
              <a:t>))</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66814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26082-E175-4A84-BFCD-34F7246626D8}"/>
              </a:ext>
            </a:extLst>
          </p:cNvPr>
          <p:cNvSpPr>
            <a:spLocks noGrp="1"/>
          </p:cNvSpPr>
          <p:nvPr>
            <p:ph type="title"/>
          </p:nvPr>
        </p:nvSpPr>
        <p:spPr/>
        <p:txBody>
          <a:bodyPr/>
          <a:lstStyle/>
          <a:p>
            <a:r>
              <a:rPr lang="en-US" dirty="0"/>
              <a:t>Pseudo-Random Numbers</a:t>
            </a:r>
          </a:p>
        </p:txBody>
      </p:sp>
      <p:sp>
        <p:nvSpPr>
          <p:cNvPr id="3" name="Content Placeholder 2">
            <a:extLst>
              <a:ext uri="{FF2B5EF4-FFF2-40B4-BE49-F238E27FC236}">
                <a16:creationId xmlns:a16="http://schemas.microsoft.com/office/drawing/2014/main" id="{8978A3D4-13F4-4A11-85D4-F99AA978A2A0}"/>
              </a:ext>
            </a:extLst>
          </p:cNvPr>
          <p:cNvSpPr>
            <a:spLocks noGrp="1"/>
          </p:cNvSpPr>
          <p:nvPr>
            <p:ph idx="1"/>
          </p:nvPr>
        </p:nvSpPr>
        <p:spPr>
          <a:xfrm>
            <a:off x="1218883" y="1701796"/>
            <a:ext cx="10360501" cy="4967563"/>
          </a:xfrm>
        </p:spPr>
        <p:txBody>
          <a:bodyPr>
            <a:normAutofit fontScale="70000" lnSpcReduction="20000"/>
          </a:bodyPr>
          <a:lstStyle/>
          <a:p>
            <a:pPr>
              <a:lnSpc>
                <a:spcPct val="120000"/>
              </a:lnSpc>
              <a:spcBef>
                <a:spcPts val="1200"/>
              </a:spcBef>
            </a:pPr>
            <a:r>
              <a:rPr lang="en-US" sz="3600" dirty="0"/>
              <a:t>Python uses the </a:t>
            </a:r>
            <a:r>
              <a:rPr lang="en-US" sz="3600" dirty="0">
                <a:hlinkClick r:id="rId2"/>
              </a:rPr>
              <a:t>Mersenne Twister</a:t>
            </a:r>
            <a:r>
              <a:rPr lang="en-US" sz="3600" dirty="0"/>
              <a:t> as the core generator. It produces 53-bit precision floats and has a period of 2**19937-1.</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a:p>
            <a:pPr marL="0" indent="0">
              <a:spcBef>
                <a:spcPts val="12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random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endParaRPr lang="en-US" b="0" dirty="0">
              <a:solidFill>
                <a:srgbClr val="FFFFFF"/>
              </a:solidFill>
              <a:effectLst/>
              <a:latin typeface="Consolas" panose="020B0609020204030204" pitchFamily="49" charset="0"/>
            </a:endParaRPr>
          </a:p>
          <a:p>
            <a:pPr marL="0" indent="0">
              <a:spcBef>
                <a:spcPts val="12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(random()) </a:t>
            </a:r>
            <a:r>
              <a:rPr lang="en-US" b="0" dirty="0">
                <a:solidFill>
                  <a:srgbClr val="7CA668"/>
                </a:solidFill>
                <a:effectLst/>
                <a:latin typeface="Consolas" panose="020B0609020204030204" pitchFamily="49" charset="0"/>
              </a:rPr>
              <a:t># random float between 0.0-1.0</a:t>
            </a:r>
            <a:endParaRPr lang="en-US" b="0" dirty="0">
              <a:solidFill>
                <a:srgbClr val="FFFFFF"/>
              </a:solidFill>
              <a:effectLst/>
              <a:latin typeface="Consolas" panose="020B0609020204030204" pitchFamily="49" charset="0"/>
            </a:endParaRPr>
          </a:p>
          <a:p>
            <a:pPr marL="0" indent="0">
              <a:spcBef>
                <a:spcPts val="12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randrange</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7</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random int between 1..6</a:t>
            </a:r>
            <a:endParaRPr lang="en-US" b="0" dirty="0">
              <a:solidFill>
                <a:srgbClr val="FFFFFF"/>
              </a:solidFill>
              <a:effectLst/>
              <a:latin typeface="Consolas" panose="020B0609020204030204" pitchFamily="49" charset="0"/>
            </a:endParaRPr>
          </a:p>
          <a:p>
            <a:pPr marL="0" indent="0">
              <a:spcBef>
                <a:spcPts val="12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randint</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6</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random int between 1..6</a:t>
            </a:r>
            <a:endParaRPr lang="en-US" b="0" dirty="0">
              <a:solidFill>
                <a:srgbClr val="FFFFFF"/>
              </a:solidFill>
              <a:effectLst/>
              <a:latin typeface="Consolas" panose="020B0609020204030204" pitchFamily="49" charset="0"/>
            </a:endParaRPr>
          </a:p>
          <a:p>
            <a:pPr marL="0" indent="0">
              <a:spcBef>
                <a:spcPts val="12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(choice([</a:t>
            </a:r>
            <a:r>
              <a:rPr lang="en-US" b="0" dirty="0">
                <a:solidFill>
                  <a:srgbClr val="CE9178"/>
                </a:solidFill>
                <a:effectLst/>
                <a:latin typeface="Consolas" panose="020B0609020204030204" pitchFamily="49" charset="0"/>
              </a:rPr>
              <a:t>"yes"</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"no"</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"maybe"</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random choice</a:t>
            </a:r>
            <a:endParaRPr lang="en-US" b="0" dirty="0">
              <a:solidFill>
                <a:srgbClr val="FFFFFF"/>
              </a:solidFill>
              <a:effectLst/>
              <a:latin typeface="Consolas" panose="020B0609020204030204" pitchFamily="49" charset="0"/>
            </a:endParaRPr>
          </a:p>
          <a:p>
            <a:pPr marL="0" indent="0">
              <a:spcBef>
                <a:spcPts val="1200"/>
              </a:spcBef>
              <a:buNone/>
            </a:pPr>
            <a:r>
              <a:rPr lang="en-US" b="0" dirty="0">
                <a:solidFill>
                  <a:srgbClr val="FFFFFF"/>
                </a:solidFill>
                <a:effectLst/>
                <a:latin typeface="Consolas" panose="020B0609020204030204" pitchFamily="49" charset="0"/>
              </a:rPr>
              <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list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range</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101</a:t>
            </a:r>
            <a:r>
              <a:rPr lang="en-US" b="0" dirty="0">
                <a:solidFill>
                  <a:srgbClr val="FFFFFF"/>
                </a:solidFill>
                <a:effectLst/>
                <a:latin typeface="Consolas" panose="020B0609020204030204" pitchFamily="49" charset="0"/>
              </a:rPr>
              <a:t>))</a:t>
            </a:r>
          </a:p>
          <a:p>
            <a:pPr marL="0" indent="0">
              <a:spcBef>
                <a:spcPts val="1200"/>
              </a:spcBef>
              <a:buNone/>
            </a:pPr>
            <a:r>
              <a:rPr lang="en-US" b="0" dirty="0">
                <a:solidFill>
                  <a:srgbClr val="FFFFFF"/>
                </a:solidFill>
                <a:effectLst/>
                <a:latin typeface="Consolas" panose="020B0609020204030204" pitchFamily="49" charset="0"/>
              </a:rPr>
              <a:t>shuffle(a)</a:t>
            </a:r>
          </a:p>
          <a:p>
            <a:pPr marL="0" indent="0">
              <a:spcBef>
                <a:spcPts val="12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a:t>
            </a:r>
          </a:p>
          <a:p>
            <a:pPr marL="0" indent="0">
              <a:spcBef>
                <a:spcPts val="1200"/>
              </a:spcBef>
              <a:buNone/>
            </a:pPr>
            <a:r>
              <a:rPr lang="en-US" b="0" dirty="0">
                <a:solidFill>
                  <a:srgbClr val="FFFFFF"/>
                </a:solidFill>
                <a:effectLst/>
                <a:latin typeface="Consolas" panose="020B0609020204030204" pitchFamily="49" charset="0"/>
              </a:rPr>
              <a:t>lottery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sample(</a:t>
            </a:r>
            <a:r>
              <a:rPr lang="en-US" b="0" dirty="0">
                <a:solidFill>
                  <a:srgbClr val="DCDCAA"/>
                </a:solidFill>
                <a:effectLst/>
                <a:latin typeface="Consolas" panose="020B0609020204030204" pitchFamily="49" charset="0"/>
              </a:rPr>
              <a:t>range</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41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7</a:t>
            </a:r>
            <a:r>
              <a:rPr lang="en-US" b="0" dirty="0">
                <a:solidFill>
                  <a:srgbClr val="FFFFFF"/>
                </a:solidFill>
                <a:effectLst/>
                <a:latin typeface="Consolas" panose="020B0609020204030204" pitchFamily="49" charset="0"/>
              </a:rPr>
              <a:t>)</a:t>
            </a:r>
          </a:p>
          <a:p>
            <a:pPr marL="0" indent="0">
              <a:spcBef>
                <a:spcPts val="12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sorted</a:t>
            </a:r>
            <a:r>
              <a:rPr lang="en-US" b="0" dirty="0">
                <a:solidFill>
                  <a:srgbClr val="FFFFFF"/>
                </a:solidFill>
                <a:effectLst/>
                <a:latin typeface="Consolas" panose="020B0609020204030204" pitchFamily="49" charset="0"/>
              </a:rPr>
              <a:t>(lottery))</a:t>
            </a:r>
          </a:p>
        </p:txBody>
      </p:sp>
    </p:spTree>
    <p:extLst>
      <p:ext uri="{BB962C8B-B14F-4D97-AF65-F5344CB8AC3E}">
        <p14:creationId xmlns:p14="http://schemas.microsoft.com/office/powerpoint/2010/main" val="57671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61330-359E-4954-A09D-8DB6DF75D27C}"/>
              </a:ext>
            </a:extLst>
          </p:cNvPr>
          <p:cNvSpPr>
            <a:spLocks noGrp="1"/>
          </p:cNvSpPr>
          <p:nvPr>
            <p:ph type="title"/>
          </p:nvPr>
        </p:nvSpPr>
        <p:spPr/>
        <p:txBody>
          <a:bodyPr/>
          <a:lstStyle/>
          <a:p>
            <a:r>
              <a:rPr lang="en-US" dirty="0"/>
              <a:t>Statistics</a:t>
            </a:r>
          </a:p>
        </p:txBody>
      </p:sp>
      <p:sp>
        <p:nvSpPr>
          <p:cNvPr id="3" name="Content Placeholder 2">
            <a:extLst>
              <a:ext uri="{FF2B5EF4-FFF2-40B4-BE49-F238E27FC236}">
                <a16:creationId xmlns:a16="http://schemas.microsoft.com/office/drawing/2014/main" id="{A41CB594-A087-49D2-A44C-BDE7E4D1283E}"/>
              </a:ext>
            </a:extLst>
          </p:cNvPr>
          <p:cNvSpPr>
            <a:spLocks noGrp="1"/>
          </p:cNvSpPr>
          <p:nvPr>
            <p:ph idx="1"/>
          </p:nvPr>
        </p:nvSpPr>
        <p:spPr/>
        <p:txBody>
          <a:bodyPr>
            <a:noAutofit/>
          </a:bodyPr>
          <a:lstStyle/>
          <a:p>
            <a:pPr marL="0" indent="0">
              <a:spcBef>
                <a:spcPts val="6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statistics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mean, median, mode</a:t>
            </a:r>
          </a:p>
          <a:p>
            <a:pPr marL="0" indent="0">
              <a:spcBef>
                <a:spcPts val="600"/>
              </a:spcBef>
              <a:buNone/>
            </a:pPr>
            <a:r>
              <a:rPr lang="en-US" b="0" dirty="0">
                <a:solidFill>
                  <a:srgbClr val="FFFFFF"/>
                </a:solidFill>
                <a:effectLst/>
                <a:latin typeface="Consolas" panose="020B0609020204030204" pitchFamily="49" charset="0"/>
              </a:rPr>
              <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4</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6</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7</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"Average:"</a:t>
            </a:r>
            <a:r>
              <a:rPr lang="en-US" b="0" dirty="0">
                <a:solidFill>
                  <a:srgbClr val="FFFFFF"/>
                </a:solidFill>
                <a:effectLst/>
                <a:latin typeface="Consolas" panose="020B0609020204030204" pitchFamily="49" charset="0"/>
              </a:rPr>
              <a:t>, mean(a))</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"Median:"</a:t>
            </a:r>
            <a:r>
              <a:rPr lang="en-US" b="0" dirty="0">
                <a:solidFill>
                  <a:srgbClr val="FFFFFF"/>
                </a:solidFill>
                <a:effectLst/>
                <a:latin typeface="Consolas" panose="020B0609020204030204" pitchFamily="49" charset="0"/>
              </a:rPr>
              <a:t>, median(a))</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"Most common:"</a:t>
            </a:r>
            <a:r>
              <a:rPr lang="en-US" b="0" dirty="0">
                <a:solidFill>
                  <a:srgbClr val="FFFFFF"/>
                </a:solidFill>
                <a:effectLst/>
                <a:latin typeface="Consolas" panose="020B0609020204030204" pitchFamily="49" charset="0"/>
              </a:rPr>
              <a:t>, mode(a))</a:t>
            </a:r>
          </a:p>
          <a:p>
            <a:pPr marL="0" indent="0">
              <a:spcBef>
                <a:spcPts val="600"/>
              </a:spcBef>
              <a:buNone/>
            </a:pP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output: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Average: 3.75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Median: 3.0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Most common: 2</a:t>
            </a:r>
          </a:p>
        </p:txBody>
      </p:sp>
    </p:spTree>
    <p:extLst>
      <p:ext uri="{BB962C8B-B14F-4D97-AF65-F5344CB8AC3E}">
        <p14:creationId xmlns:p14="http://schemas.microsoft.com/office/powerpoint/2010/main" val="998628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9017A-9ABB-4B5D-92E7-7271CF8C6124}"/>
              </a:ext>
            </a:extLst>
          </p:cNvPr>
          <p:cNvSpPr>
            <a:spLocks noGrp="1"/>
          </p:cNvSpPr>
          <p:nvPr>
            <p:ph type="title"/>
          </p:nvPr>
        </p:nvSpPr>
        <p:spPr/>
        <p:txBody>
          <a:bodyPr/>
          <a:lstStyle/>
          <a:p>
            <a:r>
              <a:rPr lang="en-US" dirty="0"/>
              <a:t>Using Datetime Module</a:t>
            </a:r>
          </a:p>
        </p:txBody>
      </p:sp>
      <p:sp>
        <p:nvSpPr>
          <p:cNvPr id="3" name="Content Placeholder 2">
            <a:extLst>
              <a:ext uri="{FF2B5EF4-FFF2-40B4-BE49-F238E27FC236}">
                <a16:creationId xmlns:a16="http://schemas.microsoft.com/office/drawing/2014/main" id="{D5722C65-838E-4290-A79C-E6A16DAB0F2C}"/>
              </a:ext>
            </a:extLst>
          </p:cNvPr>
          <p:cNvSpPr>
            <a:spLocks noGrp="1"/>
          </p:cNvSpPr>
          <p:nvPr>
            <p:ph idx="1"/>
          </p:nvPr>
        </p:nvSpPr>
        <p:spPr>
          <a:xfrm>
            <a:off x="1218883" y="1701797"/>
            <a:ext cx="10360501" cy="4881566"/>
          </a:xfrm>
        </p:spPr>
        <p:txBody>
          <a:bodyPr>
            <a:normAutofit/>
          </a:bodyPr>
          <a:lstStyle/>
          <a:p>
            <a:pPr marL="0" indent="0">
              <a:spcBef>
                <a:spcPts val="600"/>
              </a:spcBef>
              <a:buNone/>
            </a:pP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datetime</a:t>
            </a:r>
          </a:p>
          <a:p>
            <a:pPr marL="0" indent="0">
              <a:spcBef>
                <a:spcPts val="600"/>
              </a:spcBef>
              <a:buNone/>
            </a:pPr>
            <a:r>
              <a:rPr lang="en-US" b="0" dirty="0">
                <a:solidFill>
                  <a:srgbClr val="FFFFFF"/>
                </a:solidFill>
                <a:effectLst/>
                <a:latin typeface="Consolas" panose="020B0609020204030204" pitchFamily="49" charset="0"/>
              </a:rPr>
              <a:t>birth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datetime.date</a:t>
            </a:r>
            <a:r>
              <a:rPr lang="en-US" b="0" dirty="0">
                <a:solidFill>
                  <a:srgbClr val="FFFFFF"/>
                </a:solidFill>
                <a:effectLst/>
                <a:latin typeface="Consolas" panose="020B0609020204030204" pitchFamily="49" charset="0"/>
              </a:rPr>
              <a:t>(</a:t>
            </a:r>
            <a:r>
              <a:rPr lang="en-US" b="0" dirty="0">
                <a:solidFill>
                  <a:srgbClr val="B5CEA8"/>
                </a:solidFill>
                <a:effectLst/>
                <a:latin typeface="Consolas" panose="020B0609020204030204" pitchFamily="49" charset="0"/>
              </a:rPr>
              <a:t>1990</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12</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31</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now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datetime.date.today</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569CD6"/>
                </a:solidFill>
                <a:effectLst/>
                <a:latin typeface="Consolas" panose="020B0609020204030204" pitchFamily="49" charset="0"/>
              </a:rPr>
              <a:t>d</a:t>
            </a:r>
            <a:r>
              <a:rPr lang="en-US" b="0" dirty="0" err="1">
                <a:solidFill>
                  <a:srgbClr val="CE9178"/>
                </a:solidFill>
                <a:effectLst/>
                <a:latin typeface="Consolas" panose="020B0609020204030204" pitchFamily="49" charset="0"/>
              </a:rPr>
              <a:t>.</a:t>
            </a:r>
            <a:r>
              <a:rPr lang="en-US" b="0" dirty="0" err="1">
                <a:solidFill>
                  <a:srgbClr val="569CD6"/>
                </a:solidFill>
                <a:effectLst/>
                <a:latin typeface="Consolas" panose="020B0609020204030204" pitchFamily="49" charset="0"/>
              </a:rPr>
              <a:t>%d</a:t>
            </a:r>
            <a:r>
              <a:rPr lang="en-US" b="0" dirty="0" err="1">
                <a:solidFill>
                  <a:srgbClr val="CE9178"/>
                </a:solidFill>
                <a:effectLst/>
                <a:latin typeface="Consolas" panose="020B0609020204030204" pitchFamily="49" charset="0"/>
              </a:rPr>
              <a:t>.</a:t>
            </a:r>
            <a:r>
              <a:rPr lang="en-US" b="0" dirty="0" err="1">
                <a:solidFill>
                  <a:srgbClr val="569CD6"/>
                </a:solidFill>
                <a:effectLst/>
                <a:latin typeface="Consolas" panose="020B0609020204030204" pitchFamily="49" charset="0"/>
              </a:rPr>
              <a:t>%d</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now.day</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now.month</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now.year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now.strftime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569CD6"/>
                </a:solidFill>
                <a:effectLst/>
                <a:latin typeface="Consolas" panose="020B0609020204030204" pitchFamily="49" charset="0"/>
              </a:rPr>
              <a:t>d</a:t>
            </a:r>
            <a:r>
              <a:rPr lang="en-US" b="0" dirty="0" err="1">
                <a:solidFill>
                  <a:srgbClr val="CE9178"/>
                </a:solidFill>
                <a:effectLst/>
                <a:latin typeface="Consolas" panose="020B0609020204030204" pitchFamily="49" charset="0"/>
              </a:rPr>
              <a:t>.%m.%Y</a:t>
            </a:r>
            <a:r>
              <a:rPr lang="en-US" b="0" dirty="0">
                <a:solidFill>
                  <a:srgbClr val="CE9178"/>
                </a:solidFill>
                <a:effectLst/>
                <a:latin typeface="Consolas" panose="020B0609020204030204" pitchFamily="49" charset="0"/>
              </a:rPr>
              <a:t>. Month is %B."</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delta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now</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birth</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(delta)</a:t>
            </a:r>
          </a:p>
          <a:p>
            <a:pPr marL="0" indent="0">
              <a:spcBef>
                <a:spcPts val="600"/>
              </a:spcBef>
              <a:buNone/>
            </a:pPr>
            <a:r>
              <a:rPr lang="en-US" b="0" dirty="0" err="1">
                <a:solidFill>
                  <a:srgbClr val="FFFFFF"/>
                </a:solidFill>
                <a:effectLst/>
                <a:latin typeface="Consolas" panose="020B0609020204030204" pitchFamily="49" charset="0"/>
              </a:rPr>
              <a:t>week_in_future</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now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datetime.timedelta</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days</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7</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delta2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week_in_future</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now</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(delta2.days)</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4100762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53FFF-435A-48F2-91B4-77B2E7FB3E13}"/>
              </a:ext>
            </a:extLst>
          </p:cNvPr>
          <p:cNvSpPr>
            <a:spLocks noGrp="1"/>
          </p:cNvSpPr>
          <p:nvPr>
            <p:ph type="title"/>
          </p:nvPr>
        </p:nvSpPr>
        <p:spPr/>
        <p:txBody>
          <a:bodyPr/>
          <a:lstStyle/>
          <a:p>
            <a:r>
              <a:rPr lang="en-US" dirty="0"/>
              <a:t>Using </a:t>
            </a:r>
            <a:r>
              <a:rPr lang="en-US" dirty="0" err="1"/>
              <a:t>os</a:t>
            </a:r>
            <a:r>
              <a:rPr lang="en-US" dirty="0"/>
              <a:t> Module</a:t>
            </a:r>
          </a:p>
        </p:txBody>
      </p:sp>
      <p:sp>
        <p:nvSpPr>
          <p:cNvPr id="3" name="Content Placeholder 2">
            <a:extLst>
              <a:ext uri="{FF2B5EF4-FFF2-40B4-BE49-F238E27FC236}">
                <a16:creationId xmlns:a16="http://schemas.microsoft.com/office/drawing/2014/main" id="{E187C9A9-6C0C-49B2-8C3A-D1928289A536}"/>
              </a:ext>
            </a:extLst>
          </p:cNvPr>
          <p:cNvSpPr>
            <a:spLocks noGrp="1"/>
          </p:cNvSpPr>
          <p:nvPr>
            <p:ph idx="1"/>
          </p:nvPr>
        </p:nvSpPr>
        <p:spPr>
          <a:xfrm>
            <a:off x="1218883" y="1701797"/>
            <a:ext cx="10360501" cy="4881566"/>
          </a:xfrm>
        </p:spPr>
        <p:txBody>
          <a:bodyPr>
            <a:normAutofit fontScale="77500" lnSpcReduction="20000"/>
          </a:bodyPr>
          <a:lstStyle/>
          <a:p>
            <a:pPr marL="0" indent="0">
              <a:spcBef>
                <a:spcPts val="600"/>
              </a:spcBef>
              <a:buNone/>
            </a:pP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os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"current working directory"</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os.getcwd</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os.chdir</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tmp</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Change current working directory</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7CA668"/>
                </a:solidFill>
                <a:effectLst/>
                <a:latin typeface="Consolas" panose="020B0609020204030204" pitchFamily="49" charset="0"/>
              </a:rPr>
              <a:t># run system commands, which can be risky!</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os.system</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mkdir</a:t>
            </a:r>
            <a:r>
              <a:rPr lang="en-US" b="0" dirty="0">
                <a:solidFill>
                  <a:srgbClr val="CE9178"/>
                </a:solidFill>
                <a:effectLst/>
                <a:latin typeface="Consolas" panose="020B0609020204030204" pitchFamily="49" charset="0"/>
              </a:rPr>
              <a:t> example123'</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os.system</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'ls -la'</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"passwd size"</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os.lstat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etc</a:t>
            </a:r>
            <a:r>
              <a:rPr lang="en-US" b="0" dirty="0">
                <a:solidFill>
                  <a:srgbClr val="CE9178"/>
                </a:solidFill>
                <a:effectLst/>
                <a:latin typeface="Consolas" panose="020B0609020204030204" pitchFamily="49" charset="0"/>
              </a:rPr>
              <a:t>/passwd'</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st_size</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os.system</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rmdir</a:t>
            </a:r>
            <a:r>
              <a:rPr lang="en-US" b="0" dirty="0">
                <a:solidFill>
                  <a:srgbClr val="CE9178"/>
                </a:solidFill>
                <a:effectLst/>
                <a:latin typeface="Consolas" panose="020B0609020204030204" pitchFamily="49" charset="0"/>
              </a:rPr>
              <a:t> example123'</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"HOME"</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os.environ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"HOME"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"PATH"</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os.environ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"PATH"</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f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"test.txt"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"w"</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f.write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"One</a:t>
            </a:r>
            <a:r>
              <a:rPr lang="en-US" b="0" dirty="0">
                <a:solidFill>
                  <a:srgbClr val="569CD6"/>
                </a:solidFill>
                <a:effectLst/>
                <a:latin typeface="Consolas" panose="020B0609020204030204" pitchFamily="49" charset="0"/>
              </a:rPr>
              <a:t>\n</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starts write to internal buffer</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os.fsync</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f.fileno</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force changes to disk</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f.close</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os.unlink</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tmp</a:t>
            </a:r>
            <a:r>
              <a:rPr lang="en-US" b="0" dirty="0">
                <a:solidFill>
                  <a:srgbClr val="CE9178"/>
                </a:solidFill>
                <a:effectLst/>
                <a:latin typeface="Consolas" panose="020B0609020204030204" pitchFamily="49" charset="0"/>
              </a:rPr>
              <a:t>/test.txt"</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remove file</a:t>
            </a:r>
            <a:endParaRPr lang="en-US" b="0" dirty="0">
              <a:solidFill>
                <a:srgbClr val="FFFFFF"/>
              </a:solidFill>
              <a:effectLst/>
              <a:latin typeface="Consolas" panose="020B0609020204030204" pitchFamily="49" charset="0"/>
            </a:endParaRP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376721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5BB4C-7A71-4018-9C30-244A1D138BF7}"/>
              </a:ext>
            </a:extLst>
          </p:cNvPr>
          <p:cNvSpPr>
            <a:spLocks noGrp="1"/>
          </p:cNvSpPr>
          <p:nvPr>
            <p:ph type="title"/>
          </p:nvPr>
        </p:nvSpPr>
        <p:spPr/>
        <p:txBody>
          <a:bodyPr/>
          <a:lstStyle/>
          <a:p>
            <a:r>
              <a:rPr lang="en-US" dirty="0"/>
              <a:t>Using sys Module</a:t>
            </a:r>
          </a:p>
        </p:txBody>
      </p:sp>
      <p:sp>
        <p:nvSpPr>
          <p:cNvPr id="3" name="Content Placeholder 2">
            <a:extLst>
              <a:ext uri="{FF2B5EF4-FFF2-40B4-BE49-F238E27FC236}">
                <a16:creationId xmlns:a16="http://schemas.microsoft.com/office/drawing/2014/main" id="{DD90E5D4-64F3-4650-84DD-131D8FE539AA}"/>
              </a:ext>
            </a:extLst>
          </p:cNvPr>
          <p:cNvSpPr>
            <a:spLocks noGrp="1"/>
          </p:cNvSpPr>
          <p:nvPr>
            <p:ph idx="1"/>
          </p:nvPr>
        </p:nvSpPr>
        <p:spPr>
          <a:xfrm>
            <a:off x="1218883" y="1701797"/>
            <a:ext cx="10360501" cy="4881566"/>
          </a:xfrm>
        </p:spPr>
        <p:txBody>
          <a:bodyPr>
            <a:normAutofit fontScale="92500" lnSpcReduction="20000"/>
          </a:bodyPr>
          <a:lstStyle/>
          <a:p>
            <a:pPr marL="0" indent="0">
              <a:spcBef>
                <a:spcPts val="600"/>
              </a:spcBef>
              <a:buNone/>
            </a:pPr>
            <a:r>
              <a:rPr lang="fi-FI" b="0" dirty="0">
                <a:solidFill>
                  <a:srgbClr val="C586C0"/>
                </a:solidFill>
                <a:effectLst/>
                <a:latin typeface="Courier New" panose="02070309020205020404" pitchFamily="49" charset="0"/>
                <a:cs typeface="Courier New" panose="02070309020205020404" pitchFamily="49" charset="0"/>
              </a:rPr>
              <a:t>import</a:t>
            </a: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FFFFFF"/>
                </a:solidFill>
                <a:effectLst/>
                <a:latin typeface="Courier New" panose="02070309020205020404" pitchFamily="49" charset="0"/>
                <a:cs typeface="Courier New" panose="02070309020205020404" pitchFamily="49" charset="0"/>
              </a:rPr>
              <a:t>sys</a:t>
            </a:r>
            <a:endParaRPr lang="fi-FI" b="0" dirty="0">
              <a:solidFill>
                <a:srgbClr val="FFFFFF"/>
              </a:solidFill>
              <a:effectLst/>
              <a:latin typeface="Courier New" panose="02070309020205020404" pitchFamily="49" charset="0"/>
              <a:cs typeface="Courier New" panose="02070309020205020404" pitchFamily="49" charset="0"/>
            </a:endParaRPr>
          </a:p>
          <a:p>
            <a:pPr marL="0" indent="0">
              <a:spcBef>
                <a:spcPts val="600"/>
              </a:spcBef>
              <a:buNone/>
            </a:pPr>
            <a:r>
              <a:rPr lang="fi-FI" b="0" dirty="0" err="1">
                <a:solidFill>
                  <a:srgbClr val="DCDCAA"/>
                </a:solidFill>
                <a:effectLst/>
                <a:latin typeface="Courier New" panose="02070309020205020404" pitchFamily="49" charset="0"/>
                <a:cs typeface="Courier New" panose="02070309020205020404" pitchFamily="49" charset="0"/>
              </a:rPr>
              <a:t>print</a:t>
            </a:r>
            <a:r>
              <a:rPr lang="fi-FI" b="0" dirty="0">
                <a:solidFill>
                  <a:srgbClr val="FFFFFF"/>
                </a:solidFill>
                <a:effectLst/>
                <a:latin typeface="Courier New" panose="02070309020205020404" pitchFamily="49" charset="0"/>
                <a:cs typeface="Courier New" panose="02070309020205020404" pitchFamily="49" charset="0"/>
              </a:rPr>
              <a:t>(</a:t>
            </a:r>
            <a:r>
              <a:rPr lang="fi-FI" b="0" dirty="0">
                <a:solidFill>
                  <a:srgbClr val="CE9178"/>
                </a:solidFill>
                <a:effectLst/>
                <a:latin typeface="Courier New" panose="02070309020205020404" pitchFamily="49" charset="0"/>
                <a:cs typeface="Courier New" panose="02070309020205020404" pitchFamily="49" charset="0"/>
              </a:rPr>
              <a:t>"Python version:"</a:t>
            </a: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FFFFFF"/>
                </a:solidFill>
                <a:effectLst/>
                <a:latin typeface="Courier New" panose="02070309020205020404" pitchFamily="49" charset="0"/>
                <a:cs typeface="Courier New" panose="02070309020205020404" pitchFamily="49" charset="0"/>
              </a:rPr>
              <a:t>sys.version</a:t>
            </a:r>
            <a:r>
              <a:rPr lang="fi-FI" b="0" dirty="0">
                <a:solidFill>
                  <a:srgbClr val="FFFFFF"/>
                </a:solidFill>
                <a:effectLst/>
                <a:latin typeface="Courier New" panose="02070309020205020404" pitchFamily="49" charset="0"/>
                <a:cs typeface="Courier New" panose="02070309020205020404" pitchFamily="49" charset="0"/>
              </a:rPr>
              <a:t>)</a:t>
            </a:r>
          </a:p>
          <a:p>
            <a:pPr marL="0" indent="0">
              <a:spcBef>
                <a:spcPts val="600"/>
              </a:spcBef>
              <a:buNone/>
            </a:pPr>
            <a:r>
              <a:rPr lang="fi-FI" b="0" dirty="0" err="1">
                <a:solidFill>
                  <a:srgbClr val="DCDCAA"/>
                </a:solidFill>
                <a:effectLst/>
                <a:latin typeface="Courier New" panose="02070309020205020404" pitchFamily="49" charset="0"/>
                <a:cs typeface="Courier New" panose="02070309020205020404" pitchFamily="49" charset="0"/>
              </a:rPr>
              <a:t>print</a:t>
            </a:r>
            <a:r>
              <a:rPr lang="fi-FI" b="0" dirty="0">
                <a:solidFill>
                  <a:srgbClr val="FFFFFF"/>
                </a:solidFill>
                <a:effectLst/>
                <a:latin typeface="Courier New" panose="02070309020205020404" pitchFamily="49" charset="0"/>
                <a:cs typeface="Courier New" panose="02070309020205020404" pitchFamily="49" charset="0"/>
              </a:rPr>
              <a:t>(</a:t>
            </a:r>
            <a:r>
              <a:rPr lang="fi-FI" b="0" dirty="0">
                <a:solidFill>
                  <a:srgbClr val="CE9178"/>
                </a:solidFill>
                <a:effectLst/>
                <a:latin typeface="Courier New" panose="02070309020205020404" pitchFamily="49" charset="0"/>
                <a:cs typeface="Courier New" panose="02070309020205020404" pitchFamily="49" charset="0"/>
              </a:rPr>
              <a:t>"Python </a:t>
            </a:r>
            <a:r>
              <a:rPr lang="fi-FI" b="0" dirty="0" err="1">
                <a:solidFill>
                  <a:srgbClr val="CE9178"/>
                </a:solidFill>
                <a:effectLst/>
                <a:latin typeface="Courier New" panose="02070309020205020404" pitchFamily="49" charset="0"/>
                <a:cs typeface="Courier New" panose="02070309020205020404" pitchFamily="49" charset="0"/>
              </a:rPr>
              <a:t>path</a:t>
            </a:r>
            <a:r>
              <a:rPr lang="fi-FI" b="0" dirty="0">
                <a:solidFill>
                  <a:srgbClr val="CE9178"/>
                </a:solidFill>
                <a:effectLst/>
                <a:latin typeface="Courier New" panose="02070309020205020404" pitchFamily="49" charset="0"/>
                <a:cs typeface="Courier New" panose="02070309020205020404" pitchFamily="49" charset="0"/>
              </a:rPr>
              <a:t>:"</a:t>
            </a: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FFFFFF"/>
                </a:solidFill>
                <a:effectLst/>
                <a:latin typeface="Courier New" panose="02070309020205020404" pitchFamily="49" charset="0"/>
                <a:cs typeface="Courier New" panose="02070309020205020404" pitchFamily="49" charset="0"/>
              </a:rPr>
              <a:t>sys.path</a:t>
            </a:r>
            <a:r>
              <a:rPr lang="fi-FI" b="0" dirty="0">
                <a:solidFill>
                  <a:srgbClr val="FFFFFF"/>
                </a:solidFill>
                <a:effectLst/>
                <a:latin typeface="Courier New" panose="02070309020205020404" pitchFamily="49" charset="0"/>
                <a:cs typeface="Courier New" panose="02070309020205020404" pitchFamily="49" charset="0"/>
              </a:rPr>
              <a:t>)</a:t>
            </a:r>
          </a:p>
          <a:p>
            <a:pPr marL="0" indent="0">
              <a:spcBef>
                <a:spcPts val="600"/>
              </a:spcBef>
              <a:buNone/>
            </a:pPr>
            <a:r>
              <a:rPr lang="fi-FI" b="0" dirty="0" err="1">
                <a:solidFill>
                  <a:srgbClr val="DCDCAA"/>
                </a:solidFill>
                <a:effectLst/>
                <a:latin typeface="Courier New" panose="02070309020205020404" pitchFamily="49" charset="0"/>
                <a:cs typeface="Courier New" panose="02070309020205020404" pitchFamily="49" charset="0"/>
              </a:rPr>
              <a:t>print</a:t>
            </a:r>
            <a:r>
              <a:rPr lang="fi-FI" b="0" dirty="0">
                <a:solidFill>
                  <a:srgbClr val="FFFFFF"/>
                </a:solidFill>
                <a:effectLst/>
                <a:latin typeface="Courier New" panose="02070309020205020404" pitchFamily="49" charset="0"/>
                <a:cs typeface="Courier New" panose="02070309020205020404" pitchFamily="49" charset="0"/>
              </a:rPr>
              <a:t>(</a:t>
            </a:r>
            <a:r>
              <a:rPr lang="fi-FI" b="0" dirty="0">
                <a:solidFill>
                  <a:srgbClr val="CE9178"/>
                </a:solidFill>
                <a:effectLst/>
                <a:latin typeface="Courier New" panose="02070309020205020404" pitchFamily="49" charset="0"/>
                <a:cs typeface="Courier New" panose="02070309020205020404" pitchFamily="49" charset="0"/>
              </a:rPr>
              <a:t>"</a:t>
            </a:r>
            <a:r>
              <a:rPr lang="fi-FI" b="0" dirty="0" err="1">
                <a:solidFill>
                  <a:srgbClr val="CE9178"/>
                </a:solidFill>
                <a:effectLst/>
                <a:latin typeface="Courier New" panose="02070309020205020404" pitchFamily="49" charset="0"/>
                <a:cs typeface="Courier New" panose="02070309020205020404" pitchFamily="49" charset="0"/>
              </a:rPr>
              <a:t>Platform</a:t>
            </a:r>
            <a:r>
              <a:rPr lang="fi-FI" b="0" dirty="0">
                <a:solidFill>
                  <a:srgbClr val="CE9178"/>
                </a:solidFill>
                <a:effectLst/>
                <a:latin typeface="Courier New" panose="02070309020205020404" pitchFamily="49" charset="0"/>
                <a:cs typeface="Courier New" panose="02070309020205020404" pitchFamily="49" charset="0"/>
              </a:rPr>
              <a:t>:"</a:t>
            </a: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FFFFFF"/>
                </a:solidFill>
                <a:effectLst/>
                <a:latin typeface="Courier New" panose="02070309020205020404" pitchFamily="49" charset="0"/>
                <a:cs typeface="Courier New" panose="02070309020205020404" pitchFamily="49" charset="0"/>
              </a:rPr>
              <a:t>sys.platform</a:t>
            </a:r>
            <a:r>
              <a:rPr lang="fi-FI" b="0" dirty="0">
                <a:solidFill>
                  <a:srgbClr val="FFFFFF"/>
                </a:solidFill>
                <a:effectLst/>
                <a:latin typeface="Courier New" panose="02070309020205020404" pitchFamily="49" charset="0"/>
                <a:cs typeface="Courier New" panose="02070309020205020404" pitchFamily="49" charset="0"/>
              </a:rPr>
              <a:t>)</a:t>
            </a:r>
          </a:p>
          <a:p>
            <a:pPr marL="0" indent="0">
              <a:spcBef>
                <a:spcPts val="600"/>
              </a:spcBef>
              <a:buNone/>
            </a:pPr>
            <a:r>
              <a:rPr lang="fi-FI" b="0" dirty="0" err="1">
                <a:solidFill>
                  <a:srgbClr val="DCDCAA"/>
                </a:solidFill>
                <a:effectLst/>
                <a:latin typeface="Courier New" panose="02070309020205020404" pitchFamily="49" charset="0"/>
                <a:cs typeface="Courier New" panose="02070309020205020404" pitchFamily="49" charset="0"/>
              </a:rPr>
              <a:t>print</a:t>
            </a:r>
            <a:r>
              <a:rPr lang="fi-FI" b="0" dirty="0">
                <a:solidFill>
                  <a:srgbClr val="FFFFFF"/>
                </a:solidFill>
                <a:effectLst/>
                <a:latin typeface="Courier New" panose="02070309020205020404" pitchFamily="49" charset="0"/>
                <a:cs typeface="Courier New" panose="02070309020205020404" pitchFamily="49" charset="0"/>
              </a:rPr>
              <a:t>(</a:t>
            </a:r>
            <a:r>
              <a:rPr lang="fi-FI" b="0" dirty="0">
                <a:solidFill>
                  <a:srgbClr val="CE9178"/>
                </a:solidFill>
                <a:effectLst/>
                <a:latin typeface="Courier New" panose="02070309020205020404" pitchFamily="49" charset="0"/>
                <a:cs typeface="Courier New" panose="02070309020205020404" pitchFamily="49" charset="0"/>
              </a:rPr>
              <a:t>"</a:t>
            </a:r>
            <a:r>
              <a:rPr lang="fi-FI" b="0" dirty="0" err="1">
                <a:solidFill>
                  <a:srgbClr val="CE9178"/>
                </a:solidFill>
                <a:effectLst/>
                <a:latin typeface="Courier New" panose="02070309020205020404" pitchFamily="49" charset="0"/>
                <a:cs typeface="Courier New" panose="02070309020205020404" pitchFamily="49" charset="0"/>
              </a:rPr>
              <a:t>Command</a:t>
            </a:r>
            <a:r>
              <a:rPr lang="fi-FI" b="0" dirty="0">
                <a:solidFill>
                  <a:srgbClr val="CE9178"/>
                </a:solidFill>
                <a:effectLst/>
                <a:latin typeface="Courier New" panose="02070309020205020404" pitchFamily="49" charset="0"/>
                <a:cs typeface="Courier New" panose="02070309020205020404" pitchFamily="49" charset="0"/>
              </a:rPr>
              <a:t> </a:t>
            </a:r>
            <a:r>
              <a:rPr lang="fi-FI" b="0" dirty="0" err="1">
                <a:solidFill>
                  <a:srgbClr val="CE9178"/>
                </a:solidFill>
                <a:effectLst/>
                <a:latin typeface="Courier New" panose="02070309020205020404" pitchFamily="49" charset="0"/>
                <a:cs typeface="Courier New" panose="02070309020205020404" pitchFamily="49" charset="0"/>
              </a:rPr>
              <a:t>line</a:t>
            </a:r>
            <a:r>
              <a:rPr lang="fi-FI" b="0" dirty="0">
                <a:solidFill>
                  <a:srgbClr val="CE9178"/>
                </a:solidFill>
                <a:effectLst/>
                <a:latin typeface="Courier New" panose="02070309020205020404" pitchFamily="49" charset="0"/>
                <a:cs typeface="Courier New" panose="02070309020205020404" pitchFamily="49" charset="0"/>
              </a:rPr>
              <a:t> </a:t>
            </a:r>
            <a:r>
              <a:rPr lang="fi-FI" b="0" dirty="0" err="1">
                <a:solidFill>
                  <a:srgbClr val="CE9178"/>
                </a:solidFill>
                <a:effectLst/>
                <a:latin typeface="Courier New" panose="02070309020205020404" pitchFamily="49" charset="0"/>
                <a:cs typeface="Courier New" panose="02070309020205020404" pitchFamily="49" charset="0"/>
              </a:rPr>
              <a:t>arguments</a:t>
            </a:r>
            <a:r>
              <a:rPr lang="fi-FI" b="0" dirty="0">
                <a:solidFill>
                  <a:srgbClr val="CE9178"/>
                </a:solidFill>
                <a:effectLst/>
                <a:latin typeface="Courier New" panose="02070309020205020404" pitchFamily="49" charset="0"/>
                <a:cs typeface="Courier New" panose="02070309020205020404" pitchFamily="49" charset="0"/>
              </a:rPr>
              <a:t>:"</a:t>
            </a:r>
            <a:r>
              <a:rPr lang="fi-FI" b="0" dirty="0">
                <a:solidFill>
                  <a:srgbClr val="FFFFFF"/>
                </a:solidFill>
                <a:effectLst/>
                <a:latin typeface="Courier New" panose="02070309020205020404" pitchFamily="49" charset="0"/>
                <a:cs typeface="Courier New" panose="02070309020205020404" pitchFamily="49" charset="0"/>
              </a:rPr>
              <a:t>)</a:t>
            </a:r>
          </a:p>
          <a:p>
            <a:pPr marL="0" indent="0">
              <a:spcBef>
                <a:spcPts val="600"/>
              </a:spcBef>
              <a:buNone/>
            </a:pPr>
            <a:r>
              <a:rPr lang="fi-FI" b="0" dirty="0">
                <a:solidFill>
                  <a:srgbClr val="C586C0"/>
                </a:solidFill>
                <a:effectLst/>
                <a:latin typeface="Courier New" panose="02070309020205020404" pitchFamily="49" charset="0"/>
                <a:cs typeface="Courier New" panose="02070309020205020404" pitchFamily="49" charset="0"/>
              </a:rPr>
              <a:t>for</a:t>
            </a: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FFFFFF"/>
                </a:solidFill>
                <a:effectLst/>
                <a:latin typeface="Courier New" panose="02070309020205020404" pitchFamily="49" charset="0"/>
                <a:cs typeface="Courier New" panose="02070309020205020404" pitchFamily="49" charset="0"/>
              </a:rPr>
              <a:t>arg</a:t>
            </a:r>
            <a:r>
              <a:rPr lang="fi-FI" b="0" dirty="0">
                <a:solidFill>
                  <a:srgbClr val="FFFFFF"/>
                </a:solidFill>
                <a:effectLst/>
                <a:latin typeface="Courier New" panose="02070309020205020404" pitchFamily="49" charset="0"/>
                <a:cs typeface="Courier New" panose="02070309020205020404" pitchFamily="49" charset="0"/>
              </a:rPr>
              <a:t> </a:t>
            </a:r>
            <a:r>
              <a:rPr lang="fi-FI" b="0" dirty="0">
                <a:solidFill>
                  <a:srgbClr val="C586C0"/>
                </a:solidFill>
                <a:effectLst/>
                <a:latin typeface="Courier New" panose="02070309020205020404" pitchFamily="49" charset="0"/>
                <a:cs typeface="Courier New" panose="02070309020205020404" pitchFamily="49" charset="0"/>
              </a:rPr>
              <a:t>in</a:t>
            </a: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FFFFFF"/>
                </a:solidFill>
                <a:effectLst/>
                <a:latin typeface="Courier New" panose="02070309020205020404" pitchFamily="49" charset="0"/>
                <a:cs typeface="Courier New" panose="02070309020205020404" pitchFamily="49" charset="0"/>
              </a:rPr>
              <a:t>sys.argv</a:t>
            </a:r>
            <a:r>
              <a:rPr lang="fi-FI" b="0" dirty="0">
                <a:solidFill>
                  <a:srgbClr val="FFFFFF"/>
                </a:solidFill>
                <a:effectLst/>
                <a:latin typeface="Courier New" panose="02070309020205020404" pitchFamily="49" charset="0"/>
                <a:cs typeface="Courier New" panose="02070309020205020404" pitchFamily="49" charset="0"/>
              </a:rPr>
              <a:t>[</a:t>
            </a:r>
            <a:r>
              <a:rPr lang="fi-FI" b="0" dirty="0">
                <a:solidFill>
                  <a:srgbClr val="B5CEA8"/>
                </a:solidFill>
                <a:effectLst/>
                <a:latin typeface="Courier New" panose="02070309020205020404" pitchFamily="49" charset="0"/>
                <a:cs typeface="Courier New" panose="02070309020205020404" pitchFamily="49" charset="0"/>
              </a:rPr>
              <a:t>1</a:t>
            </a:r>
            <a:r>
              <a:rPr lang="fi-FI" b="0" dirty="0">
                <a:solidFill>
                  <a:srgbClr val="FFFFFF"/>
                </a:solidFill>
                <a:effectLst/>
                <a:latin typeface="Courier New" panose="02070309020205020404" pitchFamily="49" charset="0"/>
                <a:cs typeface="Courier New" panose="02070309020205020404" pitchFamily="49" charset="0"/>
              </a:rPr>
              <a:t>:]:</a:t>
            </a:r>
          </a:p>
          <a:p>
            <a:pPr marL="0" indent="0">
              <a:spcBef>
                <a:spcPts val="600"/>
              </a:spcBef>
              <a:buNone/>
            </a:pP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DCDCAA"/>
                </a:solidFill>
                <a:effectLst/>
                <a:latin typeface="Courier New" panose="02070309020205020404" pitchFamily="49" charset="0"/>
                <a:cs typeface="Courier New" panose="02070309020205020404" pitchFamily="49" charset="0"/>
              </a:rPr>
              <a:t>print</a:t>
            </a:r>
            <a:r>
              <a:rPr lang="fi-FI" b="0" dirty="0">
                <a:solidFill>
                  <a:srgbClr val="FFFFFF"/>
                </a:solidFill>
                <a:effectLst/>
                <a:latin typeface="Courier New" panose="02070309020205020404" pitchFamily="49" charset="0"/>
                <a:cs typeface="Courier New" panose="02070309020205020404" pitchFamily="49" charset="0"/>
              </a:rPr>
              <a:t>(</a:t>
            </a:r>
            <a:r>
              <a:rPr lang="fi-FI" b="0" dirty="0" err="1">
                <a:solidFill>
                  <a:srgbClr val="FFFFFF"/>
                </a:solidFill>
                <a:effectLst/>
                <a:latin typeface="Courier New" panose="02070309020205020404" pitchFamily="49" charset="0"/>
                <a:cs typeface="Courier New" panose="02070309020205020404" pitchFamily="49" charset="0"/>
              </a:rPr>
              <a:t>arg</a:t>
            </a:r>
            <a:r>
              <a:rPr lang="fi-FI" b="0" dirty="0">
                <a:solidFill>
                  <a:srgbClr val="FFFFFF"/>
                </a:solidFill>
                <a:effectLst/>
                <a:latin typeface="Courier New" panose="02070309020205020404" pitchFamily="49" charset="0"/>
                <a:cs typeface="Courier New" panose="02070309020205020404" pitchFamily="49" charset="0"/>
              </a:rPr>
              <a:t>)</a:t>
            </a:r>
          </a:p>
          <a:p>
            <a:pPr marL="0" indent="0">
              <a:spcBef>
                <a:spcPts val="600"/>
              </a:spcBef>
              <a:buNone/>
            </a:pPr>
            <a:r>
              <a:rPr lang="fi-FI" b="0" dirty="0" err="1">
                <a:solidFill>
                  <a:srgbClr val="DCDCAA"/>
                </a:solidFill>
                <a:effectLst/>
                <a:latin typeface="Courier New" panose="02070309020205020404" pitchFamily="49" charset="0"/>
                <a:cs typeface="Courier New" panose="02070309020205020404" pitchFamily="49" charset="0"/>
              </a:rPr>
              <a:t>print</a:t>
            </a:r>
            <a:r>
              <a:rPr lang="fi-FI" b="0" dirty="0">
                <a:solidFill>
                  <a:srgbClr val="FFFFFF"/>
                </a:solidFill>
                <a:effectLst/>
                <a:latin typeface="Courier New" panose="02070309020205020404" pitchFamily="49" charset="0"/>
                <a:cs typeface="Courier New" panose="02070309020205020404" pitchFamily="49" charset="0"/>
              </a:rPr>
              <a:t>(</a:t>
            </a:r>
            <a:r>
              <a:rPr lang="fi-FI" b="0" dirty="0">
                <a:solidFill>
                  <a:srgbClr val="CE9178"/>
                </a:solidFill>
                <a:effectLst/>
                <a:latin typeface="Courier New" panose="02070309020205020404" pitchFamily="49" charset="0"/>
                <a:cs typeface="Courier New" panose="02070309020205020404" pitchFamily="49" charset="0"/>
              </a:rPr>
              <a:t>"Standard </a:t>
            </a:r>
            <a:r>
              <a:rPr lang="fi-FI" b="0" dirty="0" err="1">
                <a:solidFill>
                  <a:srgbClr val="CE9178"/>
                </a:solidFill>
                <a:effectLst/>
                <a:latin typeface="Courier New" panose="02070309020205020404" pitchFamily="49" charset="0"/>
                <a:cs typeface="Courier New" panose="02070309020205020404" pitchFamily="49" charset="0"/>
              </a:rPr>
              <a:t>error</a:t>
            </a:r>
            <a:r>
              <a:rPr lang="fi-FI" b="0" dirty="0">
                <a:solidFill>
                  <a:srgbClr val="CE9178"/>
                </a:solidFill>
                <a:effectLst/>
                <a:latin typeface="Courier New" panose="02070309020205020404" pitchFamily="49" charset="0"/>
                <a:cs typeface="Courier New" panose="02070309020205020404" pitchFamily="49" charset="0"/>
              </a:rPr>
              <a:t>"</a:t>
            </a: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9CDCFE"/>
                </a:solidFill>
                <a:effectLst/>
                <a:latin typeface="Courier New" panose="02070309020205020404" pitchFamily="49" charset="0"/>
                <a:cs typeface="Courier New" panose="02070309020205020404" pitchFamily="49" charset="0"/>
              </a:rPr>
              <a:t>file</a:t>
            </a:r>
            <a:r>
              <a:rPr lang="fi-FI" b="0" dirty="0">
                <a:solidFill>
                  <a:srgbClr val="D4D4D4"/>
                </a:solidFill>
                <a:effectLst/>
                <a:latin typeface="Courier New" panose="02070309020205020404" pitchFamily="49" charset="0"/>
                <a:cs typeface="Courier New" panose="02070309020205020404" pitchFamily="49" charset="0"/>
              </a:rPr>
              <a:t>=</a:t>
            </a:r>
            <a:r>
              <a:rPr lang="fi-FI" b="0" dirty="0" err="1">
                <a:solidFill>
                  <a:srgbClr val="FFFFFF"/>
                </a:solidFill>
                <a:effectLst/>
                <a:latin typeface="Courier New" panose="02070309020205020404" pitchFamily="49" charset="0"/>
                <a:cs typeface="Courier New" panose="02070309020205020404" pitchFamily="49" charset="0"/>
              </a:rPr>
              <a:t>sys.stderr</a:t>
            </a:r>
            <a:r>
              <a:rPr lang="fi-FI" b="0" dirty="0">
                <a:solidFill>
                  <a:srgbClr val="FFFFFF"/>
                </a:solidFill>
                <a:effectLst/>
                <a:latin typeface="Courier New" panose="02070309020205020404" pitchFamily="49" charset="0"/>
                <a:cs typeface="Courier New" panose="02070309020205020404" pitchFamily="49" charset="0"/>
              </a:rPr>
              <a:t>)</a:t>
            </a:r>
          </a:p>
          <a:p>
            <a:pPr marL="0" indent="0">
              <a:spcBef>
                <a:spcPts val="600"/>
              </a:spcBef>
              <a:buNone/>
            </a:pPr>
            <a:r>
              <a:rPr lang="fi-FI" b="0" dirty="0">
                <a:solidFill>
                  <a:srgbClr val="7CA668"/>
                </a:solidFill>
                <a:effectLst/>
                <a:latin typeface="Courier New" panose="02070309020205020404" pitchFamily="49" charset="0"/>
                <a:cs typeface="Courier New" panose="02070309020205020404" pitchFamily="49" charset="0"/>
              </a:rPr>
              <a:t># </a:t>
            </a:r>
            <a:r>
              <a:rPr lang="fi-FI" b="0" dirty="0" err="1">
                <a:solidFill>
                  <a:srgbClr val="7CA668"/>
                </a:solidFill>
                <a:effectLst/>
                <a:latin typeface="Courier New" panose="02070309020205020404" pitchFamily="49" charset="0"/>
                <a:cs typeface="Courier New" panose="02070309020205020404" pitchFamily="49" charset="0"/>
              </a:rPr>
              <a:t>same</a:t>
            </a:r>
            <a:r>
              <a:rPr lang="fi-FI" b="0" dirty="0">
                <a:solidFill>
                  <a:srgbClr val="7CA668"/>
                </a:solidFill>
                <a:effectLst/>
                <a:latin typeface="Courier New" panose="02070309020205020404" pitchFamily="49" charset="0"/>
                <a:cs typeface="Courier New" panose="02070309020205020404" pitchFamily="49" charset="0"/>
              </a:rPr>
              <a:t> as </a:t>
            </a:r>
            <a:r>
              <a:rPr lang="fi-FI" b="0" dirty="0" err="1">
                <a:solidFill>
                  <a:srgbClr val="7CA668"/>
                </a:solidFill>
                <a:effectLst/>
                <a:latin typeface="Courier New" panose="02070309020205020404" pitchFamily="49" charset="0"/>
                <a:cs typeface="Courier New" panose="02070309020205020404" pitchFamily="49" charset="0"/>
              </a:rPr>
              <a:t>print</a:t>
            </a:r>
            <a:r>
              <a:rPr lang="fi-FI" b="0" dirty="0">
                <a:solidFill>
                  <a:srgbClr val="7CA668"/>
                </a:solidFill>
                <a:effectLst/>
                <a:latin typeface="Courier New" panose="02070309020205020404" pitchFamily="49" charset="0"/>
                <a:cs typeface="Courier New" panose="02070309020205020404" pitchFamily="49" charset="0"/>
              </a:rPr>
              <a:t>(input())</a:t>
            </a:r>
            <a:endParaRPr lang="fi-FI" b="0" dirty="0">
              <a:solidFill>
                <a:srgbClr val="FFFFFF"/>
              </a:solidFill>
              <a:effectLst/>
              <a:latin typeface="Courier New" panose="02070309020205020404" pitchFamily="49" charset="0"/>
              <a:cs typeface="Courier New" panose="02070309020205020404" pitchFamily="49" charset="0"/>
            </a:endParaRPr>
          </a:p>
          <a:p>
            <a:pPr marL="0" indent="0">
              <a:spcBef>
                <a:spcPts val="600"/>
              </a:spcBef>
              <a:buNone/>
            </a:pPr>
            <a:r>
              <a:rPr lang="fi-FI" b="0" dirty="0" err="1">
                <a:solidFill>
                  <a:srgbClr val="C586C0"/>
                </a:solidFill>
                <a:effectLst/>
                <a:latin typeface="Courier New" panose="02070309020205020404" pitchFamily="49" charset="0"/>
                <a:cs typeface="Courier New" panose="02070309020205020404" pitchFamily="49" charset="0"/>
              </a:rPr>
              <a:t>with</a:t>
            </a: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FFFFFF"/>
                </a:solidFill>
                <a:effectLst/>
                <a:latin typeface="Courier New" panose="02070309020205020404" pitchFamily="49" charset="0"/>
                <a:cs typeface="Courier New" panose="02070309020205020404" pitchFamily="49" charset="0"/>
              </a:rPr>
              <a:t>sys.stdin</a:t>
            </a:r>
            <a:r>
              <a:rPr lang="fi-FI" b="0" dirty="0">
                <a:solidFill>
                  <a:srgbClr val="FFFFFF"/>
                </a:solidFill>
                <a:effectLst/>
                <a:latin typeface="Courier New" panose="02070309020205020404" pitchFamily="49" charset="0"/>
                <a:cs typeface="Courier New" panose="02070309020205020404" pitchFamily="49" charset="0"/>
              </a:rPr>
              <a:t> </a:t>
            </a:r>
            <a:r>
              <a:rPr lang="fi-FI" b="0" dirty="0">
                <a:solidFill>
                  <a:srgbClr val="C586C0"/>
                </a:solidFill>
                <a:effectLst/>
                <a:latin typeface="Courier New" panose="02070309020205020404" pitchFamily="49" charset="0"/>
                <a:cs typeface="Courier New" panose="02070309020205020404" pitchFamily="49" charset="0"/>
              </a:rPr>
              <a:t>as</a:t>
            </a:r>
            <a:r>
              <a:rPr lang="fi-FI" b="0" dirty="0">
                <a:solidFill>
                  <a:srgbClr val="FFFFFF"/>
                </a:solidFill>
                <a:effectLst/>
                <a:latin typeface="Courier New" panose="02070309020205020404" pitchFamily="49" charset="0"/>
                <a:cs typeface="Courier New" panose="02070309020205020404" pitchFamily="49" charset="0"/>
              </a:rPr>
              <a:t> f:</a:t>
            </a:r>
          </a:p>
          <a:p>
            <a:pPr marL="0" indent="0">
              <a:spcBef>
                <a:spcPts val="600"/>
              </a:spcBef>
              <a:buNone/>
            </a:pPr>
            <a:r>
              <a:rPr lang="fi-FI" b="0" dirty="0">
                <a:solidFill>
                  <a:srgbClr val="FFFFFF"/>
                </a:solidFill>
                <a:effectLst/>
                <a:latin typeface="Courier New" panose="02070309020205020404" pitchFamily="49" charset="0"/>
                <a:cs typeface="Courier New" panose="02070309020205020404" pitchFamily="49" charset="0"/>
              </a:rPr>
              <a:t>    d </a:t>
            </a:r>
            <a:r>
              <a:rPr lang="fi-FI" b="0" dirty="0">
                <a:solidFill>
                  <a:srgbClr val="D4D4D4"/>
                </a:solidFill>
                <a:effectLst/>
                <a:latin typeface="Courier New" panose="02070309020205020404" pitchFamily="49" charset="0"/>
                <a:cs typeface="Courier New" panose="02070309020205020404" pitchFamily="49" charset="0"/>
              </a:rPr>
              <a:t>=</a:t>
            </a: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FFFFFF"/>
                </a:solidFill>
                <a:effectLst/>
                <a:latin typeface="Courier New" panose="02070309020205020404" pitchFamily="49" charset="0"/>
                <a:cs typeface="Courier New" panose="02070309020205020404" pitchFamily="49" charset="0"/>
              </a:rPr>
              <a:t>f.readline</a:t>
            </a:r>
            <a:r>
              <a:rPr lang="fi-FI" b="0" dirty="0">
                <a:solidFill>
                  <a:srgbClr val="FFFFFF"/>
                </a:solidFill>
                <a:effectLst/>
                <a:latin typeface="Courier New" panose="02070309020205020404" pitchFamily="49" charset="0"/>
                <a:cs typeface="Courier New" panose="02070309020205020404" pitchFamily="49" charset="0"/>
              </a:rPr>
              <a:t>()</a:t>
            </a:r>
          </a:p>
          <a:p>
            <a:pPr marL="0" indent="0">
              <a:spcBef>
                <a:spcPts val="600"/>
              </a:spcBef>
              <a:buNone/>
            </a:pPr>
            <a:r>
              <a:rPr lang="fi-FI" b="0" dirty="0">
                <a:solidFill>
                  <a:srgbClr val="FFFFFF"/>
                </a:solidFill>
                <a:effectLst/>
                <a:latin typeface="Courier New" panose="02070309020205020404" pitchFamily="49" charset="0"/>
                <a:cs typeface="Courier New" panose="02070309020205020404" pitchFamily="49" charset="0"/>
              </a:rPr>
              <a:t>    </a:t>
            </a:r>
            <a:r>
              <a:rPr lang="fi-FI" b="0" dirty="0" err="1">
                <a:solidFill>
                  <a:srgbClr val="DCDCAA"/>
                </a:solidFill>
                <a:effectLst/>
                <a:latin typeface="Courier New" panose="02070309020205020404" pitchFamily="49" charset="0"/>
                <a:cs typeface="Courier New" panose="02070309020205020404" pitchFamily="49" charset="0"/>
              </a:rPr>
              <a:t>print</a:t>
            </a:r>
            <a:r>
              <a:rPr lang="fi-FI" b="0" dirty="0">
                <a:solidFill>
                  <a:srgbClr val="FFFFFF"/>
                </a:solidFill>
                <a:effectLst/>
                <a:latin typeface="Courier New" panose="02070309020205020404" pitchFamily="49" charset="0"/>
                <a:cs typeface="Courier New" panose="02070309020205020404" pitchFamily="49" charset="0"/>
              </a:rPr>
              <a:t>(d)</a:t>
            </a:r>
          </a:p>
          <a:p>
            <a:pPr marL="0" indent="0">
              <a:spcBef>
                <a:spcPts val="600"/>
              </a:spcBef>
              <a:buNone/>
            </a:pPr>
            <a:r>
              <a:rPr lang="fi-FI" b="0" dirty="0" err="1">
                <a:solidFill>
                  <a:srgbClr val="FFFFFF"/>
                </a:solidFill>
                <a:effectLst/>
                <a:latin typeface="Courier New" panose="02070309020205020404" pitchFamily="49" charset="0"/>
                <a:cs typeface="Courier New" panose="02070309020205020404" pitchFamily="49" charset="0"/>
              </a:rPr>
              <a:t>sys.exit</a:t>
            </a:r>
            <a:r>
              <a:rPr lang="fi-FI" b="0" dirty="0">
                <a:solidFill>
                  <a:srgbClr val="FFFFFF"/>
                </a:solidFill>
                <a:effectLst/>
                <a:latin typeface="Courier New" panose="02070309020205020404" pitchFamily="49" charset="0"/>
                <a:cs typeface="Courier New" panose="02070309020205020404" pitchFamily="49" charset="0"/>
              </a:rPr>
              <a:t>(</a:t>
            </a:r>
            <a:r>
              <a:rPr lang="fi-FI" b="0" dirty="0">
                <a:solidFill>
                  <a:srgbClr val="B5CEA8"/>
                </a:solidFill>
                <a:effectLst/>
                <a:latin typeface="Courier New" panose="02070309020205020404" pitchFamily="49" charset="0"/>
                <a:cs typeface="Courier New" panose="02070309020205020404" pitchFamily="49" charset="0"/>
              </a:rPr>
              <a:t>0</a:t>
            </a:r>
            <a:r>
              <a:rPr lang="fi-FI" b="0" dirty="0">
                <a:solidFill>
                  <a:srgbClr val="FFFFFF"/>
                </a:solidFill>
                <a:effectLst/>
                <a:latin typeface="Courier New" panose="02070309020205020404" pitchFamily="49" charset="0"/>
                <a:cs typeface="Courier New" panose="02070309020205020404" pitchFamily="49" charset="0"/>
              </a:rPr>
              <a:t>)</a:t>
            </a:r>
          </a:p>
          <a:p>
            <a:pPr marL="0" indent="0">
              <a:spcBef>
                <a:spcPts val="600"/>
              </a:spcBef>
              <a:buNone/>
            </a:pPr>
            <a:endParaRPr lang="fi-FI" b="0" dirty="0">
              <a:solidFill>
                <a:srgbClr val="FFFFFF"/>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73569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3D95-E6AC-45E3-845F-1EA4D4EC163F}"/>
              </a:ext>
            </a:extLst>
          </p:cNvPr>
          <p:cNvSpPr>
            <a:spLocks noGrp="1"/>
          </p:cNvSpPr>
          <p:nvPr>
            <p:ph type="title"/>
          </p:nvPr>
        </p:nvSpPr>
        <p:spPr/>
        <p:txBody>
          <a:bodyPr/>
          <a:lstStyle/>
          <a:p>
            <a:r>
              <a:rPr lang="en-US" dirty="0"/>
              <a:t>Enumerations</a:t>
            </a:r>
          </a:p>
        </p:txBody>
      </p:sp>
      <p:sp>
        <p:nvSpPr>
          <p:cNvPr id="3" name="Content Placeholder 2">
            <a:extLst>
              <a:ext uri="{FF2B5EF4-FFF2-40B4-BE49-F238E27FC236}">
                <a16:creationId xmlns:a16="http://schemas.microsoft.com/office/drawing/2014/main" id="{6A492416-A039-40BC-9DDF-D4F8003AAD4B}"/>
              </a:ext>
            </a:extLst>
          </p:cNvPr>
          <p:cNvSpPr>
            <a:spLocks noGrp="1"/>
          </p:cNvSpPr>
          <p:nvPr>
            <p:ph idx="1"/>
          </p:nvPr>
        </p:nvSpPr>
        <p:spPr>
          <a:xfrm>
            <a:off x="1218883" y="1701796"/>
            <a:ext cx="10360501" cy="4881567"/>
          </a:xfrm>
        </p:spPr>
        <p:txBody>
          <a:bodyPr>
            <a:normAutofit fontScale="62500" lnSpcReduction="20000"/>
          </a:bodyPr>
          <a:lstStyle/>
          <a:p>
            <a:pPr marL="0" indent="0">
              <a:spcBef>
                <a:spcPts val="6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enum</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Enum, auto</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err="1">
                <a:solidFill>
                  <a:srgbClr val="4EC9B0"/>
                </a:solidFill>
                <a:effectLst/>
                <a:latin typeface="Consolas" panose="020B0609020204030204" pitchFamily="49" charset="0"/>
              </a:rPr>
              <a:t>IceCream</a:t>
            </a:r>
            <a:r>
              <a:rPr lang="en-US" b="0" dirty="0">
                <a:solidFill>
                  <a:srgbClr val="FFFFFF"/>
                </a:solidFill>
                <a:effectLst/>
                <a:latin typeface="Consolas" panose="020B0609020204030204" pitchFamily="49" charset="0"/>
              </a:rPr>
              <a:t>(</a:t>
            </a:r>
            <a:r>
              <a:rPr lang="en-US" b="0" dirty="0">
                <a:solidFill>
                  <a:srgbClr val="4EC9B0"/>
                </a:solidFill>
                <a:effectLst/>
                <a:latin typeface="Consolas" panose="020B0609020204030204" pitchFamily="49" charset="0"/>
              </a:rPr>
              <a:t>Enum</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VANILLA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CHOCOLATE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2</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STRAWBERRY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3</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MINT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B5CEA8"/>
                </a:solidFill>
                <a:effectLst/>
                <a:latin typeface="Consolas" panose="020B0609020204030204" pitchFamily="49" charset="0"/>
              </a:rPr>
              <a:t>4</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icecream</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IceCream</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icecream</a:t>
            </a:r>
            <a:r>
              <a:rPr lang="en-US" b="0" dirty="0">
                <a:solidFill>
                  <a:srgbClr val="FFFFFF"/>
                </a:solidFill>
                <a:effectLst/>
                <a:latin typeface="Consolas" panose="020B0609020204030204" pitchFamily="49" charset="0"/>
              </a:rPr>
              <a:t>)</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Suits</a:t>
            </a:r>
            <a:r>
              <a:rPr lang="en-US" b="0" dirty="0">
                <a:solidFill>
                  <a:srgbClr val="FFFFFF"/>
                </a:solidFill>
                <a:effectLst/>
                <a:latin typeface="Consolas" panose="020B0609020204030204" pitchFamily="49" charset="0"/>
              </a:rPr>
              <a:t>(</a:t>
            </a:r>
            <a:r>
              <a:rPr lang="en-US" b="0" dirty="0">
                <a:solidFill>
                  <a:srgbClr val="4EC9B0"/>
                </a:solidFill>
                <a:effectLst/>
                <a:latin typeface="Consolas" panose="020B0609020204030204" pitchFamily="49" charset="0"/>
              </a:rPr>
              <a:t>Enum</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hearts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auto()</a:t>
            </a:r>
          </a:p>
          <a:p>
            <a:pPr marL="0" indent="0">
              <a:spcBef>
                <a:spcPts val="600"/>
              </a:spcBef>
              <a:buNone/>
            </a:pPr>
            <a:r>
              <a:rPr lang="en-US" b="0" dirty="0">
                <a:solidFill>
                  <a:srgbClr val="FFFFFF"/>
                </a:solidFill>
                <a:effectLst/>
                <a:latin typeface="Consolas" panose="020B0609020204030204" pitchFamily="49" charset="0"/>
              </a:rPr>
              <a:t>    spades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auto()</a:t>
            </a:r>
          </a:p>
          <a:p>
            <a:pPr marL="0" indent="0">
              <a:spcBef>
                <a:spcPts val="600"/>
              </a:spcBef>
              <a:buNone/>
            </a:pPr>
            <a:r>
              <a:rPr lang="en-US" b="0" dirty="0">
                <a:solidFill>
                  <a:srgbClr val="FFFFFF"/>
                </a:solidFill>
                <a:effectLst/>
                <a:latin typeface="Consolas" panose="020B0609020204030204" pitchFamily="49" charset="0"/>
              </a:rPr>
              <a:t>    clubs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auto()</a:t>
            </a:r>
          </a:p>
          <a:p>
            <a:pPr marL="0" indent="0">
              <a:spcBef>
                <a:spcPts val="600"/>
              </a:spcBef>
              <a:buNone/>
            </a:pPr>
            <a:r>
              <a:rPr lang="en-US" b="0" dirty="0">
                <a:solidFill>
                  <a:srgbClr val="FFFFFF"/>
                </a:solidFill>
                <a:effectLst/>
                <a:latin typeface="Consolas" panose="020B0609020204030204" pitchFamily="49" charset="0"/>
              </a:rPr>
              <a:t>    diamonds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auto()</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suit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Suits:</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(suit)</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416122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E6BA-7916-4BBB-8624-0CAE22A57177}"/>
              </a:ext>
            </a:extLst>
          </p:cNvPr>
          <p:cNvSpPr>
            <a:spLocks noGrp="1"/>
          </p:cNvSpPr>
          <p:nvPr>
            <p:ph type="title"/>
          </p:nvPr>
        </p:nvSpPr>
        <p:spPr/>
        <p:txBody>
          <a:bodyPr/>
          <a:lstStyle/>
          <a:p>
            <a:r>
              <a:rPr lang="en-US" dirty="0"/>
              <a:t>Using SQLite3</a:t>
            </a:r>
          </a:p>
        </p:txBody>
      </p:sp>
      <p:sp>
        <p:nvSpPr>
          <p:cNvPr id="3" name="Content Placeholder 2">
            <a:extLst>
              <a:ext uri="{FF2B5EF4-FFF2-40B4-BE49-F238E27FC236}">
                <a16:creationId xmlns:a16="http://schemas.microsoft.com/office/drawing/2014/main" id="{F2871A1B-395E-4033-8A0F-2657340FDF29}"/>
              </a:ext>
            </a:extLst>
          </p:cNvPr>
          <p:cNvSpPr>
            <a:spLocks noGrp="1"/>
          </p:cNvSpPr>
          <p:nvPr>
            <p:ph idx="1"/>
          </p:nvPr>
        </p:nvSpPr>
        <p:spPr>
          <a:xfrm>
            <a:off x="1218883" y="1701797"/>
            <a:ext cx="10360501" cy="4881566"/>
          </a:xfrm>
        </p:spPr>
        <p:txBody>
          <a:bodyPr>
            <a:normAutofit fontScale="70000" lnSpcReduction="20000"/>
          </a:bodyPr>
          <a:lstStyle/>
          <a:p>
            <a:pPr marL="0" indent="0">
              <a:spcBef>
                <a:spcPts val="600"/>
              </a:spcBef>
              <a:buNone/>
            </a:pPr>
            <a:r>
              <a:rPr lang="en-US" b="0" dirty="0">
                <a:solidFill>
                  <a:srgbClr val="7CA668"/>
                </a:solidFill>
                <a:effectLst/>
                <a:latin typeface="Consolas" panose="020B0609020204030204" pitchFamily="49" charset="0"/>
              </a:rPr>
              <a:t># SQLite comes inbuilt with Python</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7CA668"/>
                </a:solidFill>
                <a:effectLst/>
                <a:latin typeface="Consolas" panose="020B0609020204030204" pitchFamily="49" charset="0"/>
              </a:rPr>
              <a:t># Good enough for testing and small usage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sqlite3</a:t>
            </a:r>
          </a:p>
          <a:p>
            <a:pPr marL="0" indent="0">
              <a:spcBef>
                <a:spcPts val="600"/>
              </a:spcBef>
              <a:buNone/>
            </a:pPr>
            <a:r>
              <a:rPr lang="en-US" b="0" dirty="0">
                <a:solidFill>
                  <a:srgbClr val="FFFFFF"/>
                </a:solidFill>
                <a:effectLst/>
                <a:latin typeface="Consolas" panose="020B0609020204030204" pitchFamily="49" charset="0"/>
              </a:rPr>
              <a:t>conn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sqlite3.connect(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mydatabase.</a:t>
            </a:r>
            <a:r>
              <a:rPr lang="en-US" dirty="0" err="1">
                <a:solidFill>
                  <a:srgbClr val="CE9178"/>
                </a:solidFill>
                <a:latin typeface="Consolas" panose="020B0609020204030204" pitchFamily="49" charset="0"/>
              </a:rPr>
              <a:t>db</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":memory" for memory only</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c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conn.cursor</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"CREATE TABLE IF NOT EXISTS persons (id int, name text) "</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"insert into persons values(1, 'Jack')"</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"insert into persons values(2, 'Jill')"</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"insert into persons values(3, 'Bob')"</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conn.commit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id</a:t>
            </a:r>
            <a:r>
              <a:rPr lang="en-US" b="0" dirty="0">
                <a:solidFill>
                  <a:srgbClr val="FFFFFF"/>
                </a:solidFill>
                <a:effectLst/>
                <a:latin typeface="Consolas" panose="020B0609020204030204" pitchFamily="49" charset="0"/>
              </a:rPr>
              <a:t>, name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"select * from persons"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id</a:t>
            </a:r>
            <a:r>
              <a:rPr lang="en-US" b="0" dirty="0">
                <a:solidFill>
                  <a:srgbClr val="FFFFFF"/>
                </a:solidFill>
                <a:effectLst/>
                <a:latin typeface="Consolas" panose="020B0609020204030204" pitchFamily="49" charset="0"/>
              </a:rPr>
              <a:t>, name)</a:t>
            </a:r>
          </a:p>
          <a:p>
            <a:pPr marL="0" indent="0">
              <a:spcBef>
                <a:spcPts val="600"/>
              </a:spcBef>
              <a:buNone/>
            </a:pPr>
            <a:br>
              <a:rPr lang="en-US" b="0" dirty="0">
                <a:solidFill>
                  <a:srgbClr val="FFFFFF"/>
                </a:solidFill>
                <a:effectLst/>
                <a:latin typeface="Consolas" panose="020B0609020204030204" pitchFamily="49" charset="0"/>
              </a:rPr>
            </a:b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"drop table persons"</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clean up</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conn.commit</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conn.close</a:t>
            </a:r>
            <a:r>
              <a:rPr lang="en-US"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2929247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EB42D-30AB-4941-8317-E9B94D37A3E8}"/>
              </a:ext>
            </a:extLst>
          </p:cNvPr>
          <p:cNvSpPr>
            <a:spLocks noGrp="1"/>
          </p:cNvSpPr>
          <p:nvPr>
            <p:ph type="title"/>
          </p:nvPr>
        </p:nvSpPr>
        <p:spPr/>
        <p:txBody>
          <a:bodyPr/>
          <a:lstStyle/>
          <a:p>
            <a:r>
              <a:rPr lang="en-US" dirty="0"/>
              <a:t>Using MySQL</a:t>
            </a:r>
          </a:p>
        </p:txBody>
      </p:sp>
      <p:sp>
        <p:nvSpPr>
          <p:cNvPr id="3" name="Content Placeholder 2">
            <a:extLst>
              <a:ext uri="{FF2B5EF4-FFF2-40B4-BE49-F238E27FC236}">
                <a16:creationId xmlns:a16="http://schemas.microsoft.com/office/drawing/2014/main" id="{D781E1EE-58CC-482B-BB55-8036638604C3}"/>
              </a:ext>
            </a:extLst>
          </p:cNvPr>
          <p:cNvSpPr>
            <a:spLocks noGrp="1"/>
          </p:cNvSpPr>
          <p:nvPr>
            <p:ph idx="1"/>
          </p:nvPr>
        </p:nvSpPr>
        <p:spPr>
          <a:xfrm>
            <a:off x="1218883" y="1701796"/>
            <a:ext cx="10360501" cy="4967563"/>
          </a:xfrm>
        </p:spPr>
        <p:txBody>
          <a:bodyPr>
            <a:normAutofit fontScale="55000" lnSpcReduction="20000"/>
          </a:bodyPr>
          <a:lstStyle/>
          <a:p>
            <a:pPr marL="0" indent="0">
              <a:spcBef>
                <a:spcPts val="600"/>
              </a:spcBef>
              <a:buNone/>
            </a:pPr>
            <a:r>
              <a:rPr lang="en-US" b="0" dirty="0">
                <a:solidFill>
                  <a:srgbClr val="7CA668"/>
                </a:solidFill>
                <a:effectLst/>
                <a:latin typeface="Consolas" panose="020B0609020204030204" pitchFamily="49" charset="0"/>
              </a:rPr>
              <a:t>#  first you must install and start MySQL server, create user, database, </a:t>
            </a:r>
            <a:r>
              <a:rPr lang="fi-FI" b="0" dirty="0" err="1">
                <a:solidFill>
                  <a:srgbClr val="7CA668"/>
                </a:solidFill>
                <a:effectLst/>
                <a:latin typeface="Consolas" panose="020B0609020204030204" pitchFamily="49" charset="0"/>
              </a:rPr>
              <a:t>mysqlclient</a:t>
            </a:r>
            <a:r>
              <a:rPr lang="fi-FI" dirty="0">
                <a:solidFill>
                  <a:srgbClr val="FFFFFF"/>
                </a:solidFill>
                <a:latin typeface="Consolas" panose="020B0609020204030204" pitchFamily="49" charset="0"/>
              </a:rPr>
              <a:t> </a:t>
            </a:r>
            <a:r>
              <a:rPr lang="en-US" dirty="0">
                <a:solidFill>
                  <a:srgbClr val="7CA668"/>
                </a:solidFill>
                <a:latin typeface="Consolas" panose="020B0609020204030204" pitchFamily="49" charset="0"/>
              </a:rPr>
              <a:t>module</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MySQLdb</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conn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MySQLdb.connect</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host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"localhost"</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user</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user_name</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passwd</a:t>
            </a:r>
            <a:r>
              <a:rPr lang="en-US" b="0" dirty="0">
                <a:solidFill>
                  <a:srgbClr val="D4D4D4"/>
                </a:solidFill>
                <a:effectLst/>
                <a:latin typeface="Consolas" panose="020B0609020204030204" pitchFamily="49" charset="0"/>
              </a:rPr>
              <a:t>=</a:t>
            </a:r>
            <a:r>
              <a:rPr lang="en-US" dirty="0">
                <a:solidFill>
                  <a:srgbClr val="CE9178"/>
                </a:solidFill>
                <a:latin typeface="Consolas" panose="020B0609020204030204" pitchFamily="49" charset="0"/>
              </a:rPr>
              <a:t>"password</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db</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database_name</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c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conn.cursor</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"CREATE TABLE IF NOT EXISTS persons (id int, name varchar(200))"</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"insert into persons values(1, 'Jack')"</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"insert into persons values(2, 'Jill')"</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"insert into persons values(3, 'Bob')"</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conn.commit</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"select * from persons"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id</a:t>
            </a:r>
            <a:r>
              <a:rPr lang="en-US" b="0" dirty="0">
                <a:solidFill>
                  <a:srgbClr val="FFFFFF"/>
                </a:solidFill>
                <a:effectLst/>
                <a:latin typeface="Consolas" panose="020B0609020204030204" pitchFamily="49" charset="0"/>
              </a:rPr>
              <a:t>, name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c.fetchall</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id</a:t>
            </a:r>
            <a:r>
              <a:rPr lang="en-US" b="0" dirty="0">
                <a:solidFill>
                  <a:srgbClr val="FFFFFF"/>
                </a:solidFill>
                <a:effectLst/>
                <a:latin typeface="Consolas" panose="020B0609020204030204" pitchFamily="49" charset="0"/>
              </a:rPr>
              <a:t>, name)</a:t>
            </a:r>
          </a:p>
          <a:p>
            <a:pPr marL="0" indent="0">
              <a:spcBef>
                <a:spcPts val="600"/>
              </a:spcBef>
              <a:buNone/>
            </a:pPr>
            <a:br>
              <a:rPr lang="en-US" b="0" dirty="0">
                <a:solidFill>
                  <a:srgbClr val="FFFFFF"/>
                </a:solidFill>
                <a:effectLst/>
                <a:latin typeface="Consolas" panose="020B0609020204030204" pitchFamily="49" charset="0"/>
              </a:rPr>
            </a:b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"drop table persons"</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clean up</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conn.commit</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c.close</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conn.close</a:t>
            </a:r>
            <a:r>
              <a:rPr lang="en-US"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3579094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F3CA9-DB2D-4B6B-A21F-1ACA6EEBE483}"/>
              </a:ext>
            </a:extLst>
          </p:cNvPr>
          <p:cNvSpPr>
            <a:spLocks noGrp="1"/>
          </p:cNvSpPr>
          <p:nvPr>
            <p:ph type="title"/>
          </p:nvPr>
        </p:nvSpPr>
        <p:spPr/>
        <p:txBody>
          <a:bodyPr/>
          <a:lstStyle/>
          <a:p>
            <a:r>
              <a:rPr lang="en-US" dirty="0"/>
              <a:t>Using PostgreSQL</a:t>
            </a:r>
          </a:p>
        </p:txBody>
      </p:sp>
      <p:sp>
        <p:nvSpPr>
          <p:cNvPr id="3" name="Content Placeholder 2">
            <a:extLst>
              <a:ext uri="{FF2B5EF4-FFF2-40B4-BE49-F238E27FC236}">
                <a16:creationId xmlns:a16="http://schemas.microsoft.com/office/drawing/2014/main" id="{FBE5A9E7-ECD2-4F6E-818D-C951EA506DA2}"/>
              </a:ext>
            </a:extLst>
          </p:cNvPr>
          <p:cNvSpPr>
            <a:spLocks noGrp="1"/>
          </p:cNvSpPr>
          <p:nvPr>
            <p:ph idx="1"/>
          </p:nvPr>
        </p:nvSpPr>
        <p:spPr>
          <a:xfrm>
            <a:off x="1218883" y="1701797"/>
            <a:ext cx="10360501" cy="4881566"/>
          </a:xfrm>
        </p:spPr>
        <p:txBody>
          <a:bodyPr>
            <a:normAutofit fontScale="55000" lnSpcReduction="20000"/>
          </a:bodyPr>
          <a:lstStyle/>
          <a:p>
            <a:pPr marL="0" indent="0">
              <a:spcBef>
                <a:spcPts val="600"/>
              </a:spcBef>
              <a:buNone/>
            </a:pPr>
            <a:r>
              <a:rPr lang="en-US" b="0" dirty="0">
                <a:solidFill>
                  <a:srgbClr val="7CA668"/>
                </a:solidFill>
                <a:effectLst/>
                <a:latin typeface="Consolas" panose="020B0609020204030204" pitchFamily="49" charset="0"/>
              </a:rPr>
              <a:t># first you must install and start PostgreSQL server, create user, database, psycopg</a:t>
            </a:r>
            <a:r>
              <a:rPr lang="en-US" dirty="0">
                <a:solidFill>
                  <a:srgbClr val="7CA668"/>
                </a:solidFill>
                <a:latin typeface="Consolas" panose="020B0609020204030204" pitchFamily="49" charset="0"/>
              </a:rPr>
              <a:t>2 module</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psycopg2</a:t>
            </a:r>
          </a:p>
          <a:p>
            <a:pPr marL="0" indent="0">
              <a:spcBef>
                <a:spcPts val="600"/>
              </a:spcBef>
              <a:buNone/>
            </a:pPr>
            <a:r>
              <a:rPr lang="en-US" b="0" dirty="0">
                <a:solidFill>
                  <a:srgbClr val="FFFFFF"/>
                </a:solidFill>
                <a:effectLst/>
                <a:latin typeface="Consolas" panose="020B0609020204030204" pitchFamily="49" charset="0"/>
              </a:rPr>
              <a:t>conn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psycopg2.connect(</a:t>
            </a:r>
            <a:r>
              <a:rPr lang="en-US" b="0" dirty="0">
                <a:solidFill>
                  <a:srgbClr val="9CDCFE"/>
                </a:solidFill>
                <a:effectLst/>
                <a:latin typeface="Consolas" panose="020B0609020204030204" pitchFamily="49" charset="0"/>
              </a:rPr>
              <a:t>host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"localhost"</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dbname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database_name</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user</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user_name</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password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"password"</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c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conn.cursor</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"CREATE TABLE IF NOT EXISTS persons"</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"(id integer primary key, name varchar)"</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"insert into persons values(1, 'Jack')"</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"insert into persons values(2, 'Jill')"</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"insert into persons values(3, 'Bob')"</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conn.commit</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"select * from persons"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id</a:t>
            </a:r>
            <a:r>
              <a:rPr lang="en-US" b="0" dirty="0">
                <a:solidFill>
                  <a:srgbClr val="FFFFFF"/>
                </a:solidFill>
                <a:effectLst/>
                <a:latin typeface="Consolas" panose="020B0609020204030204" pitchFamily="49" charset="0"/>
              </a:rPr>
              <a:t>, name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c.fetchall</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DCDCAA"/>
                </a:solidFill>
                <a:effectLst/>
                <a:latin typeface="Consolas" panose="020B0609020204030204" pitchFamily="49" charset="0"/>
              </a:rPr>
              <a:t>id</a:t>
            </a:r>
            <a:r>
              <a:rPr lang="en-US" b="0" dirty="0">
                <a:solidFill>
                  <a:srgbClr val="FFFFFF"/>
                </a:solidFill>
                <a:effectLst/>
                <a:latin typeface="Consolas" panose="020B0609020204030204" pitchFamily="49" charset="0"/>
              </a:rPr>
              <a:t>, name)</a:t>
            </a:r>
          </a:p>
          <a:p>
            <a:pPr marL="0" indent="0">
              <a:spcBef>
                <a:spcPts val="600"/>
              </a:spcBef>
              <a:buNone/>
            </a:pPr>
            <a:br>
              <a:rPr lang="en-US" b="0" dirty="0">
                <a:solidFill>
                  <a:srgbClr val="FFFFFF"/>
                </a:solidFill>
                <a:effectLst/>
                <a:latin typeface="Consolas" panose="020B0609020204030204" pitchFamily="49" charset="0"/>
              </a:rPr>
            </a:br>
            <a:r>
              <a:rPr lang="en-US" b="0" dirty="0" err="1">
                <a:solidFill>
                  <a:srgbClr val="FFFFFF"/>
                </a:solidFill>
                <a:effectLst/>
                <a:latin typeface="Consolas" panose="020B0609020204030204" pitchFamily="49" charset="0"/>
              </a:rPr>
              <a:t>c.execute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"drop table persons"</a:t>
            </a: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clean up</a:t>
            </a:r>
            <a:endParaRPr lang="en-US" b="0" dirty="0">
              <a:solidFill>
                <a:srgbClr val="FFFFFF"/>
              </a:solidFill>
              <a:effectLst/>
              <a:latin typeface="Consolas" panose="020B0609020204030204" pitchFamily="49" charset="0"/>
            </a:endParaRPr>
          </a:p>
          <a:p>
            <a:pPr marL="0" indent="0">
              <a:spcBef>
                <a:spcPts val="600"/>
              </a:spcBef>
              <a:buNone/>
            </a:pPr>
            <a:r>
              <a:rPr lang="en-US" b="0" dirty="0" err="1">
                <a:solidFill>
                  <a:srgbClr val="FFFFFF"/>
                </a:solidFill>
                <a:effectLst/>
                <a:latin typeface="Consolas" panose="020B0609020204030204" pitchFamily="49" charset="0"/>
              </a:rPr>
              <a:t>conn.commit</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c.close</a:t>
            </a:r>
            <a:r>
              <a:rPr lang="en-US" b="0" dirty="0">
                <a:solidFill>
                  <a:srgbClr val="FFFFFF"/>
                </a:solidFill>
                <a:effectLst/>
                <a:latin typeface="Consolas" panose="020B0609020204030204" pitchFamily="49" charset="0"/>
              </a:rPr>
              <a:t>()</a:t>
            </a:r>
          </a:p>
          <a:p>
            <a:pPr marL="0" indent="0">
              <a:spcBef>
                <a:spcPts val="600"/>
              </a:spcBef>
              <a:buNone/>
            </a:pPr>
            <a:r>
              <a:rPr lang="en-US" b="0" dirty="0" err="1">
                <a:solidFill>
                  <a:srgbClr val="FFFFFF"/>
                </a:solidFill>
                <a:effectLst/>
                <a:latin typeface="Consolas" panose="020B0609020204030204" pitchFamily="49" charset="0"/>
              </a:rPr>
              <a:t>conn.close</a:t>
            </a:r>
            <a:r>
              <a:rPr lang="en-US" b="0" dirty="0">
                <a:solidFill>
                  <a:srgbClr val="FFFFFF"/>
                </a:solidFill>
                <a:effectLst/>
                <a:latin typeface="Consolas" panose="020B0609020204030204" pitchFamily="49" charset="0"/>
              </a:rPr>
              <a:t>()</a:t>
            </a:r>
          </a:p>
        </p:txBody>
      </p:sp>
    </p:spTree>
    <p:extLst>
      <p:ext uri="{BB962C8B-B14F-4D97-AF65-F5344CB8AC3E}">
        <p14:creationId xmlns:p14="http://schemas.microsoft.com/office/powerpoint/2010/main" val="1169513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ACE7-EAC2-4491-8085-ABF1C7C05391}"/>
              </a:ext>
            </a:extLst>
          </p:cNvPr>
          <p:cNvSpPr>
            <a:spLocks noGrp="1"/>
          </p:cNvSpPr>
          <p:nvPr>
            <p:ph type="title"/>
          </p:nvPr>
        </p:nvSpPr>
        <p:spPr/>
        <p:txBody>
          <a:bodyPr/>
          <a:lstStyle/>
          <a:p>
            <a:r>
              <a:rPr lang="en-US" dirty="0"/>
              <a:t>Timing Things</a:t>
            </a:r>
          </a:p>
        </p:txBody>
      </p:sp>
      <p:sp>
        <p:nvSpPr>
          <p:cNvPr id="3" name="Content Placeholder 2">
            <a:extLst>
              <a:ext uri="{FF2B5EF4-FFF2-40B4-BE49-F238E27FC236}">
                <a16:creationId xmlns:a16="http://schemas.microsoft.com/office/drawing/2014/main" id="{C5BBF370-636C-4E07-B3D5-53DC1E52C0EA}"/>
              </a:ext>
            </a:extLst>
          </p:cNvPr>
          <p:cNvSpPr>
            <a:spLocks noGrp="1"/>
          </p:cNvSpPr>
          <p:nvPr>
            <p:ph idx="1"/>
          </p:nvPr>
        </p:nvSpPr>
        <p:spPr>
          <a:xfrm>
            <a:off x="1218883" y="1701796"/>
            <a:ext cx="10708177" cy="5039571"/>
          </a:xfrm>
        </p:spPr>
        <p:txBody>
          <a:bodyPr>
            <a:normAutofit fontScale="62500" lnSpcReduction="20000"/>
          </a:bodyPr>
          <a:lstStyle/>
          <a:p>
            <a:pPr marL="0" indent="0">
              <a:spcBef>
                <a:spcPts val="6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timeit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Timer</a:t>
            </a:r>
          </a:p>
          <a:p>
            <a:pPr marL="0" indent="0">
              <a:spcBef>
                <a:spcPts val="600"/>
              </a:spcBef>
              <a:buNone/>
            </a:pPr>
            <a:r>
              <a:rPr lang="en-US" b="0" dirty="0">
                <a:solidFill>
                  <a:srgbClr val="7CA668"/>
                </a:solidFill>
                <a:effectLst/>
                <a:latin typeface="Consolas" panose="020B0609020204030204" pitchFamily="49" charset="0"/>
              </a:rPr>
              <a:t># manually construct a list of squares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(Timer(</a:t>
            </a:r>
            <a:r>
              <a:rPr lang="en-US" b="0" dirty="0">
                <a:solidFill>
                  <a:srgbClr val="CE9178"/>
                </a:solidFill>
                <a:effectLst/>
                <a:latin typeface="Consolas" panose="020B0609020204030204" pitchFamily="49" charset="0"/>
              </a:rPr>
              <a:t>'a=[];</a:t>
            </a:r>
            <a:r>
              <a:rPr lang="en-US" b="0" dirty="0">
                <a:solidFill>
                  <a:srgbClr val="569CD6"/>
                </a:solidFill>
                <a:effectLst/>
                <a:latin typeface="Consolas" panose="020B0609020204030204" pitchFamily="49" charset="0"/>
              </a:rPr>
              <a:t>\</a:t>
            </a:r>
            <a:r>
              <a:rPr lang="en-US" b="0" dirty="0" err="1">
                <a:solidFill>
                  <a:srgbClr val="569CD6"/>
                </a:solidFill>
                <a:effectLst/>
                <a:latin typeface="Consolas" panose="020B0609020204030204" pitchFamily="49" charset="0"/>
              </a:rPr>
              <a:t>n</a:t>
            </a:r>
            <a:r>
              <a:rPr lang="en-US" b="0" dirty="0" err="1">
                <a:solidFill>
                  <a:srgbClr val="CE9178"/>
                </a:solidFill>
                <a:effectLst/>
                <a:latin typeface="Consolas" panose="020B0609020204030204" pitchFamily="49" charset="0"/>
              </a:rPr>
              <a:t>for</a:t>
            </a:r>
            <a:r>
              <a:rPr lang="en-US" b="0" dirty="0">
                <a:solidFill>
                  <a:srgbClr val="CE9178"/>
                </a:solidFill>
                <a:effectLst/>
                <a:latin typeface="Consolas" panose="020B0609020204030204" pitchFamily="49" charset="0"/>
              </a:rPr>
              <a:t> x in range(1,100001): </a:t>
            </a:r>
            <a:r>
              <a:rPr lang="en-US" b="0" dirty="0" err="1">
                <a:solidFill>
                  <a:srgbClr val="CE9178"/>
                </a:solidFill>
                <a:effectLst/>
                <a:latin typeface="Consolas" panose="020B0609020204030204" pitchFamily="49" charset="0"/>
              </a:rPr>
              <a:t>a.append</a:t>
            </a:r>
            <a:r>
              <a:rPr lang="en-US" b="0" dirty="0">
                <a:solidFill>
                  <a:srgbClr val="CE9178"/>
                </a:solidFill>
                <a:effectLst/>
                <a:latin typeface="Consolas" panose="020B0609020204030204" pitchFamily="49" charset="0"/>
              </a:rPr>
              <a:t>(x*x)'</a:t>
            </a:r>
            <a:r>
              <a:rPr lang="en-US" b="0" dirty="0">
                <a:solidFill>
                  <a:srgbClr val="FFFFFF"/>
                </a:solidFill>
                <a:effectLst/>
                <a:latin typeface="Consolas" panose="020B0609020204030204" pitchFamily="49" charset="0"/>
              </a:rPr>
              <a:t>).timeit(</a:t>
            </a:r>
            <a:r>
              <a:rPr lang="en-US" b="0" dirty="0">
                <a:solidFill>
                  <a:srgbClr val="9CDCFE"/>
                </a:solidFill>
                <a:effectLst/>
                <a:latin typeface="Consolas" panose="020B0609020204030204" pitchFamily="49" charset="0"/>
              </a:rPr>
              <a:t>number</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7CA668"/>
                </a:solidFill>
                <a:effectLst/>
                <a:latin typeface="Consolas" panose="020B0609020204030204" pitchFamily="49" charset="0"/>
              </a:rPr>
              <a:t># use list comprehension</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(Timer(</a:t>
            </a:r>
            <a:r>
              <a:rPr lang="en-US" b="0" dirty="0">
                <a:solidFill>
                  <a:srgbClr val="CE9178"/>
                </a:solidFill>
                <a:effectLst/>
                <a:latin typeface="Consolas" panose="020B0609020204030204" pitchFamily="49" charset="0"/>
              </a:rPr>
              <a:t>'[x*x for x in range(1,100001)]'</a:t>
            </a:r>
            <a:r>
              <a:rPr lang="en-US" b="0" dirty="0">
                <a:solidFill>
                  <a:srgbClr val="FFFFFF"/>
                </a:solidFill>
                <a:effectLst/>
                <a:latin typeface="Consolas" panose="020B0609020204030204" pitchFamily="49" charset="0"/>
              </a:rPr>
              <a:t>).timeit(</a:t>
            </a:r>
            <a:r>
              <a:rPr lang="en-US" b="0" dirty="0">
                <a:solidFill>
                  <a:srgbClr val="9CDCFE"/>
                </a:solidFill>
                <a:effectLst/>
                <a:latin typeface="Consolas" panose="020B0609020204030204" pitchFamily="49" charset="0"/>
              </a:rPr>
              <a:t>number</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7CA668"/>
                </a:solidFill>
                <a:effectLst/>
                <a:latin typeface="Consolas" panose="020B0609020204030204" pitchFamily="49" charset="0"/>
              </a:rPr>
              <a:t># use generators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(Timer(</a:t>
            </a:r>
            <a:r>
              <a:rPr lang="en-US" b="0" dirty="0">
                <a:solidFill>
                  <a:srgbClr val="CE9178"/>
                </a:solidFill>
                <a:effectLst/>
                <a:latin typeface="Consolas" panose="020B0609020204030204" pitchFamily="49" charset="0"/>
              </a:rPr>
              <a:t>'list(x*x for x in range(1,100001))'</a:t>
            </a:r>
            <a:r>
              <a:rPr lang="en-US" b="0" dirty="0">
                <a:solidFill>
                  <a:srgbClr val="FFFFFF"/>
                </a:solidFill>
                <a:effectLst/>
                <a:latin typeface="Consolas" panose="020B0609020204030204" pitchFamily="49" charset="0"/>
              </a:rPr>
              <a:t>).timeit(</a:t>
            </a:r>
            <a:r>
              <a:rPr lang="en-US" b="0" dirty="0">
                <a:solidFill>
                  <a:srgbClr val="9CDCFE"/>
                </a:solidFill>
                <a:effectLst/>
                <a:latin typeface="Consolas" panose="020B0609020204030204" pitchFamily="49" charset="0"/>
              </a:rPr>
              <a:t>number</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7CA668"/>
                </a:solidFill>
                <a:effectLst/>
                <a:latin typeface="Consolas" panose="020B0609020204030204" pitchFamily="49" charset="0"/>
              </a:rPr>
              <a:t># Multiply x by 32</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(Timer(</a:t>
            </a:r>
            <a:r>
              <a:rPr lang="en-US" b="0" dirty="0">
                <a:solidFill>
                  <a:srgbClr val="CE9178"/>
                </a:solidFill>
                <a:effectLst/>
                <a:latin typeface="Consolas" panose="020B0609020204030204" pitchFamily="49" charset="0"/>
              </a:rPr>
              <a:t>'x=13;x*32'</a:t>
            </a:r>
            <a:r>
              <a:rPr lang="en-US" b="0" dirty="0">
                <a:solidFill>
                  <a:srgbClr val="FFFFFF"/>
                </a:solidFill>
                <a:effectLst/>
                <a:latin typeface="Consolas" panose="020B0609020204030204" pitchFamily="49" charset="0"/>
              </a:rPr>
              <a:t>).timeit())</a:t>
            </a:r>
          </a:p>
          <a:p>
            <a:pPr marL="0" indent="0">
              <a:spcBef>
                <a:spcPts val="600"/>
              </a:spcBef>
              <a:buNone/>
            </a:pPr>
            <a:r>
              <a:rPr lang="en-US" b="0" dirty="0">
                <a:solidFill>
                  <a:srgbClr val="7CA668"/>
                </a:solidFill>
                <a:effectLst/>
                <a:latin typeface="Consolas" panose="020B0609020204030204" pitchFamily="49" charset="0"/>
              </a:rPr>
              <a:t># Shift x 5 bits left, same as *32</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(Timer(</a:t>
            </a:r>
            <a:r>
              <a:rPr lang="en-US" b="0" dirty="0">
                <a:solidFill>
                  <a:srgbClr val="CE9178"/>
                </a:solidFill>
                <a:effectLst/>
                <a:latin typeface="Consolas" panose="020B0609020204030204" pitchFamily="49" charset="0"/>
              </a:rPr>
              <a:t>'x=13;x&lt;&lt;5'</a:t>
            </a:r>
            <a:r>
              <a:rPr lang="en-US" b="0" dirty="0">
                <a:solidFill>
                  <a:srgbClr val="FFFFFF"/>
                </a:solidFill>
                <a:effectLst/>
                <a:latin typeface="Consolas" panose="020B0609020204030204" pitchFamily="49" charset="0"/>
              </a:rPr>
              <a:t>).timeit())</a:t>
            </a:r>
            <a:endParaRPr lang="fi-FI" b="0" dirty="0">
              <a:solidFill>
                <a:srgbClr val="FFFFFF"/>
              </a:solidFill>
              <a:effectLst/>
              <a:latin typeface="Consolas" panose="020B0609020204030204" pitchFamily="49" charset="0"/>
            </a:endParaRPr>
          </a:p>
          <a:p>
            <a:pPr marL="0" indent="0">
              <a:spcBef>
                <a:spcPts val="600"/>
              </a:spcBef>
              <a:buNone/>
            </a:pP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results:</a:t>
            </a:r>
            <a:br>
              <a:rPr lang="en-US" dirty="0">
                <a:latin typeface="Courier New" panose="02070309020205020404" pitchFamily="49" charset="0"/>
                <a:cs typeface="Courier New" panose="02070309020205020404" pitchFamily="49" charset="0"/>
              </a:rPr>
            </a:b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0.0410432</a:t>
            </a:r>
          </a:p>
          <a:p>
            <a:pPr marL="0" indent="0">
              <a:spcBef>
                <a:spcPts val="600"/>
              </a:spcBef>
              <a:buNone/>
            </a:pPr>
            <a:r>
              <a:rPr lang="en-US" dirty="0">
                <a:latin typeface="Courier New" panose="02070309020205020404" pitchFamily="49" charset="0"/>
                <a:cs typeface="Courier New" panose="02070309020205020404" pitchFamily="49" charset="0"/>
              </a:rPr>
              <a:t>0.028866600000000006</a:t>
            </a:r>
          </a:p>
          <a:p>
            <a:pPr marL="0" indent="0">
              <a:spcBef>
                <a:spcPts val="600"/>
              </a:spcBef>
              <a:buNone/>
            </a:pPr>
            <a:r>
              <a:rPr lang="en-US" dirty="0">
                <a:latin typeface="Courier New" panose="02070309020205020404" pitchFamily="49" charset="0"/>
                <a:cs typeface="Courier New" panose="02070309020205020404" pitchFamily="49" charset="0"/>
              </a:rPr>
              <a:t>0.0378222</a:t>
            </a:r>
          </a:p>
          <a:p>
            <a:pPr marL="0" indent="0">
              <a:spcBef>
                <a:spcPts val="600"/>
              </a:spcBef>
              <a:buNone/>
            </a:pPr>
            <a:r>
              <a:rPr lang="en-US" dirty="0">
                <a:latin typeface="Courier New" panose="02070309020205020404" pitchFamily="49" charset="0"/>
                <a:cs typeface="Courier New" panose="02070309020205020404" pitchFamily="49" charset="0"/>
              </a:rPr>
              <a:t>0.03077479999999999</a:t>
            </a:r>
          </a:p>
          <a:p>
            <a:pPr marL="0" indent="0">
              <a:spcBef>
                <a:spcPts val="600"/>
              </a:spcBef>
              <a:buNone/>
            </a:pPr>
            <a:r>
              <a:rPr lang="en-US" dirty="0">
                <a:latin typeface="Courier New" panose="02070309020205020404" pitchFamily="49" charset="0"/>
                <a:cs typeface="Courier New" panose="02070309020205020404" pitchFamily="49" charset="0"/>
              </a:rPr>
              <a:t>0.031482800000000005</a:t>
            </a:r>
          </a:p>
        </p:txBody>
      </p:sp>
    </p:spTree>
    <p:extLst>
      <p:ext uri="{BB962C8B-B14F-4D97-AF65-F5344CB8AC3E}">
        <p14:creationId xmlns:p14="http://schemas.microsoft.com/office/powerpoint/2010/main" val="1672119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1864D-8791-4572-A86A-93B4AEACF2A7}"/>
              </a:ext>
            </a:extLst>
          </p:cNvPr>
          <p:cNvSpPr>
            <a:spLocks noGrp="1"/>
          </p:cNvSpPr>
          <p:nvPr>
            <p:ph type="title"/>
          </p:nvPr>
        </p:nvSpPr>
        <p:spPr/>
        <p:txBody>
          <a:bodyPr/>
          <a:lstStyle/>
          <a:p>
            <a:r>
              <a:rPr lang="en-US" dirty="0"/>
              <a:t>Using HTML Parser to Find All Links from a Web Page</a:t>
            </a:r>
          </a:p>
        </p:txBody>
      </p:sp>
      <p:sp>
        <p:nvSpPr>
          <p:cNvPr id="3" name="Content Placeholder 2">
            <a:extLst>
              <a:ext uri="{FF2B5EF4-FFF2-40B4-BE49-F238E27FC236}">
                <a16:creationId xmlns:a16="http://schemas.microsoft.com/office/drawing/2014/main" id="{F41A4345-E850-4AD8-9229-740FBA863308}"/>
              </a:ext>
            </a:extLst>
          </p:cNvPr>
          <p:cNvSpPr>
            <a:spLocks noGrp="1"/>
          </p:cNvSpPr>
          <p:nvPr>
            <p:ph idx="1"/>
          </p:nvPr>
        </p:nvSpPr>
        <p:spPr>
          <a:xfrm>
            <a:off x="1218883" y="1701796"/>
            <a:ext cx="10360501" cy="4967563"/>
          </a:xfrm>
        </p:spPr>
        <p:txBody>
          <a:bodyPr>
            <a:normAutofit fontScale="70000" lnSpcReduction="20000"/>
          </a:bodyPr>
          <a:lstStyle/>
          <a:p>
            <a:pPr marL="0" indent="0">
              <a:spcBef>
                <a:spcPts val="6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html.parser</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HTMLParser</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urllib.request</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urlopen</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569CD6"/>
                </a:solidFill>
                <a:effectLst/>
                <a:latin typeface="Consolas" panose="020B0609020204030204" pitchFamily="49" charset="0"/>
              </a:rPr>
              <a:t>class</a:t>
            </a:r>
            <a:r>
              <a:rPr lang="en-US" b="0" dirty="0">
                <a:solidFill>
                  <a:srgbClr val="FFFFFF"/>
                </a:solidFill>
                <a:effectLst/>
                <a:latin typeface="Consolas" panose="020B0609020204030204" pitchFamily="49" charset="0"/>
              </a:rPr>
              <a:t> </a:t>
            </a:r>
            <a:r>
              <a:rPr lang="en-US" b="0" dirty="0" err="1">
                <a:solidFill>
                  <a:srgbClr val="4EC9B0"/>
                </a:solidFill>
                <a:effectLst/>
                <a:latin typeface="Consolas" panose="020B0609020204030204" pitchFamily="49" charset="0"/>
              </a:rPr>
              <a:t>MyHTMLParser</a:t>
            </a:r>
            <a:r>
              <a:rPr lang="en-US" b="0" dirty="0">
                <a:solidFill>
                  <a:srgbClr val="FFFFFF"/>
                </a:solidFill>
                <a:effectLst/>
                <a:latin typeface="Consolas" panose="020B0609020204030204" pitchFamily="49" charset="0"/>
              </a:rPr>
              <a:t>(</a:t>
            </a:r>
            <a:r>
              <a:rPr lang="en-US" b="0" dirty="0" err="1">
                <a:solidFill>
                  <a:srgbClr val="4EC9B0"/>
                </a:solidFill>
                <a:effectLst/>
                <a:latin typeface="Consolas" panose="020B0609020204030204" pitchFamily="49" charset="0"/>
              </a:rPr>
              <a:t>HTMLParser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handle_starttag</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self</a:t>
            </a:r>
            <a:r>
              <a:rPr lang="en-US" b="0" dirty="0">
                <a:solidFill>
                  <a:srgbClr val="FFFFFF"/>
                </a:solidFill>
                <a:effectLst/>
                <a:latin typeface="Consolas" panose="020B0609020204030204" pitchFamily="49" charset="0"/>
              </a:rPr>
              <a:t>, </a:t>
            </a:r>
            <a:r>
              <a:rPr lang="en-US" b="0" dirty="0">
                <a:solidFill>
                  <a:srgbClr val="9CDCFE"/>
                </a:solidFill>
                <a:effectLst/>
                <a:latin typeface="Consolas" panose="020B0609020204030204" pitchFamily="49" charset="0"/>
              </a:rPr>
              <a:t>tag</a:t>
            </a:r>
            <a:r>
              <a:rPr lang="en-US" b="0" dirty="0">
                <a:solidFill>
                  <a:srgbClr val="FFFFFF"/>
                </a:solidFill>
                <a:effectLst/>
                <a:latin typeface="Consolas" panose="020B0609020204030204" pitchFamily="49" charset="0"/>
              </a:rPr>
              <a:t>, </a:t>
            </a:r>
            <a:r>
              <a:rPr lang="en-US" b="0" dirty="0" err="1">
                <a:solidFill>
                  <a:srgbClr val="9CDCFE"/>
                </a:solidFill>
                <a:effectLst/>
                <a:latin typeface="Consolas" panose="020B0609020204030204" pitchFamily="49" charset="0"/>
              </a:rPr>
              <a:t>attrs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tag</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attr</a:t>
            </a:r>
            <a:r>
              <a:rPr lang="en-US" b="0" dirty="0">
                <a:solidFill>
                  <a:srgbClr val="FFFFFF"/>
                </a:solidFill>
                <a:effectLst/>
                <a:latin typeface="Consolas" panose="020B0609020204030204" pitchFamily="49" charset="0"/>
              </a:rPr>
              <a:t>, value </a:t>
            </a:r>
            <a:r>
              <a:rPr lang="en-US" b="0" dirty="0">
                <a:solidFill>
                  <a:srgbClr val="C586C0"/>
                </a:solidFill>
                <a:effectLst/>
                <a:latin typeface="Consolas" panose="020B0609020204030204" pitchFamily="49" charset="0"/>
              </a:rPr>
              <a:t>in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attrs</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attr</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href</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"link:"</a:t>
            </a:r>
            <a:r>
              <a:rPr lang="en-US" b="0" dirty="0">
                <a:solidFill>
                  <a:srgbClr val="FFFFFF"/>
                </a:solidFill>
                <a:effectLst/>
                <a:latin typeface="Consolas" panose="020B0609020204030204" pitchFamily="49" charset="0"/>
              </a:rPr>
              <a:t>, value)</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#def </a:t>
            </a:r>
            <a:r>
              <a:rPr lang="en-US" b="0" dirty="0" err="1">
                <a:solidFill>
                  <a:srgbClr val="7CA668"/>
                </a:solidFill>
                <a:effectLst/>
                <a:latin typeface="Consolas" panose="020B0609020204030204" pitchFamily="49" charset="0"/>
              </a:rPr>
              <a:t>handle_endtag</a:t>
            </a:r>
            <a:r>
              <a:rPr lang="en-US" b="0" dirty="0">
                <a:solidFill>
                  <a:srgbClr val="7CA668"/>
                </a:solidFill>
                <a:effectLst/>
                <a:latin typeface="Consolas" panose="020B0609020204030204" pitchFamily="49" charset="0"/>
              </a:rPr>
              <a:t>(self, tag):</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pass</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#def </a:t>
            </a:r>
            <a:r>
              <a:rPr lang="en-US" b="0" dirty="0" err="1">
                <a:solidFill>
                  <a:srgbClr val="7CA668"/>
                </a:solidFill>
                <a:effectLst/>
                <a:latin typeface="Consolas" panose="020B0609020204030204" pitchFamily="49" charset="0"/>
              </a:rPr>
              <a:t>handle_data</a:t>
            </a:r>
            <a:r>
              <a:rPr lang="en-US" b="0" dirty="0">
                <a:solidFill>
                  <a:srgbClr val="7CA668"/>
                </a:solidFill>
                <a:effectLst/>
                <a:latin typeface="Consolas" panose="020B0609020204030204" pitchFamily="49" charset="0"/>
              </a:rPr>
              <a:t>(self, data):</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7CA668"/>
                </a:solidFill>
                <a:effectLst/>
                <a:latin typeface="Consolas" panose="020B0609020204030204" pitchFamily="49" charset="0"/>
              </a:rPr>
              <a:t>#    pass</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FFFFFF"/>
                </a:solidFill>
                <a:effectLst/>
                <a:latin typeface="Consolas" panose="020B0609020204030204" pitchFamily="49" charset="0"/>
              </a:rPr>
              <a:t>parser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MyHTMLParser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urlopen</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"https://yle.fi/</a:t>
            </a:r>
            <a:r>
              <a:rPr lang="en-US" b="0" dirty="0" err="1">
                <a:solidFill>
                  <a:srgbClr val="CE9178"/>
                </a:solidFill>
                <a:effectLst/>
                <a:latin typeface="Consolas" panose="020B0609020204030204" pitchFamily="49" charset="0"/>
              </a:rPr>
              <a:t>uutiset</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f:</a:t>
            </a:r>
          </a:p>
          <a:p>
            <a:pPr marL="0" indent="0">
              <a:spcBef>
                <a:spcPts val="600"/>
              </a:spcBef>
              <a:buNone/>
            </a:pPr>
            <a:r>
              <a:rPr lang="en-US" b="0" dirty="0">
                <a:solidFill>
                  <a:srgbClr val="FFFFFF"/>
                </a:solidFill>
                <a:effectLst/>
                <a:latin typeface="Consolas" panose="020B0609020204030204" pitchFamily="49" charset="0"/>
              </a:rPr>
              <a:t>    data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f.read</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parser.feed</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data.decode</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"utf-8"</a:t>
            </a:r>
            <a:r>
              <a:rPr lang="en-US" b="0" dirty="0">
                <a:solidFill>
                  <a:srgbClr val="FFFFFF"/>
                </a:solidFill>
                <a:effectLst/>
                <a:latin typeface="Consolas" panose="020B0609020204030204" pitchFamily="49" charset="0"/>
              </a:rPr>
              <a:t>))</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1065681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7B761-BD93-41F0-95BD-B838649562D2}"/>
              </a:ext>
            </a:extLst>
          </p:cNvPr>
          <p:cNvSpPr>
            <a:spLocks noGrp="1"/>
          </p:cNvSpPr>
          <p:nvPr>
            <p:ph type="title"/>
          </p:nvPr>
        </p:nvSpPr>
        <p:spPr/>
        <p:txBody>
          <a:bodyPr/>
          <a:lstStyle/>
          <a:p>
            <a:r>
              <a:rPr lang="en-US" dirty="0"/>
              <a:t>Using Least Recently Used (LRU) Cache</a:t>
            </a:r>
          </a:p>
        </p:txBody>
      </p:sp>
      <p:sp>
        <p:nvSpPr>
          <p:cNvPr id="3" name="Content Placeholder 2">
            <a:extLst>
              <a:ext uri="{FF2B5EF4-FFF2-40B4-BE49-F238E27FC236}">
                <a16:creationId xmlns:a16="http://schemas.microsoft.com/office/drawing/2014/main" id="{90969BA8-C33A-4D5C-B55D-9EE893A9D781}"/>
              </a:ext>
            </a:extLst>
          </p:cNvPr>
          <p:cNvSpPr>
            <a:spLocks noGrp="1"/>
          </p:cNvSpPr>
          <p:nvPr>
            <p:ph idx="1"/>
          </p:nvPr>
        </p:nvSpPr>
        <p:spPr>
          <a:xfrm>
            <a:off x="1218883" y="1701796"/>
            <a:ext cx="10360501" cy="4967563"/>
          </a:xfrm>
        </p:spPr>
        <p:txBody>
          <a:bodyPr>
            <a:normAutofit fontScale="47500" lnSpcReduction="20000"/>
          </a:bodyPr>
          <a:lstStyle/>
          <a:p>
            <a:pPr marL="0" indent="0">
              <a:spcBef>
                <a:spcPts val="6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functools</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lru_cache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C586C0"/>
                </a:solidFill>
                <a:effectLst/>
                <a:latin typeface="Consolas" panose="020B0609020204030204" pitchFamily="49" charset="0"/>
              </a:rPr>
              <a:t>from</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urllib.request</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urlopen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HTTPError</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DCDCAA"/>
                </a:solidFill>
                <a:effectLst/>
                <a:latin typeface="Consolas" panose="020B0609020204030204" pitchFamily="49" charset="0"/>
              </a:rPr>
              <a:t>@lru_cache</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maxsize</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64</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569CD6"/>
                </a:solidFill>
                <a:effectLst/>
                <a:latin typeface="Consolas" panose="020B0609020204030204" pitchFamily="49" charset="0"/>
              </a:rPr>
              <a:t>def</a:t>
            </a:r>
            <a:r>
              <a:rPr lang="en-US" b="0" dirty="0">
                <a:solidFill>
                  <a:srgbClr val="FFFFFF"/>
                </a:solidFill>
                <a:effectLst/>
                <a:latin typeface="Consolas" panose="020B0609020204030204" pitchFamily="49" charset="0"/>
              </a:rPr>
              <a:t> </a:t>
            </a:r>
            <a:r>
              <a:rPr lang="en-US" b="0" dirty="0" err="1">
                <a:solidFill>
                  <a:srgbClr val="DCDCAA"/>
                </a:solidFill>
                <a:effectLst/>
                <a:latin typeface="Consolas" panose="020B0609020204030204" pitchFamily="49" charset="0"/>
              </a:rPr>
              <a:t>get_pep</a:t>
            </a:r>
            <a:r>
              <a:rPr lang="en-US" b="0" dirty="0">
                <a:solidFill>
                  <a:srgbClr val="FFFFFF"/>
                </a:solidFill>
                <a:effectLst/>
                <a:latin typeface="Consolas" panose="020B0609020204030204" pitchFamily="49" charset="0"/>
              </a:rPr>
              <a:t>(</a:t>
            </a:r>
            <a:r>
              <a:rPr lang="en-US" b="0" dirty="0">
                <a:solidFill>
                  <a:srgbClr val="9CDCFE"/>
                </a:solidFill>
                <a:effectLst/>
                <a:latin typeface="Consolas" panose="020B0609020204030204" pitchFamily="49" charset="0"/>
              </a:rPr>
              <a:t>num</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'''Retrieve text of a Python Enhancement Proposal'''</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resource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'http://www.python.org/dev/peps/pep-</a:t>
            </a:r>
            <a:r>
              <a:rPr lang="en-US" b="0" dirty="0">
                <a:solidFill>
                  <a:srgbClr val="569CD6"/>
                </a:solidFill>
                <a:effectLst/>
                <a:latin typeface="Consolas" panose="020B0609020204030204" pitchFamily="49" charset="0"/>
              </a:rPr>
              <a:t>%04d</a:t>
            </a:r>
            <a:r>
              <a:rPr lang="en-US" b="0" dirty="0">
                <a:solidFill>
                  <a:srgbClr val="CE9178"/>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num</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try</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with</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urlopen</a:t>
            </a:r>
            <a:r>
              <a:rPr lang="en-US" b="0" dirty="0">
                <a:solidFill>
                  <a:srgbClr val="FFFFFF"/>
                </a:solidFill>
                <a:effectLst/>
                <a:latin typeface="Consolas" panose="020B0609020204030204" pitchFamily="49" charset="0"/>
              </a:rPr>
              <a:t>(resource) </a:t>
            </a:r>
            <a:r>
              <a:rPr lang="en-US" b="0" dirty="0">
                <a:solidFill>
                  <a:srgbClr val="C586C0"/>
                </a:solidFill>
                <a:effectLst/>
                <a:latin typeface="Consolas" panose="020B0609020204030204" pitchFamily="49" charset="0"/>
              </a:rPr>
              <a:t>as</a:t>
            </a:r>
            <a:r>
              <a:rPr lang="en-US" b="0" dirty="0">
                <a:solidFill>
                  <a:srgbClr val="FFFFFF"/>
                </a:solidFill>
                <a:effectLst/>
                <a:latin typeface="Consolas" panose="020B0609020204030204" pitchFamily="49" charset="0"/>
              </a:rPr>
              <a:t> s:</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s.read</a:t>
            </a:r>
            <a:r>
              <a:rPr lang="en-US" b="0" dirty="0">
                <a:solidFill>
                  <a:srgbClr val="FFFFFF"/>
                </a:solidFill>
                <a:effectLst/>
                <a:latin typeface="Consolas" panose="020B0609020204030204" pitchFamily="49" charset="0"/>
              </a:rPr>
              <a:t>().decode(</a:t>
            </a:r>
            <a:r>
              <a:rPr lang="en-US" b="0" dirty="0">
                <a:solidFill>
                  <a:srgbClr val="CE9178"/>
                </a:solidFill>
                <a:effectLst/>
                <a:latin typeface="Consolas" panose="020B0609020204030204" pitchFamily="49" charset="0"/>
              </a:rPr>
              <a:t>"utf-8"</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except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HTTPError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FFFFFF"/>
                </a:solidFill>
                <a:effectLst/>
                <a:latin typeface="Consolas" panose="020B0609020204030204" pitchFamily="49" charset="0"/>
              </a:rPr>
              <a:t> </a:t>
            </a:r>
            <a:r>
              <a:rPr lang="en-US" b="0" dirty="0">
                <a:solidFill>
                  <a:srgbClr val="CE9178"/>
                </a:solidFill>
                <a:effectLst/>
                <a:latin typeface="Consolas" panose="020B0609020204030204" pitchFamily="49" charset="0"/>
              </a:rPr>
              <a:t>'Not Found'</a:t>
            </a:r>
            <a:endParaRPr lang="en-US" b="0" dirty="0">
              <a:solidFill>
                <a:srgbClr val="FFFFFF"/>
              </a:solidFill>
              <a:effectLst/>
              <a:latin typeface="Consolas" panose="020B0609020204030204" pitchFamily="49" charset="0"/>
            </a:endParaRP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C586C0"/>
                </a:solidFill>
                <a:effectLst/>
                <a:latin typeface="Consolas" panose="020B0609020204030204" pitchFamily="49" charset="0"/>
              </a:rPr>
              <a:t>while</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s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input</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"Give me PEP number?"</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not</a:t>
            </a:r>
            <a:r>
              <a:rPr lang="en-US" b="0" dirty="0">
                <a:solidFill>
                  <a:srgbClr val="FFFFFF"/>
                </a:solidFill>
                <a:effectLst/>
                <a:latin typeface="Consolas" panose="020B0609020204030204" pitchFamily="49" charset="0"/>
              </a:rPr>
              <a:t> s: </a:t>
            </a:r>
            <a:r>
              <a:rPr lang="en-US" b="0" dirty="0">
                <a:solidFill>
                  <a:srgbClr val="C586C0"/>
                </a:solidFill>
                <a:effectLst/>
                <a:latin typeface="Consolas" panose="020B0609020204030204" pitchFamily="49" charset="0"/>
              </a:rPr>
              <a:t>break</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FFFFFF"/>
                </a:solidFill>
                <a:effectLst/>
                <a:latin typeface="Consolas" panose="020B0609020204030204" pitchFamily="49" charset="0"/>
              </a:rPr>
              <a:t> </a:t>
            </a:r>
            <a:r>
              <a:rPr lang="en-US" b="0" dirty="0">
                <a:solidFill>
                  <a:srgbClr val="569CD6"/>
                </a:solidFill>
                <a:effectLst/>
                <a:latin typeface="Consolas" panose="020B0609020204030204" pitchFamily="49" charset="0"/>
              </a:rPr>
              <a:t>not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s.isdigit</a:t>
            </a:r>
            <a:r>
              <a:rPr lang="en-US" b="0" dirty="0">
                <a:solidFill>
                  <a:srgbClr val="FFFFFF"/>
                </a:solidFill>
                <a:effectLst/>
                <a:latin typeface="Consolas" panose="020B0609020204030204" pitchFamily="49" charset="0"/>
              </a:rPr>
              <a:t>(): </a:t>
            </a:r>
            <a:r>
              <a:rPr lang="en-US" b="0" dirty="0">
                <a:solidFill>
                  <a:srgbClr val="C586C0"/>
                </a:solidFill>
                <a:effectLst/>
                <a:latin typeface="Consolas" panose="020B0609020204030204" pitchFamily="49" charset="0"/>
              </a:rPr>
              <a:t>continue</a:t>
            </a:r>
            <a:endParaRPr lang="en-US" b="0" dirty="0">
              <a:solidFill>
                <a:srgbClr val="FFFFFF"/>
              </a:solidFill>
              <a:effectLst/>
              <a:latin typeface="Consolas" panose="020B0609020204030204" pitchFamily="49" charset="0"/>
            </a:endParaRPr>
          </a:p>
          <a:p>
            <a:pPr marL="0" indent="0">
              <a:spcBef>
                <a:spcPts val="600"/>
              </a:spcBef>
              <a:buNone/>
            </a:pPr>
            <a:r>
              <a:rPr lang="en-US" b="0" dirty="0">
                <a:solidFill>
                  <a:srgbClr val="FFFFFF"/>
                </a:solidFill>
                <a:effectLst/>
                <a:latin typeface="Consolas" panose="020B0609020204030204" pitchFamily="49" charset="0"/>
              </a:rPr>
              <a:t>    n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FFFFFF"/>
                </a:solidFill>
                <a:effectLst/>
                <a:latin typeface="Consolas" panose="020B0609020204030204" pitchFamily="49" charset="0"/>
              </a:rPr>
              <a:t>(s)</a:t>
            </a:r>
          </a:p>
          <a:p>
            <a:pPr marL="0" indent="0">
              <a:spcBef>
                <a:spcPts val="600"/>
              </a:spcBef>
              <a:buNone/>
            </a:pPr>
            <a:r>
              <a:rPr lang="en-US" b="0" dirty="0">
                <a:solidFill>
                  <a:srgbClr val="FFFFFF"/>
                </a:solidFill>
                <a:effectLst/>
                <a:latin typeface="Consolas" panose="020B0609020204030204" pitchFamily="49" charset="0"/>
              </a:rPr>
              <a:t>    pep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get_pep</a:t>
            </a:r>
            <a:r>
              <a:rPr lang="en-US" b="0" dirty="0">
                <a:solidFill>
                  <a:srgbClr val="FFFFFF"/>
                </a:solidFill>
                <a:effectLst/>
                <a:latin typeface="Consolas" panose="020B0609020204030204" pitchFamily="49" charset="0"/>
              </a:rPr>
              <a:t>(n)</a:t>
            </a:r>
          </a:p>
          <a:p>
            <a:pPr marL="0" indent="0">
              <a:spcBef>
                <a:spcPts val="600"/>
              </a:spcBef>
              <a:buNone/>
            </a:pP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pep.find</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"PEP "</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j </a:t>
            </a:r>
            <a:r>
              <a:rPr lang="en-US" b="0" dirty="0">
                <a:solidFill>
                  <a:srgbClr val="D4D4D4"/>
                </a:solidFill>
                <a:effectLst/>
                <a:latin typeface="Consolas" panose="020B0609020204030204" pitchFamily="49" charset="0"/>
              </a:rPr>
              <a:t>=</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pep.find</a:t>
            </a:r>
            <a:r>
              <a:rPr lang="en-US" b="0" dirty="0">
                <a:solidFill>
                  <a:srgbClr val="FFFFFF"/>
                </a:solidFill>
                <a:effectLst/>
                <a:latin typeface="Consolas" panose="020B0609020204030204" pitchFamily="49" charset="0"/>
              </a:rPr>
              <a:t>(</a:t>
            </a:r>
            <a:r>
              <a:rPr lang="en-US" b="0" dirty="0">
                <a:solidFill>
                  <a:srgbClr val="CE9178"/>
                </a:solidFill>
                <a:effectLst/>
                <a:latin typeface="Consolas" panose="020B0609020204030204" pitchFamily="49" charset="0"/>
              </a:rPr>
              <a:t>" |"</a:t>
            </a:r>
            <a:r>
              <a:rPr lang="en-US" b="0" dirty="0">
                <a:solidFill>
                  <a:srgbClr val="FFFFFF"/>
                </a:solidFill>
                <a:effectLst/>
                <a:latin typeface="Consolas" panose="020B0609020204030204" pitchFamily="49" charset="0"/>
              </a:rPr>
              <a:t>, </a:t>
            </a:r>
            <a:r>
              <a:rPr lang="en-US" b="0" dirty="0" err="1">
                <a:solidFill>
                  <a:srgbClr val="FFFFFF"/>
                </a:solidFill>
                <a:effectLst/>
                <a:latin typeface="Consolas" panose="020B0609020204030204" pitchFamily="49" charset="0"/>
              </a:rPr>
              <a:t>i</a:t>
            </a:r>
            <a:r>
              <a:rPr lang="en-US" b="0" dirty="0">
                <a:solidFill>
                  <a:srgbClr val="FFFFFF"/>
                </a:solidFill>
                <a:effectLst/>
                <a:latin typeface="Consolas" panose="020B0609020204030204" pitchFamily="49" charset="0"/>
              </a:rPr>
              <a:t>)</a:t>
            </a:r>
          </a:p>
          <a:p>
            <a:pPr marL="0" indent="0">
              <a:spcBef>
                <a:spcPts val="600"/>
              </a:spcBef>
              <a:buNone/>
            </a:pPr>
            <a:r>
              <a:rPr lang="en-US" b="0" dirty="0">
                <a:solidFill>
                  <a:srgbClr val="FFFFFF"/>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(n, </a:t>
            </a:r>
            <a:r>
              <a:rPr lang="en-US" b="0" dirty="0" err="1">
                <a:solidFill>
                  <a:srgbClr val="DCDCAA"/>
                </a:solidFill>
                <a:effectLst/>
                <a:latin typeface="Consolas" panose="020B0609020204030204" pitchFamily="49" charset="0"/>
              </a:rPr>
              <a:t>len</a:t>
            </a:r>
            <a:r>
              <a:rPr lang="en-US" b="0" dirty="0">
                <a:solidFill>
                  <a:srgbClr val="FFFFFF"/>
                </a:solidFill>
                <a:effectLst/>
                <a:latin typeface="Consolas" panose="020B0609020204030204" pitchFamily="49" charset="0"/>
              </a:rPr>
              <a:t>(pep), pep[</a:t>
            </a:r>
            <a:r>
              <a:rPr lang="en-US" b="0" dirty="0" err="1">
                <a:solidFill>
                  <a:srgbClr val="FFFFFF"/>
                </a:solidFill>
                <a:effectLst/>
                <a:latin typeface="Consolas" panose="020B0609020204030204" pitchFamily="49" charset="0"/>
              </a:rPr>
              <a:t>i:j</a:t>
            </a:r>
            <a:r>
              <a:rPr lang="en-US" b="0" dirty="0">
                <a:solidFill>
                  <a:srgbClr val="FFFFFF"/>
                </a:solidFill>
                <a:effectLst/>
                <a:latin typeface="Consolas" panose="020B0609020204030204" pitchFamily="49" charset="0"/>
              </a:rPr>
              <a:t>])</a:t>
            </a:r>
          </a:p>
          <a:p>
            <a:pPr marL="0" indent="0">
              <a:spcBef>
                <a:spcPts val="600"/>
              </a:spcBef>
              <a:buNone/>
            </a:pPr>
            <a:br>
              <a:rPr lang="en-US" b="0" dirty="0">
                <a:solidFill>
                  <a:srgbClr val="FFFFFF"/>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FFFFFF"/>
                </a:solidFill>
                <a:effectLst/>
                <a:latin typeface="Consolas" panose="020B0609020204030204" pitchFamily="49" charset="0"/>
              </a:rPr>
              <a:t>(</a:t>
            </a:r>
            <a:r>
              <a:rPr lang="en-US" b="0" dirty="0" err="1">
                <a:solidFill>
                  <a:srgbClr val="FFFFFF"/>
                </a:solidFill>
                <a:effectLst/>
                <a:latin typeface="Consolas" panose="020B0609020204030204" pitchFamily="49" charset="0"/>
              </a:rPr>
              <a:t>get_pep.cache_info</a:t>
            </a:r>
            <a:r>
              <a:rPr lang="en-US" b="0" dirty="0">
                <a:solidFill>
                  <a:srgbClr val="FFFFFF"/>
                </a:solidFill>
                <a:effectLst/>
                <a:latin typeface="Consolas" panose="020B0609020204030204" pitchFamily="49" charset="0"/>
              </a:rPr>
              <a:t>())</a:t>
            </a:r>
          </a:p>
          <a:p>
            <a:pPr marL="0" indent="0">
              <a:spcBef>
                <a:spcPts val="600"/>
              </a:spcBef>
              <a:buNone/>
            </a:pPr>
            <a:endParaRPr lang="en-US" b="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290474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1ABC199-857C-43FF-BDF4-3D6D4E6B19F0}"/>
              </a:ext>
            </a:extLst>
          </p:cNvPr>
          <p:cNvSpPr>
            <a:spLocks noGrp="1"/>
          </p:cNvSpPr>
          <p:nvPr>
            <p:ph type="title"/>
          </p:nvPr>
        </p:nvSpPr>
        <p:spPr>
          <a:xfrm>
            <a:off x="1218883" y="274637"/>
            <a:ext cx="10360501" cy="634083"/>
          </a:xfrm>
        </p:spPr>
        <p:txBody>
          <a:bodyPr/>
          <a:lstStyle/>
          <a:p>
            <a:r>
              <a:rPr lang="en-US" dirty="0"/>
              <a:t>Pip – Python Package Install Tool</a:t>
            </a:r>
          </a:p>
        </p:txBody>
      </p:sp>
      <p:sp>
        <p:nvSpPr>
          <p:cNvPr id="3" name="Sisällön paikkamerkki 2">
            <a:extLst>
              <a:ext uri="{FF2B5EF4-FFF2-40B4-BE49-F238E27FC236}">
                <a16:creationId xmlns:a16="http://schemas.microsoft.com/office/drawing/2014/main" id="{9FDD0D6D-6499-45EE-8BC1-AB1B8EB77DA7}"/>
              </a:ext>
            </a:extLst>
          </p:cNvPr>
          <p:cNvSpPr>
            <a:spLocks noGrp="1"/>
          </p:cNvSpPr>
          <p:nvPr>
            <p:ph idx="1"/>
          </p:nvPr>
        </p:nvSpPr>
        <p:spPr>
          <a:xfrm>
            <a:off x="1239275" y="1067713"/>
            <a:ext cx="10360501" cy="5515649"/>
          </a:xfrm>
        </p:spPr>
        <p:txBody>
          <a:bodyPr>
            <a:normAutofit fontScale="92500" lnSpcReduction="20000"/>
          </a:bodyPr>
          <a:lstStyle/>
          <a:p>
            <a:r>
              <a:rPr lang="en-US" sz="1800" dirty="0"/>
              <a:t>Comes with Windows Python distribution and name is pip</a:t>
            </a:r>
          </a:p>
          <a:p>
            <a:r>
              <a:rPr lang="en-US" sz="1800" dirty="0"/>
              <a:t>Need to install separately for Linux (</a:t>
            </a:r>
            <a:r>
              <a:rPr lang="en-US" sz="1800" dirty="0" err="1"/>
              <a:t>sudo</a:t>
            </a:r>
            <a:r>
              <a:rPr lang="en-US" sz="1800" dirty="0"/>
              <a:t> apt install python3-pip) and name is pip3</a:t>
            </a:r>
          </a:p>
          <a:p>
            <a:r>
              <a:rPr lang="en-US" sz="1800" dirty="0"/>
              <a:t>Install a package from Python Package Index (</a:t>
            </a:r>
            <a:r>
              <a:rPr lang="en-US" sz="1800" dirty="0" err="1"/>
              <a:t>PyPI</a:t>
            </a:r>
            <a:r>
              <a:rPr lang="en-US" sz="1800" dirty="0"/>
              <a:t>)	Example</a:t>
            </a:r>
            <a:br>
              <a:rPr lang="en-US" sz="1800" dirty="0"/>
            </a:br>
            <a:r>
              <a:rPr lang="en-US" sz="1800" dirty="0">
                <a:latin typeface="Courier New" panose="02070309020205020404" pitchFamily="49" charset="0"/>
                <a:cs typeface="Courier New" panose="02070309020205020404" pitchFamily="49" charset="0"/>
              </a:rPr>
              <a:t>pip install package 		pip install </a:t>
            </a:r>
            <a:r>
              <a:rPr lang="en-US" sz="1800" dirty="0" err="1">
                <a:latin typeface="Courier New" panose="02070309020205020404" pitchFamily="49" charset="0"/>
                <a:cs typeface="Courier New" panose="02070309020205020404" pitchFamily="49" charset="0"/>
              </a:rPr>
              <a:t>django</a:t>
            </a:r>
            <a:endParaRPr lang="en-US" sz="1800" dirty="0">
              <a:latin typeface="Courier New" panose="02070309020205020404" pitchFamily="49" charset="0"/>
              <a:cs typeface="Courier New" panose="02070309020205020404" pitchFamily="49" charset="0"/>
            </a:endParaRPr>
          </a:p>
          <a:p>
            <a:r>
              <a:rPr lang="en-US" sz="1800" dirty="0"/>
              <a:t>Install a specific version:</a:t>
            </a:r>
            <a:br>
              <a:rPr lang="en-US" sz="1800" dirty="0"/>
            </a:br>
            <a:r>
              <a:rPr lang="en-US" sz="1800" dirty="0">
                <a:latin typeface="Courier New" panose="02070309020205020404" pitchFamily="49" charset="0"/>
                <a:cs typeface="Courier New" panose="02070309020205020404" pitchFamily="49" charset="0"/>
              </a:rPr>
              <a:t>pip install package==version	pip install </a:t>
            </a:r>
            <a:r>
              <a:rPr lang="en-US" sz="1800" dirty="0" err="1">
                <a:latin typeface="Courier New" panose="02070309020205020404" pitchFamily="49" charset="0"/>
                <a:cs typeface="Courier New" panose="02070309020205020404" pitchFamily="49" charset="0"/>
              </a:rPr>
              <a:t>django</a:t>
            </a:r>
            <a:r>
              <a:rPr lang="en-US" sz="1800" dirty="0">
                <a:latin typeface="Courier New" panose="02070309020205020404" pitchFamily="49" charset="0"/>
                <a:cs typeface="Courier New" panose="02070309020205020404" pitchFamily="49" charset="0"/>
              </a:rPr>
              <a:t>==1.0.4</a:t>
            </a:r>
          </a:p>
          <a:p>
            <a:r>
              <a:rPr lang="en-US" sz="1800" dirty="0"/>
              <a:t>Uninstall package:</a:t>
            </a:r>
            <a:br>
              <a:rPr lang="en-US" sz="1800" dirty="0"/>
            </a:br>
            <a:r>
              <a:rPr lang="en-US" sz="1800" dirty="0">
                <a:latin typeface="Courier New" panose="02070309020205020404" pitchFamily="49" charset="0"/>
                <a:cs typeface="Courier New" panose="02070309020205020404" pitchFamily="49" charset="0"/>
              </a:rPr>
              <a:t>pip uninstall -y package		pip uninstall -y </a:t>
            </a:r>
            <a:r>
              <a:rPr lang="en-US" sz="1800" dirty="0" err="1">
                <a:latin typeface="Courier New" panose="02070309020205020404" pitchFamily="49" charset="0"/>
                <a:cs typeface="Courier New" panose="02070309020205020404" pitchFamily="49" charset="0"/>
              </a:rPr>
              <a:t>django</a:t>
            </a:r>
            <a:endParaRPr lang="en-US" sz="1800" dirty="0">
              <a:latin typeface="Courier New" panose="02070309020205020404" pitchFamily="49" charset="0"/>
              <a:cs typeface="Courier New" panose="02070309020205020404" pitchFamily="49" charset="0"/>
            </a:endParaRPr>
          </a:p>
          <a:p>
            <a:r>
              <a:rPr lang="en-US" sz="1800" dirty="0"/>
              <a:t>List installed packages:</a:t>
            </a:r>
            <a:br>
              <a:rPr lang="en-US" sz="1800" dirty="0"/>
            </a:br>
            <a:r>
              <a:rPr lang="en-US" sz="1800" dirty="0">
                <a:latin typeface="Courier New" panose="02070309020205020404" pitchFamily="49" charset="0"/>
                <a:cs typeface="Courier New" panose="02070309020205020404" pitchFamily="49" charset="0"/>
              </a:rPr>
              <a:t>pip list</a:t>
            </a:r>
          </a:p>
          <a:p>
            <a:r>
              <a:rPr lang="en-US" sz="1800" dirty="0"/>
              <a:t>Search package by name:</a:t>
            </a:r>
            <a:br>
              <a:rPr lang="en-US" sz="1800" dirty="0"/>
            </a:br>
            <a:r>
              <a:rPr lang="en-US" sz="1800" dirty="0">
                <a:latin typeface="Courier New" panose="02070309020205020404" pitchFamily="49" charset="0"/>
                <a:cs typeface="Courier New" panose="02070309020205020404" pitchFamily="49" charset="0"/>
              </a:rPr>
              <a:t>pip search word			pip search </a:t>
            </a:r>
            <a:r>
              <a:rPr lang="en-US" sz="1800" dirty="0" err="1">
                <a:latin typeface="Courier New" panose="02070309020205020404" pitchFamily="49" charset="0"/>
                <a:cs typeface="Courier New" panose="02070309020205020404" pitchFamily="49" charset="0"/>
              </a:rPr>
              <a:t>facebook</a:t>
            </a:r>
            <a:endParaRPr lang="en-US" sz="1800" dirty="0">
              <a:latin typeface="Courier New" panose="02070309020205020404" pitchFamily="49" charset="0"/>
              <a:cs typeface="Courier New" panose="02070309020205020404" pitchFamily="49" charset="0"/>
            </a:endParaRPr>
          </a:p>
          <a:p>
            <a:r>
              <a:rPr lang="en-US" sz="1800" dirty="0"/>
              <a:t>Show package information:</a:t>
            </a:r>
            <a:br>
              <a:rPr lang="en-US" sz="1800" dirty="0"/>
            </a:br>
            <a:r>
              <a:rPr lang="en-US" sz="1800" dirty="0">
                <a:latin typeface="Courier New" panose="02070309020205020404" pitchFamily="49" charset="0"/>
                <a:cs typeface="Courier New" panose="02070309020205020404" pitchFamily="49" charset="0"/>
              </a:rPr>
              <a:t>pip show package			pip show Django</a:t>
            </a:r>
          </a:p>
          <a:p>
            <a:r>
              <a:rPr lang="en-US" sz="1800" dirty="0">
                <a:cs typeface="Courier New" panose="02070309020205020404" pitchFamily="49" charset="0"/>
              </a:rPr>
              <a:t>Update a package</a:t>
            </a:r>
            <a:br>
              <a:rPr lang="en-US" sz="1800" dirty="0">
                <a:cs typeface="Courier New" panose="02070309020205020404" pitchFamily="49" charset="0"/>
              </a:rPr>
            </a:br>
            <a:r>
              <a:rPr lang="en-US" sz="1800" dirty="0">
                <a:latin typeface="Courier New" panose="02070309020205020404" pitchFamily="49" charset="0"/>
                <a:cs typeface="Courier New" panose="02070309020205020404" pitchFamily="49" charset="0"/>
              </a:rPr>
              <a:t>pip install package –U 		pip install </a:t>
            </a:r>
            <a:r>
              <a:rPr lang="en-US" sz="1800" dirty="0" err="1">
                <a:latin typeface="Courier New" panose="02070309020205020404" pitchFamily="49" charset="0"/>
                <a:cs typeface="Courier New" panose="02070309020205020404" pitchFamily="49" charset="0"/>
              </a:rPr>
              <a:t>django</a:t>
            </a:r>
            <a:r>
              <a:rPr lang="en-US" sz="1800" dirty="0">
                <a:latin typeface="Courier New" panose="02070309020205020404" pitchFamily="49" charset="0"/>
                <a:cs typeface="Courier New" panose="02070309020205020404" pitchFamily="49" charset="0"/>
              </a:rPr>
              <a:t> -U</a:t>
            </a:r>
          </a:p>
          <a:p>
            <a:r>
              <a:rPr lang="en-US" sz="1800" dirty="0">
                <a:cs typeface="Courier New" panose="02070309020205020404" pitchFamily="49" charset="0"/>
              </a:rPr>
              <a:t>Update Pip</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pip3 install -U pip # Linux	python -m pip install -U pip	# Windows</a:t>
            </a:r>
          </a:p>
          <a:p>
            <a:endParaRPr lang="en-US"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475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6012411-97EC-4669-9351-984552A35BB6}"/>
              </a:ext>
            </a:extLst>
          </p:cNvPr>
          <p:cNvSpPr>
            <a:spLocks noGrp="1"/>
          </p:cNvSpPr>
          <p:nvPr>
            <p:ph type="title"/>
          </p:nvPr>
        </p:nvSpPr>
        <p:spPr/>
        <p:txBody>
          <a:bodyPr/>
          <a:lstStyle/>
          <a:p>
            <a:r>
              <a:rPr lang="en-US" dirty="0">
                <a:hlinkClick r:id="rId2"/>
              </a:rPr>
              <a:t>IPython</a:t>
            </a:r>
            <a:r>
              <a:rPr lang="en-US" dirty="0"/>
              <a:t> – An Improved Interactive Python Shell</a:t>
            </a:r>
          </a:p>
        </p:txBody>
      </p:sp>
      <p:sp>
        <p:nvSpPr>
          <p:cNvPr id="3" name="Sisällön paikkamerkki 2">
            <a:extLst>
              <a:ext uri="{FF2B5EF4-FFF2-40B4-BE49-F238E27FC236}">
                <a16:creationId xmlns:a16="http://schemas.microsoft.com/office/drawing/2014/main" id="{4DA1C5CC-1C85-4B03-8BE7-1B63E047A469}"/>
              </a:ext>
            </a:extLst>
          </p:cNvPr>
          <p:cNvSpPr>
            <a:spLocks noGrp="1"/>
          </p:cNvSpPr>
          <p:nvPr>
            <p:ph idx="1"/>
          </p:nvPr>
        </p:nvSpPr>
        <p:spPr>
          <a:xfrm>
            <a:off x="1218883" y="1701796"/>
            <a:ext cx="10360501" cy="4823547"/>
          </a:xfrm>
        </p:spPr>
        <p:txBody>
          <a:bodyPr>
            <a:normAutofit fontScale="92500" lnSpcReduction="20000"/>
          </a:bodyPr>
          <a:lstStyle/>
          <a:p>
            <a:r>
              <a:rPr lang="en-US" dirty="0"/>
              <a:t>pip install ipython</a:t>
            </a:r>
          </a:p>
          <a:p>
            <a:r>
              <a:rPr lang="en-US" dirty="0"/>
              <a:t>Keyboard shortcuts:</a:t>
            </a:r>
          </a:p>
          <a:p>
            <a:pPr lvl="1"/>
            <a:r>
              <a:rPr lang="en-US" dirty="0"/>
              <a:t>TAB for completion and smart indentation</a:t>
            </a:r>
          </a:p>
          <a:p>
            <a:pPr lvl="1"/>
            <a:r>
              <a:rPr lang="en-US" dirty="0"/>
              <a:t>Arrow keys up and down go through command history</a:t>
            </a:r>
          </a:p>
          <a:p>
            <a:pPr lvl="1"/>
            <a:r>
              <a:rPr lang="en-US" dirty="0"/>
              <a:t>Control-a	move cursor to beginning of line</a:t>
            </a:r>
          </a:p>
          <a:p>
            <a:pPr lvl="1"/>
            <a:r>
              <a:rPr lang="en-US" dirty="0"/>
              <a:t>Control-c	cancel current action</a:t>
            </a:r>
          </a:p>
          <a:p>
            <a:pPr lvl="1"/>
            <a:r>
              <a:rPr lang="en-US" dirty="0"/>
              <a:t>Control-d	quit</a:t>
            </a:r>
          </a:p>
          <a:p>
            <a:pPr lvl="1"/>
            <a:r>
              <a:rPr lang="en-US" dirty="0"/>
              <a:t>Control-e	move cursor to the end of line</a:t>
            </a:r>
          </a:p>
          <a:p>
            <a:pPr lvl="1"/>
            <a:r>
              <a:rPr lang="en-US" dirty="0"/>
              <a:t>Control-k	delete from current cursor to end of line</a:t>
            </a:r>
          </a:p>
          <a:p>
            <a:pPr lvl="1"/>
            <a:r>
              <a:rPr lang="en-US" dirty="0"/>
              <a:t>Control-l	clear screen</a:t>
            </a:r>
          </a:p>
          <a:p>
            <a:pPr lvl="1"/>
            <a:r>
              <a:rPr lang="en-US" dirty="0"/>
              <a:t>Control-u	clear text on current line</a:t>
            </a:r>
          </a:p>
          <a:p>
            <a:pPr lvl="1"/>
            <a:r>
              <a:rPr lang="en-US" dirty="0"/>
              <a:t>Control-r	search backwards in history</a:t>
            </a:r>
          </a:p>
          <a:p>
            <a:pPr lvl="1"/>
            <a:r>
              <a:rPr lang="en-US" dirty="0"/>
              <a:t>q 		quits source code reader</a:t>
            </a:r>
          </a:p>
        </p:txBody>
      </p:sp>
    </p:spTree>
    <p:extLst>
      <p:ext uri="{BB962C8B-B14F-4D97-AF65-F5344CB8AC3E}">
        <p14:creationId xmlns:p14="http://schemas.microsoft.com/office/powerpoint/2010/main" val="270221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712CFC1-0F43-4143-BED7-BF3EC270FBBE}"/>
              </a:ext>
            </a:extLst>
          </p:cNvPr>
          <p:cNvSpPr>
            <a:spLocks noGrp="1"/>
          </p:cNvSpPr>
          <p:nvPr>
            <p:ph type="title"/>
          </p:nvPr>
        </p:nvSpPr>
        <p:spPr/>
        <p:txBody>
          <a:bodyPr/>
          <a:lstStyle/>
          <a:p>
            <a:r>
              <a:rPr lang="en-US" dirty="0"/>
              <a:t>Useful IPython Commands</a:t>
            </a:r>
          </a:p>
        </p:txBody>
      </p:sp>
      <p:sp>
        <p:nvSpPr>
          <p:cNvPr id="3" name="Sisällön paikkamerkki 2">
            <a:extLst>
              <a:ext uri="{FF2B5EF4-FFF2-40B4-BE49-F238E27FC236}">
                <a16:creationId xmlns:a16="http://schemas.microsoft.com/office/drawing/2014/main" id="{F28AAB84-DC39-45E5-A198-EB703B61BB80}"/>
              </a:ext>
            </a:extLst>
          </p:cNvPr>
          <p:cNvSpPr>
            <a:spLocks noGrp="1"/>
          </p:cNvSpPr>
          <p:nvPr>
            <p:ph idx="1"/>
          </p:nvPr>
        </p:nvSpPr>
        <p:spPr>
          <a:xfrm>
            <a:off x="1218883" y="1701796"/>
            <a:ext cx="10360501" cy="4895555"/>
          </a:xfrm>
        </p:spPr>
        <p:txBody>
          <a:bodyPr>
            <a:normAutofit fontScale="47500" lnSpcReduction="20000"/>
          </a:bodyPr>
          <a:lstStyle/>
          <a:p>
            <a:pPr>
              <a:spcBef>
                <a:spcPts val="1200"/>
              </a:spcBef>
            </a:pPr>
            <a:r>
              <a:rPr lang="en-US" dirty="0"/>
              <a:t>_ 		previous output (__ two previous, ___ three previous)</a:t>
            </a:r>
          </a:p>
          <a:p>
            <a:pPr>
              <a:spcBef>
                <a:spcPts val="1200"/>
              </a:spcBef>
            </a:pPr>
            <a:r>
              <a:rPr lang="en-US" dirty="0"/>
              <a:t>object?		Display short information about object</a:t>
            </a:r>
          </a:p>
          <a:p>
            <a:pPr>
              <a:spcBef>
                <a:spcPts val="1200"/>
              </a:spcBef>
            </a:pPr>
            <a:r>
              <a:rPr lang="en-US" dirty="0"/>
              <a:t>object?? 		Display long information about object</a:t>
            </a:r>
          </a:p>
          <a:p>
            <a:pPr>
              <a:spcBef>
                <a:spcPts val="1200"/>
              </a:spcBef>
            </a:pPr>
            <a:r>
              <a:rPr lang="en-US" dirty="0"/>
              <a:t>cd		change directory</a:t>
            </a:r>
          </a:p>
          <a:p>
            <a:pPr>
              <a:spcBef>
                <a:spcPts val="1200"/>
              </a:spcBef>
            </a:pPr>
            <a:r>
              <a:rPr lang="en-US" dirty="0"/>
              <a:t>ls		print directory listing</a:t>
            </a:r>
          </a:p>
          <a:p>
            <a:pPr>
              <a:spcBef>
                <a:spcPts val="1200"/>
              </a:spcBef>
            </a:pPr>
            <a:r>
              <a:rPr lang="en-US" dirty="0"/>
              <a:t>!command		run shell command</a:t>
            </a:r>
          </a:p>
          <a:p>
            <a:pPr>
              <a:spcBef>
                <a:spcPts val="1200"/>
              </a:spcBef>
            </a:pPr>
            <a:r>
              <a:rPr lang="en-US" dirty="0"/>
              <a:t>run source		run source code file</a:t>
            </a:r>
          </a:p>
          <a:p>
            <a:pPr>
              <a:spcBef>
                <a:spcPts val="1200"/>
              </a:spcBef>
            </a:pPr>
            <a:r>
              <a:rPr lang="en-US" dirty="0"/>
              <a:t>%alias name command	create alias for commands		</a:t>
            </a:r>
          </a:p>
          <a:p>
            <a:pPr>
              <a:spcBef>
                <a:spcPts val="1200"/>
              </a:spcBef>
            </a:pPr>
            <a:r>
              <a:rPr lang="en-US" dirty="0"/>
              <a:t>%edit n		edit line with number n with your default editor (EDITOR environment variable in Windows) and run code</a:t>
            </a:r>
          </a:p>
          <a:p>
            <a:pPr>
              <a:spcBef>
                <a:spcPts val="1200"/>
              </a:spcBef>
            </a:pPr>
            <a:r>
              <a:rPr lang="en-US" dirty="0"/>
              <a:t>%edit filename	edit file in your default editor, %edit -p will edit previous</a:t>
            </a:r>
          </a:p>
          <a:p>
            <a:pPr>
              <a:spcBef>
                <a:spcPts val="1200"/>
              </a:spcBef>
            </a:pPr>
            <a:r>
              <a:rPr lang="en-US" dirty="0"/>
              <a:t>%quickref		print IPython documentation</a:t>
            </a:r>
          </a:p>
          <a:p>
            <a:pPr>
              <a:spcBef>
                <a:spcPts val="1200"/>
              </a:spcBef>
            </a:pPr>
            <a:r>
              <a:rPr lang="en-US" dirty="0"/>
              <a:t>%psource object	show source code for object</a:t>
            </a:r>
          </a:p>
          <a:p>
            <a:pPr>
              <a:spcBef>
                <a:spcPts val="1200"/>
              </a:spcBef>
            </a:pPr>
            <a:r>
              <a:rPr lang="en-US" dirty="0"/>
              <a:t>%pfile filename	show contents of source file</a:t>
            </a:r>
          </a:p>
          <a:p>
            <a:pPr>
              <a:spcBef>
                <a:spcPts val="1200"/>
              </a:spcBef>
            </a:pPr>
            <a:r>
              <a:rPr lang="en-US" dirty="0"/>
              <a:t>%timeit expression	time the Python expression</a:t>
            </a:r>
          </a:p>
          <a:p>
            <a:pPr>
              <a:spcBef>
                <a:spcPts val="1200"/>
              </a:spcBef>
            </a:pPr>
            <a:r>
              <a:rPr lang="en-US" dirty="0"/>
              <a:t>%% timeit setup	time the Python expression with setup code</a:t>
            </a:r>
            <a:br>
              <a:rPr lang="en-US" dirty="0"/>
            </a:br>
            <a:r>
              <a:rPr lang="en-US" dirty="0"/>
              <a:t>code</a:t>
            </a:r>
          </a:p>
        </p:txBody>
      </p:sp>
    </p:spTree>
    <p:extLst>
      <p:ext uri="{BB962C8B-B14F-4D97-AF65-F5344CB8AC3E}">
        <p14:creationId xmlns:p14="http://schemas.microsoft.com/office/powerpoint/2010/main" val="3574186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5961DEA-550D-4D2E-B4A3-14A5E807FA9D}"/>
              </a:ext>
            </a:extLst>
          </p:cNvPr>
          <p:cNvSpPr>
            <a:spLocks noGrp="1"/>
          </p:cNvSpPr>
          <p:nvPr>
            <p:ph type="title"/>
          </p:nvPr>
        </p:nvSpPr>
        <p:spPr/>
        <p:txBody>
          <a:bodyPr/>
          <a:lstStyle/>
          <a:p>
            <a:r>
              <a:rPr lang="en-US" dirty="0">
                <a:hlinkClick r:id="rId2"/>
              </a:rPr>
              <a:t>Virtual Environments</a:t>
            </a:r>
            <a:endParaRPr lang="en-US" dirty="0"/>
          </a:p>
        </p:txBody>
      </p:sp>
      <p:sp>
        <p:nvSpPr>
          <p:cNvPr id="3" name="Sisällön paikkamerkki 2">
            <a:extLst>
              <a:ext uri="{FF2B5EF4-FFF2-40B4-BE49-F238E27FC236}">
                <a16:creationId xmlns:a16="http://schemas.microsoft.com/office/drawing/2014/main" id="{627092FA-1B78-4B93-AD8B-DDE3688ED535}"/>
              </a:ext>
            </a:extLst>
          </p:cNvPr>
          <p:cNvSpPr>
            <a:spLocks noGrp="1"/>
          </p:cNvSpPr>
          <p:nvPr>
            <p:ph idx="1"/>
          </p:nvPr>
        </p:nvSpPr>
        <p:spPr>
          <a:xfrm>
            <a:off x="1218883" y="1701797"/>
            <a:ext cx="10360501" cy="4881566"/>
          </a:xfrm>
        </p:spPr>
        <p:txBody>
          <a:bodyPr>
            <a:normAutofit fontScale="62500" lnSpcReduction="20000"/>
          </a:bodyPr>
          <a:lstStyle/>
          <a:p>
            <a:r>
              <a:rPr lang="en-US" dirty="0"/>
              <a:t>Virtual environments allow you to use different versions of libraries.</a:t>
            </a:r>
            <a:br>
              <a:rPr lang="en-US" dirty="0"/>
            </a:br>
            <a:endParaRPr lang="en-US" dirty="0"/>
          </a:p>
          <a:p>
            <a:pPr marL="514350" indent="-514350">
              <a:buFont typeface="+mj-lt"/>
              <a:buAutoNum type="arabicPeriod"/>
            </a:pPr>
            <a:r>
              <a:rPr lang="en-US" dirty="0">
                <a:cs typeface="Courier New" panose="02070309020205020404" pitchFamily="49" charset="0"/>
              </a:rPr>
              <a:t>Install </a:t>
            </a:r>
            <a:r>
              <a:rPr lang="en-US" dirty="0" err="1">
                <a:cs typeface="Courier New" panose="02070309020205020404" pitchFamily="49" charset="0"/>
              </a:rPr>
              <a:t>virtualenv</a:t>
            </a:r>
            <a:r>
              <a:rPr lang="en-US" dirty="0">
                <a:cs typeface="Courier New" panose="02070309020205020404" pitchFamily="49" charset="0"/>
              </a:rPr>
              <a:t> tool</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pip3 install </a:t>
            </a:r>
            <a:r>
              <a:rPr lang="en-US" dirty="0" err="1">
                <a:latin typeface="Courier New" panose="02070309020205020404" pitchFamily="49" charset="0"/>
                <a:cs typeface="Courier New" panose="02070309020205020404" pitchFamily="49" charset="0"/>
              </a:rPr>
              <a:t>virtualenv</a:t>
            </a:r>
            <a:endParaRPr lang="en-US" dirty="0"/>
          </a:p>
          <a:p>
            <a:pPr marL="514350" indent="-514350">
              <a:buFont typeface="+mj-lt"/>
              <a:buAutoNum type="arabicPeriod"/>
            </a:pPr>
            <a:r>
              <a:rPr lang="en-US" dirty="0"/>
              <a:t>Create a new virtual environment</a:t>
            </a:r>
            <a:br>
              <a:rPr lang="en-US" dirty="0"/>
            </a:br>
            <a:r>
              <a:rPr lang="en-US" dirty="0">
                <a:latin typeface="Courier New" panose="02070309020205020404" pitchFamily="49" charset="0"/>
                <a:cs typeface="Courier New" panose="02070309020205020404" pitchFamily="49" charset="0"/>
              </a:rPr>
              <a:t>cd </a:t>
            </a:r>
            <a:r>
              <a:rPr lang="en-US" i="1" dirty="0" err="1">
                <a:latin typeface="Courier New" panose="02070309020205020404" pitchFamily="49" charset="0"/>
                <a:cs typeface="Courier New" panose="02070309020205020404" pitchFamily="49" charset="0"/>
              </a:rPr>
              <a:t>project_folder</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virtualenv</a:t>
            </a:r>
            <a:r>
              <a:rPr lang="en-US" dirty="0">
                <a:latin typeface="Courier New" panose="02070309020205020404" pitchFamily="49" charset="0"/>
                <a:cs typeface="Courier New" panose="02070309020205020404" pitchFamily="49" charset="0"/>
              </a:rPr>
              <a:t> </a:t>
            </a:r>
            <a:r>
              <a:rPr lang="en-US" i="1" dirty="0" err="1">
                <a:latin typeface="Courier New" panose="02070309020205020404" pitchFamily="49" charset="0"/>
                <a:cs typeface="Courier New" panose="02070309020205020404" pitchFamily="49" charset="0"/>
              </a:rPr>
              <a:t>venv</a:t>
            </a:r>
            <a:r>
              <a:rPr lang="en-US" i="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instead of </a:t>
            </a:r>
            <a:r>
              <a:rPr lang="en-US" dirty="0" err="1">
                <a:latin typeface="Courier New" panose="02070309020205020404" pitchFamily="49" charset="0"/>
                <a:cs typeface="Courier New" panose="02070309020205020404" pitchFamily="49" charset="0"/>
              </a:rPr>
              <a:t>venv</a:t>
            </a:r>
            <a:r>
              <a:rPr lang="en-US" dirty="0">
                <a:latin typeface="Courier New" panose="02070309020205020404" pitchFamily="49" charset="0"/>
                <a:cs typeface="Courier New" panose="02070309020205020404" pitchFamily="49" charset="0"/>
              </a:rPr>
              <a:t>, you can use other names e.g. env</a:t>
            </a:r>
            <a:endParaRPr lang="en-US" i="1" dirty="0">
              <a:latin typeface="Courier New" panose="02070309020205020404" pitchFamily="49" charset="0"/>
              <a:cs typeface="Courier New" panose="02070309020205020404" pitchFamily="49" charset="0"/>
            </a:endParaRPr>
          </a:p>
          <a:p>
            <a:pPr marL="514350" indent="-514350">
              <a:buFont typeface="+mj-lt"/>
              <a:buAutoNum type="arabicPeriod"/>
            </a:pPr>
            <a:r>
              <a:rPr lang="en-US" dirty="0"/>
              <a:t>Activate virtual environment</a:t>
            </a:r>
            <a:br>
              <a:rPr lang="en-US" dirty="0"/>
            </a:br>
            <a:r>
              <a:rPr lang="en-US" dirty="0">
                <a:latin typeface="Courier New" panose="02070309020205020404" pitchFamily="49" charset="0"/>
                <a:cs typeface="Courier New" panose="02070309020205020404" pitchFamily="49" charset="0"/>
              </a:rPr>
              <a:t>source </a:t>
            </a:r>
            <a:r>
              <a:rPr lang="en-US" dirty="0" err="1">
                <a:latin typeface="Courier New" panose="02070309020205020404" pitchFamily="49" charset="0"/>
                <a:cs typeface="Courier New" panose="02070309020205020404" pitchFamily="49" charset="0"/>
              </a:rPr>
              <a:t>venv</a:t>
            </a:r>
            <a:r>
              <a:rPr lang="en-US" dirty="0">
                <a:latin typeface="Courier New" panose="02070309020205020404" pitchFamily="49" charset="0"/>
                <a:cs typeface="Courier New" panose="02070309020205020404" pitchFamily="49" charset="0"/>
              </a:rPr>
              <a:t>/bin/activate # Linux</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venv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venv</a:t>
            </a:r>
            <a:r>
              <a:rPr lang="en-US" dirty="0">
                <a:latin typeface="Courier New" panose="02070309020205020404" pitchFamily="49" charset="0"/>
                <a:cs typeface="Courier New" panose="02070309020205020404" pitchFamily="49" charset="0"/>
              </a:rPr>
              <a:t>/activate.bat   # Windows</a:t>
            </a:r>
            <a:endParaRPr lang="en-US" dirty="0"/>
          </a:p>
          <a:p>
            <a:pPr marL="514350" indent="-514350">
              <a:buFont typeface="+mj-lt"/>
              <a:buAutoNum type="arabicPeriod"/>
            </a:pPr>
            <a:r>
              <a:rPr lang="en-US" dirty="0"/>
              <a:t>Install packages like usual</a:t>
            </a:r>
            <a:br>
              <a:rPr lang="en-US" dirty="0"/>
            </a:br>
            <a:r>
              <a:rPr lang="en-US" dirty="0">
                <a:latin typeface="Courier New" panose="02070309020205020404" pitchFamily="49" charset="0"/>
                <a:cs typeface="Courier New" panose="02070309020205020404" pitchFamily="49" charset="0"/>
              </a:rPr>
              <a:t>pip3 install </a:t>
            </a:r>
            <a:r>
              <a:rPr lang="en-US" i="1" dirty="0">
                <a:latin typeface="Courier New" panose="02070309020205020404" pitchFamily="49" charset="0"/>
                <a:cs typeface="Courier New" panose="02070309020205020404" pitchFamily="49" charset="0"/>
              </a:rPr>
              <a:t>package</a:t>
            </a:r>
          </a:p>
          <a:p>
            <a:pPr marL="514350" indent="-514350">
              <a:buFont typeface="+mj-lt"/>
              <a:buAutoNum type="arabicPeriod"/>
            </a:pPr>
            <a:r>
              <a:rPr lang="en-US" dirty="0"/>
              <a:t>Deactivate</a:t>
            </a:r>
            <a:br>
              <a:rPr lang="en-US" dirty="0"/>
            </a:br>
            <a:r>
              <a:rPr lang="en-US" dirty="0" err="1">
                <a:latin typeface="Courier New" panose="02070309020205020404" pitchFamily="49" charset="0"/>
                <a:cs typeface="Courier New" panose="02070309020205020404" pitchFamily="49" charset="0"/>
              </a:rPr>
              <a:t>deactivate</a:t>
            </a:r>
            <a:endParaRPr lang="en-US" dirty="0">
              <a:latin typeface="Courier New" panose="02070309020205020404" pitchFamily="49" charset="0"/>
              <a:cs typeface="Courier New" panose="02070309020205020404" pitchFamily="49" charset="0"/>
            </a:endParaRPr>
          </a:p>
          <a:p>
            <a:pPr marL="514350" indent="-514350">
              <a:buFont typeface="+mj-lt"/>
              <a:buAutoNum type="arabicPeriod"/>
            </a:pPr>
            <a:r>
              <a:rPr lang="en-US" dirty="0"/>
              <a:t>Delete virtual environment</a:t>
            </a:r>
            <a:br>
              <a:rPr lang="en-US" dirty="0"/>
            </a:br>
            <a:r>
              <a:rPr lang="en-US" dirty="0">
                <a:latin typeface="Courier New" panose="02070309020205020404" pitchFamily="49" charset="0"/>
                <a:cs typeface="Courier New" panose="02070309020205020404" pitchFamily="49" charset="0"/>
              </a:rPr>
              <a:t>rm -rf </a:t>
            </a:r>
            <a:r>
              <a:rPr lang="en-US" dirty="0" err="1">
                <a:latin typeface="Courier New" panose="02070309020205020404" pitchFamily="49" charset="0"/>
                <a:cs typeface="Courier New" panose="02070309020205020404" pitchFamily="49" charset="0"/>
              </a:rPr>
              <a:t>venv</a:t>
            </a:r>
            <a:br>
              <a:rPr lang="en-US" dirty="0"/>
            </a:br>
            <a:endParaRPr lang="en-US" dirty="0"/>
          </a:p>
        </p:txBody>
      </p:sp>
    </p:spTree>
    <p:extLst>
      <p:ext uri="{BB962C8B-B14F-4D97-AF65-F5344CB8AC3E}">
        <p14:creationId xmlns:p14="http://schemas.microsoft.com/office/powerpoint/2010/main" val="3615835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75E3E7D-7F54-4B38-BA0A-8E6B0C70DAA2}"/>
              </a:ext>
            </a:extLst>
          </p:cNvPr>
          <p:cNvSpPr>
            <a:spLocks noGrp="1"/>
          </p:cNvSpPr>
          <p:nvPr>
            <p:ph type="title"/>
          </p:nvPr>
        </p:nvSpPr>
        <p:spPr/>
        <p:txBody>
          <a:bodyPr/>
          <a:lstStyle/>
          <a:p>
            <a:r>
              <a:rPr lang="en-US" dirty="0"/>
              <a:t>Using Requirements</a:t>
            </a:r>
          </a:p>
        </p:txBody>
      </p:sp>
      <p:sp>
        <p:nvSpPr>
          <p:cNvPr id="3" name="Sisällön paikkamerkki 2">
            <a:extLst>
              <a:ext uri="{FF2B5EF4-FFF2-40B4-BE49-F238E27FC236}">
                <a16:creationId xmlns:a16="http://schemas.microsoft.com/office/drawing/2014/main" id="{E644CA85-6362-43F8-9F3B-47A786510C32}"/>
              </a:ext>
            </a:extLst>
          </p:cNvPr>
          <p:cNvSpPr>
            <a:spLocks noGrp="1"/>
          </p:cNvSpPr>
          <p:nvPr>
            <p:ph idx="1"/>
          </p:nvPr>
        </p:nvSpPr>
        <p:spPr/>
        <p:txBody>
          <a:bodyPr>
            <a:normAutofit fontScale="77500" lnSpcReduction="20000"/>
          </a:bodyPr>
          <a:lstStyle/>
          <a:p>
            <a:r>
              <a:rPr lang="en-US" dirty="0"/>
              <a:t>How to create a requirements.txt file, which describes what Python libraries (and their versions) are needed for a project. Preferably you do this inside a virtual environment.</a:t>
            </a:r>
          </a:p>
          <a:p>
            <a:pPr marL="0" indent="0">
              <a:buNone/>
            </a:pP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pip3 freeze &gt; requirements.txt</a:t>
            </a:r>
          </a:p>
          <a:p>
            <a:pPr marL="0" indent="0">
              <a:buNone/>
            </a:pPr>
            <a:r>
              <a:rPr lang="en-US" dirty="0">
                <a:latin typeface="Courier New" panose="02070309020205020404" pitchFamily="49" charset="0"/>
                <a:cs typeface="Courier New" panose="02070309020205020404" pitchFamily="49" charset="0"/>
              </a:rPr>
              <a:t>% cat requirements</a:t>
            </a:r>
          </a:p>
          <a:p>
            <a:pPr marL="0" indent="0">
              <a:buNone/>
            </a:pPr>
            <a:r>
              <a:rPr lang="en-US" dirty="0" err="1">
                <a:latin typeface="Courier New" panose="02070309020205020404" pitchFamily="49" charset="0"/>
                <a:cs typeface="Courier New" panose="02070309020205020404" pitchFamily="49" charset="0"/>
              </a:rPr>
              <a:t>asgiref</a:t>
            </a:r>
            <a:r>
              <a:rPr lang="en-US" dirty="0">
                <a:latin typeface="Courier New" panose="02070309020205020404" pitchFamily="49" charset="0"/>
                <a:cs typeface="Courier New" panose="02070309020205020404" pitchFamily="49" charset="0"/>
              </a:rPr>
              <a:t>==3.3.1</a:t>
            </a:r>
          </a:p>
          <a:p>
            <a:pPr marL="0" indent="0">
              <a:buNone/>
            </a:pPr>
            <a:r>
              <a:rPr lang="en-US" dirty="0">
                <a:latin typeface="Courier New" panose="02070309020205020404" pitchFamily="49" charset="0"/>
                <a:cs typeface="Courier New" panose="02070309020205020404" pitchFamily="49" charset="0"/>
              </a:rPr>
              <a:t>Django==3.1.5</a:t>
            </a:r>
          </a:p>
          <a:p>
            <a:pPr marL="0" indent="0">
              <a:buNone/>
            </a:pPr>
            <a:r>
              <a:rPr lang="en-US" dirty="0">
                <a:latin typeface="Courier New" panose="02070309020205020404" pitchFamily="49" charset="0"/>
                <a:cs typeface="Courier New" panose="02070309020205020404" pitchFamily="49" charset="0"/>
              </a:rPr>
              <a:t>Pillow==8.1.0</a:t>
            </a:r>
          </a:p>
          <a:p>
            <a:pPr marL="0" indent="0">
              <a:buNone/>
            </a:pPr>
            <a:r>
              <a:rPr lang="en-US" dirty="0" err="1">
                <a:latin typeface="Courier New" panose="02070309020205020404" pitchFamily="49" charset="0"/>
                <a:cs typeface="Courier New" panose="02070309020205020404" pitchFamily="49" charset="0"/>
              </a:rPr>
              <a:t>pytz</a:t>
            </a:r>
            <a:r>
              <a:rPr lang="en-US" dirty="0">
                <a:latin typeface="Courier New" panose="02070309020205020404" pitchFamily="49" charset="0"/>
                <a:cs typeface="Courier New" panose="02070309020205020404" pitchFamily="49" charset="0"/>
              </a:rPr>
              <a:t>==2020.5</a:t>
            </a:r>
          </a:p>
          <a:p>
            <a:pPr marL="0" indent="0">
              <a:buNone/>
            </a:pPr>
            <a:r>
              <a:rPr lang="en-US" dirty="0" err="1">
                <a:latin typeface="Courier New" panose="02070309020205020404" pitchFamily="49" charset="0"/>
                <a:cs typeface="Courier New" panose="02070309020205020404" pitchFamily="49" charset="0"/>
              </a:rPr>
              <a:t>sqlparse</a:t>
            </a:r>
            <a:r>
              <a:rPr lang="en-US" dirty="0">
                <a:latin typeface="Courier New" panose="02070309020205020404" pitchFamily="49" charset="0"/>
                <a:cs typeface="Courier New" panose="02070309020205020404" pitchFamily="49" charset="0"/>
              </a:rPr>
              <a:t>==0.4.1</a:t>
            </a:r>
          </a:p>
          <a:p>
            <a:pPr marL="0" indent="0">
              <a:buNone/>
            </a:pPr>
            <a:r>
              <a:rPr lang="en-US" dirty="0">
                <a:latin typeface="Courier New" panose="02070309020205020404" pitchFamily="49" charset="0"/>
                <a:cs typeface="Courier New" panose="02070309020205020404" pitchFamily="49" charset="0"/>
              </a:rPr>
              <a:t>% pip3 install -r requirements.txt</a:t>
            </a:r>
          </a:p>
        </p:txBody>
      </p:sp>
    </p:spTree>
    <p:extLst>
      <p:ext uri="{BB962C8B-B14F-4D97-AF65-F5344CB8AC3E}">
        <p14:creationId xmlns:p14="http://schemas.microsoft.com/office/powerpoint/2010/main" val="3158963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6F18393-04C7-48E6-BC6B-06E84682826A}"/>
              </a:ext>
            </a:extLst>
          </p:cNvPr>
          <p:cNvSpPr>
            <a:spLocks noGrp="1"/>
          </p:cNvSpPr>
          <p:nvPr>
            <p:ph type="title"/>
          </p:nvPr>
        </p:nvSpPr>
        <p:spPr/>
        <p:txBody>
          <a:bodyPr/>
          <a:lstStyle/>
          <a:p>
            <a:r>
              <a:rPr lang="en-US" dirty="0"/>
              <a:t>Using </a:t>
            </a:r>
            <a:r>
              <a:rPr lang="en-US" dirty="0" err="1"/>
              <a:t>pipenv</a:t>
            </a:r>
            <a:endParaRPr lang="en-US" dirty="0"/>
          </a:p>
        </p:txBody>
      </p:sp>
      <p:sp>
        <p:nvSpPr>
          <p:cNvPr id="3" name="Sisällön paikkamerkki 2">
            <a:extLst>
              <a:ext uri="{FF2B5EF4-FFF2-40B4-BE49-F238E27FC236}">
                <a16:creationId xmlns:a16="http://schemas.microsoft.com/office/drawing/2014/main" id="{876F821A-AFD1-42BE-8478-4C727719A2B2}"/>
              </a:ext>
            </a:extLst>
          </p:cNvPr>
          <p:cNvSpPr>
            <a:spLocks noGrp="1"/>
          </p:cNvSpPr>
          <p:nvPr>
            <p:ph idx="1"/>
          </p:nvPr>
        </p:nvSpPr>
        <p:spPr/>
        <p:txBody>
          <a:bodyPr>
            <a:normAutofit/>
          </a:bodyPr>
          <a:lstStyle/>
          <a:p>
            <a:r>
              <a:rPr lang="en-US" dirty="0" err="1">
                <a:hlinkClick r:id="rId2"/>
              </a:rPr>
              <a:t>Pipenv</a:t>
            </a:r>
            <a:r>
              <a:rPr lang="en-US" dirty="0">
                <a:hlinkClick r:id="rId2"/>
              </a:rPr>
              <a:t> </a:t>
            </a:r>
            <a:r>
              <a:rPr lang="en-US" dirty="0"/>
              <a:t>is a higher level user-interface for </a:t>
            </a:r>
            <a:r>
              <a:rPr lang="en-US" dirty="0" err="1"/>
              <a:t>virtualenv</a:t>
            </a:r>
            <a:endParaRPr lang="en-US" dirty="0"/>
          </a:p>
          <a:p>
            <a:r>
              <a:rPr lang="en-US" dirty="0">
                <a:latin typeface="Courier New" panose="02070309020205020404" pitchFamily="49" charset="0"/>
                <a:cs typeface="Courier New" panose="02070309020205020404" pitchFamily="49" charset="0"/>
              </a:rPr>
              <a:t>pip3 install --user </a:t>
            </a:r>
            <a:r>
              <a:rPr lang="en-US" dirty="0" err="1">
                <a:latin typeface="Courier New" panose="02070309020205020404" pitchFamily="49" charset="0"/>
                <a:cs typeface="Courier New" panose="02070309020205020404" pitchFamily="49" charset="0"/>
              </a:rPr>
              <a:t>pipenv</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cd </a:t>
            </a:r>
            <a:r>
              <a:rPr lang="en-US" dirty="0" err="1">
                <a:latin typeface="Courier New" panose="02070309020205020404" pitchFamily="49" charset="0"/>
                <a:cs typeface="Courier New" panose="02070309020205020404" pitchFamily="49" charset="0"/>
              </a:rPr>
              <a:t>project_folder</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pipenv</a:t>
            </a:r>
            <a:r>
              <a:rPr lang="en-US" dirty="0">
                <a:latin typeface="Courier New" panose="02070309020205020404" pitchFamily="49" charset="0"/>
                <a:cs typeface="Courier New" panose="02070309020205020404" pitchFamily="49" charset="0"/>
              </a:rPr>
              <a:t> install </a:t>
            </a:r>
            <a:r>
              <a:rPr lang="en-US" i="1" dirty="0">
                <a:latin typeface="Courier New" panose="02070309020205020404" pitchFamily="49" charset="0"/>
                <a:cs typeface="Courier New" panose="02070309020205020404" pitchFamily="49" charset="0"/>
              </a:rPr>
              <a:t>package</a:t>
            </a:r>
          </a:p>
          <a:p>
            <a:r>
              <a:rPr lang="en-US" dirty="0" err="1">
                <a:latin typeface="Courier New" panose="02070309020205020404" pitchFamily="49" charset="0"/>
                <a:cs typeface="Courier New" panose="02070309020205020404" pitchFamily="49" charset="0"/>
              </a:rPr>
              <a:t>pipenv</a:t>
            </a:r>
            <a:r>
              <a:rPr lang="en-US" dirty="0">
                <a:latin typeface="Courier New" panose="02070309020205020404" pitchFamily="49" charset="0"/>
                <a:cs typeface="Courier New" panose="02070309020205020404" pitchFamily="49" charset="0"/>
              </a:rPr>
              <a:t> run python3 main.py</a:t>
            </a:r>
          </a:p>
          <a:p>
            <a:r>
              <a:rPr lang="en-US" dirty="0" err="1">
                <a:latin typeface="Courier New" panose="02070309020205020404" pitchFamily="49" charset="0"/>
                <a:cs typeface="Courier New" panose="02070309020205020404" pitchFamily="49" charset="0"/>
              </a:rPr>
              <a:t>pipenv</a:t>
            </a:r>
            <a:r>
              <a:rPr lang="en-US" dirty="0">
                <a:latin typeface="Courier New" panose="02070309020205020404" pitchFamily="49" charset="0"/>
                <a:cs typeface="Courier New" panose="02070309020205020404" pitchFamily="49" charset="0"/>
              </a:rPr>
              <a:t> shell</a:t>
            </a:r>
          </a:p>
          <a:p>
            <a:r>
              <a:rPr lang="en-US" dirty="0">
                <a:latin typeface="Courier New" panose="02070309020205020404" pitchFamily="49" charset="0"/>
                <a:cs typeface="Courier New" panose="02070309020205020404" pitchFamily="49" charset="0"/>
              </a:rPr>
              <a:t>deactivate</a:t>
            </a:r>
            <a:endParaRPr lang="en-US" dirty="0">
              <a:latin typeface="Courier New" panose="02070309020205020404" pitchFamily="49" charset="0"/>
              <a:cs typeface="Courier New" panose="02070309020205020404" pitchFamily="49" charset="0"/>
              <a:hlinkClick r:id="rId2"/>
            </a:endParaRPr>
          </a:p>
        </p:txBody>
      </p:sp>
    </p:spTree>
    <p:extLst>
      <p:ext uri="{BB962C8B-B14F-4D97-AF65-F5344CB8AC3E}">
        <p14:creationId xmlns:p14="http://schemas.microsoft.com/office/powerpoint/2010/main" val="1718304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7CD42BB-CD01-498F-A794-59797636715F}"/>
              </a:ext>
            </a:extLst>
          </p:cNvPr>
          <p:cNvSpPr>
            <a:spLocks noGrp="1"/>
          </p:cNvSpPr>
          <p:nvPr>
            <p:ph type="title"/>
          </p:nvPr>
        </p:nvSpPr>
        <p:spPr/>
        <p:txBody>
          <a:bodyPr/>
          <a:lstStyle/>
          <a:p>
            <a:r>
              <a:rPr lang="en-US" dirty="0"/>
              <a:t>Virtual Environment Tools</a:t>
            </a:r>
          </a:p>
        </p:txBody>
      </p:sp>
      <p:sp>
        <p:nvSpPr>
          <p:cNvPr id="3" name="Sisällön paikkamerkki 2">
            <a:extLst>
              <a:ext uri="{FF2B5EF4-FFF2-40B4-BE49-F238E27FC236}">
                <a16:creationId xmlns:a16="http://schemas.microsoft.com/office/drawing/2014/main" id="{E1AF950E-FB50-41BC-9B58-3D0DEAEBAD53}"/>
              </a:ext>
            </a:extLst>
          </p:cNvPr>
          <p:cNvSpPr>
            <a:spLocks noGrp="1"/>
          </p:cNvSpPr>
          <p:nvPr>
            <p:ph idx="1"/>
          </p:nvPr>
        </p:nvSpPr>
        <p:spPr/>
        <p:txBody>
          <a:bodyPr/>
          <a:lstStyle/>
          <a:p>
            <a:r>
              <a:rPr lang="en-US" dirty="0"/>
              <a:t>You can also use the built-in </a:t>
            </a:r>
            <a:r>
              <a:rPr lang="en-US" dirty="0" err="1">
                <a:hlinkClick r:id="rId2"/>
              </a:rPr>
              <a:t>venv</a:t>
            </a:r>
            <a:r>
              <a:rPr lang="en-US" dirty="0"/>
              <a:t> module:</a:t>
            </a:r>
            <a:br>
              <a:rPr lang="en-US" dirty="0"/>
            </a:br>
            <a:r>
              <a:rPr lang="en-US" dirty="0">
                <a:latin typeface="Courier New" panose="02070309020205020404" pitchFamily="49" charset="0"/>
                <a:cs typeface="Courier New" panose="02070309020205020404" pitchFamily="49" charset="0"/>
              </a:rPr>
              <a:t>python3 -m </a:t>
            </a:r>
            <a:r>
              <a:rPr lang="en-US" dirty="0" err="1">
                <a:latin typeface="Courier New" panose="02070309020205020404" pitchFamily="49" charset="0"/>
                <a:cs typeface="Courier New" panose="02070309020205020404" pitchFamily="49" charset="0"/>
              </a:rPr>
              <a:t>venv</a:t>
            </a:r>
            <a:r>
              <a:rPr lang="en-US" dirty="0">
                <a:latin typeface="Courier New" panose="02070309020205020404" pitchFamily="49" charset="0"/>
                <a:cs typeface="Courier New" panose="02070309020205020404" pitchFamily="49" charset="0"/>
              </a:rPr>
              <a:t> /path/to/new/</a:t>
            </a:r>
            <a:r>
              <a:rPr lang="en-US">
                <a:latin typeface="Courier New" panose="02070309020205020404" pitchFamily="49" charset="0"/>
                <a:cs typeface="Courier New" panose="02070309020205020404" pitchFamily="49" charset="0"/>
              </a:rPr>
              <a:t>virt_environment</a:t>
            </a:r>
            <a:endParaRPr lang="en-US" dirty="0">
              <a:latin typeface="Courier New" panose="02070309020205020404" pitchFamily="49" charset="0"/>
              <a:cs typeface="Courier New" panose="02070309020205020404" pitchFamily="49" charset="0"/>
            </a:endParaRPr>
          </a:p>
          <a:p>
            <a:r>
              <a:rPr lang="en-US" dirty="0" err="1">
                <a:hlinkClick r:id="rId3"/>
              </a:rPr>
              <a:t>Virtualenvwrapper</a:t>
            </a:r>
            <a:r>
              <a:rPr lang="en-US" dirty="0"/>
              <a:t> makes using virtual environments easier:</a:t>
            </a:r>
          </a:p>
          <a:p>
            <a:pPr lvl="1"/>
            <a:r>
              <a:rPr lang="en-US" dirty="0" err="1">
                <a:latin typeface="Courier New" panose="02070309020205020404" pitchFamily="49" charset="0"/>
                <a:cs typeface="Courier New" panose="02070309020205020404" pitchFamily="49" charset="0"/>
              </a:rPr>
              <a:t>mkvirtualenv</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envname</a:t>
            </a:r>
            <a:r>
              <a:rPr lang="en-US" dirty="0">
                <a:latin typeface="Courier New" panose="02070309020205020404" pitchFamily="49" charset="0"/>
                <a:cs typeface="Courier New" panose="02070309020205020404" pitchFamily="49" charset="0"/>
              </a:rPr>
              <a:t>  # create new environment</a:t>
            </a:r>
          </a:p>
          <a:p>
            <a:pPr lvl="1"/>
            <a:r>
              <a:rPr lang="en-US" dirty="0" err="1">
                <a:latin typeface="Courier New" panose="02070309020205020404" pitchFamily="49" charset="0"/>
                <a:cs typeface="Courier New" panose="02070309020205020404" pitchFamily="49" charset="0"/>
              </a:rPr>
              <a:t>workon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project_folder</a:t>
            </a:r>
            <a:r>
              <a:rPr lang="en-US" dirty="0">
                <a:latin typeface="Courier New" panose="02070309020205020404" pitchFamily="49" charset="0"/>
                <a:cs typeface="Courier New" panose="02070309020205020404" pitchFamily="49" charset="0"/>
              </a:rPr>
              <a:t> # work on project</a:t>
            </a:r>
          </a:p>
          <a:p>
            <a:pPr lvl="1"/>
            <a:r>
              <a:rPr lang="en-US" dirty="0" err="1">
                <a:latin typeface="Courier New" panose="02070309020205020404" pitchFamily="49" charset="0"/>
                <a:cs typeface="Courier New" panose="02070309020205020404" pitchFamily="49" charset="0"/>
              </a:rPr>
              <a:t>lsvirtualenv</a:t>
            </a:r>
            <a:r>
              <a:rPr lang="en-US" dirty="0">
                <a:latin typeface="Courier New" panose="02070309020205020404" pitchFamily="49" charset="0"/>
                <a:cs typeface="Courier New" panose="02070309020205020404" pitchFamily="49" charset="0"/>
              </a:rPr>
              <a:t>          # list all virtual </a:t>
            </a:r>
            <a:r>
              <a:rPr lang="en-US" dirty="0" err="1">
                <a:latin typeface="Courier New" panose="02070309020205020404" pitchFamily="49" charset="0"/>
                <a:cs typeface="Courier New" panose="02070309020205020404" pitchFamily="49" charset="0"/>
              </a:rPr>
              <a:t>envs</a:t>
            </a:r>
            <a:endParaRPr lang="en-US" dirty="0">
              <a:latin typeface="Courier New" panose="02070309020205020404" pitchFamily="49" charset="0"/>
              <a:cs typeface="Courier New" panose="02070309020205020404" pitchFamily="49" charset="0"/>
            </a:endParaRPr>
          </a:p>
          <a:p>
            <a:pPr lvl="1"/>
            <a:r>
              <a:rPr lang="en-US" dirty="0" err="1">
                <a:latin typeface="Courier New" panose="02070309020205020404" pitchFamily="49" charset="0"/>
                <a:cs typeface="Courier New" panose="02070309020205020404" pitchFamily="49" charset="0"/>
              </a:rPr>
              <a:t>cdvirtualenv</a:t>
            </a:r>
            <a:r>
              <a:rPr lang="en-US" dirty="0">
                <a:latin typeface="Courier New" panose="02070309020205020404" pitchFamily="49" charset="0"/>
                <a:cs typeface="Courier New" panose="02070309020205020404" pitchFamily="49" charset="0"/>
              </a:rPr>
              <a:t>     # navigate to current virtual env</a:t>
            </a:r>
          </a:p>
          <a:p>
            <a:pPr lvl="1"/>
            <a:r>
              <a:rPr lang="en-US" dirty="0" err="1">
                <a:latin typeface="Courier New" panose="02070309020205020404" pitchFamily="49" charset="0"/>
                <a:cs typeface="Courier New" panose="02070309020205020404" pitchFamily="49" charset="0"/>
              </a:rPr>
              <a:t>cdsitepackages</a:t>
            </a:r>
            <a:r>
              <a:rPr lang="en-US" dirty="0">
                <a:latin typeface="Courier New" panose="02070309020205020404" pitchFamily="49" charset="0"/>
                <a:cs typeface="Courier New" panose="02070309020205020404" pitchFamily="49" charset="0"/>
              </a:rPr>
              <a:t>   # cd into site-packages directory</a:t>
            </a:r>
          </a:p>
          <a:p>
            <a:pPr lvl="1"/>
            <a:r>
              <a:rPr lang="en-US" dirty="0" err="1">
                <a:latin typeface="Courier New" panose="02070309020205020404" pitchFamily="49" charset="0"/>
                <a:cs typeface="Courier New" panose="02070309020205020404" pitchFamily="49" charset="0"/>
              </a:rPr>
              <a:t>lssitepackages</a:t>
            </a:r>
            <a:r>
              <a:rPr lang="en-US" dirty="0">
                <a:latin typeface="Courier New" panose="02070309020205020404" pitchFamily="49" charset="0"/>
                <a:cs typeface="Courier New" panose="02070309020205020404" pitchFamily="49" charset="0"/>
              </a:rPr>
              <a:t>   # list site-packages directory</a:t>
            </a:r>
          </a:p>
          <a:p>
            <a:pPr lvl="1"/>
            <a:endParaRPr lang="en-US" dirty="0"/>
          </a:p>
          <a:p>
            <a:endParaRPr lang="en-US"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158747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17788F7-F942-4F84-93E1-C3E16413C382}"/>
              </a:ext>
            </a:extLst>
          </p:cNvPr>
          <p:cNvSpPr>
            <a:spLocks noGrp="1"/>
          </p:cNvSpPr>
          <p:nvPr>
            <p:ph type="title"/>
          </p:nvPr>
        </p:nvSpPr>
        <p:spPr/>
        <p:txBody>
          <a:bodyPr/>
          <a:lstStyle/>
          <a:p>
            <a:r>
              <a:rPr lang="en-US" dirty="0"/>
              <a:t>Python Imaging Library (PIL)</a:t>
            </a:r>
          </a:p>
        </p:txBody>
      </p:sp>
      <p:sp>
        <p:nvSpPr>
          <p:cNvPr id="3" name="Sisällön paikkamerkki 2">
            <a:extLst>
              <a:ext uri="{FF2B5EF4-FFF2-40B4-BE49-F238E27FC236}">
                <a16:creationId xmlns:a16="http://schemas.microsoft.com/office/drawing/2014/main" id="{AB5894DC-21FC-4E0D-84DF-D57C7C333BBD}"/>
              </a:ext>
            </a:extLst>
          </p:cNvPr>
          <p:cNvSpPr>
            <a:spLocks noGrp="1"/>
          </p:cNvSpPr>
          <p:nvPr>
            <p:ph idx="1"/>
          </p:nvPr>
        </p:nvSpPr>
        <p:spPr/>
        <p:txBody>
          <a:bodyPr>
            <a:normAutofit fontScale="92500"/>
          </a:bodyPr>
          <a:lstStyle/>
          <a:p>
            <a:r>
              <a:rPr lang="en-US" dirty="0"/>
              <a:t>A free open-source library, initially released in 1995.</a:t>
            </a:r>
          </a:p>
          <a:p>
            <a:r>
              <a:rPr lang="en-US" dirty="0"/>
              <a:t>Supports loading and saving into lots of different image file formats</a:t>
            </a:r>
          </a:p>
          <a:p>
            <a:r>
              <a:rPr lang="en-US" dirty="0"/>
              <a:t>Per-pixel manipulations, masking, transparency</a:t>
            </a:r>
          </a:p>
          <a:p>
            <a:r>
              <a:rPr lang="en-US" dirty="0"/>
              <a:t>Image filtering, such as blurring or edge finding</a:t>
            </a:r>
          </a:p>
          <a:p>
            <a:r>
              <a:rPr lang="en-US" dirty="0"/>
              <a:t>Image enhancing, such as sharpening or adjusting </a:t>
            </a:r>
            <a:r>
              <a:rPr lang="en-US" dirty="0" err="1"/>
              <a:t>brithgness</a:t>
            </a:r>
            <a:r>
              <a:rPr lang="en-US" dirty="0"/>
              <a:t>, contrast</a:t>
            </a:r>
          </a:p>
          <a:p>
            <a:r>
              <a:rPr lang="en-US" dirty="0"/>
              <a:t>Add text to images</a:t>
            </a:r>
          </a:p>
          <a:p>
            <a:r>
              <a:rPr lang="en-US" dirty="0"/>
              <a:t>Drawing</a:t>
            </a:r>
          </a:p>
          <a:p>
            <a:r>
              <a:rPr lang="en-US" dirty="0"/>
              <a:t>newer versions known as Pillow</a:t>
            </a:r>
          </a:p>
          <a:p>
            <a:endParaRPr lang="en-US" dirty="0"/>
          </a:p>
          <a:p>
            <a:endParaRPr lang="en-US" dirty="0"/>
          </a:p>
        </p:txBody>
      </p:sp>
    </p:spTree>
    <p:extLst>
      <p:ext uri="{BB962C8B-B14F-4D97-AF65-F5344CB8AC3E}">
        <p14:creationId xmlns:p14="http://schemas.microsoft.com/office/powerpoint/2010/main" val="2912692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CBD3F4B-FF25-412E-894C-96BE2192CB44}"/>
              </a:ext>
            </a:extLst>
          </p:cNvPr>
          <p:cNvSpPr>
            <a:spLocks noGrp="1"/>
          </p:cNvSpPr>
          <p:nvPr>
            <p:ph type="title"/>
          </p:nvPr>
        </p:nvSpPr>
        <p:spPr/>
        <p:txBody>
          <a:bodyPr/>
          <a:lstStyle/>
          <a:p>
            <a:r>
              <a:rPr lang="en-US" dirty="0"/>
              <a:t>Using PIL / Pillow</a:t>
            </a:r>
          </a:p>
        </p:txBody>
      </p:sp>
      <p:sp>
        <p:nvSpPr>
          <p:cNvPr id="3" name="Sisällön paikkamerkki 2">
            <a:extLst>
              <a:ext uri="{FF2B5EF4-FFF2-40B4-BE49-F238E27FC236}">
                <a16:creationId xmlns:a16="http://schemas.microsoft.com/office/drawing/2014/main" id="{729B1493-1810-4057-8A14-C9E98DFE2398}"/>
              </a:ext>
            </a:extLst>
          </p:cNvPr>
          <p:cNvSpPr>
            <a:spLocks noGrp="1"/>
          </p:cNvSpPr>
          <p:nvPr>
            <p:ph idx="1"/>
          </p:nvPr>
        </p:nvSpPr>
        <p:spPr>
          <a:xfrm>
            <a:off x="1218883" y="1701796"/>
            <a:ext cx="10360501" cy="4751539"/>
          </a:xfrm>
        </p:spPr>
        <p:txBody>
          <a:bodyPr>
            <a:noAutofit/>
          </a:bodyPr>
          <a:lstStyle/>
          <a:p>
            <a:pPr marL="0" indent="0">
              <a:spcBef>
                <a:spcPts val="600"/>
              </a:spcBef>
              <a:buNone/>
            </a:pPr>
            <a:r>
              <a:rPr lang="fi-FI" sz="1600" b="0" dirty="0">
                <a:solidFill>
                  <a:srgbClr val="7CA668"/>
                </a:solidFill>
                <a:effectLst/>
                <a:latin typeface="Consolas" panose="020B0609020204030204" pitchFamily="49" charset="0"/>
              </a:rPr>
              <a:t># </a:t>
            </a:r>
            <a:r>
              <a:rPr lang="fi-FI" sz="1600" b="0" dirty="0" err="1">
                <a:solidFill>
                  <a:srgbClr val="7CA668"/>
                </a:solidFill>
                <a:effectLst/>
                <a:latin typeface="Consolas" panose="020B0609020204030204" pitchFamily="49" charset="0"/>
              </a:rPr>
              <a:t>Convert</a:t>
            </a:r>
            <a:r>
              <a:rPr lang="fi-FI" sz="1600" b="0" dirty="0">
                <a:solidFill>
                  <a:srgbClr val="7CA668"/>
                </a:solidFill>
                <a:effectLst/>
                <a:latin typeface="Consolas" panose="020B0609020204030204" pitchFamily="49" charset="0"/>
              </a:rPr>
              <a:t> image into </a:t>
            </a:r>
            <a:r>
              <a:rPr lang="fi-FI" sz="1600" b="0" dirty="0" err="1">
                <a:solidFill>
                  <a:srgbClr val="7CA668"/>
                </a:solidFill>
                <a:effectLst/>
                <a:latin typeface="Consolas" panose="020B0609020204030204" pitchFamily="49" charset="0"/>
              </a:rPr>
              <a:t>different</a:t>
            </a:r>
            <a:r>
              <a:rPr lang="fi-FI" sz="1600" b="0" dirty="0">
                <a:solidFill>
                  <a:srgbClr val="7CA668"/>
                </a:solidFill>
                <a:effectLst/>
                <a:latin typeface="Consolas" panose="020B0609020204030204" pitchFamily="49" charset="0"/>
              </a:rPr>
              <a:t> </a:t>
            </a:r>
            <a:r>
              <a:rPr lang="fi-FI" sz="1600" b="0" dirty="0" err="1">
                <a:solidFill>
                  <a:srgbClr val="7CA668"/>
                </a:solidFill>
                <a:effectLst/>
                <a:latin typeface="Consolas" panose="020B0609020204030204" pitchFamily="49" charset="0"/>
              </a:rPr>
              <a:t>formats</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err="1">
                <a:solidFill>
                  <a:srgbClr val="C586C0"/>
                </a:solidFill>
                <a:effectLst/>
                <a:latin typeface="Consolas" panose="020B0609020204030204" pitchFamily="49" charset="0"/>
              </a:rPr>
              <a:t>from</a:t>
            </a:r>
            <a:r>
              <a:rPr lang="fi-FI" sz="1600" b="0" dirty="0">
                <a:solidFill>
                  <a:srgbClr val="FFFFFF"/>
                </a:solidFill>
                <a:effectLst/>
                <a:latin typeface="Consolas" panose="020B0609020204030204" pitchFamily="49" charset="0"/>
              </a:rPr>
              <a:t> </a:t>
            </a:r>
            <a:r>
              <a:rPr lang="fi-FI" sz="1600" b="0" dirty="0">
                <a:solidFill>
                  <a:srgbClr val="4EC9B0"/>
                </a:solidFill>
                <a:effectLst/>
                <a:latin typeface="Consolas" panose="020B0609020204030204" pitchFamily="49" charset="0"/>
              </a:rPr>
              <a:t>PIL</a:t>
            </a:r>
            <a:r>
              <a:rPr lang="fi-FI" sz="1600" b="0" dirty="0">
                <a:solidFill>
                  <a:srgbClr val="FFFFFF"/>
                </a:solidFill>
                <a:effectLst/>
                <a:latin typeface="Consolas" panose="020B0609020204030204" pitchFamily="49" charset="0"/>
              </a:rPr>
              <a:t> </a:t>
            </a:r>
            <a:r>
              <a:rPr lang="fi-FI" sz="1600" b="0" dirty="0">
                <a:solidFill>
                  <a:srgbClr val="C586C0"/>
                </a:solidFill>
                <a:effectLst/>
                <a:latin typeface="Consolas" panose="020B0609020204030204" pitchFamily="49" charset="0"/>
              </a:rPr>
              <a:t>import</a:t>
            </a:r>
            <a:r>
              <a:rPr lang="fi-FI" sz="1600" b="0" dirty="0">
                <a:solidFill>
                  <a:srgbClr val="FFFFFF"/>
                </a:solidFill>
                <a:effectLst/>
                <a:latin typeface="Consolas" panose="020B0609020204030204" pitchFamily="49" charset="0"/>
              </a:rPr>
              <a:t> </a:t>
            </a:r>
            <a:r>
              <a:rPr lang="fi-FI" sz="1600" b="0" dirty="0">
                <a:solidFill>
                  <a:srgbClr val="4EC9B0"/>
                </a:solidFill>
                <a:effectLst/>
                <a:latin typeface="Consolas" panose="020B0609020204030204" pitchFamily="49" charset="0"/>
              </a:rPr>
              <a:t>Image</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a:solidFill>
                  <a:srgbClr val="9CDCFE"/>
                </a:solidFill>
                <a:effectLst/>
                <a:latin typeface="Consolas" panose="020B0609020204030204" pitchFamily="49" charset="0"/>
              </a:rPr>
              <a:t>im</a:t>
            </a:r>
            <a:r>
              <a:rPr lang="fi-FI" sz="1600" b="0" dirty="0">
                <a:solidFill>
                  <a:srgbClr val="FFFFFF"/>
                </a:solidFill>
                <a:effectLst/>
                <a:latin typeface="Consolas" panose="020B0609020204030204" pitchFamily="49" charset="0"/>
              </a:rPr>
              <a:t> </a:t>
            </a:r>
            <a:r>
              <a:rPr lang="fi-FI" sz="1600" b="0" dirty="0">
                <a:solidFill>
                  <a:srgbClr val="D4D4D4"/>
                </a:solidFill>
                <a:effectLst/>
                <a:latin typeface="Consolas" panose="020B0609020204030204" pitchFamily="49" charset="0"/>
              </a:rPr>
              <a:t>=</a:t>
            </a:r>
            <a:r>
              <a:rPr lang="fi-FI" sz="1600" b="0" dirty="0">
                <a:solidFill>
                  <a:srgbClr val="FFFFFF"/>
                </a:solidFill>
                <a:effectLst/>
                <a:latin typeface="Consolas" panose="020B0609020204030204" pitchFamily="49" charset="0"/>
              </a:rPr>
              <a:t> </a:t>
            </a:r>
            <a:r>
              <a:rPr lang="fi-FI" sz="1600" b="0" dirty="0" err="1">
                <a:solidFill>
                  <a:srgbClr val="4EC9B0"/>
                </a:solidFill>
                <a:effectLst/>
                <a:latin typeface="Consolas" panose="020B0609020204030204" pitchFamily="49" charset="0"/>
              </a:rPr>
              <a:t>Image</a:t>
            </a:r>
            <a:r>
              <a:rPr lang="fi-FI" sz="1600" b="0" dirty="0" err="1">
                <a:solidFill>
                  <a:srgbClr val="FFFFFF"/>
                </a:solidFill>
                <a:effectLst/>
                <a:latin typeface="Consolas" panose="020B0609020204030204" pitchFamily="49" charset="0"/>
              </a:rPr>
              <a:t>.</a:t>
            </a:r>
            <a:r>
              <a:rPr lang="fi-FI" sz="1600" b="0" dirty="0" err="1">
                <a:solidFill>
                  <a:srgbClr val="DCDCAA"/>
                </a:solidFill>
                <a:effectLst/>
                <a:latin typeface="Consolas" panose="020B0609020204030204" pitchFamily="49" charset="0"/>
              </a:rPr>
              <a:t>open</a:t>
            </a:r>
            <a:r>
              <a:rPr lang="fi-FI" sz="1600" b="0" dirty="0">
                <a:solidFill>
                  <a:srgbClr val="FFFFFF"/>
                </a:solidFill>
                <a:effectLst/>
                <a:latin typeface="Consolas" panose="020B0609020204030204" pitchFamily="49" charset="0"/>
              </a:rPr>
              <a:t>(</a:t>
            </a:r>
            <a:r>
              <a:rPr lang="fi-FI" sz="1600" b="0" dirty="0">
                <a:solidFill>
                  <a:srgbClr val="CE9178"/>
                </a:solidFill>
                <a:effectLst/>
                <a:latin typeface="Consolas" panose="020B0609020204030204" pitchFamily="49" charset="0"/>
              </a:rPr>
              <a:t>"pic.gif"</a:t>
            </a:r>
            <a:r>
              <a:rPr lang="fi-FI" sz="1600" b="0" dirty="0">
                <a:solidFill>
                  <a:srgbClr val="FFFFFF"/>
                </a:solidFill>
                <a:effectLst/>
                <a:latin typeface="Consolas" panose="020B0609020204030204" pitchFamily="49" charset="0"/>
              </a:rPr>
              <a:t>) </a:t>
            </a:r>
            <a:r>
              <a:rPr lang="fi-FI" sz="1600" b="0" dirty="0">
                <a:solidFill>
                  <a:srgbClr val="7CA668"/>
                </a:solidFill>
                <a:effectLst/>
                <a:latin typeface="Consolas" panose="020B0609020204030204" pitchFamily="49" charset="0"/>
              </a:rPr>
              <a:t># open a GIF </a:t>
            </a:r>
            <a:r>
              <a:rPr lang="fi-FI" sz="1600" b="0" dirty="0" err="1">
                <a:solidFill>
                  <a:srgbClr val="7CA668"/>
                </a:solidFill>
                <a:effectLst/>
                <a:latin typeface="Consolas" panose="020B0609020204030204" pitchFamily="49" charset="0"/>
              </a:rPr>
              <a:t>file</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err="1">
                <a:solidFill>
                  <a:srgbClr val="9CDCFE"/>
                </a:solidFill>
                <a:effectLst/>
                <a:latin typeface="Consolas" panose="020B0609020204030204" pitchFamily="49" charset="0"/>
              </a:rPr>
              <a:t>im</a:t>
            </a:r>
            <a:r>
              <a:rPr lang="fi-FI" sz="1600" b="0" dirty="0" err="1">
                <a:solidFill>
                  <a:srgbClr val="FFFFFF"/>
                </a:solidFill>
                <a:effectLst/>
                <a:latin typeface="Consolas" panose="020B0609020204030204" pitchFamily="49" charset="0"/>
              </a:rPr>
              <a:t>.</a:t>
            </a:r>
            <a:r>
              <a:rPr lang="fi-FI" sz="1600" b="0" dirty="0" err="1">
                <a:solidFill>
                  <a:srgbClr val="DCDCAA"/>
                </a:solidFill>
                <a:effectLst/>
                <a:latin typeface="Consolas" panose="020B0609020204030204" pitchFamily="49" charset="0"/>
              </a:rPr>
              <a:t>save</a:t>
            </a:r>
            <a:r>
              <a:rPr lang="fi-FI" sz="1600" b="0" dirty="0">
                <a:solidFill>
                  <a:srgbClr val="FFFFFF"/>
                </a:solidFill>
                <a:effectLst/>
                <a:latin typeface="Consolas" panose="020B0609020204030204" pitchFamily="49" charset="0"/>
              </a:rPr>
              <a:t>(</a:t>
            </a:r>
            <a:r>
              <a:rPr lang="fi-FI" sz="1600" b="0" dirty="0">
                <a:solidFill>
                  <a:srgbClr val="CE9178"/>
                </a:solidFill>
                <a:effectLst/>
                <a:latin typeface="Consolas" panose="020B0609020204030204" pitchFamily="49" charset="0"/>
              </a:rPr>
              <a:t>"pic.png"</a:t>
            </a:r>
            <a:r>
              <a:rPr lang="fi-FI" sz="1600" b="0" dirty="0">
                <a:solidFill>
                  <a:srgbClr val="FFFFFF"/>
                </a:solidFill>
                <a:effectLst/>
                <a:latin typeface="Consolas" panose="020B0609020204030204" pitchFamily="49" charset="0"/>
              </a:rPr>
              <a:t>) </a:t>
            </a:r>
            <a:r>
              <a:rPr lang="fi-FI" sz="1600" b="0" dirty="0">
                <a:solidFill>
                  <a:srgbClr val="7CA668"/>
                </a:solidFill>
                <a:effectLst/>
                <a:latin typeface="Consolas" panose="020B0609020204030204" pitchFamily="49" charset="0"/>
              </a:rPr>
              <a:t># PNG </a:t>
            </a:r>
            <a:r>
              <a:rPr lang="fi-FI" sz="1600" b="0" dirty="0" err="1">
                <a:solidFill>
                  <a:srgbClr val="7CA668"/>
                </a:solidFill>
                <a:effectLst/>
                <a:latin typeface="Consolas" panose="020B0609020204030204" pitchFamily="49" charset="0"/>
              </a:rPr>
              <a:t>supports</a:t>
            </a:r>
            <a:r>
              <a:rPr lang="fi-FI" sz="1600" b="0" dirty="0">
                <a:solidFill>
                  <a:srgbClr val="7CA668"/>
                </a:solidFill>
                <a:effectLst/>
                <a:latin typeface="Consolas" panose="020B0609020204030204" pitchFamily="49" charset="0"/>
              </a:rPr>
              <a:t> </a:t>
            </a:r>
            <a:r>
              <a:rPr lang="fi-FI" sz="1600" b="0" dirty="0" err="1">
                <a:solidFill>
                  <a:srgbClr val="7CA668"/>
                </a:solidFill>
                <a:effectLst/>
                <a:latin typeface="Consolas" panose="020B0609020204030204" pitchFamily="49" charset="0"/>
              </a:rPr>
              <a:t>both</a:t>
            </a:r>
            <a:r>
              <a:rPr lang="fi-FI" sz="1600" b="0" dirty="0">
                <a:solidFill>
                  <a:srgbClr val="7CA668"/>
                </a:solidFill>
                <a:effectLst/>
                <a:latin typeface="Consolas" panose="020B0609020204030204" pitchFamily="49" charset="0"/>
              </a:rPr>
              <a:t> P and RGB </a:t>
            </a:r>
            <a:r>
              <a:rPr lang="fi-FI" sz="1600" b="0" dirty="0" err="1">
                <a:solidFill>
                  <a:srgbClr val="7CA668"/>
                </a:solidFill>
                <a:effectLst/>
                <a:latin typeface="Consolas" panose="020B0609020204030204" pitchFamily="49" charset="0"/>
              </a:rPr>
              <a:t>mode</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a:solidFill>
                  <a:srgbClr val="9CDCFE"/>
                </a:solidFill>
                <a:effectLst/>
                <a:latin typeface="Consolas" panose="020B0609020204030204" pitchFamily="49" charset="0"/>
              </a:rPr>
              <a:t>im2</a:t>
            </a:r>
            <a:r>
              <a:rPr lang="fi-FI" sz="1600" b="0" dirty="0">
                <a:solidFill>
                  <a:srgbClr val="FFFFFF"/>
                </a:solidFill>
                <a:effectLst/>
                <a:latin typeface="Consolas" panose="020B0609020204030204" pitchFamily="49" charset="0"/>
              </a:rPr>
              <a:t> </a:t>
            </a:r>
            <a:r>
              <a:rPr lang="fi-FI" sz="1600" b="0" dirty="0">
                <a:solidFill>
                  <a:srgbClr val="D4D4D4"/>
                </a:solidFill>
                <a:effectLst/>
                <a:latin typeface="Consolas" panose="020B0609020204030204" pitchFamily="49" charset="0"/>
              </a:rPr>
              <a:t>=</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im</a:t>
            </a:r>
            <a:r>
              <a:rPr lang="fi-FI" sz="1600" b="0" dirty="0" err="1">
                <a:solidFill>
                  <a:srgbClr val="FFFFFF"/>
                </a:solidFill>
                <a:effectLst/>
                <a:latin typeface="Consolas" panose="020B0609020204030204" pitchFamily="49" charset="0"/>
              </a:rPr>
              <a:t>.</a:t>
            </a:r>
            <a:r>
              <a:rPr lang="fi-FI" sz="1600" b="0" dirty="0" err="1">
                <a:solidFill>
                  <a:srgbClr val="DCDCAA"/>
                </a:solidFill>
                <a:effectLst/>
                <a:latin typeface="Consolas" panose="020B0609020204030204" pitchFamily="49" charset="0"/>
              </a:rPr>
              <a:t>convert</a:t>
            </a:r>
            <a:r>
              <a:rPr lang="fi-FI" sz="1600" b="0" dirty="0">
                <a:solidFill>
                  <a:srgbClr val="FFFFFF"/>
                </a:solidFill>
                <a:effectLst/>
                <a:latin typeface="Consolas" panose="020B0609020204030204" pitchFamily="49" charset="0"/>
              </a:rPr>
              <a:t>(</a:t>
            </a:r>
            <a:r>
              <a:rPr lang="fi-FI" sz="1600" b="0" dirty="0">
                <a:solidFill>
                  <a:srgbClr val="CE9178"/>
                </a:solidFill>
                <a:effectLst/>
                <a:latin typeface="Consolas" panose="020B0609020204030204" pitchFamily="49" charset="0"/>
              </a:rPr>
              <a:t>"RGB"</a:t>
            </a:r>
            <a:r>
              <a:rPr lang="fi-FI" sz="1600" b="0" dirty="0">
                <a:solidFill>
                  <a:srgbClr val="FFFFFF"/>
                </a:solidFill>
                <a:effectLst/>
                <a:latin typeface="Consolas" panose="020B0609020204030204" pitchFamily="49" charset="0"/>
              </a:rPr>
              <a:t>) </a:t>
            </a:r>
            <a:r>
              <a:rPr lang="fi-FI" sz="1600" b="0" dirty="0">
                <a:solidFill>
                  <a:srgbClr val="7CA668"/>
                </a:solidFill>
                <a:effectLst/>
                <a:latin typeface="Consolas" panose="020B0609020204030204" pitchFamily="49" charset="0"/>
              </a:rPr>
              <a:t># </a:t>
            </a:r>
            <a:r>
              <a:rPr lang="fi-FI" sz="1600" b="0" dirty="0" err="1">
                <a:solidFill>
                  <a:srgbClr val="7CA668"/>
                </a:solidFill>
                <a:effectLst/>
                <a:latin typeface="Consolas" panose="020B0609020204030204" pitchFamily="49" charset="0"/>
              </a:rPr>
              <a:t>convert</a:t>
            </a:r>
            <a:r>
              <a:rPr lang="fi-FI" sz="1600" b="0" dirty="0">
                <a:solidFill>
                  <a:srgbClr val="7CA668"/>
                </a:solidFill>
                <a:effectLst/>
                <a:latin typeface="Consolas" panose="020B0609020204030204" pitchFamily="49" charset="0"/>
              </a:rPr>
              <a:t> P </a:t>
            </a:r>
            <a:r>
              <a:rPr lang="fi-FI" sz="1600" b="0" dirty="0" err="1">
                <a:solidFill>
                  <a:srgbClr val="7CA668"/>
                </a:solidFill>
                <a:effectLst/>
                <a:latin typeface="Consolas" panose="020B0609020204030204" pitchFamily="49" charset="0"/>
              </a:rPr>
              <a:t>mode</a:t>
            </a:r>
            <a:r>
              <a:rPr lang="fi-FI" sz="1600" b="0" dirty="0">
                <a:solidFill>
                  <a:srgbClr val="7CA668"/>
                </a:solidFill>
                <a:effectLst/>
                <a:latin typeface="Consolas" panose="020B0609020204030204" pitchFamily="49" charset="0"/>
              </a:rPr>
              <a:t> image to RGB </a:t>
            </a:r>
            <a:r>
              <a:rPr lang="fi-FI" sz="1600" b="0" dirty="0" err="1">
                <a:solidFill>
                  <a:srgbClr val="7CA668"/>
                </a:solidFill>
                <a:effectLst/>
                <a:latin typeface="Consolas" panose="020B0609020204030204" pitchFamily="49" charset="0"/>
              </a:rPr>
              <a:t>mode</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a:solidFill>
                  <a:srgbClr val="9CDCFE"/>
                </a:solidFill>
                <a:effectLst/>
                <a:latin typeface="Consolas" panose="020B0609020204030204" pitchFamily="49" charset="0"/>
              </a:rPr>
              <a:t>im2</a:t>
            </a:r>
            <a:r>
              <a:rPr lang="fi-FI" sz="1600" b="0" dirty="0">
                <a:solidFill>
                  <a:srgbClr val="FFFFFF"/>
                </a:solidFill>
                <a:effectLst/>
                <a:latin typeface="Consolas" panose="020B0609020204030204" pitchFamily="49" charset="0"/>
              </a:rPr>
              <a:t>.</a:t>
            </a:r>
            <a:r>
              <a:rPr lang="fi-FI" sz="1600" b="0" dirty="0">
                <a:solidFill>
                  <a:srgbClr val="DCDCAA"/>
                </a:solidFill>
                <a:effectLst/>
                <a:latin typeface="Consolas" panose="020B0609020204030204" pitchFamily="49" charset="0"/>
              </a:rPr>
              <a:t>save</a:t>
            </a:r>
            <a:r>
              <a:rPr lang="fi-FI" sz="1600" b="0" dirty="0">
                <a:solidFill>
                  <a:srgbClr val="FFFFFF"/>
                </a:solidFill>
                <a:effectLst/>
                <a:latin typeface="Consolas" panose="020B0609020204030204" pitchFamily="49" charset="0"/>
              </a:rPr>
              <a:t>(</a:t>
            </a:r>
            <a:r>
              <a:rPr lang="fi-FI" sz="1600" b="0" dirty="0">
                <a:solidFill>
                  <a:srgbClr val="CE9178"/>
                </a:solidFill>
                <a:effectLst/>
                <a:latin typeface="Consolas" panose="020B0609020204030204" pitchFamily="49" charset="0"/>
              </a:rPr>
              <a:t>"pic.jpg"</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quality</a:t>
            </a:r>
            <a:r>
              <a:rPr lang="fi-FI" sz="1600" b="0" dirty="0">
                <a:solidFill>
                  <a:srgbClr val="D4D4D4"/>
                </a:solidFill>
                <a:effectLst/>
                <a:latin typeface="Consolas" panose="020B0609020204030204" pitchFamily="49" charset="0"/>
              </a:rPr>
              <a:t>=</a:t>
            </a:r>
            <a:r>
              <a:rPr lang="fi-FI" sz="1600" b="0" dirty="0">
                <a:solidFill>
                  <a:srgbClr val="B5CEA8"/>
                </a:solidFill>
                <a:effectLst/>
                <a:latin typeface="Consolas" panose="020B0609020204030204" pitchFamily="49" charset="0"/>
              </a:rPr>
              <a:t>90</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optimize</a:t>
            </a:r>
            <a:r>
              <a:rPr lang="fi-FI" sz="1600" b="0" dirty="0">
                <a:solidFill>
                  <a:srgbClr val="D4D4D4"/>
                </a:solidFill>
                <a:effectLst/>
                <a:latin typeface="Consolas" panose="020B0609020204030204" pitchFamily="49" charset="0"/>
              </a:rPr>
              <a:t>=</a:t>
            </a:r>
            <a:r>
              <a:rPr lang="fi-FI" sz="1600" b="0" dirty="0" err="1">
                <a:solidFill>
                  <a:srgbClr val="569CD6"/>
                </a:solidFill>
                <a:effectLst/>
                <a:latin typeface="Consolas" panose="020B0609020204030204" pitchFamily="49" charset="0"/>
              </a:rPr>
              <a:t>True</a:t>
            </a:r>
            <a:r>
              <a:rPr lang="fi-FI" sz="1600" b="0" dirty="0">
                <a:solidFill>
                  <a:srgbClr val="FFFFFF"/>
                </a:solidFill>
                <a:effectLst/>
                <a:latin typeface="Consolas" panose="020B0609020204030204" pitchFamily="49" charset="0"/>
              </a:rPr>
              <a:t>)</a:t>
            </a:r>
            <a:br>
              <a:rPr lang="fi-FI" sz="1600" b="0" dirty="0">
                <a:solidFill>
                  <a:srgbClr val="FFFFFF"/>
                </a:solidFill>
                <a:effectLst/>
                <a:latin typeface="Consolas" panose="020B0609020204030204" pitchFamily="49" charset="0"/>
              </a:rPr>
            </a:br>
            <a:endParaRPr lang="fi-FI" sz="1600" b="0" dirty="0">
              <a:solidFill>
                <a:srgbClr val="FFFFFF"/>
              </a:solidFill>
              <a:effectLst/>
              <a:latin typeface="Consolas" panose="020B0609020204030204" pitchFamily="49" charset="0"/>
            </a:endParaRPr>
          </a:p>
          <a:p>
            <a:pPr marL="0" indent="0">
              <a:spcBef>
                <a:spcPts val="600"/>
              </a:spcBef>
              <a:buNone/>
            </a:pPr>
            <a:r>
              <a:rPr lang="en-US" sz="1600" b="0" dirty="0">
                <a:solidFill>
                  <a:srgbClr val="7CA668"/>
                </a:solidFill>
                <a:effectLst/>
                <a:latin typeface="Consolas" panose="020B0609020204030204" pitchFamily="49" charset="0"/>
              </a:rPr>
              <a:t># resize image while retaining aspect ratio</a:t>
            </a:r>
            <a:br>
              <a:rPr lang="en-US" sz="1600" dirty="0"/>
            </a:br>
            <a:r>
              <a:rPr lang="fi-FI" sz="1600" b="0" dirty="0" err="1">
                <a:solidFill>
                  <a:srgbClr val="C586C0"/>
                </a:solidFill>
                <a:effectLst/>
                <a:latin typeface="Consolas" panose="020B0609020204030204" pitchFamily="49" charset="0"/>
              </a:rPr>
              <a:t>from</a:t>
            </a:r>
            <a:r>
              <a:rPr lang="fi-FI" sz="1600" b="0" dirty="0">
                <a:solidFill>
                  <a:srgbClr val="FFFFFF"/>
                </a:solidFill>
                <a:effectLst/>
                <a:latin typeface="Consolas" panose="020B0609020204030204" pitchFamily="49" charset="0"/>
              </a:rPr>
              <a:t> </a:t>
            </a:r>
            <a:r>
              <a:rPr lang="fi-FI" sz="1600" b="0" dirty="0">
                <a:solidFill>
                  <a:srgbClr val="4EC9B0"/>
                </a:solidFill>
                <a:effectLst/>
                <a:latin typeface="Consolas" panose="020B0609020204030204" pitchFamily="49" charset="0"/>
              </a:rPr>
              <a:t>PIL</a:t>
            </a:r>
            <a:r>
              <a:rPr lang="fi-FI" sz="1600" b="0" dirty="0">
                <a:solidFill>
                  <a:srgbClr val="FFFFFF"/>
                </a:solidFill>
                <a:effectLst/>
                <a:latin typeface="Consolas" panose="020B0609020204030204" pitchFamily="49" charset="0"/>
              </a:rPr>
              <a:t> </a:t>
            </a:r>
            <a:r>
              <a:rPr lang="fi-FI" sz="1600" b="0" dirty="0">
                <a:solidFill>
                  <a:srgbClr val="C586C0"/>
                </a:solidFill>
                <a:effectLst/>
                <a:latin typeface="Consolas" panose="020B0609020204030204" pitchFamily="49" charset="0"/>
              </a:rPr>
              <a:t>import</a:t>
            </a:r>
            <a:r>
              <a:rPr lang="fi-FI" sz="1600" b="0" dirty="0">
                <a:solidFill>
                  <a:srgbClr val="FFFFFF"/>
                </a:solidFill>
                <a:effectLst/>
                <a:latin typeface="Consolas" panose="020B0609020204030204" pitchFamily="49" charset="0"/>
              </a:rPr>
              <a:t> </a:t>
            </a:r>
            <a:r>
              <a:rPr lang="fi-FI" sz="1600" b="0" dirty="0">
                <a:solidFill>
                  <a:srgbClr val="4EC9B0"/>
                </a:solidFill>
                <a:effectLst/>
                <a:latin typeface="Consolas" panose="020B0609020204030204" pitchFamily="49" charset="0"/>
              </a:rPr>
              <a:t>Image</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a:solidFill>
                  <a:srgbClr val="9CDCFE"/>
                </a:solidFill>
                <a:effectLst/>
                <a:latin typeface="Consolas" panose="020B0609020204030204" pitchFamily="49" charset="0"/>
              </a:rPr>
              <a:t>im</a:t>
            </a:r>
            <a:r>
              <a:rPr lang="fi-FI" sz="1600" b="0" dirty="0">
                <a:solidFill>
                  <a:srgbClr val="FFFFFF"/>
                </a:solidFill>
                <a:effectLst/>
                <a:latin typeface="Consolas" panose="020B0609020204030204" pitchFamily="49" charset="0"/>
              </a:rPr>
              <a:t> </a:t>
            </a:r>
            <a:r>
              <a:rPr lang="fi-FI" sz="1600" b="0" dirty="0">
                <a:solidFill>
                  <a:srgbClr val="D4D4D4"/>
                </a:solidFill>
                <a:effectLst/>
                <a:latin typeface="Consolas" panose="020B0609020204030204" pitchFamily="49" charset="0"/>
              </a:rPr>
              <a:t>=</a:t>
            </a:r>
            <a:r>
              <a:rPr lang="fi-FI" sz="1600" b="0" dirty="0">
                <a:solidFill>
                  <a:srgbClr val="FFFFFF"/>
                </a:solidFill>
                <a:effectLst/>
                <a:latin typeface="Consolas" panose="020B0609020204030204" pitchFamily="49" charset="0"/>
              </a:rPr>
              <a:t> </a:t>
            </a:r>
            <a:r>
              <a:rPr lang="fi-FI" sz="1600" b="0" dirty="0" err="1">
                <a:solidFill>
                  <a:srgbClr val="4EC9B0"/>
                </a:solidFill>
                <a:effectLst/>
                <a:latin typeface="Consolas" panose="020B0609020204030204" pitchFamily="49" charset="0"/>
              </a:rPr>
              <a:t>Image</a:t>
            </a:r>
            <a:r>
              <a:rPr lang="fi-FI" sz="1600" b="0" dirty="0" err="1">
                <a:solidFill>
                  <a:srgbClr val="FFFFFF"/>
                </a:solidFill>
                <a:effectLst/>
                <a:latin typeface="Consolas" panose="020B0609020204030204" pitchFamily="49" charset="0"/>
              </a:rPr>
              <a:t>.</a:t>
            </a:r>
            <a:r>
              <a:rPr lang="fi-FI" sz="1600" b="0" dirty="0" err="1">
                <a:solidFill>
                  <a:srgbClr val="DCDCAA"/>
                </a:solidFill>
                <a:effectLst/>
                <a:latin typeface="Consolas" panose="020B0609020204030204" pitchFamily="49" charset="0"/>
              </a:rPr>
              <a:t>open</a:t>
            </a:r>
            <a:r>
              <a:rPr lang="fi-FI" sz="1600" b="0" dirty="0">
                <a:solidFill>
                  <a:srgbClr val="FFFFFF"/>
                </a:solidFill>
                <a:effectLst/>
                <a:latin typeface="Consolas" panose="020B0609020204030204" pitchFamily="49" charset="0"/>
              </a:rPr>
              <a:t>(</a:t>
            </a:r>
            <a:r>
              <a:rPr lang="fi-FI" sz="1600" b="0" dirty="0">
                <a:solidFill>
                  <a:srgbClr val="CE9178"/>
                </a:solidFill>
                <a:effectLst/>
                <a:latin typeface="Consolas" panose="020B0609020204030204" pitchFamily="49" charset="0"/>
              </a:rPr>
              <a:t>"../</a:t>
            </a:r>
            <a:r>
              <a:rPr lang="fi-FI" sz="1600" b="0" dirty="0" err="1">
                <a:solidFill>
                  <a:srgbClr val="CE9178"/>
                </a:solidFill>
                <a:effectLst/>
                <a:latin typeface="Consolas" panose="020B0609020204030204" pitchFamily="49" charset="0"/>
              </a:rPr>
              <a:t>assets</a:t>
            </a:r>
            <a:r>
              <a:rPr lang="fi-FI" sz="1600" b="0" dirty="0">
                <a:solidFill>
                  <a:srgbClr val="CE9178"/>
                </a:solidFill>
                <a:effectLst/>
                <a:latin typeface="Consolas" panose="020B0609020204030204" pitchFamily="49" charset="0"/>
              </a:rPr>
              <a:t>/fitness.jpg"</a:t>
            </a:r>
            <a:r>
              <a:rPr lang="fi-FI" sz="1600" b="0" dirty="0">
                <a:solidFill>
                  <a:srgbClr val="FFFFFF"/>
                </a:solidFill>
                <a:effectLst/>
                <a:latin typeface="Consolas" panose="020B0609020204030204" pitchFamily="49" charset="0"/>
              </a:rPr>
              <a:t>)</a:t>
            </a:r>
          </a:p>
          <a:p>
            <a:pPr marL="0" indent="0">
              <a:spcBef>
                <a:spcPts val="600"/>
              </a:spcBef>
              <a:buNone/>
            </a:pPr>
            <a:r>
              <a:rPr lang="fi-FI" sz="1600" b="0" dirty="0" err="1">
                <a:solidFill>
                  <a:srgbClr val="9CDCFE"/>
                </a:solidFill>
                <a:effectLst/>
                <a:latin typeface="Consolas" panose="020B0609020204030204" pitchFamily="49" charset="0"/>
              </a:rPr>
              <a:t>width</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height</a:t>
            </a:r>
            <a:r>
              <a:rPr lang="fi-FI" sz="1600" b="0" dirty="0">
                <a:solidFill>
                  <a:srgbClr val="FFFFFF"/>
                </a:solidFill>
                <a:effectLst/>
                <a:latin typeface="Consolas" panose="020B0609020204030204" pitchFamily="49" charset="0"/>
              </a:rPr>
              <a:t> </a:t>
            </a:r>
            <a:r>
              <a:rPr lang="fi-FI" sz="1600" b="0" dirty="0">
                <a:solidFill>
                  <a:srgbClr val="D4D4D4"/>
                </a:solidFill>
                <a:effectLst/>
                <a:latin typeface="Consolas" panose="020B0609020204030204" pitchFamily="49" charset="0"/>
              </a:rPr>
              <a:t>=</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im</a:t>
            </a:r>
            <a:r>
              <a:rPr lang="fi-FI" sz="1600" b="0" dirty="0" err="1">
                <a:solidFill>
                  <a:srgbClr val="FFFFFF"/>
                </a:solidFill>
                <a:effectLst/>
                <a:latin typeface="Consolas" panose="020B0609020204030204" pitchFamily="49" charset="0"/>
              </a:rPr>
              <a:t>.</a:t>
            </a:r>
            <a:r>
              <a:rPr lang="fi-FI" sz="1600" b="0" dirty="0" err="1">
                <a:solidFill>
                  <a:srgbClr val="9CDCFE"/>
                </a:solidFill>
                <a:effectLst/>
                <a:latin typeface="Consolas" panose="020B0609020204030204" pitchFamily="49" charset="0"/>
              </a:rPr>
              <a:t>size</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err="1">
                <a:solidFill>
                  <a:srgbClr val="9CDCFE"/>
                </a:solidFill>
                <a:effectLst/>
                <a:latin typeface="Consolas" panose="020B0609020204030204" pitchFamily="49" charset="0"/>
              </a:rPr>
              <a:t>ratio</a:t>
            </a:r>
            <a:r>
              <a:rPr lang="fi-FI" sz="1600" b="0" dirty="0">
                <a:solidFill>
                  <a:srgbClr val="FFFFFF"/>
                </a:solidFill>
                <a:effectLst/>
                <a:latin typeface="Consolas" panose="020B0609020204030204" pitchFamily="49" charset="0"/>
              </a:rPr>
              <a:t> </a:t>
            </a:r>
            <a:r>
              <a:rPr lang="fi-FI" sz="1600" b="0" dirty="0">
                <a:solidFill>
                  <a:srgbClr val="D4D4D4"/>
                </a:solidFill>
                <a:effectLst/>
                <a:latin typeface="Consolas" panose="020B0609020204030204" pitchFamily="49" charset="0"/>
              </a:rPr>
              <a:t>=</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width</a:t>
            </a:r>
            <a:r>
              <a:rPr lang="fi-FI" sz="1600" b="0" dirty="0">
                <a:solidFill>
                  <a:srgbClr val="D4D4D4"/>
                </a:solidFill>
                <a:effectLst/>
                <a:latin typeface="Consolas" panose="020B0609020204030204" pitchFamily="49" charset="0"/>
              </a:rPr>
              <a:t>/</a:t>
            </a:r>
            <a:r>
              <a:rPr lang="fi-FI" sz="1600" b="0" dirty="0" err="1">
                <a:solidFill>
                  <a:srgbClr val="9CDCFE"/>
                </a:solidFill>
                <a:effectLst/>
                <a:latin typeface="Consolas" panose="020B0609020204030204" pitchFamily="49" charset="0"/>
              </a:rPr>
              <a:t>height</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err="1">
                <a:solidFill>
                  <a:srgbClr val="9CDCFE"/>
                </a:solidFill>
                <a:effectLst/>
                <a:latin typeface="Consolas" panose="020B0609020204030204" pitchFamily="49" charset="0"/>
              </a:rPr>
              <a:t>new_width</a:t>
            </a:r>
            <a:r>
              <a:rPr lang="fi-FI" sz="1600" b="0" dirty="0">
                <a:solidFill>
                  <a:srgbClr val="FFFFFF"/>
                </a:solidFill>
                <a:effectLst/>
                <a:latin typeface="Consolas" panose="020B0609020204030204" pitchFamily="49" charset="0"/>
              </a:rPr>
              <a:t> </a:t>
            </a:r>
            <a:r>
              <a:rPr lang="fi-FI" sz="1600" b="0" dirty="0">
                <a:solidFill>
                  <a:srgbClr val="D4D4D4"/>
                </a:solidFill>
                <a:effectLst/>
                <a:latin typeface="Consolas" panose="020B0609020204030204" pitchFamily="49" charset="0"/>
              </a:rPr>
              <a:t>=</a:t>
            </a:r>
            <a:r>
              <a:rPr lang="fi-FI" sz="1600" b="0" dirty="0">
                <a:solidFill>
                  <a:srgbClr val="FFFFFF"/>
                </a:solidFill>
                <a:effectLst/>
                <a:latin typeface="Consolas" panose="020B0609020204030204" pitchFamily="49" charset="0"/>
              </a:rPr>
              <a:t> </a:t>
            </a:r>
            <a:r>
              <a:rPr lang="fi-FI" sz="1600" b="0" dirty="0">
                <a:solidFill>
                  <a:srgbClr val="B5CEA8"/>
                </a:solidFill>
                <a:effectLst/>
                <a:latin typeface="Consolas" panose="020B0609020204030204" pitchFamily="49" charset="0"/>
              </a:rPr>
              <a:t>640</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err="1">
                <a:solidFill>
                  <a:srgbClr val="9CDCFE"/>
                </a:solidFill>
                <a:effectLst/>
                <a:latin typeface="Consolas" panose="020B0609020204030204" pitchFamily="49" charset="0"/>
              </a:rPr>
              <a:t>new_height</a:t>
            </a:r>
            <a:r>
              <a:rPr lang="fi-FI" sz="1600" b="0" dirty="0">
                <a:solidFill>
                  <a:srgbClr val="FFFFFF"/>
                </a:solidFill>
                <a:effectLst/>
                <a:latin typeface="Consolas" panose="020B0609020204030204" pitchFamily="49" charset="0"/>
              </a:rPr>
              <a:t> </a:t>
            </a:r>
            <a:r>
              <a:rPr lang="fi-FI" sz="1600" b="0" dirty="0">
                <a:solidFill>
                  <a:srgbClr val="D4D4D4"/>
                </a:solidFill>
                <a:effectLst/>
                <a:latin typeface="Consolas" panose="020B0609020204030204" pitchFamily="49" charset="0"/>
              </a:rPr>
              <a:t>=</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new_width</a:t>
            </a:r>
            <a:r>
              <a:rPr lang="fi-FI" sz="1600" b="0" dirty="0">
                <a:solidFill>
                  <a:srgbClr val="D4D4D4"/>
                </a:solidFill>
                <a:effectLst/>
                <a:latin typeface="Consolas" panose="020B0609020204030204" pitchFamily="49" charset="0"/>
              </a:rPr>
              <a:t>/</a:t>
            </a:r>
            <a:r>
              <a:rPr lang="fi-FI" sz="1600" b="0" dirty="0" err="1">
                <a:solidFill>
                  <a:srgbClr val="9CDCFE"/>
                </a:solidFill>
                <a:effectLst/>
                <a:latin typeface="Consolas" panose="020B0609020204030204" pitchFamily="49" charset="0"/>
              </a:rPr>
              <a:t>ratio</a:t>
            </a:r>
            <a:endParaRPr lang="fi-FI" sz="1600" b="0" dirty="0">
              <a:solidFill>
                <a:srgbClr val="FFFFFF"/>
              </a:solidFill>
              <a:effectLst/>
              <a:latin typeface="Consolas" panose="020B0609020204030204" pitchFamily="49" charset="0"/>
            </a:endParaRPr>
          </a:p>
          <a:p>
            <a:pPr marL="0" indent="0">
              <a:spcBef>
                <a:spcPts val="600"/>
              </a:spcBef>
              <a:buNone/>
            </a:pPr>
            <a:r>
              <a:rPr lang="fi-FI" sz="1600" b="0" dirty="0">
                <a:solidFill>
                  <a:srgbClr val="9CDCFE"/>
                </a:solidFill>
                <a:effectLst/>
                <a:latin typeface="Consolas" panose="020B0609020204030204" pitchFamily="49" charset="0"/>
              </a:rPr>
              <a:t>im2</a:t>
            </a:r>
            <a:r>
              <a:rPr lang="fi-FI" sz="1600" b="0" dirty="0">
                <a:solidFill>
                  <a:srgbClr val="FFFFFF"/>
                </a:solidFill>
                <a:effectLst/>
                <a:latin typeface="Consolas" panose="020B0609020204030204" pitchFamily="49" charset="0"/>
              </a:rPr>
              <a:t> </a:t>
            </a:r>
            <a:r>
              <a:rPr lang="fi-FI" sz="1600" b="0" dirty="0">
                <a:solidFill>
                  <a:srgbClr val="D4D4D4"/>
                </a:solidFill>
                <a:effectLst/>
                <a:latin typeface="Consolas" panose="020B0609020204030204" pitchFamily="49" charset="0"/>
              </a:rPr>
              <a:t>=</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im</a:t>
            </a:r>
            <a:r>
              <a:rPr lang="fi-FI" sz="1600" b="0" dirty="0" err="1">
                <a:solidFill>
                  <a:srgbClr val="FFFFFF"/>
                </a:solidFill>
                <a:effectLst/>
                <a:latin typeface="Consolas" panose="020B0609020204030204" pitchFamily="49" charset="0"/>
              </a:rPr>
              <a:t>.</a:t>
            </a:r>
            <a:r>
              <a:rPr lang="fi-FI" sz="1600" b="0" dirty="0" err="1">
                <a:solidFill>
                  <a:srgbClr val="DCDCAA"/>
                </a:solidFill>
                <a:effectLst/>
                <a:latin typeface="Consolas" panose="020B0609020204030204" pitchFamily="49" charset="0"/>
              </a:rPr>
              <a:t>resize</a:t>
            </a:r>
            <a:r>
              <a:rPr lang="fi-FI" sz="1600" b="0" dirty="0">
                <a:solidFill>
                  <a:srgbClr val="FFFFFF"/>
                </a:solidFill>
                <a:effectLst/>
                <a:latin typeface="Consolas" panose="020B0609020204030204" pitchFamily="49" charset="0"/>
              </a:rPr>
              <a:t>((</a:t>
            </a:r>
            <a:r>
              <a:rPr lang="fi-FI" sz="1600" b="0" dirty="0" err="1">
                <a:solidFill>
                  <a:srgbClr val="DCDCAA"/>
                </a:solidFill>
                <a:effectLst/>
                <a:latin typeface="Consolas" panose="020B0609020204030204" pitchFamily="49" charset="0"/>
              </a:rPr>
              <a:t>round</a:t>
            </a:r>
            <a:r>
              <a:rPr lang="fi-FI" sz="1600" b="0" dirty="0">
                <a:solidFill>
                  <a:srgbClr val="FFFFFF"/>
                </a:solidFill>
                <a:effectLst/>
                <a:latin typeface="Consolas" panose="020B0609020204030204" pitchFamily="49" charset="0"/>
              </a:rPr>
              <a:t>(</a:t>
            </a:r>
            <a:r>
              <a:rPr lang="fi-FI" sz="1600" b="0" dirty="0" err="1">
                <a:solidFill>
                  <a:srgbClr val="9CDCFE"/>
                </a:solidFill>
                <a:effectLst/>
                <a:latin typeface="Consolas" panose="020B0609020204030204" pitchFamily="49" charset="0"/>
              </a:rPr>
              <a:t>new_width</a:t>
            </a:r>
            <a:r>
              <a:rPr lang="fi-FI" sz="1600" b="0" dirty="0">
                <a:solidFill>
                  <a:srgbClr val="FFFFFF"/>
                </a:solidFill>
                <a:effectLst/>
                <a:latin typeface="Consolas" panose="020B0609020204030204" pitchFamily="49" charset="0"/>
              </a:rPr>
              <a:t>), </a:t>
            </a:r>
            <a:r>
              <a:rPr lang="fi-FI" sz="1600" b="0" dirty="0" err="1">
                <a:solidFill>
                  <a:srgbClr val="DCDCAA"/>
                </a:solidFill>
                <a:effectLst/>
                <a:latin typeface="Consolas" panose="020B0609020204030204" pitchFamily="49" charset="0"/>
              </a:rPr>
              <a:t>round</a:t>
            </a:r>
            <a:r>
              <a:rPr lang="fi-FI" sz="1600" b="0" dirty="0">
                <a:solidFill>
                  <a:srgbClr val="FFFFFF"/>
                </a:solidFill>
                <a:effectLst/>
                <a:latin typeface="Consolas" panose="020B0609020204030204" pitchFamily="49" charset="0"/>
              </a:rPr>
              <a:t>(</a:t>
            </a:r>
            <a:r>
              <a:rPr lang="fi-FI" sz="1600" b="0" dirty="0" err="1">
                <a:solidFill>
                  <a:srgbClr val="9CDCFE"/>
                </a:solidFill>
                <a:effectLst/>
                <a:latin typeface="Consolas" panose="020B0609020204030204" pitchFamily="49" charset="0"/>
              </a:rPr>
              <a:t>new_height</a:t>
            </a:r>
            <a:r>
              <a:rPr lang="fi-FI" sz="1600" b="0" dirty="0">
                <a:solidFill>
                  <a:srgbClr val="FFFFFF"/>
                </a:solidFill>
                <a:effectLst/>
                <a:latin typeface="Consolas" panose="020B0609020204030204" pitchFamily="49" charset="0"/>
              </a:rPr>
              <a:t>)), </a:t>
            </a:r>
            <a:r>
              <a:rPr lang="fi-FI" sz="1600" b="0" dirty="0" err="1">
                <a:solidFill>
                  <a:srgbClr val="4EC9B0"/>
                </a:solidFill>
                <a:effectLst/>
                <a:latin typeface="Consolas" panose="020B0609020204030204" pitchFamily="49" charset="0"/>
              </a:rPr>
              <a:t>Image</a:t>
            </a:r>
            <a:r>
              <a:rPr lang="fi-FI" sz="1600" b="0" dirty="0" err="1">
                <a:solidFill>
                  <a:srgbClr val="FFFFFF"/>
                </a:solidFill>
                <a:effectLst/>
                <a:latin typeface="Consolas" panose="020B0609020204030204" pitchFamily="49" charset="0"/>
              </a:rPr>
              <a:t>.</a:t>
            </a:r>
            <a:r>
              <a:rPr lang="fi-FI" sz="1600" b="0" dirty="0" err="1">
                <a:solidFill>
                  <a:srgbClr val="9CDCFE"/>
                </a:solidFill>
                <a:effectLst/>
                <a:latin typeface="Consolas" panose="020B0609020204030204" pitchFamily="49" charset="0"/>
              </a:rPr>
              <a:t>ANTIALIAS</a:t>
            </a:r>
            <a:r>
              <a:rPr lang="fi-FI" sz="1600" b="0" dirty="0">
                <a:solidFill>
                  <a:srgbClr val="FFFFFF"/>
                </a:solidFill>
                <a:effectLst/>
                <a:latin typeface="Consolas" panose="020B0609020204030204" pitchFamily="49" charset="0"/>
              </a:rPr>
              <a:t>)</a:t>
            </a:r>
          </a:p>
          <a:p>
            <a:pPr marL="0" indent="0">
              <a:spcBef>
                <a:spcPts val="600"/>
              </a:spcBef>
              <a:buNone/>
            </a:pPr>
            <a:r>
              <a:rPr lang="fi-FI" sz="1600" b="0" dirty="0">
                <a:solidFill>
                  <a:srgbClr val="9CDCFE"/>
                </a:solidFill>
                <a:effectLst/>
                <a:latin typeface="Consolas" panose="020B0609020204030204" pitchFamily="49" charset="0"/>
              </a:rPr>
              <a:t>im2</a:t>
            </a:r>
            <a:r>
              <a:rPr lang="fi-FI" sz="1600" b="0" dirty="0">
                <a:solidFill>
                  <a:srgbClr val="FFFFFF"/>
                </a:solidFill>
                <a:effectLst/>
                <a:latin typeface="Consolas" panose="020B0609020204030204" pitchFamily="49" charset="0"/>
              </a:rPr>
              <a:t>.</a:t>
            </a:r>
            <a:r>
              <a:rPr lang="fi-FI" sz="1600" b="0" dirty="0">
                <a:solidFill>
                  <a:srgbClr val="DCDCAA"/>
                </a:solidFill>
                <a:effectLst/>
                <a:latin typeface="Consolas" panose="020B0609020204030204" pitchFamily="49" charset="0"/>
              </a:rPr>
              <a:t>save</a:t>
            </a:r>
            <a:r>
              <a:rPr lang="fi-FI" sz="1600" b="0" dirty="0">
                <a:solidFill>
                  <a:srgbClr val="FFFFFF"/>
                </a:solidFill>
                <a:effectLst/>
                <a:latin typeface="Consolas" panose="020B0609020204030204" pitchFamily="49" charset="0"/>
              </a:rPr>
              <a:t>(</a:t>
            </a:r>
            <a:r>
              <a:rPr lang="fi-FI" sz="1600" b="0" dirty="0">
                <a:solidFill>
                  <a:srgbClr val="CE9178"/>
                </a:solidFill>
                <a:effectLst/>
                <a:latin typeface="Consolas" panose="020B0609020204030204" pitchFamily="49" charset="0"/>
              </a:rPr>
              <a:t>"fitness2.jpg"</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quality</a:t>
            </a:r>
            <a:r>
              <a:rPr lang="fi-FI" sz="1600" b="0" dirty="0">
                <a:solidFill>
                  <a:srgbClr val="D4D4D4"/>
                </a:solidFill>
                <a:effectLst/>
                <a:latin typeface="Consolas" panose="020B0609020204030204" pitchFamily="49" charset="0"/>
              </a:rPr>
              <a:t>=</a:t>
            </a:r>
            <a:r>
              <a:rPr lang="fi-FI" sz="1600" b="0" dirty="0">
                <a:solidFill>
                  <a:srgbClr val="B5CEA8"/>
                </a:solidFill>
                <a:effectLst/>
                <a:latin typeface="Consolas" panose="020B0609020204030204" pitchFamily="49" charset="0"/>
              </a:rPr>
              <a:t>95</a:t>
            </a:r>
            <a:r>
              <a:rPr lang="fi-FI" sz="1600" b="0" dirty="0">
                <a:solidFill>
                  <a:srgbClr val="FFFFFF"/>
                </a:solidFill>
                <a:effectLst/>
                <a:latin typeface="Consolas" panose="020B0609020204030204" pitchFamily="49" charset="0"/>
              </a:rPr>
              <a:t>, </a:t>
            </a:r>
            <a:r>
              <a:rPr lang="fi-FI" sz="1600" b="0" dirty="0" err="1">
                <a:solidFill>
                  <a:srgbClr val="9CDCFE"/>
                </a:solidFill>
                <a:effectLst/>
                <a:latin typeface="Consolas" panose="020B0609020204030204" pitchFamily="49" charset="0"/>
              </a:rPr>
              <a:t>optimize</a:t>
            </a:r>
            <a:r>
              <a:rPr lang="fi-FI" sz="1600" b="0" dirty="0">
                <a:solidFill>
                  <a:srgbClr val="D4D4D4"/>
                </a:solidFill>
                <a:effectLst/>
                <a:latin typeface="Consolas" panose="020B0609020204030204" pitchFamily="49" charset="0"/>
              </a:rPr>
              <a:t>=</a:t>
            </a:r>
            <a:r>
              <a:rPr lang="fi-FI" sz="1600" b="0" dirty="0" err="1">
                <a:solidFill>
                  <a:srgbClr val="569CD6"/>
                </a:solidFill>
                <a:effectLst/>
                <a:latin typeface="Consolas" panose="020B0609020204030204" pitchFamily="49" charset="0"/>
              </a:rPr>
              <a:t>True</a:t>
            </a:r>
            <a:r>
              <a:rPr lang="fi-FI" sz="1600" b="0" dirty="0">
                <a:solidFill>
                  <a:srgbClr val="FFFFFF"/>
                </a:solidFill>
                <a:effectLst/>
                <a:latin typeface="Consolas" panose="020B0609020204030204" pitchFamily="49" charset="0"/>
              </a:rPr>
              <a:t>)</a:t>
            </a:r>
          </a:p>
          <a:p>
            <a:pPr marL="0" indent="0">
              <a:spcBef>
                <a:spcPts val="600"/>
              </a:spcBef>
              <a:buNone/>
            </a:pPr>
            <a:endParaRPr lang="en-US" sz="1600" dirty="0"/>
          </a:p>
        </p:txBody>
      </p:sp>
    </p:spTree>
    <p:extLst>
      <p:ext uri="{BB962C8B-B14F-4D97-AF65-F5344CB8AC3E}">
        <p14:creationId xmlns:p14="http://schemas.microsoft.com/office/powerpoint/2010/main" val="1383609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0CDBE15-E791-42AC-A47B-3FED35604B6E}"/>
              </a:ext>
            </a:extLst>
          </p:cNvPr>
          <p:cNvSpPr>
            <a:spLocks noGrp="1"/>
          </p:cNvSpPr>
          <p:nvPr>
            <p:ph type="title"/>
          </p:nvPr>
        </p:nvSpPr>
        <p:spPr>
          <a:xfrm>
            <a:off x="1218883" y="274637"/>
            <a:ext cx="10360501" cy="706091"/>
          </a:xfrm>
        </p:spPr>
        <p:txBody>
          <a:bodyPr/>
          <a:lstStyle/>
          <a:p>
            <a:r>
              <a:rPr lang="en-US" dirty="0"/>
              <a:t>Zen of Python (by </a:t>
            </a:r>
            <a:r>
              <a:rPr lang="en-US" dirty="0">
                <a:hlinkClick r:id="rId2"/>
              </a:rPr>
              <a:t>Tim Peters</a:t>
            </a:r>
            <a:r>
              <a:rPr lang="en-US" dirty="0"/>
              <a:t>)</a:t>
            </a:r>
          </a:p>
        </p:txBody>
      </p:sp>
      <p:sp>
        <p:nvSpPr>
          <p:cNvPr id="3" name="Sisällön paikkamerkki 2">
            <a:extLst>
              <a:ext uri="{FF2B5EF4-FFF2-40B4-BE49-F238E27FC236}">
                <a16:creationId xmlns:a16="http://schemas.microsoft.com/office/drawing/2014/main" id="{08F86357-6C17-47B9-B904-5625B82419D5}"/>
              </a:ext>
            </a:extLst>
          </p:cNvPr>
          <p:cNvSpPr>
            <a:spLocks noGrp="1"/>
          </p:cNvSpPr>
          <p:nvPr>
            <p:ph idx="1"/>
          </p:nvPr>
        </p:nvSpPr>
        <p:spPr>
          <a:xfrm>
            <a:off x="1218883" y="1124744"/>
            <a:ext cx="10360501" cy="5400599"/>
          </a:xfrm>
        </p:spPr>
        <p:txBody>
          <a:bodyPr>
            <a:normAutofit fontScale="62500" lnSpcReduction="20000"/>
          </a:bodyPr>
          <a:lstStyle/>
          <a:p>
            <a:pPr marL="0" indent="0">
              <a:spcBef>
                <a:spcPts val="600"/>
              </a:spcBef>
              <a:buNone/>
            </a:pPr>
            <a:r>
              <a:rPr lang="en-US" dirty="0"/>
              <a:t>Beautiful is better than ugly.</a:t>
            </a:r>
          </a:p>
          <a:p>
            <a:pPr marL="0" indent="0">
              <a:spcBef>
                <a:spcPts val="600"/>
              </a:spcBef>
              <a:buNone/>
            </a:pPr>
            <a:r>
              <a:rPr lang="en-US" dirty="0"/>
              <a:t>Explicit is better than implicit.</a:t>
            </a:r>
          </a:p>
          <a:p>
            <a:pPr marL="0" indent="0">
              <a:spcBef>
                <a:spcPts val="600"/>
              </a:spcBef>
              <a:buNone/>
            </a:pPr>
            <a:r>
              <a:rPr lang="en-US" dirty="0"/>
              <a:t>Simple is better than complex.</a:t>
            </a:r>
          </a:p>
          <a:p>
            <a:pPr marL="0" indent="0">
              <a:spcBef>
                <a:spcPts val="600"/>
              </a:spcBef>
              <a:buNone/>
            </a:pPr>
            <a:r>
              <a:rPr lang="en-US" dirty="0"/>
              <a:t>Complex is better than complicated.</a:t>
            </a:r>
          </a:p>
          <a:p>
            <a:pPr marL="0" indent="0">
              <a:spcBef>
                <a:spcPts val="600"/>
              </a:spcBef>
              <a:buNone/>
            </a:pPr>
            <a:r>
              <a:rPr lang="en-US" dirty="0"/>
              <a:t>Flat is better than nested.</a:t>
            </a:r>
          </a:p>
          <a:p>
            <a:pPr marL="0" indent="0">
              <a:spcBef>
                <a:spcPts val="600"/>
              </a:spcBef>
              <a:buNone/>
            </a:pPr>
            <a:r>
              <a:rPr lang="en-US" dirty="0"/>
              <a:t>Sparse is better than dense.</a:t>
            </a:r>
          </a:p>
          <a:p>
            <a:pPr marL="0" indent="0">
              <a:spcBef>
                <a:spcPts val="600"/>
              </a:spcBef>
              <a:buNone/>
            </a:pPr>
            <a:r>
              <a:rPr lang="en-US" dirty="0"/>
              <a:t>Readability counts.</a:t>
            </a:r>
          </a:p>
          <a:p>
            <a:pPr marL="0" indent="0">
              <a:spcBef>
                <a:spcPts val="600"/>
              </a:spcBef>
              <a:buNone/>
            </a:pPr>
            <a:r>
              <a:rPr lang="en-US" dirty="0"/>
              <a:t>Special cases aren't special enough to break the rules.</a:t>
            </a:r>
          </a:p>
          <a:p>
            <a:pPr marL="0" indent="0">
              <a:spcBef>
                <a:spcPts val="600"/>
              </a:spcBef>
              <a:buNone/>
            </a:pPr>
            <a:r>
              <a:rPr lang="en-US" dirty="0"/>
              <a:t>Although practicality beats purity.</a:t>
            </a:r>
          </a:p>
          <a:p>
            <a:pPr marL="0" indent="0">
              <a:spcBef>
                <a:spcPts val="600"/>
              </a:spcBef>
              <a:buNone/>
            </a:pPr>
            <a:r>
              <a:rPr lang="en-US" dirty="0"/>
              <a:t>Errors should never pass silently.</a:t>
            </a:r>
          </a:p>
          <a:p>
            <a:pPr marL="0" indent="0">
              <a:spcBef>
                <a:spcPts val="600"/>
              </a:spcBef>
              <a:buNone/>
            </a:pPr>
            <a:r>
              <a:rPr lang="en-US" dirty="0"/>
              <a:t>Unless explicitly silenced.</a:t>
            </a:r>
          </a:p>
          <a:p>
            <a:pPr marL="0" indent="0">
              <a:spcBef>
                <a:spcPts val="600"/>
              </a:spcBef>
              <a:buNone/>
            </a:pPr>
            <a:r>
              <a:rPr lang="en-US" dirty="0"/>
              <a:t>In the face of ambiguity, refuse the temptation to guess.</a:t>
            </a:r>
          </a:p>
          <a:p>
            <a:pPr marL="0" indent="0">
              <a:spcBef>
                <a:spcPts val="600"/>
              </a:spcBef>
              <a:buNone/>
            </a:pPr>
            <a:r>
              <a:rPr lang="en-US" dirty="0"/>
              <a:t>There should be one—and preferably only one—obvious way to do it.</a:t>
            </a:r>
          </a:p>
          <a:p>
            <a:pPr marL="0" indent="0">
              <a:spcBef>
                <a:spcPts val="600"/>
              </a:spcBef>
              <a:buNone/>
            </a:pPr>
            <a:r>
              <a:rPr lang="en-US" dirty="0"/>
              <a:t>Although that way may not be obvious at first unless you're Dutch.</a:t>
            </a:r>
          </a:p>
          <a:p>
            <a:pPr marL="0" indent="0">
              <a:spcBef>
                <a:spcPts val="600"/>
              </a:spcBef>
              <a:buNone/>
            </a:pPr>
            <a:r>
              <a:rPr lang="en-US" dirty="0"/>
              <a:t>Now is better than never.</a:t>
            </a:r>
          </a:p>
          <a:p>
            <a:pPr marL="0" indent="0">
              <a:spcBef>
                <a:spcPts val="600"/>
              </a:spcBef>
              <a:buNone/>
            </a:pPr>
            <a:r>
              <a:rPr lang="en-US" dirty="0"/>
              <a:t>Although never is often better than right now.</a:t>
            </a:r>
          </a:p>
          <a:p>
            <a:pPr marL="0" indent="0">
              <a:spcBef>
                <a:spcPts val="600"/>
              </a:spcBef>
              <a:buNone/>
            </a:pPr>
            <a:r>
              <a:rPr lang="en-US" dirty="0"/>
              <a:t>If the implementation is hard to explain, it's a bad idea.</a:t>
            </a:r>
          </a:p>
          <a:p>
            <a:pPr marL="0" indent="0">
              <a:spcBef>
                <a:spcPts val="600"/>
              </a:spcBef>
              <a:buNone/>
            </a:pPr>
            <a:r>
              <a:rPr lang="en-US" dirty="0"/>
              <a:t>If the implementation is easy to explain, it may be a good idea.</a:t>
            </a:r>
          </a:p>
          <a:p>
            <a:pPr marL="0" indent="0">
              <a:spcBef>
                <a:spcPts val="600"/>
              </a:spcBef>
              <a:buNone/>
            </a:pPr>
            <a:r>
              <a:rPr lang="en-US" dirty="0"/>
              <a:t>Namespaces are one honking great idea—let's do more of those!</a:t>
            </a:r>
            <a:endParaRPr lang="fi-FI" dirty="0"/>
          </a:p>
        </p:txBody>
      </p:sp>
    </p:spTree>
    <p:extLst>
      <p:ext uri="{BB962C8B-B14F-4D97-AF65-F5344CB8AC3E}">
        <p14:creationId xmlns:p14="http://schemas.microsoft.com/office/powerpoint/2010/main" val="710798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C67BEE-D13F-4BD2-98A5-34D8A0977F68}">
  <ds:schemaRefs>
    <ds:schemaRef ds:uri="http://purl.org/dc/dcmitype/"/>
    <ds:schemaRef ds:uri="4873beb7-5857-4685-be1f-d57550cc96cc"/>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68531</TotalTime>
  <Words>18088</Words>
  <Application>Microsoft Office PowerPoint</Application>
  <PresentationFormat>Custom</PresentationFormat>
  <Paragraphs>1465</Paragraphs>
  <Slides>143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143</vt:i4>
      </vt:variant>
    </vt:vector>
  </HeadingPairs>
  <TitlesOfParts>
    <vt:vector size="149" baseType="lpstr">
      <vt:lpstr>Arial</vt:lpstr>
      <vt:lpstr>Calibri</vt:lpstr>
      <vt:lpstr>Consolas</vt:lpstr>
      <vt:lpstr>Courier New</vt:lpstr>
      <vt:lpstr>Wingdings</vt:lpstr>
      <vt:lpstr>Tech 16x9</vt:lpstr>
      <vt:lpstr>Introduction to Python 3</vt:lpstr>
      <vt:lpstr>What is Python?</vt:lpstr>
      <vt:lpstr>Python Advantages</vt:lpstr>
      <vt:lpstr>Python Disadvantages</vt:lpstr>
      <vt:lpstr>Python Usage</vt:lpstr>
      <vt:lpstr>Key Differences Between Python 2 and 3</vt:lpstr>
      <vt:lpstr>Python Keywords</vt:lpstr>
      <vt:lpstr>Python Names</vt:lpstr>
      <vt:lpstr>Python 3 Data Types</vt:lpstr>
      <vt:lpstr>Python Data Type Conversions</vt:lpstr>
      <vt:lpstr>Operators and Their Evaluation Order</vt:lpstr>
      <vt:lpstr>Assignment Operators</vt:lpstr>
      <vt:lpstr>Comparisons</vt:lpstr>
      <vt:lpstr>Boolean Operators</vt:lpstr>
      <vt:lpstr>Integers</vt:lpstr>
      <vt:lpstr>Floating Point Numbers</vt:lpstr>
      <vt:lpstr>Strings</vt:lpstr>
      <vt:lpstr>String Literals</vt:lpstr>
      <vt:lpstr>String Methods</vt:lpstr>
      <vt:lpstr>String Methods I</vt:lpstr>
      <vt:lpstr>String Methods J-U</vt:lpstr>
      <vt:lpstr>Different Ways of String Formatting </vt:lpstr>
      <vt:lpstr>String Formatting</vt:lpstr>
      <vt:lpstr>String Examples</vt:lpstr>
      <vt:lpstr>Practical String Examples</vt:lpstr>
      <vt:lpstr>Lists</vt:lpstr>
      <vt:lpstr>Tuples</vt:lpstr>
      <vt:lpstr>Mutable Sequence Operations</vt:lpstr>
      <vt:lpstr>Sequence Operations</vt:lpstr>
      <vt:lpstr>Examples of Slicing</vt:lpstr>
      <vt:lpstr>Examples of Sequence Operations</vt:lpstr>
      <vt:lpstr>Examples of List Operations</vt:lpstr>
      <vt:lpstr>Copy by Reference vs Shallow Copy</vt:lpstr>
      <vt:lpstr>Set and frozenset</vt:lpstr>
      <vt:lpstr>Using Sets</vt:lpstr>
      <vt:lpstr>Dictionaries</vt:lpstr>
      <vt:lpstr>Dictionary operations</vt:lpstr>
      <vt:lpstr>Dictionary Examples</vt:lpstr>
      <vt:lpstr>Dir, Sorted and Vars</vt:lpstr>
      <vt:lpstr>Python Interactive Interpreter Command Line</vt:lpstr>
      <vt:lpstr>Basic Input and Output</vt:lpstr>
      <vt:lpstr>Interactive Hello World</vt:lpstr>
      <vt:lpstr>Comments and Documentation Strings</vt:lpstr>
      <vt:lpstr>Block Are Expressed as Indentation</vt:lpstr>
      <vt:lpstr>If statement</vt:lpstr>
      <vt:lpstr>If example</vt:lpstr>
      <vt:lpstr>Ternary Operator aka inline if-else</vt:lpstr>
      <vt:lpstr>Writing Long and Complex If Clauses</vt:lpstr>
      <vt:lpstr>While loop statement</vt:lpstr>
      <vt:lpstr>There is No Do While</vt:lpstr>
      <vt:lpstr>Do While Example</vt:lpstr>
      <vt:lpstr>For Loop Statement</vt:lpstr>
      <vt:lpstr>For - Else</vt:lpstr>
      <vt:lpstr>Reverse loop</vt:lpstr>
      <vt:lpstr>Nested Loops</vt:lpstr>
      <vt:lpstr>Break and continue </vt:lpstr>
      <vt:lpstr>Def - Function definitions</vt:lpstr>
      <vt:lpstr>Calling a Function</vt:lpstr>
      <vt:lpstr>Different Kind of Functions</vt:lpstr>
      <vt:lpstr>Default Arguments</vt:lpstr>
      <vt:lpstr>Keyword Arguments</vt:lpstr>
      <vt:lpstr>Variable Amount of Function Arguments</vt:lpstr>
      <vt:lpstr>Variable Amount of Keyword Arguments</vt:lpstr>
      <vt:lpstr>Lambda - Small Anonymous Function with 1 expression</vt:lpstr>
      <vt:lpstr>Functions Returning Functions</vt:lpstr>
      <vt:lpstr>List Comprehensions</vt:lpstr>
      <vt:lpstr>Functional Programming - map, reduce, filter</vt:lpstr>
      <vt:lpstr>Recursion</vt:lpstr>
      <vt:lpstr>Exceptions</vt:lpstr>
      <vt:lpstr>This Is What Happens without Exception Handling</vt:lpstr>
      <vt:lpstr>Handling Exceptions</vt:lpstr>
      <vt:lpstr>Try Except Example</vt:lpstr>
      <vt:lpstr>Exception Else Example</vt:lpstr>
      <vt:lpstr>Safe Way to Ask Floating Point Numbers from User</vt:lpstr>
      <vt:lpstr>Object Oriented Programming (OOP)</vt:lpstr>
      <vt:lpstr>Object Oriented Programming in Python</vt:lpstr>
      <vt:lpstr>Class Definition and Inheritance</vt:lpstr>
      <vt:lpstr>Empty Classes Can be Useful</vt:lpstr>
      <vt:lpstr>Using Slots to Speed Up Classes</vt:lpstr>
      <vt:lpstr>Slots Example</vt:lpstr>
      <vt:lpstr>Operator Overloading</vt:lpstr>
      <vt:lpstr>Type Hints = Static Type Checking for Python</vt:lpstr>
      <vt:lpstr>Using Type Hints</vt:lpstr>
      <vt:lpstr>Data Classes and Type Checking Annotations</vt:lpstr>
      <vt:lpstr>Operator Overloading with Data Classes and Forward Referencing</vt:lpstr>
      <vt:lpstr>Iterators</vt:lpstr>
      <vt:lpstr>Creating Your Own Iterator</vt:lpstr>
      <vt:lpstr>Generators</vt:lpstr>
      <vt:lpstr>Generator Examples</vt:lpstr>
      <vt:lpstr>Python Scopes</vt:lpstr>
      <vt:lpstr>Local vs Global</vt:lpstr>
      <vt:lpstr>Local vs Nonlocal vs Global</vt:lpstr>
      <vt:lpstr>Modules</vt:lpstr>
      <vt:lpstr>Python Main Program</vt:lpstr>
      <vt:lpstr>Example of a module - myutil.py</vt:lpstr>
      <vt:lpstr>Using myutil.py from Another Python Module / File</vt:lpstr>
      <vt:lpstr>Python Packages</vt:lpstr>
      <vt:lpstr>Using Packages</vt:lpstr>
      <vt:lpstr>Closure</vt:lpstr>
      <vt:lpstr>Closure Example</vt:lpstr>
      <vt:lpstr>Decorators</vt:lpstr>
      <vt:lpstr>Decorator Example</vt:lpstr>
      <vt:lpstr>Useful Python Built-In Functions A-D</vt:lpstr>
      <vt:lpstr>Useful Python Built-In Functions E-F</vt:lpstr>
      <vt:lpstr>Useful Python Built-In Functions G-L</vt:lpstr>
      <vt:lpstr>Useful Python Built-In Functions M-N</vt:lpstr>
      <vt:lpstr>Useful Python Built-In Functions O</vt:lpstr>
      <vt:lpstr>Useful Python Built-In Functions P-R</vt:lpstr>
      <vt:lpstr>Useful Python Built-In Functions S</vt:lpstr>
      <vt:lpstr>Useful Python Built-In Functions T-Z</vt:lpstr>
      <vt:lpstr>Regular Expressions - re module</vt:lpstr>
      <vt:lpstr>Using Regular Expressions</vt:lpstr>
      <vt:lpstr>Pre-Compiling Regular Expressions and Using Groups</vt:lpstr>
      <vt:lpstr>Handling Files</vt:lpstr>
      <vt:lpstr>Reading a File</vt:lpstr>
      <vt:lpstr>Write to a File (Creates New File if Doesn't Exist)</vt:lpstr>
      <vt:lpstr>Append to a File</vt:lpstr>
      <vt:lpstr>Reading and Copying Data from URLs</vt:lpstr>
      <vt:lpstr>Using JavaScript Object Notation (JSON)</vt:lpstr>
      <vt:lpstr>Serialization Using Pickle</vt:lpstr>
      <vt:lpstr>Using math Library</vt:lpstr>
      <vt:lpstr>Pseudo-Random Numbers</vt:lpstr>
      <vt:lpstr>Statistics</vt:lpstr>
      <vt:lpstr>Using Datetime Module</vt:lpstr>
      <vt:lpstr>Using os Module</vt:lpstr>
      <vt:lpstr>Using sys Module</vt:lpstr>
      <vt:lpstr>Enumerations</vt:lpstr>
      <vt:lpstr>Using SQLite3</vt:lpstr>
      <vt:lpstr>Using MySQL</vt:lpstr>
      <vt:lpstr>Using PostgreSQL</vt:lpstr>
      <vt:lpstr>Timing Things</vt:lpstr>
      <vt:lpstr>Using HTML Parser to Find All Links from a Web Page</vt:lpstr>
      <vt:lpstr>Using Least Recently Used (LRU) Cache</vt:lpstr>
      <vt:lpstr>Pip – Python Package Install Tool</vt:lpstr>
      <vt:lpstr>IPython – An Improved Interactive Python Shell</vt:lpstr>
      <vt:lpstr>Useful IPython Commands</vt:lpstr>
      <vt:lpstr>Virtual Environments</vt:lpstr>
      <vt:lpstr>Using Requirements</vt:lpstr>
      <vt:lpstr>Using pipenv</vt:lpstr>
      <vt:lpstr>Virtual Environment Tools</vt:lpstr>
      <vt:lpstr>Python Imaging Library (PIL)</vt:lpstr>
      <vt:lpstr>Using PIL / Pillow</vt:lpstr>
      <vt:lpstr>Zen of Python (by Tim Peters)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Python 3</dc:title>
  <dc:creator>Petri Kuittinen</dc:creator>
  <cp:lastModifiedBy>Petri Kuittinen</cp:lastModifiedBy>
  <cp:revision>432</cp:revision>
  <dcterms:created xsi:type="dcterms:W3CDTF">2019-01-03T10:22:00Z</dcterms:created>
  <dcterms:modified xsi:type="dcterms:W3CDTF">2024-05-19T13:32:55Z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